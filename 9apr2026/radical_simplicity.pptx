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84167"/>
  </p:normalViewPr>
  <p:slideViewPr>
    <p:cSldViewPr snapToGrid="0" snapToObjects="1">
      <p:cViewPr varScale="1">
        <p:scale>
          <a:sx n="139" d="100"/>
          <a:sy n="139" d="100"/>
        </p:scale>
        <p:origin x="10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371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Radical simplicity is not about doing less. It's about making sure the right layer carries the complexity — so the people making decisions never have to.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Transition Line</a:t>
            </a:r>
          </a:p>
          <a:p>
            <a:r>
              <a:rPr lang="en-US" i="1" dirty="0"/>
              <a:t>Radical simplicity is what makes the APIs and AI intelligence principles possible — because you can only build powerful integrations and trustworthy AI on top of data that's already clean, governed, and shaped for consumption. </a:t>
            </a:r>
            <a:r>
              <a:rPr lang="en-US" i="1"/>
              <a:t>Which brings us to the next principle.</a:t>
            </a:r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INTELLIGENCE PLATFORM  ·  RADICAL SIMPLICITY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7863840" y="-1005840"/>
            <a:ext cx="2926080" cy="2926080"/>
          </a:xfrm>
          <a:prstGeom prst="ellipse">
            <a:avLst/>
          </a:prstGeom>
          <a:solidFill>
            <a:srgbClr val="06185F">
              <a:alpha val="12000"/>
            </a:srgbClr>
          </a:solidFill>
          <a:ln w="12700">
            <a:solidFill>
              <a:srgbClr val="06185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Complexity Tax Is Real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86968"/>
            <a:ext cx="1463040" cy="4114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646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of complexity is a tax. Community FIs are paying it daily — in time, headcount, and answers they never get.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20116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201168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1865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93776" y="213969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potential BI users can't access data without going through IT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3776" y="27797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Forrester Research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542032" y="1280160"/>
            <a:ext cx="20116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42032" y="1280160"/>
            <a:ext cx="201168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33472" y="1389888"/>
            <a:ext cx="1865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2670048" y="213969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 knowledge worker's week lost just looking for the right data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70048" y="27797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Forrester Research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718304" y="1280160"/>
            <a:ext cx="20116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18304" y="1280160"/>
            <a:ext cx="201168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9744" y="1389888"/>
            <a:ext cx="1865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$12.9M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846320" y="213969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annual cost of poor data quality per organization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27797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894576" y="1280160"/>
            <a:ext cx="20116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94576" y="1280160"/>
            <a:ext cx="201168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86016" y="1389888"/>
            <a:ext cx="18653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&lt;20%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7022592" y="213969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community FIs rate themselves as analytics experts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22592" y="27797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CSBS Community Bank Survey 2023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65760" y="3163824"/>
            <a:ext cx="8430768" cy="329184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65760" y="3163824"/>
            <a:ext cx="457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3776" y="3163824"/>
            <a:ext cx="8266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banks have dedicated data teams — hundreds of analysts — to absorb this tax.  Community FIs don't.  That asymmetry is the problem JHBI solves.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584448"/>
            <a:ext cx="84307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65760" y="3584448"/>
            <a:ext cx="36576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" y="358444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Request Cycle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956816" y="3639312"/>
            <a:ext cx="0" cy="182880"/>
          </a:xfrm>
          <a:prstGeom prst="line">
            <a:avLst/>
          </a:prstGeom>
          <a:noFill/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048256" y="358444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 question  →  IT ticket  →  2-week wait  →  delivered  →  wrong question  →  repeat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3904488"/>
            <a:ext cx="8430768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65760" y="3904488"/>
            <a:ext cx="36576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5488" y="390448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956816" y="3959352"/>
            <a:ext cx="0" cy="182880"/>
          </a:xfrm>
          <a:prstGeom prst="line">
            <a:avLst/>
          </a:prstGeom>
          <a:noFill/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048256" y="390448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analysts.  Three days.  Six systems.  The numbers still don't reconcile.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4224528"/>
            <a:ext cx="843076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65760" y="4224528"/>
            <a:ext cx="36576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5488" y="4224528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Package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956816" y="4279392"/>
            <a:ext cx="0" cy="182880"/>
          </a:xfrm>
          <a:prstGeom prst="line">
            <a:avLst/>
          </a:prstGeom>
          <a:noFill/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048256" y="422452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Assembled manually from 12 Excel files.  Finished at midnight.  Contains at least one error nobody caught.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20040" y="4727448"/>
            <a:ext cx="8503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of complexity is a tax. Someone pays it — in time, in cost, or in questions that never get asked.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INTELLIGENCE PLATFORM  ·  RADICAL SIMPLICITY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7863840" y="-1005840"/>
            <a:ext cx="2926080" cy="2926080"/>
          </a:xfrm>
          <a:prstGeom prst="ellipse">
            <a:avLst/>
          </a:prstGeom>
          <a:solidFill>
            <a:srgbClr val="06185F">
              <a:alpha val="12000"/>
            </a:srgbClr>
          </a:solidFill>
          <a:ln w="12700">
            <a:solidFill>
              <a:srgbClr val="06185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Complexity Live?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86968"/>
            <a:ext cx="1463040" cy="4114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646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 offload complexity onto the user. JHBI absorbs it into the architecture. The question is who pays.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1572768" cy="347472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26187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38528" y="1261872"/>
            <a:ext cx="32918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29968" y="1261872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 LEGACY BI  /  TRADITIONAL DW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30368" y="1261872"/>
            <a:ext cx="3566160" cy="34747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21808" y="1261872"/>
            <a:ext cx="3456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JHBI RADICAL SIMPLICITY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609344"/>
            <a:ext cx="1572768" cy="461772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" y="1609344"/>
            <a:ext cx="148132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Joins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38528" y="1609344"/>
            <a:ext cx="3291840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029968" y="1609344"/>
            <a:ext cx="316382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 at query time — slow, expensive, error-prone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30368" y="1609344"/>
            <a:ext cx="3566160" cy="461772"/>
          </a:xfrm>
          <a:prstGeom prst="rect">
            <a:avLst/>
          </a:prstGeom>
          <a:solidFill>
            <a:srgbClr val="EDF2FC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230368" y="1609344"/>
            <a:ext cx="36576" cy="46177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21808" y="1609344"/>
            <a:ext cx="343814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Pre-resolved in Silver layer — never at query time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087575"/>
            <a:ext cx="1572768" cy="461772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8912" y="2087575"/>
            <a:ext cx="148132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938528" y="2087575"/>
            <a:ext cx="3291840" cy="461772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029968" y="2087575"/>
            <a:ext cx="316382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inconsistent, or nonexistent — "Bob Johnson" ≠ "Robert Johnson"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30368" y="2087575"/>
            <a:ext cx="3566160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230368" y="2087575"/>
            <a:ext cx="36576" cy="46177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21808" y="2087575"/>
            <a:ext cx="343814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once at ingestion. Golden Record always current.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2565806"/>
            <a:ext cx="1572768" cy="461772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38912" y="2565806"/>
            <a:ext cx="148132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938528" y="2565806"/>
            <a:ext cx="3291840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029968" y="2565806"/>
            <a:ext cx="316382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discover data problems inside reports — after decisions are made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230368" y="2565806"/>
            <a:ext cx="3566160" cy="461772"/>
          </a:xfrm>
          <a:prstGeom prst="rect">
            <a:avLst/>
          </a:prstGeom>
          <a:solidFill>
            <a:srgbClr val="EDF2FC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230368" y="2565806"/>
            <a:ext cx="36576" cy="46177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321808" y="2565806"/>
            <a:ext cx="343814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at Bronze → Silver transition, before it reaches users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3044038"/>
            <a:ext cx="1572768" cy="461772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38912" y="3044038"/>
            <a:ext cx="148132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 Questions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938528" y="3044038"/>
            <a:ext cx="3291840" cy="461772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029968" y="3044038"/>
            <a:ext cx="316382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ticket  →  2-week wait  →  often the wrong question anyway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230368" y="3044038"/>
            <a:ext cx="3566160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230368" y="3044038"/>
            <a:ext cx="36576" cy="46177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321808" y="3044038"/>
            <a:ext cx="343814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Smart Query — plain English, answer in seconds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3522269"/>
            <a:ext cx="1572768" cy="461772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38912" y="3522269"/>
            <a:ext cx="148132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 Source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938528" y="3522269"/>
            <a:ext cx="3291840" cy="46177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029968" y="3522269"/>
            <a:ext cx="316382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integration project — discovery, ETL, testing, sign-off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230368" y="3522269"/>
            <a:ext cx="3566160" cy="461772"/>
          </a:xfrm>
          <a:prstGeom prst="rect">
            <a:avLst/>
          </a:prstGeom>
          <a:solidFill>
            <a:srgbClr val="EDF2FC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230368" y="3522269"/>
            <a:ext cx="36576" cy="46177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321808" y="3522269"/>
            <a:ext cx="343814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+ medallion pattern — days, not months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" y="4000500"/>
            <a:ext cx="1572768" cy="461772"/>
          </a:xfrm>
          <a:prstGeom prst="rect">
            <a:avLst/>
          </a:prstGeom>
          <a:solidFill>
            <a:srgbClr val="06185F"/>
          </a:solidFill>
          <a:ln w="12700">
            <a:solidFill>
              <a:srgbClr val="E7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38912" y="4000500"/>
            <a:ext cx="1481328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 the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Tax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938528" y="4000500"/>
            <a:ext cx="3291840" cy="461772"/>
          </a:xfrm>
          <a:prstGeom prst="rect">
            <a:avLst/>
          </a:prstGeom>
          <a:solidFill>
            <a:srgbClr val="2A0D0D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029968" y="4000500"/>
            <a:ext cx="316382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banker. The analyst. The IT team. Every single day.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30368" y="4000500"/>
            <a:ext cx="3566160" cy="461772"/>
          </a:xfrm>
          <a:prstGeom prst="rect">
            <a:avLst/>
          </a:prstGeom>
          <a:solidFill>
            <a:srgbClr val="061830"/>
          </a:solidFill>
          <a:ln w="1905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230368" y="4000500"/>
            <a:ext cx="36576" cy="461772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321808" y="4000500"/>
            <a:ext cx="3438144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— invisible to every user above the waterline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20040" y="4727448"/>
            <a:ext cx="8503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column that matters: Who Pays the Tax. Legacy puts it on people. JHBI buries it in the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5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INTELLIGENCE PLATFORM  ·  RADICAL SIMPLICITY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7863840" y="-1005840"/>
            <a:ext cx="2926080" cy="2926080"/>
          </a:xfrm>
          <a:prstGeom prst="ellipse">
            <a:avLst/>
          </a:prstGeom>
          <a:solidFill>
            <a:srgbClr val="06185F">
              <a:alpha val="12000"/>
            </a:srgbClr>
          </a:solidFill>
          <a:ln w="12700">
            <a:solidFill>
              <a:srgbClr val="06185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Absorbed — Simplicity Delivered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86968"/>
            <a:ext cx="1463040" cy="4114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646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complexity is real. All of it. None of it is visible to the banker asking a question.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06040" y="1261872"/>
            <a:ext cx="3913632" cy="987552"/>
          </a:xfrm>
          <a:prstGeom prst="rect">
            <a:avLst/>
          </a:prstGeom>
          <a:solidFill>
            <a:srgbClr val="D6E8F7"/>
          </a:solidFill>
          <a:ln w="254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06040" y="1298448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BANKER SEES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834640" y="1508760"/>
            <a:ext cx="3456432" cy="0"/>
          </a:xfrm>
          <a:prstGeom prst="line">
            <a:avLst/>
          </a:prstGeom>
          <a:noFill/>
          <a:ln w="12700">
            <a:solidFill>
              <a:srgbClr val="085CE5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88920" y="1536192"/>
            <a:ext cx="3639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Simple query interface  (AI Smart Query)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88920" y="1783080"/>
            <a:ext cx="3639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Fast, consistent dashboard answers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88920" y="2029968"/>
            <a:ext cx="3639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No SQL · No IT ticket · No wait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0" y="2304288"/>
            <a:ext cx="9144000" cy="54864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121408"/>
            <a:ext cx="1234440" cy="219456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12140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WATERLINE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212080" y="21031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9/10ths of complexity is below here →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56032" y="2359152"/>
            <a:ext cx="8631936" cy="2304288"/>
          </a:xfrm>
          <a:prstGeom prst="rect">
            <a:avLst/>
          </a:prstGeom>
          <a:solidFill>
            <a:srgbClr val="071A3E"/>
          </a:solidFill>
          <a:ln w="25400">
            <a:solidFill>
              <a:srgbClr val="0D2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6032" y="2432304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2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DOES  (so the banker never has to)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1792" y="2679192"/>
            <a:ext cx="7900416" cy="0"/>
          </a:xfrm>
          <a:prstGeom prst="line">
            <a:avLst/>
          </a:prstGeom>
          <a:noFill/>
          <a:ln w="12700">
            <a:solidFill>
              <a:srgbClr val="76DCF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8912" y="2724912"/>
            <a:ext cx="2785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Entity resolution  &amp;  Golden Record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8912" y="3054096"/>
            <a:ext cx="2785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Pipeline orchestration  &amp;  scheduling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33344" y="2743200"/>
            <a:ext cx="0" cy="1828800"/>
          </a:xfrm>
          <a:prstGeom prst="line">
            <a:avLst/>
          </a:prstGeom>
          <a:noFill/>
          <a:ln w="12700">
            <a:solidFill>
              <a:srgbClr val="0D2E7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16224" y="2724912"/>
            <a:ext cx="2785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Data quality gates at every layer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16224" y="3054096"/>
            <a:ext cx="2785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Schema governance  &amp;  Alation lineage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10656" y="2743200"/>
            <a:ext cx="0" cy="1828800"/>
          </a:xfrm>
          <a:prstGeom prst="line">
            <a:avLst/>
          </a:prstGeom>
          <a:noFill/>
          <a:ln w="12700">
            <a:solidFill>
              <a:srgbClr val="0D2E7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93536" y="2724912"/>
            <a:ext cx="2785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Pre-computed Gold layer answers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93536" y="3054096"/>
            <a:ext cx="2785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Medallion architecture management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" y="4279392"/>
            <a:ext cx="8174736" cy="310896"/>
          </a:xfrm>
          <a:prstGeom prst="rect">
            <a:avLst/>
          </a:prstGeom>
          <a:solidFill>
            <a:srgbClr val="085CE5">
              <a:alpha val="18000"/>
            </a:srgbClr>
          </a:solidFill>
          <a:ln w="12700">
            <a:solidFill>
              <a:srgbClr val="76DCFD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76072" y="4279392"/>
            <a:ext cx="7991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Google search is the most complex query engine ever built.  It feels like typing in a box.  JHBI is the same philosophy applied to community banking."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20040" y="4727448"/>
            <a:ext cx="8503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Radical simplicity is not about doing less. It's about making sure the right layer carries the complexity.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669</Words>
  <Application>Microsoft Macintosh PowerPoint</Application>
  <PresentationFormat>On-screen Show (16:9)</PresentationFormat>
  <Paragraphs>74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Adam Ames</cp:lastModifiedBy>
  <cp:revision>2</cp:revision>
  <dcterms:created xsi:type="dcterms:W3CDTF">2026-04-07T18:47:38Z</dcterms:created>
  <dcterms:modified xsi:type="dcterms:W3CDTF">2026-04-07T18:58:12Z</dcterms:modified>
</cp:coreProperties>
</file>