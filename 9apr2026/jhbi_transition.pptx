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TRANSITION FROM JHAKnow &amp; ARCu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 to JHBI — On Your Terms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JHAKnow and ARCu customers move to JHBI when JHBI is ready for you — not before. Feature parity is the hard requirement. Here's our commitment.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2743200" cy="3465576"/>
          </a:xfrm>
          <a:prstGeom prst="rect">
            <a:avLst/>
          </a:prstGeom>
          <a:solidFill>
            <a:srgbClr val="EDF2FC"/>
          </a:solidFill>
          <a:ln w="19050">
            <a:solidFill>
              <a:srgbClr val="0618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61872"/>
            <a:ext cx="2743200" cy="5486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0817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185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0624" y="1993392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Taken Away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0624" y="2770632"/>
            <a:ext cx="2194560" cy="36576"/>
          </a:xfrm>
          <a:prstGeom prst="rect">
            <a:avLst/>
          </a:prstGeom>
          <a:solidFill>
            <a:srgbClr val="06185F">
              <a:alpha val="40000"/>
            </a:srgbClr>
          </a:solidFill>
          <a:ln w="12700">
            <a:solidFill>
              <a:srgbClr val="06185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871216"/>
            <a:ext cx="248716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you rely on in JHAKnow or ARCu will exist in JHBI before migration begins.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parity is the condition — not the aspiration. We don't flip the switch until the bar is cleared.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261872"/>
            <a:ext cx="2743200" cy="3465576"/>
          </a:xfrm>
          <a:prstGeom prst="rect">
            <a:avLst/>
          </a:prstGeom>
          <a:solidFill>
            <a:srgbClr val="EAF0FD"/>
          </a:solidFill>
          <a:ln w="19050">
            <a:solidFill>
              <a:srgbClr val="085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261872"/>
            <a:ext cx="2743200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40817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5CE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364992" y="1993392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 on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Schedule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364992" y="2770632"/>
            <a:ext cx="2194560" cy="36576"/>
          </a:xfrm>
          <a:prstGeom prst="rect">
            <a:avLst/>
          </a:prstGeom>
          <a:solidFill>
            <a:srgbClr val="085CE5">
              <a:alpha val="40000"/>
            </a:srgbClr>
          </a:solidFill>
          <a:ln w="12700">
            <a:solidFill>
              <a:srgbClr val="085CE5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871216"/>
            <a:ext cx="248716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JHAKnow and ARCu remain fully operational alongside JHBI — in parallel, for as long as you need.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evaluate. You gain confidence. You migrate when you're ready — not when we send a sunset notice.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1261872"/>
            <a:ext cx="2743200" cy="3465576"/>
          </a:xfrm>
          <a:prstGeom prst="rect">
            <a:avLst/>
          </a:prstGeom>
          <a:solidFill>
            <a:srgbClr val="E6F4F1"/>
          </a:solidFill>
          <a:ln w="19050">
            <a:solidFill>
              <a:srgbClr val="0E7C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261872"/>
            <a:ext cx="2743200" cy="548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40817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7C6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309360" y="1993392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With You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09360" y="2770632"/>
            <a:ext cx="2194560" cy="36576"/>
          </a:xfrm>
          <a:prstGeom prst="rect">
            <a:avLst/>
          </a:prstGeom>
          <a:solidFill>
            <a:srgbClr val="0E7C6B">
              <a:alpha val="40000"/>
            </a:srgbClr>
          </a:solidFill>
          <a:ln w="12700">
            <a:solidFill>
              <a:srgbClr val="0E7C6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871216"/>
            <a:ext cx="248716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history, your custom reports, your user configurations — all migrate with you.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starting over. You are leveling up. Everything you've built carries forward to a better foundation.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 when it's worth moving. And when you do, you'll have everything you had — plus everything you couldn't get before.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TRANSITION FROM JHAKnow &amp; ARCu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Have. Everything You've Wanted. And More.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reaches full parity with JHAKnow and ARCu before any migration begins. Then it goes further — into capabilities your institution has never had access to.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4224528" cy="384048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WHAT YOU HAVE TODAY  (JHAKnow &amp; ARCu)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4224528" cy="3840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26187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 NEW ON JHBI  —  What You've Always Wanted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645920"/>
            <a:ext cx="4224528" cy="385191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645920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824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Pre-built financial dashboards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883664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report templates carry forward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4224528" cy="385191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45920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6824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Entity Resolution / Golden Record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91456" y="1883664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identity across all your systems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031111"/>
            <a:ext cx="4224528" cy="385191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031111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067687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Member &amp; account analytics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2268855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member views, deeper relationship context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031111"/>
            <a:ext cx="4224528" cy="385191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031111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067687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AI Smart Query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2268855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plain English — no SQL, no ticket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416302"/>
            <a:ext cx="4224528" cy="385191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416302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45287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Loan portfolio reporting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2654046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health, delinquency, concentration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416302"/>
            <a:ext cx="4224528" cy="385191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416302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45287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Real-time data (CDC streaming)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91456" y="2654046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behind the core — not last night's batch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2801493"/>
            <a:ext cx="4224528" cy="385191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2801493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838069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Deposit &amp; funding analysis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3039237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rate, maturity, and flow analytics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801493"/>
            <a:ext cx="4224528" cy="385191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801493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2838069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Third-party enrichment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91456" y="3039237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LexisNexis, FFIEC, Census data already wired 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3186684"/>
            <a:ext cx="4224528" cy="385191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" y="3186684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22326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NCUA / Call report automation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84048" y="3424428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submissions still governed and automated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186684"/>
            <a:ext cx="4224528" cy="385191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186684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22326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SMB Owner Intelligence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91456" y="3424428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business owners hiding in your consumer base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6032" y="3571875"/>
            <a:ext cx="4224528" cy="385191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" y="3571875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608451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Peer benchmarking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84048" y="3809619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FFIEC/NCUA peer comparisons — now with more depth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3571875"/>
            <a:ext cx="4224528" cy="385191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3571875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3608451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At-Risk Deposit Predictor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91456" y="3809619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— flag outflow risk before it happens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3957066"/>
            <a:ext cx="4224528" cy="385191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" y="3957066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399364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Branch &amp; region performance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048" y="4194810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scorecards, same KPIs, richer data behind them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63440" y="3957066"/>
            <a:ext cx="4224528" cy="385191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3957066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91456" y="399364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Open APIs — your data travels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791456" y="4194810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intelligence to CRM, LOS, Banno, fintechs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4342257"/>
            <a:ext cx="4224528" cy="385191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6032" y="4342257"/>
            <a:ext cx="45720" cy="385191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4378833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reports &amp; user access controls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4048" y="4580001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configurations migrate — you don't rebuild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63440" y="4342257"/>
            <a:ext cx="4224528" cy="385191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4342257"/>
            <a:ext cx="45720" cy="3851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91456" y="4378833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Full data governance (Alation included)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791456" y="4580001"/>
            <a:ext cx="4041648" cy="11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catalog, quality metrics — all included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is the floor. Everything on the right is the ceiling — capabilities no legacy BI tool was ever built to deliver.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2026-04-08T18:34:20Z</dcterms:created>
  <dcterms:modified xsi:type="dcterms:W3CDTF">2026-04-08T18:34:20Z</dcterms:modified>
</cp:coreProperties>
</file>