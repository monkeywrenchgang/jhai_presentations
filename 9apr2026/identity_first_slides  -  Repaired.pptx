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77222"/>
  </p:normalViewPr>
  <p:slideViewPr>
    <p:cSldViewPr snapToGrid="0" snapToObjects="1">
      <p:cViewPr varScale="1">
        <p:scale>
          <a:sx n="127" d="100"/>
          <a:sy n="127" d="100"/>
        </p:scale>
        <p:origin x="1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163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Account-centric data tells you what happened to a product. Identity-first data tells you what's happening to a customer. Community banking is a relationship business — your data model should be too.</a:t>
            </a:r>
          </a:p>
          <a:p>
            <a:endParaRPr lang="en-US" dirty="0"/>
          </a:p>
          <a:p>
            <a:r>
              <a:rPr lang="en-US" dirty="0"/>
              <a:t>Identity first isn't a feature of JHBI. It's the reason every other feature works. Without a resolved customer identity at the foundation, real-time data is fast noise, AI queries get wrong answers, and personalization feels like it's talking to a stranger. Get identity right and everything else gets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IDENTITY FIRST 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Entity Resolution Actually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46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records. One person. Zero connections — until JHBI resolves them.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40690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BEFORE  —  What Your Systems See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069080" cy="18288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15361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15361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SYSTEM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80944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/ ID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719072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" y="1783080"/>
            <a:ext cx="1060704" cy="265176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178308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171907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80944" y="171907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SSN: XXX-XX-1234  ·  Checking #4421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130552"/>
            <a:ext cx="40690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9768" y="2194560"/>
            <a:ext cx="1060704" cy="265176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" y="219456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54480" y="213055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Johnson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80944" y="213055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SSN: XXX-XX-1234  ·  Mortgage #8819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542032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9768" y="2606040"/>
            <a:ext cx="1060704" cy="265176"/>
          </a:xfrm>
          <a:prstGeom prst="rect">
            <a:avLst/>
          </a:prstGeom>
          <a:solidFill>
            <a:srgbClr val="5B3B8A"/>
          </a:solidFill>
          <a:ln w="12700">
            <a:solidFill>
              <a:srgbClr val="5B3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260604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554480" y="254203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rjohnson@gmail.com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80944" y="254203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login: yesterday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953512"/>
            <a:ext cx="40690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9768" y="3017520"/>
            <a:ext cx="1060704" cy="265176"/>
          </a:xfrm>
          <a:prstGeom prst="rect">
            <a:avLst/>
          </a:prstGeom>
          <a:solidFill>
            <a:srgbClr val="8A5B1B"/>
          </a:solidFill>
          <a:ln w="12700">
            <a:solidFill>
              <a:srgbClr val="8A5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9768" y="301752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54480" y="295351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R.J. Johnson LLC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80944" y="295351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EIN: XX-1234567  ·  LOC #2201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364992"/>
            <a:ext cx="4069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29768" y="3429000"/>
            <a:ext cx="1060704" cy="265176"/>
          </a:xfrm>
          <a:prstGeom prst="rect">
            <a:avLst/>
          </a:prstGeom>
          <a:solidFill>
            <a:srgbClr val="1B6B6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9768" y="3429000"/>
            <a:ext cx="1060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Platform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554480" y="3364992"/>
            <a:ext cx="1408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Johnson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80944" y="3364992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#5544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794760"/>
            <a:ext cx="4069080" cy="219456"/>
          </a:xfrm>
          <a:prstGeom prst="rect">
            <a:avLst/>
          </a:prstGeom>
          <a:solidFill>
            <a:srgbClr val="FDF2F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" y="3794760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person.  5 records.  0 connections.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45152" y="1243584"/>
            <a:ext cx="0" cy="3456432"/>
          </a:xfrm>
          <a:prstGeom prst="line">
            <a:avLst/>
          </a:prstGeom>
          <a:noFill/>
          <a:ln w="1905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73168" y="1243584"/>
            <a:ext cx="4041648" cy="292608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64608" y="12435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AFTER  —  What JHBI Sees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1536192"/>
            <a:ext cx="4041648" cy="274320"/>
          </a:xfrm>
          <a:prstGeom prst="rect">
            <a:avLst/>
          </a:prstGeom>
          <a:solidFill>
            <a:srgbClr val="E8A400"/>
          </a:solidFill>
          <a:ln w="12700">
            <a:solidFill>
              <a:srgbClr val="C8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82896" y="153619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   </a:t>
            </a: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73168" y="1810512"/>
            <a:ext cx="4041648" cy="155448"/>
          </a:xfrm>
          <a:prstGeom prst="rect">
            <a:avLst/>
          </a:prstGeom>
          <a:solidFill>
            <a:srgbClr val="FDF0C0"/>
          </a:solidFill>
          <a:ln w="12700">
            <a:solidFill>
              <a:srgbClr val="E0D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64608" y="18105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IDENTITY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73168" y="1965960"/>
            <a:ext cx="2015338" cy="274320"/>
          </a:xfrm>
          <a:prstGeom prst="rect">
            <a:avLst/>
          </a:prstGeom>
          <a:solidFill>
            <a:srgbClr val="FEF8E7"/>
          </a:solidFill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37176" y="1975104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NAME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837176" y="2070202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799478" y="1965960"/>
            <a:ext cx="2015338" cy="274320"/>
          </a:xfrm>
          <a:prstGeom prst="rect">
            <a:avLst/>
          </a:prstGeom>
          <a:solidFill>
            <a:srgbClr val="FDF5D5"/>
          </a:solidFill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63486" y="1975104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863486" y="2070202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XXX-XX-1234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73168" y="2251253"/>
            <a:ext cx="2015338" cy="274320"/>
          </a:xfrm>
          <a:prstGeom prst="rect">
            <a:avLst/>
          </a:prstGeom>
          <a:solidFill>
            <a:srgbClr val="FDF5D5"/>
          </a:solidFill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37176" y="2260397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837176" y="2355494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rjohnson@gmail.com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99478" y="2251253"/>
            <a:ext cx="2015338" cy="274320"/>
          </a:xfrm>
          <a:prstGeom prst="rect">
            <a:avLst/>
          </a:prstGeom>
          <a:solidFill>
            <a:srgbClr val="FEF8E7"/>
          </a:solidFill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63486" y="2260397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(BUSINESS)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863486" y="2355494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XX-1234567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73168" y="2536546"/>
            <a:ext cx="2015338" cy="274320"/>
          </a:xfrm>
          <a:prstGeom prst="rect">
            <a:avLst/>
          </a:prstGeom>
          <a:solidFill>
            <a:srgbClr val="FEF8E7"/>
          </a:solidFill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37176" y="2545690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837176" y="2640787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(555) 847-2291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799478" y="2536546"/>
            <a:ext cx="2015338" cy="274320"/>
          </a:xfrm>
          <a:prstGeom prst="rect">
            <a:avLst/>
          </a:prstGeom>
          <a:solidFill>
            <a:srgbClr val="FDF5D5"/>
          </a:solidFill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63486" y="2545690"/>
            <a:ext cx="193304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A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863486" y="2640787"/>
            <a:ext cx="193304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Business Owner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73168" y="2847442"/>
            <a:ext cx="4041648" cy="146304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864608" y="284744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0D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 &amp;  RELATIONSHIP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773168" y="2993746"/>
            <a:ext cx="4041648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773168" y="2993746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64608" y="2993746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#4421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29984" y="2993746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$42,000 balance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73168" y="3194914"/>
            <a:ext cx="4041648" cy="192024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773168" y="3194914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64608" y="3194914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#8819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729984" y="3194914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$287,000 outstanding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773168" y="3396082"/>
            <a:ext cx="4041648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773168" y="3396082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64608" y="339608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LOC #2201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729984" y="3396082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 · $80K drawn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73168" y="3597250"/>
            <a:ext cx="4041648" cy="192024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773168" y="3597250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864608" y="3597250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#5544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729984" y="3597250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 / month spend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73168" y="3798418"/>
            <a:ext cx="4041648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773168" y="3798418"/>
            <a:ext cx="36576" cy="19202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864608" y="379841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729984" y="3798418"/>
            <a:ext cx="20482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mobile-primary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864608" y="401787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Relationship Value: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693408" y="401787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$562,000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773168" y="4246474"/>
            <a:ext cx="4041648" cy="219456"/>
          </a:xfrm>
          <a:prstGeom prst="rect">
            <a:avLst/>
          </a:prstGeom>
          <a:solidFill>
            <a:srgbClr val="76DCFD">
              <a:alpha val="80000"/>
            </a:srgbClr>
          </a:solidFill>
          <a:ln w="1905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4773168" y="4246474"/>
            <a:ext cx="36576" cy="21945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864608" y="424647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Owner: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693408" y="424647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←  this is the insight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864608" y="447507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Signal: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693408" y="447507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utilization trending up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Account-centric data tells you what happened to a product.  Identity-first data tells you what's happening to a customer.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IDENTITY FIRST 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Record — One Identity, Every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46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system feeds a single resolved customer record. Every insight radiates from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033272"/>
            <a:ext cx="0" cy="843534"/>
          </a:xfrm>
          <a:prstGeom prst="line">
            <a:avLst/>
          </a:prstGeom>
          <a:noFill/>
          <a:ln w="22860">
            <a:solidFill>
              <a:srgbClr val="1B5E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07992" y="1812798"/>
            <a:ext cx="128016" cy="128016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94760" y="749808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94760" y="749808"/>
            <a:ext cx="54864" cy="566928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04488" y="786384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04488" y="976579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 / Episys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04488" y="1118311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 · Checking #4421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333473" y="2266668"/>
            <a:ext cx="0" cy="288506"/>
          </a:xfrm>
          <a:prstGeom prst="line">
            <a:avLst/>
          </a:prstGeom>
          <a:noFill/>
          <a:ln w="22860">
            <a:solidFill>
              <a:srgbClr val="1B6B3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76802" y="2491166"/>
            <a:ext cx="128016" cy="128016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56233" y="1983204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56233" y="1983204"/>
            <a:ext cx="54864" cy="56692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5961" y="2019780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5961" y="2209976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LoanVantage / Encompass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65961" y="2351708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#8819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97486" y="4233278"/>
            <a:ext cx="0" cy="0"/>
          </a:xfrm>
          <a:prstGeom prst="line">
            <a:avLst/>
          </a:prstGeom>
          <a:noFill/>
          <a:ln w="22860">
            <a:solidFill>
              <a:srgbClr val="1B6B6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37009" y="3572801"/>
            <a:ext cx="128016" cy="128016"/>
          </a:xfrm>
          <a:prstGeom prst="ellipse">
            <a:avLst/>
          </a:prstGeom>
          <a:solidFill>
            <a:srgbClr val="1B6B6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20246" y="3949814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20246" y="3949814"/>
            <a:ext cx="54864" cy="566928"/>
          </a:xfrm>
          <a:prstGeom prst="rect">
            <a:avLst/>
          </a:prstGeom>
          <a:solidFill>
            <a:srgbClr val="1B6B6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29974" y="3986390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29974" y="4176585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Card Processing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229974" y="4318317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#5544 · Spend data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930876" y="4669265"/>
            <a:ext cx="288506" cy="0"/>
          </a:xfrm>
          <a:prstGeom prst="line">
            <a:avLst/>
          </a:prstGeom>
          <a:noFill/>
          <a:ln w="22860">
            <a:solidFill>
              <a:srgbClr val="8A5B1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55374" y="3812594"/>
            <a:ext cx="128016" cy="128016"/>
          </a:xfrm>
          <a:prstGeom prst="ellipse">
            <a:avLst/>
          </a:prstGeom>
          <a:solidFill>
            <a:srgbClr val="8A5B1B"/>
          </a:solidFill>
          <a:ln w="12700">
            <a:solidFill>
              <a:srgbClr val="8A5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3636" y="4385801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8A5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53636" y="4385801"/>
            <a:ext cx="54864" cy="566928"/>
          </a:xfrm>
          <a:prstGeom prst="rect">
            <a:avLst/>
          </a:prstGeom>
          <a:solidFill>
            <a:srgbClr val="8A5B1B"/>
          </a:solidFill>
          <a:ln w="12700">
            <a:solidFill>
              <a:srgbClr val="8A5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63364" y="4422377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63364" y="4612572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Core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63364" y="4754304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A5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· LOC #2201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810527" y="2266668"/>
            <a:ext cx="792663" cy="288506"/>
          </a:xfrm>
          <a:prstGeom prst="line">
            <a:avLst/>
          </a:prstGeom>
          <a:noFill/>
          <a:ln w="22860">
            <a:solidFill>
              <a:srgbClr val="5B3B8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539182" y="2491166"/>
            <a:ext cx="128016" cy="128016"/>
          </a:xfrm>
          <a:prstGeom prst="ellipse">
            <a:avLst/>
          </a:prstGeom>
          <a:solidFill>
            <a:srgbClr val="5B3B8A"/>
          </a:solidFill>
          <a:ln w="12700">
            <a:solidFill>
              <a:srgbClr val="5B3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033287" y="1983204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5B3B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033287" y="1983204"/>
            <a:ext cx="54864" cy="566928"/>
          </a:xfrm>
          <a:prstGeom prst="rect">
            <a:avLst/>
          </a:prstGeom>
          <a:solidFill>
            <a:srgbClr val="5B3B8A"/>
          </a:solidFill>
          <a:ln w="12700">
            <a:solidFill>
              <a:srgbClr val="5B3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43015" y="2019780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43015" y="2209976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/ Online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143015" y="2351708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B3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Login behavior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930876" y="1146319"/>
            <a:ext cx="288506" cy="792663"/>
          </a:xfrm>
          <a:prstGeom prst="line">
            <a:avLst/>
          </a:prstGeom>
          <a:noFill/>
          <a:ln w="22860">
            <a:solidFill>
              <a:srgbClr val="6B1B6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55374" y="1874974"/>
            <a:ext cx="128016" cy="128016"/>
          </a:xfrm>
          <a:prstGeom prst="ellipse">
            <a:avLst/>
          </a:prstGeom>
          <a:solidFill>
            <a:srgbClr val="6B1B6B"/>
          </a:solidFill>
          <a:ln w="12700">
            <a:solidFill>
              <a:srgbClr val="6B1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153636" y="862855"/>
            <a:ext cx="1554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B1B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153636" y="862855"/>
            <a:ext cx="54864" cy="566928"/>
          </a:xfrm>
          <a:prstGeom prst="rect">
            <a:avLst/>
          </a:prstGeom>
          <a:solidFill>
            <a:srgbClr val="6B1B6B"/>
          </a:solidFill>
          <a:ln w="12700">
            <a:solidFill>
              <a:srgbClr val="6B1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63364" y="899431"/>
            <a:ext cx="1408176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 / 3rd Party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63364" y="1089627"/>
            <a:ext cx="1408176" cy="15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enrichment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263364" y="1231359"/>
            <a:ext cx="1408176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1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Address · KYC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493008" y="2125980"/>
            <a:ext cx="2157984" cy="1563624"/>
          </a:xfrm>
          <a:prstGeom prst="ellipse">
            <a:avLst/>
          </a:prstGeom>
          <a:solidFill>
            <a:srgbClr val="E8A400">
              <a:alpha val="18000"/>
            </a:srgbClr>
          </a:solidFill>
          <a:ln w="19050">
            <a:solidFill>
              <a:srgbClr val="E8A4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657600" y="2290572"/>
            <a:ext cx="1828800" cy="274320"/>
          </a:xfrm>
          <a:prstGeom prst="rect">
            <a:avLst/>
          </a:prstGeom>
          <a:solidFill>
            <a:srgbClr val="E8A400"/>
          </a:solidFill>
          <a:ln w="19050">
            <a:solidFill>
              <a:srgbClr val="C8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0" y="22905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GOLDEN RECORD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0" y="2564892"/>
            <a:ext cx="1828800" cy="960120"/>
          </a:xfrm>
          <a:prstGeom prst="rect">
            <a:avLst/>
          </a:prstGeom>
          <a:solidFill>
            <a:srgbClr val="FEF8E7"/>
          </a:solidFill>
          <a:ln w="19050">
            <a:solidFill>
              <a:srgbClr val="C8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712464" y="256489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26864" y="256489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SSN: XXX-XX-1234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712464" y="2804922"/>
            <a:ext cx="1719072" cy="0"/>
          </a:xfrm>
          <a:prstGeom prst="line">
            <a:avLst/>
          </a:prstGeom>
          <a:noFill/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712464" y="280492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rjohnson@gmail.com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26864" y="280492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EIN: XX-1234567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712464" y="3044952"/>
            <a:ext cx="1719072" cy="0"/>
          </a:xfrm>
          <a:prstGeom prst="line">
            <a:avLst/>
          </a:prstGeom>
          <a:noFill/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712464" y="304495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(555) 847-2291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26864" y="304495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1847 Oak St, Austin TX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712464" y="3284982"/>
            <a:ext cx="1719072" cy="0"/>
          </a:xfrm>
          <a:prstGeom prst="line">
            <a:avLst/>
          </a:prstGeom>
          <a:noFill/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712464" y="328498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$562K relationship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0" y="3284982"/>
            <a:ext cx="914400" cy="240030"/>
          </a:xfrm>
          <a:prstGeom prst="rect">
            <a:avLst/>
          </a:prstGeom>
          <a:solidFill>
            <a:srgbClr val="76DCFD">
              <a:alpha val="80000"/>
            </a:srgbClr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626864" y="3284982"/>
            <a:ext cx="84124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Owner: YES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0" y="2601468"/>
            <a:ext cx="0" cy="886968"/>
          </a:xfrm>
          <a:prstGeom prst="line">
            <a:avLst/>
          </a:prstGeom>
          <a:noFill/>
          <a:ln w="12700">
            <a:solidFill>
              <a:srgbClr val="E8D8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first isn't a feature of JHBI. It's the reason every other feature works.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466</Words>
  <Application>Microsoft Macintosh PowerPoint</Application>
  <PresentationFormat>On-screen Show (16:9)</PresentationFormat>
  <Paragraphs>92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Ames</cp:lastModifiedBy>
  <cp:revision>3</cp:revision>
  <dcterms:created xsi:type="dcterms:W3CDTF">2026-04-07T17:27:49Z</dcterms:created>
  <dcterms:modified xsi:type="dcterms:W3CDTF">2026-04-07T17:30:52Z</dcterms:modified>
</cp:coreProperties>
</file>