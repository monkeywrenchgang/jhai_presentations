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DATA SCIENCE APPS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023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Apps — Out of the Box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46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absorbs the engineering cost. Your institution consumes the output. No data science team required.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1243584"/>
            <a:ext cx="2651760" cy="365760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07792" y="1243584"/>
            <a:ext cx="320040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08192" y="1243584"/>
            <a:ext cx="2779776" cy="36576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24358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35808" y="124358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BUILD IT YOURSELF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36208" y="1243584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OOTB ON JHBI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1609344"/>
            <a:ext cx="2651760" cy="646938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609344"/>
            <a:ext cx="54864" cy="64693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168249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/ Customer 360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" y="1938528"/>
            <a:ext cx="245059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relationship view — products, balances, transactions, risk signals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07792" y="1609344"/>
            <a:ext cx="3200400" cy="646938"/>
          </a:xfrm>
          <a:prstGeom prst="rect">
            <a:avLst/>
          </a:prstGeom>
          <a:solidFill>
            <a:srgbClr val="FDF2F1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35808" y="16824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 ·  3 FTEs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35808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~$600K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08192" y="1609344"/>
            <a:ext cx="2779776" cy="646938"/>
          </a:xfrm>
          <a:prstGeom prst="rect">
            <a:avLst/>
          </a:prstGeom>
          <a:solidFill>
            <a:srgbClr val="EDF2FC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609344"/>
            <a:ext cx="2596896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on. Configurable to your core.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2256282"/>
            <a:ext cx="2651760" cy="64693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256282"/>
            <a:ext cx="54864" cy="64693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232943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Owner Intelligence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" y="2585466"/>
            <a:ext cx="245059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business owners in consumer base, score business banking potential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907792" y="2256282"/>
            <a:ext cx="3200400" cy="646938"/>
          </a:xfrm>
          <a:prstGeom prst="rect">
            <a:avLst/>
          </a:prstGeom>
          <a:solidFill>
            <a:srgbClr val="FEF0E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35808" y="232943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 ·  2 data scientists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35808" y="256717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~$400K + LexisNexis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108192" y="2256282"/>
            <a:ext cx="2779776" cy="646938"/>
          </a:xfrm>
          <a:prstGeom prst="rect">
            <a:avLst/>
          </a:prstGeom>
          <a:solidFill>
            <a:srgbClr val="E6EEFB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2256282"/>
            <a:ext cx="2596896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entity resolution + enrichment. Already built.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" y="2903220"/>
            <a:ext cx="2651760" cy="646938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2903220"/>
            <a:ext cx="54864" cy="64693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" y="297637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Deposit Predictor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2336" y="3232404"/>
            <a:ext cx="245059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flagging deposits likely to leave — before they do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907792" y="2903220"/>
            <a:ext cx="3200400" cy="646938"/>
          </a:xfrm>
          <a:prstGeom prst="rect">
            <a:avLst/>
          </a:prstGeom>
          <a:solidFill>
            <a:srgbClr val="FDF2F1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5808" y="29763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months  ·  2 data scientists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035808" y="32141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~$300K + labeled data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108192" y="2903220"/>
            <a:ext cx="2779776" cy="646938"/>
          </a:xfrm>
          <a:prstGeom prst="rect">
            <a:avLst/>
          </a:prstGeom>
          <a:solidFill>
            <a:srgbClr val="EDF2FC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2903220"/>
            <a:ext cx="2596896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patterns across 7,500+ FIs. No labeled data needed.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6032" y="3550158"/>
            <a:ext cx="2651760" cy="64693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6032" y="3550158"/>
            <a:ext cx="54864" cy="64693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336" y="362331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Query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02336" y="3879342"/>
            <a:ext cx="2450592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instant answers — no SQL, no IT ticket, no wait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907792" y="3550158"/>
            <a:ext cx="3200400" cy="646938"/>
          </a:xfrm>
          <a:prstGeom prst="rect">
            <a:avLst/>
          </a:prstGeom>
          <a:solidFill>
            <a:srgbClr val="FEF0E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35808" y="362331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months  ·  LLM engineering team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035808" y="386105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$500K+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108192" y="3550158"/>
            <a:ext cx="2779776" cy="646938"/>
          </a:xfrm>
          <a:prstGeom prst="rect">
            <a:avLst/>
          </a:prstGeom>
          <a:solidFill>
            <a:srgbClr val="E6EEFB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36208" y="3550158"/>
            <a:ext cx="2596896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Included. Ask a question in plain English. Get an answer.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56032" y="4197096"/>
            <a:ext cx="2651760" cy="530352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07792" y="4197096"/>
            <a:ext cx="3200400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08192" y="4197096"/>
            <a:ext cx="2779776" cy="53035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" y="4197096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(4 apps)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035808" y="4197096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~$1.8M+  ·  3–4 years  ·  8–10 FTEs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236208" y="4197096"/>
            <a:ext cx="26151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subscription.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first insight.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above took a large bank years and millions to build. On JHBI, your institution switches them 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DATA SCIENCE APPS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023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Monday Morning Decisions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46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the engine. The apps are the output. The banker never sees the engine — they see the insight.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1261872"/>
            <a:ext cx="1565453" cy="3118104"/>
          </a:xfrm>
          <a:prstGeom prst="rect">
            <a:avLst/>
          </a:prstGeom>
          <a:solidFill>
            <a:srgbClr val="F5E6D3"/>
          </a:solidFill>
          <a:ln w="19050">
            <a:solidFill>
              <a:srgbClr val="7B3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261872"/>
            <a:ext cx="1565453" cy="438912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261872"/>
            <a:ext cx="147401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" y="1700784"/>
            <a:ext cx="14740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Layer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1993392"/>
            <a:ext cx="1382573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993392"/>
            <a:ext cx="1382573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Core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2576322"/>
            <a:ext cx="1382573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576322"/>
            <a:ext cx="1382573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Digital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3159252"/>
            <a:ext cx="1382573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159252"/>
            <a:ext cx="1382573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Payments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3742182"/>
            <a:ext cx="1382573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742182"/>
            <a:ext cx="1382573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FFIEC / NCUA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30629" y="2674620"/>
            <a:ext cx="182880" cy="292608"/>
          </a:xfrm>
          <a:prstGeom prst="rightArrow">
            <a:avLst/>
          </a:prstGeom>
          <a:solidFill>
            <a:srgbClr val="B6BBC0"/>
          </a:solidFill>
          <a:ln w="12700">
            <a:solidFill>
              <a:srgbClr val="B6BB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22653" y="1261872"/>
            <a:ext cx="1565453" cy="3118104"/>
          </a:xfrm>
          <a:prstGeom prst="rect">
            <a:avLst/>
          </a:prstGeom>
          <a:solidFill>
            <a:srgbClr val="E8ECF0"/>
          </a:solidFill>
          <a:ln w="19050">
            <a:solidFill>
              <a:srgbClr val="4A55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22653" y="1261872"/>
            <a:ext cx="1565453" cy="43891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77517" y="1261872"/>
            <a:ext cx="147401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DATA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77517" y="1700784"/>
            <a:ext cx="14740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14093" y="1993392"/>
            <a:ext cx="1382573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14093" y="1993392"/>
            <a:ext cx="1382573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 &amp; validated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114093" y="2576322"/>
            <a:ext cx="1382573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14093" y="2576322"/>
            <a:ext cx="1382573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Entity-resolved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114093" y="3159252"/>
            <a:ext cx="1382573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14093" y="3159252"/>
            <a:ext cx="1382573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114093" y="3742182"/>
            <a:ext cx="1382573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14093" y="3742182"/>
            <a:ext cx="1382573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Quality-gated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597250" y="2674620"/>
            <a:ext cx="182880" cy="292608"/>
          </a:xfrm>
          <a:prstGeom prst="rightArrow">
            <a:avLst/>
          </a:prstGeom>
          <a:solidFill>
            <a:srgbClr val="B6BBC0"/>
          </a:solidFill>
          <a:ln w="12700">
            <a:solidFill>
              <a:srgbClr val="B6BB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89274" y="1261872"/>
            <a:ext cx="1565453" cy="3118104"/>
          </a:xfrm>
          <a:prstGeom prst="rect">
            <a:avLst/>
          </a:prstGeom>
          <a:solidFill>
            <a:srgbClr val="FEF3C7"/>
          </a:solidFill>
          <a:ln w="19050">
            <a:solidFill>
              <a:srgbClr val="8B691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89274" y="1261872"/>
            <a:ext cx="1565453" cy="43891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4138" y="1261872"/>
            <a:ext cx="147401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44138" y="1700784"/>
            <a:ext cx="14740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80714" y="1993392"/>
            <a:ext cx="1382573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80714" y="1993392"/>
            <a:ext cx="1382573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Records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80714" y="2576322"/>
            <a:ext cx="1382573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80714" y="2576322"/>
            <a:ext cx="1382573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scores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80714" y="3159252"/>
            <a:ext cx="1382573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80714" y="3159252"/>
            <a:ext cx="1382573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signals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80714" y="3742182"/>
            <a:ext cx="1382573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80714" y="3742182"/>
            <a:ext cx="1382573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API-ready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63870" y="2674620"/>
            <a:ext cx="182880" cy="292608"/>
          </a:xfrm>
          <a:prstGeom prst="rightArrow">
            <a:avLst/>
          </a:prstGeom>
          <a:solidFill>
            <a:srgbClr val="B6BBC0"/>
          </a:solidFill>
          <a:ln w="12700">
            <a:solidFill>
              <a:srgbClr val="B6BBC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55894" y="1261872"/>
            <a:ext cx="1565453" cy="3118104"/>
          </a:xfrm>
          <a:prstGeom prst="rect">
            <a:avLst/>
          </a:prstGeom>
          <a:solidFill>
            <a:srgbClr val="EDF2FC"/>
          </a:solidFill>
          <a:ln w="19050">
            <a:solidFill>
              <a:srgbClr val="0618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55894" y="1261872"/>
            <a:ext cx="1565453" cy="43891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10758" y="1261872"/>
            <a:ext cx="147401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APPS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610758" y="1700784"/>
            <a:ext cx="14740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647334" y="1993392"/>
            <a:ext cx="1382573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47334" y="1993392"/>
            <a:ext cx="1382573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360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647334" y="2576322"/>
            <a:ext cx="1382573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47334" y="2576322"/>
            <a:ext cx="1382573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Intelligence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647334" y="3159252"/>
            <a:ext cx="1382573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47334" y="3159252"/>
            <a:ext cx="1382573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Predictor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47334" y="3742182"/>
            <a:ext cx="1382573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47334" y="3742182"/>
            <a:ext cx="1382573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Query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130491" y="2674620"/>
            <a:ext cx="182880" cy="292608"/>
          </a:xfrm>
          <a:prstGeom prst="rightArrow">
            <a:avLst/>
          </a:prstGeom>
          <a:solidFill>
            <a:srgbClr val="B6BBC0"/>
          </a:solidFill>
          <a:ln w="12700">
            <a:solidFill>
              <a:srgbClr val="B6BBC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22515" y="1261872"/>
            <a:ext cx="1565453" cy="3118104"/>
          </a:xfrm>
          <a:prstGeom prst="rect">
            <a:avLst/>
          </a:prstGeom>
          <a:solidFill>
            <a:srgbClr val="EDF7F1"/>
          </a:solidFill>
          <a:ln w="19050">
            <a:solidFill>
              <a:srgbClr val="1A7A3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22515" y="1261872"/>
            <a:ext cx="1565453" cy="438912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7379" y="1261872"/>
            <a:ext cx="147401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377379" y="1700784"/>
            <a:ext cx="14740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413955" y="1993392"/>
            <a:ext cx="1382573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13955" y="1993392"/>
            <a:ext cx="1382573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member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413955" y="2576322"/>
            <a:ext cx="1382573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13955" y="2576322"/>
            <a:ext cx="1382573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business acct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413955" y="3159252"/>
            <a:ext cx="1382573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13955" y="3159252"/>
            <a:ext cx="1382573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offer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413955" y="3742182"/>
            <a:ext cx="1382573" cy="52806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13955" y="3742182"/>
            <a:ext cx="1382573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answer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56032" y="4471416"/>
            <a:ext cx="5299862" cy="256032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555894" y="4471416"/>
            <a:ext cx="3332074" cy="256032"/>
          </a:xfrm>
          <a:prstGeom prst="rect">
            <a:avLst/>
          </a:prstGeom>
          <a:solidFill>
            <a:srgbClr val="EDF7F1"/>
          </a:solidFill>
          <a:ln w="12700">
            <a:solidFill>
              <a:srgbClr val="EDF7F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7472" y="4471416"/>
            <a:ext cx="51718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LAYER — invisible to the banker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647334" y="4471416"/>
            <a:ext cx="3204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VIEW — insight, recommendation, action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science is in the platform. The banker sees the insight, the recommendation, and the action — not the machinery behind 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DATA SCIENCE APPS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023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Banker Gets Their Own Intelligence Layer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46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apps aren't reports — they're role-specific intelligence surfaces. Same governed data. Tuned to the job.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" y="1261872"/>
            <a:ext cx="4233672" cy="1668780"/>
          </a:xfrm>
          <a:prstGeom prst="rect">
            <a:avLst/>
          </a:prstGeom>
          <a:solidFill>
            <a:srgbClr val="EDF2FC"/>
          </a:solidFill>
          <a:ln w="19050">
            <a:solidFill>
              <a:srgbClr val="085C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261872"/>
            <a:ext cx="4233672" cy="36576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 RELATIONSHIP MANAGER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" y="1664208"/>
            <a:ext cx="4050792" cy="3794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664208"/>
            <a:ext cx="54864" cy="379476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00784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360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883664"/>
            <a:ext cx="390448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relationship value, product gaps, at-risk flags — before the call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2080260"/>
            <a:ext cx="4050792" cy="3794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080260"/>
            <a:ext cx="54864" cy="379476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1683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Best Product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299716"/>
            <a:ext cx="390448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recommended action per member, surfaced in their workflow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2496312"/>
            <a:ext cx="4050792" cy="3794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496312"/>
            <a:ext cx="54864" cy="379476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32888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Intelligence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715768"/>
            <a:ext cx="390448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members are running a business — and ready for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54296" y="1261872"/>
            <a:ext cx="4233672" cy="1668780"/>
          </a:xfrm>
          <a:prstGeom prst="rect">
            <a:avLst/>
          </a:prstGeom>
          <a:solidFill>
            <a:srgbClr val="FEF3C7"/>
          </a:solidFill>
          <a:ln w="19050">
            <a:solidFill>
              <a:srgbClr val="8B69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54296" y="1261872"/>
            <a:ext cx="4233672" cy="3657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12618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 CFO / ALCO COMMITTEE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45736" y="1664208"/>
            <a:ext cx="4050792" cy="3794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45736" y="1664208"/>
            <a:ext cx="54864" cy="3794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5464" y="1700784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Flow Monitor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55464" y="1883664"/>
            <a:ext cx="390448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balance sheet view — not last night's batch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45736" y="2080260"/>
            <a:ext cx="4050792" cy="3794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45736" y="2080260"/>
            <a:ext cx="54864" cy="3794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5464" y="211683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Benchmarking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55464" y="2299716"/>
            <a:ext cx="390448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NIM, deposits, loans vs. peers — sourced from FFIEC/NCUA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45736" y="2496312"/>
            <a:ext cx="4050792" cy="3794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45736" y="2496312"/>
            <a:ext cx="54864" cy="379476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55464" y="2532888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 Dashboard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55464" y="2715768"/>
            <a:ext cx="390448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signals across the loan book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3058668"/>
            <a:ext cx="4233672" cy="1668780"/>
          </a:xfrm>
          <a:prstGeom prst="rect">
            <a:avLst/>
          </a:prstGeom>
          <a:solidFill>
            <a:srgbClr val="FDF2F1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" y="3058668"/>
            <a:ext cx="4233672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0586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 COMPLIANCE / BSA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47472" y="3461004"/>
            <a:ext cx="4050792" cy="3794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" y="3461004"/>
            <a:ext cx="54864" cy="3794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497580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Anomaly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3680460"/>
            <a:ext cx="390448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patterns surfaced automatically — not buried in spreadsheets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7472" y="3877056"/>
            <a:ext cx="4050792" cy="3794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7472" y="3877056"/>
            <a:ext cx="54864" cy="3794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913632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Analytics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096512"/>
            <a:ext cx="390448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mapping with census demographic overlays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7472" y="4293108"/>
            <a:ext cx="4050792" cy="3794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" y="4293108"/>
            <a:ext cx="54864" cy="3794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329684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4512564"/>
            <a:ext cx="390448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auditable data lineage from raw source to final report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54296" y="3058668"/>
            <a:ext cx="4233672" cy="1668780"/>
          </a:xfrm>
          <a:prstGeom prst="rect">
            <a:avLst/>
          </a:prstGeom>
          <a:solidFill>
            <a:srgbClr val="EDF0F7"/>
          </a:solidFill>
          <a:ln w="19050">
            <a:solidFill>
              <a:srgbClr val="0618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54296" y="3058668"/>
            <a:ext cx="4233672" cy="36576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82312" y="30586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 BRANCH MANAGER / EXECUTIVE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4745736" y="3461004"/>
            <a:ext cx="4050792" cy="3794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45736" y="3461004"/>
            <a:ext cx="54864" cy="37947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55464" y="3497580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Reporting Package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855464" y="3680460"/>
            <a:ext cx="390448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Gold layer — consistent, governed, no Excel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45736" y="3877056"/>
            <a:ext cx="4050792" cy="3794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45736" y="3877056"/>
            <a:ext cx="54864" cy="37947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55464" y="3913632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Query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855464" y="4096512"/>
            <a:ext cx="390448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question in plain English. Get an answer in seconds.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745736" y="4293108"/>
            <a:ext cx="4050792" cy="37947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45736" y="4293108"/>
            <a:ext cx="54864" cy="37947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55464" y="4329684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Performance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855464" y="4512564"/>
            <a:ext cx="3904488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acquisition, retention, and product penetration by branch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governed data. Same Gold layer. Four different intelligence surfaces — tuned to the job of every person who needs to make a decision.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2026-04-08T18:34:20Z</dcterms:created>
  <dcterms:modified xsi:type="dcterms:W3CDTF">2026-04-08T18:34:20Z</dcterms:modified>
</cp:coreProperties>
</file>