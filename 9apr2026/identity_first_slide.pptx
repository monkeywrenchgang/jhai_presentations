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005840"/>
            <a:ext cx="2926080" cy="2926080"/>
          </a:xfrm>
          <a:prstGeom prst="ellipse">
            <a:avLst/>
          </a:prstGeom>
          <a:solidFill>
            <a:srgbClr val="06185F">
              <a:alpha val="12000"/>
            </a:srgbClr>
          </a:solidFill>
          <a:ln w="12700">
            <a:solidFill>
              <a:srgbClr val="06185F">
                <a:alpha val="1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 INTELLIGENCE PLATFORM  ·  IDENTITY FIRST DATA MODEL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02336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Entity Resolution Actually Does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96112"/>
            <a:ext cx="1463040" cy="41148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926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different records. One person. Zero connections — until JHBI resolves them.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" y="1261872"/>
            <a:ext cx="4069080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61872"/>
            <a:ext cx="3959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 BEFORE ENTITY RESOLUTION  —  What Your Systems See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591056"/>
            <a:ext cx="4069080" cy="201168"/>
          </a:xfrm>
          <a:prstGeom prst="rect">
            <a:avLst/>
          </a:prstGeom>
          <a:solidFill>
            <a:srgbClr val="E7ECF0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59105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572768" y="15910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IN SYSTEM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990088" y="159105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/ ID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65760" y="1792224"/>
            <a:ext cx="40690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" y="1865376"/>
            <a:ext cx="1060704" cy="256032"/>
          </a:xfrm>
          <a:prstGeom prst="rect">
            <a:avLst/>
          </a:prstGeom>
          <a:solidFill>
            <a:srgbClr val="1B5E8A"/>
          </a:solidFill>
          <a:ln w="12700">
            <a:solidFill>
              <a:srgbClr val="1B5E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1865376"/>
            <a:ext cx="106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Banking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554480" y="1792224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5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 T. Johnson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980944" y="1792224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SSN: XXX-XX-1234  ·  Checking #4421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5760" y="2212848"/>
            <a:ext cx="4069080" cy="402336"/>
          </a:xfrm>
          <a:prstGeom prst="rect">
            <a:avLst/>
          </a:prstGeom>
          <a:solidFill>
            <a:srgbClr val="F5F7FA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9768" y="2286000"/>
            <a:ext cx="1060704" cy="256032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" y="2286000"/>
            <a:ext cx="106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Origination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554480" y="2212848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5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Johnson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980944" y="221284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SSN: XXX-XX-1234  ·  Mortgage #8819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5760" y="2633472"/>
            <a:ext cx="40690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9768" y="2706624"/>
            <a:ext cx="1060704" cy="256032"/>
          </a:xfrm>
          <a:prstGeom prst="rect">
            <a:avLst/>
          </a:prstGeom>
          <a:solidFill>
            <a:srgbClr val="5B3B8A"/>
          </a:solidFill>
          <a:ln w="12700">
            <a:solidFill>
              <a:srgbClr val="5B3B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9768" y="2706624"/>
            <a:ext cx="106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Banking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554480" y="2633472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5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rjohnson@gmail.com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980944" y="263347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login: yesterday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054096"/>
            <a:ext cx="4069080" cy="402336"/>
          </a:xfrm>
          <a:prstGeom prst="rect">
            <a:avLst/>
          </a:prstGeom>
          <a:solidFill>
            <a:srgbClr val="F5F7FA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9768" y="3127248"/>
            <a:ext cx="1060704" cy="256032"/>
          </a:xfrm>
          <a:prstGeom prst="rect">
            <a:avLst/>
          </a:prstGeom>
          <a:solidFill>
            <a:srgbClr val="8A5B1B"/>
          </a:solidFill>
          <a:ln w="12700">
            <a:solidFill>
              <a:srgbClr val="8A5B1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9768" y="3127248"/>
            <a:ext cx="106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Accounts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1554480" y="3054096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5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R.J. Johnson LLC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980944" y="305409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EIN: XX-1234567  ·  LOC #2201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65760" y="3474720"/>
            <a:ext cx="406908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9768" y="3547872"/>
            <a:ext cx="1060704" cy="256032"/>
          </a:xfrm>
          <a:prstGeom prst="rect">
            <a:avLst/>
          </a:prstGeom>
          <a:solidFill>
            <a:srgbClr val="1B6B6B"/>
          </a:solidFill>
          <a:ln w="12700">
            <a:solidFill>
              <a:srgbClr val="1B6B6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9768" y="3547872"/>
            <a:ext cx="1060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Platform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554480" y="3474720"/>
            <a:ext cx="14081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5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Johnson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980944" y="347472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#5544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65760" y="3913632"/>
            <a:ext cx="4069080" cy="237744"/>
          </a:xfrm>
          <a:prstGeom prst="rect">
            <a:avLst/>
          </a:prstGeom>
          <a:solidFill>
            <a:srgbClr val="FDF2F1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" y="3913632"/>
            <a:ext cx="3941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person.  5 records.  0 connections.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45152" y="1261872"/>
            <a:ext cx="0" cy="3566160"/>
          </a:xfrm>
          <a:prstGeom prst="line">
            <a:avLst/>
          </a:prstGeom>
          <a:noFill/>
          <a:ln w="19050">
            <a:solidFill>
              <a:srgbClr val="E7EC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73168" y="1261872"/>
            <a:ext cx="4023360" cy="329184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64608" y="1261872"/>
            <a:ext cx="3913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 AFTER ENTITY RESOLUTION  —  What JHBI Sees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73168" y="1591056"/>
            <a:ext cx="4023360" cy="365760"/>
          </a:xfrm>
          <a:prstGeom prst="rect">
            <a:avLst/>
          </a:prstGeom>
          <a:solidFill>
            <a:srgbClr val="E8A400"/>
          </a:solidFill>
          <a:ln w="12700">
            <a:solidFill>
              <a:srgbClr val="C8900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01184" y="159105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RECORD   </a:t>
            </a:r>
            <a:pPr indent="0" marL="0">
              <a:buNone/>
            </a:pPr>
            <a:r>
              <a:rPr lang="en-US" sz="14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 T. Johnson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73168" y="1956816"/>
            <a:ext cx="40233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73168" y="1956816"/>
            <a:ext cx="45720" cy="274320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64608" y="1956816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6BB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157216" y="195681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#4421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839712" y="19568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$42,000 balance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773168" y="2240280"/>
            <a:ext cx="4023360" cy="274320"/>
          </a:xfrm>
          <a:prstGeom prst="rect">
            <a:avLst/>
          </a:prstGeom>
          <a:solidFill>
            <a:srgbClr val="F5F7FA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73168" y="2240280"/>
            <a:ext cx="45720" cy="274320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64608" y="224028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6BB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5157216" y="2240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Mortgage #8819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839712" y="2240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$287,000 outstanding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773168" y="2523744"/>
            <a:ext cx="40233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773168" y="2523744"/>
            <a:ext cx="45720" cy="274320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64608" y="2523744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6BB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5157216" y="25237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Banking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839712" y="252374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Active, mobile-primary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773168" y="2807208"/>
            <a:ext cx="4023360" cy="274320"/>
          </a:xfrm>
          <a:prstGeom prst="rect">
            <a:avLst/>
          </a:prstGeom>
          <a:solidFill>
            <a:srgbClr val="F5F7FA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773168" y="2807208"/>
            <a:ext cx="45720" cy="274320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864608" y="2807208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6BB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5157216" y="28072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LOC #2201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839712" y="28072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$150,000 · $80K drawn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773168" y="3090672"/>
            <a:ext cx="40233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773168" y="3090672"/>
            <a:ext cx="45720" cy="274320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864608" y="3090672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6BB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5157216" y="30906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Debit Card #5544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6839712" y="30906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$3,200 / month spend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4864608" y="3429000"/>
            <a:ext cx="3840480" cy="0"/>
          </a:xfrm>
          <a:prstGeom prst="line">
            <a:avLst/>
          </a:prstGeom>
          <a:noFill/>
          <a:ln w="12700">
            <a:solidFill>
              <a:srgbClr val="E7EC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157216" y="35021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Relationship Value: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6931152" y="35021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$562,000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5157216" y="37947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Channel: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6931152" y="3794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4773168" y="4087368"/>
            <a:ext cx="4023360" cy="274320"/>
          </a:xfrm>
          <a:prstGeom prst="rect">
            <a:avLst/>
          </a:prstGeom>
          <a:solidFill>
            <a:srgbClr val="76DCFD">
              <a:alpha val="75000"/>
            </a:srgbClr>
          </a:solidFill>
          <a:ln w="19050">
            <a:solidFill>
              <a:srgbClr val="085CE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773168" y="4087368"/>
            <a:ext cx="45720" cy="274320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157216" y="40873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Owner: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6931152" y="40873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 ←  this is the insight</a:t>
            </a:r>
            <a:endParaRPr lang="en-US" sz="950" dirty="0"/>
          </a:p>
        </p:txBody>
      </p:sp>
      <p:sp>
        <p:nvSpPr>
          <p:cNvPr id="79" name="Text 77"/>
          <p:cNvSpPr/>
          <p:nvPr/>
        </p:nvSpPr>
        <p:spPr>
          <a:xfrm>
            <a:off x="5157216" y="43799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Signal: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6931152" y="43799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 utilization trending up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0" y="4727448"/>
            <a:ext cx="9144000" cy="416052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20040" y="4727448"/>
            <a:ext cx="850392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Account-centric data tells you what happened to a product.  Identity-first data tells you what's happening to a customer.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2026-04-07T17:20:32Z</dcterms:created>
  <dcterms:modified xsi:type="dcterms:W3CDTF">2026-04-07T17:20:32Z</dcterms:modified>
</cp:coreProperties>
</file>