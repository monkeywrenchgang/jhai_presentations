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INTELLIGENCE PLATFORM  ·  APIs &amp; PIPELINES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7863840" y="-1005840"/>
            <a:ext cx="2926080" cy="2926080"/>
          </a:xfrm>
          <a:prstGeom prst="ellipse">
            <a:avLst/>
          </a:prstGeom>
          <a:solidFill>
            <a:srgbClr val="06185F">
              <a:alpha val="12000"/>
            </a:srgbClr>
          </a:solidFill>
          <a:ln w="12700">
            <a:solidFill>
              <a:srgbClr val="06185F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0233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Pipelines — JHBI as the Data Hub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86968"/>
            <a:ext cx="1463040" cy="4114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469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analytics platforms are data destinations. JHBI is architected differently — intelligence flows in from everywhere you operate, and flows back out to everywhere you act.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" y="1261872"/>
            <a:ext cx="2926080" cy="274320"/>
          </a:xfrm>
          <a:prstGeom prst="rect">
            <a:avLst/>
          </a:prstGeom>
          <a:solidFill>
            <a:srgbClr val="F5F7FA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261872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PIPELINES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6032" y="1536192"/>
            <a:ext cx="2926080" cy="21945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53619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FIRST-PARTY  ·  JH SOURCES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1755648"/>
            <a:ext cx="2926080" cy="267005"/>
          </a:xfrm>
          <a:prstGeom prst="rect">
            <a:avLst/>
          </a:prstGeom>
          <a:solidFill>
            <a:srgbClr val="EDF2FC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1755648"/>
            <a:ext cx="45720" cy="267005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755648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JH Core (SilverLake / Episys)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6032" y="2022653"/>
            <a:ext cx="2926080" cy="267005"/>
          </a:xfrm>
          <a:prstGeom prst="rect">
            <a:avLst/>
          </a:prstGeom>
          <a:solidFill>
            <a:srgbClr val="E6EEFB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022653"/>
            <a:ext cx="45720" cy="267005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022653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Banno Digital Platform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6032" y="2289658"/>
            <a:ext cx="2926080" cy="267005"/>
          </a:xfrm>
          <a:prstGeom prst="rect">
            <a:avLst/>
          </a:prstGeom>
          <a:solidFill>
            <a:srgbClr val="EDF2FC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2289658"/>
            <a:ext cx="45720" cy="267005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289658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JH Payments / JH Wires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56032" y="2556662"/>
            <a:ext cx="2926080" cy="267005"/>
          </a:xfrm>
          <a:prstGeom prst="rect">
            <a:avLst/>
          </a:prstGeom>
          <a:solidFill>
            <a:srgbClr val="E6EEFB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6032" y="2556662"/>
            <a:ext cx="45720" cy="267005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556662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Treasury Management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56032" y="2823667"/>
            <a:ext cx="2926080" cy="267005"/>
          </a:xfrm>
          <a:prstGeom prst="rect">
            <a:avLst/>
          </a:prstGeom>
          <a:solidFill>
            <a:srgbClr val="EDF2FC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6032" y="2823667"/>
            <a:ext cx="45720" cy="267005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823667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Loan Origination System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6032" y="3090672"/>
            <a:ext cx="2926080" cy="219456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309067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 ·  MARKET INTELLIGENCE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56032" y="3310128"/>
            <a:ext cx="2926080" cy="267005"/>
          </a:xfrm>
          <a:prstGeom prst="rect">
            <a:avLst/>
          </a:prstGeom>
          <a:solidFill>
            <a:srgbClr val="F5F7FA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" y="3310128"/>
            <a:ext cx="45720" cy="267005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310128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NCUA / FFIEC Regulatory Data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6032" y="3577133"/>
            <a:ext cx="2926080" cy="267005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6032" y="3577133"/>
            <a:ext cx="45720" cy="267005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577133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LexisNexis Identity &amp; Risk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56032" y="3844138"/>
            <a:ext cx="2926080" cy="267005"/>
          </a:xfrm>
          <a:prstGeom prst="rect">
            <a:avLst/>
          </a:prstGeom>
          <a:solidFill>
            <a:srgbClr val="F5F7FA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6032" y="3844138"/>
            <a:ext cx="45720" cy="267005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3844138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Credit Bureau Feeds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56032" y="4111142"/>
            <a:ext cx="2926080" cy="267005"/>
          </a:xfrm>
          <a:prstGeom prst="rect">
            <a:avLst/>
          </a:prstGeom>
          <a:solidFill>
            <a:srgbClr val="FFFFFF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6032" y="4111142"/>
            <a:ext cx="45720" cy="267005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111142"/>
            <a:ext cx="277977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Census / Demographic Data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1389888"/>
            <a:ext cx="2377440" cy="325526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46704" y="149961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3346704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HUB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547872" y="2139696"/>
            <a:ext cx="1975104" cy="603504"/>
          </a:xfrm>
          <a:prstGeom prst="rect">
            <a:avLst/>
          </a:prstGeom>
          <a:solidFill>
            <a:srgbClr val="F5E6D3"/>
          </a:solidFill>
          <a:ln w="19050">
            <a:solidFill>
              <a:srgbClr val="7B3F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47872" y="2194560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547872" y="2468880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ingestion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547872" y="2798064"/>
            <a:ext cx="1975104" cy="603504"/>
          </a:xfrm>
          <a:prstGeom prst="rect">
            <a:avLst/>
          </a:prstGeom>
          <a:solidFill>
            <a:srgbClr val="E8ECF0"/>
          </a:solidFill>
          <a:ln w="19050">
            <a:solidFill>
              <a:srgbClr val="4A556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547872" y="2852928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547872" y="3127248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&amp; governed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547872" y="3456432"/>
            <a:ext cx="1975104" cy="603504"/>
          </a:xfrm>
          <a:prstGeom prst="rect">
            <a:avLst/>
          </a:prstGeom>
          <a:solidFill>
            <a:srgbClr val="FEF3C7"/>
          </a:solidFill>
          <a:ln w="19050">
            <a:solidFill>
              <a:srgbClr val="8B691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47872" y="3511296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547872" y="3785616"/>
            <a:ext cx="1975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· API-ready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346704" y="4187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346704" y="4407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· Enriched · Resolved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182112" y="2889504"/>
            <a:ext cx="201168" cy="256032"/>
          </a:xfrm>
          <a:prstGeom prst="rightArrow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724144" y="2889504"/>
            <a:ext cx="201168" cy="256032"/>
          </a:xfrm>
          <a:prstGeom prst="rightArrow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888736" y="1261872"/>
            <a:ext cx="2999232" cy="274320"/>
          </a:xfrm>
          <a:prstGeom prst="rect">
            <a:avLst/>
          </a:prstGeom>
          <a:solidFill>
            <a:srgbClr val="F5F7FA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80176" y="126187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APIs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888736" y="1536192"/>
            <a:ext cx="2999232" cy="321869"/>
          </a:xfrm>
          <a:prstGeom prst="rect">
            <a:avLst/>
          </a:prstGeom>
          <a:solidFill>
            <a:srgbClr val="EDF7F1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888736" y="1536192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98464" y="155448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CRM (Salesforce, etc.)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998464" y="1728216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relationship intelligence, at-risk signals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5888736" y="1858061"/>
            <a:ext cx="2999232" cy="321869"/>
          </a:xfrm>
          <a:prstGeom prst="rect">
            <a:avLst/>
          </a:prstGeom>
          <a:solidFill>
            <a:srgbClr val="E2F4E9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888736" y="1858061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98464" y="1876349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Loan Origination System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998464" y="2050085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member context before the first conversation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5888736" y="2179930"/>
            <a:ext cx="2999232" cy="321869"/>
          </a:xfrm>
          <a:prstGeom prst="rect">
            <a:avLst/>
          </a:prstGeom>
          <a:solidFill>
            <a:srgbClr val="EDF7F1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88736" y="2179930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998464" y="2198218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Banno Digital Personalization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998464" y="2371954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offer, right person, right moment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5888736" y="2501798"/>
            <a:ext cx="2999232" cy="321869"/>
          </a:xfrm>
          <a:prstGeom prst="rect">
            <a:avLst/>
          </a:prstGeom>
          <a:solidFill>
            <a:srgbClr val="E2F4E9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888736" y="2501798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998464" y="2520086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Fintech Partners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998464" y="2693822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proprietary JH core integration required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888736" y="2823667"/>
            <a:ext cx="2999232" cy="321869"/>
          </a:xfrm>
          <a:prstGeom prst="rect">
            <a:avLst/>
          </a:prstGeom>
          <a:solidFill>
            <a:srgbClr val="EDF7F1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88736" y="2823667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998464" y="2841955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ALM / ALCO Feeds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998464" y="3015691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balance sheet data, not last night's batch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5888736" y="3145536"/>
            <a:ext cx="2999232" cy="321869"/>
          </a:xfrm>
          <a:prstGeom prst="rect">
            <a:avLst/>
          </a:prstGeom>
          <a:solidFill>
            <a:srgbClr val="E2F4E9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888736" y="3145536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998464" y="3163824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Board Reporting Package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998464" y="3337560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from Gold layer — no Excel stitching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5888736" y="3467405"/>
            <a:ext cx="2999232" cy="321869"/>
          </a:xfrm>
          <a:prstGeom prst="rect">
            <a:avLst/>
          </a:prstGeom>
          <a:solidFill>
            <a:srgbClr val="EDF7F1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888736" y="3467405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998464" y="3485693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Custom SQL / Tableau / Power BI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998464" y="3659429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access for data teams and power users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5888736" y="3789274"/>
            <a:ext cx="2999232" cy="321869"/>
          </a:xfrm>
          <a:prstGeom prst="rect">
            <a:avLst/>
          </a:prstGeom>
          <a:solidFill>
            <a:srgbClr val="E2F4E9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88736" y="3789274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998464" y="380756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Fraud &amp; BSA Tools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998464" y="3981298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alerts and suspicious activity signals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5888736" y="4111142"/>
            <a:ext cx="2999232" cy="321869"/>
          </a:xfrm>
          <a:prstGeom prst="rect">
            <a:avLst/>
          </a:prstGeom>
          <a:solidFill>
            <a:srgbClr val="EDF7F1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88736" y="4111142"/>
            <a:ext cx="45720" cy="321869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998464" y="4129430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►  AI / ML Applications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998464" y="4303166"/>
            <a:ext cx="28529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apps and custom model inference feeds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0" y="4727448"/>
            <a:ext cx="9144000" cy="4160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20040" y="4727448"/>
            <a:ext cx="850392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platform that only takes in data is a warehouse. JHBI sends intelligence back out to every system where decisions get made — that's a competitive weapon.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INTELLIGENCE PLATFORM  ·  APIs &amp; PIPELINES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7863840" y="-1005840"/>
            <a:ext cx="2926080" cy="2926080"/>
          </a:xfrm>
          <a:prstGeom prst="ellipse">
            <a:avLst/>
          </a:prstGeom>
          <a:solidFill>
            <a:srgbClr val="06185F">
              <a:alpha val="12000"/>
            </a:srgbClr>
          </a:solidFill>
          <a:ln w="12700">
            <a:solidFill>
              <a:srgbClr val="06185F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0233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API-First Architecture — Intelligence That Travels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86968"/>
            <a:ext cx="1463040" cy="4114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469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BI locked data inside a reporting tool. JHBI's API-first design means intelligence isn't trapped — it travels to every system where decisions get made.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9664" cy="2926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2801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API PATTERNS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4169664" cy="749808"/>
          </a:xfrm>
          <a:prstGeom prst="rect">
            <a:avLst/>
          </a:prstGeom>
          <a:solidFill>
            <a:srgbClr val="EDF2FC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572768"/>
            <a:ext cx="54864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1700784"/>
            <a:ext cx="347472" cy="347472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32688" y="1645920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2688" y="1883664"/>
            <a:ext cx="3529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documented, versioned. Any developer, any fintech, any BI tool can integrate without proprietary knowledge.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5760" y="2414016"/>
            <a:ext cx="4169664" cy="749808"/>
          </a:xfrm>
          <a:prstGeom prst="rect">
            <a:avLst/>
          </a:prstGeom>
          <a:solidFill>
            <a:srgbClr val="EDF0F7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414016"/>
            <a:ext cx="54864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" y="2542032"/>
            <a:ext cx="347472" cy="347472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542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2688" y="2487168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APIs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" y="2724912"/>
            <a:ext cx="3529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event feeds for use cases that can't wait for batch — fraud signals, transaction alerts, balance threshold notifications.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3255264"/>
            <a:ext cx="4169664" cy="749808"/>
          </a:xfrm>
          <a:prstGeom prst="rect">
            <a:avLst/>
          </a:prstGeom>
          <a:solidFill>
            <a:srgbClr val="EDF2FC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255264"/>
            <a:ext cx="54864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3776" y="3383280"/>
            <a:ext cx="347472" cy="347472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" y="3383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2688" y="3328416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Data APIs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2688" y="3566160"/>
            <a:ext cx="3529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heavy consumers like ALM tools and regulatory reporting — pull large structured datasets on demand.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4169664" cy="749808"/>
          </a:xfrm>
          <a:prstGeom prst="rect">
            <a:avLst/>
          </a:prstGeom>
          <a:solidFill>
            <a:srgbClr val="EDF0F7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4096512"/>
            <a:ext cx="54864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" y="4224528"/>
            <a:ext cx="347472" cy="347472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" y="4224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32688" y="4169664"/>
            <a:ext cx="3511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/ Event-Driven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2688" y="4407408"/>
            <a:ext cx="3529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Push-based notifications when specific conditions are met — SMB signal detected, at-risk threshold crossed, large transaction flagged.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1280160"/>
            <a:ext cx="4023360" cy="2926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4608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NETWORK EFFECT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54880" y="1572768"/>
            <a:ext cx="4023360" cy="530352"/>
          </a:xfrm>
          <a:prstGeom prst="rect">
            <a:avLst/>
          </a:prstGeom>
          <a:solidFill>
            <a:srgbClr val="EDF2FC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64608" y="1700784"/>
            <a:ext cx="256032" cy="256032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64608" y="1700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230368" y="1645920"/>
            <a:ext cx="3438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that consumes JHBI data makes the platform more valuable.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54880" y="2157984"/>
            <a:ext cx="4023360" cy="530352"/>
          </a:xfrm>
          <a:prstGeom prst="rect">
            <a:avLst/>
          </a:prstGeom>
          <a:solidFill>
            <a:srgbClr val="E6EEFB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64608" y="2286000"/>
            <a:ext cx="256032" cy="256032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230368" y="2231136"/>
            <a:ext cx="3438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fintech partner that connects via API expands what community FIs can offer.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54880" y="2743200"/>
            <a:ext cx="4023360" cy="530352"/>
          </a:xfrm>
          <a:prstGeom prst="rect">
            <a:avLst/>
          </a:prstGeom>
          <a:solidFill>
            <a:srgbClr val="EDF2FC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64608" y="2871216"/>
            <a:ext cx="256032" cy="256032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64608" y="2871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230368" y="2816352"/>
            <a:ext cx="3438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data source added to the inbound pipeline enriches every downstream use case.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54880" y="3364992"/>
            <a:ext cx="4023360" cy="25603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0" y="3364992"/>
            <a:ext cx="389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6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ARCHITECTURE COMPOUNDS.  CLOSED SYSTEMS NEVER CAN.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754880" y="3694176"/>
            <a:ext cx="4023360" cy="457200"/>
          </a:xfrm>
          <a:prstGeom prst="rect">
            <a:avLst/>
          </a:prstGeom>
          <a:solidFill>
            <a:srgbClr val="EDF7F1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54880" y="3694176"/>
            <a:ext cx="45720" cy="457200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3730752"/>
            <a:ext cx="3877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Mgr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864608" y="391363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Salesforce → sees total relationship value, product gaps, at-risk signals — all from JHBI in real time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754880" y="4206240"/>
            <a:ext cx="4023360" cy="457200"/>
          </a:xfrm>
          <a:prstGeom prst="rect">
            <a:avLst/>
          </a:prstGeom>
          <a:solidFill>
            <a:srgbClr val="E2F4E9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54880" y="4206240"/>
            <a:ext cx="45720" cy="457200"/>
          </a:xfrm>
          <a:prstGeom prst="rect">
            <a:avLst/>
          </a:prstGeom>
          <a:solidFill>
            <a:srgbClr val="1A7A3A"/>
          </a:solidFill>
          <a:ln w="12700">
            <a:solidFill>
              <a:srgbClr val="1A7A3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64608" y="4242816"/>
            <a:ext cx="3877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Officer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4864608" y="442569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origination → full member context, risk signals, credit history — before the first conversation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0" y="4727448"/>
            <a:ext cx="9144000" cy="4160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0040" y="4727448"/>
            <a:ext cx="850392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pipelines and APIs are the nervous system. Now let's talk about what the brain does with all of 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2026-04-08T18:34:20Z</dcterms:created>
  <dcterms:modified xsi:type="dcterms:W3CDTF">2026-04-08T18:34:20Z</dcterms:modified>
</cp:coreProperties>
</file>