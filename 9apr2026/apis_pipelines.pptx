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APIS &amp; PIPELINES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Is a Data Hub, Not a Data Destination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flows in from every system your institution runs — and flows back out to every system where decisions get made.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01568" y="1371600"/>
            <a:ext cx="2340864" cy="3108960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01568" y="1481328"/>
            <a:ext cx="2340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401568" y="1828800"/>
            <a:ext cx="23408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HUB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30168" y="2084832"/>
            <a:ext cx="1883664" cy="10973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66160" y="2157984"/>
            <a:ext cx="2011680" cy="4572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1854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40487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ingest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566160" y="2697480"/>
            <a:ext cx="2011680" cy="457200"/>
          </a:xfrm>
          <a:prstGeom prst="rect">
            <a:avLst/>
          </a:prstGeom>
          <a:solidFill>
            <a:srgbClr val="0D2E7A"/>
          </a:solidFill>
          <a:ln w="12700">
            <a:solidFill>
              <a:srgbClr val="0D2E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66160" y="27249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566160" y="294436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&amp; cleaned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566160" y="3236976"/>
            <a:ext cx="2011680" cy="45720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32644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66160" y="348386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enriched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01168" y="1371600"/>
            <a:ext cx="3017520" cy="274320"/>
          </a:xfrm>
          <a:prstGeom prst="rect">
            <a:avLst/>
          </a:prstGeom>
          <a:solidFill>
            <a:srgbClr val="0D2E7A"/>
          </a:solidFill>
          <a:ln w="12700">
            <a:solidFill>
              <a:srgbClr val="0D2E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137160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PIPELINES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201168" y="1645920"/>
            <a:ext cx="3017520" cy="269748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" y="1645920"/>
            <a:ext cx="45720" cy="2697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" y="1645920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Core (SilverLake / Episys)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79776" y="1700784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CDC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01168" y="1915668"/>
            <a:ext cx="30175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1168" y="1915668"/>
            <a:ext cx="45720" cy="2697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1915668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 Platform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79776" y="1970532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+ behavioral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201168" y="2185416"/>
            <a:ext cx="3017520" cy="269748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1168" y="2185416"/>
            <a:ext cx="45720" cy="2697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92608" y="2185416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Payments &amp; Wires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79776" y="2240280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rails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01168" y="2455164"/>
            <a:ext cx="30175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01168" y="2455164"/>
            <a:ext cx="45720" cy="2697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" y="2455164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Management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2779776" y="2510028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&amp; sweep data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01168" y="2724912"/>
            <a:ext cx="3017520" cy="269748"/>
          </a:xfrm>
          <a:prstGeom prst="rect">
            <a:avLst/>
          </a:prstGeom>
          <a:solidFill>
            <a:srgbClr val="EDF2FC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1168" y="2724912"/>
            <a:ext cx="45720" cy="2697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2608" y="2724912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79776" y="2779776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&amp; status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201168" y="3031236"/>
            <a:ext cx="3017520" cy="192024"/>
          </a:xfrm>
          <a:prstGeom prst="rect">
            <a:avLst/>
          </a:prstGeom>
          <a:solidFill>
            <a:srgbClr val="E7ECF0"/>
          </a:solidFill>
          <a:ln w="12700">
            <a:solidFill>
              <a:srgbClr val="E7EC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320" y="3031236"/>
            <a:ext cx="29443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spc="80" kern="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3RD PARTY ENRICHMENT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01168" y="3223260"/>
            <a:ext cx="3017520" cy="269748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01168" y="3223260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" y="3223260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FFIEC Call Reports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2779776" y="3278124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benchmarks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201168" y="3493008"/>
            <a:ext cx="30175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01168" y="3493008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92608" y="3493008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NCUA Data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79776" y="3547872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 competitive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201168" y="3762756"/>
            <a:ext cx="3017520" cy="269748"/>
          </a:xfrm>
          <a:prstGeom prst="rect">
            <a:avLst/>
          </a:prstGeom>
          <a:solidFill>
            <a:srgbClr val="ECFDF5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01168" y="3762756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2608" y="3762756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LexisNexis Identity/Risk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79776" y="3817620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signals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201168" y="4032504"/>
            <a:ext cx="3017520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01168" y="4032504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92608" y="4032504"/>
            <a:ext cx="2487168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 Feeds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2779776" y="4087368"/>
            <a:ext cx="420624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risk</a:t>
            </a:r>
            <a:endParaRPr lang="en-US" sz="700" dirty="0"/>
          </a:p>
        </p:txBody>
      </p:sp>
      <p:sp>
        <p:nvSpPr>
          <p:cNvPr id="60" name="Shape 58"/>
          <p:cNvSpPr/>
          <p:nvPr/>
        </p:nvSpPr>
        <p:spPr>
          <a:xfrm>
            <a:off x="3236976" y="2916936"/>
            <a:ext cx="128016" cy="0"/>
          </a:xfrm>
          <a:prstGeom prst="line">
            <a:avLst/>
          </a:prstGeom>
          <a:noFill/>
          <a:ln w="22860">
            <a:solidFill>
              <a:srgbClr val="085CE5"/>
            </a:solidFill>
            <a:prstDash val="solid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5943600" y="1371600"/>
            <a:ext cx="3035808" cy="2743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16752" y="1371600"/>
            <a:ext cx="2962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APIs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943600" y="1645920"/>
            <a:ext cx="3035808" cy="269748"/>
          </a:xfrm>
          <a:prstGeom prst="rect">
            <a:avLst/>
          </a:prstGeom>
          <a:solidFill>
            <a:srgbClr val="EDF7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933688" y="1645920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016752" y="1645920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(Salesforce / nCino)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8449056" y="1700784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intel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5943600" y="1915668"/>
            <a:ext cx="303580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933688" y="1915668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016752" y="1915668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Origination System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8449056" y="1970532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context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5943600" y="2185416"/>
            <a:ext cx="3035808" cy="269748"/>
          </a:xfrm>
          <a:prstGeom prst="rect">
            <a:avLst/>
          </a:prstGeom>
          <a:solidFill>
            <a:srgbClr val="EDF7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33688" y="2185416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016752" y="2185416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Banno Digital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8449056" y="224028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5943600" y="2455164"/>
            <a:ext cx="303580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33688" y="2455164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016752" y="2455164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Partners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449056" y="2510028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REST APIs</a:t>
            </a:r>
            <a:endParaRPr lang="en-US" sz="700" dirty="0"/>
          </a:p>
        </p:txBody>
      </p:sp>
      <p:sp>
        <p:nvSpPr>
          <p:cNvPr id="79" name="Shape 77"/>
          <p:cNvSpPr/>
          <p:nvPr/>
        </p:nvSpPr>
        <p:spPr>
          <a:xfrm>
            <a:off x="5943600" y="2724912"/>
            <a:ext cx="3035808" cy="269748"/>
          </a:xfrm>
          <a:prstGeom prst="rect">
            <a:avLst/>
          </a:prstGeom>
          <a:solidFill>
            <a:srgbClr val="EDF7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8933688" y="2724912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016752" y="2724912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 / ALCO Feeds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8449056" y="2779776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data</a:t>
            </a:r>
            <a:endParaRPr lang="en-US" sz="700" dirty="0"/>
          </a:p>
        </p:txBody>
      </p:sp>
      <p:sp>
        <p:nvSpPr>
          <p:cNvPr id="83" name="Shape 81"/>
          <p:cNvSpPr/>
          <p:nvPr/>
        </p:nvSpPr>
        <p:spPr>
          <a:xfrm>
            <a:off x="5943600" y="2994660"/>
            <a:ext cx="303580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933688" y="2994660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016752" y="2994660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&amp; BSA Tools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8449056" y="3049524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streaming</a:t>
            </a:r>
            <a:endParaRPr lang="en-US" sz="700" dirty="0"/>
          </a:p>
        </p:txBody>
      </p:sp>
      <p:sp>
        <p:nvSpPr>
          <p:cNvPr id="87" name="Shape 85"/>
          <p:cNvSpPr/>
          <p:nvPr/>
        </p:nvSpPr>
        <p:spPr>
          <a:xfrm>
            <a:off x="5943600" y="3264408"/>
            <a:ext cx="3035808" cy="269748"/>
          </a:xfrm>
          <a:prstGeom prst="rect">
            <a:avLst/>
          </a:prstGeom>
          <a:solidFill>
            <a:srgbClr val="EDF7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933688" y="3264408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6016752" y="3264408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Reporting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8449056" y="3319272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700" dirty="0"/>
          </a:p>
        </p:txBody>
      </p:sp>
      <p:sp>
        <p:nvSpPr>
          <p:cNvPr id="91" name="Shape 89"/>
          <p:cNvSpPr/>
          <p:nvPr/>
        </p:nvSpPr>
        <p:spPr>
          <a:xfrm>
            <a:off x="5943600" y="3534156"/>
            <a:ext cx="3035808" cy="269748"/>
          </a:xfrm>
          <a:prstGeom prst="rect">
            <a:avLst/>
          </a:prstGeom>
          <a:solidFill>
            <a:srgbClr val="FFFFFF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933688" y="3534156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016752" y="3534156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BI (Tableau/PBI)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449056" y="3589020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APIs</a:t>
            </a:r>
            <a:endParaRPr lang="en-US" sz="700" dirty="0"/>
          </a:p>
        </p:txBody>
      </p:sp>
      <p:sp>
        <p:nvSpPr>
          <p:cNvPr id="95" name="Shape 93"/>
          <p:cNvSpPr/>
          <p:nvPr/>
        </p:nvSpPr>
        <p:spPr>
          <a:xfrm>
            <a:off x="5943600" y="3803904"/>
            <a:ext cx="3035808" cy="269748"/>
          </a:xfrm>
          <a:prstGeom prst="rect">
            <a:avLst/>
          </a:prstGeom>
          <a:solidFill>
            <a:srgbClr val="EDF7F1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33688" y="3803904"/>
            <a:ext cx="45720" cy="26974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016752" y="3803904"/>
            <a:ext cx="2505456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Applications</a:t>
            </a:r>
            <a:endParaRPr lang="en-US" sz="900" dirty="0"/>
          </a:p>
        </p:txBody>
      </p:sp>
      <p:sp>
        <p:nvSpPr>
          <p:cNvPr id="98" name="Text 96"/>
          <p:cNvSpPr/>
          <p:nvPr/>
        </p:nvSpPr>
        <p:spPr>
          <a:xfrm>
            <a:off x="8449056" y="3858768"/>
            <a:ext cx="457200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serving</a:t>
            </a:r>
            <a:endParaRPr lang="en-US" sz="700" dirty="0"/>
          </a:p>
        </p:txBody>
      </p:sp>
      <p:sp>
        <p:nvSpPr>
          <p:cNvPr id="99" name="Shape 97"/>
          <p:cNvSpPr/>
          <p:nvPr/>
        </p:nvSpPr>
        <p:spPr>
          <a:xfrm>
            <a:off x="5760720" y="2916936"/>
            <a:ext cx="146304" cy="0"/>
          </a:xfrm>
          <a:prstGeom prst="line">
            <a:avLst/>
          </a:prstGeom>
          <a:noFill/>
          <a:ln w="22860">
            <a:solidFill>
              <a:srgbClr val="047857"/>
            </a:solidFill>
            <a:prstDash val="solid"/>
            <a:tailEnd type="triangle"/>
          </a:ln>
        </p:spPr>
      </p:sp>
      <p:sp>
        <p:nvSpPr>
          <p:cNvPr id="100" name="Shape 98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platform that only takes in data is a warehouse. JHBI sends intelligence back out to every system where decisions get made.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B6B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 INTELLIGENCE PLATFORM  ·  APIS &amp; PIPELINES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7863840" y="-1005840"/>
            <a:ext cx="2926080" cy="2926080"/>
          </a:xfrm>
          <a:prstGeom prst="ellipse">
            <a:avLst/>
          </a:prstGeom>
          <a:solidFill>
            <a:srgbClr val="06185F">
              <a:alpha val="12000"/>
            </a:srgbClr>
          </a:solidFill>
          <a:ln w="12700">
            <a:solidFill>
              <a:srgbClr val="06185F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0233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API Patterns. One Governed Source.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86968"/>
            <a:ext cx="1463040" cy="41148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469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outbound integration draws from the same Gold layer — consistent, resolved, current data for every system.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01752" y="1307592"/>
            <a:ext cx="201168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" y="1307592"/>
            <a:ext cx="2011680" cy="50292"/>
          </a:xfrm>
          <a:prstGeom prst="rect">
            <a:avLst/>
          </a:prstGeom>
          <a:solidFill>
            <a:srgbClr val="085CE5"/>
          </a:solidFill>
          <a:ln w="12700">
            <a:solidFill>
              <a:srgbClr val="085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990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85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170992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versioned, documented. Any developer, any fintech, any BI tool connects without proprietary knowledge.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78024" y="1307592"/>
            <a:ext cx="201168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78024" y="1307592"/>
            <a:ext cx="2011680" cy="50292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87752" y="13990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APIs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87752" y="170992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event feeds for fraud signals, transaction alerts, and balance threshold notifications.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54296" y="1307592"/>
            <a:ext cx="201168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54296" y="1307592"/>
            <a:ext cx="2011680" cy="5029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13990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1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Data APIs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64024" y="170992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datasets on demand for heavy consumers — ALM tools, regulatory reporting, board packages.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30568" y="1307592"/>
            <a:ext cx="2011680" cy="1554480"/>
          </a:xfrm>
          <a:prstGeom prst="rect">
            <a:avLst/>
          </a:prstGeom>
          <a:solidFill>
            <a:srgbClr val="F5F7FA"/>
          </a:solidFill>
          <a:ln w="6350">
            <a:solidFill>
              <a:srgbClr val="E7E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30568" y="1307592"/>
            <a:ext cx="2011680" cy="502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0296" y="1399032"/>
            <a:ext cx="1792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/ Events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40296" y="1709928"/>
            <a:ext cx="17922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75A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Push-based alerts when conditions are met — new SMB signal, at-risk threshold crossed, large transaction flagged.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063240"/>
            <a:ext cx="8412480" cy="80467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063240"/>
            <a:ext cx="73152" cy="804672"/>
          </a:xfrm>
          <a:prstGeom prst="rect">
            <a:avLst/>
          </a:prstGeom>
          <a:solidFill>
            <a:srgbClr val="76DCFD"/>
          </a:solidFill>
          <a:ln w="12700">
            <a:solidFill>
              <a:srgbClr val="76DCF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1363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Network Effect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3392424"/>
            <a:ext cx="79552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integration that consumes JHBI data makes the platform more valuable.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534156"/>
            <a:ext cx="79552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fintech partner that connects via API expands what community FIs can offer.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" y="3675888"/>
            <a:ext cx="79552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76DC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algn="l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data source added enriches every downstream use case simultaneously.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06185F"/>
          </a:solidFill>
          <a:ln w="12700">
            <a:solidFill>
              <a:srgbClr val="06185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" y="4727448"/>
            <a:ext cx="850392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architecture compounds in value in a way closed systems never can — every connection makes the next one more powerful.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APIs &amp; Pipelines</dc:title>
  <dc:subject>PptxGenJS Presentation</dc:subject>
  <dc:creator>PptxGenJS</dc:creator>
  <cp:lastModifiedBy>PptxGenJS</cp:lastModifiedBy>
  <cp:revision>1</cp:revision>
  <dcterms:created xsi:type="dcterms:W3CDTF">2026-04-07T19:03:45Z</dcterms:created>
  <dcterms:modified xsi:type="dcterms:W3CDTF">2026-04-07T19:03:45Z</dcterms:modified>
</cp:coreProperties>
</file>