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INTELLIGENCE PLATFORM  ·  CLOUD NATIVE ECONOMICS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7863840" y="-1005840"/>
            <a:ext cx="2926080" cy="2926080"/>
          </a:xfrm>
          <a:prstGeom prst="ellipse">
            <a:avLst/>
          </a:prstGeom>
          <a:solidFill>
            <a:srgbClr val="06185F">
              <a:alpha val="12000"/>
            </a:srgbClr>
          </a:solidFill>
          <a:ln w="12700">
            <a:solidFill>
              <a:srgbClr val="06185F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0233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Native Economics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86968"/>
            <a:ext cx="1463040" cy="4114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46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isn't whether a community FI can afford enterprise data intelligence. The question is whether they can afford not to — because the price just changed.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2615184" cy="1170432"/>
          </a:xfrm>
          <a:prstGeom prst="rect">
            <a:avLst/>
          </a:prstGeom>
          <a:solidFill>
            <a:srgbClr val="EDF2FC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80160"/>
            <a:ext cx="64008" cy="117043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362456"/>
            <a:ext cx="2414016" cy="182880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6245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SAVINGS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475488" y="1554480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75488" y="2084832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cloud storage costs over the last decade — and still falling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55264" y="1280160"/>
            <a:ext cx="2615184" cy="1170432"/>
          </a:xfrm>
          <a:prstGeom prst="rect">
            <a:avLst/>
          </a:prstGeom>
          <a:solidFill>
            <a:srgbClr val="EDF2FC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55264" y="1280160"/>
            <a:ext cx="64008" cy="117043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4992" y="1362456"/>
            <a:ext cx="2414016" cy="182880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36245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PLATFORM ECONOMICS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364992" y="1554480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7,500+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364992" y="2084832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client FIs sharing the infrastructure cost of JHBI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44768" y="1280160"/>
            <a:ext cx="2615184" cy="1170432"/>
          </a:xfrm>
          <a:prstGeom prst="rect">
            <a:avLst/>
          </a:prstGeom>
          <a:solidFill>
            <a:srgbClr val="EDF2FC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44768" y="1280160"/>
            <a:ext cx="64008" cy="117043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54496" y="1362456"/>
            <a:ext cx="2414016" cy="182880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4496" y="136245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ENGINEERING LIFT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6254496" y="1554480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6254496" y="2084832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headcount required to consume OOTB dashboards &amp; Smart Query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2596896"/>
            <a:ext cx="1572768" cy="274320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38528" y="2596896"/>
            <a:ext cx="3236976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75504" y="2596896"/>
            <a:ext cx="3621024" cy="274320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596896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029968" y="25968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THEN — Legacy BI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266944" y="2596896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NOW — Cloud DaaS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5760" y="2871216"/>
            <a:ext cx="1572768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871216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Cost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938528" y="2871216"/>
            <a:ext cx="3236976" cy="310896"/>
          </a:xfrm>
          <a:prstGeom prst="rect">
            <a:avLst/>
          </a:prstGeom>
          <a:solidFill>
            <a:srgbClr val="FDF2F1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29968" y="28712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$500K–$2M upfront infrastructure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175504" y="2871216"/>
            <a:ext cx="3621024" cy="310896"/>
          </a:xfrm>
          <a:prstGeom prst="rect">
            <a:avLst/>
          </a:prstGeom>
          <a:solidFill>
            <a:srgbClr val="EDF2FC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66944" y="2871216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CapEx — consumption-based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3182112"/>
            <a:ext cx="15727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182112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Value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938528" y="3182112"/>
            <a:ext cx="3236976" cy="310896"/>
          </a:xfrm>
          <a:prstGeom prst="rect">
            <a:avLst/>
          </a:prstGeom>
          <a:solidFill>
            <a:srgbClr val="FEF0E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9968" y="31821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implementation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175504" y="3182112"/>
            <a:ext cx="3621024" cy="310896"/>
          </a:xfrm>
          <a:prstGeom prst="rect">
            <a:avLst/>
          </a:prstGeom>
          <a:solidFill>
            <a:srgbClr val="E6EEFB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66944" y="3182112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to first insight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3493008"/>
            <a:ext cx="1572768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493008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938528" y="3493008"/>
            <a:ext cx="3236976" cy="310896"/>
          </a:xfrm>
          <a:prstGeom prst="rect">
            <a:avLst/>
          </a:prstGeom>
          <a:solidFill>
            <a:srgbClr val="FDF2F1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29968" y="349300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DBA + BI team required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175504" y="3493008"/>
            <a:ext cx="3621024" cy="310896"/>
          </a:xfrm>
          <a:prstGeom prst="rect">
            <a:avLst/>
          </a:prstGeom>
          <a:solidFill>
            <a:srgbClr val="EDF2FC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66944" y="3493008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— no headcount added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65760" y="3803904"/>
            <a:ext cx="15727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3803904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Scaling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938528" y="3803904"/>
            <a:ext cx="3236976" cy="310896"/>
          </a:xfrm>
          <a:prstGeom prst="rect">
            <a:avLst/>
          </a:prstGeom>
          <a:solidFill>
            <a:srgbClr val="FEF0E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29968" y="38039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grow linearly with data volume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175504" y="3803904"/>
            <a:ext cx="3621024" cy="310896"/>
          </a:xfrm>
          <a:prstGeom prst="rect">
            <a:avLst/>
          </a:prstGeom>
          <a:solidFill>
            <a:srgbClr val="E6EEFB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66944" y="3803904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scale sublinearly with volume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65760" y="4114800"/>
            <a:ext cx="1572768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114800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938528" y="4114800"/>
            <a:ext cx="3236976" cy="310896"/>
          </a:xfrm>
          <a:prstGeom prst="rect">
            <a:avLst/>
          </a:prstGeom>
          <a:solidFill>
            <a:srgbClr val="FDF2F1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029968" y="41148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projects every 3–5 years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175504" y="4114800"/>
            <a:ext cx="3621024" cy="310896"/>
          </a:xfrm>
          <a:prstGeom prst="rect">
            <a:avLst/>
          </a:prstGeom>
          <a:solidFill>
            <a:srgbClr val="EDF2FC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66944" y="4114800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cloud updates, invisible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65760" y="4425696"/>
            <a:ext cx="15727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4425696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938528" y="4425696"/>
            <a:ext cx="3236976" cy="310896"/>
          </a:xfrm>
          <a:prstGeom prst="rect">
            <a:avLst/>
          </a:prstGeom>
          <a:solidFill>
            <a:srgbClr val="FEF0E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029968" y="442569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institution bears full build cost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175504" y="4425696"/>
            <a:ext cx="3621024" cy="310896"/>
          </a:xfrm>
          <a:prstGeom prst="rect">
            <a:avLst/>
          </a:prstGeom>
          <a:solidFill>
            <a:srgbClr val="E6EEFB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66944" y="4425696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shared across 7,500+ FIs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0040" y="4727448"/>
            <a:ext cx="8503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community FI could justify building this alone. JHBI spreads enterprise-grade infrastructure cost across thousands of institutions.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INTELLIGENCE PLATFORM  ·  CLOUD NATIVE ECONOMICS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7863840" y="-1005840"/>
            <a:ext cx="2926080" cy="2926080"/>
          </a:xfrm>
          <a:prstGeom prst="ellipse">
            <a:avLst/>
          </a:prstGeom>
          <a:solidFill>
            <a:srgbClr val="06185F">
              <a:alpha val="12000"/>
            </a:srgbClr>
          </a:solidFill>
          <a:ln w="12700">
            <a:solidFill>
              <a:srgbClr val="06185F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0233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Absorbs the Cost. You Consume the Outcome.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86968"/>
            <a:ext cx="1463040" cy="4114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46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community FI builds its own payments network — they use shared rails because the economics of collective infrastructure are unbeatable. JHBI is that model for data intelligence.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32918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801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NOT PAYING FOR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627632"/>
            <a:ext cx="3291840" cy="329184"/>
          </a:xfrm>
          <a:prstGeom prst="rect">
            <a:avLst/>
          </a:prstGeom>
          <a:solidFill>
            <a:srgbClr val="FDF2F1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27632"/>
            <a:ext cx="457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627632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Server procurement &amp; data center space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1956816"/>
            <a:ext cx="3291840" cy="329184"/>
          </a:xfrm>
          <a:prstGeom prst="rect">
            <a:avLst/>
          </a:prstGeom>
          <a:solidFill>
            <a:srgbClr val="FEF0E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956816"/>
            <a:ext cx="457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956816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Storage capacity planning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3291840" cy="329184"/>
          </a:xfrm>
          <a:prstGeom prst="rect">
            <a:avLst/>
          </a:prstGeom>
          <a:solidFill>
            <a:srgbClr val="FDF2F1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86000"/>
            <a:ext cx="457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286000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Database licensing (PostgreSQL, Snowflake, etc.)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615184"/>
            <a:ext cx="3291840" cy="329184"/>
          </a:xfrm>
          <a:prstGeom prst="rect">
            <a:avLst/>
          </a:prstGeom>
          <a:solidFill>
            <a:srgbClr val="FEF0E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15184"/>
            <a:ext cx="457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615184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ETL pipeline maintenance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2944368"/>
            <a:ext cx="3291840" cy="329184"/>
          </a:xfrm>
          <a:prstGeom prst="rect">
            <a:avLst/>
          </a:prstGeom>
          <a:solidFill>
            <a:srgbClr val="FDF2F1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944368"/>
            <a:ext cx="457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2944368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Disaster recovery infrastructure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3291840" cy="329184"/>
          </a:xfrm>
          <a:prstGeom prst="rect">
            <a:avLst/>
          </a:prstGeom>
          <a:solidFill>
            <a:srgbClr val="FEF0E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273552"/>
            <a:ext cx="457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273552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Version upgrade projects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602736"/>
            <a:ext cx="3291840" cy="329184"/>
          </a:xfrm>
          <a:prstGeom prst="rect">
            <a:avLst/>
          </a:prstGeom>
          <a:solidFill>
            <a:srgbClr val="FDF2F1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602736"/>
            <a:ext cx="457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602736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Data governance tooling (Alation included)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931920"/>
            <a:ext cx="3291840" cy="329184"/>
          </a:xfrm>
          <a:prstGeom prst="rect">
            <a:avLst/>
          </a:prstGeom>
          <a:solidFill>
            <a:srgbClr val="FEF0E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931920"/>
            <a:ext cx="457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931920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Entity resolution engineering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4261104"/>
            <a:ext cx="3291840" cy="329184"/>
          </a:xfrm>
          <a:prstGeom prst="rect">
            <a:avLst/>
          </a:prstGeom>
          <a:solidFill>
            <a:srgbClr val="FDF2F1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4261104"/>
            <a:ext cx="457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4261104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ML infrastructure build-out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4590288"/>
            <a:ext cx="3291840" cy="384048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459028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PAYING FOR:  The insight.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858768" y="1280160"/>
            <a:ext cx="2361347" cy="347472"/>
          </a:xfrm>
          <a:prstGeom prst="rect">
            <a:avLst/>
          </a:prstGeom>
          <a:solidFill>
            <a:srgbClr val="575A5D"/>
          </a:solidFill>
          <a:ln w="12700">
            <a:solidFill>
              <a:srgbClr val="575A5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50208" y="1280160"/>
            <a:ext cx="22333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BANK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20115" y="1280160"/>
            <a:ext cx="2558125" cy="34747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11555" y="1280160"/>
            <a:ext cx="24301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FI ON JHBI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858768" y="1627632"/>
            <a:ext cx="2361347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50208" y="1627632"/>
            <a:ext cx="22333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$50M+ data platform build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220115" y="1627632"/>
            <a:ext cx="2558125" cy="329184"/>
          </a:xfrm>
          <a:prstGeom prst="rect">
            <a:avLst/>
          </a:prstGeom>
          <a:solidFill>
            <a:srgbClr val="EDF2FC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11555" y="1627632"/>
            <a:ext cx="24301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 — no build cost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858768" y="1956816"/>
            <a:ext cx="2361347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50208" y="1956816"/>
            <a:ext cx="22333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200–500 person analytics team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220115" y="1956816"/>
            <a:ext cx="2558125" cy="329184"/>
          </a:xfrm>
          <a:prstGeom prst="rect">
            <a:avLst/>
          </a:prstGeom>
          <a:solidFill>
            <a:srgbClr val="E6EEFB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11555" y="1956816"/>
            <a:ext cx="24301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platform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858768" y="2286000"/>
            <a:ext cx="2361347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50208" y="2286000"/>
            <a:ext cx="22333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implementation timeline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220115" y="2286000"/>
            <a:ext cx="2558125" cy="329184"/>
          </a:xfrm>
          <a:prstGeom prst="rect">
            <a:avLst/>
          </a:prstGeom>
          <a:solidFill>
            <a:srgbClr val="EDF2FC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11555" y="2286000"/>
            <a:ext cx="24301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to first insight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858768" y="2615184"/>
            <a:ext cx="2361347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50208" y="2615184"/>
            <a:ext cx="22333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ML infrastructure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220115" y="2615184"/>
            <a:ext cx="2558125" cy="329184"/>
          </a:xfrm>
          <a:prstGeom prst="rect">
            <a:avLst/>
          </a:prstGeom>
          <a:solidFill>
            <a:srgbClr val="E6EEFB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11555" y="2615184"/>
            <a:ext cx="24301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delivered as a service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858768" y="2944368"/>
            <a:ext cx="2361347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50208" y="2944368"/>
            <a:ext cx="22333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Proprietary, locked data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220115" y="2944368"/>
            <a:ext cx="2558125" cy="329184"/>
          </a:xfrm>
          <a:prstGeom prst="rect">
            <a:avLst/>
          </a:prstGeom>
          <a:solidFill>
            <a:srgbClr val="EDF2FC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11555" y="2944368"/>
            <a:ext cx="24301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APIs — your data travels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858768" y="3273552"/>
            <a:ext cx="2361347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950208" y="3273552"/>
            <a:ext cx="22333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in annual tech spend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220115" y="3273552"/>
            <a:ext cx="2558125" cy="329184"/>
          </a:xfrm>
          <a:prstGeom prst="rect">
            <a:avLst/>
          </a:prstGeom>
          <a:solidFill>
            <a:srgbClr val="E6EEFB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11555" y="3273552"/>
            <a:ext cx="24301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the cost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858768" y="3602736"/>
            <a:ext cx="4919472" cy="47548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968496" y="3602736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SAME ANALYTICAL OUTCOMES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0040" y="4727448"/>
            <a:ext cx="8503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platform that only takes in data is a warehouse. A platform that sends intelligence back out to every system where decisions get made — that's a competitive weapon.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2026-04-08T18:34:20Z</dcterms:created>
  <dcterms:modified xsi:type="dcterms:W3CDTF">2026-04-08T18:34:20Z</dcterms:modified>
</cp:coreProperties>
</file>