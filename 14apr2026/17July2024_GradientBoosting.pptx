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8.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1"/>
  </p:sldMasterIdLst>
  <p:notesMasterIdLst>
    <p:notesMasterId r:id="rId51"/>
  </p:notesMasterIdLst>
  <p:handoutMasterIdLst>
    <p:handoutMasterId r:id="rId52"/>
  </p:handoutMasterIdLst>
  <p:sldIdLst>
    <p:sldId id="633" r:id="rId2"/>
    <p:sldId id="635" r:id="rId3"/>
    <p:sldId id="1037" r:id="rId4"/>
    <p:sldId id="1032" r:id="rId5"/>
    <p:sldId id="1041" r:id="rId6"/>
    <p:sldId id="1035" r:id="rId7"/>
    <p:sldId id="1043" r:id="rId8"/>
    <p:sldId id="1044" r:id="rId9"/>
    <p:sldId id="644" r:id="rId10"/>
    <p:sldId id="647" r:id="rId11"/>
    <p:sldId id="648" r:id="rId12"/>
    <p:sldId id="650" r:id="rId13"/>
    <p:sldId id="649" r:id="rId14"/>
    <p:sldId id="651" r:id="rId15"/>
    <p:sldId id="1045" r:id="rId16"/>
    <p:sldId id="1060" r:id="rId17"/>
    <p:sldId id="991" r:id="rId18"/>
    <p:sldId id="758" r:id="rId19"/>
    <p:sldId id="763" r:id="rId20"/>
    <p:sldId id="1059" r:id="rId21"/>
    <p:sldId id="1061" r:id="rId22"/>
    <p:sldId id="1077" r:id="rId23"/>
    <p:sldId id="1078" r:id="rId24"/>
    <p:sldId id="1075" r:id="rId25"/>
    <p:sldId id="1047" r:id="rId26"/>
    <p:sldId id="1079" r:id="rId27"/>
    <p:sldId id="1046" r:id="rId28"/>
    <p:sldId id="999" r:id="rId29"/>
    <p:sldId id="1057" r:id="rId30"/>
    <p:sldId id="1080" r:id="rId31"/>
    <p:sldId id="1058" r:id="rId32"/>
    <p:sldId id="1082" r:id="rId33"/>
    <p:sldId id="1003" r:id="rId34"/>
    <p:sldId id="1063" r:id="rId35"/>
    <p:sldId id="1031" r:id="rId36"/>
    <p:sldId id="1040" r:id="rId37"/>
    <p:sldId id="1039" r:id="rId38"/>
    <p:sldId id="1033" r:id="rId39"/>
    <p:sldId id="1034" r:id="rId40"/>
    <p:sldId id="1064" r:id="rId41"/>
    <p:sldId id="1036" r:id="rId42"/>
    <p:sldId id="1065" r:id="rId43"/>
    <p:sldId id="1066" r:id="rId44"/>
    <p:sldId id="638" r:id="rId45"/>
    <p:sldId id="779" r:id="rId46"/>
    <p:sldId id="640" r:id="rId47"/>
    <p:sldId id="1062" r:id="rId48"/>
    <p:sldId id="1067" r:id="rId49"/>
    <p:sldId id="634" r:id="rId50"/>
  </p:sldIdLst>
  <p:sldSz cx="12192000" cy="6858000"/>
  <p:notesSz cx="7023100" cy="9309100"/>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3222"/>
    <a:srgbClr val="766A62"/>
    <a:srgbClr val="82682E"/>
    <a:srgbClr val="6E6A34"/>
    <a:srgbClr val="9E7E38"/>
    <a:srgbClr val="FFFF65"/>
    <a:srgbClr val="FFFF99"/>
    <a:srgbClr val="BC9642"/>
    <a:srgbClr val="000000"/>
    <a:srgbClr val="D2C9D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13" autoAdjust="0"/>
    <p:restoredTop sz="96041" autoAdjust="0"/>
  </p:normalViewPr>
  <p:slideViewPr>
    <p:cSldViewPr snapToGrid="0" snapToObjects="1">
      <p:cViewPr varScale="1">
        <p:scale>
          <a:sx n="122" d="100"/>
          <a:sy n="122" d="100"/>
        </p:scale>
        <p:origin x="224" y="272"/>
      </p:cViewPr>
      <p:guideLst>
        <p:guide orient="horz" pos="2160"/>
        <p:guide pos="3840"/>
      </p:guideLst>
    </p:cSldViewPr>
  </p:slideViewPr>
  <p:outlineViewPr>
    <p:cViewPr>
      <p:scale>
        <a:sx n="33" d="100"/>
        <a:sy n="33" d="100"/>
      </p:scale>
      <p:origin x="0" y="-8334"/>
    </p:cViewPr>
  </p:outlineViewPr>
  <p:notesTextViewPr>
    <p:cViewPr>
      <p:scale>
        <a:sx n="100" d="100"/>
        <a:sy n="100" d="100"/>
      </p:scale>
      <p:origin x="0" y="0"/>
    </p:cViewPr>
  </p:notesTextViewPr>
  <p:sorterViewPr>
    <p:cViewPr>
      <p:scale>
        <a:sx n="150" d="100"/>
        <a:sy n="150" d="100"/>
      </p:scale>
      <p:origin x="0" y="30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C60E0A-ED3A-433C-BD32-AB5506191149}"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43514FA6-D437-4A59-81A2-4B220BBE3CEE}">
      <dgm:prSet/>
      <dgm:spPr/>
      <dgm:t>
        <a:bodyPr/>
        <a:lstStyle/>
        <a:p>
          <a:r>
            <a:rPr lang="en-US"/>
            <a:t>Churn</a:t>
          </a:r>
        </a:p>
      </dgm:t>
    </dgm:pt>
    <dgm:pt modelId="{BA5BD26C-83E2-4307-A796-1D4D6730421E}" type="parTrans" cxnId="{B6A9FCA7-B88A-493E-8F4A-AF9181B125A5}">
      <dgm:prSet/>
      <dgm:spPr/>
      <dgm:t>
        <a:bodyPr/>
        <a:lstStyle/>
        <a:p>
          <a:endParaRPr lang="en-US"/>
        </a:p>
      </dgm:t>
    </dgm:pt>
    <dgm:pt modelId="{8C25B267-E335-476C-A89F-A20D85736FCD}" type="sibTrans" cxnId="{B6A9FCA7-B88A-493E-8F4A-AF9181B125A5}">
      <dgm:prSet/>
      <dgm:spPr/>
      <dgm:t>
        <a:bodyPr/>
        <a:lstStyle/>
        <a:p>
          <a:endParaRPr lang="en-US"/>
        </a:p>
      </dgm:t>
    </dgm:pt>
    <dgm:pt modelId="{47C18BA1-4C02-4C0E-8E17-DE37ED9F86CF}">
      <dgm:prSet/>
      <dgm:spPr/>
      <dgm:t>
        <a:bodyPr/>
        <a:lstStyle/>
        <a:p>
          <a:r>
            <a:rPr lang="en-US" dirty="0"/>
            <a:t>Improving Model Performance</a:t>
          </a:r>
        </a:p>
      </dgm:t>
    </dgm:pt>
    <dgm:pt modelId="{F099B408-D593-46F1-87A7-B1F86859B26A}" type="parTrans" cxnId="{2E969A21-8C23-44A2-A527-52C33346334C}">
      <dgm:prSet/>
      <dgm:spPr/>
      <dgm:t>
        <a:bodyPr/>
        <a:lstStyle/>
        <a:p>
          <a:endParaRPr lang="en-US"/>
        </a:p>
      </dgm:t>
    </dgm:pt>
    <dgm:pt modelId="{FFEFDB89-4DFD-4E6E-A1A0-71D2BD1EAC65}" type="sibTrans" cxnId="{2E969A21-8C23-44A2-A527-52C33346334C}">
      <dgm:prSet/>
      <dgm:spPr/>
      <dgm:t>
        <a:bodyPr/>
        <a:lstStyle/>
        <a:p>
          <a:endParaRPr lang="en-US"/>
        </a:p>
      </dgm:t>
    </dgm:pt>
    <dgm:pt modelId="{870082C9-C08F-43A4-811E-2980E5D76E48}">
      <dgm:prSet/>
      <dgm:spPr/>
      <dgm:t>
        <a:bodyPr/>
        <a:lstStyle/>
        <a:p>
          <a:r>
            <a:rPr lang="en-US"/>
            <a:t>Feature Engineering </a:t>
          </a:r>
        </a:p>
      </dgm:t>
    </dgm:pt>
    <dgm:pt modelId="{2AD76EFA-216C-481E-AEC5-5BCEC0B0B66C}" type="parTrans" cxnId="{7383A840-9D8D-42BF-A624-B99910DCAA7A}">
      <dgm:prSet/>
      <dgm:spPr/>
      <dgm:t>
        <a:bodyPr/>
        <a:lstStyle/>
        <a:p>
          <a:endParaRPr lang="en-US"/>
        </a:p>
      </dgm:t>
    </dgm:pt>
    <dgm:pt modelId="{CFD5A889-E904-48C1-801B-44DF5C519CF3}" type="sibTrans" cxnId="{7383A840-9D8D-42BF-A624-B99910DCAA7A}">
      <dgm:prSet/>
      <dgm:spPr/>
      <dgm:t>
        <a:bodyPr/>
        <a:lstStyle/>
        <a:p>
          <a:endParaRPr lang="en-US"/>
        </a:p>
      </dgm:t>
    </dgm:pt>
    <dgm:pt modelId="{C49713A6-CA73-4E8F-B263-6AF7324191BA}">
      <dgm:prSet/>
      <dgm:spPr/>
      <dgm:t>
        <a:bodyPr/>
        <a:lstStyle/>
        <a:p>
          <a:r>
            <a:rPr lang="en-US"/>
            <a:t>Sampling (Up, Down, Synthetic)</a:t>
          </a:r>
        </a:p>
      </dgm:t>
    </dgm:pt>
    <dgm:pt modelId="{B9837E6B-7BCF-4AF7-8F0E-BBDCD034BB5D}" type="parTrans" cxnId="{7EB4F765-5343-4F3A-ADDC-346ABF0DC1CA}">
      <dgm:prSet/>
      <dgm:spPr/>
      <dgm:t>
        <a:bodyPr/>
        <a:lstStyle/>
        <a:p>
          <a:endParaRPr lang="en-US"/>
        </a:p>
      </dgm:t>
    </dgm:pt>
    <dgm:pt modelId="{A4AEA483-2AE8-4F74-8E75-59F6E1077BEB}" type="sibTrans" cxnId="{7EB4F765-5343-4F3A-ADDC-346ABF0DC1CA}">
      <dgm:prSet/>
      <dgm:spPr/>
      <dgm:t>
        <a:bodyPr/>
        <a:lstStyle/>
        <a:p>
          <a:endParaRPr lang="en-US"/>
        </a:p>
      </dgm:t>
    </dgm:pt>
    <dgm:pt modelId="{DADCEE52-2BEF-43B1-BA53-A049E6A92056}">
      <dgm:prSet/>
      <dgm:spPr/>
      <dgm:t>
        <a:bodyPr/>
        <a:lstStyle/>
        <a:p>
          <a:r>
            <a:rPr lang="en-US"/>
            <a:t>Hyper Parameter Tuning</a:t>
          </a:r>
        </a:p>
      </dgm:t>
    </dgm:pt>
    <dgm:pt modelId="{42493581-2F82-4338-85DC-9497C61AA75C}" type="parTrans" cxnId="{DF429A7D-2CAA-432F-B1DE-551DADF3EE49}">
      <dgm:prSet/>
      <dgm:spPr/>
      <dgm:t>
        <a:bodyPr/>
        <a:lstStyle/>
        <a:p>
          <a:endParaRPr lang="en-US"/>
        </a:p>
      </dgm:t>
    </dgm:pt>
    <dgm:pt modelId="{7C4F1863-B69F-4A38-9DCD-92634BB7CF01}" type="sibTrans" cxnId="{DF429A7D-2CAA-432F-B1DE-551DADF3EE49}">
      <dgm:prSet/>
      <dgm:spPr/>
      <dgm:t>
        <a:bodyPr/>
        <a:lstStyle/>
        <a:p>
          <a:endParaRPr lang="en-US"/>
        </a:p>
      </dgm:t>
    </dgm:pt>
    <dgm:pt modelId="{94F51792-16A2-4C76-95F7-964BDA7A6D7A}">
      <dgm:prSet/>
      <dgm:spPr/>
      <dgm:t>
        <a:bodyPr/>
        <a:lstStyle/>
        <a:p>
          <a:r>
            <a:rPr lang="en-US" dirty="0"/>
            <a:t>Ensemble Learners</a:t>
          </a:r>
        </a:p>
      </dgm:t>
    </dgm:pt>
    <dgm:pt modelId="{50DA98E8-EE23-4445-A3BF-EAA1E0FC23ED}" type="parTrans" cxnId="{C1807970-06A5-4899-A6C7-4186B86DCA5F}">
      <dgm:prSet/>
      <dgm:spPr/>
      <dgm:t>
        <a:bodyPr/>
        <a:lstStyle/>
        <a:p>
          <a:endParaRPr lang="en-US"/>
        </a:p>
      </dgm:t>
    </dgm:pt>
    <dgm:pt modelId="{75ECAADB-0856-4A8E-B4F8-280BD194945D}" type="sibTrans" cxnId="{C1807970-06A5-4899-A6C7-4186B86DCA5F}">
      <dgm:prSet/>
      <dgm:spPr/>
      <dgm:t>
        <a:bodyPr/>
        <a:lstStyle/>
        <a:p>
          <a:endParaRPr lang="en-US"/>
        </a:p>
      </dgm:t>
    </dgm:pt>
    <dgm:pt modelId="{5385BE36-D025-DB48-BB97-71C4D537EC0C}">
      <dgm:prSet/>
      <dgm:spPr/>
      <dgm:t>
        <a:bodyPr/>
        <a:lstStyle/>
        <a:p>
          <a:r>
            <a:rPr lang="en-US" dirty="0"/>
            <a:t>Gradient Boosting Machines (GBM)</a:t>
          </a:r>
        </a:p>
      </dgm:t>
    </dgm:pt>
    <dgm:pt modelId="{62C1E8DC-2475-B945-AFA0-9F3CCE81CECC}" type="parTrans" cxnId="{1BB1AC07-9A93-6F4B-A2BA-DD024BCCCFFD}">
      <dgm:prSet/>
      <dgm:spPr/>
    </dgm:pt>
    <dgm:pt modelId="{5BE98FCE-AFAA-0743-A54E-F910A103E625}" type="sibTrans" cxnId="{1BB1AC07-9A93-6F4B-A2BA-DD024BCCCFFD}">
      <dgm:prSet/>
      <dgm:spPr/>
    </dgm:pt>
    <dgm:pt modelId="{EBF9718D-9AF9-3A4D-A7DF-C92F1E444B36}">
      <dgm:prSet/>
      <dgm:spPr/>
      <dgm:t>
        <a:bodyPr/>
        <a:lstStyle/>
        <a:p>
          <a:r>
            <a:rPr lang="en-US" dirty="0"/>
            <a:t>Random Forests </a:t>
          </a:r>
        </a:p>
      </dgm:t>
    </dgm:pt>
    <dgm:pt modelId="{322BDEA0-9F50-B441-A119-7C6C24D739B9}" type="parTrans" cxnId="{0C6F1727-1A18-C54C-BEDF-86B666E8B0EA}">
      <dgm:prSet/>
      <dgm:spPr/>
    </dgm:pt>
    <dgm:pt modelId="{46782DBB-B6AD-B54C-BAB9-3B8BF34B9EE3}" type="sibTrans" cxnId="{0C6F1727-1A18-C54C-BEDF-86B666E8B0EA}">
      <dgm:prSet/>
      <dgm:spPr/>
    </dgm:pt>
    <dgm:pt modelId="{CFCB18E4-9C9B-3746-A254-F40CA4FC9326}" type="pres">
      <dgm:prSet presAssocID="{97C60E0A-ED3A-433C-BD32-AB5506191149}" presName="linear" presStyleCnt="0">
        <dgm:presLayoutVars>
          <dgm:dir/>
          <dgm:animLvl val="lvl"/>
          <dgm:resizeHandles val="exact"/>
        </dgm:presLayoutVars>
      </dgm:prSet>
      <dgm:spPr/>
    </dgm:pt>
    <dgm:pt modelId="{8E0E2FA1-5FFA-BF4B-AFA7-9E0CC1E96B25}" type="pres">
      <dgm:prSet presAssocID="{43514FA6-D437-4A59-81A2-4B220BBE3CEE}" presName="parentLin" presStyleCnt="0"/>
      <dgm:spPr/>
    </dgm:pt>
    <dgm:pt modelId="{72203774-7B0A-714A-8BC4-3AEEBB04A3F3}" type="pres">
      <dgm:prSet presAssocID="{43514FA6-D437-4A59-81A2-4B220BBE3CEE}" presName="parentLeftMargin" presStyleLbl="node1" presStyleIdx="0" presStyleCnt="3"/>
      <dgm:spPr/>
    </dgm:pt>
    <dgm:pt modelId="{352A1F03-1BAD-E64F-B6B2-54472F432193}" type="pres">
      <dgm:prSet presAssocID="{43514FA6-D437-4A59-81A2-4B220BBE3CEE}" presName="parentText" presStyleLbl="node1" presStyleIdx="0" presStyleCnt="3" custScaleX="128067">
        <dgm:presLayoutVars>
          <dgm:chMax val="0"/>
          <dgm:bulletEnabled val="1"/>
        </dgm:presLayoutVars>
      </dgm:prSet>
      <dgm:spPr/>
    </dgm:pt>
    <dgm:pt modelId="{FF130A74-AA38-8245-818A-AF8F5EEB13C3}" type="pres">
      <dgm:prSet presAssocID="{43514FA6-D437-4A59-81A2-4B220BBE3CEE}" presName="negativeSpace" presStyleCnt="0"/>
      <dgm:spPr/>
    </dgm:pt>
    <dgm:pt modelId="{3715B4ED-C806-1C47-827C-4CF1BA1F4F2C}" type="pres">
      <dgm:prSet presAssocID="{43514FA6-D437-4A59-81A2-4B220BBE3CEE}" presName="childText" presStyleLbl="conFgAcc1" presStyleIdx="0" presStyleCnt="3">
        <dgm:presLayoutVars>
          <dgm:bulletEnabled val="1"/>
        </dgm:presLayoutVars>
      </dgm:prSet>
      <dgm:spPr/>
    </dgm:pt>
    <dgm:pt modelId="{E9E74EBF-77AD-1C4A-BF6D-733B66A97F11}" type="pres">
      <dgm:prSet presAssocID="{8C25B267-E335-476C-A89F-A20D85736FCD}" presName="spaceBetweenRectangles" presStyleCnt="0"/>
      <dgm:spPr/>
    </dgm:pt>
    <dgm:pt modelId="{2695267E-4A11-2445-A2E0-08F84A63FCEA}" type="pres">
      <dgm:prSet presAssocID="{47C18BA1-4C02-4C0E-8E17-DE37ED9F86CF}" presName="parentLin" presStyleCnt="0"/>
      <dgm:spPr/>
    </dgm:pt>
    <dgm:pt modelId="{BD284B78-412A-2846-9CCA-D725DA783E30}" type="pres">
      <dgm:prSet presAssocID="{47C18BA1-4C02-4C0E-8E17-DE37ED9F86CF}" presName="parentLeftMargin" presStyleLbl="node1" presStyleIdx="0" presStyleCnt="3"/>
      <dgm:spPr/>
    </dgm:pt>
    <dgm:pt modelId="{1DF18165-E2EA-7C4F-942C-8E562FFE9189}" type="pres">
      <dgm:prSet presAssocID="{47C18BA1-4C02-4C0E-8E17-DE37ED9F86CF}" presName="parentText" presStyleLbl="node1" presStyleIdx="1" presStyleCnt="3" custScaleX="128726">
        <dgm:presLayoutVars>
          <dgm:chMax val="0"/>
          <dgm:bulletEnabled val="1"/>
        </dgm:presLayoutVars>
      </dgm:prSet>
      <dgm:spPr/>
    </dgm:pt>
    <dgm:pt modelId="{1EB9D7B2-C3AD-C046-B429-0BF04D59CCD5}" type="pres">
      <dgm:prSet presAssocID="{47C18BA1-4C02-4C0E-8E17-DE37ED9F86CF}" presName="negativeSpace" presStyleCnt="0"/>
      <dgm:spPr/>
    </dgm:pt>
    <dgm:pt modelId="{F393EF35-1B57-404C-B1FC-7ED6C073498D}" type="pres">
      <dgm:prSet presAssocID="{47C18BA1-4C02-4C0E-8E17-DE37ED9F86CF}" presName="childText" presStyleLbl="conFgAcc1" presStyleIdx="1" presStyleCnt="3">
        <dgm:presLayoutVars>
          <dgm:bulletEnabled val="1"/>
        </dgm:presLayoutVars>
      </dgm:prSet>
      <dgm:spPr/>
    </dgm:pt>
    <dgm:pt modelId="{0908A57C-56F1-F14A-A98B-D6B7BFEBE892}" type="pres">
      <dgm:prSet presAssocID="{FFEFDB89-4DFD-4E6E-A1A0-71D2BD1EAC65}" presName="spaceBetweenRectangles" presStyleCnt="0"/>
      <dgm:spPr/>
    </dgm:pt>
    <dgm:pt modelId="{700FE06C-ECB0-5245-90DF-4C27154AC7C3}" type="pres">
      <dgm:prSet presAssocID="{94F51792-16A2-4C76-95F7-964BDA7A6D7A}" presName="parentLin" presStyleCnt="0"/>
      <dgm:spPr/>
    </dgm:pt>
    <dgm:pt modelId="{8FF45E9F-75BC-D441-8FA9-3FE3FBE88B83}" type="pres">
      <dgm:prSet presAssocID="{94F51792-16A2-4C76-95F7-964BDA7A6D7A}" presName="parentLeftMargin" presStyleLbl="node1" presStyleIdx="1" presStyleCnt="3"/>
      <dgm:spPr/>
    </dgm:pt>
    <dgm:pt modelId="{EC0756FC-C618-2C4B-A046-3930D53B3BF9}" type="pres">
      <dgm:prSet presAssocID="{94F51792-16A2-4C76-95F7-964BDA7A6D7A}" presName="parentText" presStyleLbl="node1" presStyleIdx="2" presStyleCnt="3" custScaleX="123739">
        <dgm:presLayoutVars>
          <dgm:chMax val="0"/>
          <dgm:bulletEnabled val="1"/>
        </dgm:presLayoutVars>
      </dgm:prSet>
      <dgm:spPr/>
    </dgm:pt>
    <dgm:pt modelId="{84218391-C8E3-3145-B792-B1127DC337DB}" type="pres">
      <dgm:prSet presAssocID="{94F51792-16A2-4C76-95F7-964BDA7A6D7A}" presName="negativeSpace" presStyleCnt="0"/>
      <dgm:spPr/>
    </dgm:pt>
    <dgm:pt modelId="{441FCECE-AD0D-CB45-8A12-6E77E4B3F402}" type="pres">
      <dgm:prSet presAssocID="{94F51792-16A2-4C76-95F7-964BDA7A6D7A}" presName="childText" presStyleLbl="conFgAcc1" presStyleIdx="2" presStyleCnt="3">
        <dgm:presLayoutVars>
          <dgm:bulletEnabled val="1"/>
        </dgm:presLayoutVars>
      </dgm:prSet>
      <dgm:spPr/>
    </dgm:pt>
  </dgm:ptLst>
  <dgm:cxnLst>
    <dgm:cxn modelId="{7EB40D00-92AF-9A48-BAC7-263B5FEA15C2}" type="presOf" srcId="{47C18BA1-4C02-4C0E-8E17-DE37ED9F86CF}" destId="{1DF18165-E2EA-7C4F-942C-8E562FFE9189}" srcOrd="1" destOrd="0" presId="urn:microsoft.com/office/officeart/2005/8/layout/list1"/>
    <dgm:cxn modelId="{458B8703-1B3F-D442-BF4B-A48F20C4BAFE}" type="presOf" srcId="{43514FA6-D437-4A59-81A2-4B220BBE3CEE}" destId="{72203774-7B0A-714A-8BC4-3AEEBB04A3F3}" srcOrd="0" destOrd="0" presId="urn:microsoft.com/office/officeart/2005/8/layout/list1"/>
    <dgm:cxn modelId="{1BB1AC07-9A93-6F4B-A2BA-DD024BCCCFFD}" srcId="{94F51792-16A2-4C76-95F7-964BDA7A6D7A}" destId="{5385BE36-D025-DB48-BB97-71C4D537EC0C}" srcOrd="1" destOrd="0" parTransId="{62C1E8DC-2475-B945-AFA0-9F3CCE81CECC}" sibTransId="{5BE98FCE-AFAA-0743-A54E-F910A103E625}"/>
    <dgm:cxn modelId="{3111D514-AA48-7349-9A70-BC2DA019A601}" type="presOf" srcId="{47C18BA1-4C02-4C0E-8E17-DE37ED9F86CF}" destId="{BD284B78-412A-2846-9CCA-D725DA783E30}" srcOrd="0" destOrd="0" presId="urn:microsoft.com/office/officeart/2005/8/layout/list1"/>
    <dgm:cxn modelId="{2E969A21-8C23-44A2-A527-52C33346334C}" srcId="{97C60E0A-ED3A-433C-BD32-AB5506191149}" destId="{47C18BA1-4C02-4C0E-8E17-DE37ED9F86CF}" srcOrd="1" destOrd="0" parTransId="{F099B408-D593-46F1-87A7-B1F86859B26A}" sibTransId="{FFEFDB89-4DFD-4E6E-A1A0-71D2BD1EAC65}"/>
    <dgm:cxn modelId="{0C6F1727-1A18-C54C-BEDF-86B666E8B0EA}" srcId="{94F51792-16A2-4C76-95F7-964BDA7A6D7A}" destId="{EBF9718D-9AF9-3A4D-A7DF-C92F1E444B36}" srcOrd="0" destOrd="0" parTransId="{322BDEA0-9F50-B441-A119-7C6C24D739B9}" sibTransId="{46782DBB-B6AD-B54C-BAB9-3B8BF34B9EE3}"/>
    <dgm:cxn modelId="{AB7D492B-A048-DC47-B53D-2991A4538BDB}" type="presOf" srcId="{DADCEE52-2BEF-43B1-BA53-A049E6A92056}" destId="{F393EF35-1B57-404C-B1FC-7ED6C073498D}" srcOrd="0" destOrd="2" presId="urn:microsoft.com/office/officeart/2005/8/layout/list1"/>
    <dgm:cxn modelId="{7383A840-9D8D-42BF-A624-B99910DCAA7A}" srcId="{47C18BA1-4C02-4C0E-8E17-DE37ED9F86CF}" destId="{870082C9-C08F-43A4-811E-2980E5D76E48}" srcOrd="0" destOrd="0" parTransId="{2AD76EFA-216C-481E-AEC5-5BCEC0B0B66C}" sibTransId="{CFD5A889-E904-48C1-801B-44DF5C519CF3}"/>
    <dgm:cxn modelId="{6EF84155-100B-A040-9259-EFAB5378C9EA}" type="presOf" srcId="{EBF9718D-9AF9-3A4D-A7DF-C92F1E444B36}" destId="{441FCECE-AD0D-CB45-8A12-6E77E4B3F402}" srcOrd="0" destOrd="0" presId="urn:microsoft.com/office/officeart/2005/8/layout/list1"/>
    <dgm:cxn modelId="{7EB4F765-5343-4F3A-ADDC-346ABF0DC1CA}" srcId="{47C18BA1-4C02-4C0E-8E17-DE37ED9F86CF}" destId="{C49713A6-CA73-4E8F-B263-6AF7324191BA}" srcOrd="1" destOrd="0" parTransId="{B9837E6B-7BCF-4AF7-8F0E-BBDCD034BB5D}" sibTransId="{A4AEA483-2AE8-4F74-8E75-59F6E1077BEB}"/>
    <dgm:cxn modelId="{C1807970-06A5-4899-A6C7-4186B86DCA5F}" srcId="{97C60E0A-ED3A-433C-BD32-AB5506191149}" destId="{94F51792-16A2-4C76-95F7-964BDA7A6D7A}" srcOrd="2" destOrd="0" parTransId="{50DA98E8-EE23-4445-A3BF-EAA1E0FC23ED}" sibTransId="{75ECAADB-0856-4A8E-B4F8-280BD194945D}"/>
    <dgm:cxn modelId="{13282272-8F1D-8346-8E66-4F8532AE820B}" type="presOf" srcId="{94F51792-16A2-4C76-95F7-964BDA7A6D7A}" destId="{8FF45E9F-75BC-D441-8FA9-3FE3FBE88B83}" srcOrd="0" destOrd="0" presId="urn:microsoft.com/office/officeart/2005/8/layout/list1"/>
    <dgm:cxn modelId="{4D08577C-45D6-2241-B169-A10AC74FF12F}" type="presOf" srcId="{5385BE36-D025-DB48-BB97-71C4D537EC0C}" destId="{441FCECE-AD0D-CB45-8A12-6E77E4B3F402}" srcOrd="0" destOrd="1" presId="urn:microsoft.com/office/officeart/2005/8/layout/list1"/>
    <dgm:cxn modelId="{DF429A7D-2CAA-432F-B1DE-551DADF3EE49}" srcId="{47C18BA1-4C02-4C0E-8E17-DE37ED9F86CF}" destId="{DADCEE52-2BEF-43B1-BA53-A049E6A92056}" srcOrd="2" destOrd="0" parTransId="{42493581-2F82-4338-85DC-9497C61AA75C}" sibTransId="{7C4F1863-B69F-4A38-9DCD-92634BB7CF01}"/>
    <dgm:cxn modelId="{B627AB92-5FBF-8042-A11C-B6D0E5F1A5D8}" type="presOf" srcId="{97C60E0A-ED3A-433C-BD32-AB5506191149}" destId="{CFCB18E4-9C9B-3746-A254-F40CA4FC9326}" srcOrd="0" destOrd="0" presId="urn:microsoft.com/office/officeart/2005/8/layout/list1"/>
    <dgm:cxn modelId="{BD374E93-B9D6-1849-B805-B6B93EF13B84}" type="presOf" srcId="{C49713A6-CA73-4E8F-B263-6AF7324191BA}" destId="{F393EF35-1B57-404C-B1FC-7ED6C073498D}" srcOrd="0" destOrd="1" presId="urn:microsoft.com/office/officeart/2005/8/layout/list1"/>
    <dgm:cxn modelId="{74117CA7-0194-B84D-BB0E-841DBADE08A5}" type="presOf" srcId="{94F51792-16A2-4C76-95F7-964BDA7A6D7A}" destId="{EC0756FC-C618-2C4B-A046-3930D53B3BF9}" srcOrd="1" destOrd="0" presId="urn:microsoft.com/office/officeart/2005/8/layout/list1"/>
    <dgm:cxn modelId="{B6A9FCA7-B88A-493E-8F4A-AF9181B125A5}" srcId="{97C60E0A-ED3A-433C-BD32-AB5506191149}" destId="{43514FA6-D437-4A59-81A2-4B220BBE3CEE}" srcOrd="0" destOrd="0" parTransId="{BA5BD26C-83E2-4307-A796-1D4D6730421E}" sibTransId="{8C25B267-E335-476C-A89F-A20D85736FCD}"/>
    <dgm:cxn modelId="{5DF272CB-7FE8-7F4D-8428-65705F1767BB}" type="presOf" srcId="{43514FA6-D437-4A59-81A2-4B220BBE3CEE}" destId="{352A1F03-1BAD-E64F-B6B2-54472F432193}" srcOrd="1" destOrd="0" presId="urn:microsoft.com/office/officeart/2005/8/layout/list1"/>
    <dgm:cxn modelId="{C03C32CF-8CA9-694A-BBB6-51FEF4E0C2E1}" type="presOf" srcId="{870082C9-C08F-43A4-811E-2980E5D76E48}" destId="{F393EF35-1B57-404C-B1FC-7ED6C073498D}" srcOrd="0" destOrd="0" presId="urn:microsoft.com/office/officeart/2005/8/layout/list1"/>
    <dgm:cxn modelId="{AC6AD46C-90BE-7843-B3B7-FFB183F833EE}" type="presParOf" srcId="{CFCB18E4-9C9B-3746-A254-F40CA4FC9326}" destId="{8E0E2FA1-5FFA-BF4B-AFA7-9E0CC1E96B25}" srcOrd="0" destOrd="0" presId="urn:microsoft.com/office/officeart/2005/8/layout/list1"/>
    <dgm:cxn modelId="{1227F59E-AB60-AA4B-A387-FA43BFC61307}" type="presParOf" srcId="{8E0E2FA1-5FFA-BF4B-AFA7-9E0CC1E96B25}" destId="{72203774-7B0A-714A-8BC4-3AEEBB04A3F3}" srcOrd="0" destOrd="0" presId="urn:microsoft.com/office/officeart/2005/8/layout/list1"/>
    <dgm:cxn modelId="{46019046-46D1-5D43-9667-D82BD2DB981B}" type="presParOf" srcId="{8E0E2FA1-5FFA-BF4B-AFA7-9E0CC1E96B25}" destId="{352A1F03-1BAD-E64F-B6B2-54472F432193}" srcOrd="1" destOrd="0" presId="urn:microsoft.com/office/officeart/2005/8/layout/list1"/>
    <dgm:cxn modelId="{6DB6DA63-221F-AB47-9967-D32300BADA7F}" type="presParOf" srcId="{CFCB18E4-9C9B-3746-A254-F40CA4FC9326}" destId="{FF130A74-AA38-8245-818A-AF8F5EEB13C3}" srcOrd="1" destOrd="0" presId="urn:microsoft.com/office/officeart/2005/8/layout/list1"/>
    <dgm:cxn modelId="{DD6E6E4E-F140-B745-9576-B654F0E0A47C}" type="presParOf" srcId="{CFCB18E4-9C9B-3746-A254-F40CA4FC9326}" destId="{3715B4ED-C806-1C47-827C-4CF1BA1F4F2C}" srcOrd="2" destOrd="0" presId="urn:microsoft.com/office/officeart/2005/8/layout/list1"/>
    <dgm:cxn modelId="{1E513927-5730-D848-AC06-F0F7F0FB5E22}" type="presParOf" srcId="{CFCB18E4-9C9B-3746-A254-F40CA4FC9326}" destId="{E9E74EBF-77AD-1C4A-BF6D-733B66A97F11}" srcOrd="3" destOrd="0" presId="urn:microsoft.com/office/officeart/2005/8/layout/list1"/>
    <dgm:cxn modelId="{70CDA5D4-0A67-6D41-A719-319E00C8CAB9}" type="presParOf" srcId="{CFCB18E4-9C9B-3746-A254-F40CA4FC9326}" destId="{2695267E-4A11-2445-A2E0-08F84A63FCEA}" srcOrd="4" destOrd="0" presId="urn:microsoft.com/office/officeart/2005/8/layout/list1"/>
    <dgm:cxn modelId="{EC743BC6-04AF-714F-97EF-D437C3EC4AEA}" type="presParOf" srcId="{2695267E-4A11-2445-A2E0-08F84A63FCEA}" destId="{BD284B78-412A-2846-9CCA-D725DA783E30}" srcOrd="0" destOrd="0" presId="urn:microsoft.com/office/officeart/2005/8/layout/list1"/>
    <dgm:cxn modelId="{2C2B2ADD-7622-074D-80DE-0C3B9DFE7F41}" type="presParOf" srcId="{2695267E-4A11-2445-A2E0-08F84A63FCEA}" destId="{1DF18165-E2EA-7C4F-942C-8E562FFE9189}" srcOrd="1" destOrd="0" presId="urn:microsoft.com/office/officeart/2005/8/layout/list1"/>
    <dgm:cxn modelId="{9D6FD294-0B98-3F45-9921-CEC7AB188B4C}" type="presParOf" srcId="{CFCB18E4-9C9B-3746-A254-F40CA4FC9326}" destId="{1EB9D7B2-C3AD-C046-B429-0BF04D59CCD5}" srcOrd="5" destOrd="0" presId="urn:microsoft.com/office/officeart/2005/8/layout/list1"/>
    <dgm:cxn modelId="{DB8CA26A-EDB4-D643-AB98-CEA02C0E2375}" type="presParOf" srcId="{CFCB18E4-9C9B-3746-A254-F40CA4FC9326}" destId="{F393EF35-1B57-404C-B1FC-7ED6C073498D}" srcOrd="6" destOrd="0" presId="urn:microsoft.com/office/officeart/2005/8/layout/list1"/>
    <dgm:cxn modelId="{4CA17704-3120-1148-97F7-5FFEAE3858D5}" type="presParOf" srcId="{CFCB18E4-9C9B-3746-A254-F40CA4FC9326}" destId="{0908A57C-56F1-F14A-A98B-D6B7BFEBE892}" srcOrd="7" destOrd="0" presId="urn:microsoft.com/office/officeart/2005/8/layout/list1"/>
    <dgm:cxn modelId="{2A564CF7-C408-7144-A4B3-6F387A8004B1}" type="presParOf" srcId="{CFCB18E4-9C9B-3746-A254-F40CA4FC9326}" destId="{700FE06C-ECB0-5245-90DF-4C27154AC7C3}" srcOrd="8" destOrd="0" presId="urn:microsoft.com/office/officeart/2005/8/layout/list1"/>
    <dgm:cxn modelId="{E9A5174D-9726-044F-A281-182B1D331CF6}" type="presParOf" srcId="{700FE06C-ECB0-5245-90DF-4C27154AC7C3}" destId="{8FF45E9F-75BC-D441-8FA9-3FE3FBE88B83}" srcOrd="0" destOrd="0" presId="urn:microsoft.com/office/officeart/2005/8/layout/list1"/>
    <dgm:cxn modelId="{EA9AD2AA-B0DC-3B46-A751-14FDADAF56F0}" type="presParOf" srcId="{700FE06C-ECB0-5245-90DF-4C27154AC7C3}" destId="{EC0756FC-C618-2C4B-A046-3930D53B3BF9}" srcOrd="1" destOrd="0" presId="urn:microsoft.com/office/officeart/2005/8/layout/list1"/>
    <dgm:cxn modelId="{E4E4024D-BECE-3B48-8A3E-2052390E315B}" type="presParOf" srcId="{CFCB18E4-9C9B-3746-A254-F40CA4FC9326}" destId="{84218391-C8E3-3145-B792-B1127DC337DB}" srcOrd="9" destOrd="0" presId="urn:microsoft.com/office/officeart/2005/8/layout/list1"/>
    <dgm:cxn modelId="{CE84728F-B6DD-0242-B24A-40DB59F94437}" type="presParOf" srcId="{CFCB18E4-9C9B-3746-A254-F40CA4FC9326}" destId="{441FCECE-AD0D-CB45-8A12-6E77E4B3F402}"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7F28BB-E538-4613-9218-F3A9A23C7837}"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FA877B9B-E34E-42DC-BE55-6C74C9974633}">
      <dgm:prSet/>
      <dgm:spPr/>
      <dgm:t>
        <a:bodyPr/>
        <a:lstStyle/>
        <a:p>
          <a:r>
            <a:rPr lang="en-US" dirty="0"/>
            <a:t>Down Sampling </a:t>
          </a:r>
        </a:p>
      </dgm:t>
    </dgm:pt>
    <dgm:pt modelId="{CCA05C0E-1990-43A7-BD70-8501F79FDEE3}" type="parTrans" cxnId="{003916F9-BC51-4584-85E7-665409B1136C}">
      <dgm:prSet/>
      <dgm:spPr/>
      <dgm:t>
        <a:bodyPr/>
        <a:lstStyle/>
        <a:p>
          <a:endParaRPr lang="en-US"/>
        </a:p>
      </dgm:t>
    </dgm:pt>
    <dgm:pt modelId="{A824EFB2-B9BF-45D1-B83E-CD0871667AF4}" type="sibTrans" cxnId="{003916F9-BC51-4584-85E7-665409B1136C}">
      <dgm:prSet/>
      <dgm:spPr/>
      <dgm:t>
        <a:bodyPr/>
        <a:lstStyle/>
        <a:p>
          <a:endParaRPr lang="en-US"/>
        </a:p>
      </dgm:t>
    </dgm:pt>
    <dgm:pt modelId="{11E64CBD-C996-4427-AD9A-41C5E00C5441}">
      <dgm:prSet/>
      <dgm:spPr/>
      <dgm:t>
        <a:bodyPr/>
        <a:lstStyle/>
        <a:p>
          <a:r>
            <a:rPr lang="en-US"/>
            <a:t>Up Sampling </a:t>
          </a:r>
        </a:p>
      </dgm:t>
    </dgm:pt>
    <dgm:pt modelId="{5D213C49-1DF5-484D-A083-62074447ACBC}" type="parTrans" cxnId="{A590F8BD-88FA-44C7-904D-E7E346A0AC50}">
      <dgm:prSet/>
      <dgm:spPr/>
      <dgm:t>
        <a:bodyPr/>
        <a:lstStyle/>
        <a:p>
          <a:endParaRPr lang="en-US"/>
        </a:p>
      </dgm:t>
    </dgm:pt>
    <dgm:pt modelId="{32D64188-EDF3-4BD2-9D08-A7F0AE123F7B}" type="sibTrans" cxnId="{A590F8BD-88FA-44C7-904D-E7E346A0AC50}">
      <dgm:prSet/>
      <dgm:spPr/>
      <dgm:t>
        <a:bodyPr/>
        <a:lstStyle/>
        <a:p>
          <a:endParaRPr lang="en-US"/>
        </a:p>
      </dgm:t>
    </dgm:pt>
    <dgm:pt modelId="{BACEB445-91F9-4401-B0AC-E2E64BC8065A}">
      <dgm:prSet/>
      <dgm:spPr/>
      <dgm:t>
        <a:bodyPr/>
        <a:lstStyle/>
        <a:p>
          <a:r>
            <a:rPr lang="en-US" dirty="0"/>
            <a:t>SMOTE</a:t>
          </a:r>
        </a:p>
      </dgm:t>
    </dgm:pt>
    <dgm:pt modelId="{F713814D-DDDE-47E1-A14C-A98E8CEF724F}" type="parTrans" cxnId="{E85DEB5B-F6FF-4A28-9920-5D8B908C1FD7}">
      <dgm:prSet/>
      <dgm:spPr/>
      <dgm:t>
        <a:bodyPr/>
        <a:lstStyle/>
        <a:p>
          <a:endParaRPr lang="en-US"/>
        </a:p>
      </dgm:t>
    </dgm:pt>
    <dgm:pt modelId="{17231C91-2A55-4F68-8360-9E51EE106F97}" type="sibTrans" cxnId="{E85DEB5B-F6FF-4A28-9920-5D8B908C1FD7}">
      <dgm:prSet/>
      <dgm:spPr/>
      <dgm:t>
        <a:bodyPr/>
        <a:lstStyle/>
        <a:p>
          <a:endParaRPr lang="en-US"/>
        </a:p>
      </dgm:t>
    </dgm:pt>
    <dgm:pt modelId="{77F4C4AA-BC19-4A4B-BB48-2DFF28EC1C03}">
      <dgm:prSet/>
      <dgm:spPr/>
      <dgm:t>
        <a:bodyPr/>
        <a:lstStyle/>
        <a:p>
          <a:r>
            <a:rPr lang="en-US" dirty="0"/>
            <a:t>#1 Feature Engineering </a:t>
          </a:r>
        </a:p>
      </dgm:t>
    </dgm:pt>
    <dgm:pt modelId="{55D73A7C-7435-DC44-8F38-3B69927DF220}" type="parTrans" cxnId="{F606DFAC-8E91-4E4B-A0AF-46EF0B70E20C}">
      <dgm:prSet/>
      <dgm:spPr/>
      <dgm:t>
        <a:bodyPr/>
        <a:lstStyle/>
        <a:p>
          <a:endParaRPr lang="en-US"/>
        </a:p>
      </dgm:t>
    </dgm:pt>
    <dgm:pt modelId="{9255391C-D56B-8140-AE2C-F7F8797C09D2}" type="sibTrans" cxnId="{F606DFAC-8E91-4E4B-A0AF-46EF0B70E20C}">
      <dgm:prSet/>
      <dgm:spPr/>
      <dgm:t>
        <a:bodyPr/>
        <a:lstStyle/>
        <a:p>
          <a:endParaRPr lang="en-US"/>
        </a:p>
      </dgm:t>
    </dgm:pt>
    <dgm:pt modelId="{8FB640EF-4ECE-E642-A7BE-A49C8BCEE821}">
      <dgm:prSet/>
      <dgm:spPr/>
      <dgm:t>
        <a:bodyPr/>
        <a:lstStyle/>
        <a:p>
          <a:r>
            <a:rPr lang="en-US" dirty="0"/>
            <a:t>#2 Play with Samples </a:t>
          </a:r>
        </a:p>
      </dgm:t>
    </dgm:pt>
    <dgm:pt modelId="{F367F3FE-A4C7-DC40-BE2E-36295C31DDA7}" type="parTrans" cxnId="{A3F51BAA-45C2-E54D-8618-D18F5338B8AC}">
      <dgm:prSet/>
      <dgm:spPr/>
      <dgm:t>
        <a:bodyPr/>
        <a:lstStyle/>
        <a:p>
          <a:endParaRPr lang="en-US"/>
        </a:p>
      </dgm:t>
    </dgm:pt>
    <dgm:pt modelId="{09EC3BE7-210F-BC49-8AD0-F021E0510A8D}" type="sibTrans" cxnId="{A3F51BAA-45C2-E54D-8618-D18F5338B8AC}">
      <dgm:prSet/>
      <dgm:spPr/>
      <dgm:t>
        <a:bodyPr/>
        <a:lstStyle/>
        <a:p>
          <a:endParaRPr lang="en-US"/>
        </a:p>
      </dgm:t>
    </dgm:pt>
    <dgm:pt modelId="{72979B70-A13A-EA4E-B5AF-A54526802974}">
      <dgm:prSet/>
      <dgm:spPr/>
      <dgm:t>
        <a:bodyPr/>
        <a:lstStyle/>
        <a:p>
          <a:r>
            <a:rPr lang="en-US" dirty="0"/>
            <a:t>#3 Hyper Parameter Tuning </a:t>
          </a:r>
        </a:p>
      </dgm:t>
    </dgm:pt>
    <dgm:pt modelId="{B6C4F7B7-A335-AF40-86B3-EFB900F56317}" type="parTrans" cxnId="{469E2794-6C9E-5347-B7B0-18C1FBD3CBC2}">
      <dgm:prSet/>
      <dgm:spPr/>
      <dgm:t>
        <a:bodyPr/>
        <a:lstStyle/>
        <a:p>
          <a:endParaRPr lang="en-US"/>
        </a:p>
      </dgm:t>
    </dgm:pt>
    <dgm:pt modelId="{3278EE35-792A-384E-ABC6-E30434F936F8}" type="sibTrans" cxnId="{469E2794-6C9E-5347-B7B0-18C1FBD3CBC2}">
      <dgm:prSet/>
      <dgm:spPr/>
      <dgm:t>
        <a:bodyPr/>
        <a:lstStyle/>
        <a:p>
          <a:endParaRPr lang="en-US"/>
        </a:p>
      </dgm:t>
    </dgm:pt>
    <dgm:pt modelId="{B8A1AD56-0EFF-E041-9F9B-3CCC7C6D5999}" type="pres">
      <dgm:prSet presAssocID="{B87F28BB-E538-4613-9218-F3A9A23C7837}" presName="linear" presStyleCnt="0">
        <dgm:presLayoutVars>
          <dgm:dir/>
          <dgm:animLvl val="lvl"/>
          <dgm:resizeHandles val="exact"/>
        </dgm:presLayoutVars>
      </dgm:prSet>
      <dgm:spPr/>
    </dgm:pt>
    <dgm:pt modelId="{388B2D42-44DE-234C-8861-C55700D816E6}" type="pres">
      <dgm:prSet presAssocID="{77F4C4AA-BC19-4A4B-BB48-2DFF28EC1C03}" presName="parentLin" presStyleCnt="0"/>
      <dgm:spPr/>
    </dgm:pt>
    <dgm:pt modelId="{95C91EA9-7321-1842-97BD-7EF6EB10F6DD}" type="pres">
      <dgm:prSet presAssocID="{77F4C4AA-BC19-4A4B-BB48-2DFF28EC1C03}" presName="parentLeftMargin" presStyleLbl="node1" presStyleIdx="0" presStyleCnt="3"/>
      <dgm:spPr/>
    </dgm:pt>
    <dgm:pt modelId="{4D9C4AA1-3CFB-944E-8736-71C05E9D96D8}" type="pres">
      <dgm:prSet presAssocID="{77F4C4AA-BC19-4A4B-BB48-2DFF28EC1C03}" presName="parentText" presStyleLbl="node1" presStyleIdx="0" presStyleCnt="3" custScaleX="111955">
        <dgm:presLayoutVars>
          <dgm:chMax val="0"/>
          <dgm:bulletEnabled val="1"/>
        </dgm:presLayoutVars>
      </dgm:prSet>
      <dgm:spPr/>
    </dgm:pt>
    <dgm:pt modelId="{60D7ADA3-89A7-084C-A898-E974D84620CA}" type="pres">
      <dgm:prSet presAssocID="{77F4C4AA-BC19-4A4B-BB48-2DFF28EC1C03}" presName="negativeSpace" presStyleCnt="0"/>
      <dgm:spPr/>
    </dgm:pt>
    <dgm:pt modelId="{13A95C5A-53A4-074F-9420-71F3D0DA43CF}" type="pres">
      <dgm:prSet presAssocID="{77F4C4AA-BC19-4A4B-BB48-2DFF28EC1C03}" presName="childText" presStyleLbl="conFgAcc1" presStyleIdx="0" presStyleCnt="3">
        <dgm:presLayoutVars>
          <dgm:bulletEnabled val="1"/>
        </dgm:presLayoutVars>
      </dgm:prSet>
      <dgm:spPr/>
    </dgm:pt>
    <dgm:pt modelId="{FF33F4C5-79BD-2449-9BDF-9EC863B9DA93}" type="pres">
      <dgm:prSet presAssocID="{9255391C-D56B-8140-AE2C-F7F8797C09D2}" presName="spaceBetweenRectangles" presStyleCnt="0"/>
      <dgm:spPr/>
    </dgm:pt>
    <dgm:pt modelId="{AC689A27-7B6F-1549-A38B-24E7556BCBAA}" type="pres">
      <dgm:prSet presAssocID="{8FB640EF-4ECE-E642-A7BE-A49C8BCEE821}" presName="parentLin" presStyleCnt="0"/>
      <dgm:spPr/>
    </dgm:pt>
    <dgm:pt modelId="{C7FE3F37-8DD7-B547-B8BF-F762A2EE72DD}" type="pres">
      <dgm:prSet presAssocID="{8FB640EF-4ECE-E642-A7BE-A49C8BCEE821}" presName="parentLeftMargin" presStyleLbl="node1" presStyleIdx="0" presStyleCnt="3"/>
      <dgm:spPr/>
    </dgm:pt>
    <dgm:pt modelId="{AC610B4D-9A27-D14D-A6AF-037B8485659B}" type="pres">
      <dgm:prSet presAssocID="{8FB640EF-4ECE-E642-A7BE-A49C8BCEE821}" presName="parentText" presStyleLbl="node1" presStyleIdx="1" presStyleCnt="3" custScaleX="119231">
        <dgm:presLayoutVars>
          <dgm:chMax val="0"/>
          <dgm:bulletEnabled val="1"/>
        </dgm:presLayoutVars>
      </dgm:prSet>
      <dgm:spPr/>
    </dgm:pt>
    <dgm:pt modelId="{4DAE6D2C-C200-5343-B945-ED05753214BF}" type="pres">
      <dgm:prSet presAssocID="{8FB640EF-4ECE-E642-A7BE-A49C8BCEE821}" presName="negativeSpace" presStyleCnt="0"/>
      <dgm:spPr/>
    </dgm:pt>
    <dgm:pt modelId="{83DEC2EF-C027-1C4B-9750-BAAFF7CEEAF8}" type="pres">
      <dgm:prSet presAssocID="{8FB640EF-4ECE-E642-A7BE-A49C8BCEE821}" presName="childText" presStyleLbl="conFgAcc1" presStyleIdx="1" presStyleCnt="3">
        <dgm:presLayoutVars>
          <dgm:bulletEnabled val="1"/>
        </dgm:presLayoutVars>
      </dgm:prSet>
      <dgm:spPr/>
    </dgm:pt>
    <dgm:pt modelId="{E893038B-3BF5-1E4F-A04A-9EC7D95CED28}" type="pres">
      <dgm:prSet presAssocID="{09EC3BE7-210F-BC49-8AD0-F021E0510A8D}" presName="spaceBetweenRectangles" presStyleCnt="0"/>
      <dgm:spPr/>
    </dgm:pt>
    <dgm:pt modelId="{AE3AB2BB-5D19-8445-9DAF-341DEFD981E3}" type="pres">
      <dgm:prSet presAssocID="{72979B70-A13A-EA4E-B5AF-A54526802974}" presName="parentLin" presStyleCnt="0"/>
      <dgm:spPr/>
    </dgm:pt>
    <dgm:pt modelId="{7A71A3C6-33D9-EE4F-A537-F5C8B9E82AA2}" type="pres">
      <dgm:prSet presAssocID="{72979B70-A13A-EA4E-B5AF-A54526802974}" presName="parentLeftMargin" presStyleLbl="node1" presStyleIdx="1" presStyleCnt="3"/>
      <dgm:spPr/>
    </dgm:pt>
    <dgm:pt modelId="{0FECB4C8-40B0-BF4C-9163-3B8A0C7A3FD9}" type="pres">
      <dgm:prSet presAssocID="{72979B70-A13A-EA4E-B5AF-A54526802974}" presName="parentText" presStyleLbl="node1" presStyleIdx="2" presStyleCnt="3" custScaleX="124568">
        <dgm:presLayoutVars>
          <dgm:chMax val="0"/>
          <dgm:bulletEnabled val="1"/>
        </dgm:presLayoutVars>
      </dgm:prSet>
      <dgm:spPr/>
    </dgm:pt>
    <dgm:pt modelId="{8A4D46EC-B53E-CC42-978F-30B6D5676250}" type="pres">
      <dgm:prSet presAssocID="{72979B70-A13A-EA4E-B5AF-A54526802974}" presName="negativeSpace" presStyleCnt="0"/>
      <dgm:spPr/>
    </dgm:pt>
    <dgm:pt modelId="{E0361C2C-647E-4F4A-B716-0AE9C3C5A8AE}" type="pres">
      <dgm:prSet presAssocID="{72979B70-A13A-EA4E-B5AF-A54526802974}" presName="childText" presStyleLbl="conFgAcc1" presStyleIdx="2" presStyleCnt="3">
        <dgm:presLayoutVars>
          <dgm:bulletEnabled val="1"/>
        </dgm:presLayoutVars>
      </dgm:prSet>
      <dgm:spPr/>
    </dgm:pt>
  </dgm:ptLst>
  <dgm:cxnLst>
    <dgm:cxn modelId="{FEA0900D-1692-F34B-9AE0-6449F7FCEAFC}" type="presOf" srcId="{B87F28BB-E538-4613-9218-F3A9A23C7837}" destId="{B8A1AD56-0EFF-E041-9F9B-3CCC7C6D5999}" srcOrd="0" destOrd="0" presId="urn:microsoft.com/office/officeart/2005/8/layout/list1"/>
    <dgm:cxn modelId="{2FA0FB1E-4854-B049-B4C9-9C2444ABC186}" type="presOf" srcId="{77F4C4AA-BC19-4A4B-BB48-2DFF28EC1C03}" destId="{95C91EA9-7321-1842-97BD-7EF6EB10F6DD}" srcOrd="0" destOrd="0" presId="urn:microsoft.com/office/officeart/2005/8/layout/list1"/>
    <dgm:cxn modelId="{E85DEB5B-F6FF-4A28-9920-5D8B908C1FD7}" srcId="{8FB640EF-4ECE-E642-A7BE-A49C8BCEE821}" destId="{BACEB445-91F9-4401-B0AC-E2E64BC8065A}" srcOrd="2" destOrd="0" parTransId="{F713814D-DDDE-47E1-A14C-A98E8CEF724F}" sibTransId="{17231C91-2A55-4F68-8360-9E51EE106F97}"/>
    <dgm:cxn modelId="{8DCD8262-616D-804A-8A16-660103C96607}" type="presOf" srcId="{8FB640EF-4ECE-E642-A7BE-A49C8BCEE821}" destId="{C7FE3F37-8DD7-B547-B8BF-F762A2EE72DD}" srcOrd="0" destOrd="0" presId="urn:microsoft.com/office/officeart/2005/8/layout/list1"/>
    <dgm:cxn modelId="{CF406E75-5C28-1A42-92EB-62E08A1C31C4}" type="presOf" srcId="{72979B70-A13A-EA4E-B5AF-A54526802974}" destId="{0FECB4C8-40B0-BF4C-9163-3B8A0C7A3FD9}" srcOrd="1" destOrd="0" presId="urn:microsoft.com/office/officeart/2005/8/layout/list1"/>
    <dgm:cxn modelId="{F0E83590-0C3A-A94C-8A1E-1BA6165C9EEF}" type="presOf" srcId="{BACEB445-91F9-4401-B0AC-E2E64BC8065A}" destId="{83DEC2EF-C027-1C4B-9750-BAAFF7CEEAF8}" srcOrd="0" destOrd="2" presId="urn:microsoft.com/office/officeart/2005/8/layout/list1"/>
    <dgm:cxn modelId="{469E2794-6C9E-5347-B7B0-18C1FBD3CBC2}" srcId="{B87F28BB-E538-4613-9218-F3A9A23C7837}" destId="{72979B70-A13A-EA4E-B5AF-A54526802974}" srcOrd="2" destOrd="0" parTransId="{B6C4F7B7-A335-AF40-86B3-EFB900F56317}" sibTransId="{3278EE35-792A-384E-ABC6-E30434F936F8}"/>
    <dgm:cxn modelId="{3C506498-0920-4B46-9CB1-267F3ABB7126}" type="presOf" srcId="{FA877B9B-E34E-42DC-BE55-6C74C9974633}" destId="{83DEC2EF-C027-1C4B-9750-BAAFF7CEEAF8}" srcOrd="0" destOrd="0" presId="urn:microsoft.com/office/officeart/2005/8/layout/list1"/>
    <dgm:cxn modelId="{A3F51BAA-45C2-E54D-8618-D18F5338B8AC}" srcId="{B87F28BB-E538-4613-9218-F3A9A23C7837}" destId="{8FB640EF-4ECE-E642-A7BE-A49C8BCEE821}" srcOrd="1" destOrd="0" parTransId="{F367F3FE-A4C7-DC40-BE2E-36295C31DDA7}" sibTransId="{09EC3BE7-210F-BC49-8AD0-F021E0510A8D}"/>
    <dgm:cxn modelId="{3CC65AAB-EF41-0E4C-9783-AB502925F3C7}" type="presOf" srcId="{72979B70-A13A-EA4E-B5AF-A54526802974}" destId="{7A71A3C6-33D9-EE4F-A537-F5C8B9E82AA2}" srcOrd="0" destOrd="0" presId="urn:microsoft.com/office/officeart/2005/8/layout/list1"/>
    <dgm:cxn modelId="{F606DFAC-8E91-4E4B-A0AF-46EF0B70E20C}" srcId="{B87F28BB-E538-4613-9218-F3A9A23C7837}" destId="{77F4C4AA-BC19-4A4B-BB48-2DFF28EC1C03}" srcOrd="0" destOrd="0" parTransId="{55D73A7C-7435-DC44-8F38-3B69927DF220}" sibTransId="{9255391C-D56B-8140-AE2C-F7F8797C09D2}"/>
    <dgm:cxn modelId="{FB1F5CBC-3315-F348-9A91-96F439D0C906}" type="presOf" srcId="{11E64CBD-C996-4427-AD9A-41C5E00C5441}" destId="{83DEC2EF-C027-1C4B-9750-BAAFF7CEEAF8}" srcOrd="0" destOrd="1" presId="urn:microsoft.com/office/officeart/2005/8/layout/list1"/>
    <dgm:cxn modelId="{A590F8BD-88FA-44C7-904D-E7E346A0AC50}" srcId="{8FB640EF-4ECE-E642-A7BE-A49C8BCEE821}" destId="{11E64CBD-C996-4427-AD9A-41C5E00C5441}" srcOrd="1" destOrd="0" parTransId="{5D213C49-1DF5-484D-A083-62074447ACBC}" sibTransId="{32D64188-EDF3-4BD2-9D08-A7F0AE123F7B}"/>
    <dgm:cxn modelId="{BFF9ABEB-A5F7-7A40-9F1C-EF7F112833A3}" type="presOf" srcId="{8FB640EF-4ECE-E642-A7BE-A49C8BCEE821}" destId="{AC610B4D-9A27-D14D-A6AF-037B8485659B}" srcOrd="1" destOrd="0" presId="urn:microsoft.com/office/officeart/2005/8/layout/list1"/>
    <dgm:cxn modelId="{003916F9-BC51-4584-85E7-665409B1136C}" srcId="{8FB640EF-4ECE-E642-A7BE-A49C8BCEE821}" destId="{FA877B9B-E34E-42DC-BE55-6C74C9974633}" srcOrd="0" destOrd="0" parTransId="{CCA05C0E-1990-43A7-BD70-8501F79FDEE3}" sibTransId="{A824EFB2-B9BF-45D1-B83E-CD0871667AF4}"/>
    <dgm:cxn modelId="{614F1DFD-0A7E-664F-9B9D-71E7315D7704}" type="presOf" srcId="{77F4C4AA-BC19-4A4B-BB48-2DFF28EC1C03}" destId="{4D9C4AA1-3CFB-944E-8736-71C05E9D96D8}" srcOrd="1" destOrd="0" presId="urn:microsoft.com/office/officeart/2005/8/layout/list1"/>
    <dgm:cxn modelId="{9E8EAC31-6D23-5D48-816F-82D708BE35C2}" type="presParOf" srcId="{B8A1AD56-0EFF-E041-9F9B-3CCC7C6D5999}" destId="{388B2D42-44DE-234C-8861-C55700D816E6}" srcOrd="0" destOrd="0" presId="urn:microsoft.com/office/officeart/2005/8/layout/list1"/>
    <dgm:cxn modelId="{A535D6C7-94F9-7645-BCEA-DC8FAD9B37FF}" type="presParOf" srcId="{388B2D42-44DE-234C-8861-C55700D816E6}" destId="{95C91EA9-7321-1842-97BD-7EF6EB10F6DD}" srcOrd="0" destOrd="0" presId="urn:microsoft.com/office/officeart/2005/8/layout/list1"/>
    <dgm:cxn modelId="{8817A553-C45A-FE43-A199-8F7CE0BD83E9}" type="presParOf" srcId="{388B2D42-44DE-234C-8861-C55700D816E6}" destId="{4D9C4AA1-3CFB-944E-8736-71C05E9D96D8}" srcOrd="1" destOrd="0" presId="urn:microsoft.com/office/officeart/2005/8/layout/list1"/>
    <dgm:cxn modelId="{975EA412-5E52-2945-A72D-A8F75DCA9BFD}" type="presParOf" srcId="{B8A1AD56-0EFF-E041-9F9B-3CCC7C6D5999}" destId="{60D7ADA3-89A7-084C-A898-E974D84620CA}" srcOrd="1" destOrd="0" presId="urn:microsoft.com/office/officeart/2005/8/layout/list1"/>
    <dgm:cxn modelId="{37D34ED7-8B15-5640-84E7-15722555C64B}" type="presParOf" srcId="{B8A1AD56-0EFF-E041-9F9B-3CCC7C6D5999}" destId="{13A95C5A-53A4-074F-9420-71F3D0DA43CF}" srcOrd="2" destOrd="0" presId="urn:microsoft.com/office/officeart/2005/8/layout/list1"/>
    <dgm:cxn modelId="{A334C180-54DB-DD48-80A9-203D9E646C75}" type="presParOf" srcId="{B8A1AD56-0EFF-E041-9F9B-3CCC7C6D5999}" destId="{FF33F4C5-79BD-2449-9BDF-9EC863B9DA93}" srcOrd="3" destOrd="0" presId="urn:microsoft.com/office/officeart/2005/8/layout/list1"/>
    <dgm:cxn modelId="{CB8FA162-BE64-424B-A71C-8D8A25DB7624}" type="presParOf" srcId="{B8A1AD56-0EFF-E041-9F9B-3CCC7C6D5999}" destId="{AC689A27-7B6F-1549-A38B-24E7556BCBAA}" srcOrd="4" destOrd="0" presId="urn:microsoft.com/office/officeart/2005/8/layout/list1"/>
    <dgm:cxn modelId="{3291ACC9-A3C6-0A44-9DCF-2290463AB978}" type="presParOf" srcId="{AC689A27-7B6F-1549-A38B-24E7556BCBAA}" destId="{C7FE3F37-8DD7-B547-B8BF-F762A2EE72DD}" srcOrd="0" destOrd="0" presId="urn:microsoft.com/office/officeart/2005/8/layout/list1"/>
    <dgm:cxn modelId="{085CDAF2-84D4-684F-934D-4D720C94633D}" type="presParOf" srcId="{AC689A27-7B6F-1549-A38B-24E7556BCBAA}" destId="{AC610B4D-9A27-D14D-A6AF-037B8485659B}" srcOrd="1" destOrd="0" presId="urn:microsoft.com/office/officeart/2005/8/layout/list1"/>
    <dgm:cxn modelId="{7B59CEE2-BA81-5D43-BD22-B250EA979E29}" type="presParOf" srcId="{B8A1AD56-0EFF-E041-9F9B-3CCC7C6D5999}" destId="{4DAE6D2C-C200-5343-B945-ED05753214BF}" srcOrd="5" destOrd="0" presId="urn:microsoft.com/office/officeart/2005/8/layout/list1"/>
    <dgm:cxn modelId="{3A500AFD-3BD0-214F-A45E-2E0B0D1B0081}" type="presParOf" srcId="{B8A1AD56-0EFF-E041-9F9B-3CCC7C6D5999}" destId="{83DEC2EF-C027-1C4B-9750-BAAFF7CEEAF8}" srcOrd="6" destOrd="0" presId="urn:microsoft.com/office/officeart/2005/8/layout/list1"/>
    <dgm:cxn modelId="{FCB3FA05-5B74-894C-9AAA-1069F9E07DB9}" type="presParOf" srcId="{B8A1AD56-0EFF-E041-9F9B-3CCC7C6D5999}" destId="{E893038B-3BF5-1E4F-A04A-9EC7D95CED28}" srcOrd="7" destOrd="0" presId="urn:microsoft.com/office/officeart/2005/8/layout/list1"/>
    <dgm:cxn modelId="{AB11C43B-3551-4C46-94B0-B17CE6A0E2EE}" type="presParOf" srcId="{B8A1AD56-0EFF-E041-9F9B-3CCC7C6D5999}" destId="{AE3AB2BB-5D19-8445-9DAF-341DEFD981E3}" srcOrd="8" destOrd="0" presId="urn:microsoft.com/office/officeart/2005/8/layout/list1"/>
    <dgm:cxn modelId="{99254C27-9808-2841-BEE6-E1E35705384B}" type="presParOf" srcId="{AE3AB2BB-5D19-8445-9DAF-341DEFD981E3}" destId="{7A71A3C6-33D9-EE4F-A537-F5C8B9E82AA2}" srcOrd="0" destOrd="0" presId="urn:microsoft.com/office/officeart/2005/8/layout/list1"/>
    <dgm:cxn modelId="{AEAA4F76-69AF-C64C-93D8-AA5B51B81A69}" type="presParOf" srcId="{AE3AB2BB-5D19-8445-9DAF-341DEFD981E3}" destId="{0FECB4C8-40B0-BF4C-9163-3B8A0C7A3FD9}" srcOrd="1" destOrd="0" presId="urn:microsoft.com/office/officeart/2005/8/layout/list1"/>
    <dgm:cxn modelId="{295EAD96-C637-3440-A0C8-8B95D0EEAF57}" type="presParOf" srcId="{B8A1AD56-0EFF-E041-9F9B-3CCC7C6D5999}" destId="{8A4D46EC-B53E-CC42-978F-30B6D5676250}" srcOrd="9" destOrd="0" presId="urn:microsoft.com/office/officeart/2005/8/layout/list1"/>
    <dgm:cxn modelId="{18D9C10A-53B1-A740-8D27-38A4F922CD2D}" type="presParOf" srcId="{B8A1AD56-0EFF-E041-9F9B-3CCC7C6D5999}" destId="{E0361C2C-647E-4F4A-B716-0AE9C3C5A8AE}"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5A0E4F-CFFD-4590-B868-D1B1168B24A6}" type="doc">
      <dgm:prSet loTypeId="urn:microsoft.com/office/officeart/2005/8/layout/vProcess5" loCatId="process" qsTypeId="urn:microsoft.com/office/officeart/2005/8/quickstyle/simple2" qsCatId="simple" csTypeId="urn:microsoft.com/office/officeart/2005/8/colors/colorful1" csCatId="colorful" phldr="1"/>
      <dgm:spPr/>
      <dgm:t>
        <a:bodyPr/>
        <a:lstStyle/>
        <a:p>
          <a:endParaRPr lang="en-US"/>
        </a:p>
      </dgm:t>
    </dgm:pt>
    <dgm:pt modelId="{7E1F2522-B175-4E51-87B1-AF7C77EA93FD}">
      <dgm:prSet custT="1"/>
      <dgm:spPr/>
      <dgm:t>
        <a:bodyPr/>
        <a:lstStyle/>
        <a:p>
          <a:r>
            <a:rPr lang="en-US" sz="2200" dirty="0"/>
            <a:t>For each </a:t>
          </a:r>
          <a:r>
            <a:rPr lang="en-US" sz="2200" b="1" u="sng" dirty="0"/>
            <a:t>instance in the minority class</a:t>
          </a:r>
          <a:r>
            <a:rPr lang="en-US" sz="2200" dirty="0"/>
            <a:t>, SMOTE finds its </a:t>
          </a:r>
          <a:r>
            <a:rPr lang="en-US" sz="2200" b="1" i="1" dirty="0"/>
            <a:t>k nearest neighbors</a:t>
          </a:r>
          <a:r>
            <a:rPr lang="en-US" sz="2200" dirty="0"/>
            <a:t> in the </a:t>
          </a:r>
          <a:r>
            <a:rPr lang="en-US" sz="2800" b="1" dirty="0">
              <a:solidFill>
                <a:schemeClr val="bg2">
                  <a:lumMod val="75000"/>
                </a:schemeClr>
              </a:solidFill>
            </a:rPr>
            <a:t>minority class</a:t>
          </a:r>
          <a:r>
            <a:rPr lang="en-US" sz="2200" dirty="0"/>
            <a:t>.</a:t>
          </a:r>
        </a:p>
      </dgm:t>
    </dgm:pt>
    <dgm:pt modelId="{4B49A60D-CB13-4E00-8435-3FA12010CF60}" type="parTrans" cxnId="{680B49F4-AC58-4EF4-A0AC-9570DA56663B}">
      <dgm:prSet/>
      <dgm:spPr/>
      <dgm:t>
        <a:bodyPr/>
        <a:lstStyle/>
        <a:p>
          <a:endParaRPr lang="en-US"/>
        </a:p>
      </dgm:t>
    </dgm:pt>
    <dgm:pt modelId="{42417A08-7716-416A-B9E8-55C6D9A8BD18}" type="sibTrans" cxnId="{680B49F4-AC58-4EF4-A0AC-9570DA56663B}">
      <dgm:prSet/>
      <dgm:spPr/>
      <dgm:t>
        <a:bodyPr/>
        <a:lstStyle/>
        <a:p>
          <a:endParaRPr lang="en-US"/>
        </a:p>
      </dgm:t>
    </dgm:pt>
    <dgm:pt modelId="{79CA070E-01F4-424F-8A83-32C217B6598F}">
      <dgm:prSet/>
      <dgm:spPr/>
      <dgm:t>
        <a:bodyPr/>
        <a:lstStyle/>
        <a:p>
          <a:r>
            <a:rPr lang="en-US" dirty="0"/>
            <a:t>A synthetic record is then created by choosing </a:t>
          </a:r>
          <a:r>
            <a:rPr lang="en-US" b="1" u="none" dirty="0">
              <a:solidFill>
                <a:schemeClr val="bg2">
                  <a:lumMod val="75000"/>
                </a:schemeClr>
              </a:solidFill>
            </a:rPr>
            <a:t>one of the k nearest neighbors</a:t>
          </a:r>
          <a:r>
            <a:rPr lang="en-US" dirty="0"/>
            <a:t> and connecting the line segment between the instance and its neighbor.</a:t>
          </a:r>
        </a:p>
      </dgm:t>
    </dgm:pt>
    <dgm:pt modelId="{BDD365EB-9B9E-4BA5-8264-9BB4627C4906}" type="parTrans" cxnId="{F42CB0D7-9C59-4059-8DE8-815238ABAD95}">
      <dgm:prSet/>
      <dgm:spPr/>
      <dgm:t>
        <a:bodyPr/>
        <a:lstStyle/>
        <a:p>
          <a:endParaRPr lang="en-US"/>
        </a:p>
      </dgm:t>
    </dgm:pt>
    <dgm:pt modelId="{9C8F6F72-D19F-4F82-B948-E2B496F3E20D}" type="sibTrans" cxnId="{F42CB0D7-9C59-4059-8DE8-815238ABAD95}">
      <dgm:prSet/>
      <dgm:spPr/>
      <dgm:t>
        <a:bodyPr/>
        <a:lstStyle/>
        <a:p>
          <a:endParaRPr lang="en-US"/>
        </a:p>
      </dgm:t>
    </dgm:pt>
    <dgm:pt modelId="{3B95F715-8C9F-431E-9DD4-D5E0585F8E78}">
      <dgm:prSet/>
      <dgm:spPr/>
      <dgm:t>
        <a:bodyPr/>
        <a:lstStyle/>
        <a:p>
          <a:r>
            <a:rPr lang="en-US" dirty="0"/>
            <a:t>The synthetic instance is generated as a point along this line, typically based on a randomly chosen weight, thereby producing a sample that is similar but not identical to existing instances.</a:t>
          </a:r>
        </a:p>
      </dgm:t>
    </dgm:pt>
    <dgm:pt modelId="{216FE145-30F2-4F19-A620-DA6D03E8B6FB}" type="parTrans" cxnId="{B6087798-B3FD-4D70-AD38-FA2659AACE37}">
      <dgm:prSet/>
      <dgm:spPr/>
      <dgm:t>
        <a:bodyPr/>
        <a:lstStyle/>
        <a:p>
          <a:endParaRPr lang="en-US"/>
        </a:p>
      </dgm:t>
    </dgm:pt>
    <dgm:pt modelId="{16334C12-46A3-401D-9DE6-96A91EA7798B}" type="sibTrans" cxnId="{B6087798-B3FD-4D70-AD38-FA2659AACE37}">
      <dgm:prSet/>
      <dgm:spPr/>
      <dgm:t>
        <a:bodyPr/>
        <a:lstStyle/>
        <a:p>
          <a:endParaRPr lang="en-US"/>
        </a:p>
      </dgm:t>
    </dgm:pt>
    <dgm:pt modelId="{FAAF8A7B-08ED-B54B-ADCF-8129AAEEFDE1}" type="pres">
      <dgm:prSet presAssocID="{485A0E4F-CFFD-4590-B868-D1B1168B24A6}" presName="outerComposite" presStyleCnt="0">
        <dgm:presLayoutVars>
          <dgm:chMax val="5"/>
          <dgm:dir/>
          <dgm:resizeHandles val="exact"/>
        </dgm:presLayoutVars>
      </dgm:prSet>
      <dgm:spPr/>
    </dgm:pt>
    <dgm:pt modelId="{3E5B1C43-3598-D74F-ACEE-33556F821BD6}" type="pres">
      <dgm:prSet presAssocID="{485A0E4F-CFFD-4590-B868-D1B1168B24A6}" presName="dummyMaxCanvas" presStyleCnt="0">
        <dgm:presLayoutVars/>
      </dgm:prSet>
      <dgm:spPr/>
    </dgm:pt>
    <dgm:pt modelId="{99A5CA03-AC8C-5E46-8EA7-D95111AAEB1F}" type="pres">
      <dgm:prSet presAssocID="{485A0E4F-CFFD-4590-B868-D1B1168B24A6}" presName="ThreeNodes_1" presStyleLbl="node1" presStyleIdx="0" presStyleCnt="3">
        <dgm:presLayoutVars>
          <dgm:bulletEnabled val="1"/>
        </dgm:presLayoutVars>
      </dgm:prSet>
      <dgm:spPr/>
    </dgm:pt>
    <dgm:pt modelId="{AA2CA84D-D3A6-C840-AECC-6401339CB16E}" type="pres">
      <dgm:prSet presAssocID="{485A0E4F-CFFD-4590-B868-D1B1168B24A6}" presName="ThreeNodes_2" presStyleLbl="node1" presStyleIdx="1" presStyleCnt="3">
        <dgm:presLayoutVars>
          <dgm:bulletEnabled val="1"/>
        </dgm:presLayoutVars>
      </dgm:prSet>
      <dgm:spPr/>
    </dgm:pt>
    <dgm:pt modelId="{68B19311-E868-9847-962A-D4F85EECD69F}" type="pres">
      <dgm:prSet presAssocID="{485A0E4F-CFFD-4590-B868-D1B1168B24A6}" presName="ThreeNodes_3" presStyleLbl="node1" presStyleIdx="2" presStyleCnt="3">
        <dgm:presLayoutVars>
          <dgm:bulletEnabled val="1"/>
        </dgm:presLayoutVars>
      </dgm:prSet>
      <dgm:spPr/>
    </dgm:pt>
    <dgm:pt modelId="{B77CB28A-BB6C-5B42-A74A-3516E58E4E7E}" type="pres">
      <dgm:prSet presAssocID="{485A0E4F-CFFD-4590-B868-D1B1168B24A6}" presName="ThreeConn_1-2" presStyleLbl="fgAccFollowNode1" presStyleIdx="0" presStyleCnt="2">
        <dgm:presLayoutVars>
          <dgm:bulletEnabled val="1"/>
        </dgm:presLayoutVars>
      </dgm:prSet>
      <dgm:spPr/>
    </dgm:pt>
    <dgm:pt modelId="{108AFE59-EB7A-0545-975C-736084F2B582}" type="pres">
      <dgm:prSet presAssocID="{485A0E4F-CFFD-4590-B868-D1B1168B24A6}" presName="ThreeConn_2-3" presStyleLbl="fgAccFollowNode1" presStyleIdx="1" presStyleCnt="2">
        <dgm:presLayoutVars>
          <dgm:bulletEnabled val="1"/>
        </dgm:presLayoutVars>
      </dgm:prSet>
      <dgm:spPr/>
    </dgm:pt>
    <dgm:pt modelId="{D3B31A0F-AFB2-3B4E-9B06-F46B6C6F99B8}" type="pres">
      <dgm:prSet presAssocID="{485A0E4F-CFFD-4590-B868-D1B1168B24A6}" presName="ThreeNodes_1_text" presStyleLbl="node1" presStyleIdx="2" presStyleCnt="3">
        <dgm:presLayoutVars>
          <dgm:bulletEnabled val="1"/>
        </dgm:presLayoutVars>
      </dgm:prSet>
      <dgm:spPr/>
    </dgm:pt>
    <dgm:pt modelId="{6CCA9913-7CF1-594C-A667-B7DCB7CCCB58}" type="pres">
      <dgm:prSet presAssocID="{485A0E4F-CFFD-4590-B868-D1B1168B24A6}" presName="ThreeNodes_2_text" presStyleLbl="node1" presStyleIdx="2" presStyleCnt="3">
        <dgm:presLayoutVars>
          <dgm:bulletEnabled val="1"/>
        </dgm:presLayoutVars>
      </dgm:prSet>
      <dgm:spPr/>
    </dgm:pt>
    <dgm:pt modelId="{42201E5E-F73D-BB49-8269-E9F2A5F04CDF}" type="pres">
      <dgm:prSet presAssocID="{485A0E4F-CFFD-4590-B868-D1B1168B24A6}" presName="ThreeNodes_3_text" presStyleLbl="node1" presStyleIdx="2" presStyleCnt="3">
        <dgm:presLayoutVars>
          <dgm:bulletEnabled val="1"/>
        </dgm:presLayoutVars>
      </dgm:prSet>
      <dgm:spPr/>
    </dgm:pt>
  </dgm:ptLst>
  <dgm:cxnLst>
    <dgm:cxn modelId="{12718812-9708-F34F-99EF-800626DEC4DF}" type="presOf" srcId="{9C8F6F72-D19F-4F82-B948-E2B496F3E20D}" destId="{108AFE59-EB7A-0545-975C-736084F2B582}" srcOrd="0" destOrd="0" presId="urn:microsoft.com/office/officeart/2005/8/layout/vProcess5"/>
    <dgm:cxn modelId="{591DE31C-BA87-B64E-8EAD-A81BD1089C99}" type="presOf" srcId="{79CA070E-01F4-424F-8A83-32C217B6598F}" destId="{AA2CA84D-D3A6-C840-AECC-6401339CB16E}" srcOrd="0" destOrd="0" presId="urn:microsoft.com/office/officeart/2005/8/layout/vProcess5"/>
    <dgm:cxn modelId="{2204A05C-90FA-EE40-8CBC-D1684E3349CF}" type="presOf" srcId="{3B95F715-8C9F-431E-9DD4-D5E0585F8E78}" destId="{42201E5E-F73D-BB49-8269-E9F2A5F04CDF}" srcOrd="1" destOrd="0" presId="urn:microsoft.com/office/officeart/2005/8/layout/vProcess5"/>
    <dgm:cxn modelId="{C3C48860-D561-B946-A7A1-7A5E640A47F8}" type="presOf" srcId="{79CA070E-01F4-424F-8A83-32C217B6598F}" destId="{6CCA9913-7CF1-594C-A667-B7DCB7CCCB58}" srcOrd="1" destOrd="0" presId="urn:microsoft.com/office/officeart/2005/8/layout/vProcess5"/>
    <dgm:cxn modelId="{32F4338F-F82F-CD4F-BFF2-A2676A8A6DA4}" type="presOf" srcId="{7E1F2522-B175-4E51-87B1-AF7C77EA93FD}" destId="{D3B31A0F-AFB2-3B4E-9B06-F46B6C6F99B8}" srcOrd="1" destOrd="0" presId="urn:microsoft.com/office/officeart/2005/8/layout/vProcess5"/>
    <dgm:cxn modelId="{B6087798-B3FD-4D70-AD38-FA2659AACE37}" srcId="{485A0E4F-CFFD-4590-B868-D1B1168B24A6}" destId="{3B95F715-8C9F-431E-9DD4-D5E0585F8E78}" srcOrd="2" destOrd="0" parTransId="{216FE145-30F2-4F19-A620-DA6D03E8B6FB}" sibTransId="{16334C12-46A3-401D-9DE6-96A91EA7798B}"/>
    <dgm:cxn modelId="{2DE172A4-FEC9-9941-B7A5-CA891B9FFE5D}" type="presOf" srcId="{485A0E4F-CFFD-4590-B868-D1B1168B24A6}" destId="{FAAF8A7B-08ED-B54B-ADCF-8129AAEEFDE1}" srcOrd="0" destOrd="0" presId="urn:microsoft.com/office/officeart/2005/8/layout/vProcess5"/>
    <dgm:cxn modelId="{1F3371BB-3719-2C4B-82AC-79565088E5F4}" type="presOf" srcId="{7E1F2522-B175-4E51-87B1-AF7C77EA93FD}" destId="{99A5CA03-AC8C-5E46-8EA7-D95111AAEB1F}" srcOrd="0" destOrd="0" presId="urn:microsoft.com/office/officeart/2005/8/layout/vProcess5"/>
    <dgm:cxn modelId="{DFEAE7D5-BD70-964E-82ED-D9EA29BC4283}" type="presOf" srcId="{42417A08-7716-416A-B9E8-55C6D9A8BD18}" destId="{B77CB28A-BB6C-5B42-A74A-3516E58E4E7E}" srcOrd="0" destOrd="0" presId="urn:microsoft.com/office/officeart/2005/8/layout/vProcess5"/>
    <dgm:cxn modelId="{F42CB0D7-9C59-4059-8DE8-815238ABAD95}" srcId="{485A0E4F-CFFD-4590-B868-D1B1168B24A6}" destId="{79CA070E-01F4-424F-8A83-32C217B6598F}" srcOrd="1" destOrd="0" parTransId="{BDD365EB-9B9E-4BA5-8264-9BB4627C4906}" sibTransId="{9C8F6F72-D19F-4F82-B948-E2B496F3E20D}"/>
    <dgm:cxn modelId="{D04029E1-2CC6-EE45-9F34-8FF8DAA8D01D}" type="presOf" srcId="{3B95F715-8C9F-431E-9DD4-D5E0585F8E78}" destId="{68B19311-E868-9847-962A-D4F85EECD69F}" srcOrd="0" destOrd="0" presId="urn:microsoft.com/office/officeart/2005/8/layout/vProcess5"/>
    <dgm:cxn modelId="{680B49F4-AC58-4EF4-A0AC-9570DA56663B}" srcId="{485A0E4F-CFFD-4590-B868-D1B1168B24A6}" destId="{7E1F2522-B175-4E51-87B1-AF7C77EA93FD}" srcOrd="0" destOrd="0" parTransId="{4B49A60D-CB13-4E00-8435-3FA12010CF60}" sibTransId="{42417A08-7716-416A-B9E8-55C6D9A8BD18}"/>
    <dgm:cxn modelId="{EF57A2B8-E829-4547-B440-F5BE649700C3}" type="presParOf" srcId="{FAAF8A7B-08ED-B54B-ADCF-8129AAEEFDE1}" destId="{3E5B1C43-3598-D74F-ACEE-33556F821BD6}" srcOrd="0" destOrd="0" presId="urn:microsoft.com/office/officeart/2005/8/layout/vProcess5"/>
    <dgm:cxn modelId="{E67947A5-1102-4548-98BE-0FB1448BFA9E}" type="presParOf" srcId="{FAAF8A7B-08ED-B54B-ADCF-8129AAEEFDE1}" destId="{99A5CA03-AC8C-5E46-8EA7-D95111AAEB1F}" srcOrd="1" destOrd="0" presId="urn:microsoft.com/office/officeart/2005/8/layout/vProcess5"/>
    <dgm:cxn modelId="{C5B7E8B6-CCE5-804A-8915-0C253A32D935}" type="presParOf" srcId="{FAAF8A7B-08ED-B54B-ADCF-8129AAEEFDE1}" destId="{AA2CA84D-D3A6-C840-AECC-6401339CB16E}" srcOrd="2" destOrd="0" presId="urn:microsoft.com/office/officeart/2005/8/layout/vProcess5"/>
    <dgm:cxn modelId="{EFCD69FD-D280-C34F-9C60-EDEFAE2664E3}" type="presParOf" srcId="{FAAF8A7B-08ED-B54B-ADCF-8129AAEEFDE1}" destId="{68B19311-E868-9847-962A-D4F85EECD69F}" srcOrd="3" destOrd="0" presId="urn:microsoft.com/office/officeart/2005/8/layout/vProcess5"/>
    <dgm:cxn modelId="{5E77E3F2-DD3F-EB41-B0DE-B54B40CFA44C}" type="presParOf" srcId="{FAAF8A7B-08ED-B54B-ADCF-8129AAEEFDE1}" destId="{B77CB28A-BB6C-5B42-A74A-3516E58E4E7E}" srcOrd="4" destOrd="0" presId="urn:microsoft.com/office/officeart/2005/8/layout/vProcess5"/>
    <dgm:cxn modelId="{F3B5079E-F025-EB48-AAD4-F99E53F87B14}" type="presParOf" srcId="{FAAF8A7B-08ED-B54B-ADCF-8129AAEEFDE1}" destId="{108AFE59-EB7A-0545-975C-736084F2B582}" srcOrd="5" destOrd="0" presId="urn:microsoft.com/office/officeart/2005/8/layout/vProcess5"/>
    <dgm:cxn modelId="{B6F6BF02-BC0A-2747-ACB4-E3477FA5C6DE}" type="presParOf" srcId="{FAAF8A7B-08ED-B54B-ADCF-8129AAEEFDE1}" destId="{D3B31A0F-AFB2-3B4E-9B06-F46B6C6F99B8}" srcOrd="6" destOrd="0" presId="urn:microsoft.com/office/officeart/2005/8/layout/vProcess5"/>
    <dgm:cxn modelId="{7D7CAFC1-C3FA-F442-A374-DB57E45C1E07}" type="presParOf" srcId="{FAAF8A7B-08ED-B54B-ADCF-8129AAEEFDE1}" destId="{6CCA9913-7CF1-594C-A667-B7DCB7CCCB58}" srcOrd="7" destOrd="0" presId="urn:microsoft.com/office/officeart/2005/8/layout/vProcess5"/>
    <dgm:cxn modelId="{25CB5B6C-3AED-2B48-B638-CC1D08560C5A}" type="presParOf" srcId="{FAAF8A7B-08ED-B54B-ADCF-8129AAEEFDE1}" destId="{42201E5E-F73D-BB49-8269-E9F2A5F04CDF}"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15B4ED-C806-1C47-827C-4CF1BA1F4F2C}">
      <dsp:nvSpPr>
        <dsp:cNvPr id="0" name=""/>
        <dsp:cNvSpPr/>
      </dsp:nvSpPr>
      <dsp:spPr>
        <a:xfrm>
          <a:off x="0" y="587726"/>
          <a:ext cx="6129865" cy="655200"/>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2A1F03-1BAD-E64F-B6B2-54472F432193}">
      <dsp:nvSpPr>
        <dsp:cNvPr id="0" name=""/>
        <dsp:cNvSpPr/>
      </dsp:nvSpPr>
      <dsp:spPr>
        <a:xfrm>
          <a:off x="306493" y="203966"/>
          <a:ext cx="5495233" cy="7675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1155700">
            <a:lnSpc>
              <a:spcPct val="90000"/>
            </a:lnSpc>
            <a:spcBef>
              <a:spcPct val="0"/>
            </a:spcBef>
            <a:spcAft>
              <a:spcPct val="35000"/>
            </a:spcAft>
            <a:buNone/>
          </a:pPr>
          <a:r>
            <a:rPr lang="en-US" sz="2600" kern="1200"/>
            <a:t>Churn</a:t>
          </a:r>
        </a:p>
      </dsp:txBody>
      <dsp:txXfrm>
        <a:off x="343960" y="241433"/>
        <a:ext cx="5420299" cy="692586"/>
      </dsp:txXfrm>
    </dsp:sp>
    <dsp:sp modelId="{F393EF35-1B57-404C-B1FC-7ED6C073498D}">
      <dsp:nvSpPr>
        <dsp:cNvPr id="0" name=""/>
        <dsp:cNvSpPr/>
      </dsp:nvSpPr>
      <dsp:spPr>
        <a:xfrm>
          <a:off x="0" y="1767086"/>
          <a:ext cx="6129865" cy="1883699"/>
        </a:xfrm>
        <a:prstGeom prst="rect">
          <a:avLst/>
        </a:prstGeom>
        <a:solidFill>
          <a:schemeClr val="lt1">
            <a:alpha val="90000"/>
            <a:hueOff val="0"/>
            <a:satOff val="0"/>
            <a:lumOff val="0"/>
            <a:alphaOff val="0"/>
          </a:schemeClr>
        </a:solidFill>
        <a:ln w="25400" cap="flat" cmpd="sng" algn="ctr">
          <a:solidFill>
            <a:schemeClr val="accent2">
              <a:hueOff val="-6136140"/>
              <a:satOff val="13536"/>
              <a:lumOff val="98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5746" tIns="541528" rIns="475746" bIns="184912" numCol="1" spcCol="1270" anchor="t" anchorCtr="0">
          <a:noAutofit/>
        </a:bodyPr>
        <a:lstStyle/>
        <a:p>
          <a:pPr marL="228600" lvl="1" indent="-228600" algn="l" defTabSz="1155700">
            <a:lnSpc>
              <a:spcPct val="90000"/>
            </a:lnSpc>
            <a:spcBef>
              <a:spcPct val="0"/>
            </a:spcBef>
            <a:spcAft>
              <a:spcPct val="15000"/>
            </a:spcAft>
            <a:buChar char="•"/>
          </a:pPr>
          <a:r>
            <a:rPr lang="en-US" sz="2600" kern="1200"/>
            <a:t>Feature Engineering </a:t>
          </a:r>
        </a:p>
        <a:p>
          <a:pPr marL="228600" lvl="1" indent="-228600" algn="l" defTabSz="1155700">
            <a:lnSpc>
              <a:spcPct val="90000"/>
            </a:lnSpc>
            <a:spcBef>
              <a:spcPct val="0"/>
            </a:spcBef>
            <a:spcAft>
              <a:spcPct val="15000"/>
            </a:spcAft>
            <a:buChar char="•"/>
          </a:pPr>
          <a:r>
            <a:rPr lang="en-US" sz="2600" kern="1200"/>
            <a:t>Sampling (Up, Down, Synthetic)</a:t>
          </a:r>
        </a:p>
        <a:p>
          <a:pPr marL="228600" lvl="1" indent="-228600" algn="l" defTabSz="1155700">
            <a:lnSpc>
              <a:spcPct val="90000"/>
            </a:lnSpc>
            <a:spcBef>
              <a:spcPct val="0"/>
            </a:spcBef>
            <a:spcAft>
              <a:spcPct val="15000"/>
            </a:spcAft>
            <a:buChar char="•"/>
          </a:pPr>
          <a:r>
            <a:rPr lang="en-US" sz="2600" kern="1200"/>
            <a:t>Hyper Parameter Tuning</a:t>
          </a:r>
        </a:p>
      </dsp:txBody>
      <dsp:txXfrm>
        <a:off x="0" y="1767086"/>
        <a:ext cx="6129865" cy="1883699"/>
      </dsp:txXfrm>
    </dsp:sp>
    <dsp:sp modelId="{1DF18165-E2EA-7C4F-942C-8E562FFE9189}">
      <dsp:nvSpPr>
        <dsp:cNvPr id="0" name=""/>
        <dsp:cNvSpPr/>
      </dsp:nvSpPr>
      <dsp:spPr>
        <a:xfrm>
          <a:off x="306493" y="1383326"/>
          <a:ext cx="5523511" cy="767520"/>
        </a:xfrm>
        <a:prstGeom prst="roundRect">
          <a:avLst/>
        </a:prstGeom>
        <a:solidFill>
          <a:schemeClr val="accent2">
            <a:hueOff val="-6136140"/>
            <a:satOff val="13536"/>
            <a:lumOff val="98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1155700">
            <a:lnSpc>
              <a:spcPct val="90000"/>
            </a:lnSpc>
            <a:spcBef>
              <a:spcPct val="0"/>
            </a:spcBef>
            <a:spcAft>
              <a:spcPct val="35000"/>
            </a:spcAft>
            <a:buNone/>
          </a:pPr>
          <a:r>
            <a:rPr lang="en-US" sz="2600" kern="1200" dirty="0"/>
            <a:t>Improving Model Performance</a:t>
          </a:r>
        </a:p>
      </dsp:txBody>
      <dsp:txXfrm>
        <a:off x="343960" y="1420793"/>
        <a:ext cx="5448577" cy="692586"/>
      </dsp:txXfrm>
    </dsp:sp>
    <dsp:sp modelId="{441FCECE-AD0D-CB45-8A12-6E77E4B3F402}">
      <dsp:nvSpPr>
        <dsp:cNvPr id="0" name=""/>
        <dsp:cNvSpPr/>
      </dsp:nvSpPr>
      <dsp:spPr>
        <a:xfrm>
          <a:off x="0" y="4174946"/>
          <a:ext cx="6129865" cy="1474199"/>
        </a:xfrm>
        <a:prstGeom prst="rect">
          <a:avLst/>
        </a:prstGeom>
        <a:solidFill>
          <a:schemeClr val="lt1">
            <a:alpha val="90000"/>
            <a:hueOff val="0"/>
            <a:satOff val="0"/>
            <a:lumOff val="0"/>
            <a:alphaOff val="0"/>
          </a:schemeClr>
        </a:solidFill>
        <a:ln w="25400" cap="flat" cmpd="sng" algn="ctr">
          <a:solidFill>
            <a:schemeClr val="accent2">
              <a:hueOff val="-12272280"/>
              <a:satOff val="27072"/>
              <a:lumOff val="19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5746" tIns="541528" rIns="475746" bIns="184912"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Random Forests </a:t>
          </a:r>
        </a:p>
        <a:p>
          <a:pPr marL="228600" lvl="1" indent="-228600" algn="l" defTabSz="1155700">
            <a:lnSpc>
              <a:spcPct val="90000"/>
            </a:lnSpc>
            <a:spcBef>
              <a:spcPct val="0"/>
            </a:spcBef>
            <a:spcAft>
              <a:spcPct val="15000"/>
            </a:spcAft>
            <a:buChar char="•"/>
          </a:pPr>
          <a:r>
            <a:rPr lang="en-US" sz="2600" kern="1200" dirty="0"/>
            <a:t>Gradient Boosting Machines (GBM)</a:t>
          </a:r>
        </a:p>
      </dsp:txBody>
      <dsp:txXfrm>
        <a:off x="0" y="4174946"/>
        <a:ext cx="6129865" cy="1474199"/>
      </dsp:txXfrm>
    </dsp:sp>
    <dsp:sp modelId="{EC0756FC-C618-2C4B-A046-3930D53B3BF9}">
      <dsp:nvSpPr>
        <dsp:cNvPr id="0" name=""/>
        <dsp:cNvSpPr/>
      </dsp:nvSpPr>
      <dsp:spPr>
        <a:xfrm>
          <a:off x="306493" y="3791186"/>
          <a:ext cx="5309523" cy="767520"/>
        </a:xfrm>
        <a:prstGeom prst="roundRect">
          <a:avLst/>
        </a:prstGeom>
        <a:solidFill>
          <a:schemeClr val="accent2">
            <a:hueOff val="-12272280"/>
            <a:satOff val="27072"/>
            <a:lumOff val="19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1155700">
            <a:lnSpc>
              <a:spcPct val="90000"/>
            </a:lnSpc>
            <a:spcBef>
              <a:spcPct val="0"/>
            </a:spcBef>
            <a:spcAft>
              <a:spcPct val="35000"/>
            </a:spcAft>
            <a:buNone/>
          </a:pPr>
          <a:r>
            <a:rPr lang="en-US" sz="2600" kern="1200" dirty="0"/>
            <a:t>Ensemble Learners</a:t>
          </a:r>
        </a:p>
      </dsp:txBody>
      <dsp:txXfrm>
        <a:off x="343960" y="3828653"/>
        <a:ext cx="5234589" cy="692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A95C5A-53A4-074F-9420-71F3D0DA43CF}">
      <dsp:nvSpPr>
        <dsp:cNvPr id="0" name=""/>
        <dsp:cNvSpPr/>
      </dsp:nvSpPr>
      <dsp:spPr>
        <a:xfrm>
          <a:off x="0" y="551996"/>
          <a:ext cx="6129865" cy="806399"/>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9C4AA1-3CFB-944E-8736-71C05E9D96D8}">
      <dsp:nvSpPr>
        <dsp:cNvPr id="0" name=""/>
        <dsp:cNvSpPr/>
      </dsp:nvSpPr>
      <dsp:spPr>
        <a:xfrm>
          <a:off x="306493" y="79676"/>
          <a:ext cx="4803883" cy="9446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1422400">
            <a:lnSpc>
              <a:spcPct val="90000"/>
            </a:lnSpc>
            <a:spcBef>
              <a:spcPct val="0"/>
            </a:spcBef>
            <a:spcAft>
              <a:spcPct val="35000"/>
            </a:spcAft>
            <a:buNone/>
          </a:pPr>
          <a:r>
            <a:rPr lang="en-US" sz="3200" kern="1200" dirty="0"/>
            <a:t>#1 Feature Engineering </a:t>
          </a:r>
        </a:p>
      </dsp:txBody>
      <dsp:txXfrm>
        <a:off x="352607" y="125790"/>
        <a:ext cx="4711655" cy="852412"/>
      </dsp:txXfrm>
    </dsp:sp>
    <dsp:sp modelId="{83DEC2EF-C027-1C4B-9750-BAAFF7CEEAF8}">
      <dsp:nvSpPr>
        <dsp:cNvPr id="0" name=""/>
        <dsp:cNvSpPr/>
      </dsp:nvSpPr>
      <dsp:spPr>
        <a:xfrm>
          <a:off x="0" y="2003516"/>
          <a:ext cx="6129865" cy="2318399"/>
        </a:xfrm>
        <a:prstGeom prst="rect">
          <a:avLst/>
        </a:prstGeom>
        <a:solidFill>
          <a:schemeClr val="lt1">
            <a:alpha val="90000"/>
            <a:hueOff val="0"/>
            <a:satOff val="0"/>
            <a:lumOff val="0"/>
            <a:alphaOff val="0"/>
          </a:schemeClr>
        </a:solidFill>
        <a:ln w="25400" cap="flat" cmpd="sng" algn="ctr">
          <a:solidFill>
            <a:schemeClr val="accent2">
              <a:hueOff val="-6136140"/>
              <a:satOff val="13536"/>
              <a:lumOff val="98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5746" tIns="666496" rIns="475746" bIns="227584" numCol="1" spcCol="1270" anchor="t" anchorCtr="0">
          <a:noAutofit/>
        </a:bodyPr>
        <a:lstStyle/>
        <a:p>
          <a:pPr marL="285750" lvl="1" indent="-285750" algn="l" defTabSz="1422400">
            <a:lnSpc>
              <a:spcPct val="90000"/>
            </a:lnSpc>
            <a:spcBef>
              <a:spcPct val="0"/>
            </a:spcBef>
            <a:spcAft>
              <a:spcPct val="15000"/>
            </a:spcAft>
            <a:buChar char="•"/>
          </a:pPr>
          <a:r>
            <a:rPr lang="en-US" sz="3200" kern="1200" dirty="0"/>
            <a:t>Down Sampling </a:t>
          </a:r>
        </a:p>
        <a:p>
          <a:pPr marL="285750" lvl="1" indent="-285750" algn="l" defTabSz="1422400">
            <a:lnSpc>
              <a:spcPct val="90000"/>
            </a:lnSpc>
            <a:spcBef>
              <a:spcPct val="0"/>
            </a:spcBef>
            <a:spcAft>
              <a:spcPct val="15000"/>
            </a:spcAft>
            <a:buChar char="•"/>
          </a:pPr>
          <a:r>
            <a:rPr lang="en-US" sz="3200" kern="1200"/>
            <a:t>Up Sampling </a:t>
          </a:r>
        </a:p>
        <a:p>
          <a:pPr marL="285750" lvl="1" indent="-285750" algn="l" defTabSz="1422400">
            <a:lnSpc>
              <a:spcPct val="90000"/>
            </a:lnSpc>
            <a:spcBef>
              <a:spcPct val="0"/>
            </a:spcBef>
            <a:spcAft>
              <a:spcPct val="15000"/>
            </a:spcAft>
            <a:buChar char="•"/>
          </a:pPr>
          <a:r>
            <a:rPr lang="en-US" sz="3200" kern="1200" dirty="0"/>
            <a:t>SMOTE</a:t>
          </a:r>
        </a:p>
      </dsp:txBody>
      <dsp:txXfrm>
        <a:off x="0" y="2003516"/>
        <a:ext cx="6129865" cy="2318399"/>
      </dsp:txXfrm>
    </dsp:sp>
    <dsp:sp modelId="{AC610B4D-9A27-D14D-A6AF-037B8485659B}">
      <dsp:nvSpPr>
        <dsp:cNvPr id="0" name=""/>
        <dsp:cNvSpPr/>
      </dsp:nvSpPr>
      <dsp:spPr>
        <a:xfrm>
          <a:off x="306493" y="1531196"/>
          <a:ext cx="5116089" cy="944640"/>
        </a:xfrm>
        <a:prstGeom prst="roundRect">
          <a:avLst/>
        </a:prstGeom>
        <a:solidFill>
          <a:schemeClr val="accent2">
            <a:hueOff val="-6136140"/>
            <a:satOff val="13536"/>
            <a:lumOff val="98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1422400">
            <a:lnSpc>
              <a:spcPct val="90000"/>
            </a:lnSpc>
            <a:spcBef>
              <a:spcPct val="0"/>
            </a:spcBef>
            <a:spcAft>
              <a:spcPct val="35000"/>
            </a:spcAft>
            <a:buNone/>
          </a:pPr>
          <a:r>
            <a:rPr lang="en-US" sz="3200" kern="1200" dirty="0"/>
            <a:t>#2 Play with Samples </a:t>
          </a:r>
        </a:p>
      </dsp:txBody>
      <dsp:txXfrm>
        <a:off x="352607" y="1577310"/>
        <a:ext cx="5023861" cy="852412"/>
      </dsp:txXfrm>
    </dsp:sp>
    <dsp:sp modelId="{E0361C2C-647E-4F4A-B716-0AE9C3C5A8AE}">
      <dsp:nvSpPr>
        <dsp:cNvPr id="0" name=""/>
        <dsp:cNvSpPr/>
      </dsp:nvSpPr>
      <dsp:spPr>
        <a:xfrm>
          <a:off x="0" y="4967036"/>
          <a:ext cx="6129865" cy="806399"/>
        </a:xfrm>
        <a:prstGeom prst="rect">
          <a:avLst/>
        </a:prstGeom>
        <a:solidFill>
          <a:schemeClr val="lt1">
            <a:alpha val="90000"/>
            <a:hueOff val="0"/>
            <a:satOff val="0"/>
            <a:lumOff val="0"/>
            <a:alphaOff val="0"/>
          </a:schemeClr>
        </a:solidFill>
        <a:ln w="25400" cap="flat" cmpd="sng" algn="ctr">
          <a:solidFill>
            <a:schemeClr val="accent2">
              <a:hueOff val="-12272280"/>
              <a:satOff val="27072"/>
              <a:lumOff val="1961"/>
              <a:alphaOff val="0"/>
            </a:schemeClr>
          </a:solidFill>
          <a:prstDash val="solid"/>
        </a:ln>
        <a:effectLst/>
      </dsp:spPr>
      <dsp:style>
        <a:lnRef idx="2">
          <a:scrgbClr r="0" g="0" b="0"/>
        </a:lnRef>
        <a:fillRef idx="1">
          <a:scrgbClr r="0" g="0" b="0"/>
        </a:fillRef>
        <a:effectRef idx="0">
          <a:scrgbClr r="0" g="0" b="0"/>
        </a:effectRef>
        <a:fontRef idx="minor"/>
      </dsp:style>
    </dsp:sp>
    <dsp:sp modelId="{0FECB4C8-40B0-BF4C-9163-3B8A0C7A3FD9}">
      <dsp:nvSpPr>
        <dsp:cNvPr id="0" name=""/>
        <dsp:cNvSpPr/>
      </dsp:nvSpPr>
      <dsp:spPr>
        <a:xfrm>
          <a:off x="306493" y="4494716"/>
          <a:ext cx="5345095" cy="944640"/>
        </a:xfrm>
        <a:prstGeom prst="roundRect">
          <a:avLst/>
        </a:prstGeom>
        <a:solidFill>
          <a:schemeClr val="accent2">
            <a:hueOff val="-12272280"/>
            <a:satOff val="27072"/>
            <a:lumOff val="196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1422400">
            <a:lnSpc>
              <a:spcPct val="90000"/>
            </a:lnSpc>
            <a:spcBef>
              <a:spcPct val="0"/>
            </a:spcBef>
            <a:spcAft>
              <a:spcPct val="35000"/>
            </a:spcAft>
            <a:buNone/>
          </a:pPr>
          <a:r>
            <a:rPr lang="en-US" sz="3200" kern="1200" dirty="0"/>
            <a:t>#3 Hyper Parameter Tuning </a:t>
          </a:r>
        </a:p>
      </dsp:txBody>
      <dsp:txXfrm>
        <a:off x="352607" y="4540830"/>
        <a:ext cx="5252867" cy="8524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A5CA03-AC8C-5E46-8EA7-D95111AAEB1F}">
      <dsp:nvSpPr>
        <dsp:cNvPr id="0" name=""/>
        <dsp:cNvSpPr/>
      </dsp:nvSpPr>
      <dsp:spPr>
        <a:xfrm>
          <a:off x="0" y="0"/>
          <a:ext cx="9373090" cy="1243488"/>
        </a:xfrm>
        <a:prstGeom prst="roundRect">
          <a:avLst>
            <a:gd name="adj" fmla="val 10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For each </a:t>
          </a:r>
          <a:r>
            <a:rPr lang="en-US" sz="2200" b="1" u="sng" kern="1200" dirty="0"/>
            <a:t>instance in the minority class</a:t>
          </a:r>
          <a:r>
            <a:rPr lang="en-US" sz="2200" kern="1200" dirty="0"/>
            <a:t>, SMOTE finds its </a:t>
          </a:r>
          <a:r>
            <a:rPr lang="en-US" sz="2200" b="1" i="1" kern="1200" dirty="0"/>
            <a:t>k nearest neighbors</a:t>
          </a:r>
          <a:r>
            <a:rPr lang="en-US" sz="2200" kern="1200" dirty="0"/>
            <a:t> in the </a:t>
          </a:r>
          <a:r>
            <a:rPr lang="en-US" sz="2800" b="1" kern="1200" dirty="0">
              <a:solidFill>
                <a:schemeClr val="bg2">
                  <a:lumMod val="75000"/>
                </a:schemeClr>
              </a:solidFill>
            </a:rPr>
            <a:t>minority class</a:t>
          </a:r>
          <a:r>
            <a:rPr lang="en-US" sz="2200" kern="1200" dirty="0"/>
            <a:t>.</a:t>
          </a:r>
        </a:p>
      </dsp:txBody>
      <dsp:txXfrm>
        <a:off x="36421" y="36421"/>
        <a:ext cx="8031267" cy="1170646"/>
      </dsp:txXfrm>
    </dsp:sp>
    <dsp:sp modelId="{AA2CA84D-D3A6-C840-AECC-6401339CB16E}">
      <dsp:nvSpPr>
        <dsp:cNvPr id="0" name=""/>
        <dsp:cNvSpPr/>
      </dsp:nvSpPr>
      <dsp:spPr>
        <a:xfrm>
          <a:off x="827037" y="1450737"/>
          <a:ext cx="9373090" cy="1243488"/>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A synthetic record is then created by choosing </a:t>
          </a:r>
          <a:r>
            <a:rPr lang="en-US" sz="2200" b="1" u="none" kern="1200" dirty="0">
              <a:solidFill>
                <a:schemeClr val="bg2">
                  <a:lumMod val="75000"/>
                </a:schemeClr>
              </a:solidFill>
            </a:rPr>
            <a:t>one of the k nearest neighbors</a:t>
          </a:r>
          <a:r>
            <a:rPr lang="en-US" sz="2200" kern="1200" dirty="0"/>
            <a:t> and connecting the line segment between the instance and its neighbor.</a:t>
          </a:r>
        </a:p>
      </dsp:txBody>
      <dsp:txXfrm>
        <a:off x="863458" y="1487158"/>
        <a:ext cx="7664943" cy="1170646"/>
      </dsp:txXfrm>
    </dsp:sp>
    <dsp:sp modelId="{68B19311-E868-9847-962A-D4F85EECD69F}">
      <dsp:nvSpPr>
        <dsp:cNvPr id="0" name=""/>
        <dsp:cNvSpPr/>
      </dsp:nvSpPr>
      <dsp:spPr>
        <a:xfrm>
          <a:off x="1654074" y="2901474"/>
          <a:ext cx="9373090" cy="1243488"/>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The synthetic instance is generated as a point along this line, typically based on a randomly chosen weight, thereby producing a sample that is similar but not identical to existing instances.</a:t>
          </a:r>
        </a:p>
      </dsp:txBody>
      <dsp:txXfrm>
        <a:off x="1690495" y="2937895"/>
        <a:ext cx="7664943" cy="1170646"/>
      </dsp:txXfrm>
    </dsp:sp>
    <dsp:sp modelId="{B77CB28A-BB6C-5B42-A74A-3516E58E4E7E}">
      <dsp:nvSpPr>
        <dsp:cNvPr id="0" name=""/>
        <dsp:cNvSpPr/>
      </dsp:nvSpPr>
      <dsp:spPr>
        <a:xfrm>
          <a:off x="8564822" y="942979"/>
          <a:ext cx="808267" cy="808267"/>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746682" y="942979"/>
        <a:ext cx="444547" cy="608221"/>
      </dsp:txXfrm>
    </dsp:sp>
    <dsp:sp modelId="{108AFE59-EB7A-0545-975C-736084F2B582}">
      <dsp:nvSpPr>
        <dsp:cNvPr id="0" name=""/>
        <dsp:cNvSpPr/>
      </dsp:nvSpPr>
      <dsp:spPr>
        <a:xfrm>
          <a:off x="9391859" y="2385426"/>
          <a:ext cx="808267" cy="808267"/>
        </a:xfrm>
        <a:prstGeom prst="downArrow">
          <a:avLst>
            <a:gd name="adj1" fmla="val 55000"/>
            <a:gd name="adj2" fmla="val 45000"/>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573719" y="2385426"/>
        <a:ext cx="444547" cy="608221"/>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E4E1A7D2-3469-7E45-B1C8-FF79B7C42040}" type="datetimeFigureOut">
              <a:rPr lang="en-US" smtClean="0"/>
              <a:pPr/>
              <a:t>4/14/26</a:t>
            </a:fld>
            <a:endParaRPr lang="en-US" dirty="0"/>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397AD932-B17F-574E-ADBA-2D95C87F9810}" type="slidenum">
              <a:rPr lang="en-US" smtClean="0"/>
              <a:pPr/>
              <a:t>‹#›</a:t>
            </a:fld>
            <a:endParaRPr lang="en-US" dirty="0"/>
          </a:p>
        </p:txBody>
      </p:sp>
    </p:spTree>
    <p:extLst>
      <p:ext uri="{BB962C8B-B14F-4D97-AF65-F5344CB8AC3E}">
        <p14:creationId xmlns:p14="http://schemas.microsoft.com/office/powerpoint/2010/main" val="399188164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FAF947A5-54F6-B649-93A6-E041982699B0}" type="datetimeFigureOut">
              <a:rPr lang="en-US" smtClean="0"/>
              <a:pPr/>
              <a:t>4/14/26</a:t>
            </a:fld>
            <a:endParaRPr lang="en-US" dirty="0"/>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AC0E66CD-21C0-0C46-9262-75B7BC23CA89}" type="slidenum">
              <a:rPr lang="en-US" smtClean="0"/>
              <a:pPr/>
              <a:t>‹#›</a:t>
            </a:fld>
            <a:endParaRPr lang="en-US" dirty="0"/>
          </a:p>
        </p:txBody>
      </p:sp>
    </p:spTree>
    <p:extLst>
      <p:ext uri="{BB962C8B-B14F-4D97-AF65-F5344CB8AC3E}">
        <p14:creationId xmlns:p14="http://schemas.microsoft.com/office/powerpoint/2010/main" val="423460752"/>
      </p:ext>
    </p:extLst>
  </p:cSld>
  <p:clrMap bg1="lt1" tx1="dk1" bg2="lt2" tx2="dk2" accent1="accent1" accent2="accent2" accent3="accent3" accent4="accent4" accent5="accent5" accent6="accent6" hlink="hlink" folHlink="folHlink"/>
  <p:hf hd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0E66CD-21C0-0C46-9262-75B7BC23CA89}" type="slidenum">
              <a:rPr lang="en-US" smtClean="0"/>
              <a:pPr/>
              <a:t>1</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698700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dirty="0"/>
          </a:p>
        </p:txBody>
      </p:sp>
      <p:sp>
        <p:nvSpPr>
          <p:cNvPr id="5" name="Slide Number Placeholder 4"/>
          <p:cNvSpPr>
            <a:spLocks noGrp="1"/>
          </p:cNvSpPr>
          <p:nvPr>
            <p:ph type="sldNum" sz="quarter" idx="11"/>
          </p:nvPr>
        </p:nvSpPr>
        <p:spPr/>
        <p:txBody>
          <a:bodyPr/>
          <a:lstStyle/>
          <a:p>
            <a:fld id="{AC0E66CD-21C0-0C46-9262-75B7BC23CA89}" type="slidenum">
              <a:rPr lang="en-US" smtClean="0"/>
              <a:pPr/>
              <a:t>49</a:t>
            </a:fld>
            <a:endParaRPr lang="en-US" dirty="0"/>
          </a:p>
        </p:txBody>
      </p:sp>
    </p:spTree>
    <p:extLst>
      <p:ext uri="{BB962C8B-B14F-4D97-AF65-F5344CB8AC3E}">
        <p14:creationId xmlns:p14="http://schemas.microsoft.com/office/powerpoint/2010/main" val="21717901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400800" y="4624668"/>
            <a:ext cx="5384800" cy="933450"/>
          </a:xfrm>
        </p:spPr>
        <p:txBody>
          <a:bodyPr>
            <a:normAutofit/>
          </a:bodyPr>
          <a:lstStyle>
            <a:lvl1pPr>
              <a:defRPr sz="2800"/>
            </a:lvl1pPr>
          </a:lstStyle>
          <a:p>
            <a:r>
              <a:rPr lang="en-US"/>
              <a:t>Click to edit Master title style</a:t>
            </a:r>
            <a:endParaRPr dirty="0"/>
          </a:p>
        </p:txBody>
      </p:sp>
      <p:sp>
        <p:nvSpPr>
          <p:cNvPr id="3" name="Subtitle 2"/>
          <p:cNvSpPr>
            <a:spLocks noGrp="1"/>
          </p:cNvSpPr>
          <p:nvPr>
            <p:ph type="subTitle" idx="1"/>
          </p:nvPr>
        </p:nvSpPr>
        <p:spPr>
          <a:xfrm>
            <a:off x="6400800" y="5562600"/>
            <a:ext cx="53848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6400801" y="6425641"/>
            <a:ext cx="1643529" cy="365125"/>
          </a:xfrm>
        </p:spPr>
        <p:txBody>
          <a:bodyPr/>
          <a:lstStyle>
            <a:lvl1pPr algn="l">
              <a:defRPr/>
            </a:lvl1p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a:xfrm>
            <a:off x="8414871" y="6425641"/>
            <a:ext cx="3490259" cy="365125"/>
          </a:xfrm>
        </p:spPr>
        <p:txBody>
          <a:bodyPr/>
          <a:lstStyle>
            <a:lvl1pPr algn="r">
              <a:defRPr/>
            </a:lvl1pPr>
          </a:lstStyle>
          <a:p>
            <a:endParaRPr lang="en-US" dirty="0">
              <a:solidFill>
                <a:srgbClr val="000000">
                  <a:lumMod val="65000"/>
                  <a:lumOff val="35000"/>
                </a:srgbClr>
              </a:solidFill>
            </a:endParaRPr>
          </a:p>
        </p:txBody>
      </p:sp>
      <p:sp>
        <p:nvSpPr>
          <p:cNvPr id="7" name="Rectangle 6"/>
          <p:cNvSpPr/>
          <p:nvPr/>
        </p:nvSpPr>
        <p:spPr>
          <a:xfrm>
            <a:off x="376767" y="228600"/>
            <a:ext cx="5647267"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0" name="Rectangle 9"/>
          <p:cNvSpPr/>
          <p:nvPr/>
        </p:nvSpPr>
        <p:spPr>
          <a:xfrm>
            <a:off x="6165851" y="237744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sz="1800" dirty="0">
              <a:solidFill>
                <a:srgbClr val="FFFFFF"/>
              </a:solidFill>
              <a:latin typeface="Franklin Gothic Book"/>
            </a:endParaRPr>
          </a:p>
        </p:txBody>
      </p:sp>
      <p:sp>
        <p:nvSpPr>
          <p:cNvPr id="11" name="Rectangle 10"/>
          <p:cNvSpPr/>
          <p:nvPr/>
        </p:nvSpPr>
        <p:spPr>
          <a:xfrm>
            <a:off x="6165851" y="228600"/>
            <a:ext cx="27432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Rectangle 11"/>
          <p:cNvSpPr/>
          <p:nvPr/>
        </p:nvSpPr>
        <p:spPr>
          <a:xfrm>
            <a:off x="9069917" y="2377440"/>
            <a:ext cx="27432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6" name="Picture 5"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97954" cy="480425"/>
          </a:xfrm>
          <a:prstGeom prst="rect">
            <a:avLst/>
          </a:prstGeom>
        </p:spPr>
      </p:pic>
    </p:spTree>
    <p:custDataLst>
      <p:tags r:id="rId1"/>
    </p:custDataLst>
    <p:extLst>
      <p:ext uri="{BB962C8B-B14F-4D97-AF65-F5344CB8AC3E}">
        <p14:creationId xmlns:p14="http://schemas.microsoft.com/office/powerpoint/2010/main" val="59535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11127872" y="282574"/>
            <a:ext cx="675658"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a:xfrm>
            <a:off x="11166412" y="6426788"/>
            <a:ext cx="738717" cy="365125"/>
          </a:xfrm>
        </p:spPr>
        <p:txBody>
          <a:bodyPr/>
          <a:lstStyle>
            <a:lvl1pPr>
              <a:defRPr>
                <a:solidFill>
                  <a:schemeClr val="tx1">
                    <a:lumMod val="65000"/>
                    <a:lumOff val="35000"/>
                  </a:schemeClr>
                </a:solidFill>
              </a:defRPr>
            </a:lvl1pPr>
          </a:lstStyle>
          <a:p>
            <a:fld id="{02456A73-CB17-B748-BD2A-A20F5DD59EC7}" type="slidenum">
              <a:rPr lang="en-US" smtClean="0"/>
              <a:pPr/>
              <a:t>‹#›</a:t>
            </a:fld>
            <a:endParaRPr lang="en-US" dirty="0"/>
          </a:p>
        </p:txBody>
      </p:sp>
      <p:sp>
        <p:nvSpPr>
          <p:cNvPr id="10" name="Rectangle 9"/>
          <p:cNvSpPr/>
          <p:nvPr/>
        </p:nvSpPr>
        <p:spPr>
          <a:xfrm>
            <a:off x="10955878" y="282574"/>
            <a:ext cx="12192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2" name="Picture 11"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60990" y="1400284"/>
            <a:ext cx="409422" cy="356520"/>
          </a:xfrm>
          <a:prstGeom prst="rect">
            <a:avLst/>
          </a:prstGeom>
        </p:spPr>
      </p:pic>
    </p:spTree>
    <p:custDataLst>
      <p:tags r:id="rId1"/>
    </p:custDataLst>
    <p:extLst>
      <p:ext uri="{BB962C8B-B14F-4D97-AF65-F5344CB8AC3E}">
        <p14:creationId xmlns:p14="http://schemas.microsoft.com/office/powerpoint/2010/main" val="392089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664633" y="134471"/>
            <a:ext cx="10075084"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Text Placeholder 3"/>
          <p:cNvSpPr>
            <a:spLocks noGrp="1"/>
          </p:cNvSpPr>
          <p:nvPr>
            <p:ph type="body" sz="half" idx="2"/>
          </p:nvPr>
        </p:nvSpPr>
        <p:spPr>
          <a:xfrm>
            <a:off x="664691" y="1129553"/>
            <a:ext cx="10078613"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pic>
        <p:nvPicPr>
          <p:cNvPr id="14" name="Picture 13"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50201" y="1400284"/>
            <a:ext cx="431515" cy="356520"/>
          </a:xfrm>
          <a:prstGeom prst="rect">
            <a:avLst/>
          </a:prstGeom>
        </p:spPr>
      </p:pic>
    </p:spTree>
    <p:custDataLst>
      <p:tags r:id="rId1"/>
    </p:custDataLst>
    <p:extLst>
      <p:ext uri="{BB962C8B-B14F-4D97-AF65-F5344CB8AC3E}">
        <p14:creationId xmlns:p14="http://schemas.microsoft.com/office/powerpoint/2010/main" val="1701844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6400800" y="4624668"/>
            <a:ext cx="53848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6400800" y="5562600"/>
            <a:ext cx="53848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6400801" y="6425641"/>
            <a:ext cx="1643529" cy="365125"/>
          </a:xfrm>
        </p:spPr>
        <p:txBody>
          <a:bodyPr/>
          <a:lstStyle>
            <a:lvl1pPr algn="l">
              <a:defRPr/>
            </a:lvl1p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a:xfrm>
            <a:off x="8414871" y="6425641"/>
            <a:ext cx="3490259" cy="365125"/>
          </a:xfrm>
        </p:spPr>
        <p:txBody>
          <a:bodyPr/>
          <a:lstStyle>
            <a:lvl1pPr algn="r">
              <a:defRPr/>
            </a:lvl1pPr>
          </a:lstStyle>
          <a:p>
            <a:endParaRPr lang="en-US" dirty="0">
              <a:solidFill>
                <a:srgbClr val="000000">
                  <a:lumMod val="65000"/>
                  <a:lumOff val="35000"/>
                </a:srgbClr>
              </a:solidFill>
            </a:endParaRPr>
          </a:p>
        </p:txBody>
      </p:sp>
      <p:sp>
        <p:nvSpPr>
          <p:cNvPr id="7" name="Rectangle 6"/>
          <p:cNvSpPr/>
          <p:nvPr/>
        </p:nvSpPr>
        <p:spPr>
          <a:xfrm>
            <a:off x="376767" y="228600"/>
            <a:ext cx="5647267"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0" name="Rectangle 9"/>
          <p:cNvSpPr/>
          <p:nvPr/>
        </p:nvSpPr>
        <p:spPr>
          <a:xfrm>
            <a:off x="6165851" y="237744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3" name="Picture Placeholder 12"/>
          <p:cNvSpPr>
            <a:spLocks noGrp="1"/>
          </p:cNvSpPr>
          <p:nvPr>
            <p:ph type="pic" sz="quarter" idx="12"/>
          </p:nvPr>
        </p:nvSpPr>
        <p:spPr>
          <a:xfrm>
            <a:off x="6165851" y="228600"/>
            <a:ext cx="2743200" cy="2039112"/>
          </a:xfrm>
        </p:spPr>
        <p:txBody>
          <a:bodyPr/>
          <a:lstStyle>
            <a:lvl1pPr>
              <a:buNone/>
              <a:defRPr/>
            </a:lvl1pPr>
          </a:lstStyle>
          <a:p>
            <a:r>
              <a:rPr lang="en-US"/>
              <a:t>Click icon to add picture</a:t>
            </a:r>
            <a:endParaRPr dirty="0"/>
          </a:p>
        </p:txBody>
      </p:sp>
      <p:sp>
        <p:nvSpPr>
          <p:cNvPr id="14" name="Picture Placeholder 12"/>
          <p:cNvSpPr>
            <a:spLocks noGrp="1"/>
          </p:cNvSpPr>
          <p:nvPr>
            <p:ph type="pic" sz="quarter" idx="13"/>
          </p:nvPr>
        </p:nvSpPr>
        <p:spPr>
          <a:xfrm>
            <a:off x="9069917" y="2377440"/>
            <a:ext cx="2743200" cy="2039112"/>
          </a:xfrm>
        </p:spPr>
        <p:txBody>
          <a:bodyPr/>
          <a:lstStyle>
            <a:lvl1pPr>
              <a:buNone/>
              <a:defRPr/>
            </a:lvl1pPr>
          </a:lstStyle>
          <a:p>
            <a:r>
              <a:rPr lang="en-US"/>
              <a:t>Click icon to add picture</a:t>
            </a:r>
            <a:endParaRPr dirty="0"/>
          </a:p>
        </p:txBody>
      </p:sp>
      <p:sp>
        <p:nvSpPr>
          <p:cNvPr id="16" name="Text Placeholder 3"/>
          <p:cNvSpPr>
            <a:spLocks noGrp="1"/>
          </p:cNvSpPr>
          <p:nvPr>
            <p:ph type="body" sz="half" idx="2"/>
          </p:nvPr>
        </p:nvSpPr>
        <p:spPr>
          <a:xfrm>
            <a:off x="1143000" y="1779495"/>
            <a:ext cx="4114800" cy="2040905"/>
          </a:xfrm>
        </p:spPr>
        <p:txBody>
          <a:bodyPr lIns="45720" tIns="45720" rIns="45720" anchor="t">
            <a:noAutofit/>
          </a:bodyPr>
          <a:lstStyle>
            <a:lvl1pPr marL="0" indent="0" algn="ctr">
              <a:spcBef>
                <a:spcPts val="600"/>
              </a:spcBef>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pic>
        <p:nvPicPr>
          <p:cNvPr id="17" name="Picture 16"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56858" cy="480425"/>
          </a:xfrm>
          <a:prstGeom prst="rect">
            <a:avLst/>
          </a:prstGeom>
        </p:spPr>
      </p:pic>
    </p:spTree>
    <p:custDataLst>
      <p:tags r:id="rId1"/>
    </p:custDataLst>
    <p:extLst>
      <p:ext uri="{BB962C8B-B14F-4D97-AF65-F5344CB8AC3E}">
        <p14:creationId xmlns:p14="http://schemas.microsoft.com/office/powerpoint/2010/main" val="2070709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878543" y="228600"/>
            <a:ext cx="1093457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3048000" y="3124201"/>
            <a:ext cx="75184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3048000" y="4495801"/>
            <a:ext cx="75184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78541" y="6248775"/>
            <a:ext cx="1966259" cy="365125"/>
          </a:xfrm>
        </p:spPr>
        <p:txBody>
          <a:bodyPr/>
          <a:lstStyle>
            <a:lvl1pPr algn="l">
              <a:defRPr>
                <a:solidFill>
                  <a:schemeClr val="bg1"/>
                </a:solidFill>
              </a:defRPr>
            </a:lvl1pPr>
          </a:lstStyle>
          <a:p>
            <a:endParaRPr lang="en-US" dirty="0">
              <a:solidFill>
                <a:srgbClr val="FFFFFF"/>
              </a:solidFill>
              <a:latin typeface="Franklin Gothic Book"/>
            </a:endParaRPr>
          </a:p>
        </p:txBody>
      </p:sp>
      <p:sp>
        <p:nvSpPr>
          <p:cNvPr id="5" name="Footer Placeholder 4"/>
          <p:cNvSpPr>
            <a:spLocks noGrp="1"/>
          </p:cNvSpPr>
          <p:nvPr>
            <p:ph type="ftr" sz="quarter" idx="11"/>
          </p:nvPr>
        </p:nvSpPr>
        <p:spPr>
          <a:xfrm>
            <a:off x="3048000" y="6248775"/>
            <a:ext cx="7518400"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6" name="Slide Number Placeholder 5"/>
          <p:cNvSpPr>
            <a:spLocks noGrp="1"/>
          </p:cNvSpPr>
          <p:nvPr>
            <p:ph type="sldNum" sz="quarter" idx="12"/>
          </p:nvPr>
        </p:nvSpPr>
        <p:spPr>
          <a:xfrm>
            <a:off x="11074400" y="6248775"/>
            <a:ext cx="738717" cy="365125"/>
          </a:xfrm>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9" name="Rectangle 8"/>
          <p:cNvSpPr/>
          <p:nvPr/>
        </p:nvSpPr>
        <p:spPr>
          <a:xfrm>
            <a:off x="381001" y="228600"/>
            <a:ext cx="283633"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1" name="Picture 10" descr="WFU_Univ_White_Shield-only.eps"/>
          <p:cNvPicPr>
            <a:picLocks noChangeAspect="1"/>
          </p:cNvPicPr>
          <p:nvPr userDrawn="1"/>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69851" y="437071"/>
            <a:ext cx="556208" cy="480425"/>
          </a:xfrm>
          <a:prstGeom prst="rect">
            <a:avLst/>
          </a:prstGeom>
        </p:spPr>
      </p:pic>
    </p:spTree>
    <p:custDataLst>
      <p:tags r:id="rId1"/>
    </p:custDataLst>
    <p:extLst>
      <p:ext uri="{BB962C8B-B14F-4D97-AF65-F5344CB8AC3E}">
        <p14:creationId xmlns:p14="http://schemas.microsoft.com/office/powerpoint/2010/main" val="3973121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11074400" y="282574"/>
            <a:ext cx="72913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Rectangle 11"/>
          <p:cNvSpPr/>
          <p:nvPr/>
        </p:nvSpPr>
        <p:spPr>
          <a:xfrm>
            <a:off x="10846098" y="282574"/>
            <a:ext cx="12192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64691"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866504"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80" y="1400284"/>
            <a:ext cx="383852" cy="356520"/>
          </a:xfrm>
          <a:prstGeom prst="rect">
            <a:avLst/>
          </a:prstGeom>
        </p:spPr>
      </p:pic>
    </p:spTree>
    <p:custDataLst>
      <p:tags r:id="rId1"/>
    </p:custDataLst>
    <p:extLst>
      <p:ext uri="{BB962C8B-B14F-4D97-AF65-F5344CB8AC3E}">
        <p14:creationId xmlns:p14="http://schemas.microsoft.com/office/powerpoint/2010/main" val="2917035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11068375" y="282574"/>
            <a:ext cx="735153"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8" y="2447366"/>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5866504" y="2447366"/>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3428104" y="1000317"/>
            <a:ext cx="48768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5866504" y="2070848"/>
            <a:ext cx="48768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5" name="Picture 14"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88556" y="1400284"/>
            <a:ext cx="396851" cy="356520"/>
          </a:xfrm>
          <a:prstGeom prst="rect">
            <a:avLst/>
          </a:prstGeom>
        </p:spPr>
      </p:pic>
    </p:spTree>
    <p:custDataLst>
      <p:tags r:id="rId1"/>
    </p:custDataLst>
    <p:extLst>
      <p:ext uri="{BB962C8B-B14F-4D97-AF65-F5344CB8AC3E}">
        <p14:creationId xmlns:p14="http://schemas.microsoft.com/office/powerpoint/2010/main" val="3377441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 Col Comparison">
    <p:spTree>
      <p:nvGrpSpPr>
        <p:cNvPr id="1" name=""/>
        <p:cNvGrpSpPr/>
        <p:nvPr/>
      </p:nvGrpSpPr>
      <p:grpSpPr>
        <a:xfrm>
          <a:off x="0" y="0"/>
          <a:ext cx="0" cy="0"/>
          <a:chOff x="0" y="0"/>
          <a:chExt cx="0" cy="0"/>
        </a:xfrm>
      </p:grpSpPr>
      <p:sp>
        <p:nvSpPr>
          <p:cNvPr id="10" name="Rectangle 9"/>
          <p:cNvSpPr/>
          <p:nvPr/>
        </p:nvSpPr>
        <p:spPr>
          <a:xfrm>
            <a:off x="10972799" y="282574"/>
            <a:ext cx="8307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9" name="Picture 18"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56994" y="1400284"/>
            <a:ext cx="462337" cy="356520"/>
          </a:xfrm>
          <a:prstGeom prst="rect">
            <a:avLst/>
          </a:prstGeom>
        </p:spPr>
      </p:pic>
    </p:spTree>
    <p:custDataLst>
      <p:tags r:id="rId1"/>
    </p:custDataLst>
    <p:extLst>
      <p:ext uri="{BB962C8B-B14F-4D97-AF65-F5344CB8AC3E}">
        <p14:creationId xmlns:p14="http://schemas.microsoft.com/office/powerpoint/2010/main" val="1076206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64690" y="1985963"/>
            <a:ext cx="10092209"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13" name="Content Placeholder 2"/>
          <p:cNvSpPr>
            <a:spLocks noGrp="1"/>
          </p:cNvSpPr>
          <p:nvPr>
            <p:ph sz="half" idx="14"/>
          </p:nvPr>
        </p:nvSpPr>
        <p:spPr>
          <a:xfrm>
            <a:off x="664690" y="4164965"/>
            <a:ext cx="10092209"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Rectangle 13"/>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5" name="Slide Number Placeholder 6"/>
          <p:cNvSpPr>
            <a:spLocks noGrp="1"/>
          </p:cNvSpPr>
          <p:nvPr>
            <p:ph type="sldNum" sz="quarter" idx="12"/>
          </p:nvPr>
        </p:nvSpPr>
        <p:spPr>
          <a:xfrm>
            <a:off x="11074400" y="242235"/>
            <a:ext cx="738717" cy="365125"/>
          </a:xfrm>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5945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1074400" y="282574"/>
            <a:ext cx="729128"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5880100" y="1985963"/>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1" name="Content Placeholder 2"/>
          <p:cNvSpPr>
            <a:spLocks noGrp="1"/>
          </p:cNvSpPr>
          <p:nvPr>
            <p:ph sz="half" idx="15"/>
          </p:nvPr>
        </p:nvSpPr>
        <p:spPr>
          <a:xfrm>
            <a:off x="664691"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p:cNvSpPr>
            <a:spLocks noGrp="1"/>
          </p:cNvSpPr>
          <p:nvPr>
            <p:ph sz="half" idx="16"/>
          </p:nvPr>
        </p:nvSpPr>
        <p:spPr>
          <a:xfrm>
            <a:off x="5880100" y="4169664"/>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pic>
        <p:nvPicPr>
          <p:cNvPr id="16" name="Picture 15" descr="WFU_Univ_White_Shield-only.eps"/>
          <p:cNvPicPr>
            <a:picLocks noChangeAspect="1"/>
          </p:cNvPicPr>
          <p:nvPr userDrawn="1"/>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79" y="1400284"/>
            <a:ext cx="441789" cy="356520"/>
          </a:xfrm>
          <a:prstGeom prst="rect">
            <a:avLst/>
          </a:prstGeom>
        </p:spPr>
      </p:pic>
    </p:spTree>
    <p:custDataLst>
      <p:tags r:id="rId1"/>
    </p:custDataLst>
    <p:extLst>
      <p:ext uri="{BB962C8B-B14F-4D97-AF65-F5344CB8AC3E}">
        <p14:creationId xmlns:p14="http://schemas.microsoft.com/office/powerpoint/2010/main" val="2509185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2" name="Content Placeholder 2"/>
          <p:cNvSpPr>
            <a:spLocks noGrp="1"/>
          </p:cNvSpPr>
          <p:nvPr>
            <p:ph sz="half" idx="17"/>
          </p:nvPr>
        </p:nvSpPr>
        <p:spPr>
          <a:xfrm>
            <a:off x="670561" y="1985963"/>
            <a:ext cx="4876551"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Content Placeholder 2"/>
          <p:cNvSpPr>
            <a:spLocks noGrp="1"/>
          </p:cNvSpPr>
          <p:nvPr>
            <p:ph sz="half" idx="18"/>
          </p:nvPr>
        </p:nvSpPr>
        <p:spPr>
          <a:xfrm>
            <a:off x="670561" y="4164965"/>
            <a:ext cx="4876551"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ontent Placeholder 2"/>
          <p:cNvSpPr>
            <a:spLocks noGrp="1"/>
          </p:cNvSpPr>
          <p:nvPr>
            <p:ph sz="half" idx="1"/>
          </p:nvPr>
        </p:nvSpPr>
        <p:spPr>
          <a:xfrm>
            <a:off x="5880100" y="1985963"/>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6" name="Content Placeholder 2"/>
          <p:cNvSpPr>
            <a:spLocks noGrp="1"/>
          </p:cNvSpPr>
          <p:nvPr>
            <p:ph sz="half" idx="16"/>
          </p:nvPr>
        </p:nvSpPr>
        <p:spPr>
          <a:xfrm>
            <a:off x="5880100" y="4169664"/>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pic>
        <p:nvPicPr>
          <p:cNvPr id="19" name="Picture 18"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88556" y="1400284"/>
            <a:ext cx="396851" cy="356520"/>
          </a:xfrm>
          <a:prstGeom prst="rect">
            <a:avLst/>
          </a:prstGeom>
        </p:spPr>
      </p:pic>
    </p:spTree>
    <p:custDataLst>
      <p:tags r:id="rId1"/>
    </p:custDataLst>
    <p:extLst>
      <p:ext uri="{BB962C8B-B14F-4D97-AF65-F5344CB8AC3E}">
        <p14:creationId xmlns:p14="http://schemas.microsoft.com/office/powerpoint/2010/main" val="2693767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4" name="Footer Placeholder 3"/>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5" name="Slide Number Placeholder 4"/>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1" name="Picture 10"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09105" y="1400284"/>
            <a:ext cx="452063" cy="356520"/>
          </a:xfrm>
          <a:prstGeom prst="rect">
            <a:avLst/>
          </a:prstGeom>
        </p:spPr>
      </p:pic>
    </p:spTree>
    <p:custDataLst>
      <p:tags r:id="rId1"/>
    </p:custDataLst>
    <p:extLst>
      <p:ext uri="{BB962C8B-B14F-4D97-AF65-F5344CB8AC3E}">
        <p14:creationId xmlns:p14="http://schemas.microsoft.com/office/powerpoint/2010/main" val="2582948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11085816" y="282574"/>
            <a:ext cx="717712"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Date Placeholder 1"/>
          <p:cNvSpPr>
            <a:spLocks noGrp="1"/>
          </p:cNvSpPr>
          <p:nvPr>
            <p:ph type="dt" sz="half" idx="10"/>
          </p:nvPr>
        </p:nvSpPr>
        <p:spPr/>
        <p:txBody>
          <a:bodyPr/>
          <a:lstStyle>
            <a:lvl1pPr>
              <a:defRPr/>
            </a:lvl1pPr>
          </a:lstStyle>
          <a:p>
            <a:endParaRPr lang="en-US" dirty="0">
              <a:solidFill>
                <a:srgbClr val="000000">
                  <a:lumMod val="65000"/>
                  <a:lumOff val="35000"/>
                </a:srgbClr>
              </a:solidFill>
            </a:endParaRPr>
          </a:p>
        </p:txBody>
      </p:sp>
      <p:sp>
        <p:nvSpPr>
          <p:cNvPr id="3" name="Footer Placeholder 2"/>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pic>
        <p:nvPicPr>
          <p:cNvPr id="6" name="Picture 5"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19379" y="714101"/>
            <a:ext cx="452064" cy="355191"/>
          </a:xfrm>
          <a:prstGeom prst="rect">
            <a:avLst/>
          </a:prstGeom>
        </p:spPr>
      </p:pic>
    </p:spTree>
    <p:custDataLst>
      <p:tags r:id="rId1"/>
    </p:custDataLst>
    <p:extLst>
      <p:ext uri="{BB962C8B-B14F-4D97-AF65-F5344CB8AC3E}">
        <p14:creationId xmlns:p14="http://schemas.microsoft.com/office/powerpoint/2010/main" val="57726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76768" y="228600"/>
            <a:ext cx="460163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7" y="2571750"/>
            <a:ext cx="4340352" cy="1162050"/>
          </a:xfrm>
        </p:spPr>
        <p:txBody>
          <a:bodyPr anchor="b">
            <a:normAutofit/>
          </a:bodyPr>
          <a:lstStyle>
            <a:lvl1pPr algn="l">
              <a:defRPr sz="2600" b="0">
                <a:solidFill>
                  <a:schemeClr val="bg1"/>
                </a:solidFill>
              </a:defRPr>
            </a:lvl1pPr>
          </a:lstStyle>
          <a:p>
            <a:r>
              <a:rPr lang="en-US"/>
              <a:t>Click to edit Master title style</a:t>
            </a:r>
            <a:endParaRPr dirty="0"/>
          </a:p>
        </p:txBody>
      </p:sp>
      <p:sp>
        <p:nvSpPr>
          <p:cNvPr id="3" name="Content Placeholder 2"/>
          <p:cNvSpPr>
            <a:spLocks noGrp="1"/>
          </p:cNvSpPr>
          <p:nvPr>
            <p:ph idx="1"/>
          </p:nvPr>
        </p:nvSpPr>
        <p:spPr>
          <a:xfrm>
            <a:off x="5558368" y="273051"/>
            <a:ext cx="6129865"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08124" y="3733801"/>
            <a:ext cx="4340352"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lvl1pPr>
              <a:defRPr/>
            </a:lvl1p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a:xfrm>
            <a:off x="5145741" y="6423586"/>
            <a:ext cx="4422588" cy="365125"/>
          </a:xfrm>
        </p:spPr>
        <p:txBody>
          <a:bodyPr/>
          <a:lstStyle/>
          <a:p>
            <a:endParaRPr lang="en-US" dirty="0">
              <a:solidFill>
                <a:srgbClr val="000000">
                  <a:lumMod val="65000"/>
                  <a:lumOff val="35000"/>
                </a:srgbClr>
              </a:solidFill>
              <a:latin typeface="Franklin Gothic Book"/>
            </a:endParaRPr>
          </a:p>
        </p:txBody>
      </p:sp>
      <p:pic>
        <p:nvPicPr>
          <p:cNvPr id="10" name="Picture 9"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8" y="415260"/>
            <a:ext cx="556858" cy="480425"/>
          </a:xfrm>
          <a:prstGeom prst="rect">
            <a:avLst/>
          </a:prstGeom>
        </p:spPr>
      </p:pic>
    </p:spTree>
    <p:custDataLst>
      <p:tags r:id="rId1"/>
    </p:custDataLst>
    <p:extLst>
      <p:ext uri="{BB962C8B-B14F-4D97-AF65-F5344CB8AC3E}">
        <p14:creationId xmlns:p14="http://schemas.microsoft.com/office/powerpoint/2010/main" val="19550766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11085816" y="282574"/>
            <a:ext cx="717712"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559205" y="3124200"/>
            <a:ext cx="5197696"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28600"/>
            <a:ext cx="4614211"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5559205" y="3995737"/>
            <a:ext cx="5197696" cy="2147888"/>
          </a:xfrm>
        </p:spPr>
        <p:txBody>
          <a:bodyPr/>
          <a:lstStyle>
            <a:lvl1pPr marL="0" indent="0">
              <a:spcBef>
                <a:spcPts val="6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lvl1pPr>
              <a:defRPr/>
            </a:lvl1p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a:xfrm>
            <a:off x="5588000" y="6423586"/>
            <a:ext cx="4006851" cy="365125"/>
          </a:xfrm>
        </p:spPr>
        <p:txBody>
          <a:bodyPr/>
          <a:lstStyle/>
          <a:p>
            <a:endParaRPr lang="en-US" dirty="0">
              <a:solidFill>
                <a:srgbClr val="000000">
                  <a:lumMod val="65000"/>
                  <a:lumOff val="35000"/>
                </a:srgbClr>
              </a:solidFill>
              <a:latin typeface="Franklin Gothic Book"/>
            </a:endParaRPr>
          </a:p>
        </p:txBody>
      </p:sp>
      <p:pic>
        <p:nvPicPr>
          <p:cNvPr id="10" name="Picture 9"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29653" y="721135"/>
            <a:ext cx="441790" cy="355191"/>
          </a:xfrm>
          <a:prstGeom prst="rect">
            <a:avLst/>
          </a:prstGeom>
        </p:spPr>
      </p:pic>
    </p:spTree>
    <p:custDataLst>
      <p:tags r:id="rId1"/>
    </p:custDataLst>
    <p:extLst>
      <p:ext uri="{BB962C8B-B14F-4D97-AF65-F5344CB8AC3E}">
        <p14:creationId xmlns:p14="http://schemas.microsoft.com/office/powerpoint/2010/main" val="5544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75341" y="4424082"/>
            <a:ext cx="8254876"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28600"/>
            <a:ext cx="85045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675341" y="5257800"/>
            <a:ext cx="8254876"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9" name="Rectangle 8"/>
          <p:cNvSpPr/>
          <p:nvPr/>
        </p:nvSpPr>
        <p:spPr>
          <a:xfrm>
            <a:off x="9069917" y="2377440"/>
            <a:ext cx="27432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3" name="Picture 12"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0983074" y="3738743"/>
            <a:ext cx="554751" cy="480425"/>
          </a:xfrm>
          <a:prstGeom prst="rect">
            <a:avLst/>
          </a:prstGeom>
        </p:spPr>
      </p:pic>
    </p:spTree>
    <p:custDataLst>
      <p:tags r:id="rId1"/>
    </p:custDataLst>
    <p:extLst>
      <p:ext uri="{BB962C8B-B14F-4D97-AF65-F5344CB8AC3E}">
        <p14:creationId xmlns:p14="http://schemas.microsoft.com/office/powerpoint/2010/main" val="1390491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376766" y="228600"/>
            <a:ext cx="851622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6" y="2571750"/>
            <a:ext cx="8242148"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508126" y="3733801"/>
            <a:ext cx="8239421"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949683" y="6235608"/>
            <a:ext cx="1797864" cy="365125"/>
          </a:xfrm>
        </p:spPr>
        <p:txBody>
          <a:bodyPr/>
          <a:lstStyle>
            <a:lvl1pPr>
              <a:defRPr>
                <a:solidFill>
                  <a:schemeClr val="bg1"/>
                </a:solidFill>
              </a:defRPr>
            </a:lvl1pPr>
          </a:lstStyle>
          <a:p>
            <a:endParaRPr lang="en-US" dirty="0">
              <a:solidFill>
                <a:srgbClr val="FFFFFF"/>
              </a:solidFill>
            </a:endParaRPr>
          </a:p>
        </p:txBody>
      </p:sp>
      <p:sp>
        <p:nvSpPr>
          <p:cNvPr id="6" name="Footer Placeholder 5"/>
          <p:cNvSpPr>
            <a:spLocks noGrp="1"/>
          </p:cNvSpPr>
          <p:nvPr>
            <p:ph type="ftr" sz="quarter" idx="11"/>
          </p:nvPr>
        </p:nvSpPr>
        <p:spPr>
          <a:xfrm>
            <a:off x="508128" y="6235608"/>
            <a:ext cx="6197473"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Rectangle 9"/>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Picture Placeholder 12"/>
          <p:cNvSpPr>
            <a:spLocks noGrp="1"/>
          </p:cNvSpPr>
          <p:nvPr>
            <p:ph type="pic" sz="quarter" idx="13"/>
          </p:nvPr>
        </p:nvSpPr>
        <p:spPr>
          <a:xfrm>
            <a:off x="9069917" y="2374940"/>
            <a:ext cx="2743200" cy="2039112"/>
          </a:xfrm>
        </p:spPr>
        <p:txBody>
          <a:bodyPr/>
          <a:lstStyle>
            <a:lvl1pPr>
              <a:buNone/>
              <a:defRPr/>
            </a:lvl1pPr>
          </a:lstStyle>
          <a:p>
            <a:r>
              <a:rPr lang="en-US"/>
              <a:t>Click icon to add picture</a:t>
            </a:r>
            <a:endParaRPr dirty="0"/>
          </a:p>
        </p:txBody>
      </p:sp>
      <p:sp>
        <p:nvSpPr>
          <p:cNvPr id="13" name="Picture Placeholder 12"/>
          <p:cNvSpPr>
            <a:spLocks noGrp="1"/>
          </p:cNvSpPr>
          <p:nvPr>
            <p:ph type="pic" sz="quarter" idx="14"/>
          </p:nvPr>
        </p:nvSpPr>
        <p:spPr>
          <a:xfrm>
            <a:off x="9069917" y="4535424"/>
            <a:ext cx="2743200" cy="2039112"/>
          </a:xfrm>
        </p:spPr>
        <p:txBody>
          <a:bodyPr/>
          <a:lstStyle>
            <a:lvl1pPr>
              <a:buNone/>
              <a:defRPr/>
            </a:lvl1pPr>
          </a:lstStyle>
          <a:p>
            <a:r>
              <a:rPr lang="en-US"/>
              <a:t>Click icon to add picture</a:t>
            </a:r>
            <a:endParaRPr dirty="0"/>
          </a:p>
        </p:txBody>
      </p:sp>
      <p:pic>
        <p:nvPicPr>
          <p:cNvPr id="14" name="Picture 13"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36309" cy="480425"/>
          </a:xfrm>
          <a:prstGeom prst="rect">
            <a:avLst/>
          </a:prstGeom>
        </p:spPr>
      </p:pic>
    </p:spTree>
    <p:custDataLst>
      <p:tags r:id="rId1"/>
    </p:custDataLst>
    <p:extLst>
      <p:ext uri="{BB962C8B-B14F-4D97-AF65-F5344CB8AC3E}">
        <p14:creationId xmlns:p14="http://schemas.microsoft.com/office/powerpoint/2010/main" val="3722263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376767" y="228600"/>
            <a:ext cx="56472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6" y="2571750"/>
            <a:ext cx="53555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508125" y="3733801"/>
            <a:ext cx="5353739"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064000" y="6235608"/>
            <a:ext cx="1797864"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6" name="Footer Placeholder 5"/>
          <p:cNvSpPr>
            <a:spLocks noGrp="1"/>
          </p:cNvSpPr>
          <p:nvPr>
            <p:ph type="ftr" sz="quarter" idx="11"/>
          </p:nvPr>
        </p:nvSpPr>
        <p:spPr>
          <a:xfrm>
            <a:off x="508128" y="6235608"/>
            <a:ext cx="3454273"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Rectangle 9"/>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1" name="Rectangle 10"/>
          <p:cNvSpPr/>
          <p:nvPr/>
        </p:nvSpPr>
        <p:spPr>
          <a:xfrm>
            <a:off x="6165851" y="4534726"/>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Picture Placeholder 12"/>
          <p:cNvSpPr>
            <a:spLocks noGrp="1"/>
          </p:cNvSpPr>
          <p:nvPr>
            <p:ph type="pic" sz="quarter" idx="13"/>
          </p:nvPr>
        </p:nvSpPr>
        <p:spPr>
          <a:xfrm>
            <a:off x="6165851" y="228600"/>
            <a:ext cx="2743200" cy="2039112"/>
          </a:xfrm>
        </p:spPr>
        <p:txBody>
          <a:bodyPr/>
          <a:lstStyle>
            <a:lvl1pPr>
              <a:buNone/>
              <a:defRPr/>
            </a:lvl1pPr>
          </a:lstStyle>
          <a:p>
            <a:r>
              <a:rPr lang="en-US"/>
              <a:t>Click icon to add picture</a:t>
            </a:r>
            <a:endParaRPr dirty="0"/>
          </a:p>
        </p:txBody>
      </p:sp>
      <p:sp>
        <p:nvSpPr>
          <p:cNvPr id="13" name="Picture Placeholder 12"/>
          <p:cNvSpPr>
            <a:spLocks noGrp="1"/>
          </p:cNvSpPr>
          <p:nvPr>
            <p:ph type="pic" sz="quarter" idx="14"/>
          </p:nvPr>
        </p:nvSpPr>
        <p:spPr>
          <a:xfrm>
            <a:off x="6165851" y="2381663"/>
            <a:ext cx="2743200" cy="2039112"/>
          </a:xfrm>
        </p:spPr>
        <p:txBody>
          <a:bodyPr/>
          <a:lstStyle>
            <a:lvl1pPr>
              <a:buNone/>
              <a:defRPr/>
            </a:lvl1pPr>
          </a:lstStyle>
          <a:p>
            <a:r>
              <a:rPr lang="en-US"/>
              <a:t>Click icon to add picture</a:t>
            </a:r>
            <a:endParaRPr dirty="0"/>
          </a:p>
        </p:txBody>
      </p:sp>
      <p:sp>
        <p:nvSpPr>
          <p:cNvPr id="14" name="Picture Placeholder 12"/>
          <p:cNvSpPr>
            <a:spLocks noGrp="1"/>
          </p:cNvSpPr>
          <p:nvPr>
            <p:ph type="pic" sz="quarter" idx="15"/>
          </p:nvPr>
        </p:nvSpPr>
        <p:spPr>
          <a:xfrm>
            <a:off x="9070848" y="2381662"/>
            <a:ext cx="2743200" cy="4187952"/>
          </a:xfrm>
        </p:spPr>
        <p:txBody>
          <a:bodyPr/>
          <a:lstStyle>
            <a:lvl1pPr>
              <a:buNone/>
              <a:defRPr/>
            </a:lvl1pPr>
          </a:lstStyle>
          <a:p>
            <a:r>
              <a:rPr lang="en-US"/>
              <a:t>Click icon to add picture</a:t>
            </a:r>
            <a:endParaRPr dirty="0"/>
          </a:p>
        </p:txBody>
      </p:sp>
      <p:pic>
        <p:nvPicPr>
          <p:cNvPr id="15" name="Picture 14"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8" y="415260"/>
            <a:ext cx="556858" cy="480425"/>
          </a:xfrm>
          <a:prstGeom prst="rect">
            <a:avLst/>
          </a:prstGeom>
        </p:spPr>
      </p:pic>
    </p:spTree>
    <p:custDataLst>
      <p:tags r:id="rId1"/>
    </p:custDataLst>
    <p:extLst>
      <p:ext uri="{BB962C8B-B14F-4D97-AF65-F5344CB8AC3E}">
        <p14:creationId xmlns:p14="http://schemas.microsoft.com/office/powerpoint/2010/main" val="4099064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11074399" y="282574"/>
            <a:ext cx="729129"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6604000" y="3124200"/>
            <a:ext cx="414528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365248"/>
            <a:ext cx="5653492"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6604000" y="3995737"/>
            <a:ext cx="4145280" cy="2147888"/>
          </a:xfrm>
        </p:spPr>
        <p:txBody>
          <a:bodyPr/>
          <a:lstStyle>
            <a:lvl1pPr marL="0" indent="0">
              <a:spcBef>
                <a:spcPts val="6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a:xfrm>
            <a:off x="5588000" y="6423586"/>
            <a:ext cx="4006851" cy="365125"/>
          </a:xfrm>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4" name="Picture Placeholder 12"/>
          <p:cNvSpPr>
            <a:spLocks noGrp="1"/>
          </p:cNvSpPr>
          <p:nvPr>
            <p:ph type="pic" sz="quarter" idx="13"/>
          </p:nvPr>
        </p:nvSpPr>
        <p:spPr>
          <a:xfrm>
            <a:off x="370540" y="228600"/>
            <a:ext cx="2743200" cy="2039112"/>
          </a:xfrm>
        </p:spPr>
        <p:txBody>
          <a:bodyPr/>
          <a:lstStyle>
            <a:lvl1pPr>
              <a:buNone/>
              <a:defRPr/>
            </a:lvl1pPr>
          </a:lstStyle>
          <a:p>
            <a:r>
              <a:rPr lang="en-US"/>
              <a:t>Click icon to add picture</a:t>
            </a:r>
            <a:endParaRPr dirty="0"/>
          </a:p>
        </p:txBody>
      </p:sp>
      <p:sp>
        <p:nvSpPr>
          <p:cNvPr id="15" name="Picture Placeholder 12"/>
          <p:cNvSpPr>
            <a:spLocks noGrp="1"/>
          </p:cNvSpPr>
          <p:nvPr>
            <p:ph type="pic" sz="quarter" idx="14"/>
          </p:nvPr>
        </p:nvSpPr>
        <p:spPr>
          <a:xfrm>
            <a:off x="3280833" y="228600"/>
            <a:ext cx="2743200" cy="2039112"/>
          </a:xfrm>
        </p:spPr>
        <p:txBody>
          <a:bodyPr/>
          <a:lstStyle>
            <a:lvl1pPr>
              <a:buNone/>
              <a:defRPr/>
            </a:lvl1pPr>
          </a:lstStyle>
          <a:p>
            <a:r>
              <a:rPr lang="en-US"/>
              <a:t>Click icon to add picture</a:t>
            </a:r>
            <a:endParaRPr dirty="0"/>
          </a:p>
        </p:txBody>
      </p:sp>
      <p:pic>
        <p:nvPicPr>
          <p:cNvPr id="13" name="Picture 12"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91299" y="707766"/>
            <a:ext cx="400692" cy="355191"/>
          </a:xfrm>
          <a:prstGeom prst="rect">
            <a:avLst/>
          </a:prstGeom>
        </p:spPr>
      </p:pic>
    </p:spTree>
    <p:custDataLst>
      <p:tags r:id="rId1"/>
    </p:custDataLst>
    <p:extLst>
      <p:ext uri="{BB962C8B-B14F-4D97-AF65-F5344CB8AC3E}">
        <p14:creationId xmlns:p14="http://schemas.microsoft.com/office/powerpoint/2010/main" val="17135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2" name="Picture 11"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80" y="1400284"/>
            <a:ext cx="383852" cy="356520"/>
          </a:xfrm>
          <a:prstGeom prst="rect">
            <a:avLst/>
          </a:prstGeom>
        </p:spPr>
      </p:pic>
    </p:spTree>
    <p:custDataLst>
      <p:tags r:id="rId1"/>
    </p:custDataLst>
    <p:extLst>
      <p:ext uri="{BB962C8B-B14F-4D97-AF65-F5344CB8AC3E}">
        <p14:creationId xmlns:p14="http://schemas.microsoft.com/office/powerpoint/2010/main" val="3772579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10889129" y="282574"/>
            <a:ext cx="9144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Vertical Title 1"/>
          <p:cNvSpPr>
            <a:spLocks noGrp="1"/>
          </p:cNvSpPr>
          <p:nvPr>
            <p:ph type="title" orient="vert"/>
          </p:nvPr>
        </p:nvSpPr>
        <p:spPr>
          <a:xfrm>
            <a:off x="10661029" y="954742"/>
            <a:ext cx="908424"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609600" y="958757"/>
            <a:ext cx="9144000" cy="518486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9" name="Picture 8"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rot="5400000">
            <a:off x="10328370" y="252420"/>
            <a:ext cx="355191" cy="381425"/>
          </a:xfrm>
          <a:prstGeom prst="rect">
            <a:avLst/>
          </a:prstGeom>
        </p:spPr>
      </p:pic>
    </p:spTree>
    <p:custDataLst>
      <p:tags r:id="rId1"/>
    </p:custDataLst>
    <p:extLst>
      <p:ext uri="{BB962C8B-B14F-4D97-AF65-F5344CB8AC3E}">
        <p14:creationId xmlns:p14="http://schemas.microsoft.com/office/powerpoint/2010/main" val="23719993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3 Col Comparison">
    <p:spTree>
      <p:nvGrpSpPr>
        <p:cNvPr id="1" name=""/>
        <p:cNvGrpSpPr/>
        <p:nvPr/>
      </p:nvGrpSpPr>
      <p:grpSpPr>
        <a:xfrm>
          <a:off x="0" y="0"/>
          <a:ext cx="0" cy="0"/>
          <a:chOff x="0" y="0"/>
          <a:chExt cx="0" cy="0"/>
        </a:xfrm>
      </p:grpSpPr>
      <p:sp>
        <p:nvSpPr>
          <p:cNvPr id="10" name="Rectangle 9"/>
          <p:cNvSpPr/>
          <p:nvPr/>
        </p:nvSpPr>
        <p:spPr>
          <a:xfrm>
            <a:off x="10993349" y="282574"/>
            <a:ext cx="81018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19126491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_3 Col Comparison">
    <p:spTree>
      <p:nvGrpSpPr>
        <p:cNvPr id="1" name=""/>
        <p:cNvGrpSpPr/>
        <p:nvPr/>
      </p:nvGrpSpPr>
      <p:grpSpPr>
        <a:xfrm>
          <a:off x="0" y="0"/>
          <a:ext cx="0" cy="0"/>
          <a:chOff x="0" y="0"/>
          <a:chExt cx="0" cy="0"/>
        </a:xfrm>
      </p:grpSpPr>
      <p:sp>
        <p:nvSpPr>
          <p:cNvPr id="10" name="Rectangle 9"/>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6" name="Picture 15" descr="WFU_Univ_White_Shield-only.eps"/>
          <p:cNvPicPr>
            <a:picLocks noChangeAspect="1"/>
          </p:cNvPicPr>
          <p:nvPr userDrawn="1"/>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18279109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3638"/>
            <a:ext cx="2844800" cy="457200"/>
          </a:xfrm>
          <a:prstGeom prst="rect">
            <a:avLst/>
          </a:prstGeom>
        </p:spPr>
        <p:txBody>
          <a:bodyPr/>
          <a:lstStyle>
            <a:lvl1pPr>
              <a:defRPr/>
            </a:lvl1pPr>
          </a:lstStyle>
          <a:p>
            <a:endParaRPr lang="en-US" altLang="en-US" dirty="0"/>
          </a:p>
        </p:txBody>
      </p:sp>
      <p:sp>
        <p:nvSpPr>
          <p:cNvPr id="7" name="Footer Placeholder 6"/>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en-US" dirty="0"/>
          </a:p>
        </p:txBody>
      </p:sp>
      <p:sp>
        <p:nvSpPr>
          <p:cNvPr id="8" name="Slide Number Placeholder 7"/>
          <p:cNvSpPr>
            <a:spLocks noGrp="1"/>
          </p:cNvSpPr>
          <p:nvPr>
            <p:ph type="sldNum" sz="quarter" idx="12"/>
          </p:nvPr>
        </p:nvSpPr>
        <p:spPr>
          <a:xfrm>
            <a:off x="8737600" y="6243638"/>
            <a:ext cx="2844800" cy="457200"/>
          </a:xfrm>
          <a:prstGeom prst="rect">
            <a:avLst/>
          </a:prstGeom>
        </p:spPr>
        <p:txBody>
          <a:bodyPr/>
          <a:lstStyle>
            <a:lvl1pPr>
              <a:defRPr/>
            </a:lvl1pPr>
          </a:lstStyle>
          <a:p>
            <a:fld id="{B259E7BA-40A6-4089-A8B6-09F1304A2F69}" type="slidenum">
              <a:rPr lang="en-US" altLang="en-US"/>
              <a:pPr/>
              <a:t>‹#›</a:t>
            </a:fld>
            <a:endParaRPr lang="en-US" altLang="en-US" dirty="0"/>
          </a:p>
        </p:txBody>
      </p:sp>
    </p:spTree>
    <p:custDataLst>
      <p:tags r:id="rId1"/>
    </p:custDataLst>
    <p:extLst>
      <p:ext uri="{BB962C8B-B14F-4D97-AF65-F5344CB8AC3E}">
        <p14:creationId xmlns:p14="http://schemas.microsoft.com/office/powerpoint/2010/main" val="363620074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3" y="484094"/>
            <a:ext cx="10075084"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664633" y="1981201"/>
            <a:ext cx="10075084"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9060329" y="6423586"/>
            <a:ext cx="28448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lang="en-US" dirty="0">
              <a:solidFill>
                <a:srgbClr val="000000">
                  <a:lumMod val="65000"/>
                  <a:lumOff val="35000"/>
                </a:srgbClr>
              </a:solidFill>
            </a:endParaRPr>
          </a:p>
        </p:txBody>
      </p:sp>
      <p:sp>
        <p:nvSpPr>
          <p:cNvPr id="5" name="Footer Placeholder 4"/>
          <p:cNvSpPr>
            <a:spLocks noGrp="1"/>
          </p:cNvSpPr>
          <p:nvPr>
            <p:ph type="ftr" sz="quarter" idx="3"/>
          </p:nvPr>
        </p:nvSpPr>
        <p:spPr>
          <a:xfrm>
            <a:off x="268941" y="6423586"/>
            <a:ext cx="8163859"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4"/>
          </p:nvPr>
        </p:nvSpPr>
        <p:spPr>
          <a:xfrm>
            <a:off x="11074400" y="242235"/>
            <a:ext cx="738717" cy="365125"/>
          </a:xfrm>
          <a:prstGeom prst="rect">
            <a:avLst/>
          </a:prstGeom>
        </p:spPr>
        <p:txBody>
          <a:bodyPr vert="horz" lIns="91440" tIns="45720" rIns="91440" bIns="45720" rtlCol="0" anchor="ctr"/>
          <a:lstStyle>
            <a:lvl1pPr algn="r">
              <a:defRPr sz="1400">
                <a:solidFill>
                  <a:schemeClr val="bg1"/>
                </a:solidFill>
              </a:defRPr>
            </a:lvl1p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Tree>
    <p:custDataLst>
      <p:tags r:id="rId26"/>
    </p:custDataLst>
    <p:extLst>
      <p:ext uri="{BB962C8B-B14F-4D97-AF65-F5344CB8AC3E}">
        <p14:creationId xmlns:p14="http://schemas.microsoft.com/office/powerpoint/2010/main" val="10541127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50"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75" indent="-228600" algn="l" defTabSz="914400"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88"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400" indent="-228600" algn="l" defTabSz="914400"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7.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imbalanced-learn.org/stable/references/under_sampling.html#module-imblearn.under_sampling"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MonkeyWrenchGang/2024_BAN7040/blob/main/17July2024_UpDownAndSmoteSampling.ipynb" TargetMode="Externa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hyperlink" Target="https://www.youtube.com/watch?v=wPqtzj5VZus" TargetMode="External"/><Relationship Id="rId2" Type="http://schemas.openxmlformats.org/officeDocument/2006/relationships/hyperlink" Target="https://www.youtube.com/watch?time_continue=215&amp;v=sRktKszFmSk&amp;feature=emb_logo"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datascience.la/xgboost-workshop-and-meetup-talk-with-tianqi-chen/" TargetMode="External"/><Relationship Id="rId2" Type="http://schemas.openxmlformats.org/officeDocument/2006/relationships/hyperlink" Target="https://github.com/dmlc/xgboost/tree/master/demo" TargetMode="External"/><Relationship Id="rId1" Type="http://schemas.openxmlformats.org/officeDocument/2006/relationships/slideLayout" Target="../slideLayouts/slideLayout3.xml"/><Relationship Id="rId4" Type="http://schemas.openxmlformats.org/officeDocument/2006/relationships/hyperlink" Target="https://xgboost.readthedocs.io/en/latest/"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hyperlink" Target="https://www.youtube.com/watch?v=Nol1hVtLOSg" TargetMode="External"/><Relationship Id="rId2" Type="http://schemas.openxmlformats.org/officeDocument/2006/relationships/hyperlink" Target="https://www.youtube.com/watch?v=9wDoiSo8trc" TargetMode="External"/><Relationship Id="rId1" Type="http://schemas.openxmlformats.org/officeDocument/2006/relationships/slideLayout" Target="../slideLayouts/slideLayout14.xml"/><Relationship Id="rId4" Type="http://schemas.openxmlformats.org/officeDocument/2006/relationships/hyperlink" Target="https://uc-r.github.io/gbm_regression" TargetMode="Externa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half" idx="2"/>
          </p:nvPr>
        </p:nvSpPr>
        <p:spPr>
          <a:xfrm>
            <a:off x="1489115" y="1248156"/>
            <a:ext cx="3993266" cy="3053891"/>
          </a:xfrm>
        </p:spPr>
        <p:txBody>
          <a:bodyPr/>
          <a:lstStyle/>
          <a:p>
            <a:pPr>
              <a:lnSpc>
                <a:spcPts val="3900"/>
              </a:lnSpc>
            </a:pPr>
            <a:r>
              <a:rPr lang="en-US" sz="3200" cap="small" dirty="0">
                <a:latin typeface="+mj-lt"/>
                <a:ea typeface="+mj-ea"/>
                <a:cs typeface="+mj-cs"/>
              </a:rPr>
              <a:t>Wake Forest</a:t>
            </a:r>
          </a:p>
          <a:p>
            <a:pPr>
              <a:lnSpc>
                <a:spcPts val="3600"/>
              </a:lnSpc>
              <a:spcBef>
                <a:spcPts val="0"/>
              </a:spcBef>
            </a:pPr>
            <a:r>
              <a:rPr lang="en-US" sz="3200" cap="small" dirty="0">
                <a:latin typeface="+mj-lt"/>
                <a:ea typeface="+mj-ea"/>
                <a:cs typeface="+mj-cs"/>
              </a:rPr>
              <a:t>School of Business</a:t>
            </a:r>
          </a:p>
          <a:p>
            <a:pPr>
              <a:lnSpc>
                <a:spcPts val="3600"/>
              </a:lnSpc>
              <a:spcBef>
                <a:spcPts val="0"/>
              </a:spcBef>
            </a:pPr>
            <a:r>
              <a:rPr lang="en-US" sz="4400" b="1" dirty="0"/>
              <a:t>_______</a:t>
            </a:r>
            <a:endParaRPr lang="en-US" sz="3200" cap="small" dirty="0">
              <a:latin typeface="+mj-lt"/>
              <a:ea typeface="+mj-ea"/>
              <a:cs typeface="+mj-cs"/>
            </a:endParaRPr>
          </a:p>
          <a:p>
            <a:pPr>
              <a:spcBef>
                <a:spcPts val="0"/>
              </a:spcBef>
            </a:pPr>
            <a:endParaRPr lang="en-US" sz="1800" cap="small" dirty="0">
              <a:latin typeface="+mj-lt"/>
              <a:ea typeface="+mj-ea"/>
              <a:cs typeface="+mj-cs"/>
            </a:endParaRPr>
          </a:p>
          <a:p>
            <a:pPr>
              <a:spcBef>
                <a:spcPts val="0"/>
              </a:spcBef>
            </a:pPr>
            <a:r>
              <a:rPr lang="en-US" sz="4000" cap="small" dirty="0">
                <a:latin typeface="+mj-lt"/>
                <a:ea typeface="+mj-ea"/>
                <a:cs typeface="+mj-cs"/>
              </a:rPr>
              <a:t>Classification</a:t>
            </a:r>
          </a:p>
        </p:txBody>
      </p:sp>
      <p:pic>
        <p:nvPicPr>
          <p:cNvPr id="7" name="Picture Placeholder 8" descr="20120326medallion0338.jpg"/>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9080500" y="2377440"/>
            <a:ext cx="2732617" cy="2039112"/>
          </a:xfrm>
          <a:prstGeom prst="rect">
            <a:avLst/>
          </a:prstGeom>
        </p:spPr>
      </p:pic>
      <p:pic>
        <p:nvPicPr>
          <p:cNvPr id="17" name="Picture Placeholder 16"/>
          <p:cNvPicPr>
            <a:picLocks noGrp="1" noChangeAspect="1"/>
          </p:cNvPicPr>
          <p:nvPr>
            <p:ph type="pic" sz="quarter" idx="12"/>
          </p:nvPr>
        </p:nvPicPr>
        <p:blipFill>
          <a:blip r:embed="rId5" cstate="hqprint">
            <a:extLst>
              <a:ext uri="{28A0092B-C50C-407E-A947-70E740481C1C}">
                <a14:useLocalDpi xmlns:a14="http://schemas.microsoft.com/office/drawing/2010/main"/>
              </a:ext>
            </a:extLst>
          </a:blip>
          <a:srcRect/>
          <a:stretch>
            <a:fillRect/>
          </a:stretch>
        </p:blipFill>
        <p:spPr/>
      </p:pic>
      <p:sp>
        <p:nvSpPr>
          <p:cNvPr id="19" name="Title 18"/>
          <p:cNvSpPr>
            <a:spLocks noGrp="1"/>
          </p:cNvSpPr>
          <p:nvPr>
            <p:ph type="ctrTitle"/>
          </p:nvPr>
        </p:nvSpPr>
        <p:spPr>
          <a:xfrm>
            <a:off x="1066800" y="4953965"/>
            <a:ext cx="10746317" cy="612265"/>
          </a:xfrm>
        </p:spPr>
        <p:txBody>
          <a:bodyPr>
            <a:noAutofit/>
          </a:bodyPr>
          <a:lstStyle/>
          <a:p>
            <a:pPr algn="r"/>
            <a:r>
              <a:rPr lang="en-US" sz="3200" b="1" dirty="0"/>
              <a:t>Gradient Boosting</a:t>
            </a:r>
          </a:p>
        </p:txBody>
      </p:sp>
    </p:spTree>
    <p:custDataLst>
      <p:tags r:id="rId1"/>
    </p:custDataLst>
    <p:extLst>
      <p:ext uri="{BB962C8B-B14F-4D97-AF65-F5344CB8AC3E}">
        <p14:creationId xmlns:p14="http://schemas.microsoft.com/office/powerpoint/2010/main" val="1279648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359368F8-2E8D-90EF-1445-85A96BDE52BF}"/>
              </a:ext>
            </a:extLst>
          </p:cNvPr>
          <p:cNvSpPr>
            <a:spLocks noGrp="1"/>
          </p:cNvSpPr>
          <p:nvPr>
            <p:ph type="title"/>
          </p:nvPr>
        </p:nvSpPr>
        <p:spPr>
          <a:xfrm>
            <a:off x="507407" y="2571750"/>
            <a:ext cx="4340352" cy="1162050"/>
          </a:xfrm>
        </p:spPr>
        <p:txBody>
          <a:bodyPr/>
          <a:lstStyle/>
          <a:p>
            <a:r>
              <a:rPr lang="en-US" dirty="0"/>
              <a:t>Agenda</a:t>
            </a:r>
          </a:p>
        </p:txBody>
      </p:sp>
      <p:sp>
        <p:nvSpPr>
          <p:cNvPr id="16" name="Text Placeholder 3">
            <a:extLst>
              <a:ext uri="{FF2B5EF4-FFF2-40B4-BE49-F238E27FC236}">
                <a16:creationId xmlns:a16="http://schemas.microsoft.com/office/drawing/2014/main" id="{1D27342E-25C9-9A8D-80BC-6FC54D08B572}"/>
              </a:ext>
            </a:extLst>
          </p:cNvPr>
          <p:cNvSpPr>
            <a:spLocks noGrp="1"/>
          </p:cNvSpPr>
          <p:nvPr>
            <p:ph type="body" sz="half" idx="2"/>
          </p:nvPr>
        </p:nvSpPr>
        <p:spPr>
          <a:xfrm>
            <a:off x="508124" y="3733801"/>
            <a:ext cx="4340352" cy="2392363"/>
          </a:xfrm>
        </p:spPr>
        <p:txBody>
          <a:bodyPr/>
          <a:lstStyle/>
          <a:p>
            <a:endParaRPr lang="en-US"/>
          </a:p>
        </p:txBody>
      </p:sp>
      <p:graphicFrame>
        <p:nvGraphicFramePr>
          <p:cNvPr id="10" name="Content Placeholder 7">
            <a:extLst>
              <a:ext uri="{FF2B5EF4-FFF2-40B4-BE49-F238E27FC236}">
                <a16:creationId xmlns:a16="http://schemas.microsoft.com/office/drawing/2014/main" id="{EABEDB8B-6FDE-5657-432F-F9A68FC4E018}"/>
              </a:ext>
            </a:extLst>
          </p:cNvPr>
          <p:cNvGraphicFramePr>
            <a:graphicFrameLocks noGrp="1"/>
          </p:cNvGraphicFramePr>
          <p:nvPr>
            <p:ph idx="1"/>
            <p:extLst>
              <p:ext uri="{D42A27DB-BD31-4B8C-83A1-F6EECF244321}">
                <p14:modId xmlns:p14="http://schemas.microsoft.com/office/powerpoint/2010/main" val="903760029"/>
              </p:ext>
            </p:extLst>
          </p:nvPr>
        </p:nvGraphicFramePr>
        <p:xfrm>
          <a:off x="5558368" y="273051"/>
          <a:ext cx="6129865"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3426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A6A01-7656-E6D8-E755-F23B1B99D5D3}"/>
              </a:ext>
            </a:extLst>
          </p:cNvPr>
          <p:cNvSpPr>
            <a:spLocks noGrp="1"/>
          </p:cNvSpPr>
          <p:nvPr>
            <p:ph type="title"/>
          </p:nvPr>
        </p:nvSpPr>
        <p:spPr>
          <a:xfrm>
            <a:off x="664633" y="484094"/>
            <a:ext cx="10075084" cy="1116106"/>
          </a:xfrm>
        </p:spPr>
        <p:txBody>
          <a:bodyPr anchor="t">
            <a:normAutofit/>
          </a:bodyPr>
          <a:lstStyle/>
          <a:p>
            <a:r>
              <a:rPr lang="en-US" dirty="0"/>
              <a:t>Churn</a:t>
            </a:r>
          </a:p>
        </p:txBody>
      </p:sp>
      <p:sp>
        <p:nvSpPr>
          <p:cNvPr id="3" name="Content Placeholder 2">
            <a:extLst>
              <a:ext uri="{FF2B5EF4-FFF2-40B4-BE49-F238E27FC236}">
                <a16:creationId xmlns:a16="http://schemas.microsoft.com/office/drawing/2014/main" id="{154475EA-0838-7820-8262-D528F4295824}"/>
              </a:ext>
            </a:extLst>
          </p:cNvPr>
          <p:cNvSpPr>
            <a:spLocks noGrp="1"/>
          </p:cNvSpPr>
          <p:nvPr>
            <p:ph sz="half" idx="1"/>
          </p:nvPr>
        </p:nvSpPr>
        <p:spPr>
          <a:xfrm>
            <a:off x="664691" y="1985963"/>
            <a:ext cx="4876800" cy="4140200"/>
          </a:xfrm>
        </p:spPr>
        <p:txBody>
          <a:bodyPr>
            <a:normAutofit/>
          </a:bodyPr>
          <a:lstStyle/>
          <a:p>
            <a:pPr marL="0" indent="0" algn="ctr">
              <a:buNone/>
            </a:pPr>
            <a:r>
              <a:rPr lang="en-US" sz="2400" i="1" dirty="0"/>
              <a:t>"Will incentives like freebies and entertainment be enough to keep people from switching? </a:t>
            </a:r>
          </a:p>
          <a:p>
            <a:pPr marL="0" indent="0" algn="ctr">
              <a:buNone/>
            </a:pPr>
            <a:r>
              <a:rPr lang="en-US" sz="2400" i="1" dirty="0"/>
              <a:t>They’re making you this data offer, but will that really help you if you’re still paying the same high monthly bill?” </a:t>
            </a:r>
            <a:r>
              <a:rPr lang="en-US" sz="2400" dirty="0"/>
              <a:t>– telco executive </a:t>
            </a:r>
          </a:p>
        </p:txBody>
      </p:sp>
      <p:pic>
        <p:nvPicPr>
          <p:cNvPr id="1026" name="Picture 2" descr="1K+ Girl Using Phone Pictures | Download Free Images on Unsplash">
            <a:extLst>
              <a:ext uri="{FF2B5EF4-FFF2-40B4-BE49-F238E27FC236}">
                <a16:creationId xmlns:a16="http://schemas.microsoft.com/office/drawing/2014/main" id="{2AC56836-DA49-573E-EC67-23B11931F2BF}"/>
              </a:ext>
            </a:extLst>
          </p:cNvPr>
          <p:cNvPicPr>
            <a:picLocks noChangeAspect="1" noChangeArrowheads="1"/>
          </p:cNvPicPr>
          <p:nvPr/>
        </p:nvPicPr>
        <p:blipFill rotWithShape="1">
          <a:blip r:embed="rId2" cstate="hqprint">
            <a:extLst>
              <a:ext uri="{28A0092B-C50C-407E-A947-70E740481C1C}">
                <a14:useLocalDpi xmlns:a14="http://schemas.microsoft.com/office/drawing/2010/main"/>
              </a:ext>
            </a:extLst>
          </a:blip>
          <a:srcRect b="-2"/>
          <a:stretch/>
        </p:blipFill>
        <p:spPr bwMode="auto">
          <a:xfrm>
            <a:off x="5866504" y="1985963"/>
            <a:ext cx="4876800" cy="4140200"/>
          </a:xfrm>
          <a:prstGeom prst="rect">
            <a:avLst/>
          </a:prstGeom>
          <a:solidFill>
            <a:srgbClr val="FFFFFF"/>
          </a:solidFill>
        </p:spPr>
      </p:pic>
      <p:sp>
        <p:nvSpPr>
          <p:cNvPr id="4" name="Slide Number Placeholder 3">
            <a:extLst>
              <a:ext uri="{FF2B5EF4-FFF2-40B4-BE49-F238E27FC236}">
                <a16:creationId xmlns:a16="http://schemas.microsoft.com/office/drawing/2014/main" id="{C5174A80-2ACC-A079-C64E-3EB0D75577A4}"/>
              </a:ext>
            </a:extLst>
          </p:cNvPr>
          <p:cNvSpPr>
            <a:spLocks noGrp="1"/>
          </p:cNvSpPr>
          <p:nvPr>
            <p:ph type="sldNum" sz="quarter" idx="12"/>
          </p:nvPr>
        </p:nvSpPr>
        <p:spPr>
          <a:xfrm>
            <a:off x="11074400" y="242235"/>
            <a:ext cx="738717" cy="365125"/>
          </a:xfrm>
        </p:spPr>
        <p:txBody>
          <a:bodyPr anchor="ctr">
            <a:normAutofit/>
          </a:bodyPr>
          <a:lstStyle/>
          <a:p>
            <a:pPr>
              <a:spcAft>
                <a:spcPts val="600"/>
              </a:spcAft>
            </a:pPr>
            <a:fld id="{02456A73-CB17-B748-BD2A-A20F5DD59EC7}" type="slidenum">
              <a:rPr lang="en-US" smtClean="0">
                <a:solidFill>
                  <a:srgbClr val="FFFFFF"/>
                </a:solidFill>
              </a:rPr>
              <a:pPr>
                <a:spcAft>
                  <a:spcPts val="600"/>
                </a:spcAft>
              </a:pPr>
              <a:t>3</a:t>
            </a:fld>
            <a:endParaRPr lang="en-US">
              <a:solidFill>
                <a:srgbClr val="FFFFFF"/>
              </a:solidFill>
            </a:endParaRPr>
          </a:p>
        </p:txBody>
      </p:sp>
    </p:spTree>
    <p:extLst>
      <p:ext uri="{BB962C8B-B14F-4D97-AF65-F5344CB8AC3E}">
        <p14:creationId xmlns:p14="http://schemas.microsoft.com/office/powerpoint/2010/main" val="756465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DB18-F48B-978C-C343-E3D362584FB7}"/>
              </a:ext>
            </a:extLst>
          </p:cNvPr>
          <p:cNvSpPr>
            <a:spLocks noGrp="1"/>
          </p:cNvSpPr>
          <p:nvPr>
            <p:ph type="title"/>
          </p:nvPr>
        </p:nvSpPr>
        <p:spPr>
          <a:xfrm>
            <a:off x="664633" y="484094"/>
            <a:ext cx="10075084" cy="1116106"/>
          </a:xfrm>
        </p:spPr>
        <p:txBody>
          <a:bodyPr anchor="t">
            <a:normAutofit/>
          </a:bodyPr>
          <a:lstStyle/>
          <a:p>
            <a:r>
              <a:rPr lang="en-US" dirty="0"/>
              <a:t>Churn and wireless carriers </a:t>
            </a:r>
          </a:p>
        </p:txBody>
      </p:sp>
      <p:sp>
        <p:nvSpPr>
          <p:cNvPr id="10" name="Content Placeholder 2">
            <a:extLst>
              <a:ext uri="{FF2B5EF4-FFF2-40B4-BE49-F238E27FC236}">
                <a16:creationId xmlns:a16="http://schemas.microsoft.com/office/drawing/2014/main" id="{AC2212BB-7A4C-8330-D61E-F917BF8B1F8C}"/>
              </a:ext>
            </a:extLst>
          </p:cNvPr>
          <p:cNvSpPr>
            <a:spLocks noGrp="1"/>
          </p:cNvSpPr>
          <p:nvPr>
            <p:ph sz="half" idx="1"/>
          </p:nvPr>
        </p:nvSpPr>
        <p:spPr>
          <a:xfrm>
            <a:off x="664690" y="1985963"/>
            <a:ext cx="5201813" cy="4140200"/>
          </a:xfrm>
        </p:spPr>
        <p:txBody>
          <a:bodyPr>
            <a:normAutofit fontScale="92500" lnSpcReduction="20000"/>
          </a:bodyPr>
          <a:lstStyle/>
          <a:p>
            <a:pPr marL="0" indent="0" algn="ctr">
              <a:buNone/>
            </a:pPr>
            <a:r>
              <a:rPr lang="en-US" dirty="0"/>
              <a:t>Churn—</a:t>
            </a:r>
            <a:r>
              <a:rPr lang="en-US" b="1" dirty="0"/>
              <a:t>the measurement of how many customers discontinue their wireless service and switch to a different carrier. Churn rates by carrier: </a:t>
            </a:r>
          </a:p>
          <a:p>
            <a:pPr marL="0" indent="0">
              <a:buNone/>
            </a:pPr>
            <a:r>
              <a:rPr lang="en-US" sz="3200" b="1" i="1" dirty="0"/>
              <a:t>0.77% Verizon </a:t>
            </a:r>
          </a:p>
          <a:p>
            <a:pPr marL="0" indent="0">
              <a:buNone/>
            </a:pPr>
            <a:r>
              <a:rPr lang="en-US" sz="3200" b="1" i="1" dirty="0"/>
              <a:t>0.85% ATT </a:t>
            </a:r>
          </a:p>
          <a:p>
            <a:pPr marL="0" indent="0">
              <a:buNone/>
            </a:pPr>
            <a:r>
              <a:rPr lang="en-US" sz="3200" b="1" i="1" dirty="0"/>
              <a:t>2.58% T-Mobile</a:t>
            </a:r>
          </a:p>
          <a:p>
            <a:pPr marL="0" indent="0">
              <a:buNone/>
            </a:pPr>
            <a:r>
              <a:rPr lang="en-US" sz="3800" dirty="0">
                <a:solidFill>
                  <a:srgbClr val="0070C0"/>
                </a:solidFill>
              </a:rPr>
              <a:t>307 </a:t>
            </a:r>
            <a:r>
              <a:rPr lang="en-US" sz="3000" dirty="0">
                <a:solidFill>
                  <a:srgbClr val="0070C0"/>
                </a:solidFill>
              </a:rPr>
              <a:t>million</a:t>
            </a:r>
            <a:r>
              <a:rPr lang="en-US" sz="1900" dirty="0">
                <a:solidFill>
                  <a:srgbClr val="0070C0"/>
                </a:solidFill>
              </a:rPr>
              <a:t> </a:t>
            </a:r>
            <a:r>
              <a:rPr lang="en-US" sz="1900" dirty="0"/>
              <a:t>smartphone users in US </a:t>
            </a:r>
            <a:endParaRPr lang="en-US" sz="2600" dirty="0"/>
          </a:p>
          <a:p>
            <a:pPr marL="0" indent="0">
              <a:buNone/>
            </a:pPr>
            <a:r>
              <a:rPr lang="en-US" sz="3900" i="1" dirty="0">
                <a:solidFill>
                  <a:srgbClr val="0070C0"/>
                </a:solidFill>
              </a:rPr>
              <a:t>142 million</a:t>
            </a:r>
            <a:r>
              <a:rPr lang="en-US" sz="2600" i="1" dirty="0">
                <a:solidFill>
                  <a:srgbClr val="0070C0"/>
                </a:solidFill>
              </a:rPr>
              <a:t> </a:t>
            </a:r>
            <a:r>
              <a:rPr lang="en-US" sz="2600" i="1" dirty="0"/>
              <a:t>new sales in US </a:t>
            </a:r>
            <a:endParaRPr lang="en-US" i="1" dirty="0"/>
          </a:p>
        </p:txBody>
      </p:sp>
      <p:pic>
        <p:nvPicPr>
          <p:cNvPr id="5" name="Picture 4" descr="Chart, bar chart&#10;&#10;Description automatically generated">
            <a:extLst>
              <a:ext uri="{FF2B5EF4-FFF2-40B4-BE49-F238E27FC236}">
                <a16:creationId xmlns:a16="http://schemas.microsoft.com/office/drawing/2014/main" id="{FC484FE1-05F1-54B6-0C8C-9DD98F4A97F1}"/>
              </a:ext>
            </a:extLst>
          </p:cNvPr>
          <p:cNvPicPr>
            <a:picLocks noChangeAspect="1"/>
          </p:cNvPicPr>
          <p:nvPr/>
        </p:nvPicPr>
        <p:blipFill>
          <a:blip r:embed="rId2"/>
          <a:stretch>
            <a:fillRect/>
          </a:stretch>
        </p:blipFill>
        <p:spPr>
          <a:xfrm>
            <a:off x="5702175" y="1707723"/>
            <a:ext cx="6325496" cy="4696679"/>
          </a:xfrm>
          <a:prstGeom prst="rect">
            <a:avLst/>
          </a:prstGeom>
          <a:noFill/>
        </p:spPr>
      </p:pic>
      <p:sp>
        <p:nvSpPr>
          <p:cNvPr id="4" name="Slide Number Placeholder 3">
            <a:extLst>
              <a:ext uri="{FF2B5EF4-FFF2-40B4-BE49-F238E27FC236}">
                <a16:creationId xmlns:a16="http://schemas.microsoft.com/office/drawing/2014/main" id="{44DE868A-4D9D-5AF3-0FDC-78A30B3B4830}"/>
              </a:ext>
            </a:extLst>
          </p:cNvPr>
          <p:cNvSpPr>
            <a:spLocks noGrp="1"/>
          </p:cNvSpPr>
          <p:nvPr>
            <p:ph type="sldNum" sz="quarter" idx="12"/>
          </p:nvPr>
        </p:nvSpPr>
        <p:spPr>
          <a:xfrm>
            <a:off x="11074400" y="242235"/>
            <a:ext cx="738717" cy="365125"/>
          </a:xfrm>
        </p:spPr>
        <p:txBody>
          <a:bodyPr anchor="ctr">
            <a:normAutofit/>
          </a:bodyPr>
          <a:lstStyle/>
          <a:p>
            <a:pPr>
              <a:spcAft>
                <a:spcPts val="600"/>
              </a:spcAft>
            </a:pPr>
            <a:fld id="{02456A73-CB17-B748-BD2A-A20F5DD59EC7}" type="slidenum">
              <a:rPr lang="en-US" smtClean="0">
                <a:solidFill>
                  <a:srgbClr val="FFFFFF"/>
                </a:solidFill>
              </a:rPr>
              <a:pPr>
                <a:spcAft>
                  <a:spcPts val="600"/>
                </a:spcAft>
              </a:pPr>
              <a:t>4</a:t>
            </a:fld>
            <a:endParaRPr lang="en-US">
              <a:solidFill>
                <a:srgbClr val="FFFFFF"/>
              </a:solidFill>
            </a:endParaRPr>
          </a:p>
        </p:txBody>
      </p:sp>
    </p:spTree>
    <p:extLst>
      <p:ext uri="{BB962C8B-B14F-4D97-AF65-F5344CB8AC3E}">
        <p14:creationId xmlns:p14="http://schemas.microsoft.com/office/powerpoint/2010/main" val="2071511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B683A-8125-7837-D6C2-EF654552163F}"/>
              </a:ext>
            </a:extLst>
          </p:cNvPr>
          <p:cNvSpPr>
            <a:spLocks noGrp="1"/>
          </p:cNvSpPr>
          <p:nvPr>
            <p:ph type="title"/>
          </p:nvPr>
        </p:nvSpPr>
        <p:spPr/>
        <p:txBody>
          <a:bodyPr/>
          <a:lstStyle/>
          <a:p>
            <a:r>
              <a:rPr lang="en-US" dirty="0"/>
              <a:t>Churn and some basic Math</a:t>
            </a:r>
          </a:p>
        </p:txBody>
      </p:sp>
      <p:sp>
        <p:nvSpPr>
          <p:cNvPr id="4" name="Content Placeholder 3">
            <a:extLst>
              <a:ext uri="{FF2B5EF4-FFF2-40B4-BE49-F238E27FC236}">
                <a16:creationId xmlns:a16="http://schemas.microsoft.com/office/drawing/2014/main" id="{DE3E6249-52ED-1AD1-4BA0-ACDA2C4CAC8D}"/>
              </a:ext>
            </a:extLst>
          </p:cNvPr>
          <p:cNvSpPr>
            <a:spLocks noGrp="1"/>
          </p:cNvSpPr>
          <p:nvPr>
            <p:ph sz="half" idx="2"/>
          </p:nvPr>
        </p:nvSpPr>
        <p:spPr>
          <a:xfrm>
            <a:off x="5866503" y="1985963"/>
            <a:ext cx="5946613" cy="4140200"/>
          </a:xfrm>
        </p:spPr>
        <p:txBody>
          <a:bodyPr>
            <a:normAutofit/>
          </a:bodyPr>
          <a:lstStyle/>
          <a:p>
            <a:pPr marL="0" indent="0">
              <a:buNone/>
            </a:pPr>
            <a:r>
              <a:rPr lang="en-US" sz="2400" dirty="0"/>
              <a:t>Suppose you can reduce churn by… </a:t>
            </a:r>
          </a:p>
          <a:p>
            <a:pPr marL="0" indent="0">
              <a:buNone/>
            </a:pPr>
            <a:r>
              <a:rPr lang="en-US" sz="2000" dirty="0"/>
              <a:t>1 basis point 1/100th of a percent ~ $121.75 Million </a:t>
            </a:r>
          </a:p>
          <a:p>
            <a:pPr marL="0" indent="0">
              <a:buNone/>
            </a:pPr>
            <a:r>
              <a:rPr lang="en-US" sz="2000" dirty="0"/>
              <a:t>10 basis points 1/10</a:t>
            </a:r>
            <a:r>
              <a:rPr lang="en-US" sz="2000" baseline="30000" dirty="0"/>
              <a:t>th</a:t>
            </a:r>
            <a:r>
              <a:rPr lang="en-US" sz="2000" dirty="0"/>
              <a:t> of a percent – $1.2Billion! </a:t>
            </a:r>
          </a:p>
          <a:p>
            <a:pPr marL="0" indent="0">
              <a:buNone/>
            </a:pPr>
            <a:endParaRPr lang="en-US" sz="2000" dirty="0"/>
          </a:p>
          <a:p>
            <a:pPr marL="0" indent="0" algn="ctr">
              <a:buNone/>
            </a:pPr>
            <a:r>
              <a:rPr lang="en-US" sz="2800" dirty="0">
                <a:solidFill>
                  <a:srgbClr val="0070C0"/>
                </a:solidFill>
              </a:rPr>
              <a:t>The question is how! </a:t>
            </a:r>
          </a:p>
          <a:p>
            <a:pPr marL="0" indent="0">
              <a:buNone/>
            </a:pPr>
            <a:endParaRPr lang="en-US" sz="2000" dirty="0"/>
          </a:p>
        </p:txBody>
      </p:sp>
      <p:sp>
        <p:nvSpPr>
          <p:cNvPr id="5" name="Slide Number Placeholder 4">
            <a:extLst>
              <a:ext uri="{FF2B5EF4-FFF2-40B4-BE49-F238E27FC236}">
                <a16:creationId xmlns:a16="http://schemas.microsoft.com/office/drawing/2014/main" id="{5C2F5E55-F302-9840-05EE-ED6E430219D4}"/>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5</a:t>
            </a:fld>
            <a:endParaRPr lang="en-US" dirty="0">
              <a:solidFill>
                <a:srgbClr val="FFFFFF"/>
              </a:solidFill>
              <a:latin typeface="Franklin Gothic Book"/>
            </a:endParaRPr>
          </a:p>
        </p:txBody>
      </p:sp>
      <p:sp>
        <p:nvSpPr>
          <p:cNvPr id="6" name="Content Placeholder 2">
            <a:extLst>
              <a:ext uri="{FF2B5EF4-FFF2-40B4-BE49-F238E27FC236}">
                <a16:creationId xmlns:a16="http://schemas.microsoft.com/office/drawing/2014/main" id="{AAD038A3-2732-909C-2B84-98F80673E8DE}"/>
              </a:ext>
            </a:extLst>
          </p:cNvPr>
          <p:cNvSpPr>
            <a:spLocks noGrp="1"/>
          </p:cNvSpPr>
          <p:nvPr>
            <p:ph sz="half" idx="1"/>
          </p:nvPr>
        </p:nvSpPr>
        <p:spPr/>
        <p:txBody>
          <a:bodyPr>
            <a:normAutofit lnSpcReduction="10000"/>
          </a:bodyPr>
          <a:lstStyle/>
          <a:p>
            <a:pPr marL="0" indent="0" algn="ctr">
              <a:buNone/>
            </a:pPr>
            <a:r>
              <a:rPr lang="en-US" dirty="0"/>
              <a:t>Suppose you are ATT</a:t>
            </a:r>
            <a:endParaRPr lang="en-US" b="1" dirty="0"/>
          </a:p>
          <a:p>
            <a:pPr marL="0" indent="0">
              <a:buNone/>
            </a:pPr>
            <a:r>
              <a:rPr lang="en-US" sz="3200" b="1" i="1" dirty="0"/>
              <a:t>0.85% Churn Rate </a:t>
            </a:r>
          </a:p>
          <a:p>
            <a:pPr marL="0" indent="0">
              <a:buNone/>
            </a:pPr>
            <a:r>
              <a:rPr lang="en-US" sz="3200" b="1" i="1" dirty="0"/>
              <a:t>222.3 Million Subscribers</a:t>
            </a:r>
          </a:p>
          <a:p>
            <a:pPr marL="0" indent="0">
              <a:buNone/>
            </a:pPr>
            <a:r>
              <a:rPr lang="en-US" sz="3200" b="1" i="1" dirty="0"/>
              <a:t>$546 Average annual bill</a:t>
            </a:r>
          </a:p>
          <a:p>
            <a:pPr marL="0" indent="0">
              <a:buNone/>
            </a:pPr>
            <a:r>
              <a:rPr lang="en-US" sz="3800" dirty="0">
                <a:solidFill>
                  <a:srgbClr val="0070C0"/>
                </a:solidFill>
              </a:rPr>
              <a:t>$121.7 </a:t>
            </a:r>
            <a:r>
              <a:rPr lang="en-US" sz="3000" dirty="0">
                <a:solidFill>
                  <a:srgbClr val="0070C0"/>
                </a:solidFill>
              </a:rPr>
              <a:t>Billion</a:t>
            </a:r>
            <a:r>
              <a:rPr lang="en-US" sz="1900" dirty="0">
                <a:solidFill>
                  <a:srgbClr val="0070C0"/>
                </a:solidFill>
              </a:rPr>
              <a:t> </a:t>
            </a:r>
            <a:r>
              <a:rPr lang="en-US" sz="3200" i="1" dirty="0"/>
              <a:t>revenue</a:t>
            </a:r>
            <a:r>
              <a:rPr lang="en-US" sz="1900" dirty="0"/>
              <a:t> </a:t>
            </a:r>
            <a:endParaRPr lang="en-US" sz="2600" dirty="0"/>
          </a:p>
          <a:p>
            <a:pPr marL="0" indent="0">
              <a:buNone/>
            </a:pPr>
            <a:r>
              <a:rPr lang="en-US" sz="3900" i="1" dirty="0">
                <a:solidFill>
                  <a:srgbClr val="0070C0"/>
                </a:solidFill>
              </a:rPr>
              <a:t>1.0 billion </a:t>
            </a:r>
            <a:r>
              <a:rPr lang="en-US" sz="2600" i="1" dirty="0"/>
              <a:t>cost of churn</a:t>
            </a:r>
            <a:endParaRPr lang="en-US" i="1" dirty="0"/>
          </a:p>
        </p:txBody>
      </p:sp>
    </p:spTree>
    <p:extLst>
      <p:ext uri="{BB962C8B-B14F-4D97-AF65-F5344CB8AC3E}">
        <p14:creationId xmlns:p14="http://schemas.microsoft.com/office/powerpoint/2010/main" val="2913054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459D1-1E9C-0320-2557-4C13931CA9A1}"/>
              </a:ext>
            </a:extLst>
          </p:cNvPr>
          <p:cNvSpPr>
            <a:spLocks noGrp="1"/>
          </p:cNvSpPr>
          <p:nvPr>
            <p:ph type="title"/>
          </p:nvPr>
        </p:nvSpPr>
        <p:spPr/>
        <p:txBody>
          <a:bodyPr/>
          <a:lstStyle/>
          <a:p>
            <a:r>
              <a:rPr lang="en-US" dirty="0"/>
              <a:t>Suppose… </a:t>
            </a:r>
          </a:p>
        </p:txBody>
      </p:sp>
      <p:sp>
        <p:nvSpPr>
          <p:cNvPr id="3" name="Content Placeholder 2">
            <a:extLst>
              <a:ext uri="{FF2B5EF4-FFF2-40B4-BE49-F238E27FC236}">
                <a16:creationId xmlns:a16="http://schemas.microsoft.com/office/drawing/2014/main" id="{873F51B0-EA8F-49C3-0880-76C81B2380EE}"/>
              </a:ext>
            </a:extLst>
          </p:cNvPr>
          <p:cNvSpPr>
            <a:spLocks noGrp="1"/>
          </p:cNvSpPr>
          <p:nvPr>
            <p:ph idx="1"/>
          </p:nvPr>
        </p:nvSpPr>
        <p:spPr/>
        <p:txBody>
          <a:bodyPr>
            <a:normAutofit lnSpcReduction="10000"/>
          </a:bodyPr>
          <a:lstStyle/>
          <a:p>
            <a:r>
              <a:rPr lang="en-US" dirty="0"/>
              <a:t>The executive team recommends we use Accuracy as the key measure to evaluate the performance of both the “heuristic” rules and your machine learning model. </a:t>
            </a:r>
          </a:p>
          <a:p>
            <a:pPr lvl="1"/>
            <a:r>
              <a:rPr lang="en-US" dirty="0"/>
              <a:t>Is there an issue with using accuracy?  </a:t>
            </a:r>
          </a:p>
          <a:p>
            <a:pPr lvl="1"/>
            <a:r>
              <a:rPr lang="en-US" dirty="0"/>
              <a:t>What are other measures that are likely more useful? </a:t>
            </a:r>
          </a:p>
          <a:p>
            <a:r>
              <a:rPr lang="en-US" dirty="0"/>
              <a:t>The executive team wants something actionable : </a:t>
            </a:r>
          </a:p>
          <a:p>
            <a:pPr lvl="1"/>
            <a:r>
              <a:rPr lang="en-US" dirty="0"/>
              <a:t>What is your recommendation </a:t>
            </a:r>
          </a:p>
          <a:p>
            <a:pPr lvl="1"/>
            <a:r>
              <a:rPr lang="en-US" dirty="0"/>
              <a:t>What sort of tests can you perform  to prove / disprove success </a:t>
            </a:r>
          </a:p>
          <a:p>
            <a:pPr lvl="1"/>
            <a:r>
              <a:rPr lang="en-US" dirty="0"/>
              <a:t>How would you measure success? </a:t>
            </a:r>
          </a:p>
          <a:p>
            <a:r>
              <a:rPr lang="en-US" dirty="0"/>
              <a:t>How much is this going to cost them? </a:t>
            </a:r>
          </a:p>
          <a:p>
            <a:pPr lvl="1"/>
            <a:r>
              <a:rPr lang="en-US" dirty="0"/>
              <a:t>given “offering $50 voucher to everyone your model identifies as likely to churn, for every correct classification (churners identified) they expect to make $500 and for every false positive they’ll lose $50(the voucher) and for every false negative they’ll lose $500” </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9625BF86-3AAA-2B3D-B0F2-5713C72D4A84}"/>
              </a:ext>
            </a:extLst>
          </p:cNvPr>
          <p:cNvSpPr>
            <a:spLocks noGrp="1"/>
          </p:cNvSpPr>
          <p:nvPr>
            <p:ph type="sldNum" sz="quarter" idx="12"/>
          </p:nvPr>
        </p:nvSpPr>
        <p:spPr/>
        <p:txBody>
          <a:bodyPr/>
          <a:lstStyle/>
          <a:p>
            <a:fld id="{02456A73-CB17-B748-BD2A-A20F5DD59EC7}" type="slidenum">
              <a:rPr lang="en-US" smtClean="0"/>
              <a:pPr/>
              <a:t>6</a:t>
            </a:fld>
            <a:endParaRPr lang="en-US" dirty="0"/>
          </a:p>
        </p:txBody>
      </p:sp>
    </p:spTree>
    <p:extLst>
      <p:ext uri="{BB962C8B-B14F-4D97-AF65-F5344CB8AC3E}">
        <p14:creationId xmlns:p14="http://schemas.microsoft.com/office/powerpoint/2010/main" val="2872287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2A512-304A-21BA-FD2F-C4F75A7C7A11}"/>
              </a:ext>
            </a:extLst>
          </p:cNvPr>
          <p:cNvSpPr>
            <a:spLocks noGrp="1"/>
          </p:cNvSpPr>
          <p:nvPr>
            <p:ph type="title"/>
          </p:nvPr>
        </p:nvSpPr>
        <p:spPr>
          <a:xfrm>
            <a:off x="507407" y="2571750"/>
            <a:ext cx="4340352" cy="1162050"/>
          </a:xfrm>
        </p:spPr>
        <p:txBody>
          <a:bodyPr anchor="b">
            <a:normAutofit/>
          </a:bodyPr>
          <a:lstStyle/>
          <a:p>
            <a:r>
              <a:rPr lang="en-US" dirty="0"/>
              <a:t>How do I improve Prediction Performance? </a:t>
            </a:r>
          </a:p>
        </p:txBody>
      </p:sp>
      <p:sp>
        <p:nvSpPr>
          <p:cNvPr id="10" name="Text Placeholder 3">
            <a:extLst>
              <a:ext uri="{FF2B5EF4-FFF2-40B4-BE49-F238E27FC236}">
                <a16:creationId xmlns:a16="http://schemas.microsoft.com/office/drawing/2014/main" id="{03DD357E-8B92-09A5-CBBB-0FAE0B9DB85D}"/>
              </a:ext>
            </a:extLst>
          </p:cNvPr>
          <p:cNvSpPr>
            <a:spLocks noGrp="1"/>
          </p:cNvSpPr>
          <p:nvPr>
            <p:ph type="body" sz="half" idx="2"/>
          </p:nvPr>
        </p:nvSpPr>
        <p:spPr>
          <a:xfrm>
            <a:off x="508124" y="3733801"/>
            <a:ext cx="4340352" cy="2392363"/>
          </a:xfrm>
        </p:spPr>
        <p:txBody>
          <a:bodyPr/>
          <a:lstStyle/>
          <a:p>
            <a:endParaRPr lang="en-US" dirty="0"/>
          </a:p>
        </p:txBody>
      </p:sp>
      <p:graphicFrame>
        <p:nvGraphicFramePr>
          <p:cNvPr id="6" name="Content Placeholder 2">
            <a:extLst>
              <a:ext uri="{FF2B5EF4-FFF2-40B4-BE49-F238E27FC236}">
                <a16:creationId xmlns:a16="http://schemas.microsoft.com/office/drawing/2014/main" id="{D75D4210-D310-FA1F-EF50-F65DBF9878C7}"/>
              </a:ext>
            </a:extLst>
          </p:cNvPr>
          <p:cNvGraphicFramePr>
            <a:graphicFrameLocks noGrp="1"/>
          </p:cNvGraphicFramePr>
          <p:nvPr>
            <p:ph idx="1"/>
            <p:extLst>
              <p:ext uri="{D42A27DB-BD31-4B8C-83A1-F6EECF244321}">
                <p14:modId xmlns:p14="http://schemas.microsoft.com/office/powerpoint/2010/main" val="2694102759"/>
              </p:ext>
            </p:extLst>
          </p:nvPr>
        </p:nvGraphicFramePr>
        <p:xfrm>
          <a:off x="5558368" y="273051"/>
          <a:ext cx="6129865"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hidden="1">
            <a:extLst>
              <a:ext uri="{FF2B5EF4-FFF2-40B4-BE49-F238E27FC236}">
                <a16:creationId xmlns:a16="http://schemas.microsoft.com/office/drawing/2014/main" id="{EF296271-773C-C0BA-6A16-C50FE8784BA1}"/>
              </a:ext>
            </a:extLst>
          </p:cNvPr>
          <p:cNvSpPr>
            <a:spLocks noGrp="1"/>
          </p:cNvSpPr>
          <p:nvPr>
            <p:ph type="sldNum" sz="quarter" idx="4294967295"/>
          </p:nvPr>
        </p:nvSpPr>
        <p:spPr>
          <a:xfrm>
            <a:off x="11166412" y="6426788"/>
            <a:ext cx="738717" cy="365125"/>
          </a:xfrm>
        </p:spPr>
        <p:txBody>
          <a:bodyPr/>
          <a:lstStyle/>
          <a:p>
            <a:pPr>
              <a:spcAft>
                <a:spcPts val="600"/>
              </a:spcAft>
            </a:pPr>
            <a:fld id="{02456A73-CB17-B748-BD2A-A20F5DD59EC7}" type="slidenum">
              <a:rPr lang="en-US" smtClean="0"/>
              <a:pPr>
                <a:spcAft>
                  <a:spcPts val="600"/>
                </a:spcAft>
              </a:pPr>
              <a:t>7</a:t>
            </a:fld>
            <a:endParaRPr lang="en-US"/>
          </a:p>
        </p:txBody>
      </p:sp>
    </p:spTree>
    <p:extLst>
      <p:ext uri="{BB962C8B-B14F-4D97-AF65-F5344CB8AC3E}">
        <p14:creationId xmlns:p14="http://schemas.microsoft.com/office/powerpoint/2010/main" val="129748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E5131-34EB-3284-0B32-4EC7AC92B909}"/>
              </a:ext>
            </a:extLst>
          </p:cNvPr>
          <p:cNvSpPr>
            <a:spLocks noGrp="1"/>
          </p:cNvSpPr>
          <p:nvPr>
            <p:ph type="title"/>
          </p:nvPr>
        </p:nvSpPr>
        <p:spPr/>
        <p:txBody>
          <a:bodyPr/>
          <a:lstStyle/>
          <a:p>
            <a:r>
              <a:rPr lang="en-US" dirty="0"/>
              <a:t>Feature Engineering </a:t>
            </a:r>
          </a:p>
        </p:txBody>
      </p:sp>
      <p:sp>
        <p:nvSpPr>
          <p:cNvPr id="3" name="Content Placeholder 2">
            <a:extLst>
              <a:ext uri="{FF2B5EF4-FFF2-40B4-BE49-F238E27FC236}">
                <a16:creationId xmlns:a16="http://schemas.microsoft.com/office/drawing/2014/main" id="{1E6B3D20-F8C8-5B2E-5379-BA39E3448FCC}"/>
              </a:ext>
            </a:extLst>
          </p:cNvPr>
          <p:cNvSpPr>
            <a:spLocks noGrp="1"/>
          </p:cNvSpPr>
          <p:nvPr>
            <p:ph idx="1"/>
          </p:nvPr>
        </p:nvSpPr>
        <p:spPr>
          <a:xfrm>
            <a:off x="5558368" y="273051"/>
            <a:ext cx="6129865" cy="6306169"/>
          </a:xfrm>
        </p:spPr>
        <p:txBody>
          <a:bodyPr>
            <a:normAutofit fontScale="92500" lnSpcReduction="10000"/>
          </a:bodyPr>
          <a:lstStyle/>
          <a:p>
            <a:r>
              <a:rPr lang="en-US" b="1" dirty="0"/>
              <a:t>Text Features Engineering: </a:t>
            </a:r>
            <a:r>
              <a:rPr lang="en-US" dirty="0"/>
              <a:t>creating features from text such as TF-IDF scores, word embeddings (e.g., Word2Vec, </a:t>
            </a:r>
            <a:r>
              <a:rPr lang="en-US" dirty="0" err="1"/>
              <a:t>GloVe</a:t>
            </a:r>
            <a:r>
              <a:rPr lang="en-US" dirty="0"/>
              <a:t>), or using pre-trained language models like BERT for contextual embeddings can capture the semantic meaning of the text.</a:t>
            </a:r>
          </a:p>
          <a:p>
            <a:r>
              <a:rPr lang="en-US" b="1" dirty="0"/>
              <a:t>Feature Hashing</a:t>
            </a:r>
            <a:r>
              <a:rPr lang="en-US" dirty="0"/>
              <a:t>: For high-dimensional categorical data, feature hashing (or the hashing trick) can be a space-efficient alternative to one-hot encoding, especially when the number of categories is large.</a:t>
            </a:r>
          </a:p>
          <a:p>
            <a:r>
              <a:rPr lang="en-US" b="1" dirty="0"/>
              <a:t>Clustering as Feature</a:t>
            </a:r>
            <a:r>
              <a:rPr lang="en-US" dirty="0"/>
              <a:t>: Using clustering algorithms (e.g., k-means) to create new features that indicate the cluster memberships of data points can help uncover latent structures within the data.</a:t>
            </a:r>
          </a:p>
          <a:p>
            <a:r>
              <a:rPr lang="en-US" b="1" dirty="0"/>
              <a:t>Window Features</a:t>
            </a:r>
            <a:r>
              <a:rPr lang="en-US" dirty="0"/>
              <a:t>: features based on expanding or rolling windows with various statistics (min, max, variance) can capture trends and volatility in data.</a:t>
            </a:r>
          </a:p>
          <a:p>
            <a:r>
              <a:rPr lang="en-US" b="1" dirty="0"/>
              <a:t>Frequency Encoding</a:t>
            </a:r>
            <a:r>
              <a:rPr lang="en-US" dirty="0"/>
              <a:t>: For categorical variables with a lot of categories, frequency encoding replaces categories with their frequencies</a:t>
            </a:r>
          </a:p>
          <a:p>
            <a:r>
              <a:rPr lang="en-US" b="1" dirty="0"/>
              <a:t>Target Encoding</a:t>
            </a:r>
            <a:r>
              <a:rPr lang="en-US" dirty="0"/>
              <a:t>: replacing a categorical value with a statistic derived from the target variable, usually the mean. </a:t>
            </a:r>
          </a:p>
        </p:txBody>
      </p:sp>
      <p:sp>
        <p:nvSpPr>
          <p:cNvPr id="4" name="Text Placeholder 3">
            <a:extLst>
              <a:ext uri="{FF2B5EF4-FFF2-40B4-BE49-F238E27FC236}">
                <a16:creationId xmlns:a16="http://schemas.microsoft.com/office/drawing/2014/main" id="{49027ED5-2C10-E5AB-C921-A1BA04606386}"/>
              </a:ext>
            </a:extLst>
          </p:cNvPr>
          <p:cNvSpPr>
            <a:spLocks noGrp="1"/>
          </p:cNvSpPr>
          <p:nvPr>
            <p:ph type="body" sz="half" idx="2"/>
          </p:nvPr>
        </p:nvSpPr>
        <p:spPr/>
        <p:txBody>
          <a:bodyPr/>
          <a:lstStyle/>
          <a:p>
            <a:r>
              <a:rPr lang="en-US" dirty="0"/>
              <a:t>There is a whole art and science behind Feature Engineering – reality is that you have to be creative </a:t>
            </a:r>
          </a:p>
        </p:txBody>
      </p:sp>
    </p:spTree>
    <p:extLst>
      <p:ext uri="{BB962C8B-B14F-4D97-AF65-F5344CB8AC3E}">
        <p14:creationId xmlns:p14="http://schemas.microsoft.com/office/powerpoint/2010/main" val="320492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6240E-FE4E-EEC3-D523-7CFF5C681265}"/>
              </a:ext>
            </a:extLst>
          </p:cNvPr>
          <p:cNvSpPr>
            <a:spLocks noGrp="1"/>
          </p:cNvSpPr>
          <p:nvPr>
            <p:ph type="title"/>
          </p:nvPr>
        </p:nvSpPr>
        <p:spPr>
          <a:xfrm>
            <a:off x="507407" y="2571750"/>
            <a:ext cx="4340352" cy="1162050"/>
          </a:xfrm>
        </p:spPr>
        <p:txBody>
          <a:bodyPr vert="horz" lIns="91440" tIns="45720" rIns="91440" bIns="45720" rtlCol="0" anchor="b" anchorCtr="0">
            <a:normAutofit/>
          </a:bodyPr>
          <a:lstStyle/>
          <a:p>
            <a:r>
              <a:rPr lang="en-US" dirty="0"/>
              <a:t>Play with Sampling</a:t>
            </a:r>
          </a:p>
        </p:txBody>
      </p:sp>
      <p:sp>
        <p:nvSpPr>
          <p:cNvPr id="7" name="TextBox 6">
            <a:extLst>
              <a:ext uri="{FF2B5EF4-FFF2-40B4-BE49-F238E27FC236}">
                <a16:creationId xmlns:a16="http://schemas.microsoft.com/office/drawing/2014/main" id="{8C3CE62A-658E-32EB-6F2A-992492AB977F}"/>
              </a:ext>
            </a:extLst>
          </p:cNvPr>
          <p:cNvSpPr txBox="1"/>
          <p:nvPr/>
        </p:nvSpPr>
        <p:spPr>
          <a:xfrm>
            <a:off x="508124" y="3733801"/>
            <a:ext cx="4340352" cy="2392363"/>
          </a:xfrm>
          <a:prstGeom prst="rect">
            <a:avLst/>
          </a:prstGeom>
        </p:spPr>
        <p:txBody>
          <a:bodyPr vert="horz" lIns="91440" tIns="45720" rIns="91440" bIns="45720" rtlCol="0">
            <a:normAutofit/>
          </a:bodyPr>
          <a:lstStyle/>
          <a:p>
            <a:pPr defTabSz="914400">
              <a:spcBef>
                <a:spcPts val="600"/>
              </a:spcBef>
              <a:buClr>
                <a:schemeClr val="accent1"/>
              </a:buClr>
              <a:buSzPct val="75000"/>
            </a:pPr>
            <a:r>
              <a:rPr lang="en-US" sz="1400" b="0" i="0" kern="1200">
                <a:solidFill>
                  <a:schemeClr val="bg1"/>
                </a:solidFill>
                <a:effectLst/>
                <a:latin typeface="+mn-lt"/>
                <a:ea typeface="+mn-ea"/>
                <a:cs typeface="+mn-cs"/>
              </a:rPr>
              <a:t>An effective way to handle imbalanced data is to </a:t>
            </a:r>
            <a:r>
              <a:rPr lang="en-US" sz="1400" b="1" i="0" kern="1200">
                <a:solidFill>
                  <a:schemeClr val="bg1"/>
                </a:solidFill>
                <a:effectLst/>
                <a:latin typeface="+mn-lt"/>
                <a:ea typeface="+mn-ea"/>
                <a:cs typeface="+mn-cs"/>
              </a:rPr>
              <a:t>down sample </a:t>
            </a:r>
            <a:r>
              <a:rPr lang="en-US" sz="1400" b="0" i="0" kern="1200">
                <a:solidFill>
                  <a:schemeClr val="bg1"/>
                </a:solidFill>
                <a:effectLst/>
                <a:latin typeface="+mn-lt"/>
                <a:ea typeface="+mn-ea"/>
                <a:cs typeface="+mn-cs"/>
              </a:rPr>
              <a:t>and </a:t>
            </a:r>
            <a:r>
              <a:rPr lang="en-US" sz="1400" b="1" i="0" kern="1200">
                <a:solidFill>
                  <a:schemeClr val="bg1"/>
                </a:solidFill>
                <a:effectLst/>
                <a:latin typeface="+mn-lt"/>
                <a:ea typeface="+mn-ea"/>
                <a:cs typeface="+mn-cs"/>
              </a:rPr>
              <a:t>upweight</a:t>
            </a:r>
            <a:r>
              <a:rPr lang="en-US" sz="1400" b="0" i="0" kern="1200">
                <a:solidFill>
                  <a:schemeClr val="bg1"/>
                </a:solidFill>
                <a:effectLst/>
                <a:latin typeface="+mn-lt"/>
                <a:ea typeface="+mn-ea"/>
                <a:cs typeface="+mn-cs"/>
              </a:rPr>
              <a:t> the majority class:</a:t>
            </a:r>
            <a:endParaRPr lang="en-US" sz="1400" kern="1200">
              <a:solidFill>
                <a:schemeClr val="bg1"/>
              </a:solidFill>
              <a:latin typeface="+mn-lt"/>
              <a:ea typeface="+mn-ea"/>
              <a:cs typeface="+mn-cs"/>
            </a:endParaRPr>
          </a:p>
          <a:p>
            <a:pPr defTabSz="914400">
              <a:spcBef>
                <a:spcPts val="600"/>
              </a:spcBef>
              <a:buClr>
                <a:schemeClr val="accent1"/>
              </a:buClr>
              <a:buSzPct val="75000"/>
            </a:pPr>
            <a:r>
              <a:rPr lang="en-US" sz="1400" b="1" i="0" kern="1200">
                <a:solidFill>
                  <a:schemeClr val="bg1"/>
                </a:solidFill>
                <a:effectLst/>
                <a:latin typeface="+mn-lt"/>
                <a:ea typeface="+mn-ea"/>
                <a:cs typeface="+mn-cs"/>
              </a:rPr>
              <a:t>Down sampling</a:t>
            </a:r>
            <a:r>
              <a:rPr lang="en-US" sz="1400" b="0" i="0" kern="1200">
                <a:solidFill>
                  <a:schemeClr val="bg1"/>
                </a:solidFill>
                <a:effectLst/>
                <a:latin typeface="+mn-lt"/>
                <a:ea typeface="+mn-ea"/>
                <a:cs typeface="+mn-cs"/>
              </a:rPr>
              <a:t> (in this context) means training on a disproportionately low subset of the majority class examples.</a:t>
            </a:r>
          </a:p>
          <a:p>
            <a:pPr defTabSz="914400">
              <a:spcBef>
                <a:spcPts val="600"/>
              </a:spcBef>
              <a:buClr>
                <a:schemeClr val="accent1"/>
              </a:buClr>
              <a:buSzPct val="75000"/>
            </a:pPr>
            <a:r>
              <a:rPr lang="en-US" sz="1400" b="1" i="0" kern="1200">
                <a:solidFill>
                  <a:schemeClr val="bg1"/>
                </a:solidFill>
                <a:effectLst/>
                <a:latin typeface="+mn-lt"/>
                <a:ea typeface="+mn-ea"/>
                <a:cs typeface="+mn-cs"/>
              </a:rPr>
              <a:t>Upweighting</a:t>
            </a:r>
            <a:r>
              <a:rPr lang="en-US" sz="1400" b="0" i="0" kern="1200">
                <a:solidFill>
                  <a:schemeClr val="bg1"/>
                </a:solidFill>
                <a:effectLst/>
                <a:latin typeface="+mn-lt"/>
                <a:ea typeface="+mn-ea"/>
                <a:cs typeface="+mn-cs"/>
              </a:rPr>
              <a:t> means adding an example weight to the down sampled class equal to the factor by which you down sampled.</a:t>
            </a:r>
          </a:p>
        </p:txBody>
      </p:sp>
      <p:graphicFrame>
        <p:nvGraphicFramePr>
          <p:cNvPr id="5" name="Content Placeholder 4">
            <a:extLst>
              <a:ext uri="{FF2B5EF4-FFF2-40B4-BE49-F238E27FC236}">
                <a16:creationId xmlns:a16="http://schemas.microsoft.com/office/drawing/2014/main" id="{1FAA20E7-FCB5-D2C9-0F29-E83A019B98C2}"/>
              </a:ext>
            </a:extLst>
          </p:cNvPr>
          <p:cNvGraphicFramePr>
            <a:graphicFrameLocks noGrp="1"/>
          </p:cNvGraphicFramePr>
          <p:nvPr>
            <p:ph idx="1"/>
            <p:extLst>
              <p:ext uri="{D42A27DB-BD31-4B8C-83A1-F6EECF244321}">
                <p14:modId xmlns:p14="http://schemas.microsoft.com/office/powerpoint/2010/main" val="2660477438"/>
              </p:ext>
            </p:extLst>
          </p:nvPr>
        </p:nvGraphicFramePr>
        <p:xfrm>
          <a:off x="5558368" y="1155038"/>
          <a:ext cx="6129866" cy="4089139"/>
        </p:xfrm>
        <a:graphic>
          <a:graphicData uri="http://schemas.openxmlformats.org/drawingml/2006/table">
            <a:tbl>
              <a:tblPr firstRow="1">
                <a:tableStyleId>{72833802-FEF1-4C79-8D5D-14CF1EAF98D9}</a:tableStyleId>
              </a:tblPr>
              <a:tblGrid>
                <a:gridCol w="2280285">
                  <a:extLst>
                    <a:ext uri="{9D8B030D-6E8A-4147-A177-3AD203B41FA5}">
                      <a16:colId xmlns:a16="http://schemas.microsoft.com/office/drawing/2014/main" val="3266802158"/>
                    </a:ext>
                  </a:extLst>
                </a:gridCol>
                <a:gridCol w="3849581">
                  <a:extLst>
                    <a:ext uri="{9D8B030D-6E8A-4147-A177-3AD203B41FA5}">
                      <a16:colId xmlns:a16="http://schemas.microsoft.com/office/drawing/2014/main" val="3708743357"/>
                    </a:ext>
                  </a:extLst>
                </a:gridCol>
              </a:tblGrid>
              <a:tr h="1137580">
                <a:tc>
                  <a:txBody>
                    <a:bodyPr/>
                    <a:lstStyle/>
                    <a:p>
                      <a:pPr algn="ctr" fontAlgn="ctr"/>
                      <a:r>
                        <a:rPr lang="en-US" sz="2800">
                          <a:effectLst/>
                        </a:rPr>
                        <a:t>Degree of imbalance</a:t>
                      </a:r>
                    </a:p>
                  </a:txBody>
                  <a:tcPr marL="153727" marR="153727" marT="76864" marB="76864" anchor="ctr"/>
                </a:tc>
                <a:tc>
                  <a:txBody>
                    <a:bodyPr/>
                    <a:lstStyle/>
                    <a:p>
                      <a:pPr algn="ctr" fontAlgn="ctr"/>
                      <a:r>
                        <a:rPr lang="en-US" sz="2800" dirty="0">
                          <a:effectLst/>
                        </a:rPr>
                        <a:t>Proportion of Minority Class</a:t>
                      </a:r>
                    </a:p>
                  </a:txBody>
                  <a:tcPr marL="153727" marR="153727" marT="76864" marB="76864" anchor="ctr"/>
                </a:tc>
                <a:extLst>
                  <a:ext uri="{0D108BD9-81ED-4DB2-BD59-A6C34878D82A}">
                    <a16:rowId xmlns:a16="http://schemas.microsoft.com/office/drawing/2014/main" val="3646437753"/>
                  </a:ext>
                </a:extLst>
              </a:tr>
              <a:tr h="1137580">
                <a:tc>
                  <a:txBody>
                    <a:bodyPr/>
                    <a:lstStyle/>
                    <a:p>
                      <a:pPr algn="l" fontAlgn="t"/>
                      <a:r>
                        <a:rPr lang="en-US" sz="2800" dirty="0">
                          <a:effectLst/>
                        </a:rPr>
                        <a:t>Mild</a:t>
                      </a:r>
                    </a:p>
                  </a:txBody>
                  <a:tcPr marL="153727" marR="153727" marT="76864" marB="76864"/>
                </a:tc>
                <a:tc>
                  <a:txBody>
                    <a:bodyPr/>
                    <a:lstStyle/>
                    <a:p>
                      <a:pPr algn="l" fontAlgn="t"/>
                      <a:r>
                        <a:rPr lang="en-US" sz="2800" dirty="0">
                          <a:effectLst/>
                        </a:rPr>
                        <a:t>20-40% of the data set</a:t>
                      </a:r>
                    </a:p>
                  </a:txBody>
                  <a:tcPr marL="153727" marR="153727" marT="76864" marB="76864"/>
                </a:tc>
                <a:extLst>
                  <a:ext uri="{0D108BD9-81ED-4DB2-BD59-A6C34878D82A}">
                    <a16:rowId xmlns:a16="http://schemas.microsoft.com/office/drawing/2014/main" val="1814733805"/>
                  </a:ext>
                </a:extLst>
              </a:tr>
              <a:tr h="1137580">
                <a:tc>
                  <a:txBody>
                    <a:bodyPr/>
                    <a:lstStyle/>
                    <a:p>
                      <a:pPr algn="l" fontAlgn="t"/>
                      <a:r>
                        <a:rPr lang="en-US" sz="2800" dirty="0">
                          <a:effectLst/>
                        </a:rPr>
                        <a:t>Moderate</a:t>
                      </a:r>
                    </a:p>
                  </a:txBody>
                  <a:tcPr marL="153727" marR="153727" marT="76864" marB="76864"/>
                </a:tc>
                <a:tc>
                  <a:txBody>
                    <a:bodyPr/>
                    <a:lstStyle/>
                    <a:p>
                      <a:pPr algn="l" fontAlgn="t"/>
                      <a:r>
                        <a:rPr lang="en-US" sz="2800" dirty="0">
                          <a:effectLst/>
                        </a:rPr>
                        <a:t>1-20% of the data set</a:t>
                      </a:r>
                    </a:p>
                  </a:txBody>
                  <a:tcPr marL="153727" marR="153727" marT="76864" marB="76864"/>
                </a:tc>
                <a:extLst>
                  <a:ext uri="{0D108BD9-81ED-4DB2-BD59-A6C34878D82A}">
                    <a16:rowId xmlns:a16="http://schemas.microsoft.com/office/drawing/2014/main" val="515582343"/>
                  </a:ext>
                </a:extLst>
              </a:tr>
              <a:tr h="676399">
                <a:tc>
                  <a:txBody>
                    <a:bodyPr/>
                    <a:lstStyle/>
                    <a:p>
                      <a:pPr algn="l" fontAlgn="t"/>
                      <a:r>
                        <a:rPr lang="en-US" sz="2800" dirty="0">
                          <a:effectLst/>
                        </a:rPr>
                        <a:t>Extreme</a:t>
                      </a:r>
                    </a:p>
                  </a:txBody>
                  <a:tcPr marL="153727" marR="153727" marT="76864" marB="76864"/>
                </a:tc>
                <a:tc>
                  <a:txBody>
                    <a:bodyPr/>
                    <a:lstStyle/>
                    <a:p>
                      <a:pPr algn="l" fontAlgn="t"/>
                      <a:r>
                        <a:rPr lang="en-US" sz="2800" dirty="0">
                          <a:effectLst/>
                        </a:rPr>
                        <a:t>&lt;1% of the data set</a:t>
                      </a:r>
                    </a:p>
                  </a:txBody>
                  <a:tcPr marL="153727" marR="153727" marT="76864" marB="76864"/>
                </a:tc>
                <a:extLst>
                  <a:ext uri="{0D108BD9-81ED-4DB2-BD59-A6C34878D82A}">
                    <a16:rowId xmlns:a16="http://schemas.microsoft.com/office/drawing/2014/main" val="3275680298"/>
                  </a:ext>
                </a:extLst>
              </a:tr>
            </a:tbl>
          </a:graphicData>
        </a:graphic>
      </p:graphicFrame>
      <p:sp>
        <p:nvSpPr>
          <p:cNvPr id="4" name="Slide Number Placeholder 3" hidden="1">
            <a:extLst>
              <a:ext uri="{FF2B5EF4-FFF2-40B4-BE49-F238E27FC236}">
                <a16:creationId xmlns:a16="http://schemas.microsoft.com/office/drawing/2014/main" id="{81768220-7494-3892-FC26-91BA997309B6}"/>
              </a:ext>
            </a:extLst>
          </p:cNvPr>
          <p:cNvSpPr>
            <a:spLocks noGrp="1"/>
          </p:cNvSpPr>
          <p:nvPr>
            <p:ph type="sldNum" sz="quarter" idx="4294967295"/>
          </p:nvPr>
        </p:nvSpPr>
        <p:spPr>
          <a:xfrm>
            <a:off x="11166412" y="6426788"/>
            <a:ext cx="738717" cy="365125"/>
          </a:xfrm>
        </p:spPr>
        <p:txBody>
          <a:bodyPr/>
          <a:lstStyle/>
          <a:p>
            <a:pPr>
              <a:spcAft>
                <a:spcPts val="600"/>
              </a:spcAft>
            </a:pPr>
            <a:fld id="{02456A73-CB17-B748-BD2A-A20F5DD59EC7}" type="slidenum">
              <a:rPr lang="en-US" smtClean="0"/>
              <a:pPr>
                <a:spcAft>
                  <a:spcPts val="600"/>
                </a:spcAft>
              </a:pPr>
              <a:t>9</a:t>
            </a:fld>
            <a:endParaRPr lang="en-US"/>
          </a:p>
        </p:txBody>
      </p:sp>
    </p:spTree>
    <p:extLst>
      <p:ext uri="{BB962C8B-B14F-4D97-AF65-F5344CB8AC3E}">
        <p14:creationId xmlns:p14="http://schemas.microsoft.com/office/powerpoint/2010/main" val="1384429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8A8C4-95DD-FE03-7B85-4F933CE2B48F}"/>
              </a:ext>
            </a:extLst>
          </p:cNvPr>
          <p:cNvSpPr>
            <a:spLocks noGrp="1"/>
          </p:cNvSpPr>
          <p:nvPr>
            <p:ph type="title"/>
          </p:nvPr>
        </p:nvSpPr>
        <p:spPr>
          <a:xfrm>
            <a:off x="664633" y="134471"/>
            <a:ext cx="10075084" cy="995082"/>
          </a:xfrm>
        </p:spPr>
        <p:txBody>
          <a:bodyPr anchor="b">
            <a:normAutofit/>
          </a:bodyPr>
          <a:lstStyle/>
          <a:p>
            <a:r>
              <a:rPr lang="en-US" dirty="0"/>
              <a:t>Down-Sampling AKA Under-Sampling</a:t>
            </a:r>
          </a:p>
        </p:txBody>
      </p:sp>
      <p:sp>
        <p:nvSpPr>
          <p:cNvPr id="4" name="Slide Number Placeholder 3">
            <a:extLst>
              <a:ext uri="{FF2B5EF4-FFF2-40B4-BE49-F238E27FC236}">
                <a16:creationId xmlns:a16="http://schemas.microsoft.com/office/drawing/2014/main" id="{B97608C4-93D7-744E-9AC2-F90E1FD33E22}"/>
              </a:ext>
            </a:extLst>
          </p:cNvPr>
          <p:cNvSpPr>
            <a:spLocks noGrp="1"/>
          </p:cNvSpPr>
          <p:nvPr>
            <p:ph type="sldNum" sz="quarter" idx="12"/>
          </p:nvPr>
        </p:nvSpPr>
        <p:spPr>
          <a:xfrm>
            <a:off x="11074400" y="242235"/>
            <a:ext cx="738717" cy="365125"/>
          </a:xfrm>
        </p:spPr>
        <p:txBody>
          <a:bodyPr anchor="ctr">
            <a:normAutofit/>
          </a:bodyPr>
          <a:lstStyle/>
          <a:p>
            <a:pPr>
              <a:spcAft>
                <a:spcPts val="600"/>
              </a:spcAft>
            </a:pPr>
            <a:fld id="{02456A73-CB17-B748-BD2A-A20F5DD59EC7}" type="slidenum">
              <a:rPr lang="en-US" smtClean="0">
                <a:solidFill>
                  <a:srgbClr val="FFFFFF"/>
                </a:solidFill>
              </a:rPr>
              <a:pPr>
                <a:spcAft>
                  <a:spcPts val="600"/>
                </a:spcAft>
              </a:pPr>
              <a:t>10</a:t>
            </a:fld>
            <a:endParaRPr lang="en-US">
              <a:solidFill>
                <a:srgbClr val="FFFFFF"/>
              </a:solidFill>
            </a:endParaRPr>
          </a:p>
        </p:txBody>
      </p:sp>
      <p:sp>
        <p:nvSpPr>
          <p:cNvPr id="3" name="Content Placeholder 2">
            <a:extLst>
              <a:ext uri="{FF2B5EF4-FFF2-40B4-BE49-F238E27FC236}">
                <a16:creationId xmlns:a16="http://schemas.microsoft.com/office/drawing/2014/main" id="{6CEC4756-F51F-1B47-F503-A3F26CCC22A5}"/>
              </a:ext>
            </a:extLst>
          </p:cNvPr>
          <p:cNvSpPr>
            <a:spLocks noGrp="1"/>
          </p:cNvSpPr>
          <p:nvPr>
            <p:ph type="body" sz="half" idx="2"/>
          </p:nvPr>
        </p:nvSpPr>
        <p:spPr>
          <a:xfrm>
            <a:off x="664691" y="1129553"/>
            <a:ext cx="10078613" cy="774700"/>
          </a:xfrm>
        </p:spPr>
        <p:txBody>
          <a:bodyPr anchor="t">
            <a:normAutofit/>
          </a:bodyPr>
          <a:lstStyle/>
          <a:p>
            <a:r>
              <a:rPr lang="en-US" dirty="0"/>
              <a:t>Simply remove % of majority case</a:t>
            </a:r>
          </a:p>
        </p:txBody>
      </p:sp>
      <p:graphicFrame>
        <p:nvGraphicFramePr>
          <p:cNvPr id="5" name="Table 4">
            <a:extLst>
              <a:ext uri="{FF2B5EF4-FFF2-40B4-BE49-F238E27FC236}">
                <a16:creationId xmlns:a16="http://schemas.microsoft.com/office/drawing/2014/main" id="{45BE9FD6-F896-5C2A-BE77-A9E005ED0074}"/>
              </a:ext>
            </a:extLst>
          </p:cNvPr>
          <p:cNvGraphicFramePr>
            <a:graphicFrameLocks noGrp="1"/>
          </p:cNvGraphicFramePr>
          <p:nvPr>
            <p:extLst>
              <p:ext uri="{D42A27DB-BD31-4B8C-83A1-F6EECF244321}">
                <p14:modId xmlns:p14="http://schemas.microsoft.com/office/powerpoint/2010/main" val="3313882327"/>
              </p:ext>
            </p:extLst>
          </p:nvPr>
        </p:nvGraphicFramePr>
        <p:xfrm>
          <a:off x="769923" y="1981201"/>
          <a:ext cx="9864509" cy="4606000"/>
        </p:xfrm>
        <a:graphic>
          <a:graphicData uri="http://schemas.openxmlformats.org/drawingml/2006/table">
            <a:tbl>
              <a:tblPr firstRow="1" bandRow="1">
                <a:noFill/>
              </a:tblPr>
              <a:tblGrid>
                <a:gridCol w="1465506">
                  <a:extLst>
                    <a:ext uri="{9D8B030D-6E8A-4147-A177-3AD203B41FA5}">
                      <a16:colId xmlns:a16="http://schemas.microsoft.com/office/drawing/2014/main" val="327005184"/>
                    </a:ext>
                  </a:extLst>
                </a:gridCol>
                <a:gridCol w="1305375">
                  <a:extLst>
                    <a:ext uri="{9D8B030D-6E8A-4147-A177-3AD203B41FA5}">
                      <a16:colId xmlns:a16="http://schemas.microsoft.com/office/drawing/2014/main" val="1316906174"/>
                    </a:ext>
                  </a:extLst>
                </a:gridCol>
                <a:gridCol w="2125817">
                  <a:extLst>
                    <a:ext uri="{9D8B030D-6E8A-4147-A177-3AD203B41FA5}">
                      <a16:colId xmlns:a16="http://schemas.microsoft.com/office/drawing/2014/main" val="2166188159"/>
                    </a:ext>
                  </a:extLst>
                </a:gridCol>
                <a:gridCol w="1384540">
                  <a:extLst>
                    <a:ext uri="{9D8B030D-6E8A-4147-A177-3AD203B41FA5}">
                      <a16:colId xmlns:a16="http://schemas.microsoft.com/office/drawing/2014/main" val="3880762407"/>
                    </a:ext>
                  </a:extLst>
                </a:gridCol>
                <a:gridCol w="1443915">
                  <a:extLst>
                    <a:ext uri="{9D8B030D-6E8A-4147-A177-3AD203B41FA5}">
                      <a16:colId xmlns:a16="http://schemas.microsoft.com/office/drawing/2014/main" val="2027694543"/>
                    </a:ext>
                  </a:extLst>
                </a:gridCol>
                <a:gridCol w="1111060">
                  <a:extLst>
                    <a:ext uri="{9D8B030D-6E8A-4147-A177-3AD203B41FA5}">
                      <a16:colId xmlns:a16="http://schemas.microsoft.com/office/drawing/2014/main" val="4120377957"/>
                    </a:ext>
                  </a:extLst>
                </a:gridCol>
                <a:gridCol w="1028296">
                  <a:extLst>
                    <a:ext uri="{9D8B030D-6E8A-4147-A177-3AD203B41FA5}">
                      <a16:colId xmlns:a16="http://schemas.microsoft.com/office/drawing/2014/main" val="4143025788"/>
                    </a:ext>
                  </a:extLst>
                </a:gridCol>
              </a:tblGrid>
              <a:tr h="318844">
                <a:tc>
                  <a:txBody>
                    <a:bodyPr/>
                    <a:lstStyle/>
                    <a:p>
                      <a:pPr algn="l" fontAlgn="b"/>
                      <a:r>
                        <a:rPr lang="en-US" sz="900" b="1" i="0" u="none" strike="noStrike" cap="none" spc="0">
                          <a:solidFill>
                            <a:schemeClr val="tx1"/>
                          </a:solidFill>
                          <a:effectLst/>
                          <a:latin typeface="Calibri" panose="020F0502020204030204" pitchFamily="34" charset="0"/>
                        </a:rPr>
                        <a:t>hours_played_sitting</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number_of_tables</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vluntarily_put_money_into_pot</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pot_preflop_raising</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went_to_showdown</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player_country</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EVENT_LABEL</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1605202353"/>
                  </a:ext>
                </a:extLst>
              </a:tr>
              <a:tr h="318844">
                <a:tc>
                  <a:txBody>
                    <a:bodyPr/>
                    <a:lstStyle/>
                    <a:p>
                      <a:pPr algn="r" fontAlgn="b"/>
                      <a:r>
                        <a:rPr lang="en-US" sz="1400" b="0" i="0" u="none" strike="sngStrike" cap="none" spc="0" dirty="0">
                          <a:solidFill>
                            <a:schemeClr val="tx1"/>
                          </a:solidFill>
                          <a:effectLst/>
                          <a:latin typeface="Calibri" panose="020F0502020204030204" pitchFamily="34" charset="0"/>
                        </a:rPr>
                        <a:t>30</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solidFill>
                      <a:schemeClr val="accent6">
                        <a:lumMod val="40000"/>
                        <a:lumOff val="60000"/>
                      </a:schemeClr>
                    </a:solidFill>
                  </a:tcPr>
                </a:tc>
                <a:tc>
                  <a:txBody>
                    <a:bodyPr/>
                    <a:lstStyle/>
                    <a:p>
                      <a:pPr algn="r" fontAlgn="b"/>
                      <a:r>
                        <a:rPr lang="en-US" sz="1400" b="0" i="0" u="none" strike="sngStrike" cap="none" spc="0" dirty="0">
                          <a:solidFill>
                            <a:schemeClr val="tx1"/>
                          </a:solidFill>
                          <a:effectLst/>
                          <a:latin typeface="Calibri" panose="020F0502020204030204" pitchFamily="34" charset="0"/>
                        </a:rPr>
                        <a:t>649</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solidFill>
                      <a:schemeClr val="accent6">
                        <a:lumMod val="40000"/>
                        <a:lumOff val="60000"/>
                      </a:schemeClr>
                    </a:solidFill>
                  </a:tcPr>
                </a:tc>
                <a:tc>
                  <a:txBody>
                    <a:bodyPr/>
                    <a:lstStyle/>
                    <a:p>
                      <a:pPr algn="r" fontAlgn="b"/>
                      <a:r>
                        <a:rPr lang="en-US" sz="1400" b="0" i="0" u="none" strike="sngStrike" cap="none" spc="0" dirty="0">
                          <a:solidFill>
                            <a:schemeClr val="tx1"/>
                          </a:solidFill>
                          <a:effectLst/>
                          <a:latin typeface="Calibri" panose="020F0502020204030204" pitchFamily="34" charset="0"/>
                        </a:rPr>
                        <a:t>30</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solidFill>
                      <a:schemeClr val="accent6">
                        <a:lumMod val="40000"/>
                        <a:lumOff val="60000"/>
                      </a:schemeClr>
                    </a:solidFill>
                  </a:tcPr>
                </a:tc>
                <a:tc>
                  <a:txBody>
                    <a:bodyPr/>
                    <a:lstStyle/>
                    <a:p>
                      <a:pPr algn="r" fontAlgn="b"/>
                      <a:r>
                        <a:rPr lang="en-US" sz="1400" b="0" i="0" u="none" strike="sngStrike" cap="none" spc="0" dirty="0">
                          <a:solidFill>
                            <a:schemeClr val="tx1"/>
                          </a:solidFill>
                          <a:effectLst/>
                          <a:latin typeface="Calibri" panose="020F0502020204030204" pitchFamily="34" charset="0"/>
                        </a:rPr>
                        <a:t>39</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solidFill>
                      <a:schemeClr val="accent6">
                        <a:lumMod val="40000"/>
                        <a:lumOff val="60000"/>
                      </a:schemeClr>
                    </a:solidFill>
                  </a:tcPr>
                </a:tc>
                <a:tc>
                  <a:txBody>
                    <a:bodyPr/>
                    <a:lstStyle/>
                    <a:p>
                      <a:pPr algn="r" fontAlgn="b"/>
                      <a:r>
                        <a:rPr lang="en-US" sz="1400" b="0" i="0" u="none" strike="sngStrike" cap="none" spc="0" dirty="0">
                          <a:solidFill>
                            <a:schemeClr val="tx1"/>
                          </a:solidFill>
                          <a:effectLst/>
                          <a:latin typeface="Calibri" panose="020F0502020204030204" pitchFamily="34" charset="0"/>
                        </a:rPr>
                        <a:t>105</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solidFill>
                      <a:schemeClr val="accent6">
                        <a:lumMod val="40000"/>
                        <a:lumOff val="60000"/>
                      </a:schemeClr>
                    </a:solidFill>
                  </a:tcPr>
                </a:tc>
                <a:tc>
                  <a:txBody>
                    <a:bodyPr/>
                    <a:lstStyle/>
                    <a:p>
                      <a:pPr algn="l" fontAlgn="b"/>
                      <a:r>
                        <a:rPr lang="en-US" sz="1400" b="0" i="0" u="none" strike="sngStrike" cap="none" spc="0" dirty="0">
                          <a:solidFill>
                            <a:schemeClr val="tx1"/>
                          </a:solidFill>
                          <a:effectLst/>
                          <a:latin typeface="Calibri" panose="020F0502020204030204" pitchFamily="34" charset="0"/>
                        </a:rPr>
                        <a:t>CAN</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solidFill>
                      <a:schemeClr val="accent6">
                        <a:lumMod val="40000"/>
                        <a:lumOff val="60000"/>
                      </a:schemeClr>
                    </a:solidFill>
                  </a:tcPr>
                </a:tc>
                <a:tc>
                  <a:txBody>
                    <a:bodyPr/>
                    <a:lstStyle/>
                    <a:p>
                      <a:pPr algn="l" fontAlgn="b"/>
                      <a:r>
                        <a:rPr lang="en-US" sz="1400" b="0" i="0" u="none" strike="sngStrike" cap="none" spc="0" dirty="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solidFill>
                      <a:schemeClr val="accent6">
                        <a:lumMod val="40000"/>
                        <a:lumOff val="60000"/>
                      </a:schemeClr>
                    </a:solidFill>
                  </a:tcPr>
                </a:tc>
                <a:extLst>
                  <a:ext uri="{0D108BD9-81ED-4DB2-BD59-A6C34878D82A}">
                    <a16:rowId xmlns:a16="http://schemas.microsoft.com/office/drawing/2014/main" val="665311547"/>
                  </a:ext>
                </a:extLst>
              </a:tr>
              <a:tr h="318844">
                <a:tc>
                  <a:txBody>
                    <a:bodyPr/>
                    <a:lstStyle/>
                    <a:p>
                      <a:pPr algn="r" fontAlgn="b"/>
                      <a:r>
                        <a:rPr lang="en-US" sz="1400" b="0" i="0" u="none" strike="sngStrike" cap="none" spc="0">
                          <a:solidFill>
                            <a:schemeClr val="tx1"/>
                          </a:solidFill>
                          <a:effectLst/>
                          <a:latin typeface="Calibri" panose="020F0502020204030204" pitchFamily="34" charset="0"/>
                        </a:rPr>
                        <a:t>30</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r" fontAlgn="b"/>
                      <a:r>
                        <a:rPr lang="en-US" sz="1400" b="0" i="0" u="none" strike="sngStrike" cap="none" spc="0">
                          <a:solidFill>
                            <a:schemeClr val="tx1"/>
                          </a:solidFill>
                          <a:effectLst/>
                          <a:latin typeface="Calibri" panose="020F0502020204030204" pitchFamily="34" charset="0"/>
                        </a:rPr>
                        <a:t>312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r" fontAlgn="b"/>
                      <a:r>
                        <a:rPr lang="en-US" sz="1400" b="0" i="0" u="none" strike="sngStrike" cap="none" spc="0">
                          <a:solidFill>
                            <a:schemeClr val="tx1"/>
                          </a:solidFill>
                          <a:effectLst/>
                          <a:latin typeface="Calibri" panose="020F0502020204030204" pitchFamily="34" charset="0"/>
                        </a:rPr>
                        <a:t>71</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r" fontAlgn="b"/>
                      <a:r>
                        <a:rPr lang="en-US" sz="1400" b="0" i="0" u="none" strike="sngStrike" cap="none" spc="0" dirty="0">
                          <a:solidFill>
                            <a:schemeClr val="tx1"/>
                          </a:solidFill>
                          <a:effectLst/>
                          <a:latin typeface="Calibri" panose="020F0502020204030204" pitchFamily="34" charset="0"/>
                        </a:rPr>
                        <a:t>29</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r" fontAlgn="b"/>
                      <a:r>
                        <a:rPr lang="en-US" sz="1400" b="0" i="0" u="none" strike="sngStrike" cap="none" spc="0" dirty="0">
                          <a:solidFill>
                            <a:schemeClr val="tx1"/>
                          </a:solidFill>
                          <a:effectLst/>
                          <a:latin typeface="Calibri" panose="020F0502020204030204" pitchFamily="34" charset="0"/>
                        </a:rPr>
                        <a:t>26</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l" fontAlgn="b"/>
                      <a:r>
                        <a:rPr lang="en-US" sz="1400" b="0" i="0" u="none" strike="sngStrike" cap="none" spc="0">
                          <a:solidFill>
                            <a:schemeClr val="tx1"/>
                          </a:solidFill>
                          <a:effectLst/>
                          <a:latin typeface="Calibri" panose="020F0502020204030204" pitchFamily="34" charset="0"/>
                        </a:rPr>
                        <a:t>UK</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l" fontAlgn="b"/>
                      <a:r>
                        <a:rPr lang="en-US" sz="1400" b="0" i="0" u="none" strike="sngStrike" cap="none" spc="0" dirty="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extLst>
                  <a:ext uri="{0D108BD9-81ED-4DB2-BD59-A6C34878D82A}">
                    <a16:rowId xmlns:a16="http://schemas.microsoft.com/office/drawing/2014/main" val="3608016949"/>
                  </a:ext>
                </a:extLst>
              </a:tr>
              <a:tr h="318844">
                <a:tc>
                  <a:txBody>
                    <a:bodyPr/>
                    <a:lstStyle/>
                    <a:p>
                      <a:pPr algn="r" fontAlgn="b"/>
                      <a:r>
                        <a:rPr lang="en-US" sz="1400" b="0" i="0" u="none" strike="sngStrike" cap="none" spc="0">
                          <a:solidFill>
                            <a:schemeClr val="tx1"/>
                          </a:solidFill>
                          <a:effectLst/>
                          <a:latin typeface="Calibri" panose="020F0502020204030204" pitchFamily="34" charset="0"/>
                        </a:rPr>
                        <a:t>35</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6">
                        <a:lumMod val="40000"/>
                        <a:lumOff val="60000"/>
                      </a:schemeClr>
                    </a:solidFill>
                  </a:tcPr>
                </a:tc>
                <a:tc>
                  <a:txBody>
                    <a:bodyPr/>
                    <a:lstStyle/>
                    <a:p>
                      <a:pPr algn="r" fontAlgn="b"/>
                      <a:r>
                        <a:rPr lang="en-US" sz="1400" b="0" i="0" u="none" strike="sngStrike" cap="none" spc="0">
                          <a:solidFill>
                            <a:schemeClr val="tx1"/>
                          </a:solidFill>
                          <a:effectLst/>
                          <a:latin typeface="Calibri" panose="020F0502020204030204" pitchFamily="34" charset="0"/>
                        </a:rPr>
                        <a:t>694</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6">
                        <a:lumMod val="40000"/>
                        <a:lumOff val="60000"/>
                      </a:schemeClr>
                    </a:solidFill>
                  </a:tcPr>
                </a:tc>
                <a:tc>
                  <a:txBody>
                    <a:bodyPr/>
                    <a:lstStyle/>
                    <a:p>
                      <a:pPr algn="r" fontAlgn="b"/>
                      <a:r>
                        <a:rPr lang="en-US" sz="1400" b="0" i="0" u="none" strike="sngStrike" cap="none" spc="0">
                          <a:solidFill>
                            <a:schemeClr val="tx1"/>
                          </a:solidFill>
                          <a:effectLst/>
                          <a:latin typeface="Calibri" panose="020F0502020204030204" pitchFamily="34" charset="0"/>
                        </a:rPr>
                        <a:t>22</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6">
                        <a:lumMod val="40000"/>
                        <a:lumOff val="60000"/>
                      </a:schemeClr>
                    </a:solidFill>
                  </a:tcPr>
                </a:tc>
                <a:tc>
                  <a:txBody>
                    <a:bodyPr/>
                    <a:lstStyle/>
                    <a:p>
                      <a:pPr algn="r" fontAlgn="b"/>
                      <a:r>
                        <a:rPr lang="en-US" sz="1400" b="0" i="0" u="none" strike="sngStrike" cap="none" spc="0">
                          <a:solidFill>
                            <a:schemeClr val="tx1"/>
                          </a:solidFill>
                          <a:effectLst/>
                          <a:latin typeface="Calibri" panose="020F0502020204030204" pitchFamily="34" charset="0"/>
                        </a:rPr>
                        <a:t>35</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6">
                        <a:lumMod val="40000"/>
                        <a:lumOff val="60000"/>
                      </a:schemeClr>
                    </a:solidFill>
                  </a:tcPr>
                </a:tc>
                <a:tc>
                  <a:txBody>
                    <a:bodyPr/>
                    <a:lstStyle/>
                    <a:p>
                      <a:pPr algn="r" fontAlgn="b"/>
                      <a:r>
                        <a:rPr lang="en-US" sz="1400" b="0" i="0" u="none" strike="sngStrike" cap="none" spc="0" dirty="0">
                          <a:solidFill>
                            <a:schemeClr val="tx1"/>
                          </a:solidFill>
                          <a:effectLst/>
                          <a:latin typeface="Calibri" panose="020F0502020204030204" pitchFamily="34" charset="0"/>
                        </a:rPr>
                        <a:t>58</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6">
                        <a:lumMod val="40000"/>
                        <a:lumOff val="60000"/>
                      </a:schemeClr>
                    </a:solidFill>
                  </a:tcPr>
                </a:tc>
                <a:tc>
                  <a:txBody>
                    <a:bodyPr/>
                    <a:lstStyle/>
                    <a:p>
                      <a:pPr algn="l" fontAlgn="b"/>
                      <a:r>
                        <a:rPr lang="en-US" sz="1400" b="0" i="0" u="none" strike="sngStrike" cap="none" spc="0">
                          <a:solidFill>
                            <a:schemeClr val="tx1"/>
                          </a:solidFill>
                          <a:effectLst/>
                          <a:latin typeface="Calibri" panose="020F0502020204030204" pitchFamily="34" charset="0"/>
                        </a:rPr>
                        <a:t>CAN</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6">
                        <a:lumMod val="40000"/>
                        <a:lumOff val="60000"/>
                      </a:schemeClr>
                    </a:solidFill>
                  </a:tcPr>
                </a:tc>
                <a:tc>
                  <a:txBody>
                    <a:bodyPr/>
                    <a:lstStyle/>
                    <a:p>
                      <a:pPr algn="l" fontAlgn="b"/>
                      <a:r>
                        <a:rPr lang="en-US" sz="1400" b="0" i="0" u="none" strike="sngStrike" cap="none" spc="0" dirty="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6">
                        <a:lumMod val="40000"/>
                        <a:lumOff val="60000"/>
                      </a:schemeClr>
                    </a:solidFill>
                  </a:tcPr>
                </a:tc>
                <a:extLst>
                  <a:ext uri="{0D108BD9-81ED-4DB2-BD59-A6C34878D82A}">
                    <a16:rowId xmlns:a16="http://schemas.microsoft.com/office/drawing/2014/main" val="2199356550"/>
                  </a:ext>
                </a:extLst>
              </a:tr>
              <a:tr h="318844">
                <a:tc>
                  <a:txBody>
                    <a:bodyPr/>
                    <a:lstStyle/>
                    <a:p>
                      <a:pPr algn="r" fontAlgn="b"/>
                      <a:r>
                        <a:rPr lang="en-US" sz="1400" b="0" i="0" u="none" strike="sngStrike" cap="none" spc="0">
                          <a:solidFill>
                            <a:schemeClr val="tx1"/>
                          </a:solidFill>
                          <a:effectLst/>
                          <a:latin typeface="Calibri" panose="020F0502020204030204" pitchFamily="34" charset="0"/>
                        </a:rPr>
                        <a:t>36</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r" fontAlgn="b"/>
                      <a:r>
                        <a:rPr lang="en-US" sz="1400" b="0" i="0" u="none" strike="sngStrike" cap="none" spc="0">
                          <a:solidFill>
                            <a:schemeClr val="tx1"/>
                          </a:solidFill>
                          <a:effectLst/>
                          <a:latin typeface="Calibri" panose="020F0502020204030204" pitchFamily="34" charset="0"/>
                        </a:rPr>
                        <a:t>573</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r" fontAlgn="b"/>
                      <a:r>
                        <a:rPr lang="en-US" sz="1400" b="0" i="0" u="none" strike="sngStrike" cap="none" spc="0">
                          <a:solidFill>
                            <a:schemeClr val="tx1"/>
                          </a:solidFill>
                          <a:effectLst/>
                          <a:latin typeface="Calibri" panose="020F0502020204030204" pitchFamily="34" charset="0"/>
                        </a:rPr>
                        <a:t>42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r" fontAlgn="b"/>
                      <a:r>
                        <a:rPr lang="en-US" sz="1400" b="0" i="0" u="none" strike="sngStrike" cap="none" spc="0">
                          <a:solidFill>
                            <a:schemeClr val="tx1"/>
                          </a:solidFill>
                          <a:effectLst/>
                          <a:latin typeface="Calibri" panose="020F0502020204030204" pitchFamily="34" charset="0"/>
                        </a:rPr>
                        <a:t>58</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r" fontAlgn="b"/>
                      <a:r>
                        <a:rPr lang="en-US" sz="1400" b="0" i="0" u="none" strike="sngStrike" cap="none" spc="0" dirty="0">
                          <a:solidFill>
                            <a:schemeClr val="tx1"/>
                          </a:solidFill>
                          <a:effectLst/>
                          <a:latin typeface="Calibri" panose="020F0502020204030204" pitchFamily="34" charset="0"/>
                        </a:rPr>
                        <a:t>202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l" fontAlgn="b"/>
                      <a:r>
                        <a:rPr lang="en-US" sz="1400" b="0" i="0" u="none" strike="sngStrike" cap="none" spc="0">
                          <a:solidFill>
                            <a:schemeClr val="tx1"/>
                          </a:solidFill>
                          <a:effectLst/>
                          <a:latin typeface="Calibri" panose="020F0502020204030204" pitchFamily="34" charset="0"/>
                        </a:rPr>
                        <a:t>CAN</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tc>
                  <a:txBody>
                    <a:bodyPr/>
                    <a:lstStyle/>
                    <a:p>
                      <a:pPr algn="l" fontAlgn="b"/>
                      <a:r>
                        <a:rPr lang="en-US" sz="1400" b="0" i="0" u="none" strike="sngStrike" cap="none" spc="0" dirty="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6">
                        <a:lumMod val="40000"/>
                        <a:lumOff val="60000"/>
                      </a:schemeClr>
                    </a:solidFill>
                  </a:tcPr>
                </a:tc>
                <a:extLst>
                  <a:ext uri="{0D108BD9-81ED-4DB2-BD59-A6C34878D82A}">
                    <a16:rowId xmlns:a16="http://schemas.microsoft.com/office/drawing/2014/main" val="290319731"/>
                  </a:ext>
                </a:extLst>
              </a:tr>
              <a:tr h="318844">
                <a:tc>
                  <a:txBody>
                    <a:bodyPr/>
                    <a:lstStyle/>
                    <a:p>
                      <a:pPr algn="r" fontAlgn="b"/>
                      <a:r>
                        <a:rPr lang="en-US" sz="1400" b="0" i="0" u="none" strike="noStrike" cap="none" spc="0">
                          <a:solidFill>
                            <a:schemeClr val="tx1"/>
                          </a:solidFill>
                          <a:effectLst/>
                          <a:latin typeface="Calibri" panose="020F0502020204030204" pitchFamily="34" charset="0"/>
                        </a:rPr>
                        <a:t>34</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617</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33</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45</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dirty="0">
                          <a:solidFill>
                            <a:schemeClr val="tx1"/>
                          </a:solidFill>
                          <a:effectLst/>
                          <a:latin typeface="Calibri" panose="020F0502020204030204" pitchFamily="34" charset="0"/>
                        </a:rPr>
                        <a:t>105</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l" fontAlgn="b"/>
                      <a:r>
                        <a:rPr lang="en-US" sz="1400" b="0" i="0" u="none" strike="noStrike" cap="none" spc="0" dirty="0">
                          <a:solidFill>
                            <a:schemeClr val="tx1"/>
                          </a:solidFill>
                          <a:effectLst/>
                          <a:latin typeface="Calibri" panose="020F0502020204030204" pitchFamily="34" charset="0"/>
                        </a:rPr>
                        <a:t>CAN</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l" fontAlgn="b"/>
                      <a:r>
                        <a:rPr lang="en-US" sz="1400" b="0" i="0" u="none" strike="noStrike" cap="none" spc="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3913148132"/>
                  </a:ext>
                </a:extLst>
              </a:tr>
              <a:tr h="318844">
                <a:tc>
                  <a:txBody>
                    <a:bodyPr/>
                    <a:lstStyle/>
                    <a:p>
                      <a:pPr algn="r" fontAlgn="b"/>
                      <a:r>
                        <a:rPr lang="en-US" sz="1400" b="0" i="0" u="none" strike="noStrike" cap="none" spc="0" dirty="0">
                          <a:solidFill>
                            <a:schemeClr val="tx1"/>
                          </a:solidFill>
                          <a:effectLst/>
                          <a:latin typeface="Calibri" panose="020F0502020204030204" pitchFamily="34" charset="0"/>
                        </a:rPr>
                        <a:t>19</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dirty="0">
                          <a:solidFill>
                            <a:schemeClr val="tx1"/>
                          </a:solidFill>
                          <a:effectLst/>
                          <a:latin typeface="Calibri" panose="020F0502020204030204" pitchFamily="34" charset="0"/>
                        </a:rPr>
                        <a:t>816</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dirty="0">
                          <a:solidFill>
                            <a:schemeClr val="tx1"/>
                          </a:solidFill>
                          <a:effectLst/>
                          <a:latin typeface="Calibri" panose="020F0502020204030204" pitchFamily="34" charset="0"/>
                        </a:rPr>
                        <a:t>36</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dirty="0">
                          <a:solidFill>
                            <a:schemeClr val="tx1"/>
                          </a:solidFill>
                          <a:effectLst/>
                          <a:latin typeface="Calibri" panose="020F0502020204030204" pitchFamily="34" charset="0"/>
                        </a:rPr>
                        <a:t>42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dirty="0">
                          <a:solidFill>
                            <a:schemeClr val="tx1"/>
                          </a:solidFill>
                          <a:effectLst/>
                          <a:latin typeface="Calibri" panose="020F0502020204030204" pitchFamily="34" charset="0"/>
                        </a:rPr>
                        <a:t>434</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1400" b="0" i="0" u="none" strike="noStrike" cap="none" spc="0" dirty="0">
                          <a:solidFill>
                            <a:schemeClr val="tx1"/>
                          </a:solidFill>
                          <a:effectLst/>
                          <a:latin typeface="Calibri" panose="020F0502020204030204" pitchFamily="34" charset="0"/>
                        </a:rPr>
                        <a:t>UK</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14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459545933"/>
                  </a:ext>
                </a:extLst>
              </a:tr>
              <a:tr h="318844">
                <a:tc>
                  <a:txBody>
                    <a:bodyPr/>
                    <a:lstStyle/>
                    <a:p>
                      <a:pPr algn="r" fontAlgn="b"/>
                      <a:r>
                        <a:rPr lang="en-US" sz="1400" b="0" i="0" u="none" strike="noStrike" cap="none" spc="0">
                          <a:solidFill>
                            <a:schemeClr val="tx1"/>
                          </a:solidFill>
                          <a:effectLst/>
                          <a:latin typeface="Calibri" panose="020F0502020204030204" pitchFamily="34" charset="0"/>
                        </a:rPr>
                        <a:t>32</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611</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51</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53</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185</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l" fontAlgn="b"/>
                      <a:r>
                        <a:rPr lang="en-US" sz="1400" b="0" i="0" u="none" strike="noStrike" cap="none" spc="0" dirty="0">
                          <a:solidFill>
                            <a:schemeClr val="tx1"/>
                          </a:solidFill>
                          <a:effectLst/>
                          <a:latin typeface="Calibri" panose="020F0502020204030204" pitchFamily="34" charset="0"/>
                        </a:rPr>
                        <a:t>USA</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l" fontAlgn="b"/>
                      <a:r>
                        <a:rPr lang="en-US" sz="14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1149126622"/>
                  </a:ext>
                </a:extLst>
              </a:tr>
              <a:tr h="318844">
                <a:tc>
                  <a:txBody>
                    <a:bodyPr/>
                    <a:lstStyle/>
                    <a:p>
                      <a:pPr algn="r" fontAlgn="b"/>
                      <a:r>
                        <a:rPr lang="en-US" sz="1400" b="0" i="0" u="none" strike="noStrike" cap="none" spc="0">
                          <a:solidFill>
                            <a:schemeClr val="tx1"/>
                          </a:solidFill>
                          <a:effectLst/>
                          <a:latin typeface="Calibri" panose="020F0502020204030204" pitchFamily="34" charset="0"/>
                        </a:rPr>
                        <a:t>24</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939</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49</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42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181</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1400" b="0" i="0" u="none" strike="noStrike" cap="none" spc="0" dirty="0">
                          <a:solidFill>
                            <a:schemeClr val="tx1"/>
                          </a:solidFill>
                          <a:effectLst/>
                          <a:latin typeface="Calibri" panose="020F0502020204030204" pitchFamily="34" charset="0"/>
                        </a:rPr>
                        <a:t>USA</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1400" b="0" i="0" u="none" strike="noStrike" cap="none" spc="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452189490"/>
                  </a:ext>
                </a:extLst>
              </a:tr>
              <a:tr h="318844">
                <a:tc>
                  <a:txBody>
                    <a:bodyPr/>
                    <a:lstStyle/>
                    <a:p>
                      <a:pPr algn="r" fontAlgn="b"/>
                      <a:r>
                        <a:rPr lang="en-US" sz="1400" b="0" i="0" u="none" strike="noStrike" cap="none" spc="0">
                          <a:solidFill>
                            <a:schemeClr val="tx1"/>
                          </a:solidFill>
                          <a:effectLst/>
                          <a:latin typeface="Calibri" panose="020F0502020204030204" pitchFamily="34" charset="0"/>
                        </a:rPr>
                        <a:t>34</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666</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40</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52</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171</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l" fontAlgn="b"/>
                      <a:r>
                        <a:rPr lang="en-US" sz="1400" b="0" i="0" u="none" strike="noStrike" cap="none" spc="0" dirty="0">
                          <a:solidFill>
                            <a:schemeClr val="tx1"/>
                          </a:solidFill>
                          <a:effectLst/>
                          <a:latin typeface="Calibri" panose="020F0502020204030204" pitchFamily="34" charset="0"/>
                        </a:rPr>
                        <a:t>CAN</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l" fontAlgn="b"/>
                      <a:r>
                        <a:rPr lang="en-US" sz="1400" b="0" i="0" u="none" strike="noStrike" cap="none" spc="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3599717312"/>
                  </a:ext>
                </a:extLst>
              </a:tr>
              <a:tr h="318844">
                <a:tc>
                  <a:txBody>
                    <a:bodyPr/>
                    <a:lstStyle/>
                    <a:p>
                      <a:pPr algn="r" fontAlgn="b"/>
                      <a:r>
                        <a:rPr lang="en-US" sz="1400" b="0" i="0" u="none" strike="noStrike" cap="none" spc="0">
                          <a:solidFill>
                            <a:schemeClr val="tx1"/>
                          </a:solidFill>
                          <a:effectLst/>
                          <a:latin typeface="Calibri" panose="020F0502020204030204" pitchFamily="34" charset="0"/>
                        </a:rPr>
                        <a:t>25</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812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51</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52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90</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1400" b="0" i="0" u="none" strike="noStrike" cap="none" spc="0" dirty="0">
                          <a:solidFill>
                            <a:schemeClr val="tx1"/>
                          </a:solidFill>
                          <a:effectLst/>
                          <a:latin typeface="Calibri" panose="020F0502020204030204" pitchFamily="34" charset="0"/>
                        </a:rPr>
                        <a:t>USA</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1400" b="0" i="0" u="none" strike="noStrike" cap="none" spc="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767284365"/>
                  </a:ext>
                </a:extLst>
              </a:tr>
              <a:tr h="318844">
                <a:tc>
                  <a:txBody>
                    <a:bodyPr/>
                    <a:lstStyle/>
                    <a:p>
                      <a:pPr algn="r" fontAlgn="b"/>
                      <a:r>
                        <a:rPr lang="en-US" sz="1400" b="0" i="0" u="none" strike="noStrike" cap="none" spc="0">
                          <a:solidFill>
                            <a:schemeClr val="tx1"/>
                          </a:solidFill>
                          <a:effectLst/>
                          <a:latin typeface="Calibri" panose="020F0502020204030204" pitchFamily="34" charset="0"/>
                        </a:rPr>
                        <a:t>38</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602</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32</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36</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1400" b="0" i="0" u="none" strike="noStrike" cap="none" spc="0">
                          <a:solidFill>
                            <a:schemeClr val="tx1"/>
                          </a:solidFill>
                          <a:effectLst/>
                          <a:latin typeface="Calibri" panose="020F0502020204030204" pitchFamily="34" charset="0"/>
                        </a:rPr>
                        <a:t>110</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l" fontAlgn="b"/>
                      <a:r>
                        <a:rPr lang="en-US" sz="1400" b="0" i="0" u="none" strike="noStrike" cap="none" spc="0" dirty="0">
                          <a:solidFill>
                            <a:schemeClr val="tx1"/>
                          </a:solidFill>
                          <a:effectLst/>
                          <a:latin typeface="Calibri" panose="020F0502020204030204" pitchFamily="34" charset="0"/>
                        </a:rPr>
                        <a:t>CAN</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l" fontAlgn="b"/>
                      <a:r>
                        <a:rPr lang="en-US" sz="1400" b="0" i="0" u="none" strike="noStrike" cap="none" spc="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2537371722"/>
                  </a:ext>
                </a:extLst>
              </a:tr>
              <a:tr h="318844">
                <a:tc>
                  <a:txBody>
                    <a:bodyPr/>
                    <a:lstStyle/>
                    <a:p>
                      <a:pPr algn="r" fontAlgn="b"/>
                      <a:r>
                        <a:rPr lang="en-US" sz="1400" b="0" i="0" u="none" strike="noStrike" cap="none" spc="0">
                          <a:solidFill>
                            <a:schemeClr val="tx1"/>
                          </a:solidFill>
                          <a:effectLst/>
                          <a:latin typeface="Calibri" panose="020F0502020204030204" pitchFamily="34" charset="0"/>
                        </a:rPr>
                        <a:t>38</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626</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57</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32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r" fontAlgn="b"/>
                      <a:r>
                        <a:rPr lang="en-US" sz="1400" b="0" i="0" u="none" strike="noStrike" cap="none" spc="0">
                          <a:solidFill>
                            <a:schemeClr val="tx1"/>
                          </a:solidFill>
                          <a:effectLst/>
                          <a:latin typeface="Calibri" panose="020F0502020204030204" pitchFamily="34" charset="0"/>
                        </a:rPr>
                        <a:t>386</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1400" b="0" i="0" u="none" strike="noStrike" cap="none" spc="0" dirty="0">
                          <a:solidFill>
                            <a:schemeClr val="tx1"/>
                          </a:solidFill>
                          <a:effectLst/>
                          <a:latin typeface="Calibri" panose="020F0502020204030204" pitchFamily="34" charset="0"/>
                        </a:rPr>
                        <a:t>UK</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14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116693213"/>
                  </a:ext>
                </a:extLst>
              </a:tr>
            </a:tbl>
          </a:graphicData>
        </a:graphic>
      </p:graphicFrame>
    </p:spTree>
    <p:extLst>
      <p:ext uri="{BB962C8B-B14F-4D97-AF65-F5344CB8AC3E}">
        <p14:creationId xmlns:p14="http://schemas.microsoft.com/office/powerpoint/2010/main" val="1782686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F29B5-3D3B-A427-0C7A-6E56D2352F72}"/>
              </a:ext>
            </a:extLst>
          </p:cNvPr>
          <p:cNvSpPr>
            <a:spLocks noGrp="1"/>
          </p:cNvSpPr>
          <p:nvPr>
            <p:ph type="title"/>
          </p:nvPr>
        </p:nvSpPr>
        <p:spPr/>
        <p:txBody>
          <a:bodyPr/>
          <a:lstStyle/>
          <a:p>
            <a:r>
              <a:rPr lang="en-US" dirty="0"/>
              <a:t>Down-Sampling AKA Under-Sampling </a:t>
            </a:r>
          </a:p>
        </p:txBody>
      </p:sp>
      <p:sp>
        <p:nvSpPr>
          <p:cNvPr id="3" name="Content Placeholder 2">
            <a:extLst>
              <a:ext uri="{FF2B5EF4-FFF2-40B4-BE49-F238E27FC236}">
                <a16:creationId xmlns:a16="http://schemas.microsoft.com/office/drawing/2014/main" id="{F778004A-4382-2BAC-0948-616D0E10804C}"/>
              </a:ext>
            </a:extLst>
          </p:cNvPr>
          <p:cNvSpPr>
            <a:spLocks noGrp="1"/>
          </p:cNvSpPr>
          <p:nvPr>
            <p:ph idx="1"/>
          </p:nvPr>
        </p:nvSpPr>
        <p:spPr>
          <a:xfrm>
            <a:off x="664633" y="1909586"/>
            <a:ext cx="10075084" cy="2272747"/>
          </a:xfrm>
        </p:spPr>
        <p:txBody>
          <a:bodyPr>
            <a:normAutofit/>
          </a:bodyPr>
          <a:lstStyle/>
          <a:p>
            <a:r>
              <a:rPr lang="en-US" b="0" i="0" dirty="0">
                <a:solidFill>
                  <a:srgbClr val="2E3A45"/>
                </a:solidFill>
                <a:effectLst/>
              </a:rPr>
              <a:t>Split your data into features (X) and target (y).</a:t>
            </a:r>
          </a:p>
          <a:p>
            <a:r>
              <a:rPr lang="en-US" b="0" i="0" dirty="0">
                <a:solidFill>
                  <a:srgbClr val="2E3A45"/>
                </a:solidFill>
                <a:effectLst/>
              </a:rPr>
              <a:t>Identify the majority and minority classes.</a:t>
            </a:r>
          </a:p>
          <a:p>
            <a:r>
              <a:rPr lang="en-US" b="0" i="0" dirty="0">
                <a:solidFill>
                  <a:srgbClr val="2E3A45"/>
                </a:solidFill>
                <a:effectLst/>
              </a:rPr>
              <a:t>Randomly sample from the majority class to match the size of the minority class.</a:t>
            </a:r>
          </a:p>
        </p:txBody>
      </p:sp>
      <p:sp>
        <p:nvSpPr>
          <p:cNvPr id="4" name="Slide Number Placeholder 3">
            <a:extLst>
              <a:ext uri="{FF2B5EF4-FFF2-40B4-BE49-F238E27FC236}">
                <a16:creationId xmlns:a16="http://schemas.microsoft.com/office/drawing/2014/main" id="{071FB5FD-3BFE-8C3B-A481-6E1DACD0377F}"/>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11</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887262AA-2BA1-ECCF-CA04-AF54E4A3905E}"/>
              </a:ext>
            </a:extLst>
          </p:cNvPr>
          <p:cNvSpPr>
            <a:spLocks noGrp="1"/>
          </p:cNvSpPr>
          <p:nvPr>
            <p:ph type="body" sz="half" idx="2"/>
          </p:nvPr>
        </p:nvSpPr>
        <p:spPr/>
        <p:txBody>
          <a:bodyPr/>
          <a:lstStyle/>
          <a:p>
            <a:r>
              <a:rPr lang="en-US" dirty="0"/>
              <a:t>Remove % of majority case</a:t>
            </a:r>
          </a:p>
        </p:txBody>
      </p:sp>
      <p:sp>
        <p:nvSpPr>
          <p:cNvPr id="7" name="TextBox 6">
            <a:extLst>
              <a:ext uri="{FF2B5EF4-FFF2-40B4-BE49-F238E27FC236}">
                <a16:creationId xmlns:a16="http://schemas.microsoft.com/office/drawing/2014/main" id="{C7A589DF-8781-65F5-0549-A7A234EF6080}"/>
              </a:ext>
            </a:extLst>
          </p:cNvPr>
          <p:cNvSpPr txBox="1"/>
          <p:nvPr/>
        </p:nvSpPr>
        <p:spPr>
          <a:xfrm>
            <a:off x="740097" y="3534013"/>
            <a:ext cx="10787270" cy="2800767"/>
          </a:xfrm>
          <a:prstGeom prst="rect">
            <a:avLst/>
          </a:prstGeom>
          <a:solidFill>
            <a:schemeClr val="bg2"/>
          </a:solidFill>
        </p:spPr>
        <p:txBody>
          <a:bodyPr wrap="square">
            <a:spAutoFit/>
          </a:bodyPr>
          <a:lstStyle/>
          <a:p>
            <a:br>
              <a:rPr lang="en-US" sz="1600" b="0" dirty="0">
                <a:solidFill>
                  <a:srgbClr val="000000"/>
                </a:solidFill>
                <a:effectLst/>
                <a:latin typeface="Courier New" panose="02070309020205020404" pitchFamily="49" charset="0"/>
              </a:rPr>
            </a:br>
            <a:r>
              <a:rPr lang="en-US" sz="1600" b="0" dirty="0">
                <a:solidFill>
                  <a:srgbClr val="008000"/>
                </a:solidFill>
                <a:effectLst/>
                <a:latin typeface="Courier New" panose="02070309020205020404" pitchFamily="49" charset="0"/>
              </a:rPr>
              <a:t># Separating majority and minority classes</a:t>
            </a:r>
            <a:endParaRPr lang="en-US" sz="1600" b="0" dirty="0">
              <a:solidFill>
                <a:srgbClr val="000000"/>
              </a:solidFill>
              <a:effectLst/>
              <a:latin typeface="Courier New" panose="02070309020205020404" pitchFamily="49" charset="0"/>
            </a:endParaRPr>
          </a:p>
          <a:p>
            <a:r>
              <a:rPr lang="en-US" sz="1600" b="0" dirty="0" err="1">
                <a:solidFill>
                  <a:srgbClr val="000000"/>
                </a:solidFill>
                <a:effectLst/>
                <a:latin typeface="Courier New" panose="02070309020205020404" pitchFamily="49" charset="0"/>
              </a:rPr>
              <a:t>majority_class</a:t>
            </a:r>
            <a:r>
              <a:rPr lang="en-US" sz="1600" b="0" dirty="0">
                <a:solidFill>
                  <a:srgbClr val="000000"/>
                </a:solidFill>
                <a:effectLst/>
                <a:latin typeface="Courier New" panose="02070309020205020404" pitchFamily="49" charset="0"/>
              </a:rPr>
              <a:t> = </a:t>
            </a:r>
            <a:r>
              <a:rPr lang="en-US" sz="1600" b="0" dirty="0" err="1">
                <a:solidFill>
                  <a:srgbClr val="000000"/>
                </a:solidFill>
                <a:effectLst/>
                <a:latin typeface="Courier New" panose="02070309020205020404" pitchFamily="49" charset="0"/>
              </a:rPr>
              <a:t>train_data</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train_data.target</a:t>
            </a:r>
            <a:r>
              <a:rPr lang="en-US" sz="1600" b="0" dirty="0">
                <a:solidFill>
                  <a:srgbClr val="000000"/>
                </a:solidFill>
                <a:effectLst/>
                <a:latin typeface="Courier New" panose="02070309020205020404" pitchFamily="49" charset="0"/>
              </a:rPr>
              <a:t> == </a:t>
            </a:r>
            <a:r>
              <a:rPr lang="en-US" sz="1600" b="0" dirty="0">
                <a:solidFill>
                  <a:srgbClr val="116644"/>
                </a:solidFill>
                <a:effectLst/>
                <a:latin typeface="Courier New" panose="02070309020205020404" pitchFamily="49" charset="0"/>
              </a:rPr>
              <a:t>0</a:t>
            </a:r>
            <a:r>
              <a:rPr lang="en-US" sz="1600" b="0" dirty="0">
                <a:solidFill>
                  <a:srgbClr val="000000"/>
                </a:solidFill>
                <a:effectLst/>
                <a:latin typeface="Courier New" panose="02070309020205020404" pitchFamily="49" charset="0"/>
              </a:rPr>
              <a:t>]</a:t>
            </a:r>
          </a:p>
          <a:p>
            <a:r>
              <a:rPr lang="en-US" sz="1600" b="0" dirty="0" err="1">
                <a:solidFill>
                  <a:srgbClr val="000000"/>
                </a:solidFill>
                <a:effectLst/>
                <a:latin typeface="Courier New" panose="02070309020205020404" pitchFamily="49" charset="0"/>
              </a:rPr>
              <a:t>minority_class</a:t>
            </a:r>
            <a:r>
              <a:rPr lang="en-US" sz="1600" b="0" dirty="0">
                <a:solidFill>
                  <a:srgbClr val="000000"/>
                </a:solidFill>
                <a:effectLst/>
                <a:latin typeface="Courier New" panose="02070309020205020404" pitchFamily="49" charset="0"/>
              </a:rPr>
              <a:t> = </a:t>
            </a:r>
            <a:r>
              <a:rPr lang="en-US" sz="1600" b="0" dirty="0" err="1">
                <a:solidFill>
                  <a:srgbClr val="000000"/>
                </a:solidFill>
                <a:effectLst/>
                <a:latin typeface="Courier New" panose="02070309020205020404" pitchFamily="49" charset="0"/>
              </a:rPr>
              <a:t>train_data</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train_data.target</a:t>
            </a:r>
            <a:r>
              <a:rPr lang="en-US" sz="1600" b="0" dirty="0">
                <a:solidFill>
                  <a:srgbClr val="000000"/>
                </a:solidFill>
                <a:effectLst/>
                <a:latin typeface="Courier New" panose="02070309020205020404" pitchFamily="49" charset="0"/>
              </a:rPr>
              <a:t> == </a:t>
            </a:r>
            <a:r>
              <a:rPr lang="en-US" sz="1600" b="0" dirty="0">
                <a:solidFill>
                  <a:srgbClr val="116644"/>
                </a:solidFill>
                <a:effectLst/>
                <a:latin typeface="Courier New" panose="02070309020205020404" pitchFamily="49" charset="0"/>
              </a:rPr>
              <a:t>1</a:t>
            </a:r>
            <a:r>
              <a:rPr lang="en-US" sz="1600" b="0" dirty="0">
                <a:solidFill>
                  <a:srgbClr val="000000"/>
                </a:solidFill>
                <a:effectLst/>
                <a:latin typeface="Courier New" panose="02070309020205020404" pitchFamily="49" charset="0"/>
              </a:rPr>
              <a:t>]</a:t>
            </a:r>
          </a:p>
          <a:p>
            <a:br>
              <a:rPr lang="en-US" sz="1600" b="0" dirty="0">
                <a:solidFill>
                  <a:srgbClr val="000000"/>
                </a:solidFill>
                <a:effectLst/>
                <a:latin typeface="Courier New" panose="02070309020205020404" pitchFamily="49" charset="0"/>
              </a:rPr>
            </a:br>
            <a:r>
              <a:rPr lang="en-US" sz="1600" b="0" dirty="0">
                <a:solidFill>
                  <a:srgbClr val="008000"/>
                </a:solidFill>
                <a:effectLst/>
                <a:latin typeface="Courier New" panose="02070309020205020404" pitchFamily="49" charset="0"/>
              </a:rPr>
              <a:t># </a:t>
            </a:r>
            <a:r>
              <a:rPr lang="en-US" sz="1600" b="0" dirty="0" err="1">
                <a:solidFill>
                  <a:srgbClr val="008000"/>
                </a:solidFill>
                <a:effectLst/>
                <a:latin typeface="Courier New" panose="02070309020205020404" pitchFamily="49" charset="0"/>
              </a:rPr>
              <a:t>Downsampling</a:t>
            </a:r>
            <a:r>
              <a:rPr lang="en-US" sz="1600" b="0" dirty="0">
                <a:solidFill>
                  <a:srgbClr val="008000"/>
                </a:solidFill>
                <a:effectLst/>
                <a:latin typeface="Courier New" panose="02070309020205020404" pitchFamily="49" charset="0"/>
              </a:rPr>
              <a:t> majority class</a:t>
            </a:r>
            <a:endParaRPr lang="en-US" sz="1600" b="0" dirty="0">
              <a:solidFill>
                <a:srgbClr val="000000"/>
              </a:solidFill>
              <a:effectLst/>
              <a:latin typeface="Courier New" panose="02070309020205020404" pitchFamily="49" charset="0"/>
            </a:endParaRPr>
          </a:p>
          <a:p>
            <a:r>
              <a:rPr lang="en-US" sz="1600" b="0" dirty="0" err="1">
                <a:solidFill>
                  <a:srgbClr val="000000"/>
                </a:solidFill>
                <a:effectLst/>
                <a:latin typeface="Courier New" panose="02070309020205020404" pitchFamily="49" charset="0"/>
              </a:rPr>
              <a:t>majority_downsampled</a:t>
            </a:r>
            <a:r>
              <a:rPr lang="en-US" sz="1600" b="0" dirty="0">
                <a:solidFill>
                  <a:srgbClr val="000000"/>
                </a:solidFill>
                <a:effectLst/>
                <a:latin typeface="Courier New" panose="02070309020205020404" pitchFamily="49" charset="0"/>
              </a:rPr>
              <a:t> = </a:t>
            </a:r>
            <a:r>
              <a:rPr lang="en-US" sz="1600" b="0" dirty="0" err="1">
                <a:solidFill>
                  <a:srgbClr val="000000"/>
                </a:solidFill>
                <a:effectLst/>
                <a:latin typeface="Courier New" panose="02070309020205020404" pitchFamily="49" charset="0"/>
              </a:rPr>
              <a:t>majority_class.sample</a:t>
            </a:r>
            <a:r>
              <a:rPr lang="en-US" sz="1600" b="0" dirty="0">
                <a:solidFill>
                  <a:srgbClr val="000000"/>
                </a:solidFill>
                <a:effectLst/>
                <a:latin typeface="Courier New" panose="02070309020205020404" pitchFamily="49" charset="0"/>
              </a:rPr>
              <a:t>(</a:t>
            </a:r>
            <a:r>
              <a:rPr lang="en-US" sz="1600" b="0" dirty="0" err="1">
                <a:solidFill>
                  <a:srgbClr val="795E26"/>
                </a:solidFill>
                <a:effectLst/>
                <a:latin typeface="Courier New" panose="02070309020205020404" pitchFamily="49" charset="0"/>
              </a:rPr>
              <a:t>len</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minority_class</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random_state</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42</a:t>
            </a:r>
            <a:r>
              <a:rPr lang="en-US" sz="1600" b="0" dirty="0">
                <a:solidFill>
                  <a:srgbClr val="000000"/>
                </a:solidFill>
                <a:effectLst/>
                <a:latin typeface="Courier New" panose="02070309020205020404" pitchFamily="49" charset="0"/>
              </a:rPr>
              <a:t>)</a:t>
            </a:r>
          </a:p>
          <a:p>
            <a:br>
              <a:rPr lang="en-US" sz="1600" b="0" dirty="0">
                <a:solidFill>
                  <a:srgbClr val="000000"/>
                </a:solidFill>
                <a:effectLst/>
                <a:latin typeface="Courier New" panose="02070309020205020404" pitchFamily="49" charset="0"/>
              </a:rPr>
            </a:br>
            <a:r>
              <a:rPr lang="en-US" sz="1600" b="0" dirty="0">
                <a:solidFill>
                  <a:srgbClr val="008000"/>
                </a:solidFill>
                <a:effectLst/>
                <a:latin typeface="Courier New" panose="02070309020205020404" pitchFamily="49" charset="0"/>
              </a:rPr>
              <a:t># Combining minority class with </a:t>
            </a:r>
            <a:r>
              <a:rPr lang="en-US" sz="1600" b="0" dirty="0" err="1">
                <a:solidFill>
                  <a:srgbClr val="008000"/>
                </a:solidFill>
                <a:effectLst/>
                <a:latin typeface="Courier New" panose="02070309020205020404" pitchFamily="49" charset="0"/>
              </a:rPr>
              <a:t>downsampled</a:t>
            </a:r>
            <a:r>
              <a:rPr lang="en-US" sz="1600" b="0" dirty="0">
                <a:solidFill>
                  <a:srgbClr val="008000"/>
                </a:solidFill>
                <a:effectLst/>
                <a:latin typeface="Courier New" panose="02070309020205020404" pitchFamily="49" charset="0"/>
              </a:rPr>
              <a:t> majority class</a:t>
            </a:r>
            <a:endParaRPr lang="en-US" sz="1600" b="0" dirty="0">
              <a:solidFill>
                <a:srgbClr val="000000"/>
              </a:solidFill>
              <a:effectLst/>
              <a:latin typeface="Courier New" panose="02070309020205020404" pitchFamily="49" charset="0"/>
            </a:endParaRPr>
          </a:p>
          <a:p>
            <a:r>
              <a:rPr lang="en-US" sz="1600" b="0" dirty="0" err="1">
                <a:solidFill>
                  <a:srgbClr val="000000"/>
                </a:solidFill>
                <a:effectLst/>
                <a:latin typeface="Courier New" panose="02070309020205020404" pitchFamily="49" charset="0"/>
              </a:rPr>
              <a:t>downsampled_data</a:t>
            </a:r>
            <a:r>
              <a:rPr lang="en-US" sz="1600" b="0" dirty="0">
                <a:solidFill>
                  <a:srgbClr val="000000"/>
                </a:solidFill>
                <a:effectLst/>
                <a:latin typeface="Courier New" panose="02070309020205020404" pitchFamily="49" charset="0"/>
              </a:rPr>
              <a:t> = </a:t>
            </a:r>
            <a:r>
              <a:rPr lang="en-US" sz="1600" b="0" dirty="0" err="1">
                <a:solidFill>
                  <a:srgbClr val="000000"/>
                </a:solidFill>
                <a:effectLst/>
                <a:latin typeface="Courier New" panose="02070309020205020404" pitchFamily="49" charset="0"/>
              </a:rPr>
              <a:t>pd.concat</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majority_downsampled</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minority_class</a:t>
            </a:r>
            <a:r>
              <a:rPr lang="en-US" sz="1600" b="0" dirty="0">
                <a:solidFill>
                  <a:srgbClr val="000000"/>
                </a:solidFill>
                <a:effectLst/>
                <a:latin typeface="Courier New" panose="02070309020205020404" pitchFamily="49" charset="0"/>
              </a:rPr>
              <a:t>])</a:t>
            </a:r>
          </a:p>
          <a:p>
            <a:endParaRPr lang="en-US" sz="1600" b="0" dirty="0">
              <a:solidFill>
                <a:srgbClr val="000000"/>
              </a:solidFill>
              <a:effectLst/>
              <a:latin typeface="Courier New" panose="02070309020205020404" pitchFamily="49" charset="0"/>
            </a:endParaRPr>
          </a:p>
        </p:txBody>
      </p:sp>
      <p:sp>
        <p:nvSpPr>
          <p:cNvPr id="8" name="TextBox 7">
            <a:extLst>
              <a:ext uri="{FF2B5EF4-FFF2-40B4-BE49-F238E27FC236}">
                <a16:creationId xmlns:a16="http://schemas.microsoft.com/office/drawing/2014/main" id="{81E3A73A-C950-1FF2-9CA1-975D0BB41E3F}"/>
              </a:ext>
            </a:extLst>
          </p:cNvPr>
          <p:cNvSpPr txBox="1"/>
          <p:nvPr/>
        </p:nvSpPr>
        <p:spPr>
          <a:xfrm>
            <a:off x="740097" y="6334780"/>
            <a:ext cx="11202859" cy="646331"/>
          </a:xfrm>
          <a:prstGeom prst="rect">
            <a:avLst/>
          </a:prstGeom>
          <a:noFill/>
        </p:spPr>
        <p:txBody>
          <a:bodyPr wrap="square">
            <a:spAutoFit/>
          </a:bodyPr>
          <a:lstStyle/>
          <a:p>
            <a:r>
              <a:rPr lang="en-US" dirty="0">
                <a:hlinkClick r:id="rId2"/>
              </a:rPr>
              <a:t>https://imbalanced-learn.org/stable/references/under_sampling.html#module-imblearn.under_sampling</a:t>
            </a:r>
            <a:endParaRPr lang="en-US" dirty="0"/>
          </a:p>
          <a:p>
            <a:endParaRPr lang="en-US" dirty="0"/>
          </a:p>
        </p:txBody>
      </p:sp>
    </p:spTree>
    <p:extLst>
      <p:ext uri="{BB962C8B-B14F-4D97-AF65-F5344CB8AC3E}">
        <p14:creationId xmlns:p14="http://schemas.microsoft.com/office/powerpoint/2010/main" val="3402294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8A8C4-95DD-FE03-7B85-4F933CE2B48F}"/>
              </a:ext>
            </a:extLst>
          </p:cNvPr>
          <p:cNvSpPr>
            <a:spLocks noGrp="1"/>
          </p:cNvSpPr>
          <p:nvPr>
            <p:ph type="title"/>
          </p:nvPr>
        </p:nvSpPr>
        <p:spPr>
          <a:xfrm>
            <a:off x="664633" y="134471"/>
            <a:ext cx="10075084" cy="995082"/>
          </a:xfrm>
        </p:spPr>
        <p:txBody>
          <a:bodyPr anchor="b">
            <a:normAutofit/>
          </a:bodyPr>
          <a:lstStyle/>
          <a:p>
            <a:r>
              <a:rPr lang="en-US" dirty="0"/>
              <a:t>Up-Sampling AKA Over Sampling</a:t>
            </a:r>
          </a:p>
        </p:txBody>
      </p:sp>
      <p:sp>
        <p:nvSpPr>
          <p:cNvPr id="4" name="Slide Number Placeholder 3">
            <a:extLst>
              <a:ext uri="{FF2B5EF4-FFF2-40B4-BE49-F238E27FC236}">
                <a16:creationId xmlns:a16="http://schemas.microsoft.com/office/drawing/2014/main" id="{B97608C4-93D7-744E-9AC2-F90E1FD33E22}"/>
              </a:ext>
            </a:extLst>
          </p:cNvPr>
          <p:cNvSpPr>
            <a:spLocks noGrp="1"/>
          </p:cNvSpPr>
          <p:nvPr>
            <p:ph type="sldNum" sz="quarter" idx="12"/>
          </p:nvPr>
        </p:nvSpPr>
        <p:spPr>
          <a:xfrm>
            <a:off x="11074400" y="242235"/>
            <a:ext cx="738717" cy="365125"/>
          </a:xfrm>
        </p:spPr>
        <p:txBody>
          <a:bodyPr anchor="ctr">
            <a:normAutofit/>
          </a:bodyPr>
          <a:lstStyle/>
          <a:p>
            <a:pPr>
              <a:spcAft>
                <a:spcPts val="600"/>
              </a:spcAft>
            </a:pPr>
            <a:fld id="{02456A73-CB17-B748-BD2A-A20F5DD59EC7}" type="slidenum">
              <a:rPr lang="en-US" smtClean="0">
                <a:solidFill>
                  <a:srgbClr val="FFFFFF"/>
                </a:solidFill>
              </a:rPr>
              <a:pPr>
                <a:spcAft>
                  <a:spcPts val="600"/>
                </a:spcAft>
              </a:pPr>
              <a:t>12</a:t>
            </a:fld>
            <a:endParaRPr lang="en-US">
              <a:solidFill>
                <a:srgbClr val="FFFFFF"/>
              </a:solidFill>
            </a:endParaRPr>
          </a:p>
        </p:txBody>
      </p:sp>
      <p:sp>
        <p:nvSpPr>
          <p:cNvPr id="3" name="Content Placeholder 2">
            <a:extLst>
              <a:ext uri="{FF2B5EF4-FFF2-40B4-BE49-F238E27FC236}">
                <a16:creationId xmlns:a16="http://schemas.microsoft.com/office/drawing/2014/main" id="{6CEC4756-F51F-1B47-F503-A3F26CCC22A5}"/>
              </a:ext>
            </a:extLst>
          </p:cNvPr>
          <p:cNvSpPr>
            <a:spLocks noGrp="1"/>
          </p:cNvSpPr>
          <p:nvPr>
            <p:ph type="body" sz="half" idx="2"/>
          </p:nvPr>
        </p:nvSpPr>
        <p:spPr>
          <a:xfrm>
            <a:off x="664691" y="1129553"/>
            <a:ext cx="10078613" cy="774700"/>
          </a:xfrm>
        </p:spPr>
        <p:txBody>
          <a:bodyPr anchor="t">
            <a:normAutofit/>
          </a:bodyPr>
          <a:lstStyle/>
          <a:p>
            <a:r>
              <a:rPr lang="en-US" dirty="0"/>
              <a:t>Simply </a:t>
            </a:r>
            <a:r>
              <a:rPr lang="en-US" u="sng" dirty="0"/>
              <a:t>duplicate</a:t>
            </a:r>
            <a:r>
              <a:rPr lang="en-US" dirty="0"/>
              <a:t>  % of minority case</a:t>
            </a:r>
          </a:p>
        </p:txBody>
      </p:sp>
      <p:graphicFrame>
        <p:nvGraphicFramePr>
          <p:cNvPr id="5" name="Table 4">
            <a:extLst>
              <a:ext uri="{FF2B5EF4-FFF2-40B4-BE49-F238E27FC236}">
                <a16:creationId xmlns:a16="http://schemas.microsoft.com/office/drawing/2014/main" id="{45BE9FD6-F896-5C2A-BE77-A9E005ED0074}"/>
              </a:ext>
            </a:extLst>
          </p:cNvPr>
          <p:cNvGraphicFramePr>
            <a:graphicFrameLocks noGrp="1"/>
          </p:cNvGraphicFramePr>
          <p:nvPr/>
        </p:nvGraphicFramePr>
        <p:xfrm>
          <a:off x="769923" y="1981201"/>
          <a:ext cx="9864509" cy="4107191"/>
        </p:xfrm>
        <a:graphic>
          <a:graphicData uri="http://schemas.openxmlformats.org/drawingml/2006/table">
            <a:tbl>
              <a:tblPr firstRow="1" bandRow="1">
                <a:noFill/>
              </a:tblPr>
              <a:tblGrid>
                <a:gridCol w="1465506">
                  <a:extLst>
                    <a:ext uri="{9D8B030D-6E8A-4147-A177-3AD203B41FA5}">
                      <a16:colId xmlns:a16="http://schemas.microsoft.com/office/drawing/2014/main" val="327005184"/>
                    </a:ext>
                  </a:extLst>
                </a:gridCol>
                <a:gridCol w="1305375">
                  <a:extLst>
                    <a:ext uri="{9D8B030D-6E8A-4147-A177-3AD203B41FA5}">
                      <a16:colId xmlns:a16="http://schemas.microsoft.com/office/drawing/2014/main" val="1316906174"/>
                    </a:ext>
                  </a:extLst>
                </a:gridCol>
                <a:gridCol w="2125817">
                  <a:extLst>
                    <a:ext uri="{9D8B030D-6E8A-4147-A177-3AD203B41FA5}">
                      <a16:colId xmlns:a16="http://schemas.microsoft.com/office/drawing/2014/main" val="2166188159"/>
                    </a:ext>
                  </a:extLst>
                </a:gridCol>
                <a:gridCol w="1384540">
                  <a:extLst>
                    <a:ext uri="{9D8B030D-6E8A-4147-A177-3AD203B41FA5}">
                      <a16:colId xmlns:a16="http://schemas.microsoft.com/office/drawing/2014/main" val="3880762407"/>
                    </a:ext>
                  </a:extLst>
                </a:gridCol>
                <a:gridCol w="1443915">
                  <a:extLst>
                    <a:ext uri="{9D8B030D-6E8A-4147-A177-3AD203B41FA5}">
                      <a16:colId xmlns:a16="http://schemas.microsoft.com/office/drawing/2014/main" val="2027694543"/>
                    </a:ext>
                  </a:extLst>
                </a:gridCol>
                <a:gridCol w="1111060">
                  <a:extLst>
                    <a:ext uri="{9D8B030D-6E8A-4147-A177-3AD203B41FA5}">
                      <a16:colId xmlns:a16="http://schemas.microsoft.com/office/drawing/2014/main" val="4120377957"/>
                    </a:ext>
                  </a:extLst>
                </a:gridCol>
                <a:gridCol w="1028296">
                  <a:extLst>
                    <a:ext uri="{9D8B030D-6E8A-4147-A177-3AD203B41FA5}">
                      <a16:colId xmlns:a16="http://schemas.microsoft.com/office/drawing/2014/main" val="4143025788"/>
                    </a:ext>
                  </a:extLst>
                </a:gridCol>
              </a:tblGrid>
              <a:tr h="318844">
                <a:tc>
                  <a:txBody>
                    <a:bodyPr/>
                    <a:lstStyle/>
                    <a:p>
                      <a:pPr algn="l" fontAlgn="b"/>
                      <a:r>
                        <a:rPr lang="en-US" sz="900" b="1" i="0" u="none" strike="noStrike" cap="none" spc="0">
                          <a:solidFill>
                            <a:schemeClr val="tx1"/>
                          </a:solidFill>
                          <a:effectLst/>
                          <a:latin typeface="Calibri" panose="020F0502020204030204" pitchFamily="34" charset="0"/>
                        </a:rPr>
                        <a:t>hours_played_sitting</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number_of_tables</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vluntarily_put_money_into_pot</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pot_preflop_raising</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went_to_showdown</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player_country</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tc>
                  <a:txBody>
                    <a:bodyPr/>
                    <a:lstStyle/>
                    <a:p>
                      <a:pPr algn="l" fontAlgn="b"/>
                      <a:r>
                        <a:rPr lang="en-US" sz="900" b="1" i="0" u="none" strike="noStrike" cap="none" spc="0">
                          <a:solidFill>
                            <a:schemeClr val="tx1"/>
                          </a:solidFill>
                          <a:effectLst/>
                          <a:latin typeface="Calibri" panose="020F0502020204030204" pitchFamily="34" charset="0"/>
                        </a:rPr>
                        <a:t>EVENT_LABEL</a:t>
                      </a:r>
                    </a:p>
                  </a:txBody>
                  <a:tcPr marL="0" marR="42324" marT="16930" marB="126973"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1605202353"/>
                  </a:ext>
                </a:extLst>
              </a:tr>
              <a:tr h="318844">
                <a:tc>
                  <a:txBody>
                    <a:bodyPr/>
                    <a:lstStyle/>
                    <a:p>
                      <a:pPr algn="r" fontAlgn="b"/>
                      <a:r>
                        <a:rPr lang="en-US" sz="900" b="0" i="0" u="none" strike="noStrike" cap="none" spc="0" dirty="0">
                          <a:solidFill>
                            <a:schemeClr val="tx1"/>
                          </a:solidFill>
                          <a:effectLst/>
                          <a:latin typeface="Calibri" panose="020F0502020204030204" pitchFamily="34" charset="0"/>
                        </a:rPr>
                        <a:t>30</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algn="r" fontAlgn="b"/>
                      <a:r>
                        <a:rPr lang="en-US" sz="900" b="0" i="0" u="none" strike="noStrike" cap="none" spc="0" dirty="0">
                          <a:solidFill>
                            <a:schemeClr val="tx1"/>
                          </a:solidFill>
                          <a:effectLst/>
                          <a:latin typeface="Calibri" panose="020F0502020204030204" pitchFamily="34" charset="0"/>
                        </a:rPr>
                        <a:t>649</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algn="r" fontAlgn="b"/>
                      <a:r>
                        <a:rPr lang="en-US" sz="900" b="0" i="0" u="none" strike="noStrike" cap="none" spc="0" dirty="0">
                          <a:solidFill>
                            <a:schemeClr val="tx1"/>
                          </a:solidFill>
                          <a:effectLst/>
                          <a:latin typeface="Calibri" panose="020F0502020204030204" pitchFamily="34" charset="0"/>
                        </a:rPr>
                        <a:t>30</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algn="r" fontAlgn="b"/>
                      <a:r>
                        <a:rPr lang="en-US" sz="900" b="0" i="0" u="none" strike="noStrike" cap="none" spc="0" dirty="0">
                          <a:solidFill>
                            <a:schemeClr val="tx1"/>
                          </a:solidFill>
                          <a:effectLst/>
                          <a:latin typeface="Calibri" panose="020F0502020204030204" pitchFamily="34" charset="0"/>
                        </a:rPr>
                        <a:t>39</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algn="r" fontAlgn="b"/>
                      <a:r>
                        <a:rPr lang="en-US" sz="900" b="0" i="0" u="none" strike="noStrike" cap="none" spc="0" dirty="0">
                          <a:solidFill>
                            <a:schemeClr val="tx1"/>
                          </a:solidFill>
                          <a:effectLst/>
                          <a:latin typeface="Calibri" panose="020F0502020204030204" pitchFamily="34" charset="0"/>
                        </a:rPr>
                        <a:t>105</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algn="l" fontAlgn="b"/>
                      <a:r>
                        <a:rPr lang="en-US" sz="900" b="0" i="0" u="none" strike="noStrike" cap="none" spc="0" dirty="0">
                          <a:solidFill>
                            <a:schemeClr val="tx1"/>
                          </a:solidFill>
                          <a:effectLst/>
                          <a:latin typeface="Calibri" panose="020F0502020204030204" pitchFamily="34" charset="0"/>
                        </a:rPr>
                        <a:t>CAN</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pPr algn="l" fontAlgn="b"/>
                      <a:r>
                        <a:rPr lang="en-US" sz="900" b="0" i="0" u="none" strike="noStrike" cap="none" spc="0" dirty="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38100" cmpd="sng">
                      <a:noFill/>
                    </a:lnT>
                    <a:lnB w="6350" cap="flat" cmpd="sng" algn="ctr">
                      <a:solidFill>
                        <a:schemeClr val="tx1"/>
                      </a:solidFill>
                      <a:prstDash val="solid"/>
                    </a:lnB>
                    <a:noFill/>
                  </a:tcPr>
                </a:tc>
                <a:extLst>
                  <a:ext uri="{0D108BD9-81ED-4DB2-BD59-A6C34878D82A}">
                    <a16:rowId xmlns:a16="http://schemas.microsoft.com/office/drawing/2014/main" val="665311547"/>
                  </a:ext>
                </a:extLst>
              </a:tr>
              <a:tr h="318844">
                <a:tc>
                  <a:txBody>
                    <a:bodyPr/>
                    <a:lstStyle/>
                    <a:p>
                      <a:pPr algn="r" fontAlgn="b"/>
                      <a:r>
                        <a:rPr lang="en-US" sz="900" b="0" i="0" u="none" strike="noStrike" cap="none" spc="0">
                          <a:solidFill>
                            <a:schemeClr val="tx1"/>
                          </a:solidFill>
                          <a:effectLst/>
                          <a:latin typeface="Calibri" panose="020F0502020204030204" pitchFamily="34" charset="0"/>
                        </a:rPr>
                        <a:t>30</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r" fontAlgn="b"/>
                      <a:r>
                        <a:rPr lang="en-US" sz="900" b="0" i="0" u="none" strike="noStrike" cap="none" spc="0">
                          <a:solidFill>
                            <a:schemeClr val="tx1"/>
                          </a:solidFill>
                          <a:effectLst/>
                          <a:latin typeface="Calibri" panose="020F0502020204030204" pitchFamily="34" charset="0"/>
                        </a:rPr>
                        <a:t>312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r" fontAlgn="b"/>
                      <a:r>
                        <a:rPr lang="en-US" sz="900" b="0" i="0" u="none" strike="noStrike" cap="none" spc="0">
                          <a:solidFill>
                            <a:schemeClr val="tx1"/>
                          </a:solidFill>
                          <a:effectLst/>
                          <a:latin typeface="Calibri" panose="020F0502020204030204" pitchFamily="34" charset="0"/>
                        </a:rPr>
                        <a:t>71</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r" fontAlgn="b"/>
                      <a:r>
                        <a:rPr lang="en-US" sz="900" b="0" i="0" u="none" strike="noStrike" cap="none" spc="0" dirty="0">
                          <a:solidFill>
                            <a:schemeClr val="tx1"/>
                          </a:solidFill>
                          <a:effectLst/>
                          <a:latin typeface="Calibri" panose="020F0502020204030204" pitchFamily="34" charset="0"/>
                        </a:rPr>
                        <a:t>29</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r" fontAlgn="b"/>
                      <a:r>
                        <a:rPr lang="en-US" sz="900" b="0" i="0" u="none" strike="noStrike" cap="none" spc="0" dirty="0">
                          <a:solidFill>
                            <a:schemeClr val="tx1"/>
                          </a:solidFill>
                          <a:effectLst/>
                          <a:latin typeface="Calibri" panose="020F0502020204030204" pitchFamily="34" charset="0"/>
                        </a:rPr>
                        <a:t>26</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l" fontAlgn="b"/>
                      <a:r>
                        <a:rPr lang="en-US" sz="900" b="0" i="0" u="none" strike="noStrike" cap="none" spc="0">
                          <a:solidFill>
                            <a:schemeClr val="tx1"/>
                          </a:solidFill>
                          <a:effectLst/>
                          <a:latin typeface="Calibri" panose="020F0502020204030204" pitchFamily="34" charset="0"/>
                        </a:rPr>
                        <a:t>UK</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l" fontAlgn="b"/>
                      <a:r>
                        <a:rPr lang="en-US" sz="900" b="0" i="0" u="none" strike="noStrike" cap="none" spc="0" dirty="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extLst>
                  <a:ext uri="{0D108BD9-81ED-4DB2-BD59-A6C34878D82A}">
                    <a16:rowId xmlns:a16="http://schemas.microsoft.com/office/drawing/2014/main" val="3608016949"/>
                  </a:ext>
                </a:extLst>
              </a:tr>
              <a:tr h="318844">
                <a:tc>
                  <a:txBody>
                    <a:bodyPr/>
                    <a:lstStyle/>
                    <a:p>
                      <a:pPr algn="r" fontAlgn="b"/>
                      <a:r>
                        <a:rPr lang="en-US" sz="900" b="0" i="0" u="none" strike="noStrike" cap="none" spc="0">
                          <a:solidFill>
                            <a:schemeClr val="tx1"/>
                          </a:solidFill>
                          <a:effectLst/>
                          <a:latin typeface="Calibri" panose="020F0502020204030204" pitchFamily="34" charset="0"/>
                        </a:rPr>
                        <a:t>35</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900" b="0" i="0" u="none" strike="noStrike" cap="none" spc="0">
                          <a:solidFill>
                            <a:schemeClr val="tx1"/>
                          </a:solidFill>
                          <a:effectLst/>
                          <a:latin typeface="Calibri" panose="020F0502020204030204" pitchFamily="34" charset="0"/>
                        </a:rPr>
                        <a:t>694</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900" b="0" i="0" u="none" strike="noStrike" cap="none" spc="0">
                          <a:solidFill>
                            <a:schemeClr val="tx1"/>
                          </a:solidFill>
                          <a:effectLst/>
                          <a:latin typeface="Calibri" panose="020F0502020204030204" pitchFamily="34" charset="0"/>
                        </a:rPr>
                        <a:t>22</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900" b="0" i="0" u="none" strike="noStrike" cap="none" spc="0">
                          <a:solidFill>
                            <a:schemeClr val="tx1"/>
                          </a:solidFill>
                          <a:effectLst/>
                          <a:latin typeface="Calibri" panose="020F0502020204030204" pitchFamily="34" charset="0"/>
                        </a:rPr>
                        <a:t>35</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r" fontAlgn="b"/>
                      <a:r>
                        <a:rPr lang="en-US" sz="900" b="0" i="0" u="none" strike="noStrike" cap="none" spc="0">
                          <a:solidFill>
                            <a:schemeClr val="tx1"/>
                          </a:solidFill>
                          <a:effectLst/>
                          <a:latin typeface="Calibri" panose="020F0502020204030204" pitchFamily="34" charset="0"/>
                        </a:rPr>
                        <a:t>58</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l" fontAlgn="b"/>
                      <a:r>
                        <a:rPr lang="en-US" sz="900" b="0" i="0" u="none" strike="noStrike" cap="none" spc="0">
                          <a:solidFill>
                            <a:schemeClr val="tx1"/>
                          </a:solidFill>
                          <a:effectLst/>
                          <a:latin typeface="Calibri" panose="020F0502020204030204" pitchFamily="34" charset="0"/>
                        </a:rPr>
                        <a:t>CAN</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tc>
                  <a:txBody>
                    <a:bodyPr/>
                    <a:lstStyle/>
                    <a:p>
                      <a:pPr algn="l" fontAlgn="b"/>
                      <a:r>
                        <a:rPr lang="en-US" sz="900" b="0" i="0" u="none" strike="noStrike" cap="none" spc="0" dirty="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noFill/>
                  </a:tcPr>
                </a:tc>
                <a:extLst>
                  <a:ext uri="{0D108BD9-81ED-4DB2-BD59-A6C34878D82A}">
                    <a16:rowId xmlns:a16="http://schemas.microsoft.com/office/drawing/2014/main" val="2199356550"/>
                  </a:ext>
                </a:extLst>
              </a:tr>
              <a:tr h="318844">
                <a:tc>
                  <a:txBody>
                    <a:bodyPr/>
                    <a:lstStyle/>
                    <a:p>
                      <a:pPr algn="r" fontAlgn="b"/>
                      <a:r>
                        <a:rPr lang="en-US" sz="900" b="0" i="0" u="none" strike="noStrike" cap="none" spc="0">
                          <a:solidFill>
                            <a:schemeClr val="tx1"/>
                          </a:solidFill>
                          <a:effectLst/>
                          <a:latin typeface="Calibri" panose="020F0502020204030204" pitchFamily="34" charset="0"/>
                        </a:rPr>
                        <a:t>36</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r" fontAlgn="b"/>
                      <a:r>
                        <a:rPr lang="en-US" sz="900" b="0" i="0" u="none" strike="noStrike" cap="none" spc="0">
                          <a:solidFill>
                            <a:schemeClr val="tx1"/>
                          </a:solidFill>
                          <a:effectLst/>
                          <a:latin typeface="Calibri" panose="020F0502020204030204" pitchFamily="34" charset="0"/>
                        </a:rPr>
                        <a:t>573</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r" fontAlgn="b"/>
                      <a:r>
                        <a:rPr lang="en-US" sz="900" b="0" i="0" u="none" strike="noStrike" cap="none" spc="0">
                          <a:solidFill>
                            <a:schemeClr val="tx1"/>
                          </a:solidFill>
                          <a:effectLst/>
                          <a:latin typeface="Calibri" panose="020F0502020204030204" pitchFamily="34" charset="0"/>
                        </a:rPr>
                        <a:t>42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r" fontAlgn="b"/>
                      <a:r>
                        <a:rPr lang="en-US" sz="900" b="0" i="0" u="none" strike="noStrike" cap="none" spc="0">
                          <a:solidFill>
                            <a:schemeClr val="tx1"/>
                          </a:solidFill>
                          <a:effectLst/>
                          <a:latin typeface="Calibri" panose="020F0502020204030204" pitchFamily="34" charset="0"/>
                        </a:rPr>
                        <a:t>58</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r" fontAlgn="b"/>
                      <a:r>
                        <a:rPr lang="en-US" sz="900" b="0" i="0" u="none" strike="noStrike" cap="none" spc="0">
                          <a:solidFill>
                            <a:schemeClr val="tx1"/>
                          </a:solidFill>
                          <a:effectLst/>
                          <a:latin typeface="Calibri" panose="020F0502020204030204" pitchFamily="34" charset="0"/>
                        </a:rPr>
                        <a:t>202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l" fontAlgn="b"/>
                      <a:r>
                        <a:rPr lang="en-US" sz="900" b="0" i="0" u="none" strike="noStrike" cap="none" spc="0">
                          <a:solidFill>
                            <a:schemeClr val="tx1"/>
                          </a:solidFill>
                          <a:effectLst/>
                          <a:latin typeface="Calibri" panose="020F0502020204030204" pitchFamily="34" charset="0"/>
                        </a:rPr>
                        <a:t>CAN</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l" fontAlgn="b"/>
                      <a:r>
                        <a:rPr lang="en-US" sz="900" b="0" i="0" u="none" strike="noStrike" cap="none" spc="0" dirty="0">
                          <a:solidFill>
                            <a:schemeClr val="tx1"/>
                          </a:solidFill>
                          <a:effectLst/>
                          <a:latin typeface="Calibri" panose="020F0502020204030204" pitchFamily="34" charset="0"/>
                        </a:rPr>
                        <a:t>legit</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noFill/>
                  </a:tcPr>
                </a:tc>
                <a:extLst>
                  <a:ext uri="{0D108BD9-81ED-4DB2-BD59-A6C34878D82A}">
                    <a16:rowId xmlns:a16="http://schemas.microsoft.com/office/drawing/2014/main" val="290319731"/>
                  </a:ext>
                </a:extLst>
              </a:tr>
              <a:tr h="318844">
                <a:tc>
                  <a:txBody>
                    <a:bodyPr/>
                    <a:lstStyle/>
                    <a:p>
                      <a:pPr algn="r" fontAlgn="b"/>
                      <a:r>
                        <a:rPr lang="en-US" sz="900" b="0" i="0" u="none" strike="noStrike" cap="none" spc="0" dirty="0">
                          <a:solidFill>
                            <a:schemeClr val="tx1"/>
                          </a:solidFill>
                          <a:effectLst/>
                          <a:latin typeface="Calibri" panose="020F0502020204030204" pitchFamily="34" charset="0"/>
                        </a:rPr>
                        <a:t>19</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816</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36</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42</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434</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UK</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913148132"/>
                  </a:ext>
                </a:extLst>
              </a:tr>
              <a:tr h="318844">
                <a:tc>
                  <a:txBody>
                    <a:bodyPr/>
                    <a:lstStyle/>
                    <a:p>
                      <a:pPr algn="r" fontAlgn="b"/>
                      <a:r>
                        <a:rPr lang="en-US" sz="900" b="0" i="0" u="none" strike="noStrike" cap="none" spc="0">
                          <a:solidFill>
                            <a:schemeClr val="tx1"/>
                          </a:solidFill>
                          <a:effectLst/>
                          <a:latin typeface="Calibri" panose="020F0502020204030204" pitchFamily="34" charset="0"/>
                        </a:rPr>
                        <a:t>32</a:t>
                      </a:r>
                    </a:p>
                  </a:txBody>
                  <a:tcPr marL="0" marR="42324" marT="16930" marB="126973" anchor="b">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a:solidFill>
                            <a:schemeClr val="tx1"/>
                          </a:solidFill>
                          <a:effectLst/>
                          <a:latin typeface="Calibri" panose="020F0502020204030204" pitchFamily="34" charset="0"/>
                        </a:rPr>
                        <a:t>611</a:t>
                      </a:r>
                    </a:p>
                  </a:txBody>
                  <a:tcPr marL="0" marR="42324" marT="16930" marB="126973" anchor="b">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a:solidFill>
                            <a:schemeClr val="tx1"/>
                          </a:solidFill>
                          <a:effectLst/>
                          <a:latin typeface="Calibri" panose="020F0502020204030204" pitchFamily="34" charset="0"/>
                        </a:rPr>
                        <a:t>51</a:t>
                      </a:r>
                    </a:p>
                  </a:txBody>
                  <a:tcPr marL="0" marR="42324" marT="16930" marB="126973" anchor="b">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a:solidFill>
                            <a:schemeClr val="tx1"/>
                          </a:solidFill>
                          <a:effectLst/>
                          <a:latin typeface="Calibri" panose="020F0502020204030204" pitchFamily="34" charset="0"/>
                        </a:rPr>
                        <a:t>53</a:t>
                      </a:r>
                    </a:p>
                  </a:txBody>
                  <a:tcPr marL="0" marR="42324" marT="16930" marB="126973" anchor="b">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a:solidFill>
                            <a:schemeClr val="tx1"/>
                          </a:solidFill>
                          <a:effectLst/>
                          <a:latin typeface="Calibri" panose="020F0502020204030204" pitchFamily="34" charset="0"/>
                        </a:rPr>
                        <a:t>185</a:t>
                      </a:r>
                    </a:p>
                  </a:txBody>
                  <a:tcPr marL="0" marR="42324" marT="16930" marB="126973" anchor="b">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fontAlgn="b"/>
                      <a:r>
                        <a:rPr lang="en-US" sz="900" b="0" i="0" u="none" strike="noStrike" cap="none" spc="0">
                          <a:solidFill>
                            <a:schemeClr val="tx1"/>
                          </a:solidFill>
                          <a:effectLst/>
                          <a:latin typeface="Calibri" panose="020F0502020204030204" pitchFamily="34" charset="0"/>
                        </a:rPr>
                        <a:t>USA</a:t>
                      </a:r>
                    </a:p>
                  </a:txBody>
                  <a:tcPr marL="0" marR="42324" marT="16930" marB="126973" anchor="b">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895530953"/>
                  </a:ext>
                </a:extLst>
              </a:tr>
              <a:tr h="318844">
                <a:tc>
                  <a:txBody>
                    <a:bodyPr/>
                    <a:lstStyle/>
                    <a:p>
                      <a:pPr algn="r" fontAlgn="b"/>
                      <a:r>
                        <a:rPr lang="en-US" sz="900" b="0" i="0" u="none" strike="noStrike" cap="none" spc="0" dirty="0">
                          <a:solidFill>
                            <a:schemeClr val="tx1"/>
                          </a:solidFill>
                          <a:effectLst/>
                          <a:latin typeface="Calibri" panose="020F0502020204030204" pitchFamily="34" charset="0"/>
                        </a:rPr>
                        <a:t>19</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816</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36</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42</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434</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UK</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528543192"/>
                  </a:ext>
                </a:extLst>
              </a:tr>
              <a:tr h="318844">
                <a:tc>
                  <a:txBody>
                    <a:bodyPr/>
                    <a:lstStyle/>
                    <a:p>
                      <a:pPr algn="r" fontAlgn="b"/>
                      <a:r>
                        <a:rPr lang="en-US" sz="900" b="0" i="0" u="none" strike="noStrike" cap="none" spc="0" dirty="0">
                          <a:solidFill>
                            <a:schemeClr val="tx1"/>
                          </a:solidFill>
                          <a:effectLst/>
                          <a:latin typeface="Calibri" panose="020F0502020204030204" pitchFamily="34" charset="0"/>
                        </a:rPr>
                        <a:t>19</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12700" cmpd="sng">
                      <a:no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816</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12700" cmpd="sng">
                      <a:no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36</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12700" cmpd="sng">
                      <a:noFill/>
                      <a:prstDash val="solid"/>
                    </a:lnB>
                    <a:solidFill>
                      <a:schemeClr val="accent5">
                        <a:lumMod val="40000"/>
                        <a:lumOff val="60000"/>
                      </a:schemeClr>
                    </a:solidFill>
                  </a:tcPr>
                </a:tc>
                <a:tc>
                  <a:txBody>
                    <a:bodyPr/>
                    <a:lstStyle/>
                    <a:p>
                      <a:pPr algn="r" fontAlgn="b"/>
                      <a:r>
                        <a:rPr lang="en-US" sz="900" b="0" i="0" u="none" strike="noStrike" cap="none" spc="0">
                          <a:solidFill>
                            <a:schemeClr val="tx1"/>
                          </a:solidFill>
                          <a:effectLst/>
                          <a:latin typeface="Calibri" panose="020F0502020204030204" pitchFamily="34" charset="0"/>
                        </a:rPr>
                        <a:t>42</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12700" cmpd="sng">
                      <a:noFill/>
                      <a:prstDash val="solid"/>
                    </a:lnB>
                    <a:solidFill>
                      <a:schemeClr val="accent5">
                        <a:lumMod val="40000"/>
                        <a:lumOff val="60000"/>
                      </a:schemeClr>
                    </a:solidFill>
                  </a:tcPr>
                </a:tc>
                <a:tc>
                  <a:txBody>
                    <a:bodyPr/>
                    <a:lstStyle/>
                    <a:p>
                      <a:pPr algn="r" fontAlgn="b"/>
                      <a:r>
                        <a:rPr lang="en-US" sz="900" b="0" i="0" u="none" strike="noStrike" cap="none" spc="0">
                          <a:solidFill>
                            <a:schemeClr val="tx1"/>
                          </a:solidFill>
                          <a:effectLst/>
                          <a:latin typeface="Calibri" panose="020F0502020204030204" pitchFamily="34" charset="0"/>
                        </a:rPr>
                        <a:t>434</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12700" cmpd="sng">
                      <a:noFill/>
                      <a:prstDash val="solid"/>
                    </a:lnB>
                    <a:solidFill>
                      <a:schemeClr val="accent5">
                        <a:lumMod val="40000"/>
                        <a:lumOff val="60000"/>
                      </a:schemeClr>
                    </a:solidFill>
                  </a:tcPr>
                </a:tc>
                <a:tc>
                  <a:txBody>
                    <a:bodyPr/>
                    <a:lstStyle/>
                    <a:p>
                      <a:pPr algn="l" fontAlgn="b"/>
                      <a:r>
                        <a:rPr lang="en-US" sz="900" b="0" i="0" u="none" strike="noStrike" cap="none" spc="0">
                          <a:solidFill>
                            <a:schemeClr val="tx1"/>
                          </a:solidFill>
                          <a:effectLst/>
                          <a:latin typeface="Calibri" panose="020F0502020204030204" pitchFamily="34" charset="0"/>
                        </a:rPr>
                        <a:t>UK</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12700" cmpd="sng">
                      <a:noFill/>
                      <a:prstDash val="soli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6350" cap="flat" cmpd="sng" algn="ctr">
                      <a:solidFill>
                        <a:schemeClr val="tx1"/>
                      </a:solidFill>
                      <a:prstDash val="solid"/>
                      <a:round/>
                      <a:headEnd type="none" w="med" len="med"/>
                      <a:tailEnd type="none" w="med" len="med"/>
                    </a:lnT>
                    <a:lnB w="12700" cmpd="sng">
                      <a:noFill/>
                      <a:prstDash val="solid"/>
                    </a:lnB>
                    <a:solidFill>
                      <a:schemeClr val="accent5">
                        <a:lumMod val="40000"/>
                        <a:lumOff val="60000"/>
                      </a:schemeClr>
                    </a:solidFill>
                  </a:tcPr>
                </a:tc>
                <a:extLst>
                  <a:ext uri="{0D108BD9-81ED-4DB2-BD59-A6C34878D82A}">
                    <a16:rowId xmlns:a16="http://schemas.microsoft.com/office/drawing/2014/main" val="3459545933"/>
                  </a:ext>
                </a:extLst>
              </a:tr>
              <a:tr h="318844">
                <a:tc>
                  <a:txBody>
                    <a:bodyPr/>
                    <a:lstStyle/>
                    <a:p>
                      <a:pPr algn="r" fontAlgn="b"/>
                      <a:r>
                        <a:rPr lang="en-US" sz="900" b="0" i="0" u="none" strike="noStrike" cap="none" spc="0" dirty="0">
                          <a:solidFill>
                            <a:schemeClr val="tx1"/>
                          </a:solidFill>
                          <a:effectLst/>
                          <a:latin typeface="Calibri" panose="020F0502020204030204" pitchFamily="34" charset="0"/>
                        </a:rPr>
                        <a:t>32</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611</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51</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53</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185</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USA</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149126622"/>
                  </a:ext>
                </a:extLst>
              </a:tr>
              <a:tr h="318844">
                <a:tc>
                  <a:txBody>
                    <a:bodyPr/>
                    <a:lstStyle/>
                    <a:p>
                      <a:pPr algn="r" fontAlgn="b"/>
                      <a:r>
                        <a:rPr lang="en-US" sz="900" b="0" i="0" u="none" strike="noStrike" cap="none" spc="0" dirty="0">
                          <a:solidFill>
                            <a:schemeClr val="tx1"/>
                          </a:solidFill>
                          <a:effectLst/>
                          <a:latin typeface="Calibri" panose="020F0502020204030204" pitchFamily="34" charset="0"/>
                        </a:rPr>
                        <a:t>32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611</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51</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53</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185</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USA</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extLst>
                  <a:ext uri="{0D108BD9-81ED-4DB2-BD59-A6C34878D82A}">
                    <a16:rowId xmlns:a16="http://schemas.microsoft.com/office/drawing/2014/main" val="2452189490"/>
                  </a:ext>
                </a:extLst>
              </a:tr>
              <a:tr h="0">
                <a:tc>
                  <a:txBody>
                    <a:bodyPr/>
                    <a:lstStyle/>
                    <a:p>
                      <a:pPr algn="r" fontAlgn="b"/>
                      <a:r>
                        <a:rPr lang="en-US" sz="900" b="0" i="0" u="none" strike="noStrike" cap="none" spc="0" dirty="0">
                          <a:solidFill>
                            <a:schemeClr val="tx1"/>
                          </a:solidFill>
                          <a:effectLst/>
                          <a:latin typeface="Calibri" panose="020F0502020204030204" pitchFamily="34" charset="0"/>
                        </a:rPr>
                        <a:t>32</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611</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51</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53</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185</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USA</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12700" cmpd="sng">
                      <a:noFill/>
                      <a:prstDash val="solid"/>
                    </a:lnT>
                    <a:lnB w="6350" cap="flat" cmpd="sng" algn="ctr">
                      <a:solidFill>
                        <a:schemeClr val="tx1"/>
                      </a:solidFill>
                      <a:prstDash val="solid"/>
                    </a:lnB>
                    <a:solidFill>
                      <a:schemeClr val="accent5">
                        <a:lumMod val="40000"/>
                        <a:lumOff val="60000"/>
                      </a:schemeClr>
                    </a:solidFill>
                  </a:tcPr>
                </a:tc>
                <a:extLst>
                  <a:ext uri="{0D108BD9-81ED-4DB2-BD59-A6C34878D82A}">
                    <a16:rowId xmlns:a16="http://schemas.microsoft.com/office/drawing/2014/main" val="3599717312"/>
                  </a:ext>
                </a:extLst>
              </a:tr>
              <a:tr h="318844">
                <a:tc>
                  <a:txBody>
                    <a:bodyPr/>
                    <a:lstStyle/>
                    <a:p>
                      <a:pPr algn="r" fontAlgn="b"/>
                      <a:r>
                        <a:rPr lang="en-US" sz="900" b="0" i="0" u="none" strike="noStrike" cap="none" spc="0" dirty="0">
                          <a:solidFill>
                            <a:schemeClr val="tx1"/>
                          </a:solidFill>
                          <a:effectLst/>
                          <a:latin typeface="Calibri" panose="020F0502020204030204" pitchFamily="34" charset="0"/>
                        </a:rPr>
                        <a:t>32</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611</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51</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53</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r" fontAlgn="b"/>
                      <a:r>
                        <a:rPr lang="en-US" sz="900" b="0" i="0" u="none" strike="noStrike" cap="none" spc="0" dirty="0">
                          <a:solidFill>
                            <a:schemeClr val="tx1"/>
                          </a:solidFill>
                          <a:effectLst/>
                          <a:latin typeface="Calibri" panose="020F0502020204030204" pitchFamily="34" charset="0"/>
                        </a:rPr>
                        <a:t>185</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USA</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tc>
                  <a:txBody>
                    <a:bodyPr/>
                    <a:lstStyle/>
                    <a:p>
                      <a:pPr algn="l" fontAlgn="b"/>
                      <a:r>
                        <a:rPr lang="en-US" sz="900" b="0" i="0" u="none" strike="noStrike" cap="none" spc="0" dirty="0">
                          <a:solidFill>
                            <a:schemeClr val="tx1"/>
                          </a:solidFill>
                          <a:effectLst/>
                          <a:latin typeface="Calibri" panose="020F0502020204030204" pitchFamily="34" charset="0"/>
                        </a:rPr>
                        <a:t>fraud</a:t>
                      </a:r>
                    </a:p>
                  </a:txBody>
                  <a:tcPr marL="0" marR="42324" marT="16930" marB="126973" anchor="b">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accent5">
                        <a:lumMod val="40000"/>
                        <a:lumOff val="60000"/>
                      </a:schemeClr>
                    </a:solidFill>
                  </a:tcPr>
                </a:tc>
                <a:extLst>
                  <a:ext uri="{0D108BD9-81ED-4DB2-BD59-A6C34878D82A}">
                    <a16:rowId xmlns:a16="http://schemas.microsoft.com/office/drawing/2014/main" val="3767284365"/>
                  </a:ext>
                </a:extLst>
              </a:tr>
            </a:tbl>
          </a:graphicData>
        </a:graphic>
      </p:graphicFrame>
    </p:spTree>
    <p:extLst>
      <p:ext uri="{BB962C8B-B14F-4D97-AF65-F5344CB8AC3E}">
        <p14:creationId xmlns:p14="http://schemas.microsoft.com/office/powerpoint/2010/main" val="1000031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6776C-B425-6A82-8C12-C5F96808E6C3}"/>
              </a:ext>
            </a:extLst>
          </p:cNvPr>
          <p:cNvSpPr>
            <a:spLocks noGrp="1"/>
          </p:cNvSpPr>
          <p:nvPr>
            <p:ph type="title"/>
          </p:nvPr>
        </p:nvSpPr>
        <p:spPr/>
        <p:txBody>
          <a:bodyPr/>
          <a:lstStyle/>
          <a:p>
            <a:r>
              <a:rPr lang="en-US" dirty="0"/>
              <a:t>Up Sampling AKA Over-Sampling </a:t>
            </a:r>
          </a:p>
        </p:txBody>
      </p:sp>
      <p:sp>
        <p:nvSpPr>
          <p:cNvPr id="3" name="Content Placeholder 2">
            <a:extLst>
              <a:ext uri="{FF2B5EF4-FFF2-40B4-BE49-F238E27FC236}">
                <a16:creationId xmlns:a16="http://schemas.microsoft.com/office/drawing/2014/main" id="{5B9CB110-C260-DA8B-876E-A26658733DA5}"/>
              </a:ext>
            </a:extLst>
          </p:cNvPr>
          <p:cNvSpPr>
            <a:spLocks noGrp="1"/>
          </p:cNvSpPr>
          <p:nvPr>
            <p:ph idx="1"/>
          </p:nvPr>
        </p:nvSpPr>
        <p:spPr/>
        <p:txBody>
          <a:bodyPr>
            <a:normAutofit/>
          </a:bodyPr>
          <a:lstStyle/>
          <a:p>
            <a:r>
              <a:rPr lang="en-US" sz="1800" b="0" i="0" dirty="0">
                <a:solidFill>
                  <a:srgbClr val="2E3A45"/>
                </a:solidFill>
                <a:effectLst/>
              </a:rPr>
              <a:t>Generate new samples in the classes which are under-represented. The most naive strategy is to generate new samples by randomly sampling with replacement the current available samples.</a:t>
            </a:r>
          </a:p>
        </p:txBody>
      </p:sp>
      <p:sp>
        <p:nvSpPr>
          <p:cNvPr id="4" name="Slide Number Placeholder 3">
            <a:extLst>
              <a:ext uri="{FF2B5EF4-FFF2-40B4-BE49-F238E27FC236}">
                <a16:creationId xmlns:a16="http://schemas.microsoft.com/office/drawing/2014/main" id="{F24FFF81-56B1-2782-3A92-8DDFFF6BF3C2}"/>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13</a:t>
            </a:fld>
            <a:endParaRPr lang="en-US" dirty="0">
              <a:solidFill>
                <a:srgbClr val="FFFFFF"/>
              </a:solidFill>
              <a:latin typeface="Franklin Gothic Book"/>
            </a:endParaRPr>
          </a:p>
        </p:txBody>
      </p:sp>
      <p:sp>
        <p:nvSpPr>
          <p:cNvPr id="10" name="TextBox 9">
            <a:extLst>
              <a:ext uri="{FF2B5EF4-FFF2-40B4-BE49-F238E27FC236}">
                <a16:creationId xmlns:a16="http://schemas.microsoft.com/office/drawing/2014/main" id="{010F5361-1669-6A57-F379-F6C21CCA01B7}"/>
              </a:ext>
            </a:extLst>
          </p:cNvPr>
          <p:cNvSpPr txBox="1"/>
          <p:nvPr/>
        </p:nvSpPr>
        <p:spPr>
          <a:xfrm>
            <a:off x="740097" y="3430254"/>
            <a:ext cx="10787270" cy="3046988"/>
          </a:xfrm>
          <a:prstGeom prst="rect">
            <a:avLst/>
          </a:prstGeom>
          <a:solidFill>
            <a:schemeClr val="bg2"/>
          </a:solidFill>
        </p:spPr>
        <p:txBody>
          <a:bodyPr wrap="square">
            <a:spAutoFit/>
          </a:bodyPr>
          <a:lstStyle/>
          <a:p>
            <a:r>
              <a:rPr lang="en-US" sz="1600" b="0" dirty="0">
                <a:solidFill>
                  <a:srgbClr val="AF00DB"/>
                </a:solidFill>
                <a:effectLst/>
                <a:latin typeface="Courier New" panose="02070309020205020404" pitchFamily="49" charset="0"/>
              </a:rPr>
              <a:t>from</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imblearn.over_sampling</a:t>
            </a:r>
            <a:r>
              <a:rPr lang="en-US" sz="1600" b="0" dirty="0">
                <a:solidFill>
                  <a:srgbClr val="000000"/>
                </a:solidFill>
                <a:effectLst/>
                <a:latin typeface="Courier New" panose="02070309020205020404" pitchFamily="49" charset="0"/>
              </a:rPr>
              <a:t> </a:t>
            </a:r>
            <a:r>
              <a:rPr lang="en-US" sz="1600" b="0" dirty="0">
                <a:solidFill>
                  <a:srgbClr val="AF00DB"/>
                </a:solidFill>
                <a:effectLst/>
                <a:latin typeface="Courier New" panose="02070309020205020404" pitchFamily="49" charset="0"/>
              </a:rPr>
              <a:t>import</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RandomOverSampler</a:t>
            </a:r>
            <a:endParaRPr lang="en-US" sz="1600" b="0" dirty="0">
              <a:solidFill>
                <a:srgbClr val="000000"/>
              </a:solidFill>
              <a:effectLst/>
              <a:latin typeface="Courier New" panose="02070309020205020404" pitchFamily="49" charset="0"/>
            </a:endParaRPr>
          </a:p>
          <a:p>
            <a:r>
              <a:rPr lang="en-US" sz="1600" b="0" dirty="0">
                <a:solidFill>
                  <a:srgbClr val="AF00DB"/>
                </a:solidFill>
                <a:effectLst/>
                <a:latin typeface="Courier New" panose="02070309020205020404" pitchFamily="49" charset="0"/>
              </a:rPr>
              <a:t>from</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sklearn.model_selection</a:t>
            </a:r>
            <a:r>
              <a:rPr lang="en-US" sz="1600" b="0" dirty="0">
                <a:solidFill>
                  <a:srgbClr val="000000"/>
                </a:solidFill>
                <a:effectLst/>
                <a:latin typeface="Courier New" panose="02070309020205020404" pitchFamily="49" charset="0"/>
              </a:rPr>
              <a:t> </a:t>
            </a:r>
            <a:r>
              <a:rPr lang="en-US" sz="1600" b="0" dirty="0">
                <a:solidFill>
                  <a:srgbClr val="AF00DB"/>
                </a:solidFill>
                <a:effectLst/>
                <a:latin typeface="Courier New" panose="02070309020205020404" pitchFamily="49" charset="0"/>
              </a:rPr>
              <a:t>import</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train_test_split</a:t>
            </a:r>
            <a:endParaRPr lang="en-US" sz="1600" b="0" dirty="0">
              <a:solidFill>
                <a:srgbClr val="000000"/>
              </a:solidFill>
              <a:effectLst/>
              <a:latin typeface="Courier New" panose="02070309020205020404" pitchFamily="49" charset="0"/>
            </a:endParaRPr>
          </a:p>
          <a:p>
            <a:br>
              <a:rPr lang="en-US" sz="1600" b="0" dirty="0">
                <a:solidFill>
                  <a:srgbClr val="000000"/>
                </a:solidFill>
                <a:effectLst/>
                <a:latin typeface="Courier New" panose="02070309020205020404" pitchFamily="49" charset="0"/>
              </a:rPr>
            </a:br>
            <a:r>
              <a:rPr lang="en-US" sz="1600" b="0" dirty="0">
                <a:solidFill>
                  <a:srgbClr val="008000"/>
                </a:solidFill>
                <a:effectLst/>
                <a:latin typeface="Courier New" panose="02070309020205020404" pitchFamily="49" charset="0"/>
              </a:rPr>
              <a:t># Split your dataset into training and testing set to avoid overfitting</a:t>
            </a:r>
            <a:endParaRPr lang="en-US" sz="1600" b="0" dirty="0">
              <a:solidFill>
                <a:srgbClr val="000000"/>
              </a:solidFill>
              <a:effectLst/>
              <a:latin typeface="Courier New" panose="02070309020205020404" pitchFamily="49" charset="0"/>
            </a:endParaRPr>
          </a:p>
          <a:p>
            <a:r>
              <a:rPr lang="en-US" sz="1600" b="0" dirty="0" err="1">
                <a:solidFill>
                  <a:srgbClr val="000000"/>
                </a:solidFill>
                <a:effectLst/>
                <a:latin typeface="Courier New" panose="02070309020205020404" pitchFamily="49" charset="0"/>
              </a:rPr>
              <a:t>X_train</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X_test</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y_train</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y_test</a:t>
            </a:r>
            <a:r>
              <a:rPr lang="en-US" sz="1600" b="0" dirty="0">
                <a:solidFill>
                  <a:srgbClr val="000000"/>
                </a:solidFill>
                <a:effectLst/>
                <a:latin typeface="Courier New" panose="02070309020205020404" pitchFamily="49" charset="0"/>
              </a:rPr>
              <a:t> = </a:t>
            </a:r>
            <a:r>
              <a:rPr lang="en-US" sz="1600" b="0" dirty="0" err="1">
                <a:solidFill>
                  <a:srgbClr val="000000"/>
                </a:solidFill>
                <a:effectLst/>
                <a:latin typeface="Courier New" panose="02070309020205020404" pitchFamily="49" charset="0"/>
              </a:rPr>
              <a:t>train_test_split</a:t>
            </a:r>
            <a:r>
              <a:rPr lang="en-US" sz="1600" b="0" dirty="0">
                <a:solidFill>
                  <a:srgbClr val="000000"/>
                </a:solidFill>
                <a:effectLst/>
                <a:latin typeface="Courier New" panose="02070309020205020404" pitchFamily="49" charset="0"/>
              </a:rPr>
              <a:t>(X, y, </a:t>
            </a:r>
            <a:r>
              <a:rPr lang="en-US" sz="1600" b="0" dirty="0" err="1">
                <a:solidFill>
                  <a:srgbClr val="000000"/>
                </a:solidFill>
                <a:effectLst/>
                <a:latin typeface="Courier New" panose="02070309020205020404" pitchFamily="49" charset="0"/>
              </a:rPr>
              <a:t>test_size</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0.2</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random_state</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42</a:t>
            </a:r>
            <a:r>
              <a:rPr lang="en-US" sz="1600" b="0" dirty="0">
                <a:solidFill>
                  <a:srgbClr val="000000"/>
                </a:solidFill>
                <a:effectLst/>
                <a:latin typeface="Courier New" panose="02070309020205020404" pitchFamily="49" charset="0"/>
              </a:rPr>
              <a:t>)</a:t>
            </a:r>
          </a:p>
          <a:p>
            <a:br>
              <a:rPr lang="en-US" sz="1600" b="0" dirty="0">
                <a:solidFill>
                  <a:srgbClr val="000000"/>
                </a:solidFill>
                <a:effectLst/>
                <a:latin typeface="Courier New" panose="02070309020205020404" pitchFamily="49" charset="0"/>
              </a:rPr>
            </a:br>
            <a:r>
              <a:rPr lang="en-US" sz="1600" b="0" dirty="0">
                <a:solidFill>
                  <a:srgbClr val="008000"/>
                </a:solidFill>
                <a:effectLst/>
                <a:latin typeface="Courier New" panose="02070309020205020404" pitchFamily="49" charset="0"/>
              </a:rPr>
              <a:t># Initialize </a:t>
            </a:r>
            <a:r>
              <a:rPr lang="en-US" sz="1600" b="0" dirty="0" err="1">
                <a:solidFill>
                  <a:srgbClr val="008000"/>
                </a:solidFill>
                <a:effectLst/>
                <a:latin typeface="Courier New" panose="02070309020205020404" pitchFamily="49" charset="0"/>
              </a:rPr>
              <a:t>RandomOverSampler</a:t>
            </a:r>
            <a:endParaRPr lang="en-US" sz="1600" b="0" dirty="0">
              <a:solidFill>
                <a:srgbClr val="000000"/>
              </a:solidFill>
              <a:effectLst/>
              <a:latin typeface="Courier New" panose="02070309020205020404" pitchFamily="49" charset="0"/>
            </a:endParaRPr>
          </a:p>
          <a:p>
            <a:r>
              <a:rPr lang="en-US" sz="1600" b="0" dirty="0" err="1">
                <a:solidFill>
                  <a:srgbClr val="000000"/>
                </a:solidFill>
                <a:effectLst/>
                <a:latin typeface="Courier New" panose="02070309020205020404" pitchFamily="49" charset="0"/>
              </a:rPr>
              <a:t>ros</a:t>
            </a:r>
            <a:r>
              <a:rPr lang="en-US" sz="1600" b="0" dirty="0">
                <a:solidFill>
                  <a:srgbClr val="000000"/>
                </a:solidFill>
                <a:effectLst/>
                <a:latin typeface="Courier New" panose="02070309020205020404" pitchFamily="49" charset="0"/>
              </a:rPr>
              <a:t> = </a:t>
            </a:r>
            <a:r>
              <a:rPr lang="en-US" sz="1600" b="1" dirty="0" err="1">
                <a:solidFill>
                  <a:srgbClr val="000000"/>
                </a:solidFill>
                <a:effectLst/>
                <a:latin typeface="Courier New" panose="02070309020205020404" pitchFamily="49" charset="0"/>
              </a:rPr>
              <a:t>RandomOverSampler</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random_state</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42</a:t>
            </a:r>
            <a:r>
              <a:rPr lang="en-US" sz="1600" b="0" dirty="0">
                <a:solidFill>
                  <a:srgbClr val="000000"/>
                </a:solidFill>
                <a:effectLst/>
                <a:latin typeface="Courier New" panose="02070309020205020404" pitchFamily="49" charset="0"/>
              </a:rPr>
              <a:t>)</a:t>
            </a:r>
          </a:p>
          <a:p>
            <a:br>
              <a:rPr lang="en-US" sz="1600" b="0" dirty="0">
                <a:solidFill>
                  <a:srgbClr val="000000"/>
                </a:solidFill>
                <a:effectLst/>
                <a:latin typeface="Courier New" panose="02070309020205020404" pitchFamily="49" charset="0"/>
              </a:rPr>
            </a:br>
            <a:r>
              <a:rPr lang="en-US" sz="1600" b="0" dirty="0">
                <a:solidFill>
                  <a:srgbClr val="008000"/>
                </a:solidFill>
                <a:effectLst/>
                <a:latin typeface="Courier New" panose="02070309020205020404" pitchFamily="49" charset="0"/>
              </a:rPr>
              <a:t># Resample the training data</a:t>
            </a:r>
            <a:endParaRPr lang="en-US" sz="1600" b="0" dirty="0">
              <a:solidFill>
                <a:srgbClr val="000000"/>
              </a:solidFill>
              <a:effectLst/>
              <a:latin typeface="Courier New" panose="02070309020205020404" pitchFamily="49" charset="0"/>
            </a:endParaRPr>
          </a:p>
          <a:p>
            <a:r>
              <a:rPr lang="en-US" sz="1600" b="0" dirty="0" err="1">
                <a:solidFill>
                  <a:srgbClr val="000000"/>
                </a:solidFill>
                <a:effectLst/>
                <a:latin typeface="Courier New" panose="02070309020205020404" pitchFamily="49" charset="0"/>
              </a:rPr>
              <a:t>X_train_ros</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y_train_ros</a:t>
            </a:r>
            <a:r>
              <a:rPr lang="en-US" sz="1600" b="0" dirty="0">
                <a:solidFill>
                  <a:srgbClr val="000000"/>
                </a:solidFill>
                <a:effectLst/>
                <a:latin typeface="Courier New" panose="02070309020205020404" pitchFamily="49" charset="0"/>
              </a:rPr>
              <a:t> = </a:t>
            </a:r>
            <a:r>
              <a:rPr lang="en-US" sz="1600" b="0" dirty="0" err="1">
                <a:solidFill>
                  <a:srgbClr val="000000"/>
                </a:solidFill>
                <a:effectLst/>
                <a:latin typeface="Courier New" panose="02070309020205020404" pitchFamily="49" charset="0"/>
              </a:rPr>
              <a:t>ros.fit_resample</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X_train</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y_train</a:t>
            </a:r>
            <a:r>
              <a:rPr lang="en-US" sz="1600" b="0" dirty="0">
                <a:solidFill>
                  <a:srgbClr val="000000"/>
                </a:solidFill>
                <a:effectLst/>
                <a:latin typeface="Courier New" panose="02070309020205020404" pitchFamily="49" charset="0"/>
              </a:rPr>
              <a:t>)</a:t>
            </a:r>
          </a:p>
        </p:txBody>
      </p:sp>
      <p:sp>
        <p:nvSpPr>
          <p:cNvPr id="7" name="TextBox 6">
            <a:extLst>
              <a:ext uri="{FF2B5EF4-FFF2-40B4-BE49-F238E27FC236}">
                <a16:creationId xmlns:a16="http://schemas.microsoft.com/office/drawing/2014/main" id="{49A5F43E-C0D9-56B9-01DB-305006AF808F}"/>
              </a:ext>
            </a:extLst>
          </p:cNvPr>
          <p:cNvSpPr txBox="1"/>
          <p:nvPr/>
        </p:nvSpPr>
        <p:spPr>
          <a:xfrm>
            <a:off x="1221058" y="2792417"/>
            <a:ext cx="9004609" cy="369332"/>
          </a:xfrm>
          <a:prstGeom prst="rect">
            <a:avLst/>
          </a:prstGeom>
          <a:noFill/>
        </p:spPr>
        <p:txBody>
          <a:bodyPr wrap="square">
            <a:spAutoFit/>
          </a:bodyPr>
          <a:lstStyle/>
          <a:p>
            <a:r>
              <a:rPr lang="en-US" dirty="0"/>
              <a:t>https://imbalanced-</a:t>
            </a:r>
            <a:r>
              <a:rPr lang="en-US" dirty="0" err="1"/>
              <a:t>learn.org</a:t>
            </a:r>
            <a:r>
              <a:rPr lang="en-US" dirty="0"/>
              <a:t>/stable/references/</a:t>
            </a:r>
            <a:r>
              <a:rPr lang="en-US" dirty="0" err="1"/>
              <a:t>over_sampling.html</a:t>
            </a:r>
            <a:endParaRPr lang="en-US" dirty="0"/>
          </a:p>
        </p:txBody>
      </p:sp>
    </p:spTree>
    <p:extLst>
      <p:ext uri="{BB962C8B-B14F-4D97-AF65-F5344CB8AC3E}">
        <p14:creationId xmlns:p14="http://schemas.microsoft.com/office/powerpoint/2010/main" val="1087244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D31CC-A4AF-F320-5553-9EF1CBDBCC0D}"/>
              </a:ext>
            </a:extLst>
          </p:cNvPr>
          <p:cNvSpPr>
            <a:spLocks noGrp="1"/>
          </p:cNvSpPr>
          <p:nvPr>
            <p:ph type="title"/>
          </p:nvPr>
        </p:nvSpPr>
        <p:spPr/>
        <p:txBody>
          <a:bodyPr/>
          <a:lstStyle/>
          <a:p>
            <a:r>
              <a:rPr lang="en-US" dirty="0"/>
              <a:t>SMOTE</a:t>
            </a:r>
          </a:p>
        </p:txBody>
      </p:sp>
      <p:sp>
        <p:nvSpPr>
          <p:cNvPr id="3" name="Content Placeholder 2">
            <a:extLst>
              <a:ext uri="{FF2B5EF4-FFF2-40B4-BE49-F238E27FC236}">
                <a16:creationId xmlns:a16="http://schemas.microsoft.com/office/drawing/2014/main" id="{9FCEFEF8-DA2F-DFD6-8FEA-678CC4957D8C}"/>
              </a:ext>
            </a:extLst>
          </p:cNvPr>
          <p:cNvSpPr>
            <a:spLocks noGrp="1"/>
          </p:cNvSpPr>
          <p:nvPr>
            <p:ph idx="1"/>
          </p:nvPr>
        </p:nvSpPr>
        <p:spPr/>
        <p:txBody>
          <a:bodyPr/>
          <a:lstStyle/>
          <a:p>
            <a:r>
              <a:rPr lang="en-US" b="1" i="0" u="sng" dirty="0">
                <a:solidFill>
                  <a:srgbClr val="555555"/>
                </a:solidFill>
                <a:effectLst/>
                <a:latin typeface="Helvetica Neue" panose="02000503000000020004" pitchFamily="2" charset="0"/>
              </a:rPr>
              <a:t>Synthetically</a:t>
            </a:r>
            <a:r>
              <a:rPr lang="en-US" b="0" i="0" dirty="0">
                <a:solidFill>
                  <a:srgbClr val="555555"/>
                </a:solidFill>
                <a:effectLst/>
                <a:latin typeface="Helvetica Neue" panose="02000503000000020004" pitchFamily="2" charset="0"/>
              </a:rPr>
              <a:t> generate new examples of the minority class. This is can be very effective.</a:t>
            </a:r>
          </a:p>
          <a:p>
            <a:r>
              <a:rPr lang="en-US" b="0" i="0" dirty="0">
                <a:solidFill>
                  <a:srgbClr val="555555"/>
                </a:solidFill>
                <a:effectLst/>
                <a:latin typeface="Helvetica Neue" panose="02000503000000020004" pitchFamily="2" charset="0"/>
              </a:rPr>
              <a:t>Specifically, a random example from the minority class is first chosen. Then </a:t>
            </a:r>
            <a:r>
              <a:rPr lang="en-US" b="0" i="1" dirty="0">
                <a:solidFill>
                  <a:srgbClr val="555555"/>
                </a:solidFill>
                <a:effectLst/>
                <a:latin typeface="Helvetica Neue" panose="02000503000000020004" pitchFamily="2" charset="0"/>
              </a:rPr>
              <a:t>k</a:t>
            </a:r>
            <a:r>
              <a:rPr lang="en-US" b="0" i="0" dirty="0">
                <a:solidFill>
                  <a:srgbClr val="555555"/>
                </a:solidFill>
                <a:effectLst/>
                <a:latin typeface="Helvetica Neue" panose="02000503000000020004" pitchFamily="2" charset="0"/>
              </a:rPr>
              <a:t> of the nearest neighbors for that example are found (typically </a:t>
            </a:r>
            <a:r>
              <a:rPr lang="en-US" b="0" i="1" dirty="0">
                <a:solidFill>
                  <a:srgbClr val="555555"/>
                </a:solidFill>
                <a:effectLst/>
                <a:latin typeface="Helvetica Neue" panose="02000503000000020004" pitchFamily="2" charset="0"/>
              </a:rPr>
              <a:t>k=5</a:t>
            </a:r>
            <a:r>
              <a:rPr lang="en-US" b="0" i="0" dirty="0">
                <a:solidFill>
                  <a:srgbClr val="555555"/>
                </a:solidFill>
                <a:effectLst/>
                <a:latin typeface="Helvetica Neue" panose="02000503000000020004" pitchFamily="2" charset="0"/>
              </a:rPr>
              <a:t>). A randomly selected neighbor is chosen and a synthetic example is created at a randomly selected point between the two examples in feature space.</a:t>
            </a:r>
          </a:p>
          <a:p>
            <a:r>
              <a:rPr lang="en-US" b="0" i="0" dirty="0">
                <a:solidFill>
                  <a:srgbClr val="555555"/>
                </a:solidFill>
                <a:effectLst/>
                <a:latin typeface="Helvetica Neue" panose="02000503000000020004" pitchFamily="2" charset="0"/>
              </a:rPr>
              <a:t>The approach is effective because new synthetic examples from the minority class are created that are plausible, that is, are relatively close in feature space to existing examples from the minority class.</a:t>
            </a:r>
            <a:endParaRPr lang="en-US" dirty="0"/>
          </a:p>
        </p:txBody>
      </p:sp>
      <p:sp>
        <p:nvSpPr>
          <p:cNvPr id="4" name="Slide Number Placeholder 3">
            <a:extLst>
              <a:ext uri="{FF2B5EF4-FFF2-40B4-BE49-F238E27FC236}">
                <a16:creationId xmlns:a16="http://schemas.microsoft.com/office/drawing/2014/main" id="{1BAFE333-2F14-0F5D-317D-5D845522F668}"/>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14</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F929FCC1-268B-C265-B554-14E8CA334FAA}"/>
              </a:ext>
            </a:extLst>
          </p:cNvPr>
          <p:cNvSpPr>
            <a:spLocks noGrp="1"/>
          </p:cNvSpPr>
          <p:nvPr>
            <p:ph type="body" sz="half" idx="2"/>
          </p:nvPr>
        </p:nvSpPr>
        <p:spPr/>
        <p:txBody>
          <a:bodyPr/>
          <a:lstStyle/>
          <a:p>
            <a:r>
              <a:rPr lang="en-US" b="1" i="0" u="sng" dirty="0">
                <a:solidFill>
                  <a:srgbClr val="555555"/>
                </a:solidFill>
                <a:effectLst/>
                <a:latin typeface="Helvetica Neue" panose="02000503000000020004" pitchFamily="2" charset="0"/>
              </a:rPr>
              <a:t>Synthetic</a:t>
            </a:r>
            <a:r>
              <a:rPr lang="en-US" b="1" i="0" dirty="0">
                <a:solidFill>
                  <a:srgbClr val="555555"/>
                </a:solidFill>
                <a:effectLst/>
                <a:latin typeface="Helvetica Neue" panose="02000503000000020004" pitchFamily="2" charset="0"/>
              </a:rPr>
              <a:t> Minority Oversampling Technique</a:t>
            </a:r>
            <a:endParaRPr lang="en-US" dirty="0"/>
          </a:p>
        </p:txBody>
      </p:sp>
    </p:spTree>
    <p:extLst>
      <p:ext uri="{BB962C8B-B14F-4D97-AF65-F5344CB8AC3E}">
        <p14:creationId xmlns:p14="http://schemas.microsoft.com/office/powerpoint/2010/main" val="1717624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F952-6A94-9978-ED34-0579A5F95CF7}"/>
              </a:ext>
            </a:extLst>
          </p:cNvPr>
          <p:cNvSpPr>
            <a:spLocks noGrp="1"/>
          </p:cNvSpPr>
          <p:nvPr>
            <p:ph type="title"/>
          </p:nvPr>
        </p:nvSpPr>
        <p:spPr/>
        <p:txBody>
          <a:bodyPr anchor="b">
            <a:normAutofit/>
          </a:bodyPr>
          <a:lstStyle/>
          <a:p>
            <a:r>
              <a:rPr lang="en-US" dirty="0"/>
              <a:t>How SMOTE works</a:t>
            </a:r>
          </a:p>
        </p:txBody>
      </p:sp>
      <p:graphicFrame>
        <p:nvGraphicFramePr>
          <p:cNvPr id="7" name="Content Placeholder 2">
            <a:extLst>
              <a:ext uri="{FF2B5EF4-FFF2-40B4-BE49-F238E27FC236}">
                <a16:creationId xmlns:a16="http://schemas.microsoft.com/office/drawing/2014/main" id="{0D999249-EEBB-D0C7-1EA1-71FABD5FBE16}"/>
              </a:ext>
            </a:extLst>
          </p:cNvPr>
          <p:cNvGraphicFramePr>
            <a:graphicFrameLocks noGrp="1"/>
          </p:cNvGraphicFramePr>
          <p:nvPr>
            <p:ph idx="1"/>
            <p:extLst>
              <p:ext uri="{D42A27DB-BD31-4B8C-83A1-F6EECF244321}">
                <p14:modId xmlns:p14="http://schemas.microsoft.com/office/powerpoint/2010/main" val="3948676247"/>
              </p:ext>
            </p:extLst>
          </p:nvPr>
        </p:nvGraphicFramePr>
        <p:xfrm>
          <a:off x="665163" y="1981200"/>
          <a:ext cx="11027165" cy="4144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E5084BFE-AF3F-660B-B372-8B7238A3F83E}"/>
              </a:ext>
            </a:extLst>
          </p:cNvPr>
          <p:cNvSpPr>
            <a:spLocks noGrp="1"/>
          </p:cNvSpPr>
          <p:nvPr>
            <p:ph type="sldNum" sz="quarter" idx="12"/>
          </p:nvPr>
        </p:nvSpPr>
        <p:spPr/>
        <p:txBody>
          <a:bodyPr anchor="ctr">
            <a:normAutofit/>
          </a:bodyPr>
          <a:lstStyle/>
          <a:p>
            <a:pPr>
              <a:spcAft>
                <a:spcPts val="600"/>
              </a:spcAft>
            </a:pPr>
            <a:fld id="{02456A73-CB17-B748-BD2A-A20F5DD59EC7}" type="slidenum">
              <a:rPr lang="en-US" smtClean="0">
                <a:solidFill>
                  <a:srgbClr val="FFFFFF"/>
                </a:solidFill>
              </a:rPr>
              <a:pPr>
                <a:spcAft>
                  <a:spcPts val="600"/>
                </a:spcAft>
              </a:pPr>
              <a:t>15</a:t>
            </a:fld>
            <a:endParaRPr lang="en-US">
              <a:solidFill>
                <a:srgbClr val="FFFFFF"/>
              </a:solidFill>
            </a:endParaRPr>
          </a:p>
        </p:txBody>
      </p:sp>
    </p:spTree>
    <p:extLst>
      <p:ext uri="{BB962C8B-B14F-4D97-AF65-F5344CB8AC3E}">
        <p14:creationId xmlns:p14="http://schemas.microsoft.com/office/powerpoint/2010/main" val="517488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CFE77F-94CC-7BC8-A0C5-DC3025129300}"/>
              </a:ext>
            </a:extLst>
          </p:cNvPr>
          <p:cNvSpPr>
            <a:spLocks noGrp="1"/>
          </p:cNvSpPr>
          <p:nvPr>
            <p:ph type="title"/>
          </p:nvPr>
        </p:nvSpPr>
        <p:spPr>
          <a:xfrm>
            <a:off x="3048000" y="3124201"/>
            <a:ext cx="8161106" cy="1362075"/>
          </a:xfrm>
        </p:spPr>
        <p:txBody>
          <a:bodyPr>
            <a:normAutofit/>
          </a:bodyPr>
          <a:lstStyle/>
          <a:p>
            <a:r>
              <a:rPr lang="en-US" dirty="0">
                <a:hlinkClick r:id="rId2"/>
              </a:rPr>
              <a:t>17July2024_UpDownAndSmoteSampling</a:t>
            </a:r>
            <a:endParaRPr lang="en-US" dirty="0"/>
          </a:p>
        </p:txBody>
      </p:sp>
      <p:sp>
        <p:nvSpPr>
          <p:cNvPr id="7" name="Text Placeholder 6">
            <a:extLst>
              <a:ext uri="{FF2B5EF4-FFF2-40B4-BE49-F238E27FC236}">
                <a16:creationId xmlns:a16="http://schemas.microsoft.com/office/drawing/2014/main" id="{07E358CE-9FD3-AA7F-490D-6D23CBC6B058}"/>
              </a:ext>
            </a:extLst>
          </p:cNvPr>
          <p:cNvSpPr>
            <a:spLocks noGrp="1"/>
          </p:cNvSpPr>
          <p:nvPr>
            <p:ph type="body" idx="1"/>
          </p:nvPr>
        </p:nvSpPr>
        <p:spPr/>
        <p:txBody>
          <a:bodyPr/>
          <a:lstStyle/>
          <a:p>
            <a:r>
              <a:rPr lang="en-US" dirty="0"/>
              <a:t>https://</a:t>
            </a:r>
            <a:r>
              <a:rPr lang="en-US" dirty="0" err="1"/>
              <a:t>github.com</a:t>
            </a:r>
            <a:r>
              <a:rPr lang="en-US" dirty="0"/>
              <a:t>/</a:t>
            </a:r>
            <a:r>
              <a:rPr lang="en-US" dirty="0" err="1"/>
              <a:t>MonkeyWrenchGang</a:t>
            </a:r>
            <a:r>
              <a:rPr lang="en-US" dirty="0"/>
              <a:t>/2024_BAN7040/blob/main/17July2024_UpDownAndSmoteSampling.ipynb</a:t>
            </a:r>
          </a:p>
        </p:txBody>
      </p:sp>
      <p:sp>
        <p:nvSpPr>
          <p:cNvPr id="4" name="Slide Number Placeholder 3">
            <a:extLst>
              <a:ext uri="{FF2B5EF4-FFF2-40B4-BE49-F238E27FC236}">
                <a16:creationId xmlns:a16="http://schemas.microsoft.com/office/drawing/2014/main" id="{D8869A70-1810-67E3-765D-3D925F608399}"/>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16</a:t>
            </a:fld>
            <a:endParaRPr lang="en-US" dirty="0">
              <a:solidFill>
                <a:srgbClr val="FFFFFF"/>
              </a:solidFill>
              <a:latin typeface="Franklin Gothic Book"/>
            </a:endParaRPr>
          </a:p>
        </p:txBody>
      </p:sp>
    </p:spTree>
    <p:extLst>
      <p:ext uri="{BB962C8B-B14F-4D97-AF65-F5344CB8AC3E}">
        <p14:creationId xmlns:p14="http://schemas.microsoft.com/office/powerpoint/2010/main" val="3799286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F06BC9-CB82-7048-9CE7-8E6C26AF1188}"/>
              </a:ext>
            </a:extLst>
          </p:cNvPr>
          <p:cNvSpPr>
            <a:spLocks noGrp="1"/>
          </p:cNvSpPr>
          <p:nvPr>
            <p:ph type="title"/>
          </p:nvPr>
        </p:nvSpPr>
        <p:spPr/>
        <p:txBody>
          <a:bodyPr/>
          <a:lstStyle/>
          <a:p>
            <a:r>
              <a:rPr lang="en-US" dirty="0"/>
              <a:t>How do I improve my model performance? </a:t>
            </a:r>
          </a:p>
        </p:txBody>
      </p:sp>
      <p:sp>
        <p:nvSpPr>
          <p:cNvPr id="6" name="Text Placeholder 5">
            <a:extLst>
              <a:ext uri="{FF2B5EF4-FFF2-40B4-BE49-F238E27FC236}">
                <a16:creationId xmlns:a16="http://schemas.microsoft.com/office/drawing/2014/main" id="{EC7061C1-B1E1-324E-A235-160E6AC8CC81}"/>
              </a:ext>
            </a:extLst>
          </p:cNvPr>
          <p:cNvSpPr>
            <a:spLocks noGrp="1"/>
          </p:cNvSpPr>
          <p:nvPr>
            <p:ph type="body" sz="half" idx="2"/>
          </p:nvPr>
        </p:nvSpPr>
        <p:spPr/>
        <p:txBody>
          <a:bodyPr/>
          <a:lstStyle/>
          <a:p>
            <a:r>
              <a:rPr lang="en-US" dirty="0"/>
              <a:t>have </a:t>
            </a:r>
            <a:r>
              <a:rPr lang="en-US" dirty="0" err="1"/>
              <a:t>tegridy</a:t>
            </a:r>
            <a:r>
              <a:rPr lang="en-US" dirty="0"/>
              <a:t>, tune your hyperparameters! </a:t>
            </a:r>
          </a:p>
        </p:txBody>
      </p:sp>
      <p:sp>
        <p:nvSpPr>
          <p:cNvPr id="4" name="Slide Number Placeholder 3">
            <a:extLst>
              <a:ext uri="{FF2B5EF4-FFF2-40B4-BE49-F238E27FC236}">
                <a16:creationId xmlns:a16="http://schemas.microsoft.com/office/drawing/2014/main" id="{027E74A3-FBC4-F44F-9FB6-279D1EDEA992}"/>
              </a:ext>
            </a:extLst>
          </p:cNvPr>
          <p:cNvSpPr>
            <a:spLocks noGrp="1"/>
          </p:cNvSpPr>
          <p:nvPr>
            <p:ph type="sldNum" sz="quarter" idx="12"/>
          </p:nvPr>
        </p:nvSpPr>
        <p:spPr/>
        <p:txBody>
          <a:bodyPr/>
          <a:lstStyle/>
          <a:p>
            <a:fld id="{02456A73-CB17-B748-BD2A-A20F5DD59EC7}" type="slidenum">
              <a:rPr lang="en-US" smtClean="0"/>
              <a:pPr/>
              <a:t>17</a:t>
            </a:fld>
            <a:endParaRPr lang="en-US" dirty="0"/>
          </a:p>
        </p:txBody>
      </p:sp>
      <p:pic>
        <p:nvPicPr>
          <p:cNvPr id="6150" name="Picture 6" descr="Official South Park Studios Wiki | South Park Studios">
            <a:extLst>
              <a:ext uri="{FF2B5EF4-FFF2-40B4-BE49-F238E27FC236}">
                <a16:creationId xmlns:a16="http://schemas.microsoft.com/office/drawing/2014/main" id="{8BD5C494-0D3F-6844-B0A1-A59E74C4BDA6}"/>
              </a:ext>
            </a:extLst>
          </p:cNvPr>
          <p:cNvPicPr>
            <a:picLocks noGrp="1" noChangeAspect="1" noChangeArrowheads="1"/>
          </p:cNvPicPr>
          <p:nvPr>
            <p:ph type="pic" sz="quarter" idx="14"/>
          </p:nvPr>
        </p:nvPicPr>
        <p:blipFill>
          <a:blip r:embed="rId2" cstate="hqprint">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South Park Season 23 Is the Show's Best in Years, Thanks to Randy | Collider">
            <a:extLst>
              <a:ext uri="{FF2B5EF4-FFF2-40B4-BE49-F238E27FC236}">
                <a16:creationId xmlns:a16="http://schemas.microsoft.com/office/drawing/2014/main" id="{5BF9EF61-BC2E-F84C-BF03-2DB184347721}"/>
              </a:ext>
            </a:extLst>
          </p:cNvPr>
          <p:cNvPicPr>
            <a:picLocks noGrp="1" noChangeAspect="1" noChangeArrowheads="1"/>
          </p:cNvPicPr>
          <p:nvPr>
            <p:ph type="pic" sz="quarter" idx="13"/>
          </p:nvPr>
        </p:nvPicPr>
        <p:blipFill>
          <a:blip r:embed="rId3" cstate="hqprint">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065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8AF4B6-A2A7-1047-945A-B9CB9CECA7C8}"/>
              </a:ext>
            </a:extLst>
          </p:cNvPr>
          <p:cNvSpPr>
            <a:spLocks noGrp="1"/>
          </p:cNvSpPr>
          <p:nvPr>
            <p:ph type="title"/>
          </p:nvPr>
        </p:nvSpPr>
        <p:spPr/>
        <p:txBody>
          <a:bodyPr/>
          <a:lstStyle/>
          <a:p>
            <a:r>
              <a:rPr lang="en-US" dirty="0"/>
              <a:t>How do I, </a:t>
            </a:r>
          </a:p>
        </p:txBody>
      </p:sp>
      <p:sp>
        <p:nvSpPr>
          <p:cNvPr id="10" name="Content Placeholder 9">
            <a:extLst>
              <a:ext uri="{FF2B5EF4-FFF2-40B4-BE49-F238E27FC236}">
                <a16:creationId xmlns:a16="http://schemas.microsoft.com/office/drawing/2014/main" id="{34199121-F0B6-4B45-BEFE-5A7E0543D845}"/>
              </a:ext>
            </a:extLst>
          </p:cNvPr>
          <p:cNvSpPr>
            <a:spLocks noGrp="1"/>
          </p:cNvSpPr>
          <p:nvPr>
            <p:ph idx="1"/>
          </p:nvPr>
        </p:nvSpPr>
        <p:spPr>
          <a:xfrm>
            <a:off x="664633" y="1690743"/>
            <a:ext cx="11201052" cy="4876799"/>
          </a:xfrm>
        </p:spPr>
        <p:txBody>
          <a:bodyPr>
            <a:normAutofit/>
          </a:bodyPr>
          <a:lstStyle/>
          <a:p>
            <a:r>
              <a:rPr lang="en-US" sz="1600" b="1" dirty="0"/>
              <a:t>Mess with the data, </a:t>
            </a:r>
            <a:r>
              <a:rPr lang="en-US" sz="1600" dirty="0"/>
              <a:t>make features, down /</a:t>
            </a:r>
            <a:r>
              <a:rPr lang="en-US" sz="1600" b="1" dirty="0"/>
              <a:t> </a:t>
            </a:r>
            <a:r>
              <a:rPr lang="en-US" sz="1600" dirty="0"/>
              <a:t>over sampling, balancing, SMOTE etc. </a:t>
            </a:r>
          </a:p>
          <a:p>
            <a:pPr lvl="1"/>
            <a:r>
              <a:rPr lang="en-US" sz="1400" dirty="0"/>
              <a:t>Works well for rare events </a:t>
            </a:r>
          </a:p>
          <a:p>
            <a:r>
              <a:rPr lang="en-US" sz="1600" b="1" dirty="0"/>
              <a:t>Do nothing</a:t>
            </a:r>
            <a:r>
              <a:rPr lang="en-US" sz="1600" dirty="0"/>
              <a:t>, the defaults are good enough</a:t>
            </a:r>
          </a:p>
          <a:p>
            <a:pPr lvl="1"/>
            <a:r>
              <a:rPr lang="en-US" sz="1400" dirty="0"/>
              <a:t>Starting point, it’s simple but </a:t>
            </a:r>
            <a:r>
              <a:rPr lang="en-US" sz="1400" b="1" u="sng" dirty="0"/>
              <a:t>leaves a lot of performance </a:t>
            </a:r>
            <a:r>
              <a:rPr lang="en-US" sz="1400" dirty="0"/>
              <a:t>on the table. </a:t>
            </a:r>
          </a:p>
          <a:p>
            <a:r>
              <a:rPr lang="en-US" sz="1600" b="1" dirty="0"/>
              <a:t>Change Hyperparameters by Hand </a:t>
            </a:r>
          </a:p>
          <a:p>
            <a:pPr lvl="1"/>
            <a:r>
              <a:rPr lang="en-US" sz="1400" dirty="0"/>
              <a:t>Good for fine tuning, not good for finding good starting point </a:t>
            </a:r>
          </a:p>
          <a:p>
            <a:pPr lvl="1"/>
            <a:r>
              <a:rPr lang="en-US" sz="1400" dirty="0"/>
              <a:t>Time consuming </a:t>
            </a:r>
          </a:p>
          <a:p>
            <a:r>
              <a:rPr lang="en-US" sz="1600" b="1" dirty="0"/>
              <a:t>Brute force grid search </a:t>
            </a:r>
            <a:r>
              <a:rPr lang="en-US" sz="1600" dirty="0"/>
              <a:t>- </a:t>
            </a:r>
            <a:r>
              <a:rPr lang="en-US" sz="1600" i="1" dirty="0"/>
              <a:t>try </a:t>
            </a:r>
            <a:r>
              <a:rPr lang="en-US" sz="1600" b="1" i="1" dirty="0"/>
              <a:t>all possible </a:t>
            </a:r>
            <a:r>
              <a:rPr lang="en-US" sz="1600" i="1" dirty="0"/>
              <a:t>combination of the set of Hyperparameters from searchable space</a:t>
            </a:r>
          </a:p>
          <a:p>
            <a:pPr lvl="1"/>
            <a:r>
              <a:rPr lang="en-US" sz="1400" dirty="0"/>
              <a:t>Good for finding a “good” model </a:t>
            </a:r>
          </a:p>
          <a:p>
            <a:pPr lvl="1"/>
            <a:r>
              <a:rPr lang="en-US" sz="1400" dirty="0"/>
              <a:t>Time consuming </a:t>
            </a:r>
          </a:p>
        </p:txBody>
      </p:sp>
      <p:sp>
        <p:nvSpPr>
          <p:cNvPr id="11" name="Text Placeholder 10">
            <a:extLst>
              <a:ext uri="{FF2B5EF4-FFF2-40B4-BE49-F238E27FC236}">
                <a16:creationId xmlns:a16="http://schemas.microsoft.com/office/drawing/2014/main" id="{0E0F66CA-EA3C-A449-A4FB-CBE85C821A4B}"/>
              </a:ext>
            </a:extLst>
          </p:cNvPr>
          <p:cNvSpPr>
            <a:spLocks noGrp="1"/>
          </p:cNvSpPr>
          <p:nvPr>
            <p:ph type="body" sz="half" idx="2"/>
          </p:nvPr>
        </p:nvSpPr>
        <p:spPr>
          <a:xfrm>
            <a:off x="664691" y="1129553"/>
            <a:ext cx="10078613" cy="361790"/>
          </a:xfrm>
        </p:spPr>
        <p:txBody>
          <a:bodyPr/>
          <a:lstStyle/>
          <a:p>
            <a:r>
              <a:rPr lang="en-US" dirty="0"/>
              <a:t>improve my model’s performance? </a:t>
            </a:r>
          </a:p>
        </p:txBody>
      </p:sp>
      <p:pic>
        <p:nvPicPr>
          <p:cNvPr id="1026" name="Picture 2" descr="What to Do if You Are Lost in a Forest - American Forests">
            <a:extLst>
              <a:ext uri="{FF2B5EF4-FFF2-40B4-BE49-F238E27FC236}">
                <a16:creationId xmlns:a16="http://schemas.microsoft.com/office/drawing/2014/main" id="{07B90A2F-F0EB-2048-899C-A827CA26D19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139159" y="1690743"/>
            <a:ext cx="3492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859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5EB03-B3B9-DC44-B64B-E2734C739691}"/>
              </a:ext>
            </a:extLst>
          </p:cNvPr>
          <p:cNvSpPr>
            <a:spLocks noGrp="1"/>
          </p:cNvSpPr>
          <p:nvPr>
            <p:ph type="title"/>
          </p:nvPr>
        </p:nvSpPr>
        <p:spPr/>
        <p:txBody>
          <a:bodyPr/>
          <a:lstStyle/>
          <a:p>
            <a:r>
              <a:rPr lang="en-US" dirty="0"/>
              <a:t>Tuning Grid</a:t>
            </a:r>
          </a:p>
        </p:txBody>
      </p:sp>
      <p:sp>
        <p:nvSpPr>
          <p:cNvPr id="4" name="Slide Number Placeholder 3">
            <a:extLst>
              <a:ext uri="{FF2B5EF4-FFF2-40B4-BE49-F238E27FC236}">
                <a16:creationId xmlns:a16="http://schemas.microsoft.com/office/drawing/2014/main" id="{D81BE8AD-E11A-0E4D-A1C6-E569E124F5FC}"/>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19</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54EDAE2D-5690-FA4A-AC26-B7977EEF4F2D}"/>
              </a:ext>
            </a:extLst>
          </p:cNvPr>
          <p:cNvSpPr>
            <a:spLocks noGrp="1"/>
          </p:cNvSpPr>
          <p:nvPr>
            <p:ph type="body" sz="half" idx="2"/>
          </p:nvPr>
        </p:nvSpPr>
        <p:spPr/>
        <p:txBody>
          <a:bodyPr/>
          <a:lstStyle/>
          <a:p>
            <a:r>
              <a:rPr lang="en-US" dirty="0"/>
              <a:t>Each row is an experiment </a:t>
            </a:r>
          </a:p>
        </p:txBody>
      </p:sp>
      <p:sp>
        <p:nvSpPr>
          <p:cNvPr id="7" name="TextBox 6">
            <a:extLst>
              <a:ext uri="{FF2B5EF4-FFF2-40B4-BE49-F238E27FC236}">
                <a16:creationId xmlns:a16="http://schemas.microsoft.com/office/drawing/2014/main" id="{BEEC9620-0EFE-0E41-A515-F84F3A968FCD}"/>
              </a:ext>
            </a:extLst>
          </p:cNvPr>
          <p:cNvSpPr txBox="1"/>
          <p:nvPr/>
        </p:nvSpPr>
        <p:spPr>
          <a:xfrm>
            <a:off x="745394" y="1890414"/>
            <a:ext cx="4065707" cy="369332"/>
          </a:xfrm>
          <a:prstGeom prst="rect">
            <a:avLst/>
          </a:prstGeom>
          <a:noFill/>
        </p:spPr>
        <p:txBody>
          <a:bodyPr wrap="square" rtlCol="0">
            <a:spAutoFit/>
          </a:bodyPr>
          <a:lstStyle/>
          <a:p>
            <a:r>
              <a:rPr lang="en-US" dirty="0"/>
              <a:t>For each Parameter Permutation </a:t>
            </a:r>
          </a:p>
        </p:txBody>
      </p:sp>
      <p:sp>
        <p:nvSpPr>
          <p:cNvPr id="8" name="TextBox 7">
            <a:extLst>
              <a:ext uri="{FF2B5EF4-FFF2-40B4-BE49-F238E27FC236}">
                <a16:creationId xmlns:a16="http://schemas.microsoft.com/office/drawing/2014/main" id="{4C2255BD-197E-A74A-93E6-3D7C8BBB6919}"/>
              </a:ext>
            </a:extLst>
          </p:cNvPr>
          <p:cNvSpPr txBox="1"/>
          <p:nvPr/>
        </p:nvSpPr>
        <p:spPr>
          <a:xfrm>
            <a:off x="745394" y="5596656"/>
            <a:ext cx="3445654" cy="1200329"/>
          </a:xfrm>
          <a:prstGeom prst="rect">
            <a:avLst/>
          </a:prstGeom>
          <a:noFill/>
        </p:spPr>
        <p:txBody>
          <a:bodyPr wrap="square" rtlCol="0">
            <a:spAutoFit/>
          </a:bodyPr>
          <a:lstStyle/>
          <a:p>
            <a:pPr algn="ctr"/>
            <a:r>
              <a:rPr lang="en-US" dirty="0"/>
              <a:t>Fit your model</a:t>
            </a:r>
          </a:p>
          <a:p>
            <a:pPr algn="ctr"/>
            <a:r>
              <a:rPr lang="en-US" dirty="0"/>
              <a:t>K-times, </a:t>
            </a:r>
          </a:p>
          <a:p>
            <a:pPr algn="ctr"/>
            <a:r>
              <a:rPr lang="en-US" dirty="0"/>
              <a:t>Average results </a:t>
            </a:r>
          </a:p>
          <a:p>
            <a:pPr algn="ctr"/>
            <a:r>
              <a:rPr lang="en-US" dirty="0"/>
              <a:t>on hold out </a:t>
            </a:r>
          </a:p>
        </p:txBody>
      </p:sp>
      <p:pic>
        <p:nvPicPr>
          <p:cNvPr id="14" name="Picture 13">
            <a:extLst>
              <a:ext uri="{FF2B5EF4-FFF2-40B4-BE49-F238E27FC236}">
                <a16:creationId xmlns:a16="http://schemas.microsoft.com/office/drawing/2014/main" id="{ADA880F9-0AC5-0C4A-BB13-EC9D3ADDEE93}"/>
              </a:ext>
            </a:extLst>
          </p:cNvPr>
          <p:cNvPicPr>
            <a:picLocks noChangeAspect="1"/>
          </p:cNvPicPr>
          <p:nvPr/>
        </p:nvPicPr>
        <p:blipFill>
          <a:blip r:embed="rId2"/>
          <a:stretch>
            <a:fillRect/>
          </a:stretch>
        </p:blipFill>
        <p:spPr>
          <a:xfrm>
            <a:off x="5543757" y="465110"/>
            <a:ext cx="5195960" cy="2572000"/>
          </a:xfrm>
          <a:prstGeom prst="rect">
            <a:avLst/>
          </a:prstGeom>
        </p:spPr>
      </p:pic>
      <p:sp>
        <p:nvSpPr>
          <p:cNvPr id="10" name="TextBox 9">
            <a:extLst>
              <a:ext uri="{FF2B5EF4-FFF2-40B4-BE49-F238E27FC236}">
                <a16:creationId xmlns:a16="http://schemas.microsoft.com/office/drawing/2014/main" id="{2C18E2DB-BA4F-4048-A108-61BAE191FDAE}"/>
              </a:ext>
            </a:extLst>
          </p:cNvPr>
          <p:cNvSpPr txBox="1"/>
          <p:nvPr/>
        </p:nvSpPr>
        <p:spPr>
          <a:xfrm>
            <a:off x="5801005" y="4195858"/>
            <a:ext cx="4938712" cy="369332"/>
          </a:xfrm>
          <a:prstGeom prst="rect">
            <a:avLst/>
          </a:prstGeom>
          <a:noFill/>
        </p:spPr>
        <p:txBody>
          <a:bodyPr wrap="square" rtlCol="0">
            <a:spAutoFit/>
          </a:bodyPr>
          <a:lstStyle/>
          <a:p>
            <a:r>
              <a:rPr lang="en-US" dirty="0"/>
              <a:t>5 levels X 2 parameters  = 10 permutations </a:t>
            </a:r>
          </a:p>
        </p:txBody>
      </p:sp>
      <p:sp>
        <p:nvSpPr>
          <p:cNvPr id="11" name="Rectangle 1">
            <a:extLst>
              <a:ext uri="{FF2B5EF4-FFF2-40B4-BE49-F238E27FC236}">
                <a16:creationId xmlns:a16="http://schemas.microsoft.com/office/drawing/2014/main" id="{6A6F85AD-5CCD-ED40-8C17-D975DBF3C508}"/>
              </a:ext>
            </a:extLst>
          </p:cNvPr>
          <p:cNvSpPr>
            <a:spLocks noChangeArrowheads="1"/>
          </p:cNvSpPr>
          <p:nvPr/>
        </p:nvSpPr>
        <p:spPr bwMode="auto">
          <a:xfrm>
            <a:off x="-606198" y="25270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2" name="Table 11">
            <a:extLst>
              <a:ext uri="{FF2B5EF4-FFF2-40B4-BE49-F238E27FC236}">
                <a16:creationId xmlns:a16="http://schemas.microsoft.com/office/drawing/2014/main" id="{E9048FF5-440C-5B4A-89AD-71C4C0F9A7C7}"/>
              </a:ext>
            </a:extLst>
          </p:cNvPr>
          <p:cNvGraphicFramePr>
            <a:graphicFrameLocks noGrp="1"/>
          </p:cNvGraphicFramePr>
          <p:nvPr>
            <p:extLst>
              <p:ext uri="{D42A27DB-BD31-4B8C-83A1-F6EECF244321}">
                <p14:modId xmlns:p14="http://schemas.microsoft.com/office/powerpoint/2010/main" val="1996449059"/>
              </p:ext>
            </p:extLst>
          </p:nvPr>
        </p:nvGraphicFramePr>
        <p:xfrm>
          <a:off x="852429" y="2339213"/>
          <a:ext cx="3338619" cy="3137535"/>
        </p:xfrm>
        <a:graphic>
          <a:graphicData uri="http://schemas.openxmlformats.org/drawingml/2006/table">
            <a:tbl>
              <a:tblPr firstRow="1" bandRow="1">
                <a:tableStyleId>{10A1B5D5-9B99-4C35-A422-299274C87663}</a:tableStyleId>
              </a:tblPr>
              <a:tblGrid>
                <a:gridCol w="1360233">
                  <a:extLst>
                    <a:ext uri="{9D8B030D-6E8A-4147-A177-3AD203B41FA5}">
                      <a16:colId xmlns:a16="http://schemas.microsoft.com/office/drawing/2014/main" val="3558525737"/>
                    </a:ext>
                  </a:extLst>
                </a:gridCol>
                <a:gridCol w="1978386">
                  <a:extLst>
                    <a:ext uri="{9D8B030D-6E8A-4147-A177-3AD203B41FA5}">
                      <a16:colId xmlns:a16="http://schemas.microsoft.com/office/drawing/2014/main" val="3432428911"/>
                    </a:ext>
                  </a:extLst>
                </a:gridCol>
              </a:tblGrid>
              <a:tr h="0">
                <a:tc>
                  <a:txBody>
                    <a:bodyPr/>
                    <a:lstStyle/>
                    <a:p>
                      <a:pPr algn="r"/>
                      <a:r>
                        <a:rPr lang="en-US" sz="1600" dirty="0" err="1">
                          <a:effectLst/>
                        </a:rPr>
                        <a:t>N_estimators</a:t>
                      </a:r>
                      <a:endParaRPr lang="en-US" sz="1600" dirty="0">
                        <a:effectLst/>
                      </a:endParaRPr>
                    </a:p>
                  </a:txBody>
                  <a:tcPr marL="57150" marR="57150" marB="28575" anchor="ctr"/>
                </a:tc>
                <a:tc>
                  <a:txBody>
                    <a:bodyPr/>
                    <a:lstStyle/>
                    <a:p>
                      <a:pPr algn="r"/>
                      <a:r>
                        <a:rPr lang="en-US" sz="1600" dirty="0" err="1">
                          <a:effectLst/>
                        </a:rPr>
                        <a:t>Min_Samples_split</a:t>
                      </a:r>
                      <a:endParaRPr lang="en-US" sz="1600" dirty="0">
                        <a:effectLst/>
                      </a:endParaRPr>
                    </a:p>
                  </a:txBody>
                  <a:tcPr marL="57150" marR="57150" marB="28575" anchor="ctr"/>
                </a:tc>
                <a:extLst>
                  <a:ext uri="{0D108BD9-81ED-4DB2-BD59-A6C34878D82A}">
                    <a16:rowId xmlns:a16="http://schemas.microsoft.com/office/drawing/2014/main" val="2881417881"/>
                  </a:ext>
                </a:extLst>
              </a:tr>
              <a:tr h="0">
                <a:tc>
                  <a:txBody>
                    <a:bodyPr/>
                    <a:lstStyle/>
                    <a:p>
                      <a:pPr algn="r"/>
                      <a:r>
                        <a:rPr lang="en-US" sz="1600">
                          <a:effectLst/>
                        </a:rPr>
                        <a:t>100</a:t>
                      </a:r>
                    </a:p>
                  </a:txBody>
                  <a:tcPr marL="57150" marR="57150" marT="19050" marB="19050" anchor="ctr"/>
                </a:tc>
                <a:tc>
                  <a:txBody>
                    <a:bodyPr/>
                    <a:lstStyle/>
                    <a:p>
                      <a:pPr algn="r"/>
                      <a:r>
                        <a:rPr lang="en-US" sz="1600" dirty="0">
                          <a:effectLst/>
                        </a:rPr>
                        <a:t>5</a:t>
                      </a:r>
                    </a:p>
                  </a:txBody>
                  <a:tcPr marL="57150" marR="57150" marT="19050" marB="19050" anchor="ctr"/>
                </a:tc>
                <a:extLst>
                  <a:ext uri="{0D108BD9-81ED-4DB2-BD59-A6C34878D82A}">
                    <a16:rowId xmlns:a16="http://schemas.microsoft.com/office/drawing/2014/main" val="2059490325"/>
                  </a:ext>
                </a:extLst>
              </a:tr>
              <a:tr h="0">
                <a:tc>
                  <a:txBody>
                    <a:bodyPr/>
                    <a:lstStyle/>
                    <a:p>
                      <a:pPr algn="r"/>
                      <a:r>
                        <a:rPr lang="en-US" sz="1600">
                          <a:effectLst/>
                        </a:rPr>
                        <a:t>125</a:t>
                      </a:r>
                    </a:p>
                  </a:txBody>
                  <a:tcPr marL="57150" marR="57150" marT="19050" marB="19050" anchor="ctr"/>
                </a:tc>
                <a:tc>
                  <a:txBody>
                    <a:bodyPr/>
                    <a:lstStyle/>
                    <a:p>
                      <a:pPr algn="r"/>
                      <a:r>
                        <a:rPr lang="en-US" sz="1600" dirty="0">
                          <a:effectLst/>
                        </a:rPr>
                        <a:t>5</a:t>
                      </a:r>
                    </a:p>
                  </a:txBody>
                  <a:tcPr marL="57150" marR="57150" marT="19050" marB="19050" anchor="ctr"/>
                </a:tc>
                <a:extLst>
                  <a:ext uri="{0D108BD9-81ED-4DB2-BD59-A6C34878D82A}">
                    <a16:rowId xmlns:a16="http://schemas.microsoft.com/office/drawing/2014/main" val="1880885704"/>
                  </a:ext>
                </a:extLst>
              </a:tr>
              <a:tr h="0">
                <a:tc>
                  <a:txBody>
                    <a:bodyPr/>
                    <a:lstStyle/>
                    <a:p>
                      <a:pPr algn="r"/>
                      <a:r>
                        <a:rPr lang="en-US" sz="1600">
                          <a:effectLst/>
                        </a:rPr>
                        <a:t>150</a:t>
                      </a:r>
                    </a:p>
                  </a:txBody>
                  <a:tcPr marL="57150" marR="57150" marT="19050" marB="19050" anchor="ctr"/>
                </a:tc>
                <a:tc>
                  <a:txBody>
                    <a:bodyPr/>
                    <a:lstStyle/>
                    <a:p>
                      <a:pPr algn="r"/>
                      <a:r>
                        <a:rPr lang="en-US" sz="1600" dirty="0">
                          <a:effectLst/>
                        </a:rPr>
                        <a:t>5</a:t>
                      </a:r>
                    </a:p>
                  </a:txBody>
                  <a:tcPr marL="57150" marR="57150" marT="19050" marB="19050" anchor="ctr"/>
                </a:tc>
                <a:extLst>
                  <a:ext uri="{0D108BD9-81ED-4DB2-BD59-A6C34878D82A}">
                    <a16:rowId xmlns:a16="http://schemas.microsoft.com/office/drawing/2014/main" val="2644084825"/>
                  </a:ext>
                </a:extLst>
              </a:tr>
              <a:tr h="0">
                <a:tc>
                  <a:txBody>
                    <a:bodyPr/>
                    <a:lstStyle/>
                    <a:p>
                      <a:pPr algn="r"/>
                      <a:r>
                        <a:rPr lang="en-US" sz="1600">
                          <a:effectLst/>
                        </a:rPr>
                        <a:t>175</a:t>
                      </a:r>
                    </a:p>
                  </a:txBody>
                  <a:tcPr marL="57150" marR="57150" marT="19050" marB="19050" anchor="ctr"/>
                </a:tc>
                <a:tc>
                  <a:txBody>
                    <a:bodyPr/>
                    <a:lstStyle/>
                    <a:p>
                      <a:pPr algn="r"/>
                      <a:r>
                        <a:rPr lang="en-US" sz="1600" dirty="0">
                          <a:effectLst/>
                        </a:rPr>
                        <a:t>5</a:t>
                      </a:r>
                    </a:p>
                  </a:txBody>
                  <a:tcPr marL="57150" marR="57150" marT="19050" marB="19050" anchor="ctr"/>
                </a:tc>
                <a:extLst>
                  <a:ext uri="{0D108BD9-81ED-4DB2-BD59-A6C34878D82A}">
                    <a16:rowId xmlns:a16="http://schemas.microsoft.com/office/drawing/2014/main" val="1606419078"/>
                  </a:ext>
                </a:extLst>
              </a:tr>
              <a:tr h="0">
                <a:tc>
                  <a:txBody>
                    <a:bodyPr/>
                    <a:lstStyle/>
                    <a:p>
                      <a:pPr algn="r"/>
                      <a:r>
                        <a:rPr lang="en-US" sz="1600">
                          <a:effectLst/>
                        </a:rPr>
                        <a:t>200</a:t>
                      </a:r>
                    </a:p>
                  </a:txBody>
                  <a:tcPr marL="57150" marR="57150" marT="19050" marB="19050" anchor="ctr"/>
                </a:tc>
                <a:tc>
                  <a:txBody>
                    <a:bodyPr/>
                    <a:lstStyle/>
                    <a:p>
                      <a:pPr algn="r"/>
                      <a:r>
                        <a:rPr lang="en-US" sz="1600" dirty="0">
                          <a:effectLst/>
                        </a:rPr>
                        <a:t>5</a:t>
                      </a:r>
                    </a:p>
                  </a:txBody>
                  <a:tcPr marL="57150" marR="57150" marT="19050" marB="19050" anchor="ctr"/>
                </a:tc>
                <a:extLst>
                  <a:ext uri="{0D108BD9-81ED-4DB2-BD59-A6C34878D82A}">
                    <a16:rowId xmlns:a16="http://schemas.microsoft.com/office/drawing/2014/main" val="4077102561"/>
                  </a:ext>
                </a:extLst>
              </a:tr>
              <a:tr h="0">
                <a:tc>
                  <a:txBody>
                    <a:bodyPr/>
                    <a:lstStyle/>
                    <a:p>
                      <a:pPr algn="r"/>
                      <a:r>
                        <a:rPr lang="en-US" sz="1600">
                          <a:effectLst/>
                        </a:rPr>
                        <a:t>100</a:t>
                      </a:r>
                    </a:p>
                  </a:txBody>
                  <a:tcPr marL="57150" marR="57150" marT="19050" marB="19050" anchor="ctr"/>
                </a:tc>
                <a:tc>
                  <a:txBody>
                    <a:bodyPr/>
                    <a:lstStyle/>
                    <a:p>
                      <a:pPr algn="r"/>
                      <a:r>
                        <a:rPr lang="en-US" sz="1600" dirty="0">
                          <a:effectLst/>
                        </a:rPr>
                        <a:t>6</a:t>
                      </a:r>
                    </a:p>
                  </a:txBody>
                  <a:tcPr marL="57150" marR="57150" marT="19050" marB="19050" anchor="ctr"/>
                </a:tc>
                <a:extLst>
                  <a:ext uri="{0D108BD9-81ED-4DB2-BD59-A6C34878D82A}">
                    <a16:rowId xmlns:a16="http://schemas.microsoft.com/office/drawing/2014/main" val="399458929"/>
                  </a:ext>
                </a:extLst>
              </a:tr>
              <a:tr h="0">
                <a:tc>
                  <a:txBody>
                    <a:bodyPr/>
                    <a:lstStyle/>
                    <a:p>
                      <a:pPr algn="r"/>
                      <a:r>
                        <a:rPr lang="en-US" sz="1600">
                          <a:effectLst/>
                        </a:rPr>
                        <a:t>125</a:t>
                      </a:r>
                    </a:p>
                  </a:txBody>
                  <a:tcPr marL="57150" marR="57150" marT="19050" marB="19050" anchor="ctr"/>
                </a:tc>
                <a:tc>
                  <a:txBody>
                    <a:bodyPr/>
                    <a:lstStyle/>
                    <a:p>
                      <a:pPr algn="r"/>
                      <a:r>
                        <a:rPr lang="en-US" sz="1600" dirty="0">
                          <a:effectLst/>
                        </a:rPr>
                        <a:t>6</a:t>
                      </a:r>
                    </a:p>
                  </a:txBody>
                  <a:tcPr marL="57150" marR="57150" marT="19050" marB="19050" anchor="ctr"/>
                </a:tc>
                <a:extLst>
                  <a:ext uri="{0D108BD9-81ED-4DB2-BD59-A6C34878D82A}">
                    <a16:rowId xmlns:a16="http://schemas.microsoft.com/office/drawing/2014/main" val="1359574452"/>
                  </a:ext>
                </a:extLst>
              </a:tr>
              <a:tr h="0">
                <a:tc>
                  <a:txBody>
                    <a:bodyPr/>
                    <a:lstStyle/>
                    <a:p>
                      <a:pPr algn="r"/>
                      <a:r>
                        <a:rPr lang="en-US" sz="1600">
                          <a:effectLst/>
                        </a:rPr>
                        <a:t>150</a:t>
                      </a:r>
                    </a:p>
                  </a:txBody>
                  <a:tcPr marL="57150" marR="57150" marT="19050" marB="19050" anchor="ctr"/>
                </a:tc>
                <a:tc>
                  <a:txBody>
                    <a:bodyPr/>
                    <a:lstStyle/>
                    <a:p>
                      <a:pPr algn="r"/>
                      <a:r>
                        <a:rPr lang="en-US" sz="1600" dirty="0">
                          <a:effectLst/>
                        </a:rPr>
                        <a:t>6</a:t>
                      </a:r>
                    </a:p>
                  </a:txBody>
                  <a:tcPr marL="57150" marR="57150" marT="19050" marB="19050" anchor="ctr"/>
                </a:tc>
                <a:extLst>
                  <a:ext uri="{0D108BD9-81ED-4DB2-BD59-A6C34878D82A}">
                    <a16:rowId xmlns:a16="http://schemas.microsoft.com/office/drawing/2014/main" val="1812207907"/>
                  </a:ext>
                </a:extLst>
              </a:tr>
              <a:tr h="0">
                <a:tc>
                  <a:txBody>
                    <a:bodyPr/>
                    <a:lstStyle/>
                    <a:p>
                      <a:pPr algn="r"/>
                      <a:r>
                        <a:rPr lang="en-US" sz="1600">
                          <a:effectLst/>
                        </a:rPr>
                        <a:t>175</a:t>
                      </a:r>
                    </a:p>
                  </a:txBody>
                  <a:tcPr marL="57150" marR="57150" marT="19050" marB="19050" anchor="ctr"/>
                </a:tc>
                <a:tc>
                  <a:txBody>
                    <a:bodyPr/>
                    <a:lstStyle/>
                    <a:p>
                      <a:pPr algn="r"/>
                      <a:r>
                        <a:rPr lang="en-US" sz="1600" dirty="0">
                          <a:effectLst/>
                        </a:rPr>
                        <a:t>6</a:t>
                      </a:r>
                    </a:p>
                  </a:txBody>
                  <a:tcPr marL="57150" marR="57150" marT="19050" marB="19050" anchor="ctr"/>
                </a:tc>
                <a:extLst>
                  <a:ext uri="{0D108BD9-81ED-4DB2-BD59-A6C34878D82A}">
                    <a16:rowId xmlns:a16="http://schemas.microsoft.com/office/drawing/2014/main" val="825927533"/>
                  </a:ext>
                </a:extLst>
              </a:tr>
              <a:tr h="0">
                <a:tc>
                  <a:txBody>
                    <a:bodyPr/>
                    <a:lstStyle/>
                    <a:p>
                      <a:pPr algn="r"/>
                      <a:r>
                        <a:rPr lang="en-US" sz="1600">
                          <a:effectLst/>
                        </a:rPr>
                        <a:t>200</a:t>
                      </a:r>
                    </a:p>
                  </a:txBody>
                  <a:tcPr marL="57150" marR="57150" marT="19050" marB="19050" anchor="ctr"/>
                </a:tc>
                <a:tc>
                  <a:txBody>
                    <a:bodyPr/>
                    <a:lstStyle/>
                    <a:p>
                      <a:pPr algn="r"/>
                      <a:r>
                        <a:rPr lang="en-US" sz="1600" dirty="0">
                          <a:effectLst/>
                        </a:rPr>
                        <a:t>6</a:t>
                      </a:r>
                    </a:p>
                  </a:txBody>
                  <a:tcPr marL="57150" marR="57150" marT="19050" marB="19050" anchor="ctr"/>
                </a:tc>
                <a:extLst>
                  <a:ext uri="{0D108BD9-81ED-4DB2-BD59-A6C34878D82A}">
                    <a16:rowId xmlns:a16="http://schemas.microsoft.com/office/drawing/2014/main" val="2044880733"/>
                  </a:ext>
                </a:extLst>
              </a:tr>
            </a:tbl>
          </a:graphicData>
        </a:graphic>
      </p:graphicFrame>
      <p:sp>
        <p:nvSpPr>
          <p:cNvPr id="13" name="Rectangle 2">
            <a:extLst>
              <a:ext uri="{FF2B5EF4-FFF2-40B4-BE49-F238E27FC236}">
                <a16:creationId xmlns:a16="http://schemas.microsoft.com/office/drawing/2014/main" id="{10740A8A-B29A-CD48-A293-39D19FE8DC91}"/>
              </a:ext>
            </a:extLst>
          </p:cNvPr>
          <p:cNvSpPr>
            <a:spLocks noChangeArrowheads="1"/>
          </p:cNvSpPr>
          <p:nvPr/>
        </p:nvSpPr>
        <p:spPr bwMode="auto">
          <a:xfrm>
            <a:off x="1614488" y="25876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14">
            <a:extLst>
              <a:ext uri="{FF2B5EF4-FFF2-40B4-BE49-F238E27FC236}">
                <a16:creationId xmlns:a16="http://schemas.microsoft.com/office/drawing/2014/main" id="{0EDE1B84-EA44-A648-9382-8147050CB610}"/>
              </a:ext>
            </a:extLst>
          </p:cNvPr>
          <p:cNvSpPr/>
          <p:nvPr/>
        </p:nvSpPr>
        <p:spPr>
          <a:xfrm>
            <a:off x="5489802" y="3130857"/>
            <a:ext cx="7075970" cy="923330"/>
          </a:xfrm>
          <a:prstGeom prst="rect">
            <a:avLst/>
          </a:prstGeom>
        </p:spPr>
        <p:txBody>
          <a:bodyPr wrap="square">
            <a:spAutoFit/>
          </a:bodyPr>
          <a:lstStyle/>
          <a:p>
            <a:r>
              <a:rPr lang="en-US" b="0" dirty="0" err="1">
                <a:solidFill>
                  <a:srgbClr val="000000"/>
                </a:solidFill>
                <a:effectLst/>
                <a:latin typeface="Courier New" panose="02070309020205020404" pitchFamily="49" charset="0"/>
              </a:rPr>
              <a:t>param_grid</a:t>
            </a:r>
            <a:r>
              <a:rPr lang="en-US" b="0" dirty="0">
                <a:solidFill>
                  <a:srgbClr val="000000"/>
                </a:solidFill>
                <a:effectLst/>
                <a:latin typeface="Courier New" panose="02070309020205020404" pitchFamily="49" charset="0"/>
              </a:rPr>
              <a:t> = {</a:t>
            </a:r>
          </a:p>
          <a:p>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n_estimators</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100,125,150,175,200</a:t>
            </a:r>
            <a:r>
              <a:rPr lang="en-US" b="0" dirty="0">
                <a:solidFill>
                  <a:srgbClr val="000000"/>
                </a:solidFill>
                <a:effectLst/>
                <a:latin typeface="Courier New" panose="02070309020205020404" pitchFamily="49" charset="0"/>
              </a:rPr>
              <a:t>],</a:t>
            </a:r>
          </a:p>
          <a:p>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min_samples_split</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 </a:t>
            </a:r>
            <a:r>
              <a:rPr lang="en-US" b="0" dirty="0">
                <a:solidFill>
                  <a:srgbClr val="116644"/>
                </a:solidFill>
                <a:effectLst/>
                <a:latin typeface="Courier New" panose="02070309020205020404" pitchFamily="49" charset="0"/>
              </a:rPr>
              <a:t>5</a:t>
            </a:r>
            <a:r>
              <a:rPr lang="en-US" b="0" dirty="0">
                <a:solidFill>
                  <a:srgbClr val="000000"/>
                </a:solidFill>
                <a:effectLst/>
                <a:latin typeface="Courier New" panose="02070309020205020404" pitchFamily="49" charset="0"/>
              </a:rPr>
              <a:t>, </a:t>
            </a:r>
            <a:r>
              <a:rPr lang="en-US" b="0" dirty="0">
                <a:solidFill>
                  <a:srgbClr val="116644"/>
                </a:solidFill>
                <a:effectLst/>
                <a:latin typeface="Courier New" panose="02070309020205020404" pitchFamily="49" charset="0"/>
              </a:rPr>
              <a:t>6</a:t>
            </a:r>
            <a:r>
              <a:rPr lang="en-US" b="0" dirty="0">
                <a:solidFill>
                  <a:srgbClr val="000000"/>
                </a:solidFill>
                <a:effectLst/>
                <a:latin typeface="Courier New" panose="02070309020205020404" pitchFamily="49" charset="0"/>
              </a:rPr>
              <a:t>],}</a:t>
            </a:r>
          </a:p>
        </p:txBody>
      </p:sp>
      <p:sp>
        <p:nvSpPr>
          <p:cNvPr id="16" name="TextBox 15">
            <a:extLst>
              <a:ext uri="{FF2B5EF4-FFF2-40B4-BE49-F238E27FC236}">
                <a16:creationId xmlns:a16="http://schemas.microsoft.com/office/drawing/2014/main" id="{506CAD9E-C4A1-554E-AED8-9DDD8867B15F}"/>
              </a:ext>
            </a:extLst>
          </p:cNvPr>
          <p:cNvSpPr txBox="1"/>
          <p:nvPr/>
        </p:nvSpPr>
        <p:spPr>
          <a:xfrm>
            <a:off x="5489802" y="5469560"/>
            <a:ext cx="5584598" cy="923330"/>
          </a:xfrm>
          <a:prstGeom prst="rect">
            <a:avLst/>
          </a:prstGeom>
          <a:noFill/>
        </p:spPr>
        <p:txBody>
          <a:bodyPr wrap="square" rtlCol="0">
            <a:spAutoFit/>
          </a:bodyPr>
          <a:lstStyle/>
          <a:p>
            <a:pPr algn="ctr"/>
            <a:r>
              <a:rPr lang="en-US" dirty="0"/>
              <a:t>Each row in the tuning grid gets fit K times (i.e. 5 times) </a:t>
            </a:r>
          </a:p>
          <a:p>
            <a:pPr algn="ctr"/>
            <a:endParaRPr lang="en-US" dirty="0"/>
          </a:p>
          <a:p>
            <a:pPr algn="ctr"/>
            <a:r>
              <a:rPr lang="en-US" dirty="0"/>
              <a:t>5 X 10 tests = </a:t>
            </a:r>
            <a:r>
              <a:rPr lang="en-US" b="1" dirty="0">
                <a:solidFill>
                  <a:srgbClr val="FF0000"/>
                </a:solidFill>
              </a:rPr>
              <a:t>50 model fits </a:t>
            </a:r>
          </a:p>
        </p:txBody>
      </p:sp>
      <p:sp>
        <p:nvSpPr>
          <p:cNvPr id="17" name="TextBox 16">
            <a:extLst>
              <a:ext uri="{FF2B5EF4-FFF2-40B4-BE49-F238E27FC236}">
                <a16:creationId xmlns:a16="http://schemas.microsoft.com/office/drawing/2014/main" id="{339AB1C6-64B8-31B7-E2EE-4E38B8B98CCC}"/>
              </a:ext>
            </a:extLst>
          </p:cNvPr>
          <p:cNvSpPr txBox="1"/>
          <p:nvPr/>
        </p:nvSpPr>
        <p:spPr>
          <a:xfrm>
            <a:off x="5543757" y="4772085"/>
            <a:ext cx="6590370" cy="369332"/>
          </a:xfrm>
          <a:prstGeom prst="rect">
            <a:avLst/>
          </a:prstGeom>
          <a:noFill/>
        </p:spPr>
        <p:txBody>
          <a:bodyPr wrap="square">
            <a:spAutoFit/>
          </a:bodyPr>
          <a:lstStyle/>
          <a:p>
            <a:r>
              <a:rPr lang="en-US" b="0" i="0" dirty="0">
                <a:solidFill>
                  <a:srgbClr val="374151"/>
                </a:solidFill>
                <a:effectLst/>
              </a:rPr>
              <a:t>Total model fittings = Number of experiments × </a:t>
            </a:r>
            <a:r>
              <a:rPr lang="en-US" b="0" i="1" dirty="0">
                <a:solidFill>
                  <a:srgbClr val="374151"/>
                </a:solidFill>
                <a:effectLst/>
              </a:rPr>
              <a:t>n x folds </a:t>
            </a:r>
            <a:endParaRPr lang="en-US" dirty="0"/>
          </a:p>
        </p:txBody>
      </p:sp>
    </p:spTree>
    <p:extLst>
      <p:ext uri="{BB962C8B-B14F-4D97-AF65-F5344CB8AC3E}">
        <p14:creationId xmlns:p14="http://schemas.microsoft.com/office/powerpoint/2010/main" val="735595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90BDB-E5AB-0F42-B8F7-3414147879A2}"/>
              </a:ext>
            </a:extLst>
          </p:cNvPr>
          <p:cNvSpPr>
            <a:spLocks noGrp="1"/>
          </p:cNvSpPr>
          <p:nvPr>
            <p:ph type="title"/>
          </p:nvPr>
        </p:nvSpPr>
        <p:spPr/>
        <p:txBody>
          <a:bodyPr/>
          <a:lstStyle/>
          <a:p>
            <a:r>
              <a:rPr lang="en-US" dirty="0"/>
              <a:t>K-Fold &amp; Hyper Parameter Tuning </a:t>
            </a:r>
          </a:p>
        </p:txBody>
      </p:sp>
      <p:sp>
        <p:nvSpPr>
          <p:cNvPr id="3" name="Content Placeholder 2">
            <a:extLst>
              <a:ext uri="{FF2B5EF4-FFF2-40B4-BE49-F238E27FC236}">
                <a16:creationId xmlns:a16="http://schemas.microsoft.com/office/drawing/2014/main" id="{BF84F166-A2CB-0546-B9A4-4D4EA579F02E}"/>
              </a:ext>
            </a:extLst>
          </p:cNvPr>
          <p:cNvSpPr>
            <a:spLocks noGrp="1"/>
          </p:cNvSpPr>
          <p:nvPr>
            <p:ph idx="1"/>
          </p:nvPr>
        </p:nvSpPr>
        <p:spPr>
          <a:xfrm>
            <a:off x="664633" y="1981201"/>
            <a:ext cx="10075084" cy="4543777"/>
          </a:xfrm>
        </p:spPr>
        <p:txBody>
          <a:bodyPr>
            <a:normAutofit fontScale="70000" lnSpcReduction="20000"/>
          </a:bodyPr>
          <a:lstStyle/>
          <a:p>
            <a:pPr marL="457200" indent="-457200">
              <a:buFont typeface="+mj-lt"/>
              <a:buAutoNum type="arabicPeriod"/>
            </a:pPr>
            <a:r>
              <a:rPr lang="en-US" dirty="0"/>
              <a:t>Split Your Data 70/30 (train/test)</a:t>
            </a:r>
          </a:p>
          <a:p>
            <a:pPr lvl="1"/>
            <a:r>
              <a:rPr lang="en-US" dirty="0"/>
              <a:t>Ensure you have a separate dataset for model evaluation.</a:t>
            </a:r>
          </a:p>
          <a:p>
            <a:pPr marL="457200" indent="-457200">
              <a:buFont typeface="+mj-lt"/>
              <a:buAutoNum type="arabicPeriod"/>
            </a:pPr>
            <a:r>
              <a:rPr lang="en-US" dirty="0"/>
              <a:t>Define Your Pipeline</a:t>
            </a:r>
          </a:p>
          <a:p>
            <a:pPr lvl="1"/>
            <a:r>
              <a:rPr lang="en-US" dirty="0"/>
              <a:t>Construct a pipeline that includes the preprocessing steps and the estimator (model). This encapsulation simplifies the experiment.</a:t>
            </a:r>
          </a:p>
          <a:p>
            <a:pPr marL="457200" indent="-457200">
              <a:buFont typeface="+mj-lt"/>
              <a:buAutoNum type="arabicPeriod"/>
            </a:pPr>
            <a:r>
              <a:rPr lang="en-US" dirty="0"/>
              <a:t>Fit it to Get Baseline Performance</a:t>
            </a:r>
          </a:p>
          <a:p>
            <a:pPr lvl="1"/>
            <a:r>
              <a:rPr lang="en-US" dirty="0"/>
              <a:t>Fit the pipeline to the training data to establish a baseline performance. This step helps in comparing the effect of hyperparameter tuning.</a:t>
            </a:r>
          </a:p>
          <a:p>
            <a:pPr marL="457200" indent="-457200">
              <a:buFont typeface="+mj-lt"/>
              <a:buAutoNum type="arabicPeriod"/>
            </a:pPr>
            <a:r>
              <a:rPr lang="en-US" dirty="0"/>
              <a:t>Identify Which Parameters to Tune</a:t>
            </a:r>
          </a:p>
          <a:p>
            <a:pPr lvl="1"/>
            <a:r>
              <a:rPr lang="en-US" dirty="0" err="1"/>
              <a:t>RandomForestClassifier</a:t>
            </a:r>
            <a:r>
              <a:rPr lang="en-US" dirty="0"/>
              <a:t>: </a:t>
            </a:r>
            <a:r>
              <a:rPr lang="en-US" dirty="0" err="1"/>
              <a:t>n_estimators</a:t>
            </a:r>
            <a:r>
              <a:rPr lang="en-US" dirty="0"/>
              <a:t>, </a:t>
            </a:r>
            <a:r>
              <a:rPr lang="en-US" dirty="0" err="1"/>
              <a:t>max_depth</a:t>
            </a:r>
            <a:r>
              <a:rPr lang="en-US" dirty="0"/>
              <a:t>, and </a:t>
            </a:r>
            <a:r>
              <a:rPr lang="en-US" dirty="0" err="1"/>
              <a:t>min_samples_split</a:t>
            </a:r>
            <a:r>
              <a:rPr lang="en-US" dirty="0"/>
              <a:t> are commonly tuned.</a:t>
            </a:r>
          </a:p>
          <a:p>
            <a:pPr marL="457200" indent="-457200">
              <a:buFont typeface="+mj-lt"/>
              <a:buAutoNum type="arabicPeriod"/>
            </a:pPr>
            <a:r>
              <a:rPr lang="en-US" dirty="0"/>
              <a:t>Define Your Tuning Grid Experiments</a:t>
            </a:r>
          </a:p>
          <a:p>
            <a:pPr lvl="1"/>
            <a:r>
              <a:rPr lang="en-US" dirty="0"/>
              <a:t>Create a hyperparameter grid for the parameters you've identified. Keep the grid manageable to avoid excessive computation time.</a:t>
            </a:r>
          </a:p>
          <a:p>
            <a:pPr marL="342900" indent="-342900">
              <a:buFont typeface="+mj-lt"/>
              <a:buAutoNum type="arabicPeriod"/>
            </a:pPr>
            <a:r>
              <a:rPr lang="en-US" dirty="0"/>
              <a:t>Kick it off! Grab a diet coke and a smile</a:t>
            </a:r>
          </a:p>
          <a:p>
            <a:pPr lvl="1"/>
            <a:r>
              <a:rPr lang="en-US" dirty="0"/>
              <a:t>Using: </a:t>
            </a:r>
            <a:r>
              <a:rPr lang="en-US" dirty="0" err="1"/>
              <a:t>GridSearchCV</a:t>
            </a:r>
            <a:r>
              <a:rPr lang="en-US" dirty="0"/>
              <a:t> or </a:t>
            </a:r>
            <a:r>
              <a:rPr lang="en-US" dirty="0" err="1"/>
              <a:t>RandomizedSearchCV</a:t>
            </a:r>
            <a:r>
              <a:rPr lang="en-US" dirty="0"/>
              <a:t> to search through the parameter grid. </a:t>
            </a:r>
          </a:p>
          <a:p>
            <a:pPr lvl="1"/>
            <a:r>
              <a:rPr lang="en-US" dirty="0"/>
              <a:t>This process automates the experimentation across the specified K-folds of the data.</a:t>
            </a:r>
          </a:p>
        </p:txBody>
      </p:sp>
      <p:sp>
        <p:nvSpPr>
          <p:cNvPr id="4" name="Slide Number Placeholder 3">
            <a:extLst>
              <a:ext uri="{FF2B5EF4-FFF2-40B4-BE49-F238E27FC236}">
                <a16:creationId xmlns:a16="http://schemas.microsoft.com/office/drawing/2014/main" id="{5DC4C69A-811D-4242-AAE3-4E74546E806E}"/>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20</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A28BBC37-C365-6A4A-8E64-E3A87FF86FCD}"/>
              </a:ext>
            </a:extLst>
          </p:cNvPr>
          <p:cNvSpPr>
            <a:spLocks noGrp="1"/>
          </p:cNvSpPr>
          <p:nvPr>
            <p:ph type="body" sz="half" idx="2"/>
          </p:nvPr>
        </p:nvSpPr>
        <p:spPr/>
        <p:txBody>
          <a:bodyPr/>
          <a:lstStyle/>
          <a:p>
            <a:r>
              <a:rPr lang="en-US" dirty="0"/>
              <a:t>Sugar cookie recipe Part1.</a:t>
            </a:r>
          </a:p>
        </p:txBody>
      </p:sp>
    </p:spTree>
    <p:extLst>
      <p:ext uri="{BB962C8B-B14F-4D97-AF65-F5344CB8AC3E}">
        <p14:creationId xmlns:p14="http://schemas.microsoft.com/office/powerpoint/2010/main" val="1220898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31BB7-56EB-7037-F80C-1EB2C3581F44}"/>
              </a:ext>
            </a:extLst>
          </p:cNvPr>
          <p:cNvSpPr>
            <a:spLocks noGrp="1"/>
          </p:cNvSpPr>
          <p:nvPr>
            <p:ph type="title"/>
          </p:nvPr>
        </p:nvSpPr>
        <p:spPr/>
        <p:txBody>
          <a:bodyPr/>
          <a:lstStyle/>
          <a:p>
            <a:r>
              <a:rPr lang="en-US" dirty="0"/>
              <a:t>K-Fold &amp; Hyper Parameter Tuning </a:t>
            </a:r>
          </a:p>
        </p:txBody>
      </p:sp>
      <p:sp>
        <p:nvSpPr>
          <p:cNvPr id="3" name="Content Placeholder 2">
            <a:extLst>
              <a:ext uri="{FF2B5EF4-FFF2-40B4-BE49-F238E27FC236}">
                <a16:creationId xmlns:a16="http://schemas.microsoft.com/office/drawing/2014/main" id="{BE4FDE0E-F669-F05C-EC2B-31F664D1AC8C}"/>
              </a:ext>
            </a:extLst>
          </p:cNvPr>
          <p:cNvSpPr>
            <a:spLocks noGrp="1"/>
          </p:cNvSpPr>
          <p:nvPr>
            <p:ph idx="1"/>
          </p:nvPr>
        </p:nvSpPr>
        <p:spPr>
          <a:xfrm>
            <a:off x="664633" y="1981201"/>
            <a:ext cx="5256482" cy="4144963"/>
          </a:xfrm>
        </p:spPr>
        <p:txBody>
          <a:bodyPr>
            <a:normAutofit lnSpcReduction="10000"/>
          </a:bodyPr>
          <a:lstStyle/>
          <a:p>
            <a:pPr marL="457200" indent="-457200">
              <a:buFont typeface="+mj-lt"/>
              <a:buAutoNum type="arabicPeriod" startAt="7"/>
            </a:pPr>
            <a:r>
              <a:rPr lang="en-US" dirty="0"/>
              <a:t>Evaluate the Tuning Results</a:t>
            </a:r>
          </a:p>
          <a:p>
            <a:pPr lvl="1"/>
            <a:r>
              <a:rPr lang="en-US" dirty="0"/>
              <a:t>evaluate the tuning results to understand which hyperparameter combinations performed best.</a:t>
            </a:r>
          </a:p>
          <a:p>
            <a:pPr marL="457200" indent="-457200">
              <a:buFont typeface="+mj-lt"/>
              <a:buAutoNum type="arabicPeriod" startAt="8"/>
            </a:pPr>
            <a:r>
              <a:rPr lang="en-US" dirty="0"/>
              <a:t>Pick the Best Performing Parameters on the Folds</a:t>
            </a:r>
          </a:p>
          <a:p>
            <a:pPr marL="457200" indent="-457200">
              <a:buFont typeface="+mj-lt"/>
              <a:buAutoNum type="arabicPeriod" startAt="8"/>
            </a:pPr>
            <a:r>
              <a:rPr lang="en-US" dirty="0"/>
              <a:t>Finally REFIT with the Best Parameters</a:t>
            </a:r>
          </a:p>
          <a:p>
            <a:pPr marL="457200" indent="-457200">
              <a:buFont typeface="+mj-lt"/>
              <a:buAutoNum type="arabicPeriod" startAt="8"/>
            </a:pPr>
            <a:r>
              <a:rPr lang="en-US" dirty="0"/>
              <a:t>Evaluate Your Baseline Fit with the “HPO” Fit on  /Test</a:t>
            </a:r>
          </a:p>
          <a:p>
            <a:pPr lvl="1"/>
            <a:r>
              <a:rPr lang="en-US" dirty="0"/>
              <a:t>Compare the performance of the “tuned model” on the test set to get an unbiased estimate of its performance.</a:t>
            </a:r>
          </a:p>
        </p:txBody>
      </p:sp>
      <p:sp>
        <p:nvSpPr>
          <p:cNvPr id="4" name="Slide Number Placeholder 3">
            <a:extLst>
              <a:ext uri="{FF2B5EF4-FFF2-40B4-BE49-F238E27FC236}">
                <a16:creationId xmlns:a16="http://schemas.microsoft.com/office/drawing/2014/main" id="{6F9BA760-5DCB-0BF9-4DCD-1B26A88672AF}"/>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21</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D04573DF-068B-55AA-D856-E798D44A6135}"/>
              </a:ext>
            </a:extLst>
          </p:cNvPr>
          <p:cNvSpPr>
            <a:spLocks noGrp="1"/>
          </p:cNvSpPr>
          <p:nvPr>
            <p:ph type="body" sz="half" idx="2"/>
          </p:nvPr>
        </p:nvSpPr>
        <p:spPr/>
        <p:txBody>
          <a:bodyPr/>
          <a:lstStyle/>
          <a:p>
            <a:r>
              <a:rPr lang="en-US" dirty="0"/>
              <a:t>Sugar cookie recipe Part2. </a:t>
            </a:r>
          </a:p>
        </p:txBody>
      </p:sp>
      <p:sp>
        <p:nvSpPr>
          <p:cNvPr id="7" name="TextBox 6">
            <a:extLst>
              <a:ext uri="{FF2B5EF4-FFF2-40B4-BE49-F238E27FC236}">
                <a16:creationId xmlns:a16="http://schemas.microsoft.com/office/drawing/2014/main" id="{FFCCE999-2A34-7FF0-385C-625564E78DC1}"/>
              </a:ext>
            </a:extLst>
          </p:cNvPr>
          <p:cNvSpPr txBox="1"/>
          <p:nvPr/>
        </p:nvSpPr>
        <p:spPr>
          <a:xfrm>
            <a:off x="6096000" y="2514631"/>
            <a:ext cx="6096000" cy="2585323"/>
          </a:xfrm>
          <a:prstGeom prst="rect">
            <a:avLst/>
          </a:prstGeom>
          <a:noFill/>
        </p:spPr>
        <p:txBody>
          <a:bodyPr wrap="square">
            <a:spAutoFit/>
          </a:bodyPr>
          <a:lstStyle/>
          <a:p>
            <a:r>
              <a:rPr lang="en-US" b="0" i="0" dirty="0">
                <a:solidFill>
                  <a:srgbClr val="212121"/>
                </a:solidFill>
                <a:effectLst/>
                <a:latin typeface="Courier New" panose="02070309020205020404" pitchFamily="49" charset="0"/>
              </a:rPr>
              <a:t>Random Forest Model Evaluation: </a:t>
            </a:r>
          </a:p>
          <a:p>
            <a:r>
              <a:rPr lang="en-US" b="0" i="0" dirty="0">
                <a:solidFill>
                  <a:srgbClr val="212121"/>
                </a:solidFill>
                <a:effectLst/>
                <a:latin typeface="Courier New" panose="02070309020205020404" pitchFamily="49" charset="0"/>
              </a:rPr>
              <a:t>Accuracy: 0.9479 </a:t>
            </a:r>
          </a:p>
          <a:p>
            <a:r>
              <a:rPr lang="en-US" b="0" i="0" dirty="0">
                <a:solidFill>
                  <a:srgbClr val="212121"/>
                </a:solidFill>
                <a:effectLst/>
                <a:latin typeface="Courier New" panose="02070309020205020404" pitchFamily="49" charset="0"/>
              </a:rPr>
              <a:t>AUC: 0.8409 </a:t>
            </a:r>
          </a:p>
          <a:p>
            <a:r>
              <a:rPr lang="en-US" b="0" i="0" dirty="0">
                <a:solidFill>
                  <a:srgbClr val="212121"/>
                </a:solidFill>
                <a:effectLst/>
                <a:latin typeface="Courier New" panose="02070309020205020404" pitchFamily="49" charset="0"/>
              </a:rPr>
              <a:t>Precision: 0.8462 </a:t>
            </a:r>
          </a:p>
          <a:p>
            <a:r>
              <a:rPr lang="en-US" b="0" i="0" dirty="0">
                <a:solidFill>
                  <a:srgbClr val="212121"/>
                </a:solidFill>
                <a:effectLst/>
                <a:latin typeface="Courier New" panose="02070309020205020404" pitchFamily="49" charset="0"/>
              </a:rPr>
              <a:t>-------- </a:t>
            </a:r>
          </a:p>
          <a:p>
            <a:r>
              <a:rPr lang="en-US" b="0" i="0" dirty="0">
                <a:solidFill>
                  <a:srgbClr val="212121"/>
                </a:solidFill>
                <a:effectLst/>
                <a:latin typeface="Courier New" panose="02070309020205020404" pitchFamily="49" charset="0"/>
              </a:rPr>
              <a:t>Random Forest Model Evaluation with HPO: Accuracy: 0.9446 </a:t>
            </a:r>
          </a:p>
          <a:p>
            <a:r>
              <a:rPr lang="en-US" b="1" i="0" dirty="0">
                <a:solidFill>
                  <a:srgbClr val="212121"/>
                </a:solidFill>
                <a:effectLst/>
                <a:latin typeface="Courier New" panose="02070309020205020404" pitchFamily="49" charset="0"/>
              </a:rPr>
              <a:t>AUC: 0.8522**</a:t>
            </a:r>
          </a:p>
          <a:p>
            <a:r>
              <a:rPr lang="en-US" b="0" i="0" dirty="0">
                <a:solidFill>
                  <a:srgbClr val="212121"/>
                </a:solidFill>
                <a:effectLst/>
                <a:latin typeface="Courier New" panose="02070309020205020404" pitchFamily="49" charset="0"/>
              </a:rPr>
              <a:t>Precision: 0.8462</a:t>
            </a:r>
            <a:endParaRPr lang="en-US" dirty="0"/>
          </a:p>
        </p:txBody>
      </p:sp>
    </p:spTree>
    <p:extLst>
      <p:ext uri="{BB962C8B-B14F-4D97-AF65-F5344CB8AC3E}">
        <p14:creationId xmlns:p14="http://schemas.microsoft.com/office/powerpoint/2010/main" val="2127938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E82512-85C5-4A49-B3D7-3935CB431870}"/>
              </a:ext>
            </a:extLst>
          </p:cNvPr>
          <p:cNvSpPr>
            <a:spLocks noGrp="1"/>
          </p:cNvSpPr>
          <p:nvPr>
            <p:ph type="title"/>
          </p:nvPr>
        </p:nvSpPr>
        <p:spPr>
          <a:xfrm>
            <a:off x="664633" y="484094"/>
            <a:ext cx="10075084" cy="1116106"/>
          </a:xfrm>
        </p:spPr>
        <p:txBody>
          <a:bodyPr anchor="t">
            <a:normAutofit/>
          </a:bodyPr>
          <a:lstStyle/>
          <a:p>
            <a:r>
              <a:rPr lang="en-US" dirty="0"/>
              <a:t>And now… </a:t>
            </a:r>
          </a:p>
        </p:txBody>
      </p:sp>
      <p:sp>
        <p:nvSpPr>
          <p:cNvPr id="8" name="Content Placeholder 7">
            <a:extLst>
              <a:ext uri="{FF2B5EF4-FFF2-40B4-BE49-F238E27FC236}">
                <a16:creationId xmlns:a16="http://schemas.microsoft.com/office/drawing/2014/main" id="{55892A1B-F8C7-524C-A166-F197A299A974}"/>
              </a:ext>
            </a:extLst>
          </p:cNvPr>
          <p:cNvSpPr>
            <a:spLocks noGrp="1"/>
          </p:cNvSpPr>
          <p:nvPr>
            <p:ph sz="half" idx="1"/>
          </p:nvPr>
        </p:nvSpPr>
        <p:spPr>
          <a:xfrm>
            <a:off x="664691" y="1985963"/>
            <a:ext cx="4876800" cy="4140200"/>
          </a:xfrm>
        </p:spPr>
        <p:txBody>
          <a:bodyPr>
            <a:normAutofit/>
          </a:bodyPr>
          <a:lstStyle/>
          <a:p>
            <a:r>
              <a:rPr lang="en-US" sz="2000" dirty="0"/>
              <a:t>Decision Boundaries </a:t>
            </a:r>
          </a:p>
          <a:p>
            <a:pPr lvl="1"/>
            <a:r>
              <a:rPr lang="en-US" sz="2000" dirty="0"/>
              <a:t>Logistic vs. Decision Tree</a:t>
            </a:r>
          </a:p>
          <a:p>
            <a:r>
              <a:rPr lang="en-US" sz="2000" dirty="0"/>
              <a:t>Ensemble-</a:t>
            </a:r>
            <a:r>
              <a:rPr lang="en-US" sz="2000" dirty="0" err="1"/>
              <a:t>ing</a:t>
            </a:r>
            <a:r>
              <a:rPr lang="en-US" sz="2000" dirty="0"/>
              <a:t>  </a:t>
            </a:r>
          </a:p>
          <a:p>
            <a:pPr lvl="1"/>
            <a:r>
              <a:rPr lang="en-US" sz="2000" dirty="0"/>
              <a:t>Voting vs. Averaging </a:t>
            </a:r>
          </a:p>
          <a:p>
            <a:r>
              <a:rPr lang="en-US" sz="2000" dirty="0"/>
              <a:t>Random Forest </a:t>
            </a:r>
          </a:p>
          <a:p>
            <a:r>
              <a:rPr lang="en-US" sz="2000" dirty="0"/>
              <a:t>Area under the Curve </a:t>
            </a:r>
          </a:p>
          <a:p>
            <a:pPr lvl="1"/>
            <a:r>
              <a:rPr lang="en-US" sz="2000" dirty="0"/>
              <a:t>Operating Ranges </a:t>
            </a:r>
          </a:p>
        </p:txBody>
      </p:sp>
      <p:pic>
        <p:nvPicPr>
          <p:cNvPr id="9" name="Picture Placeholder 12">
            <a:extLst>
              <a:ext uri="{FF2B5EF4-FFF2-40B4-BE49-F238E27FC236}">
                <a16:creationId xmlns:a16="http://schemas.microsoft.com/office/drawing/2014/main" id="{2D53F9E5-2A78-FC49-96D2-E2995A06D1ED}"/>
              </a:ext>
            </a:extLst>
          </p:cNvPr>
          <p:cNvPicPr>
            <a:picLocks noChangeAspect="1"/>
          </p:cNvPicPr>
          <p:nvPr/>
        </p:nvPicPr>
        <p:blipFill>
          <a:blip r:embed="rId2" cstate="hqprint">
            <a:extLst>
              <a:ext uri="{28A0092B-C50C-407E-A947-70E740481C1C}">
                <a14:useLocalDpi xmlns:a14="http://schemas.microsoft.com/office/drawing/2010/main"/>
              </a:ext>
            </a:extLst>
          </a:blip>
          <a:srcRect t="8093" b="8093"/>
          <a:stretch>
            <a:fillRect/>
          </a:stretch>
        </p:blipFill>
        <p:spPr>
          <a:xfrm>
            <a:off x="5866504" y="2244194"/>
            <a:ext cx="4876800" cy="3623738"/>
          </a:xfrm>
          <a:prstGeom prst="rect">
            <a:avLst/>
          </a:prstGeom>
          <a:noFill/>
        </p:spPr>
      </p:pic>
      <p:sp>
        <p:nvSpPr>
          <p:cNvPr id="4" name="Slide Number Placeholder 3">
            <a:extLst>
              <a:ext uri="{FF2B5EF4-FFF2-40B4-BE49-F238E27FC236}">
                <a16:creationId xmlns:a16="http://schemas.microsoft.com/office/drawing/2014/main" id="{A0303AD9-4756-3945-81FC-46492B109F61}"/>
              </a:ext>
            </a:extLst>
          </p:cNvPr>
          <p:cNvSpPr>
            <a:spLocks noGrp="1"/>
          </p:cNvSpPr>
          <p:nvPr>
            <p:ph type="sldNum" sz="quarter" idx="12"/>
          </p:nvPr>
        </p:nvSpPr>
        <p:spPr>
          <a:xfrm>
            <a:off x="11074400" y="242235"/>
            <a:ext cx="738717" cy="365125"/>
          </a:xfrm>
        </p:spPr>
        <p:txBody>
          <a:bodyPr anchor="ctr">
            <a:normAutofit/>
          </a:bodyPr>
          <a:lstStyle/>
          <a:p>
            <a:pPr>
              <a:spcAft>
                <a:spcPts val="600"/>
              </a:spcAft>
            </a:pPr>
            <a:fld id="{02456A73-CB17-B748-BD2A-A20F5DD59EC7}" type="slidenum">
              <a:rPr lang="en-US" smtClean="0">
                <a:solidFill>
                  <a:srgbClr val="FFFFFF"/>
                </a:solidFill>
              </a:rPr>
              <a:pPr>
                <a:spcAft>
                  <a:spcPts val="600"/>
                </a:spcAft>
              </a:pPr>
              <a:t>22</a:t>
            </a:fld>
            <a:endParaRPr lang="en-US">
              <a:solidFill>
                <a:srgbClr val="FFFFFF"/>
              </a:solidFill>
            </a:endParaRPr>
          </a:p>
        </p:txBody>
      </p:sp>
    </p:spTree>
    <p:extLst>
      <p:ext uri="{BB962C8B-B14F-4D97-AF65-F5344CB8AC3E}">
        <p14:creationId xmlns:p14="http://schemas.microsoft.com/office/powerpoint/2010/main" val="2674778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F7DA0-D96B-FB45-AFCB-B0F7AD544919}"/>
              </a:ext>
            </a:extLst>
          </p:cNvPr>
          <p:cNvSpPr>
            <a:spLocks noGrp="1"/>
          </p:cNvSpPr>
          <p:nvPr>
            <p:ph type="title"/>
          </p:nvPr>
        </p:nvSpPr>
        <p:spPr/>
        <p:txBody>
          <a:bodyPr/>
          <a:lstStyle/>
          <a:p>
            <a:r>
              <a:rPr lang="en-US" dirty="0"/>
              <a:t>Decision Boundary / Surface</a:t>
            </a:r>
          </a:p>
        </p:txBody>
      </p:sp>
      <p:sp>
        <p:nvSpPr>
          <p:cNvPr id="6" name="Content Placeholder 5">
            <a:extLst>
              <a:ext uri="{FF2B5EF4-FFF2-40B4-BE49-F238E27FC236}">
                <a16:creationId xmlns:a16="http://schemas.microsoft.com/office/drawing/2014/main" id="{9E113ACC-FEC5-E54D-A616-376B7EEF7E78}"/>
              </a:ext>
            </a:extLst>
          </p:cNvPr>
          <p:cNvSpPr>
            <a:spLocks noGrp="1"/>
          </p:cNvSpPr>
          <p:nvPr>
            <p:ph idx="1"/>
          </p:nvPr>
        </p:nvSpPr>
        <p:spPr/>
        <p:txBody>
          <a:bodyPr/>
          <a:lstStyle/>
          <a:p>
            <a:r>
              <a:rPr lang="en-US" dirty="0"/>
              <a:t>Diagnostic for creating for understanding the decisions made by a classification algorithm is the </a:t>
            </a:r>
            <a:r>
              <a:rPr lang="en-US" b="1" dirty="0"/>
              <a:t>decision surface</a:t>
            </a:r>
            <a:r>
              <a:rPr lang="en-US" dirty="0"/>
              <a:t>. This is a plot that shows how a fit machine learning algorithm predicts a coarse grid across the input feature space.</a:t>
            </a:r>
          </a:p>
          <a:p>
            <a:pPr lvl="1"/>
            <a:r>
              <a:rPr lang="en-US" dirty="0"/>
              <a:t>A decision surface plot is a powerful tool for understanding how a given model “</a:t>
            </a:r>
            <a:r>
              <a:rPr lang="en-US" i="1" dirty="0"/>
              <a:t>sees</a:t>
            </a:r>
            <a:r>
              <a:rPr lang="en-US" dirty="0"/>
              <a:t>” the prediction task and how it has decided to divide the input feature space by class label.</a:t>
            </a:r>
          </a:p>
        </p:txBody>
      </p:sp>
      <p:sp>
        <p:nvSpPr>
          <p:cNvPr id="5" name="Slide Number Placeholder 4">
            <a:extLst>
              <a:ext uri="{FF2B5EF4-FFF2-40B4-BE49-F238E27FC236}">
                <a16:creationId xmlns:a16="http://schemas.microsoft.com/office/drawing/2014/main" id="{0F82F139-4AF9-2947-B4C3-4439215A8CAF}"/>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23</a:t>
            </a:fld>
            <a:endParaRPr lang="en-US" dirty="0">
              <a:solidFill>
                <a:srgbClr val="FFFFFF"/>
              </a:solidFill>
              <a:latin typeface="Franklin Gothic Book"/>
            </a:endParaRPr>
          </a:p>
        </p:txBody>
      </p:sp>
      <p:pic>
        <p:nvPicPr>
          <p:cNvPr id="10" name="Picture 9" descr="Chart, scatter chart&#10;&#10;Description automatically generated">
            <a:extLst>
              <a:ext uri="{FF2B5EF4-FFF2-40B4-BE49-F238E27FC236}">
                <a16:creationId xmlns:a16="http://schemas.microsoft.com/office/drawing/2014/main" id="{5AB99576-FE30-9746-B83B-40511DC0D9F6}"/>
              </a:ext>
            </a:extLst>
          </p:cNvPr>
          <p:cNvPicPr>
            <a:picLocks noChangeAspect="1"/>
          </p:cNvPicPr>
          <p:nvPr/>
        </p:nvPicPr>
        <p:blipFill>
          <a:blip r:embed="rId2"/>
          <a:stretch>
            <a:fillRect/>
          </a:stretch>
        </p:blipFill>
        <p:spPr>
          <a:xfrm>
            <a:off x="6659634" y="3777520"/>
            <a:ext cx="4981800" cy="3080479"/>
          </a:xfrm>
          <a:prstGeom prst="rect">
            <a:avLst/>
          </a:prstGeom>
        </p:spPr>
      </p:pic>
    </p:spTree>
    <p:extLst>
      <p:ext uri="{BB962C8B-B14F-4D97-AF65-F5344CB8AC3E}">
        <p14:creationId xmlns:p14="http://schemas.microsoft.com/office/powerpoint/2010/main" val="3246150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ADA1461-68C3-5B99-2ED1-5F02D5BBF648}"/>
              </a:ext>
            </a:extLst>
          </p:cNvPr>
          <p:cNvPicPr>
            <a:picLocks noChangeAspect="1" noChangeArrowheads="1"/>
          </p:cNvPicPr>
          <p:nvPr/>
        </p:nvPicPr>
        <p:blipFill>
          <a:blip r:embed="rId2">
            <a:extLst>
              <a:ext uri="{28A0092B-C50C-407E-A947-70E740481C1C}">
                <a14:useLocalDpi xmlns:a14="http://schemas.microsoft.com/office/drawing/2010/main"/>
              </a:ext>
            </a:extLst>
          </a:blip>
          <a:stretch>
            <a:fillRect/>
          </a:stretch>
        </p:blipFill>
        <p:spPr bwMode="auto">
          <a:xfrm>
            <a:off x="483460" y="68263"/>
            <a:ext cx="10107479" cy="6721475"/>
          </a:xfrm>
          <a:prstGeom prst="rect">
            <a:avLst/>
          </a:prstGeom>
          <a:solidFill>
            <a:srgbClr val="FFFFFF"/>
          </a:solidFill>
        </p:spPr>
      </p:pic>
      <p:sp>
        <p:nvSpPr>
          <p:cNvPr id="5" name="Slide Number Placeholder 4" hidden="1">
            <a:extLst>
              <a:ext uri="{FF2B5EF4-FFF2-40B4-BE49-F238E27FC236}">
                <a16:creationId xmlns:a16="http://schemas.microsoft.com/office/drawing/2014/main" id="{83B501D5-26F6-3454-A5BD-4BC48AC13C8C}"/>
              </a:ext>
            </a:extLst>
          </p:cNvPr>
          <p:cNvSpPr>
            <a:spLocks noGrp="1"/>
          </p:cNvSpPr>
          <p:nvPr>
            <p:ph type="sldNum" sz="quarter" idx="12"/>
          </p:nvPr>
        </p:nvSpPr>
        <p:spPr/>
        <p:txBody>
          <a:bodyPr/>
          <a:lstStyle/>
          <a:p>
            <a:pPr>
              <a:spcAft>
                <a:spcPts val="600"/>
              </a:spcAft>
            </a:pPr>
            <a:fld id="{02456A73-CB17-B748-BD2A-A20F5DD59EC7}" type="slidenum">
              <a:rPr lang="en-US" smtClean="0">
                <a:solidFill>
                  <a:srgbClr val="FFFFFF"/>
                </a:solidFill>
                <a:latin typeface="Franklin Gothic Book"/>
              </a:rPr>
              <a:pPr>
                <a:spcAft>
                  <a:spcPts val="600"/>
                </a:spcAft>
              </a:pPr>
              <a:t>24</a:t>
            </a:fld>
            <a:endParaRPr lang="en-US">
              <a:solidFill>
                <a:srgbClr val="FFFFFF"/>
              </a:solidFill>
              <a:latin typeface="Franklin Gothic Book"/>
            </a:endParaRPr>
          </a:p>
        </p:txBody>
      </p:sp>
    </p:spTree>
    <p:extLst>
      <p:ext uri="{BB962C8B-B14F-4D97-AF65-F5344CB8AC3E}">
        <p14:creationId xmlns:p14="http://schemas.microsoft.com/office/powerpoint/2010/main" val="3064543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9056D80-5FA6-4640-A4C7-B0BC351A28A3}"/>
              </a:ext>
            </a:extLst>
          </p:cNvPr>
          <p:cNvSpPr>
            <a:spLocks noGrp="1"/>
          </p:cNvSpPr>
          <p:nvPr>
            <p:ph type="title"/>
          </p:nvPr>
        </p:nvSpPr>
        <p:spPr/>
        <p:txBody>
          <a:bodyPr/>
          <a:lstStyle/>
          <a:p>
            <a:r>
              <a:rPr lang="en-US" dirty="0"/>
              <a:t>Power of Crowds </a:t>
            </a:r>
          </a:p>
        </p:txBody>
      </p:sp>
      <p:sp>
        <p:nvSpPr>
          <p:cNvPr id="4" name="Slide Number Placeholder 3">
            <a:extLst>
              <a:ext uri="{FF2B5EF4-FFF2-40B4-BE49-F238E27FC236}">
                <a16:creationId xmlns:a16="http://schemas.microsoft.com/office/drawing/2014/main" id="{DD484EDE-CA0C-DB4A-A1D3-9DE58AA42BFE}"/>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25</a:t>
            </a:fld>
            <a:endParaRPr lang="en-US" dirty="0">
              <a:solidFill>
                <a:srgbClr val="FFFFFF"/>
              </a:solidFill>
              <a:latin typeface="Franklin Gothic Book"/>
            </a:endParaRPr>
          </a:p>
        </p:txBody>
      </p:sp>
      <p:pic>
        <p:nvPicPr>
          <p:cNvPr id="9" name="Content Placeholder 8">
            <a:extLst>
              <a:ext uri="{FF2B5EF4-FFF2-40B4-BE49-F238E27FC236}">
                <a16:creationId xmlns:a16="http://schemas.microsoft.com/office/drawing/2014/main" id="{E908429E-8007-6E4A-B3EC-180FC6B731BD}"/>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879999" y="1871918"/>
            <a:ext cx="6460338" cy="4144963"/>
          </a:xfrm>
          <a:prstGeom prst="rect">
            <a:avLst/>
          </a:prstGeom>
        </p:spPr>
      </p:pic>
      <p:sp>
        <p:nvSpPr>
          <p:cNvPr id="11" name="TextBox 10">
            <a:extLst>
              <a:ext uri="{FF2B5EF4-FFF2-40B4-BE49-F238E27FC236}">
                <a16:creationId xmlns:a16="http://schemas.microsoft.com/office/drawing/2014/main" id="{0C9E40B3-653F-6C4A-9FAC-508715D834A7}"/>
              </a:ext>
            </a:extLst>
          </p:cNvPr>
          <p:cNvSpPr txBox="1"/>
          <p:nvPr/>
        </p:nvSpPr>
        <p:spPr>
          <a:xfrm>
            <a:off x="7458671" y="2420470"/>
            <a:ext cx="4536105" cy="2308324"/>
          </a:xfrm>
          <a:prstGeom prst="rect">
            <a:avLst/>
          </a:prstGeom>
          <a:noFill/>
        </p:spPr>
        <p:txBody>
          <a:bodyPr wrap="square" rtlCol="0">
            <a:spAutoFit/>
          </a:bodyPr>
          <a:lstStyle/>
          <a:p>
            <a:r>
              <a:rPr lang="en-US" dirty="0"/>
              <a:t>In the book: </a:t>
            </a:r>
            <a:r>
              <a:rPr lang="en-US" i="1" dirty="0"/>
              <a:t>The Wisdom of Crowds: Why the Many Are Smarter Than the Few and How Collective Wisdom Shapes Business, Economies, Societies and Nations,</a:t>
            </a:r>
            <a:r>
              <a:rPr lang="en-US" b="1" i="1" dirty="0"/>
              <a:t> </a:t>
            </a:r>
            <a:r>
              <a:rPr lang="en-US" b="1" dirty="0" err="1"/>
              <a:t>Surowiecki</a:t>
            </a:r>
            <a:r>
              <a:rPr lang="en-US" b="1" dirty="0"/>
              <a:t> </a:t>
            </a:r>
            <a:r>
              <a:rPr lang="en-US" dirty="0"/>
              <a:t>argues that the </a:t>
            </a:r>
            <a:r>
              <a:rPr lang="en-US" b="1" u="sng" dirty="0"/>
              <a:t>aggregation of information </a:t>
            </a:r>
            <a:r>
              <a:rPr lang="en-US" dirty="0"/>
              <a:t>results in </a:t>
            </a:r>
            <a:r>
              <a:rPr lang="en-US" b="1" u="sng" dirty="0"/>
              <a:t>decisions that are </a:t>
            </a:r>
            <a:r>
              <a:rPr lang="en-US" dirty="0"/>
              <a:t>often </a:t>
            </a:r>
            <a:r>
              <a:rPr lang="en-US" b="1" dirty="0"/>
              <a:t>better</a:t>
            </a:r>
            <a:r>
              <a:rPr lang="en-US" dirty="0"/>
              <a:t> than could have been made by </a:t>
            </a:r>
            <a:r>
              <a:rPr lang="en-US" b="1" u="sng" dirty="0"/>
              <a:t>any single member </a:t>
            </a:r>
            <a:r>
              <a:rPr lang="en-US" dirty="0"/>
              <a:t>of the group. </a:t>
            </a:r>
          </a:p>
        </p:txBody>
      </p:sp>
    </p:spTree>
    <p:extLst>
      <p:ext uri="{BB962C8B-B14F-4D97-AF65-F5344CB8AC3E}">
        <p14:creationId xmlns:p14="http://schemas.microsoft.com/office/powerpoint/2010/main" val="1416443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06BFD-6A6B-5941-83D9-96218E87F865}"/>
              </a:ext>
            </a:extLst>
          </p:cNvPr>
          <p:cNvSpPr>
            <a:spLocks noGrp="1"/>
          </p:cNvSpPr>
          <p:nvPr>
            <p:ph type="title"/>
          </p:nvPr>
        </p:nvSpPr>
        <p:spPr/>
        <p:txBody>
          <a:bodyPr/>
          <a:lstStyle/>
          <a:p>
            <a:r>
              <a:rPr lang="en-US" dirty="0"/>
              <a:t>Combining Predictions</a:t>
            </a:r>
          </a:p>
        </p:txBody>
      </p:sp>
      <p:sp>
        <p:nvSpPr>
          <p:cNvPr id="4" name="Slide Number Placeholder 3">
            <a:extLst>
              <a:ext uri="{FF2B5EF4-FFF2-40B4-BE49-F238E27FC236}">
                <a16:creationId xmlns:a16="http://schemas.microsoft.com/office/drawing/2014/main" id="{F8A7B83B-DC11-2849-B61E-877A9B3C920A}"/>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26</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72DEC8F8-0A73-F44D-9019-2B06488FDB8A}"/>
              </a:ext>
            </a:extLst>
          </p:cNvPr>
          <p:cNvSpPr>
            <a:spLocks noGrp="1"/>
          </p:cNvSpPr>
          <p:nvPr>
            <p:ph type="body" sz="half" idx="2"/>
          </p:nvPr>
        </p:nvSpPr>
        <p:spPr/>
        <p:txBody>
          <a:bodyPr/>
          <a:lstStyle/>
          <a:p>
            <a:r>
              <a:rPr lang="en-US" dirty="0"/>
              <a:t>Voting</a:t>
            </a:r>
          </a:p>
        </p:txBody>
      </p:sp>
      <p:sp>
        <p:nvSpPr>
          <p:cNvPr id="6" name="Rectangle 5">
            <a:extLst>
              <a:ext uri="{FF2B5EF4-FFF2-40B4-BE49-F238E27FC236}">
                <a16:creationId xmlns:a16="http://schemas.microsoft.com/office/drawing/2014/main" id="{0F6AAA51-38B8-E044-A24D-9D5D334C688C}"/>
              </a:ext>
            </a:extLst>
          </p:cNvPr>
          <p:cNvSpPr/>
          <p:nvPr/>
        </p:nvSpPr>
        <p:spPr>
          <a:xfrm>
            <a:off x="664633" y="1777213"/>
            <a:ext cx="10652941" cy="2554545"/>
          </a:xfrm>
          <a:prstGeom prst="rect">
            <a:avLst/>
          </a:prstGeom>
          <a:solidFill>
            <a:schemeClr val="bg2">
              <a:lumMod val="90000"/>
            </a:schemeClr>
          </a:solidFill>
        </p:spPr>
        <p:txBody>
          <a:bodyPr wrap="square">
            <a:spAutoFit/>
          </a:bodyPr>
          <a:lstStyle/>
          <a:p>
            <a:r>
              <a:rPr lang="en-US" sz="1600" b="0" dirty="0">
                <a:solidFill>
                  <a:srgbClr val="008000"/>
                </a:solidFill>
                <a:effectLst/>
                <a:latin typeface="Courier New" panose="02070309020205020404" pitchFamily="49" charset="0"/>
              </a:rPr>
              <a:t># Initialize individual models</a:t>
            </a:r>
            <a:endParaRPr lang="en-US" sz="1600" b="0" dirty="0">
              <a:solidFill>
                <a:srgbClr val="000000"/>
              </a:solidFill>
              <a:effectLst/>
              <a:latin typeface="Courier New" panose="02070309020205020404" pitchFamily="49" charset="0"/>
            </a:endParaRPr>
          </a:p>
          <a:p>
            <a:r>
              <a:rPr lang="en-US" sz="1600" b="0" dirty="0">
                <a:solidFill>
                  <a:srgbClr val="000000"/>
                </a:solidFill>
                <a:effectLst/>
                <a:latin typeface="Courier New" panose="02070309020205020404" pitchFamily="49" charset="0"/>
              </a:rPr>
              <a:t>dt1 = </a:t>
            </a:r>
            <a:r>
              <a:rPr lang="en-US" sz="1600" b="0" dirty="0" err="1">
                <a:solidFill>
                  <a:srgbClr val="000000"/>
                </a:solidFill>
                <a:effectLst/>
                <a:latin typeface="Courier New" panose="02070309020205020404" pitchFamily="49" charset="0"/>
              </a:rPr>
              <a:t>DecisionTreeClassifier</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max_depth</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5</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random_state</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42</a:t>
            </a:r>
            <a:r>
              <a:rPr lang="en-US" sz="1600" b="0" dirty="0">
                <a:solidFill>
                  <a:srgbClr val="000000"/>
                </a:solidFill>
                <a:effectLst/>
                <a:latin typeface="Courier New" panose="02070309020205020404" pitchFamily="49" charset="0"/>
              </a:rPr>
              <a:t>)</a:t>
            </a:r>
          </a:p>
          <a:p>
            <a:r>
              <a:rPr lang="en-US" sz="1600" b="0" dirty="0">
                <a:solidFill>
                  <a:srgbClr val="000000"/>
                </a:solidFill>
                <a:effectLst/>
                <a:latin typeface="Courier New" panose="02070309020205020404" pitchFamily="49" charset="0"/>
              </a:rPr>
              <a:t>dt2 = </a:t>
            </a:r>
            <a:r>
              <a:rPr lang="en-US" sz="1600" b="0" dirty="0" err="1">
                <a:solidFill>
                  <a:srgbClr val="000000"/>
                </a:solidFill>
                <a:effectLst/>
                <a:latin typeface="Courier New" panose="02070309020205020404" pitchFamily="49" charset="0"/>
              </a:rPr>
              <a:t>DecisionTreeClassifier</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max_depth</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10</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min_samples_leaf</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random_state</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42</a:t>
            </a:r>
            <a:r>
              <a:rPr lang="en-US" sz="1600" b="0" dirty="0">
                <a:solidFill>
                  <a:srgbClr val="000000"/>
                </a:solidFill>
                <a:effectLst/>
                <a:latin typeface="Courier New" panose="02070309020205020404" pitchFamily="49" charset="0"/>
              </a:rPr>
              <a:t>)</a:t>
            </a:r>
          </a:p>
          <a:p>
            <a:r>
              <a:rPr lang="en-US" sz="1600" b="0" dirty="0" err="1">
                <a:solidFill>
                  <a:srgbClr val="000000"/>
                </a:solidFill>
                <a:effectLst/>
                <a:latin typeface="Courier New" panose="02070309020205020404" pitchFamily="49" charset="0"/>
              </a:rPr>
              <a:t>lr</a:t>
            </a:r>
            <a:r>
              <a:rPr lang="en-US" sz="1600" b="0" dirty="0">
                <a:solidFill>
                  <a:srgbClr val="000000"/>
                </a:solidFill>
                <a:effectLst/>
                <a:latin typeface="Courier New" panose="02070309020205020404" pitchFamily="49" charset="0"/>
              </a:rPr>
              <a:t> = </a:t>
            </a:r>
            <a:r>
              <a:rPr lang="en-US" sz="1600" b="0" dirty="0" err="1">
                <a:solidFill>
                  <a:srgbClr val="000000"/>
                </a:solidFill>
                <a:effectLst/>
                <a:latin typeface="Courier New" panose="02070309020205020404" pitchFamily="49" charset="0"/>
              </a:rPr>
              <a:t>LogisticRegression</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random_state</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42</a:t>
            </a:r>
            <a:r>
              <a:rPr lang="en-US" sz="1600" b="0" dirty="0">
                <a:solidFill>
                  <a:srgbClr val="000000"/>
                </a:solidFill>
                <a:effectLst/>
                <a:latin typeface="Courier New" panose="02070309020205020404" pitchFamily="49" charset="0"/>
              </a:rPr>
              <a:t>)</a:t>
            </a:r>
          </a:p>
          <a:p>
            <a:br>
              <a:rPr lang="en-US" sz="1600" b="0" dirty="0">
                <a:solidFill>
                  <a:srgbClr val="000000"/>
                </a:solidFill>
                <a:effectLst/>
                <a:latin typeface="Courier New" panose="02070309020205020404" pitchFamily="49" charset="0"/>
              </a:rPr>
            </a:br>
            <a:r>
              <a:rPr lang="en-US" sz="1600" b="0" dirty="0">
                <a:solidFill>
                  <a:srgbClr val="008000"/>
                </a:solidFill>
                <a:effectLst/>
                <a:latin typeface="Courier New" panose="02070309020205020404" pitchFamily="49" charset="0"/>
              </a:rPr>
              <a:t># Create the voting ensemble model</a:t>
            </a:r>
            <a:endParaRPr lang="en-US" sz="1600" b="0" dirty="0">
              <a:solidFill>
                <a:srgbClr val="000000"/>
              </a:solidFill>
              <a:effectLst/>
              <a:latin typeface="Courier New" panose="02070309020205020404" pitchFamily="49" charset="0"/>
            </a:endParaRPr>
          </a:p>
          <a:p>
            <a:r>
              <a:rPr lang="en-US" sz="1600" b="0" dirty="0" err="1">
                <a:solidFill>
                  <a:srgbClr val="000000"/>
                </a:solidFill>
                <a:effectLst/>
                <a:latin typeface="Courier New" panose="02070309020205020404" pitchFamily="49" charset="0"/>
              </a:rPr>
              <a:t>voting_clf</a:t>
            </a:r>
            <a:r>
              <a:rPr lang="en-US" sz="1600" b="0" dirty="0">
                <a:solidFill>
                  <a:srgbClr val="000000"/>
                </a:solidFill>
                <a:effectLst/>
                <a:latin typeface="Courier New" panose="02070309020205020404" pitchFamily="49" charset="0"/>
              </a:rPr>
              <a:t> = </a:t>
            </a:r>
            <a:r>
              <a:rPr lang="en-US" sz="1600" b="1" dirty="0" err="1">
                <a:solidFill>
                  <a:srgbClr val="000000"/>
                </a:solidFill>
                <a:effectLst/>
                <a:latin typeface="Courier New" panose="02070309020205020404" pitchFamily="49" charset="0"/>
              </a:rPr>
              <a:t>VotingClassifier</a:t>
            </a:r>
            <a:r>
              <a:rPr lang="en-US" sz="1600" b="0" dirty="0">
                <a:solidFill>
                  <a:srgbClr val="000000"/>
                </a:solidFill>
                <a:effectLst/>
                <a:latin typeface="Courier New" panose="02070309020205020404" pitchFamily="49" charset="0"/>
              </a:rPr>
              <a:t>(</a:t>
            </a:r>
          </a:p>
          <a:p>
            <a:r>
              <a:rPr lang="en-US" sz="1600" b="0" dirty="0">
                <a:solidFill>
                  <a:srgbClr val="000000"/>
                </a:solidFill>
                <a:effectLst/>
                <a:latin typeface="Courier New" panose="02070309020205020404" pitchFamily="49" charset="0"/>
              </a:rPr>
              <a:t>estimators=[(</a:t>
            </a:r>
            <a:r>
              <a:rPr lang="en-US" sz="1600" b="0" dirty="0">
                <a:solidFill>
                  <a:srgbClr val="A31515"/>
                </a:solidFill>
                <a:effectLst/>
                <a:latin typeface="Courier New" panose="02070309020205020404" pitchFamily="49" charset="0"/>
              </a:rPr>
              <a:t>'dt1'</a:t>
            </a:r>
            <a:r>
              <a:rPr lang="en-US" sz="1600" b="0" dirty="0">
                <a:solidFill>
                  <a:srgbClr val="000000"/>
                </a:solidFill>
                <a:effectLst/>
                <a:latin typeface="Courier New" panose="02070309020205020404" pitchFamily="49" charset="0"/>
              </a:rPr>
              <a:t>, dt1), (</a:t>
            </a:r>
            <a:r>
              <a:rPr lang="en-US" sz="1600" b="0" dirty="0">
                <a:solidFill>
                  <a:srgbClr val="A31515"/>
                </a:solidFill>
                <a:effectLst/>
                <a:latin typeface="Courier New" panose="02070309020205020404" pitchFamily="49" charset="0"/>
              </a:rPr>
              <a:t>'dt2'</a:t>
            </a:r>
            <a:r>
              <a:rPr lang="en-US" sz="1600" b="0" dirty="0">
                <a:solidFill>
                  <a:srgbClr val="000000"/>
                </a:solidFill>
                <a:effectLst/>
                <a:latin typeface="Courier New" panose="02070309020205020404" pitchFamily="49" charset="0"/>
              </a:rPr>
              <a:t>, dt2), (</a:t>
            </a:r>
            <a:r>
              <a:rPr lang="en-US" sz="1600" b="0" dirty="0">
                <a:solidFill>
                  <a:srgbClr val="A31515"/>
                </a:solidFill>
                <a:effectLst/>
                <a:latin typeface="Courier New" panose="02070309020205020404" pitchFamily="49" charset="0"/>
              </a:rPr>
              <a:t>'</a:t>
            </a:r>
            <a:r>
              <a:rPr lang="en-US" sz="1600" b="0" dirty="0" err="1">
                <a:solidFill>
                  <a:srgbClr val="A31515"/>
                </a:solidFill>
                <a:effectLst/>
                <a:latin typeface="Courier New" panose="02070309020205020404" pitchFamily="49" charset="0"/>
              </a:rPr>
              <a:t>lr</a:t>
            </a:r>
            <a:r>
              <a:rPr lang="en-US" sz="1600" b="0" dirty="0">
                <a:solidFill>
                  <a:srgbClr val="A31515"/>
                </a:solidFill>
                <a:effectLst/>
                <a:latin typeface="Courier New" panose="02070309020205020404" pitchFamily="49" charset="0"/>
              </a:rPr>
              <a:t>'</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lr</a:t>
            </a:r>
            <a:r>
              <a:rPr lang="en-US" sz="1600" b="0" dirty="0">
                <a:solidFill>
                  <a:srgbClr val="000000"/>
                </a:solidFill>
                <a:effectLst/>
                <a:latin typeface="Courier New" panose="02070309020205020404" pitchFamily="49" charset="0"/>
              </a:rPr>
              <a:t>)],</a:t>
            </a:r>
          </a:p>
          <a:p>
            <a:r>
              <a:rPr lang="en-US" sz="1600" b="0" dirty="0">
                <a:solidFill>
                  <a:srgbClr val="000000"/>
                </a:solidFill>
                <a:effectLst/>
                <a:latin typeface="Courier New" panose="02070309020205020404" pitchFamily="49" charset="0"/>
              </a:rPr>
              <a:t>voting=</a:t>
            </a:r>
            <a:r>
              <a:rPr lang="en-US" sz="1600" b="0" dirty="0">
                <a:solidFill>
                  <a:srgbClr val="A31515"/>
                </a:solidFill>
                <a:effectLst/>
                <a:latin typeface="Courier New" panose="02070309020205020404" pitchFamily="49" charset="0"/>
              </a:rPr>
              <a:t>'hard’</a:t>
            </a:r>
          </a:p>
          <a:p>
            <a:r>
              <a:rPr lang="en-US" sz="1600" b="0" dirty="0">
                <a:solidFill>
                  <a:srgbClr val="000000"/>
                </a:solidFill>
                <a:effectLst/>
                <a:latin typeface="Courier New" panose="02070309020205020404" pitchFamily="49" charset="0"/>
              </a:rPr>
              <a:t>)</a:t>
            </a:r>
          </a:p>
        </p:txBody>
      </p:sp>
      <p:sp>
        <p:nvSpPr>
          <p:cNvPr id="8" name="TextBox 7">
            <a:extLst>
              <a:ext uri="{FF2B5EF4-FFF2-40B4-BE49-F238E27FC236}">
                <a16:creationId xmlns:a16="http://schemas.microsoft.com/office/drawing/2014/main" id="{23BF0C08-10BB-33A9-203B-28F68E7AEDCA}"/>
              </a:ext>
            </a:extLst>
          </p:cNvPr>
          <p:cNvSpPr txBox="1"/>
          <p:nvPr/>
        </p:nvSpPr>
        <p:spPr>
          <a:xfrm>
            <a:off x="664633" y="4506575"/>
            <a:ext cx="6099858" cy="1323439"/>
          </a:xfrm>
          <a:prstGeom prst="rect">
            <a:avLst/>
          </a:prstGeom>
          <a:solidFill>
            <a:schemeClr val="bg2"/>
          </a:solidFill>
        </p:spPr>
        <p:txBody>
          <a:bodyPr wrap="square">
            <a:spAutoFit/>
          </a:bodyPr>
          <a:lstStyle/>
          <a:p>
            <a:r>
              <a:rPr lang="en-US" sz="2000" i="0" dirty="0">
                <a:solidFill>
                  <a:srgbClr val="212121"/>
                </a:solidFill>
                <a:effectLst/>
                <a:latin typeface="Courier New" panose="02070309020205020404" pitchFamily="49" charset="0"/>
              </a:rPr>
              <a:t>Decision Tree 1 Accuracy: 0.875 </a:t>
            </a:r>
          </a:p>
          <a:p>
            <a:r>
              <a:rPr lang="en-US" sz="2000" i="0" dirty="0">
                <a:solidFill>
                  <a:srgbClr val="212121"/>
                </a:solidFill>
                <a:effectLst/>
                <a:latin typeface="Courier New" panose="02070309020205020404" pitchFamily="49" charset="0"/>
              </a:rPr>
              <a:t>Decision Tree 2 Accuracy: 0.845 </a:t>
            </a:r>
          </a:p>
          <a:p>
            <a:r>
              <a:rPr lang="en-US" sz="2000" i="0" dirty="0">
                <a:solidFill>
                  <a:srgbClr val="212121"/>
                </a:solidFill>
                <a:effectLst/>
                <a:latin typeface="Courier New" panose="02070309020205020404" pitchFamily="49" charset="0"/>
              </a:rPr>
              <a:t>Logistic Regression Accuracy: 0.855</a:t>
            </a:r>
          </a:p>
          <a:p>
            <a:r>
              <a:rPr lang="en-US" sz="2000" b="1" i="0" dirty="0">
                <a:solidFill>
                  <a:srgbClr val="212121"/>
                </a:solidFill>
                <a:effectLst/>
                <a:latin typeface="Courier New" panose="02070309020205020404" pitchFamily="49" charset="0"/>
              </a:rPr>
              <a:t>Ensemble Model Accuracy: 0.880</a:t>
            </a:r>
            <a:endParaRPr lang="en-US" sz="2000" b="1" dirty="0"/>
          </a:p>
        </p:txBody>
      </p:sp>
      <p:pic>
        <p:nvPicPr>
          <p:cNvPr id="2050" name="Picture 2" descr="Ideal Dental | The Fifth Dentist">
            <a:extLst>
              <a:ext uri="{FF2B5EF4-FFF2-40B4-BE49-F238E27FC236}">
                <a16:creationId xmlns:a16="http://schemas.microsoft.com/office/drawing/2014/main" id="{A046153D-BC2D-27D7-4100-C1E2B2A9451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253574" y="3429000"/>
            <a:ext cx="4064000" cy="27114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2709099-2011-4108-8DC5-6DFEB8C9B628}"/>
              </a:ext>
            </a:extLst>
          </p:cNvPr>
          <p:cNvSpPr txBox="1"/>
          <p:nvPr/>
        </p:nvSpPr>
        <p:spPr>
          <a:xfrm>
            <a:off x="8154649" y="5501611"/>
            <a:ext cx="2585068" cy="369332"/>
          </a:xfrm>
          <a:prstGeom prst="rect">
            <a:avLst/>
          </a:prstGeom>
          <a:noFill/>
        </p:spPr>
        <p:txBody>
          <a:bodyPr wrap="square" rtlCol="0">
            <a:spAutoFit/>
          </a:bodyPr>
          <a:lstStyle/>
          <a:p>
            <a:r>
              <a:rPr lang="en-US" dirty="0">
                <a:solidFill>
                  <a:schemeClr val="bg2"/>
                </a:solidFill>
              </a:rPr>
              <a:t>2 out of 3 dentist agree </a:t>
            </a:r>
          </a:p>
        </p:txBody>
      </p:sp>
    </p:spTree>
    <p:extLst>
      <p:ext uri="{BB962C8B-B14F-4D97-AF65-F5344CB8AC3E}">
        <p14:creationId xmlns:p14="http://schemas.microsoft.com/office/powerpoint/2010/main" val="1149298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06BFD-6A6B-5941-83D9-96218E87F865}"/>
              </a:ext>
            </a:extLst>
          </p:cNvPr>
          <p:cNvSpPr>
            <a:spLocks noGrp="1"/>
          </p:cNvSpPr>
          <p:nvPr>
            <p:ph type="title"/>
          </p:nvPr>
        </p:nvSpPr>
        <p:spPr/>
        <p:txBody>
          <a:bodyPr/>
          <a:lstStyle/>
          <a:p>
            <a:r>
              <a:rPr lang="en-US" dirty="0"/>
              <a:t>Combining Predictions</a:t>
            </a:r>
          </a:p>
        </p:txBody>
      </p:sp>
      <p:sp>
        <p:nvSpPr>
          <p:cNvPr id="4" name="Slide Number Placeholder 3">
            <a:extLst>
              <a:ext uri="{FF2B5EF4-FFF2-40B4-BE49-F238E27FC236}">
                <a16:creationId xmlns:a16="http://schemas.microsoft.com/office/drawing/2014/main" id="{F8A7B83B-DC11-2849-B61E-877A9B3C920A}"/>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27</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72DEC8F8-0A73-F44D-9019-2B06488FDB8A}"/>
              </a:ext>
            </a:extLst>
          </p:cNvPr>
          <p:cNvSpPr>
            <a:spLocks noGrp="1"/>
          </p:cNvSpPr>
          <p:nvPr>
            <p:ph type="body" sz="half" idx="2"/>
          </p:nvPr>
        </p:nvSpPr>
        <p:spPr/>
        <p:txBody>
          <a:bodyPr/>
          <a:lstStyle/>
          <a:p>
            <a:r>
              <a:rPr lang="en-US" dirty="0"/>
              <a:t>Averaging</a:t>
            </a:r>
          </a:p>
        </p:txBody>
      </p:sp>
      <p:sp>
        <p:nvSpPr>
          <p:cNvPr id="6" name="Rectangle 5">
            <a:extLst>
              <a:ext uri="{FF2B5EF4-FFF2-40B4-BE49-F238E27FC236}">
                <a16:creationId xmlns:a16="http://schemas.microsoft.com/office/drawing/2014/main" id="{0F6AAA51-38B8-E044-A24D-9D5D334C688C}"/>
              </a:ext>
            </a:extLst>
          </p:cNvPr>
          <p:cNvSpPr/>
          <p:nvPr/>
        </p:nvSpPr>
        <p:spPr>
          <a:xfrm>
            <a:off x="664633" y="1777213"/>
            <a:ext cx="10652941" cy="3416320"/>
          </a:xfrm>
          <a:prstGeom prst="rect">
            <a:avLst/>
          </a:prstGeom>
          <a:solidFill>
            <a:schemeClr val="bg2">
              <a:lumMod val="90000"/>
            </a:schemeClr>
          </a:solidFill>
        </p:spPr>
        <p:txBody>
          <a:bodyPr wrap="square">
            <a:spAutoFit/>
          </a:bodyPr>
          <a:lstStyle/>
          <a:p>
            <a:r>
              <a:rPr lang="en-US" sz="1600" b="0" dirty="0">
                <a:solidFill>
                  <a:srgbClr val="008000"/>
                </a:solidFill>
                <a:effectLst/>
                <a:latin typeface="Courier New" panose="02070309020205020404" pitchFamily="49" charset="0"/>
              </a:rPr>
              <a:t># Initialize and train the individual models</a:t>
            </a:r>
            <a:endParaRPr lang="en-US" sz="1600" b="0" dirty="0">
              <a:solidFill>
                <a:srgbClr val="000000"/>
              </a:solidFill>
              <a:effectLst/>
              <a:latin typeface="Courier New" panose="02070309020205020404" pitchFamily="49" charset="0"/>
            </a:endParaRPr>
          </a:p>
          <a:p>
            <a:r>
              <a:rPr lang="en-US" sz="1600" b="0" dirty="0">
                <a:solidFill>
                  <a:srgbClr val="000000"/>
                </a:solidFill>
                <a:effectLst/>
                <a:latin typeface="Courier New" panose="02070309020205020404" pitchFamily="49" charset="0"/>
              </a:rPr>
              <a:t>dt1 = </a:t>
            </a:r>
            <a:r>
              <a:rPr lang="en-US" sz="1600" b="0" dirty="0" err="1">
                <a:solidFill>
                  <a:srgbClr val="000000"/>
                </a:solidFill>
                <a:effectLst/>
                <a:latin typeface="Courier New" panose="02070309020205020404" pitchFamily="49" charset="0"/>
              </a:rPr>
              <a:t>DecisionTreeClassifier</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max_depth</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5</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random_state</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42</a:t>
            </a:r>
            <a:r>
              <a:rPr lang="en-US" sz="1600" b="0" dirty="0">
                <a:solidFill>
                  <a:srgbClr val="000000"/>
                </a:solidFill>
                <a:effectLst/>
                <a:latin typeface="Courier New" panose="02070309020205020404" pitchFamily="49" charset="0"/>
              </a:rPr>
              <a:t>)</a:t>
            </a:r>
          </a:p>
          <a:p>
            <a:r>
              <a:rPr lang="en-US" sz="1600" b="0" dirty="0">
                <a:solidFill>
                  <a:srgbClr val="000000"/>
                </a:solidFill>
                <a:effectLst/>
                <a:latin typeface="Courier New" panose="02070309020205020404" pitchFamily="49" charset="0"/>
              </a:rPr>
              <a:t>dt2 = </a:t>
            </a:r>
            <a:r>
              <a:rPr lang="en-US" sz="1600" b="0" dirty="0" err="1">
                <a:solidFill>
                  <a:srgbClr val="000000"/>
                </a:solidFill>
                <a:effectLst/>
                <a:latin typeface="Courier New" panose="02070309020205020404" pitchFamily="49" charset="0"/>
              </a:rPr>
              <a:t>DecisionTreeClassifier</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max_depth</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10</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min_samples_leaf</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a:t>
            </a:r>
            <a:r>
              <a:rPr lang="en-US" sz="1600" b="0" dirty="0">
                <a:solidFill>
                  <a:srgbClr val="000000"/>
                </a:solidFill>
                <a:effectLst/>
                <a:latin typeface="Courier New" panose="02070309020205020404" pitchFamily="49" charset="0"/>
              </a:rPr>
              <a:t>, </a:t>
            </a:r>
            <a:r>
              <a:rPr lang="en-US" sz="1600" b="0" dirty="0" err="1">
                <a:solidFill>
                  <a:srgbClr val="000000"/>
                </a:solidFill>
                <a:effectLst/>
                <a:latin typeface="Courier New" panose="02070309020205020404" pitchFamily="49" charset="0"/>
              </a:rPr>
              <a:t>random_state</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42</a:t>
            </a:r>
            <a:r>
              <a:rPr lang="en-US" sz="1600" b="0" dirty="0">
                <a:solidFill>
                  <a:srgbClr val="000000"/>
                </a:solidFill>
                <a:effectLst/>
                <a:latin typeface="Courier New" panose="02070309020205020404" pitchFamily="49" charset="0"/>
              </a:rPr>
              <a:t>)</a:t>
            </a:r>
          </a:p>
          <a:p>
            <a:r>
              <a:rPr lang="en-US" sz="1600" b="0" dirty="0" err="1">
                <a:solidFill>
                  <a:srgbClr val="000000"/>
                </a:solidFill>
                <a:effectLst/>
                <a:latin typeface="Courier New" panose="02070309020205020404" pitchFamily="49" charset="0"/>
              </a:rPr>
              <a:t>lr</a:t>
            </a:r>
            <a:r>
              <a:rPr lang="en-US" sz="1600" b="0" dirty="0">
                <a:solidFill>
                  <a:srgbClr val="000000"/>
                </a:solidFill>
                <a:effectLst/>
                <a:latin typeface="Courier New" panose="02070309020205020404" pitchFamily="49" charset="0"/>
              </a:rPr>
              <a:t> = </a:t>
            </a:r>
            <a:r>
              <a:rPr lang="en-US" sz="1600" b="0" dirty="0" err="1">
                <a:solidFill>
                  <a:srgbClr val="000000"/>
                </a:solidFill>
                <a:effectLst/>
                <a:latin typeface="Courier New" panose="02070309020205020404" pitchFamily="49" charset="0"/>
              </a:rPr>
              <a:t>LogisticRegression</a:t>
            </a:r>
            <a:r>
              <a:rPr lang="en-US" sz="1600" b="0" dirty="0">
                <a:solidFill>
                  <a:srgbClr val="000000"/>
                </a:solidFill>
                <a:effectLst/>
                <a:latin typeface="Courier New" panose="02070309020205020404" pitchFamily="49" charset="0"/>
              </a:rPr>
              <a:t>(</a:t>
            </a:r>
            <a:r>
              <a:rPr lang="en-US" sz="1600" b="0" dirty="0" err="1">
                <a:solidFill>
                  <a:srgbClr val="000000"/>
                </a:solidFill>
                <a:effectLst/>
                <a:latin typeface="Courier New" panose="02070309020205020404" pitchFamily="49" charset="0"/>
              </a:rPr>
              <a:t>random_state</a:t>
            </a:r>
            <a:r>
              <a:rPr lang="en-US" sz="1600" b="0" dirty="0">
                <a:solidFill>
                  <a:srgbClr val="000000"/>
                </a:solidFill>
                <a:effectLst/>
                <a:latin typeface="Courier New" panose="02070309020205020404" pitchFamily="49" charset="0"/>
              </a:rPr>
              <a:t>=</a:t>
            </a:r>
            <a:r>
              <a:rPr lang="en-US" sz="1600" b="0" dirty="0">
                <a:solidFill>
                  <a:srgbClr val="116644"/>
                </a:solidFill>
                <a:effectLst/>
                <a:latin typeface="Courier New" panose="02070309020205020404" pitchFamily="49" charset="0"/>
              </a:rPr>
              <a:t>42</a:t>
            </a:r>
            <a:r>
              <a:rPr lang="en-US" sz="1600" b="0" dirty="0">
                <a:solidFill>
                  <a:srgbClr val="000000"/>
                </a:solidFill>
                <a:effectLst/>
                <a:latin typeface="Courier New" panose="02070309020205020404" pitchFamily="49" charset="0"/>
              </a:rPr>
              <a:t>)</a:t>
            </a:r>
          </a:p>
          <a:p>
            <a:br>
              <a:rPr lang="en-US" sz="1600" b="0" dirty="0">
                <a:solidFill>
                  <a:srgbClr val="000000"/>
                </a:solidFill>
                <a:effectLst/>
                <a:latin typeface="Courier New" panose="02070309020205020404" pitchFamily="49" charset="0"/>
              </a:rPr>
            </a:br>
            <a:r>
              <a:rPr lang="en-US" sz="1100" b="0" dirty="0">
                <a:solidFill>
                  <a:srgbClr val="000000"/>
                </a:solidFill>
                <a:effectLst/>
                <a:latin typeface="Courier New" panose="02070309020205020404" pitchFamily="49" charset="0"/>
              </a:rPr>
              <a:t>dt1.fit(</a:t>
            </a:r>
            <a:r>
              <a:rPr lang="en-US" sz="1100" b="0" dirty="0" err="1">
                <a:solidFill>
                  <a:srgbClr val="000000"/>
                </a:solidFill>
                <a:effectLst/>
                <a:latin typeface="Courier New" panose="02070309020205020404" pitchFamily="49" charset="0"/>
              </a:rPr>
              <a:t>X_train</a:t>
            </a:r>
            <a:r>
              <a:rPr lang="en-US" sz="1100" b="0" dirty="0">
                <a:solidFill>
                  <a:srgbClr val="000000"/>
                </a:solidFill>
                <a:effectLst/>
                <a:latin typeface="Courier New" panose="02070309020205020404" pitchFamily="49" charset="0"/>
              </a:rPr>
              <a:t>, </a:t>
            </a:r>
            <a:r>
              <a:rPr lang="en-US" sz="1100" b="0" dirty="0" err="1">
                <a:solidFill>
                  <a:srgbClr val="000000"/>
                </a:solidFill>
                <a:effectLst/>
                <a:latin typeface="Courier New" panose="02070309020205020404" pitchFamily="49" charset="0"/>
              </a:rPr>
              <a:t>y_train</a:t>
            </a:r>
            <a:r>
              <a:rPr lang="en-US" sz="1100" b="0" dirty="0">
                <a:solidFill>
                  <a:srgbClr val="000000"/>
                </a:solidFill>
                <a:effectLst/>
                <a:latin typeface="Courier New" panose="02070309020205020404" pitchFamily="49" charset="0"/>
              </a:rPr>
              <a:t>)</a:t>
            </a:r>
          </a:p>
          <a:p>
            <a:r>
              <a:rPr lang="en-US" sz="1100" b="0" dirty="0">
                <a:solidFill>
                  <a:srgbClr val="000000"/>
                </a:solidFill>
                <a:effectLst/>
                <a:latin typeface="Courier New" panose="02070309020205020404" pitchFamily="49" charset="0"/>
              </a:rPr>
              <a:t>dt2.fit(</a:t>
            </a:r>
            <a:r>
              <a:rPr lang="en-US" sz="1100" b="0" dirty="0" err="1">
                <a:solidFill>
                  <a:srgbClr val="000000"/>
                </a:solidFill>
                <a:effectLst/>
                <a:latin typeface="Courier New" panose="02070309020205020404" pitchFamily="49" charset="0"/>
              </a:rPr>
              <a:t>X_train</a:t>
            </a:r>
            <a:r>
              <a:rPr lang="en-US" sz="1100" b="0" dirty="0">
                <a:solidFill>
                  <a:srgbClr val="000000"/>
                </a:solidFill>
                <a:effectLst/>
                <a:latin typeface="Courier New" panose="02070309020205020404" pitchFamily="49" charset="0"/>
              </a:rPr>
              <a:t>, </a:t>
            </a:r>
            <a:r>
              <a:rPr lang="en-US" sz="1100" b="0" dirty="0" err="1">
                <a:solidFill>
                  <a:srgbClr val="000000"/>
                </a:solidFill>
                <a:effectLst/>
                <a:latin typeface="Courier New" panose="02070309020205020404" pitchFamily="49" charset="0"/>
              </a:rPr>
              <a:t>y_train</a:t>
            </a:r>
            <a:r>
              <a:rPr lang="en-US" sz="1100" b="0" dirty="0">
                <a:solidFill>
                  <a:srgbClr val="000000"/>
                </a:solidFill>
                <a:effectLst/>
                <a:latin typeface="Courier New" panose="02070309020205020404" pitchFamily="49" charset="0"/>
              </a:rPr>
              <a:t>)</a:t>
            </a:r>
          </a:p>
          <a:p>
            <a:r>
              <a:rPr lang="en-US" sz="1100" b="0" dirty="0" err="1">
                <a:solidFill>
                  <a:srgbClr val="000000"/>
                </a:solidFill>
                <a:effectLst/>
                <a:latin typeface="Courier New" panose="02070309020205020404" pitchFamily="49" charset="0"/>
              </a:rPr>
              <a:t>lr.fit</a:t>
            </a:r>
            <a:r>
              <a:rPr lang="en-US" sz="1100" b="0" dirty="0">
                <a:solidFill>
                  <a:srgbClr val="000000"/>
                </a:solidFill>
                <a:effectLst/>
                <a:latin typeface="Courier New" panose="02070309020205020404" pitchFamily="49" charset="0"/>
              </a:rPr>
              <a:t>(</a:t>
            </a:r>
            <a:r>
              <a:rPr lang="en-US" sz="1100" b="0" dirty="0" err="1">
                <a:solidFill>
                  <a:srgbClr val="000000"/>
                </a:solidFill>
                <a:effectLst/>
                <a:latin typeface="Courier New" panose="02070309020205020404" pitchFamily="49" charset="0"/>
              </a:rPr>
              <a:t>X_train</a:t>
            </a:r>
            <a:r>
              <a:rPr lang="en-US" sz="1100" b="0" dirty="0">
                <a:solidFill>
                  <a:srgbClr val="000000"/>
                </a:solidFill>
                <a:effectLst/>
                <a:latin typeface="Courier New" panose="02070309020205020404" pitchFamily="49" charset="0"/>
              </a:rPr>
              <a:t>, </a:t>
            </a:r>
            <a:r>
              <a:rPr lang="en-US" sz="1100" b="0" dirty="0" err="1">
                <a:solidFill>
                  <a:srgbClr val="000000"/>
                </a:solidFill>
                <a:effectLst/>
                <a:latin typeface="Courier New" panose="02070309020205020404" pitchFamily="49" charset="0"/>
              </a:rPr>
              <a:t>y_train</a:t>
            </a:r>
            <a:r>
              <a:rPr lang="en-US" sz="1100" b="0" dirty="0">
                <a:solidFill>
                  <a:srgbClr val="000000"/>
                </a:solidFill>
                <a:effectLst/>
                <a:latin typeface="Courier New" panose="02070309020205020404" pitchFamily="49" charset="0"/>
              </a:rPr>
              <a:t>)</a:t>
            </a:r>
          </a:p>
          <a:p>
            <a:br>
              <a:rPr lang="en-US" sz="1100" b="0" dirty="0">
                <a:solidFill>
                  <a:srgbClr val="000000"/>
                </a:solidFill>
                <a:effectLst/>
                <a:latin typeface="Courier New" panose="02070309020205020404" pitchFamily="49" charset="0"/>
              </a:rPr>
            </a:br>
            <a:r>
              <a:rPr lang="en-US" sz="1100" b="0" dirty="0">
                <a:solidFill>
                  <a:srgbClr val="008000"/>
                </a:solidFill>
                <a:effectLst/>
                <a:latin typeface="Courier New" panose="02070309020205020404" pitchFamily="49" charset="0"/>
              </a:rPr>
              <a:t># Predict probabilities on the test set for each model</a:t>
            </a:r>
            <a:endParaRPr lang="en-US" sz="1100" b="0" dirty="0">
              <a:solidFill>
                <a:srgbClr val="000000"/>
              </a:solidFill>
              <a:effectLst/>
              <a:latin typeface="Courier New" panose="02070309020205020404" pitchFamily="49" charset="0"/>
            </a:endParaRPr>
          </a:p>
          <a:p>
            <a:r>
              <a:rPr lang="en-US" sz="1100" b="0" dirty="0">
                <a:solidFill>
                  <a:srgbClr val="000000"/>
                </a:solidFill>
                <a:effectLst/>
                <a:latin typeface="Courier New" panose="02070309020205020404" pitchFamily="49" charset="0"/>
              </a:rPr>
              <a:t>dt1_probs = dt1.predict_proba(</a:t>
            </a:r>
            <a:r>
              <a:rPr lang="en-US" sz="1100" b="0" dirty="0" err="1">
                <a:solidFill>
                  <a:srgbClr val="000000"/>
                </a:solidFill>
                <a:effectLst/>
                <a:latin typeface="Courier New" panose="02070309020205020404" pitchFamily="49" charset="0"/>
              </a:rPr>
              <a:t>X_test</a:t>
            </a:r>
            <a:r>
              <a:rPr lang="en-US" sz="1100" b="0" dirty="0">
                <a:solidFill>
                  <a:srgbClr val="000000"/>
                </a:solidFill>
                <a:effectLst/>
                <a:latin typeface="Courier New" panose="02070309020205020404" pitchFamily="49" charset="0"/>
              </a:rPr>
              <a:t>)[:, </a:t>
            </a:r>
            <a:r>
              <a:rPr lang="en-US" sz="1100" b="0" dirty="0">
                <a:solidFill>
                  <a:srgbClr val="116644"/>
                </a:solidFill>
                <a:effectLst/>
                <a:latin typeface="Courier New" panose="02070309020205020404" pitchFamily="49" charset="0"/>
              </a:rPr>
              <a:t>1</a:t>
            </a:r>
            <a:r>
              <a:rPr lang="en-US" sz="1100" b="0" dirty="0">
                <a:solidFill>
                  <a:srgbClr val="000000"/>
                </a:solidFill>
                <a:effectLst/>
                <a:latin typeface="Courier New" panose="02070309020205020404" pitchFamily="49" charset="0"/>
              </a:rPr>
              <a:t>]</a:t>
            </a:r>
          </a:p>
          <a:p>
            <a:r>
              <a:rPr lang="en-US" sz="1100" b="0" dirty="0">
                <a:solidFill>
                  <a:srgbClr val="000000"/>
                </a:solidFill>
                <a:effectLst/>
                <a:latin typeface="Courier New" panose="02070309020205020404" pitchFamily="49" charset="0"/>
              </a:rPr>
              <a:t>dt2_probs = dt2.predict_proba(</a:t>
            </a:r>
            <a:r>
              <a:rPr lang="en-US" sz="1100" b="0" dirty="0" err="1">
                <a:solidFill>
                  <a:srgbClr val="000000"/>
                </a:solidFill>
                <a:effectLst/>
                <a:latin typeface="Courier New" panose="02070309020205020404" pitchFamily="49" charset="0"/>
              </a:rPr>
              <a:t>X_test</a:t>
            </a:r>
            <a:r>
              <a:rPr lang="en-US" sz="1100" b="0" dirty="0">
                <a:solidFill>
                  <a:srgbClr val="000000"/>
                </a:solidFill>
                <a:effectLst/>
                <a:latin typeface="Courier New" panose="02070309020205020404" pitchFamily="49" charset="0"/>
              </a:rPr>
              <a:t>)[:, </a:t>
            </a:r>
            <a:r>
              <a:rPr lang="en-US" sz="1100" b="0" dirty="0">
                <a:solidFill>
                  <a:srgbClr val="116644"/>
                </a:solidFill>
                <a:effectLst/>
                <a:latin typeface="Courier New" panose="02070309020205020404" pitchFamily="49" charset="0"/>
              </a:rPr>
              <a:t>1</a:t>
            </a:r>
            <a:r>
              <a:rPr lang="en-US" sz="1100" b="0" dirty="0">
                <a:solidFill>
                  <a:srgbClr val="000000"/>
                </a:solidFill>
                <a:effectLst/>
                <a:latin typeface="Courier New" panose="02070309020205020404" pitchFamily="49" charset="0"/>
              </a:rPr>
              <a:t>]</a:t>
            </a:r>
          </a:p>
          <a:p>
            <a:r>
              <a:rPr lang="en-US" sz="1100" b="0" dirty="0" err="1">
                <a:solidFill>
                  <a:srgbClr val="000000"/>
                </a:solidFill>
                <a:effectLst/>
                <a:latin typeface="Courier New" panose="02070309020205020404" pitchFamily="49" charset="0"/>
              </a:rPr>
              <a:t>lr_probs</a:t>
            </a:r>
            <a:r>
              <a:rPr lang="en-US" sz="1100" b="0" dirty="0">
                <a:solidFill>
                  <a:srgbClr val="000000"/>
                </a:solidFill>
                <a:effectLst/>
                <a:latin typeface="Courier New" panose="02070309020205020404" pitchFamily="49" charset="0"/>
              </a:rPr>
              <a:t> = </a:t>
            </a:r>
            <a:r>
              <a:rPr lang="en-US" sz="1100" b="0" dirty="0" err="1">
                <a:solidFill>
                  <a:srgbClr val="000000"/>
                </a:solidFill>
                <a:effectLst/>
                <a:latin typeface="Courier New" panose="02070309020205020404" pitchFamily="49" charset="0"/>
              </a:rPr>
              <a:t>lr.predict_proba</a:t>
            </a:r>
            <a:r>
              <a:rPr lang="en-US" sz="1100" b="0" dirty="0">
                <a:solidFill>
                  <a:srgbClr val="000000"/>
                </a:solidFill>
                <a:effectLst/>
                <a:latin typeface="Courier New" panose="02070309020205020404" pitchFamily="49" charset="0"/>
              </a:rPr>
              <a:t>(</a:t>
            </a:r>
            <a:r>
              <a:rPr lang="en-US" sz="1100" b="0" dirty="0" err="1">
                <a:solidFill>
                  <a:srgbClr val="000000"/>
                </a:solidFill>
                <a:effectLst/>
                <a:latin typeface="Courier New" panose="02070309020205020404" pitchFamily="49" charset="0"/>
              </a:rPr>
              <a:t>X_test</a:t>
            </a:r>
            <a:r>
              <a:rPr lang="en-US" sz="1100" b="0" dirty="0">
                <a:solidFill>
                  <a:srgbClr val="000000"/>
                </a:solidFill>
                <a:effectLst/>
                <a:latin typeface="Courier New" panose="02070309020205020404" pitchFamily="49" charset="0"/>
              </a:rPr>
              <a:t>)[:, </a:t>
            </a:r>
            <a:r>
              <a:rPr lang="en-US" sz="1100" b="0" dirty="0">
                <a:solidFill>
                  <a:srgbClr val="116644"/>
                </a:solidFill>
                <a:effectLst/>
                <a:latin typeface="Courier New" panose="02070309020205020404" pitchFamily="49" charset="0"/>
              </a:rPr>
              <a:t>1</a:t>
            </a:r>
            <a:r>
              <a:rPr lang="en-US" sz="1100" b="0" dirty="0">
                <a:solidFill>
                  <a:srgbClr val="000000"/>
                </a:solidFill>
                <a:effectLst/>
                <a:latin typeface="Courier New" panose="02070309020205020404" pitchFamily="49" charset="0"/>
              </a:rPr>
              <a:t>]</a:t>
            </a:r>
          </a:p>
          <a:p>
            <a:br>
              <a:rPr lang="en-US" sz="1600" b="0" dirty="0">
                <a:solidFill>
                  <a:srgbClr val="000000"/>
                </a:solidFill>
                <a:effectLst/>
                <a:latin typeface="Courier New" panose="02070309020205020404" pitchFamily="49" charset="0"/>
              </a:rPr>
            </a:br>
            <a:r>
              <a:rPr lang="en-US" sz="1600" b="0" dirty="0">
                <a:solidFill>
                  <a:srgbClr val="008000"/>
                </a:solidFill>
                <a:effectLst/>
                <a:latin typeface="Courier New" panose="02070309020205020404" pitchFamily="49" charset="0"/>
              </a:rPr>
              <a:t># Create an averaged ensemble of the three models</a:t>
            </a:r>
            <a:endParaRPr lang="en-US" sz="1600" b="0" dirty="0">
              <a:solidFill>
                <a:srgbClr val="000000"/>
              </a:solidFill>
              <a:effectLst/>
              <a:latin typeface="Courier New" panose="02070309020205020404" pitchFamily="49" charset="0"/>
            </a:endParaRPr>
          </a:p>
          <a:p>
            <a:r>
              <a:rPr lang="en-US" sz="1600" b="1" dirty="0" err="1">
                <a:solidFill>
                  <a:srgbClr val="000000"/>
                </a:solidFill>
                <a:effectLst/>
                <a:latin typeface="Courier New" panose="02070309020205020404" pitchFamily="49" charset="0"/>
              </a:rPr>
              <a:t>ensemble_probs</a:t>
            </a:r>
            <a:r>
              <a:rPr lang="en-US" sz="1600" b="1" dirty="0">
                <a:solidFill>
                  <a:srgbClr val="000000"/>
                </a:solidFill>
                <a:effectLst/>
                <a:latin typeface="Courier New" panose="02070309020205020404" pitchFamily="49" charset="0"/>
              </a:rPr>
              <a:t> = (dt1_probs + dt2_probs + </a:t>
            </a:r>
            <a:r>
              <a:rPr lang="en-US" sz="1600" b="1" dirty="0" err="1">
                <a:solidFill>
                  <a:srgbClr val="000000"/>
                </a:solidFill>
                <a:effectLst/>
                <a:latin typeface="Courier New" panose="02070309020205020404" pitchFamily="49" charset="0"/>
              </a:rPr>
              <a:t>lr_probs</a:t>
            </a:r>
            <a:r>
              <a:rPr lang="en-US" sz="1600" b="1" dirty="0">
                <a:solidFill>
                  <a:srgbClr val="000000"/>
                </a:solidFill>
                <a:effectLst/>
                <a:latin typeface="Courier New" panose="02070309020205020404" pitchFamily="49" charset="0"/>
              </a:rPr>
              <a:t>) / </a:t>
            </a:r>
            <a:r>
              <a:rPr lang="en-US" sz="1600" b="1" dirty="0">
                <a:solidFill>
                  <a:srgbClr val="116644"/>
                </a:solidFill>
                <a:effectLst/>
                <a:latin typeface="Courier New" panose="02070309020205020404" pitchFamily="49" charset="0"/>
              </a:rPr>
              <a:t>3</a:t>
            </a:r>
            <a:endParaRPr lang="en-US" sz="1600" b="1" dirty="0">
              <a:solidFill>
                <a:srgbClr val="000000"/>
              </a:solidFill>
              <a:effectLst/>
              <a:latin typeface="Courier New" panose="02070309020205020404" pitchFamily="49" charset="0"/>
            </a:endParaRPr>
          </a:p>
        </p:txBody>
      </p:sp>
      <p:sp>
        <p:nvSpPr>
          <p:cNvPr id="8" name="TextBox 7">
            <a:extLst>
              <a:ext uri="{FF2B5EF4-FFF2-40B4-BE49-F238E27FC236}">
                <a16:creationId xmlns:a16="http://schemas.microsoft.com/office/drawing/2014/main" id="{B15CBF5F-5BE0-7219-2F0A-EF57DAAFC1C7}"/>
              </a:ext>
            </a:extLst>
          </p:cNvPr>
          <p:cNvSpPr txBox="1"/>
          <p:nvPr/>
        </p:nvSpPr>
        <p:spPr>
          <a:xfrm>
            <a:off x="664633" y="5241028"/>
            <a:ext cx="6099858" cy="1200329"/>
          </a:xfrm>
          <a:prstGeom prst="rect">
            <a:avLst/>
          </a:prstGeom>
          <a:solidFill>
            <a:schemeClr val="bg2"/>
          </a:solidFill>
          <a:ln>
            <a:solidFill>
              <a:schemeClr val="accent1"/>
            </a:solidFill>
          </a:ln>
        </p:spPr>
        <p:txBody>
          <a:bodyPr wrap="square">
            <a:spAutoFit/>
          </a:bodyPr>
          <a:lstStyle/>
          <a:p>
            <a:r>
              <a:rPr lang="en-US" b="0" i="0" dirty="0">
                <a:solidFill>
                  <a:srgbClr val="212121"/>
                </a:solidFill>
                <a:effectLst/>
                <a:latin typeface="Courier New" panose="02070309020205020404" pitchFamily="49" charset="0"/>
              </a:rPr>
              <a:t>Decision Tree 1 AUC: 0.920 </a:t>
            </a:r>
          </a:p>
          <a:p>
            <a:r>
              <a:rPr lang="en-US" b="0" i="0" dirty="0">
                <a:solidFill>
                  <a:srgbClr val="212121"/>
                </a:solidFill>
                <a:effectLst/>
                <a:latin typeface="Courier New" panose="02070309020205020404" pitchFamily="49" charset="0"/>
              </a:rPr>
              <a:t>Decision Tree 2 AUC: 0.886 </a:t>
            </a:r>
          </a:p>
          <a:p>
            <a:r>
              <a:rPr lang="en-US" b="0" i="0" dirty="0">
                <a:solidFill>
                  <a:srgbClr val="212121"/>
                </a:solidFill>
                <a:effectLst/>
                <a:latin typeface="Courier New" panose="02070309020205020404" pitchFamily="49" charset="0"/>
              </a:rPr>
              <a:t>Logistic Regression AUC: 0.922 </a:t>
            </a:r>
          </a:p>
          <a:p>
            <a:r>
              <a:rPr lang="en-US" b="1" i="0" dirty="0">
                <a:solidFill>
                  <a:srgbClr val="212121"/>
                </a:solidFill>
                <a:effectLst/>
                <a:latin typeface="Courier New" panose="02070309020205020404" pitchFamily="49" charset="0"/>
              </a:rPr>
              <a:t>Ensemble Model AUC: 0.933</a:t>
            </a:r>
            <a:endParaRPr lang="en-US" b="1" dirty="0"/>
          </a:p>
        </p:txBody>
      </p:sp>
      <p:pic>
        <p:nvPicPr>
          <p:cNvPr id="3074" name="Picture 2">
            <a:extLst>
              <a:ext uri="{FF2B5EF4-FFF2-40B4-BE49-F238E27FC236}">
                <a16:creationId xmlns:a16="http://schemas.microsoft.com/office/drawing/2014/main" id="{3CE5BE65-2133-BB70-F216-E7F67EFA605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772684" y="3330458"/>
            <a:ext cx="3754683" cy="3110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315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FE40-F705-5147-B480-951B2E4CB453}"/>
              </a:ext>
            </a:extLst>
          </p:cNvPr>
          <p:cNvSpPr>
            <a:spLocks noGrp="1"/>
          </p:cNvSpPr>
          <p:nvPr>
            <p:ph type="title"/>
          </p:nvPr>
        </p:nvSpPr>
        <p:spPr/>
        <p:txBody>
          <a:bodyPr/>
          <a:lstStyle/>
          <a:p>
            <a:r>
              <a:rPr lang="en-US" dirty="0"/>
              <a:t>The problem with Decision Trees </a:t>
            </a:r>
          </a:p>
        </p:txBody>
      </p:sp>
      <p:sp>
        <p:nvSpPr>
          <p:cNvPr id="3" name="Content Placeholder 2">
            <a:extLst>
              <a:ext uri="{FF2B5EF4-FFF2-40B4-BE49-F238E27FC236}">
                <a16:creationId xmlns:a16="http://schemas.microsoft.com/office/drawing/2014/main" id="{EB9DD1F6-B85A-7242-9F7D-E8257D6C652D}"/>
              </a:ext>
            </a:extLst>
          </p:cNvPr>
          <p:cNvSpPr>
            <a:spLocks noGrp="1"/>
          </p:cNvSpPr>
          <p:nvPr>
            <p:ph idx="1"/>
          </p:nvPr>
        </p:nvSpPr>
        <p:spPr>
          <a:xfrm>
            <a:off x="664632" y="1981201"/>
            <a:ext cx="11104233" cy="4144963"/>
          </a:xfrm>
        </p:spPr>
        <p:txBody>
          <a:bodyPr/>
          <a:lstStyle/>
          <a:p>
            <a:r>
              <a:rPr lang="en-US" dirty="0"/>
              <a:t>You can get the same / similar / sometimes better / worse accuracy depending on Input Variables?</a:t>
            </a:r>
          </a:p>
          <a:p>
            <a:r>
              <a:rPr lang="en-US" dirty="0"/>
              <a:t>Decision Trees are  “Weak Learners” </a:t>
            </a:r>
          </a:p>
          <a:p>
            <a:pPr lvl="1"/>
            <a:r>
              <a:rPr lang="en-US" b="1" dirty="0"/>
              <a:t>Sensitive to the Sample of Data they are Trained on </a:t>
            </a:r>
          </a:p>
          <a:p>
            <a:pPr lvl="2"/>
            <a:r>
              <a:rPr lang="en-US" b="1" u="sng" dirty="0"/>
              <a:t>Different samples </a:t>
            </a:r>
            <a:r>
              <a:rPr lang="en-US" dirty="0"/>
              <a:t>yield </a:t>
            </a:r>
            <a:r>
              <a:rPr lang="en-US" b="1" u="sng" dirty="0"/>
              <a:t>different trees </a:t>
            </a:r>
          </a:p>
          <a:p>
            <a:pPr lvl="1"/>
            <a:r>
              <a:rPr lang="en-US" b="1" dirty="0"/>
              <a:t>Sensitive to the variables presented </a:t>
            </a:r>
          </a:p>
          <a:p>
            <a:pPr lvl="2"/>
            <a:r>
              <a:rPr lang="en-US" b="1" u="sng" dirty="0"/>
              <a:t>Different features </a:t>
            </a:r>
            <a:r>
              <a:rPr lang="en-US" dirty="0"/>
              <a:t>yield </a:t>
            </a:r>
            <a:r>
              <a:rPr lang="en-US" b="1" u="sng" dirty="0"/>
              <a:t>different trees </a:t>
            </a:r>
          </a:p>
          <a:p>
            <a:pPr lvl="1"/>
            <a:r>
              <a:rPr lang="en-US" dirty="0"/>
              <a:t>Tend to overfit </a:t>
            </a:r>
          </a:p>
          <a:p>
            <a:pPr lvl="2"/>
            <a:r>
              <a:rPr lang="en-US" dirty="0"/>
              <a:t>In the quest for homogeneity end to make a lot of splits ~ yields over fitting </a:t>
            </a:r>
          </a:p>
          <a:p>
            <a:pPr lvl="2"/>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FD49DB95-5C2B-334F-9865-35A135C544F0}"/>
              </a:ext>
            </a:extLst>
          </p:cNvPr>
          <p:cNvSpPr>
            <a:spLocks noGrp="1"/>
          </p:cNvSpPr>
          <p:nvPr>
            <p:ph type="sldNum" sz="quarter" idx="12"/>
          </p:nvPr>
        </p:nvSpPr>
        <p:spPr/>
        <p:txBody>
          <a:bodyPr/>
          <a:lstStyle/>
          <a:p>
            <a:fld id="{02456A73-CB17-B748-BD2A-A20F5DD59EC7}" type="slidenum">
              <a:rPr lang="en-US" smtClean="0"/>
              <a:pPr/>
              <a:t>28</a:t>
            </a:fld>
            <a:endParaRPr lang="en-US" dirty="0"/>
          </a:p>
        </p:txBody>
      </p:sp>
    </p:spTree>
    <p:extLst>
      <p:ext uri="{BB962C8B-B14F-4D97-AF65-F5344CB8AC3E}">
        <p14:creationId xmlns:p14="http://schemas.microsoft.com/office/powerpoint/2010/main" val="1791516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Title 1">
            <a:extLst>
              <a:ext uri="{FF2B5EF4-FFF2-40B4-BE49-F238E27FC236}">
                <a16:creationId xmlns:a16="http://schemas.microsoft.com/office/drawing/2014/main" id="{4C5030B8-5E88-3F53-48CC-762FA13E81BD}"/>
              </a:ext>
            </a:extLst>
          </p:cNvPr>
          <p:cNvSpPr>
            <a:spLocks noGrp="1"/>
          </p:cNvSpPr>
          <p:nvPr>
            <p:ph type="title"/>
          </p:nvPr>
        </p:nvSpPr>
        <p:spPr>
          <a:xfrm>
            <a:off x="507407" y="2571750"/>
            <a:ext cx="4340352" cy="1162050"/>
          </a:xfrm>
        </p:spPr>
        <p:txBody>
          <a:bodyPr>
            <a:normAutofit fontScale="90000"/>
          </a:bodyPr>
          <a:lstStyle/>
          <a:p>
            <a:r>
              <a:rPr lang="en-US" dirty="0"/>
              <a:t>3 Different Samples </a:t>
            </a:r>
            <a:br>
              <a:rPr lang="en-US" dirty="0"/>
            </a:br>
            <a:r>
              <a:rPr lang="en-US" dirty="0"/>
              <a:t>= </a:t>
            </a:r>
            <a:br>
              <a:rPr lang="en-US" dirty="0"/>
            </a:br>
            <a:r>
              <a:rPr lang="en-US" dirty="0"/>
              <a:t>3 Different Trees</a:t>
            </a:r>
          </a:p>
        </p:txBody>
      </p:sp>
      <p:pic>
        <p:nvPicPr>
          <p:cNvPr id="5122" name="Picture 2">
            <a:extLst>
              <a:ext uri="{FF2B5EF4-FFF2-40B4-BE49-F238E27FC236}">
                <a16:creationId xmlns:a16="http://schemas.microsoft.com/office/drawing/2014/main" id="{FA9DB11C-22AC-B910-21CE-63E7FD2FFE17}"/>
              </a:ext>
            </a:extLst>
          </p:cNvPr>
          <p:cNvPicPr>
            <a:picLocks noGrp="1" noChangeAspect="1" noChangeArrowheads="1"/>
          </p:cNvPicPr>
          <p:nvPr>
            <p:ph idx="1"/>
          </p:nvPr>
        </p:nvPicPr>
        <p:blipFill>
          <a:blip r:embed="rId2" cstate="hqprint">
            <a:extLst>
              <a:ext uri="{28A0092B-C50C-407E-A947-70E740481C1C}">
                <a14:useLocalDpi xmlns:a14="http://schemas.microsoft.com/office/drawing/2010/main"/>
              </a:ext>
            </a:extLst>
          </a:blip>
          <a:stretch>
            <a:fillRect/>
          </a:stretch>
        </p:blipFill>
        <p:spPr bwMode="auto">
          <a:xfrm>
            <a:off x="5696744" y="273051"/>
            <a:ext cx="5853113" cy="5853113"/>
          </a:xfrm>
          <a:prstGeom prst="rect">
            <a:avLst/>
          </a:prstGeom>
          <a:solidFill>
            <a:srgbClr val="FFFFFF"/>
          </a:solidFill>
        </p:spPr>
      </p:pic>
      <p:sp>
        <p:nvSpPr>
          <p:cNvPr id="5129" name="Text Placeholder 3">
            <a:extLst>
              <a:ext uri="{FF2B5EF4-FFF2-40B4-BE49-F238E27FC236}">
                <a16:creationId xmlns:a16="http://schemas.microsoft.com/office/drawing/2014/main" id="{01E4625E-CF17-A5F1-FA15-1AB8945C0A96}"/>
              </a:ext>
            </a:extLst>
          </p:cNvPr>
          <p:cNvSpPr>
            <a:spLocks noGrp="1"/>
          </p:cNvSpPr>
          <p:nvPr>
            <p:ph type="body" sz="half" idx="2"/>
          </p:nvPr>
        </p:nvSpPr>
        <p:spPr>
          <a:xfrm>
            <a:off x="508124" y="3733801"/>
            <a:ext cx="4340352" cy="2392363"/>
          </a:xfrm>
        </p:spPr>
        <p:txBody>
          <a:bodyPr/>
          <a:lstStyle/>
          <a:p>
            <a:endParaRPr lang="en-US" dirty="0"/>
          </a:p>
        </p:txBody>
      </p:sp>
      <p:sp>
        <p:nvSpPr>
          <p:cNvPr id="4" name="Slide Number Placeholder 3" hidden="1">
            <a:extLst>
              <a:ext uri="{FF2B5EF4-FFF2-40B4-BE49-F238E27FC236}">
                <a16:creationId xmlns:a16="http://schemas.microsoft.com/office/drawing/2014/main" id="{719E467E-79FB-964B-D5B7-6078CF92F343}"/>
              </a:ext>
            </a:extLst>
          </p:cNvPr>
          <p:cNvSpPr>
            <a:spLocks noGrp="1"/>
          </p:cNvSpPr>
          <p:nvPr>
            <p:ph type="sldNum" sz="quarter" idx="4294967295"/>
          </p:nvPr>
        </p:nvSpPr>
        <p:spPr>
          <a:xfrm>
            <a:off x="11166412" y="6426788"/>
            <a:ext cx="738717" cy="365125"/>
          </a:xfrm>
        </p:spPr>
        <p:txBody>
          <a:bodyPr/>
          <a:lstStyle/>
          <a:p>
            <a:pPr>
              <a:spcAft>
                <a:spcPts val="600"/>
              </a:spcAft>
            </a:pPr>
            <a:fld id="{02456A73-CB17-B748-BD2A-A20F5DD59EC7}" type="slidenum">
              <a:rPr lang="en-US" smtClean="0"/>
              <a:pPr>
                <a:spcAft>
                  <a:spcPts val="600"/>
                </a:spcAft>
              </a:pPr>
              <a:t>29</a:t>
            </a:fld>
            <a:endParaRPr lang="en-US"/>
          </a:p>
        </p:txBody>
      </p:sp>
    </p:spTree>
    <p:extLst>
      <p:ext uri="{BB962C8B-B14F-4D97-AF65-F5344CB8AC3E}">
        <p14:creationId xmlns:p14="http://schemas.microsoft.com/office/powerpoint/2010/main" val="4960489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9291C-4962-0B47-A8E8-4DA977A10CCC}"/>
              </a:ext>
            </a:extLst>
          </p:cNvPr>
          <p:cNvSpPr>
            <a:spLocks noGrp="1"/>
          </p:cNvSpPr>
          <p:nvPr>
            <p:ph type="title"/>
          </p:nvPr>
        </p:nvSpPr>
        <p:spPr/>
        <p:txBody>
          <a:bodyPr/>
          <a:lstStyle/>
          <a:p>
            <a:r>
              <a:rPr lang="en-US" dirty="0"/>
              <a:t>Construct Random Trees? </a:t>
            </a:r>
          </a:p>
        </p:txBody>
      </p:sp>
      <p:sp>
        <p:nvSpPr>
          <p:cNvPr id="6" name="Content Placeholder 5">
            <a:extLst>
              <a:ext uri="{FF2B5EF4-FFF2-40B4-BE49-F238E27FC236}">
                <a16:creationId xmlns:a16="http://schemas.microsoft.com/office/drawing/2014/main" id="{C8EBAE49-03B9-344D-AC84-C0259429242F}"/>
              </a:ext>
            </a:extLst>
          </p:cNvPr>
          <p:cNvSpPr>
            <a:spLocks noGrp="1"/>
          </p:cNvSpPr>
          <p:nvPr>
            <p:ph idx="1"/>
          </p:nvPr>
        </p:nvSpPr>
        <p:spPr/>
        <p:txBody>
          <a:bodyPr>
            <a:normAutofit/>
          </a:bodyPr>
          <a:lstStyle/>
          <a:p>
            <a:r>
              <a:rPr lang="en-US" dirty="0"/>
              <a:t>Suppose Train 3 Trees : </a:t>
            </a:r>
          </a:p>
          <a:p>
            <a:pPr lvl="1"/>
            <a:r>
              <a:rPr lang="en-US" b="1" dirty="0"/>
              <a:t>3 Bootstrap samples: </a:t>
            </a:r>
            <a:r>
              <a:rPr lang="en-US" dirty="0"/>
              <a:t>bootstrap sampling to generate different subsets of the dataset for training each tree. This means that each tree in the forest is trained on a </a:t>
            </a:r>
            <a:r>
              <a:rPr lang="en-US" b="1" u="sng" dirty="0"/>
              <a:t>random subset of the data, with replacement.</a:t>
            </a:r>
          </a:p>
          <a:p>
            <a:pPr lvl="1"/>
            <a:r>
              <a:rPr lang="en-US" b="1" dirty="0"/>
              <a:t>Inject Feature randomness</a:t>
            </a:r>
            <a:r>
              <a:rPr lang="en-US" dirty="0"/>
              <a:t>: When splitting a node during the construction of a tree, </a:t>
            </a:r>
            <a:r>
              <a:rPr lang="en-US" b="1" u="sng" dirty="0"/>
              <a:t>select a random subset of the features </a:t>
            </a:r>
            <a:r>
              <a:rPr lang="en-US" dirty="0"/>
              <a:t>to consider for the best split. This increases diversity among the trees, which results in a more robust overall model.</a:t>
            </a:r>
          </a:p>
          <a:p>
            <a:pPr lvl="1"/>
            <a:endParaRPr lang="en-US" dirty="0"/>
          </a:p>
          <a:p>
            <a:pPr lvl="1"/>
            <a:endParaRPr lang="en-US" dirty="0"/>
          </a:p>
          <a:p>
            <a:pPr lvl="1"/>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80920A37-C65B-ED43-9FF3-B081A06E4DDC}"/>
              </a:ext>
            </a:extLst>
          </p:cNvPr>
          <p:cNvSpPr>
            <a:spLocks noGrp="1"/>
          </p:cNvSpPr>
          <p:nvPr>
            <p:ph type="sldNum" sz="quarter" idx="12"/>
          </p:nvPr>
        </p:nvSpPr>
        <p:spPr/>
        <p:txBody>
          <a:bodyPr/>
          <a:lstStyle/>
          <a:p>
            <a:fld id="{02456A73-CB17-B748-BD2A-A20F5DD59EC7}" type="slidenum">
              <a:rPr lang="en-US" smtClean="0"/>
              <a:pPr/>
              <a:t>30</a:t>
            </a:fld>
            <a:endParaRPr lang="en-US" dirty="0"/>
          </a:p>
        </p:txBody>
      </p:sp>
      <p:pic>
        <p:nvPicPr>
          <p:cNvPr id="6146" name="Picture 2">
            <a:extLst>
              <a:ext uri="{FF2B5EF4-FFF2-40B4-BE49-F238E27FC236}">
                <a16:creationId xmlns:a16="http://schemas.microsoft.com/office/drawing/2014/main" id="{4A24AF6D-9CD1-62B6-6172-41A94F173DE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4220163"/>
            <a:ext cx="12192000" cy="2389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520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75432-BBD2-831D-9BB7-E48553AFF2CC}"/>
              </a:ext>
            </a:extLst>
          </p:cNvPr>
          <p:cNvSpPr>
            <a:spLocks noGrp="1"/>
          </p:cNvSpPr>
          <p:nvPr>
            <p:ph type="title"/>
          </p:nvPr>
        </p:nvSpPr>
        <p:spPr/>
        <p:txBody>
          <a:bodyPr/>
          <a:lstStyle/>
          <a:p>
            <a:r>
              <a:rPr lang="en-US" dirty="0"/>
              <a:t>Then them THEN ensemble them </a:t>
            </a:r>
          </a:p>
        </p:txBody>
      </p:sp>
      <p:sp>
        <p:nvSpPr>
          <p:cNvPr id="3" name="Content Placeholder 2">
            <a:extLst>
              <a:ext uri="{FF2B5EF4-FFF2-40B4-BE49-F238E27FC236}">
                <a16:creationId xmlns:a16="http://schemas.microsoft.com/office/drawing/2014/main" id="{1934537A-79DB-A50C-5D2C-D7B00764AC84}"/>
              </a:ext>
            </a:extLst>
          </p:cNvPr>
          <p:cNvSpPr>
            <a:spLocks noGrp="1"/>
          </p:cNvSpPr>
          <p:nvPr>
            <p:ph idx="1"/>
          </p:nvPr>
        </p:nvSpPr>
        <p:spPr/>
        <p:txBody>
          <a:bodyPr/>
          <a:lstStyle/>
          <a:p>
            <a:r>
              <a:rPr lang="en-US" dirty="0"/>
              <a:t>Each Tree Performance</a:t>
            </a:r>
          </a:p>
          <a:p>
            <a:pPr lvl="1"/>
            <a:r>
              <a:rPr lang="en-US" dirty="0"/>
              <a:t>Tree 1 - Accuracy: 0.87, AUC: 0.87</a:t>
            </a:r>
          </a:p>
          <a:p>
            <a:pPr lvl="1"/>
            <a:r>
              <a:rPr lang="en-US" dirty="0"/>
              <a:t>Tree 2 - Accuracy: 0.90, AUC: 0.91</a:t>
            </a:r>
          </a:p>
          <a:p>
            <a:pPr lvl="1"/>
            <a:r>
              <a:rPr lang="en-US" dirty="0"/>
              <a:t>Tree 3 - Accuracy: 0.77, AUC: 0.75</a:t>
            </a:r>
          </a:p>
          <a:p>
            <a:r>
              <a:rPr lang="en-US" dirty="0"/>
              <a:t>Combine by AVERAGING each TREE’s prediction</a:t>
            </a:r>
          </a:p>
          <a:p>
            <a:pPr lvl="1"/>
            <a:r>
              <a:rPr lang="en-US" dirty="0"/>
              <a:t>Averaged Model - </a:t>
            </a:r>
            <a:r>
              <a:rPr lang="en-US" sz="2400" b="1" dirty="0"/>
              <a:t>Accuracy: 0.93, AUC: 0.94</a:t>
            </a:r>
          </a:p>
          <a:p>
            <a:r>
              <a:rPr lang="en-US" dirty="0"/>
              <a:t>Notice,</a:t>
            </a:r>
          </a:p>
          <a:p>
            <a:pPr lvl="1"/>
            <a:r>
              <a:rPr lang="en-US" dirty="0"/>
              <a:t>Combined set of Trees produces </a:t>
            </a:r>
            <a:r>
              <a:rPr lang="en-US" b="1" u="sng" dirty="0"/>
              <a:t>higher performance over any single tree </a:t>
            </a:r>
          </a:p>
          <a:p>
            <a:pPr lvl="1"/>
            <a:r>
              <a:rPr lang="en-US" b="1" u="sng" dirty="0"/>
              <a:t>Increases diversity, </a:t>
            </a:r>
            <a:r>
              <a:rPr lang="en-US" dirty="0"/>
              <a:t>resulting in a more robust overall model.</a:t>
            </a:r>
          </a:p>
        </p:txBody>
      </p:sp>
      <p:sp>
        <p:nvSpPr>
          <p:cNvPr id="4" name="Slide Number Placeholder 3">
            <a:extLst>
              <a:ext uri="{FF2B5EF4-FFF2-40B4-BE49-F238E27FC236}">
                <a16:creationId xmlns:a16="http://schemas.microsoft.com/office/drawing/2014/main" id="{CEBA147B-5FC0-C430-6533-50054159F0C9}"/>
              </a:ext>
            </a:extLst>
          </p:cNvPr>
          <p:cNvSpPr>
            <a:spLocks noGrp="1"/>
          </p:cNvSpPr>
          <p:nvPr>
            <p:ph type="sldNum" sz="quarter" idx="12"/>
          </p:nvPr>
        </p:nvSpPr>
        <p:spPr/>
        <p:txBody>
          <a:bodyPr/>
          <a:lstStyle/>
          <a:p>
            <a:fld id="{02456A73-CB17-B748-BD2A-A20F5DD59EC7}" type="slidenum">
              <a:rPr lang="en-US" smtClean="0"/>
              <a:pPr/>
              <a:t>31</a:t>
            </a:fld>
            <a:endParaRPr lang="en-US" dirty="0"/>
          </a:p>
        </p:txBody>
      </p:sp>
    </p:spTree>
    <p:extLst>
      <p:ext uri="{BB962C8B-B14F-4D97-AF65-F5344CB8AC3E}">
        <p14:creationId xmlns:p14="http://schemas.microsoft.com/office/powerpoint/2010/main" val="11862944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EEF9E-08D7-5F06-231C-8EE4280E85F5}"/>
              </a:ext>
            </a:extLst>
          </p:cNvPr>
          <p:cNvSpPr>
            <a:spLocks noGrp="1"/>
          </p:cNvSpPr>
          <p:nvPr>
            <p:ph type="title"/>
          </p:nvPr>
        </p:nvSpPr>
        <p:spPr/>
        <p:txBody>
          <a:bodyPr/>
          <a:lstStyle/>
          <a:p>
            <a:r>
              <a:rPr lang="en-US" dirty="0"/>
              <a:t>Random Forest</a:t>
            </a:r>
          </a:p>
        </p:txBody>
      </p:sp>
      <p:sp>
        <p:nvSpPr>
          <p:cNvPr id="3" name="Content Placeholder 2">
            <a:extLst>
              <a:ext uri="{FF2B5EF4-FFF2-40B4-BE49-F238E27FC236}">
                <a16:creationId xmlns:a16="http://schemas.microsoft.com/office/drawing/2014/main" id="{517E5E05-038B-D7A2-083D-CF80190C4711}"/>
              </a:ext>
            </a:extLst>
          </p:cNvPr>
          <p:cNvSpPr>
            <a:spLocks noGrp="1"/>
          </p:cNvSpPr>
          <p:nvPr>
            <p:ph idx="1"/>
          </p:nvPr>
        </p:nvSpPr>
        <p:spPr>
          <a:xfrm>
            <a:off x="664633" y="1981201"/>
            <a:ext cx="10075084" cy="4409325"/>
          </a:xfrm>
        </p:spPr>
        <p:txBody>
          <a:bodyPr>
            <a:normAutofit fontScale="92500" lnSpcReduction="10000"/>
          </a:bodyPr>
          <a:lstStyle/>
          <a:p>
            <a:r>
              <a:rPr lang="en-US" b="1" dirty="0"/>
              <a:t>Bootstrap Sampling of Rows</a:t>
            </a:r>
            <a:r>
              <a:rPr lang="en-US" dirty="0"/>
              <a:t>: Each tree in the Random Forest is trained on a bootstrap sample of the original dataset. This means that each tree is trained on a random sample of the data where some observations may be repeated and some may be left out. This technique helps in creating diverse trees.</a:t>
            </a:r>
          </a:p>
          <a:p>
            <a:r>
              <a:rPr lang="en-US" b="1" dirty="0"/>
              <a:t>Random Subset of Columns </a:t>
            </a:r>
            <a:r>
              <a:rPr lang="en-US" b="1" u="sng" dirty="0"/>
              <a:t>at Each Split</a:t>
            </a:r>
            <a:r>
              <a:rPr lang="en-US" dirty="0"/>
              <a:t>: When splitting a node, Random Forest </a:t>
            </a:r>
            <a:r>
              <a:rPr lang="en-US" b="1" u="sng" dirty="0"/>
              <a:t>does not</a:t>
            </a:r>
            <a:r>
              <a:rPr lang="en-US" dirty="0"/>
              <a:t> consider all features for the best split. Instead, it randomly selects a subset of features to evaluate for the best split. </a:t>
            </a:r>
          </a:p>
          <a:p>
            <a:pPr lvl="1"/>
            <a:r>
              <a:rPr lang="en-US" dirty="0"/>
              <a:t>This subset is typically the square root of the total number of features for classification problems, and one-third for regression problems. </a:t>
            </a:r>
          </a:p>
          <a:p>
            <a:pPr lvl="1"/>
            <a:r>
              <a:rPr lang="en-US" dirty="0"/>
              <a:t>This technique helps in making the trees less correlated and increases the overall diversity of the forest.</a:t>
            </a:r>
          </a:p>
          <a:p>
            <a:r>
              <a:rPr lang="en-US" dirty="0"/>
              <a:t>Combine Predictions </a:t>
            </a:r>
          </a:p>
          <a:p>
            <a:pPr lvl="1"/>
            <a:r>
              <a:rPr lang="en-US" dirty="0"/>
              <a:t>Classification = Majority Voting </a:t>
            </a:r>
          </a:p>
          <a:p>
            <a:pPr lvl="1"/>
            <a:r>
              <a:rPr lang="en-US" dirty="0"/>
              <a:t>Regression = Averaging </a:t>
            </a:r>
          </a:p>
        </p:txBody>
      </p:sp>
      <p:sp>
        <p:nvSpPr>
          <p:cNvPr id="4" name="Slide Number Placeholder 3">
            <a:extLst>
              <a:ext uri="{FF2B5EF4-FFF2-40B4-BE49-F238E27FC236}">
                <a16:creationId xmlns:a16="http://schemas.microsoft.com/office/drawing/2014/main" id="{1333FE0D-0B0A-BE16-6C1B-C07819436A1C}"/>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32</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285D5575-74F3-D44B-A80C-0742D4162F5C}"/>
              </a:ext>
            </a:extLst>
          </p:cNvPr>
          <p:cNvSpPr>
            <a:spLocks noGrp="1"/>
          </p:cNvSpPr>
          <p:nvPr>
            <p:ph type="body" sz="half" idx="2"/>
          </p:nvPr>
        </p:nvSpPr>
        <p:spPr/>
        <p:txBody>
          <a:bodyPr/>
          <a:lstStyle/>
          <a:p>
            <a:r>
              <a:rPr lang="en-US" dirty="0"/>
              <a:t>How it Works</a:t>
            </a:r>
          </a:p>
        </p:txBody>
      </p:sp>
    </p:spTree>
    <p:extLst>
      <p:ext uri="{BB962C8B-B14F-4D97-AF65-F5344CB8AC3E}">
        <p14:creationId xmlns:p14="http://schemas.microsoft.com/office/powerpoint/2010/main" val="5492842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D767A-CB65-B947-8191-C72C2A2B7929}"/>
              </a:ext>
            </a:extLst>
          </p:cNvPr>
          <p:cNvSpPr>
            <a:spLocks noGrp="1"/>
          </p:cNvSpPr>
          <p:nvPr>
            <p:ph type="title"/>
          </p:nvPr>
        </p:nvSpPr>
        <p:spPr/>
        <p:txBody>
          <a:bodyPr/>
          <a:lstStyle/>
          <a:p>
            <a:r>
              <a:rPr lang="en-US" dirty="0"/>
              <a:t>Advantages </a:t>
            </a:r>
          </a:p>
        </p:txBody>
      </p:sp>
      <p:sp>
        <p:nvSpPr>
          <p:cNvPr id="3" name="Content Placeholder 2">
            <a:extLst>
              <a:ext uri="{FF2B5EF4-FFF2-40B4-BE49-F238E27FC236}">
                <a16:creationId xmlns:a16="http://schemas.microsoft.com/office/drawing/2014/main" id="{7EDEDD87-BABC-F844-BE53-B625BEDA8018}"/>
              </a:ext>
            </a:extLst>
          </p:cNvPr>
          <p:cNvSpPr>
            <a:spLocks noGrp="1"/>
          </p:cNvSpPr>
          <p:nvPr>
            <p:ph idx="1"/>
          </p:nvPr>
        </p:nvSpPr>
        <p:spPr>
          <a:xfrm>
            <a:off x="664633" y="1484027"/>
            <a:ext cx="11240496" cy="4642138"/>
          </a:xfrm>
        </p:spPr>
        <p:txBody>
          <a:bodyPr>
            <a:normAutofit fontScale="85000" lnSpcReduction="20000"/>
          </a:bodyPr>
          <a:lstStyle/>
          <a:p>
            <a:r>
              <a:rPr lang="en-US" dirty="0"/>
              <a:t>It is one of the most accurate learning algorithms available. </a:t>
            </a:r>
          </a:p>
          <a:p>
            <a:pPr lvl="1"/>
            <a:r>
              <a:rPr lang="en-US" b="1" i="0" dirty="0" err="1">
                <a:solidFill>
                  <a:schemeClr val="tx1">
                    <a:lumMod val="85000"/>
                    <a:lumOff val="15000"/>
                  </a:schemeClr>
                </a:solidFill>
                <a:effectLst/>
              </a:rPr>
              <a:t>n_estimators</a:t>
            </a:r>
            <a:r>
              <a:rPr lang="en-US" dirty="0">
                <a:solidFill>
                  <a:schemeClr val="tx1">
                    <a:lumMod val="85000"/>
                    <a:lumOff val="15000"/>
                  </a:schemeClr>
                </a:solidFill>
              </a:rPr>
              <a:t> = number of trees to grow </a:t>
            </a:r>
          </a:p>
          <a:p>
            <a:pPr lvl="1"/>
            <a:r>
              <a:rPr lang="en-US" b="1" dirty="0" err="1">
                <a:solidFill>
                  <a:schemeClr val="tx1">
                    <a:lumMod val="85000"/>
                    <a:lumOff val="15000"/>
                  </a:schemeClr>
                </a:solidFill>
              </a:rPr>
              <a:t>max_features</a:t>
            </a:r>
            <a:r>
              <a:rPr lang="en-US" b="1" dirty="0">
                <a:solidFill>
                  <a:schemeClr val="tx1">
                    <a:lumMod val="85000"/>
                    <a:lumOff val="15000"/>
                  </a:schemeClr>
                </a:solidFill>
              </a:rPr>
              <a:t> </a:t>
            </a:r>
            <a:r>
              <a:rPr lang="en-US" dirty="0">
                <a:solidFill>
                  <a:schemeClr val="tx1">
                    <a:lumMod val="85000"/>
                    <a:lumOff val="15000"/>
                  </a:schemeClr>
                </a:solidFill>
              </a:rPr>
              <a:t>= number of columns to sample </a:t>
            </a:r>
          </a:p>
          <a:p>
            <a:pPr lvl="1"/>
            <a:r>
              <a:rPr lang="en-US" b="1" dirty="0" err="1">
                <a:solidFill>
                  <a:schemeClr val="tx1">
                    <a:lumMod val="85000"/>
                    <a:lumOff val="15000"/>
                  </a:schemeClr>
                </a:solidFill>
              </a:rPr>
              <a:t>min_samples_split</a:t>
            </a:r>
            <a:r>
              <a:rPr lang="en-US" b="1" dirty="0">
                <a:solidFill>
                  <a:schemeClr val="tx1">
                    <a:lumMod val="85000"/>
                    <a:lumOff val="15000"/>
                  </a:schemeClr>
                </a:solidFill>
              </a:rPr>
              <a:t> </a:t>
            </a:r>
            <a:r>
              <a:rPr lang="en-US" dirty="0">
                <a:solidFill>
                  <a:schemeClr val="tx1">
                    <a:lumMod val="85000"/>
                    <a:lumOff val="15000"/>
                  </a:schemeClr>
                </a:solidFill>
              </a:rPr>
              <a:t>= minimum number of observations to consider for split   </a:t>
            </a:r>
          </a:p>
          <a:p>
            <a:r>
              <a:rPr lang="en-US" dirty="0"/>
              <a:t>Robust to overfitting </a:t>
            </a:r>
          </a:p>
          <a:p>
            <a:r>
              <a:rPr lang="en-US" dirty="0"/>
              <a:t>It runs efficiently on large data and can hand thousands of input features </a:t>
            </a:r>
          </a:p>
          <a:p>
            <a:pPr lvl="1"/>
            <a:r>
              <a:rPr lang="en-US" dirty="0"/>
              <a:t>Easily parallelizable </a:t>
            </a:r>
          </a:p>
          <a:p>
            <a:r>
              <a:rPr lang="en-US" dirty="0"/>
              <a:t>It provides an estimate of variables importance.</a:t>
            </a:r>
          </a:p>
          <a:p>
            <a:pPr lvl="1"/>
            <a:r>
              <a:rPr lang="en-US" dirty="0"/>
              <a:t>Though there is some debate in the community about the default variable importance calculation </a:t>
            </a:r>
          </a:p>
          <a:p>
            <a:r>
              <a:rPr lang="en-US" dirty="0"/>
              <a:t>It generates an internal unbiased estimate of the generalization error as the forest building progresses.</a:t>
            </a:r>
          </a:p>
          <a:p>
            <a:pPr lvl="1"/>
            <a:r>
              <a:rPr lang="en-US" dirty="0"/>
              <a:t>OOB error can be used to stop training, </a:t>
            </a:r>
          </a:p>
          <a:p>
            <a:r>
              <a:rPr lang="en-US" dirty="0"/>
              <a:t>It has an effective method for estimating missing data.</a:t>
            </a:r>
          </a:p>
          <a:p>
            <a:pPr lvl="1"/>
            <a:r>
              <a:rPr lang="en-US" dirty="0"/>
              <a:t>But generally pre-processing steps take care of that for you. </a:t>
            </a:r>
          </a:p>
          <a:p>
            <a:endParaRPr lang="en-US" dirty="0"/>
          </a:p>
          <a:p>
            <a:endParaRPr lang="en-US" dirty="0"/>
          </a:p>
        </p:txBody>
      </p:sp>
      <p:sp>
        <p:nvSpPr>
          <p:cNvPr id="4" name="Slide Number Placeholder 3">
            <a:extLst>
              <a:ext uri="{FF2B5EF4-FFF2-40B4-BE49-F238E27FC236}">
                <a16:creationId xmlns:a16="http://schemas.microsoft.com/office/drawing/2014/main" id="{3FB5F0C6-B02C-2243-A80B-607A33D442F1}"/>
              </a:ext>
            </a:extLst>
          </p:cNvPr>
          <p:cNvSpPr>
            <a:spLocks noGrp="1"/>
          </p:cNvSpPr>
          <p:nvPr>
            <p:ph type="sldNum" sz="quarter" idx="12"/>
          </p:nvPr>
        </p:nvSpPr>
        <p:spPr/>
        <p:txBody>
          <a:bodyPr/>
          <a:lstStyle/>
          <a:p>
            <a:fld id="{02456A73-CB17-B748-BD2A-A20F5DD59EC7}" type="slidenum">
              <a:rPr lang="en-US" smtClean="0"/>
              <a:pPr/>
              <a:t>33</a:t>
            </a:fld>
            <a:endParaRPr lang="en-US" dirty="0"/>
          </a:p>
        </p:txBody>
      </p:sp>
      <p:pic>
        <p:nvPicPr>
          <p:cNvPr id="7172" name="Picture 4">
            <a:extLst>
              <a:ext uri="{FF2B5EF4-FFF2-40B4-BE49-F238E27FC236}">
                <a16:creationId xmlns:a16="http://schemas.microsoft.com/office/drawing/2014/main" id="{77D069EC-2D09-7CF2-2213-CDBEE96F3BD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694295" y="1900823"/>
            <a:ext cx="3344585" cy="2112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422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CFE77F-94CC-7BC8-A0C5-DC3025129300}"/>
              </a:ext>
            </a:extLst>
          </p:cNvPr>
          <p:cNvSpPr>
            <a:spLocks noGrp="1"/>
          </p:cNvSpPr>
          <p:nvPr>
            <p:ph type="title"/>
          </p:nvPr>
        </p:nvSpPr>
        <p:spPr/>
        <p:txBody>
          <a:bodyPr/>
          <a:lstStyle/>
          <a:p>
            <a:r>
              <a:rPr lang="en-US" dirty="0"/>
              <a:t>Forests and Tuning Churn</a:t>
            </a:r>
          </a:p>
        </p:txBody>
      </p:sp>
      <p:sp>
        <p:nvSpPr>
          <p:cNvPr id="7" name="Text Placeholder 6">
            <a:extLst>
              <a:ext uri="{FF2B5EF4-FFF2-40B4-BE49-F238E27FC236}">
                <a16:creationId xmlns:a16="http://schemas.microsoft.com/office/drawing/2014/main" id="{07E358CE-9FD3-AA7F-490D-6D23CBC6B0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869A70-1810-67E3-765D-3D925F608399}"/>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34</a:t>
            </a:fld>
            <a:endParaRPr lang="en-US" dirty="0">
              <a:solidFill>
                <a:srgbClr val="FFFFFF"/>
              </a:solidFill>
              <a:latin typeface="Franklin Gothic Book"/>
            </a:endParaRPr>
          </a:p>
        </p:txBody>
      </p:sp>
    </p:spTree>
    <p:extLst>
      <p:ext uri="{BB962C8B-B14F-4D97-AF65-F5344CB8AC3E}">
        <p14:creationId xmlns:p14="http://schemas.microsoft.com/office/powerpoint/2010/main" val="29283734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03FAC-7435-B44E-825D-71796332FC67}"/>
              </a:ext>
            </a:extLst>
          </p:cNvPr>
          <p:cNvSpPr>
            <a:spLocks noGrp="1"/>
          </p:cNvSpPr>
          <p:nvPr>
            <p:ph type="title"/>
          </p:nvPr>
        </p:nvSpPr>
        <p:spPr/>
        <p:txBody>
          <a:bodyPr/>
          <a:lstStyle/>
          <a:p>
            <a:r>
              <a:rPr lang="en-US" dirty="0"/>
              <a:t>Boosting</a:t>
            </a:r>
          </a:p>
        </p:txBody>
      </p:sp>
      <p:sp>
        <p:nvSpPr>
          <p:cNvPr id="3" name="Content Placeholder 2">
            <a:extLst>
              <a:ext uri="{FF2B5EF4-FFF2-40B4-BE49-F238E27FC236}">
                <a16:creationId xmlns:a16="http://schemas.microsoft.com/office/drawing/2014/main" id="{A887785F-41BC-3E44-AFC3-89DF67D42D28}"/>
              </a:ext>
            </a:extLst>
          </p:cNvPr>
          <p:cNvSpPr>
            <a:spLocks noGrp="1"/>
          </p:cNvSpPr>
          <p:nvPr>
            <p:ph idx="1"/>
          </p:nvPr>
        </p:nvSpPr>
        <p:spPr>
          <a:xfrm>
            <a:off x="664633" y="1981201"/>
            <a:ext cx="11148484" cy="4144963"/>
          </a:xfrm>
        </p:spPr>
        <p:txBody>
          <a:bodyPr/>
          <a:lstStyle/>
          <a:p>
            <a:r>
              <a:rPr lang="en-US" b="1" dirty="0"/>
              <a:t>Boosting </a:t>
            </a:r>
            <a:r>
              <a:rPr lang="en-US" dirty="0"/>
              <a:t>is an ensemble technique in which the predictors are </a:t>
            </a:r>
            <a:r>
              <a:rPr lang="en-US" b="1" dirty="0"/>
              <a:t>trained sequentially.</a:t>
            </a:r>
            <a:r>
              <a:rPr lang="en-US" dirty="0"/>
              <a:t> </a:t>
            </a:r>
          </a:p>
          <a:p>
            <a:pPr lvl="1"/>
            <a:r>
              <a:rPr lang="en-US" dirty="0"/>
              <a:t> Essentially </a:t>
            </a:r>
            <a:r>
              <a:rPr lang="en-US" b="1" u="sng" dirty="0"/>
              <a:t>subsequent predictors</a:t>
            </a:r>
            <a:r>
              <a:rPr lang="en-US" u="sng" dirty="0"/>
              <a:t> </a:t>
            </a:r>
            <a:r>
              <a:rPr lang="en-US" b="1" u="sng" dirty="0"/>
              <a:t>learn</a:t>
            </a:r>
            <a:r>
              <a:rPr lang="en-US" dirty="0"/>
              <a:t> from the </a:t>
            </a:r>
            <a:r>
              <a:rPr lang="en-US" b="1" u="sng" dirty="0">
                <a:solidFill>
                  <a:srgbClr val="FF0000"/>
                </a:solidFill>
              </a:rPr>
              <a:t>mistakes</a:t>
            </a:r>
            <a:r>
              <a:rPr lang="en-US" b="1" u="sng" dirty="0"/>
              <a:t> of the previous predictors. </a:t>
            </a:r>
          </a:p>
          <a:p>
            <a:endParaRPr lang="en-US" dirty="0"/>
          </a:p>
        </p:txBody>
      </p:sp>
      <p:sp>
        <p:nvSpPr>
          <p:cNvPr id="4" name="Slide Number Placeholder 3">
            <a:extLst>
              <a:ext uri="{FF2B5EF4-FFF2-40B4-BE49-F238E27FC236}">
                <a16:creationId xmlns:a16="http://schemas.microsoft.com/office/drawing/2014/main" id="{DC3D1E73-B256-7C4E-BF1A-7411228585C0}"/>
              </a:ext>
            </a:extLst>
          </p:cNvPr>
          <p:cNvSpPr>
            <a:spLocks noGrp="1"/>
          </p:cNvSpPr>
          <p:nvPr>
            <p:ph type="sldNum" sz="quarter" idx="12"/>
          </p:nvPr>
        </p:nvSpPr>
        <p:spPr/>
        <p:txBody>
          <a:bodyPr/>
          <a:lstStyle/>
          <a:p>
            <a:fld id="{02456A73-CB17-B748-BD2A-A20F5DD59EC7}" type="slidenum">
              <a:rPr lang="en-US" smtClean="0"/>
              <a:pPr/>
              <a:t>35</a:t>
            </a:fld>
            <a:endParaRPr lang="en-US" dirty="0"/>
          </a:p>
        </p:txBody>
      </p:sp>
      <p:sp>
        <p:nvSpPr>
          <p:cNvPr id="6" name="Text Placeholder 5">
            <a:extLst>
              <a:ext uri="{FF2B5EF4-FFF2-40B4-BE49-F238E27FC236}">
                <a16:creationId xmlns:a16="http://schemas.microsoft.com/office/drawing/2014/main" id="{494D0B99-5C58-1940-AA1F-4D96C49CE066}"/>
              </a:ext>
            </a:extLst>
          </p:cNvPr>
          <p:cNvSpPr>
            <a:spLocks noGrp="1"/>
          </p:cNvSpPr>
          <p:nvPr>
            <p:ph type="body" sz="half" idx="2"/>
          </p:nvPr>
        </p:nvSpPr>
        <p:spPr/>
        <p:txBody>
          <a:bodyPr/>
          <a:lstStyle/>
          <a:p>
            <a:r>
              <a:rPr lang="en-US" dirty="0"/>
              <a:t>Sequential AKA forward learning ensemble method</a:t>
            </a:r>
          </a:p>
        </p:txBody>
      </p:sp>
      <p:pic>
        <p:nvPicPr>
          <p:cNvPr id="5" name="Picture 4">
            <a:extLst>
              <a:ext uri="{FF2B5EF4-FFF2-40B4-BE49-F238E27FC236}">
                <a16:creationId xmlns:a16="http://schemas.microsoft.com/office/drawing/2014/main" id="{82230E90-7E7E-8243-BA69-1265C2010644}"/>
              </a:ext>
            </a:extLst>
          </p:cNvPr>
          <p:cNvPicPr>
            <a:picLocks noChangeAspect="1"/>
          </p:cNvPicPr>
          <p:nvPr/>
        </p:nvPicPr>
        <p:blipFill>
          <a:blip r:embed="rId2"/>
          <a:stretch>
            <a:fillRect/>
          </a:stretch>
        </p:blipFill>
        <p:spPr>
          <a:xfrm>
            <a:off x="1243224" y="2838455"/>
            <a:ext cx="9188258" cy="3544043"/>
          </a:xfrm>
          <a:prstGeom prst="rect">
            <a:avLst/>
          </a:prstGeom>
        </p:spPr>
      </p:pic>
    </p:spTree>
    <p:extLst>
      <p:ext uri="{BB962C8B-B14F-4D97-AF65-F5344CB8AC3E}">
        <p14:creationId xmlns:p14="http://schemas.microsoft.com/office/powerpoint/2010/main" val="699852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07F4A-CFF9-0345-BB77-C441F10DAF48}"/>
              </a:ext>
            </a:extLst>
          </p:cNvPr>
          <p:cNvSpPr>
            <a:spLocks noGrp="1"/>
          </p:cNvSpPr>
          <p:nvPr>
            <p:ph type="title"/>
          </p:nvPr>
        </p:nvSpPr>
        <p:spPr/>
        <p:txBody>
          <a:bodyPr/>
          <a:lstStyle/>
          <a:p>
            <a:r>
              <a:rPr lang="en-US" dirty="0"/>
              <a:t>How Boosting Works</a:t>
            </a:r>
          </a:p>
        </p:txBody>
      </p:sp>
      <p:sp>
        <p:nvSpPr>
          <p:cNvPr id="3" name="Content Placeholder 2">
            <a:extLst>
              <a:ext uri="{FF2B5EF4-FFF2-40B4-BE49-F238E27FC236}">
                <a16:creationId xmlns:a16="http://schemas.microsoft.com/office/drawing/2014/main" id="{CE6D510F-694F-4746-8548-5D046CC5A36E}"/>
              </a:ext>
            </a:extLst>
          </p:cNvPr>
          <p:cNvSpPr>
            <a:spLocks noGrp="1"/>
          </p:cNvSpPr>
          <p:nvPr>
            <p:ph idx="1"/>
          </p:nvPr>
        </p:nvSpPr>
        <p:spPr/>
        <p:txBody>
          <a:bodyPr>
            <a:normAutofit fontScale="85000" lnSpcReduction="20000"/>
          </a:bodyPr>
          <a:lstStyle/>
          <a:p>
            <a:pPr fontAlgn="base"/>
            <a:r>
              <a:rPr lang="en-US" dirty="0"/>
              <a:t>Boosting involves three elements:</a:t>
            </a:r>
          </a:p>
          <a:p>
            <a:pPr marL="571500" lvl="1" indent="-342900" fontAlgn="base">
              <a:buFont typeface="+mj-lt"/>
              <a:buAutoNum type="arabicPeriod"/>
            </a:pPr>
            <a:r>
              <a:rPr lang="en-US" dirty="0"/>
              <a:t>A loss function to be optimized – essentially every ML model is minimizing a loss function </a:t>
            </a:r>
          </a:p>
          <a:p>
            <a:pPr marL="571500" lvl="1" indent="-342900" fontAlgn="base">
              <a:buFont typeface="+mj-lt"/>
              <a:buAutoNum type="arabicPeriod"/>
            </a:pPr>
            <a:r>
              <a:rPr lang="en-US" dirty="0"/>
              <a:t>A weak learner to make predictions –</a:t>
            </a:r>
          </a:p>
          <a:p>
            <a:pPr lvl="2" fontAlgn="base"/>
            <a:r>
              <a:rPr lang="en-US" dirty="0"/>
              <a:t>A weak learner is a model that performs slightly better than random guessing. </a:t>
            </a:r>
          </a:p>
          <a:p>
            <a:pPr lvl="3" fontAlgn="base"/>
            <a:r>
              <a:rPr lang="en-US" dirty="0"/>
              <a:t>Typical algorithms with restrictions: trees, </a:t>
            </a:r>
            <a:r>
              <a:rPr lang="en-US" dirty="0" err="1"/>
              <a:t>knn</a:t>
            </a:r>
            <a:r>
              <a:rPr lang="en-US" dirty="0"/>
              <a:t>, </a:t>
            </a:r>
            <a:r>
              <a:rPr lang="en-US" dirty="0" err="1"/>
              <a:t>mlp</a:t>
            </a:r>
            <a:r>
              <a:rPr lang="en-US" dirty="0"/>
              <a:t>(</a:t>
            </a:r>
            <a:r>
              <a:rPr lang="en-US" dirty="0" err="1"/>
              <a:t>nnet</a:t>
            </a:r>
            <a:r>
              <a:rPr lang="en-US" dirty="0"/>
              <a:t>), naïve bayes, </a:t>
            </a:r>
          </a:p>
          <a:p>
            <a:pPr marL="571500" lvl="1" indent="-342900" fontAlgn="base">
              <a:buFont typeface="+mj-lt"/>
              <a:buAutoNum type="arabicPeriod"/>
            </a:pPr>
            <a:r>
              <a:rPr lang="en-US" dirty="0"/>
              <a:t>An additive model to add weak learners to minimize the loss function.</a:t>
            </a:r>
          </a:p>
          <a:p>
            <a:r>
              <a:rPr lang="en-US" dirty="0"/>
              <a:t>Loss Function </a:t>
            </a:r>
          </a:p>
          <a:p>
            <a:pPr lvl="1"/>
            <a:r>
              <a:rPr lang="en-US" dirty="0"/>
              <a:t>Regression: mean squared error. </a:t>
            </a:r>
          </a:p>
          <a:p>
            <a:pPr lvl="1"/>
            <a:r>
              <a:rPr lang="en-US" dirty="0"/>
              <a:t>Classification:   logarithmic loss.</a:t>
            </a:r>
          </a:p>
          <a:p>
            <a:r>
              <a:rPr lang="en-US" dirty="0"/>
              <a:t>Weak Learner</a:t>
            </a:r>
          </a:p>
          <a:p>
            <a:pPr lvl="1"/>
            <a:r>
              <a:rPr lang="en-US" dirty="0"/>
              <a:t>regression decision trees are used that output real values</a:t>
            </a:r>
          </a:p>
          <a:p>
            <a:r>
              <a:rPr lang="en-US" dirty="0"/>
              <a:t>Additive model </a:t>
            </a:r>
          </a:p>
          <a:p>
            <a:pPr lvl="1"/>
            <a:r>
              <a:rPr lang="en-US" dirty="0"/>
              <a:t>Trees are added one at a time (sequentially) </a:t>
            </a:r>
          </a:p>
          <a:p>
            <a:pPr lvl="1"/>
            <a:endParaRPr lang="en-US" dirty="0"/>
          </a:p>
        </p:txBody>
      </p:sp>
      <p:sp>
        <p:nvSpPr>
          <p:cNvPr id="4" name="Slide Number Placeholder 3">
            <a:extLst>
              <a:ext uri="{FF2B5EF4-FFF2-40B4-BE49-F238E27FC236}">
                <a16:creationId xmlns:a16="http://schemas.microsoft.com/office/drawing/2014/main" id="{2712814C-04FF-C146-A487-749EA3290549}"/>
              </a:ext>
            </a:extLst>
          </p:cNvPr>
          <p:cNvSpPr>
            <a:spLocks noGrp="1"/>
          </p:cNvSpPr>
          <p:nvPr>
            <p:ph type="sldNum" sz="quarter" idx="12"/>
          </p:nvPr>
        </p:nvSpPr>
        <p:spPr/>
        <p:txBody>
          <a:bodyPr/>
          <a:lstStyle/>
          <a:p>
            <a:fld id="{02456A73-CB17-B748-BD2A-A20F5DD59EC7}" type="slidenum">
              <a:rPr lang="en-US" smtClean="0"/>
              <a:pPr/>
              <a:t>36</a:t>
            </a:fld>
            <a:endParaRPr lang="en-US" dirty="0"/>
          </a:p>
        </p:txBody>
      </p:sp>
    </p:spTree>
    <p:extLst>
      <p:ext uri="{BB962C8B-B14F-4D97-AF65-F5344CB8AC3E}">
        <p14:creationId xmlns:p14="http://schemas.microsoft.com/office/powerpoint/2010/main" val="3693120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0B0BC-A17B-9549-8563-CFED49C6943F}"/>
              </a:ext>
            </a:extLst>
          </p:cNvPr>
          <p:cNvSpPr>
            <a:spLocks noGrp="1"/>
          </p:cNvSpPr>
          <p:nvPr>
            <p:ph type="title"/>
          </p:nvPr>
        </p:nvSpPr>
        <p:spPr/>
        <p:txBody>
          <a:bodyPr/>
          <a:lstStyle/>
          <a:p>
            <a:r>
              <a:rPr lang="en-US" dirty="0"/>
              <a:t>Gradient Boosting</a:t>
            </a:r>
          </a:p>
        </p:txBody>
      </p:sp>
      <p:sp>
        <p:nvSpPr>
          <p:cNvPr id="5" name="Content Placeholder 4">
            <a:extLst>
              <a:ext uri="{FF2B5EF4-FFF2-40B4-BE49-F238E27FC236}">
                <a16:creationId xmlns:a16="http://schemas.microsoft.com/office/drawing/2014/main" id="{329EEA08-D4B3-E54E-9AC9-CDB7F51B6436}"/>
              </a:ext>
            </a:extLst>
          </p:cNvPr>
          <p:cNvSpPr>
            <a:spLocks noGrp="1"/>
          </p:cNvSpPr>
          <p:nvPr>
            <p:ph idx="1"/>
          </p:nvPr>
        </p:nvSpPr>
        <p:spPr/>
        <p:txBody>
          <a:bodyPr>
            <a:normAutofit fontScale="70000" lnSpcReduction="20000"/>
          </a:bodyPr>
          <a:lstStyle/>
          <a:p>
            <a:r>
              <a:rPr lang="en-US" b="1" dirty="0"/>
              <a:t>Number of Trees </a:t>
            </a:r>
          </a:p>
          <a:p>
            <a:pPr lvl="1"/>
            <a:r>
              <a:rPr lang="en-US" b="1" dirty="0"/>
              <a:t>Constrains the algorithm, it learns sequentially </a:t>
            </a:r>
          </a:p>
          <a:p>
            <a:r>
              <a:rPr lang="en-US" b="1" dirty="0"/>
              <a:t> Tree Constraints (our standard set) </a:t>
            </a:r>
          </a:p>
          <a:p>
            <a:pPr lvl="1" fontAlgn="base"/>
            <a:r>
              <a:rPr lang="en-US" b="1" dirty="0"/>
              <a:t>Tree depth</a:t>
            </a:r>
            <a:r>
              <a:rPr lang="en-US" dirty="0"/>
              <a:t>, deeper trees are more complex trees and shorter trees are preferred. Generally, better results are seen with 4-8 levels.</a:t>
            </a:r>
          </a:p>
          <a:p>
            <a:pPr lvl="1" fontAlgn="base"/>
            <a:r>
              <a:rPr lang="en-US" b="1" dirty="0"/>
              <a:t>Number of nodes or number of leaves</a:t>
            </a:r>
            <a:r>
              <a:rPr lang="en-US" dirty="0"/>
              <a:t>, like depth, this can constrain the size of the tree, but is not constrained to a symmetrical structure if other constraints are used.</a:t>
            </a:r>
          </a:p>
          <a:p>
            <a:pPr lvl="1" fontAlgn="base"/>
            <a:r>
              <a:rPr lang="en-US" b="1" dirty="0"/>
              <a:t>Number of observations per split</a:t>
            </a:r>
            <a:r>
              <a:rPr lang="en-US" dirty="0"/>
              <a:t> imposes a minimum constraint on the amount of training data at a training node before a split can be considered</a:t>
            </a:r>
          </a:p>
          <a:p>
            <a:pPr fontAlgn="base"/>
            <a:r>
              <a:rPr lang="en-US" b="1" dirty="0"/>
              <a:t>Weighted Updates</a:t>
            </a:r>
          </a:p>
          <a:p>
            <a:pPr lvl="1" fontAlgn="base"/>
            <a:r>
              <a:rPr lang="en-US" dirty="0"/>
              <a:t>The predictions of each tree are added together sequentially. The </a:t>
            </a:r>
            <a:r>
              <a:rPr lang="en-US" i="1" dirty="0"/>
              <a:t>contribution of each tree to this sum can be weighted to slow down the learning </a:t>
            </a:r>
            <a:r>
              <a:rPr lang="en-US" dirty="0"/>
              <a:t>by the algorithm. This </a:t>
            </a:r>
            <a:r>
              <a:rPr lang="en-US" b="1" u="sng" dirty="0"/>
              <a:t>weighting is called a shrinkage </a:t>
            </a:r>
            <a:r>
              <a:rPr lang="en-US" dirty="0"/>
              <a:t>or a </a:t>
            </a:r>
            <a:r>
              <a:rPr lang="en-US" b="1" u="sng" dirty="0"/>
              <a:t>learning rate.</a:t>
            </a:r>
          </a:p>
          <a:p>
            <a:pPr fontAlgn="base"/>
            <a:r>
              <a:rPr lang="en-US" b="1" dirty="0"/>
              <a:t>Stochastic Gradient Boosting</a:t>
            </a:r>
          </a:p>
          <a:p>
            <a:pPr lvl="1" fontAlgn="base"/>
            <a:r>
              <a:rPr lang="en-US" i="1" dirty="0"/>
              <a:t>At each iteration a subsample of the training data is drawn at random (</a:t>
            </a:r>
            <a:r>
              <a:rPr lang="en-US" b="1" i="1" u="sng" dirty="0"/>
              <a:t>without replacement</a:t>
            </a:r>
            <a:r>
              <a:rPr lang="en-US" i="1" dirty="0"/>
              <a:t>) from the full training dataset. The randomly selected subsample is then used, instead of the full sample, to fit the base learner.</a:t>
            </a:r>
          </a:p>
          <a:p>
            <a:pPr lvl="2" fontAlgn="base"/>
            <a:r>
              <a:rPr lang="en-US" dirty="0"/>
              <a:t>Subsample rows and columns before creating each tree.</a:t>
            </a:r>
          </a:p>
          <a:p>
            <a:pPr lvl="2" fontAlgn="base"/>
            <a:r>
              <a:rPr lang="en-US" dirty="0"/>
              <a:t>Subsample columns before considering each split.</a:t>
            </a:r>
          </a:p>
        </p:txBody>
      </p:sp>
      <p:sp>
        <p:nvSpPr>
          <p:cNvPr id="4" name="Slide Number Placeholder 3">
            <a:extLst>
              <a:ext uri="{FF2B5EF4-FFF2-40B4-BE49-F238E27FC236}">
                <a16:creationId xmlns:a16="http://schemas.microsoft.com/office/drawing/2014/main" id="{7471545A-623D-7648-BFEF-E156EF007B24}"/>
              </a:ext>
            </a:extLst>
          </p:cNvPr>
          <p:cNvSpPr>
            <a:spLocks noGrp="1"/>
          </p:cNvSpPr>
          <p:nvPr>
            <p:ph type="sldNum" sz="quarter" idx="12"/>
          </p:nvPr>
        </p:nvSpPr>
        <p:spPr/>
        <p:txBody>
          <a:bodyPr/>
          <a:lstStyle/>
          <a:p>
            <a:fld id="{02456A73-CB17-B748-BD2A-A20F5DD59EC7}" type="slidenum">
              <a:rPr lang="en-US" smtClean="0"/>
              <a:pPr/>
              <a:t>37</a:t>
            </a:fld>
            <a:endParaRPr lang="en-US" dirty="0"/>
          </a:p>
        </p:txBody>
      </p:sp>
      <p:sp>
        <p:nvSpPr>
          <p:cNvPr id="6" name="Text Placeholder 5">
            <a:extLst>
              <a:ext uri="{FF2B5EF4-FFF2-40B4-BE49-F238E27FC236}">
                <a16:creationId xmlns:a16="http://schemas.microsoft.com/office/drawing/2014/main" id="{E2F3AF76-4217-5A43-9DCF-CDC229220C17}"/>
              </a:ext>
            </a:extLst>
          </p:cNvPr>
          <p:cNvSpPr>
            <a:spLocks noGrp="1"/>
          </p:cNvSpPr>
          <p:nvPr>
            <p:ph type="body" sz="half" idx="2"/>
          </p:nvPr>
        </p:nvSpPr>
        <p:spPr/>
        <p:txBody>
          <a:bodyPr/>
          <a:lstStyle/>
          <a:p>
            <a:r>
              <a:rPr lang="en-US" dirty="0"/>
              <a:t>Key components </a:t>
            </a:r>
          </a:p>
        </p:txBody>
      </p:sp>
    </p:spTree>
    <p:extLst>
      <p:ext uri="{BB962C8B-B14F-4D97-AF65-F5344CB8AC3E}">
        <p14:creationId xmlns:p14="http://schemas.microsoft.com/office/powerpoint/2010/main" val="22139933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75D86-381F-D749-8607-185E490AD94C}"/>
              </a:ext>
            </a:extLst>
          </p:cNvPr>
          <p:cNvSpPr>
            <a:spLocks noGrp="1"/>
          </p:cNvSpPr>
          <p:nvPr>
            <p:ph type="title"/>
          </p:nvPr>
        </p:nvSpPr>
        <p:spPr/>
        <p:txBody>
          <a:bodyPr/>
          <a:lstStyle/>
          <a:p>
            <a:r>
              <a:rPr lang="en-US" dirty="0"/>
              <a:t>Gradient Boosting Machine </a:t>
            </a:r>
          </a:p>
        </p:txBody>
      </p:sp>
      <p:sp>
        <p:nvSpPr>
          <p:cNvPr id="4" name="Slide Number Placeholder 3">
            <a:extLst>
              <a:ext uri="{FF2B5EF4-FFF2-40B4-BE49-F238E27FC236}">
                <a16:creationId xmlns:a16="http://schemas.microsoft.com/office/drawing/2014/main" id="{37CD0C87-E16E-3649-99F0-528B53CF7187}"/>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38</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786055D0-32D2-9C46-BAAA-CEAF72918CD7}"/>
              </a:ext>
            </a:extLst>
          </p:cNvPr>
          <p:cNvSpPr>
            <a:spLocks noGrp="1"/>
          </p:cNvSpPr>
          <p:nvPr>
            <p:ph type="body" sz="half" idx="2"/>
          </p:nvPr>
        </p:nvSpPr>
        <p:spPr/>
        <p:txBody>
          <a:bodyPr/>
          <a:lstStyle/>
          <a:p>
            <a:r>
              <a:rPr lang="en-US" dirty="0"/>
              <a:t>Steps of Gradient Boosting </a:t>
            </a:r>
          </a:p>
        </p:txBody>
      </p:sp>
      <p:sp>
        <p:nvSpPr>
          <p:cNvPr id="6" name="AutoShape 2">
            <a:extLst>
              <a:ext uri="{FF2B5EF4-FFF2-40B4-BE49-F238E27FC236}">
                <a16:creationId xmlns:a16="http://schemas.microsoft.com/office/drawing/2014/main" id="{C0D6638C-5F58-7846-B3C4-071754F0D939}"/>
              </a:ext>
            </a:extLst>
          </p:cNvPr>
          <p:cNvSpPr>
            <a:spLocks noGrp="1" noChangeAspect="1" noChangeArrowheads="1"/>
          </p:cNvSpPr>
          <p:nvPr>
            <p:ph idx="1"/>
          </p:nvPr>
        </p:nvSpPr>
        <p:spPr bwMode="auto">
          <a:xfrm>
            <a:off x="664633" y="1981201"/>
            <a:ext cx="11148484" cy="41449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Step 1 – make initial prediction</a:t>
            </a:r>
          </a:p>
          <a:p>
            <a:r>
              <a:rPr lang="en-US" dirty="0"/>
              <a:t>Step 2 – compute pseudo residuals </a:t>
            </a:r>
          </a:p>
          <a:p>
            <a:r>
              <a:rPr lang="en-US" dirty="0"/>
              <a:t>Step 3 – predict pseudo residuals </a:t>
            </a:r>
          </a:p>
          <a:p>
            <a:r>
              <a:rPr lang="en-US" dirty="0"/>
              <a:t>Step 4 – make a prediction </a:t>
            </a:r>
          </a:p>
          <a:p>
            <a:r>
              <a:rPr lang="en-US" dirty="0"/>
              <a:t>Step 5 – rinse repeat </a:t>
            </a:r>
          </a:p>
          <a:p>
            <a:endParaRPr lang="en-US" dirty="0"/>
          </a:p>
          <a:p>
            <a:endParaRPr lang="en-US" dirty="0"/>
          </a:p>
        </p:txBody>
      </p:sp>
    </p:spTree>
    <p:extLst>
      <p:ext uri="{BB962C8B-B14F-4D97-AF65-F5344CB8AC3E}">
        <p14:creationId xmlns:p14="http://schemas.microsoft.com/office/powerpoint/2010/main" val="3875857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BF514-B6A6-2D41-8BDD-6412E24C7E66}"/>
              </a:ext>
            </a:extLst>
          </p:cNvPr>
          <p:cNvSpPr>
            <a:spLocks noGrp="1"/>
          </p:cNvSpPr>
          <p:nvPr>
            <p:ph type="title"/>
          </p:nvPr>
        </p:nvSpPr>
        <p:spPr/>
        <p:txBody>
          <a:bodyPr/>
          <a:lstStyle/>
          <a:p>
            <a:r>
              <a:rPr lang="en-US" dirty="0"/>
              <a:t>Gradient Boosting </a:t>
            </a:r>
          </a:p>
        </p:txBody>
      </p:sp>
      <p:sp>
        <p:nvSpPr>
          <p:cNvPr id="3" name="Content Placeholder 2">
            <a:extLst>
              <a:ext uri="{FF2B5EF4-FFF2-40B4-BE49-F238E27FC236}">
                <a16:creationId xmlns:a16="http://schemas.microsoft.com/office/drawing/2014/main" id="{82689934-98EC-E54A-B4E6-876B0BD2B1AC}"/>
              </a:ext>
            </a:extLst>
          </p:cNvPr>
          <p:cNvSpPr>
            <a:spLocks noGrp="1"/>
          </p:cNvSpPr>
          <p:nvPr>
            <p:ph idx="1"/>
          </p:nvPr>
        </p:nvSpPr>
        <p:spPr/>
        <p:txBody>
          <a:bodyPr/>
          <a:lstStyle/>
          <a:p>
            <a:r>
              <a:rPr lang="en-US" dirty="0"/>
              <a:t>Make Initial Prediction – Average of the Target Variable</a:t>
            </a:r>
          </a:p>
        </p:txBody>
      </p:sp>
      <p:sp>
        <p:nvSpPr>
          <p:cNvPr id="4" name="Slide Number Placeholder 3">
            <a:extLst>
              <a:ext uri="{FF2B5EF4-FFF2-40B4-BE49-F238E27FC236}">
                <a16:creationId xmlns:a16="http://schemas.microsoft.com/office/drawing/2014/main" id="{E3998582-AFEA-9541-85EB-151758E4FF80}"/>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39</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C3292856-9A35-694B-A92B-97262C952A7A}"/>
              </a:ext>
            </a:extLst>
          </p:cNvPr>
          <p:cNvSpPr>
            <a:spLocks noGrp="1"/>
          </p:cNvSpPr>
          <p:nvPr>
            <p:ph type="body" sz="half" idx="2"/>
          </p:nvPr>
        </p:nvSpPr>
        <p:spPr/>
        <p:txBody>
          <a:bodyPr/>
          <a:lstStyle/>
          <a:p>
            <a:r>
              <a:rPr lang="en-US" dirty="0"/>
              <a:t>Step 1 – make initial prediction</a:t>
            </a:r>
          </a:p>
        </p:txBody>
      </p:sp>
      <p:graphicFrame>
        <p:nvGraphicFramePr>
          <p:cNvPr id="7" name="Table 6">
            <a:extLst>
              <a:ext uri="{FF2B5EF4-FFF2-40B4-BE49-F238E27FC236}">
                <a16:creationId xmlns:a16="http://schemas.microsoft.com/office/drawing/2014/main" id="{B4E285E8-B5F0-0C4A-85E3-187602864D3E}"/>
              </a:ext>
            </a:extLst>
          </p:cNvPr>
          <p:cNvGraphicFramePr>
            <a:graphicFrameLocks noGrp="1"/>
          </p:cNvGraphicFramePr>
          <p:nvPr/>
        </p:nvGraphicFramePr>
        <p:xfrm>
          <a:off x="997939" y="2596408"/>
          <a:ext cx="4953000" cy="2235200"/>
        </p:xfrm>
        <a:graphic>
          <a:graphicData uri="http://schemas.openxmlformats.org/drawingml/2006/table">
            <a:tbl>
              <a:tblPr firstRow="1" firstCol="1">
                <a:tableStyleId>{21E4AEA4-8DFA-4A89-87EB-49C32662AFE0}</a:tableStyleId>
              </a:tblPr>
              <a:tblGrid>
                <a:gridCol w="825500">
                  <a:extLst>
                    <a:ext uri="{9D8B030D-6E8A-4147-A177-3AD203B41FA5}">
                      <a16:colId xmlns:a16="http://schemas.microsoft.com/office/drawing/2014/main" val="1834923103"/>
                    </a:ext>
                  </a:extLst>
                </a:gridCol>
                <a:gridCol w="825500">
                  <a:extLst>
                    <a:ext uri="{9D8B030D-6E8A-4147-A177-3AD203B41FA5}">
                      <a16:colId xmlns:a16="http://schemas.microsoft.com/office/drawing/2014/main" val="3043464486"/>
                    </a:ext>
                  </a:extLst>
                </a:gridCol>
                <a:gridCol w="825500">
                  <a:extLst>
                    <a:ext uri="{9D8B030D-6E8A-4147-A177-3AD203B41FA5}">
                      <a16:colId xmlns:a16="http://schemas.microsoft.com/office/drawing/2014/main" val="3389320752"/>
                    </a:ext>
                  </a:extLst>
                </a:gridCol>
                <a:gridCol w="825500">
                  <a:extLst>
                    <a:ext uri="{9D8B030D-6E8A-4147-A177-3AD203B41FA5}">
                      <a16:colId xmlns:a16="http://schemas.microsoft.com/office/drawing/2014/main" val="3840217728"/>
                    </a:ext>
                  </a:extLst>
                </a:gridCol>
                <a:gridCol w="825500">
                  <a:extLst>
                    <a:ext uri="{9D8B030D-6E8A-4147-A177-3AD203B41FA5}">
                      <a16:colId xmlns:a16="http://schemas.microsoft.com/office/drawing/2014/main" val="212727400"/>
                    </a:ext>
                  </a:extLst>
                </a:gridCol>
                <a:gridCol w="825500">
                  <a:extLst>
                    <a:ext uri="{9D8B030D-6E8A-4147-A177-3AD203B41FA5}">
                      <a16:colId xmlns:a16="http://schemas.microsoft.com/office/drawing/2014/main" val="2019886755"/>
                    </a:ext>
                  </a:extLst>
                </a:gridCol>
              </a:tblGrid>
              <a:tr h="203200">
                <a:tc>
                  <a:txBody>
                    <a:bodyPr/>
                    <a:lstStyle/>
                    <a:p>
                      <a:pPr algn="r" fontAlgn="b"/>
                      <a:r>
                        <a:rPr lang="en-US" sz="1200" u="none" strike="noStrike">
                          <a:effectLst/>
                        </a:rPr>
                        <a:t>av_total</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1200" u="none" strike="noStrike">
                          <a:effectLst/>
                        </a:rPr>
                        <a:t>land_sf</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1200" u="none" strike="noStrike">
                          <a:effectLst/>
                        </a:rPr>
                        <a:t>living_area</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1200" u="none" strike="noStrike">
                          <a:effectLst/>
                        </a:rPr>
                        <a:t>num_floors</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1200" u="none" strike="noStrike">
                          <a:effectLst/>
                        </a:rPr>
                        <a:t>bld_age</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a:effectLst/>
                        </a:rPr>
                        <a:t>avg_pred</a:t>
                      </a:r>
                      <a:endParaRPr lang="en-US" sz="1200" b="1" i="0" u="none" strike="noStrike">
                        <a:solidFill>
                          <a:srgbClr val="000000"/>
                        </a:solidFill>
                        <a:effectLst/>
                        <a:latin typeface="Lucida Sans" panose="020B0602030504020204" pitchFamily="34" charset="77"/>
                      </a:endParaRPr>
                    </a:p>
                  </a:txBody>
                  <a:tcPr marL="9525" marR="9525" marT="9525" marB="0" anchor="b"/>
                </a:tc>
                <a:extLst>
                  <a:ext uri="{0D108BD9-81ED-4DB2-BD59-A6C34878D82A}">
                    <a16:rowId xmlns:a16="http://schemas.microsoft.com/office/drawing/2014/main" val="189986049"/>
                  </a:ext>
                </a:extLst>
              </a:tr>
              <a:tr h="203200">
                <a:tc>
                  <a:txBody>
                    <a:bodyPr/>
                    <a:lstStyle/>
                    <a:p>
                      <a:pPr algn="r" fontAlgn="b"/>
                      <a:r>
                        <a:rPr lang="en-US" sz="900" u="none" strike="noStrike">
                          <a:effectLst/>
                        </a:rPr>
                        <a:t>321200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10288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1681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extLst>
                  <a:ext uri="{0D108BD9-81ED-4DB2-BD59-A6C34878D82A}">
                    <a16:rowId xmlns:a16="http://schemas.microsoft.com/office/drawing/2014/main" val="3751458627"/>
                  </a:ext>
                </a:extLst>
              </a:tr>
              <a:tr h="203200">
                <a:tc>
                  <a:txBody>
                    <a:bodyPr/>
                    <a:lstStyle/>
                    <a:p>
                      <a:pPr algn="r" fontAlgn="b"/>
                      <a:r>
                        <a:rPr lang="en-US" sz="900" u="none" strike="noStrike">
                          <a:effectLst/>
                        </a:rPr>
                        <a:t>450500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3187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1868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extLst>
                  <a:ext uri="{0D108BD9-81ED-4DB2-BD59-A6C34878D82A}">
                    <a16:rowId xmlns:a16="http://schemas.microsoft.com/office/drawing/2014/main" val="2301813350"/>
                  </a:ext>
                </a:extLst>
              </a:tr>
              <a:tr h="203200">
                <a:tc>
                  <a:txBody>
                    <a:bodyPr/>
                    <a:lstStyle/>
                    <a:p>
                      <a:pPr algn="r" fontAlgn="b"/>
                      <a:r>
                        <a:rPr lang="en-US" sz="900" u="none" strike="noStrike">
                          <a:effectLst/>
                        </a:rPr>
                        <a:t>794300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6007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2146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extLst>
                  <a:ext uri="{0D108BD9-81ED-4DB2-BD59-A6C34878D82A}">
                    <a16:rowId xmlns:a16="http://schemas.microsoft.com/office/drawing/2014/main" val="1143494058"/>
                  </a:ext>
                </a:extLst>
              </a:tr>
              <a:tr h="203200">
                <a:tc>
                  <a:txBody>
                    <a:bodyPr/>
                    <a:lstStyle/>
                    <a:p>
                      <a:pPr algn="r" fontAlgn="b"/>
                      <a:r>
                        <a:rPr lang="en-US" sz="900" u="none" strike="noStrike">
                          <a:effectLst/>
                        </a:rPr>
                        <a:t>342100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5500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1357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1.5</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extLst>
                  <a:ext uri="{0D108BD9-81ED-4DB2-BD59-A6C34878D82A}">
                    <a16:rowId xmlns:a16="http://schemas.microsoft.com/office/drawing/2014/main" val="87814214"/>
                  </a:ext>
                </a:extLst>
              </a:tr>
              <a:tr h="203200">
                <a:tc>
                  <a:txBody>
                    <a:bodyPr/>
                    <a:lstStyle/>
                    <a:p>
                      <a:pPr algn="r" fontAlgn="b"/>
                      <a:r>
                        <a:rPr lang="en-US" sz="900" u="none" strike="noStrike">
                          <a:effectLst/>
                        </a:rPr>
                        <a:t>444700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3026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2346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2.5</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121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extLst>
                  <a:ext uri="{0D108BD9-81ED-4DB2-BD59-A6C34878D82A}">
                    <a16:rowId xmlns:a16="http://schemas.microsoft.com/office/drawing/2014/main" val="1788690516"/>
                  </a:ext>
                </a:extLst>
              </a:tr>
              <a:tr h="203200">
                <a:tc>
                  <a:txBody>
                    <a:bodyPr/>
                    <a:lstStyle/>
                    <a:p>
                      <a:pPr algn="r" fontAlgn="b"/>
                      <a:r>
                        <a:rPr lang="en-US" sz="900" u="none" strike="noStrike">
                          <a:effectLst/>
                        </a:rPr>
                        <a:t>518500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4950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2032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extLst>
                  <a:ext uri="{0D108BD9-81ED-4DB2-BD59-A6C34878D82A}">
                    <a16:rowId xmlns:a16="http://schemas.microsoft.com/office/drawing/2014/main" val="374871037"/>
                  </a:ext>
                </a:extLst>
              </a:tr>
              <a:tr h="203200">
                <a:tc>
                  <a:txBody>
                    <a:bodyPr/>
                    <a:lstStyle/>
                    <a:p>
                      <a:pPr algn="r" fontAlgn="b"/>
                      <a:r>
                        <a:rPr lang="en-US" sz="900" u="none" strike="noStrike">
                          <a:effectLst/>
                        </a:rPr>
                        <a:t>467200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7500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1648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134</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extLst>
                  <a:ext uri="{0D108BD9-81ED-4DB2-BD59-A6C34878D82A}">
                    <a16:rowId xmlns:a16="http://schemas.microsoft.com/office/drawing/2014/main" val="2220560623"/>
                  </a:ext>
                </a:extLst>
              </a:tr>
              <a:tr h="203200">
                <a:tc>
                  <a:txBody>
                    <a:bodyPr/>
                    <a:lstStyle/>
                    <a:p>
                      <a:pPr algn="r" fontAlgn="b"/>
                      <a:r>
                        <a:rPr lang="en-US" sz="900" u="none" strike="noStrike">
                          <a:effectLst/>
                        </a:rPr>
                        <a:t>432600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5000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1772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111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extLst>
                  <a:ext uri="{0D108BD9-81ED-4DB2-BD59-A6C34878D82A}">
                    <a16:rowId xmlns:a16="http://schemas.microsoft.com/office/drawing/2014/main" val="2657534733"/>
                  </a:ext>
                </a:extLst>
              </a:tr>
              <a:tr h="203200">
                <a:tc>
                  <a:txBody>
                    <a:bodyPr/>
                    <a:lstStyle/>
                    <a:p>
                      <a:pPr algn="r" fontAlgn="b"/>
                      <a:r>
                        <a:rPr lang="en-US" sz="900" u="none" strike="noStrike">
                          <a:effectLst/>
                        </a:rPr>
                        <a:t>294900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6400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1532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88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extLst>
                  <a:ext uri="{0D108BD9-81ED-4DB2-BD59-A6C34878D82A}">
                    <a16:rowId xmlns:a16="http://schemas.microsoft.com/office/drawing/2014/main" val="1467011700"/>
                  </a:ext>
                </a:extLst>
              </a:tr>
              <a:tr h="203200">
                <a:tc>
                  <a:txBody>
                    <a:bodyPr/>
                    <a:lstStyle/>
                    <a:p>
                      <a:pPr algn="r" fontAlgn="b"/>
                      <a:r>
                        <a:rPr lang="en-US" sz="900" u="none" strike="noStrike">
                          <a:effectLst/>
                        </a:rPr>
                        <a:t>329200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4449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1224</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96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extLst>
                  <a:ext uri="{0D108BD9-81ED-4DB2-BD59-A6C34878D82A}">
                    <a16:rowId xmlns:a16="http://schemas.microsoft.com/office/drawing/2014/main" val="190816810"/>
                  </a:ext>
                </a:extLst>
              </a:tr>
            </a:tbl>
          </a:graphicData>
        </a:graphic>
      </p:graphicFrame>
      <p:sp>
        <p:nvSpPr>
          <p:cNvPr id="8" name="TextBox 7">
            <a:extLst>
              <a:ext uri="{FF2B5EF4-FFF2-40B4-BE49-F238E27FC236}">
                <a16:creationId xmlns:a16="http://schemas.microsoft.com/office/drawing/2014/main" id="{2534586E-E56E-6742-A472-E12F6AD91C4F}"/>
              </a:ext>
            </a:extLst>
          </p:cNvPr>
          <p:cNvSpPr txBox="1"/>
          <p:nvPr/>
        </p:nvSpPr>
        <p:spPr>
          <a:xfrm>
            <a:off x="997939" y="5077483"/>
            <a:ext cx="7315200" cy="369332"/>
          </a:xfrm>
          <a:prstGeom prst="rect">
            <a:avLst/>
          </a:prstGeom>
          <a:noFill/>
        </p:spPr>
        <p:txBody>
          <a:bodyPr wrap="square" rtlCol="0">
            <a:spAutoFit/>
          </a:bodyPr>
          <a:lstStyle/>
          <a:p>
            <a:r>
              <a:rPr lang="en-US" dirty="0"/>
              <a:t>Here our initial prediction is the AVERAGE of AV_TOTAL </a:t>
            </a:r>
          </a:p>
        </p:txBody>
      </p:sp>
    </p:spTree>
    <p:extLst>
      <p:ext uri="{BB962C8B-B14F-4D97-AF65-F5344CB8AC3E}">
        <p14:creationId xmlns:p14="http://schemas.microsoft.com/office/powerpoint/2010/main" val="3816942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614D-F8AD-C24E-AA1B-506261DE3B47}"/>
              </a:ext>
            </a:extLst>
          </p:cNvPr>
          <p:cNvSpPr>
            <a:spLocks noGrp="1"/>
          </p:cNvSpPr>
          <p:nvPr>
            <p:ph type="title"/>
          </p:nvPr>
        </p:nvSpPr>
        <p:spPr/>
        <p:txBody>
          <a:bodyPr/>
          <a:lstStyle/>
          <a:p>
            <a:r>
              <a:rPr lang="en-US" dirty="0"/>
              <a:t>Gradient Boosting </a:t>
            </a:r>
          </a:p>
        </p:txBody>
      </p:sp>
      <p:sp>
        <p:nvSpPr>
          <p:cNvPr id="3" name="Content Placeholder 2">
            <a:extLst>
              <a:ext uri="{FF2B5EF4-FFF2-40B4-BE49-F238E27FC236}">
                <a16:creationId xmlns:a16="http://schemas.microsoft.com/office/drawing/2014/main" id="{305B7799-C210-D444-A266-07AC23956B1D}"/>
              </a:ext>
            </a:extLst>
          </p:cNvPr>
          <p:cNvSpPr>
            <a:spLocks noGrp="1"/>
          </p:cNvSpPr>
          <p:nvPr>
            <p:ph idx="1"/>
          </p:nvPr>
        </p:nvSpPr>
        <p:spPr/>
        <p:txBody>
          <a:bodyPr/>
          <a:lstStyle/>
          <a:p>
            <a:r>
              <a:rPr lang="en-US" dirty="0"/>
              <a:t>Compute pseudo residuals </a:t>
            </a:r>
          </a:p>
          <a:p>
            <a:pPr lvl="2"/>
            <a:r>
              <a:rPr lang="en-US" dirty="0"/>
              <a:t>Pseudo_residual_1 = </a:t>
            </a:r>
            <a:r>
              <a:rPr lang="en-US" dirty="0" err="1"/>
              <a:t>av_total</a:t>
            </a:r>
            <a:r>
              <a:rPr lang="en-US" dirty="0"/>
              <a:t> – </a:t>
            </a:r>
            <a:r>
              <a:rPr lang="en-US" dirty="0" err="1"/>
              <a:t>avg_pred</a:t>
            </a:r>
            <a:endParaRPr lang="en-US" dirty="0"/>
          </a:p>
          <a:p>
            <a:pPr lvl="2"/>
            <a:r>
              <a:rPr lang="en-US" dirty="0"/>
              <a:t>Pseudo_residual_1 becomes our target variable for step 3  </a:t>
            </a:r>
          </a:p>
        </p:txBody>
      </p:sp>
      <p:sp>
        <p:nvSpPr>
          <p:cNvPr id="4" name="Slide Number Placeholder 3">
            <a:extLst>
              <a:ext uri="{FF2B5EF4-FFF2-40B4-BE49-F238E27FC236}">
                <a16:creationId xmlns:a16="http://schemas.microsoft.com/office/drawing/2014/main" id="{AC604F05-B97A-F94F-A9F8-AC618A437CFB}"/>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40</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079671FD-3C76-7943-82BD-AA84D0E2ED1D}"/>
              </a:ext>
            </a:extLst>
          </p:cNvPr>
          <p:cNvSpPr>
            <a:spLocks noGrp="1"/>
          </p:cNvSpPr>
          <p:nvPr>
            <p:ph type="body" sz="half" idx="2"/>
          </p:nvPr>
        </p:nvSpPr>
        <p:spPr/>
        <p:txBody>
          <a:bodyPr/>
          <a:lstStyle/>
          <a:p>
            <a:r>
              <a:rPr lang="en-US" dirty="0"/>
              <a:t>Step 2 – compute pseudo residuals </a:t>
            </a:r>
          </a:p>
        </p:txBody>
      </p:sp>
      <p:graphicFrame>
        <p:nvGraphicFramePr>
          <p:cNvPr id="6" name="Table 5">
            <a:extLst>
              <a:ext uri="{FF2B5EF4-FFF2-40B4-BE49-F238E27FC236}">
                <a16:creationId xmlns:a16="http://schemas.microsoft.com/office/drawing/2014/main" id="{61B2DC7D-60FA-9D40-A724-6A5C37C1C705}"/>
              </a:ext>
            </a:extLst>
          </p:cNvPr>
          <p:cNvGraphicFramePr>
            <a:graphicFrameLocks noGrp="1"/>
          </p:cNvGraphicFramePr>
          <p:nvPr/>
        </p:nvGraphicFramePr>
        <p:xfrm>
          <a:off x="1255981" y="3234285"/>
          <a:ext cx="7221796" cy="2235200"/>
        </p:xfrm>
        <a:graphic>
          <a:graphicData uri="http://schemas.openxmlformats.org/drawingml/2006/table">
            <a:tbl>
              <a:tblPr firstRow="1" firstCol="1">
                <a:tableStyleId>{21E4AEA4-8DFA-4A89-87EB-49C32662AFE0}</a:tableStyleId>
              </a:tblPr>
              <a:tblGrid>
                <a:gridCol w="979266">
                  <a:extLst>
                    <a:ext uri="{9D8B030D-6E8A-4147-A177-3AD203B41FA5}">
                      <a16:colId xmlns:a16="http://schemas.microsoft.com/office/drawing/2014/main" val="2067497944"/>
                    </a:ext>
                  </a:extLst>
                </a:gridCol>
                <a:gridCol w="979266">
                  <a:extLst>
                    <a:ext uri="{9D8B030D-6E8A-4147-A177-3AD203B41FA5}">
                      <a16:colId xmlns:a16="http://schemas.microsoft.com/office/drawing/2014/main" val="2432954037"/>
                    </a:ext>
                  </a:extLst>
                </a:gridCol>
                <a:gridCol w="979266">
                  <a:extLst>
                    <a:ext uri="{9D8B030D-6E8A-4147-A177-3AD203B41FA5}">
                      <a16:colId xmlns:a16="http://schemas.microsoft.com/office/drawing/2014/main" val="3033343711"/>
                    </a:ext>
                  </a:extLst>
                </a:gridCol>
                <a:gridCol w="979266">
                  <a:extLst>
                    <a:ext uri="{9D8B030D-6E8A-4147-A177-3AD203B41FA5}">
                      <a16:colId xmlns:a16="http://schemas.microsoft.com/office/drawing/2014/main" val="999496240"/>
                    </a:ext>
                  </a:extLst>
                </a:gridCol>
                <a:gridCol w="979266">
                  <a:extLst>
                    <a:ext uri="{9D8B030D-6E8A-4147-A177-3AD203B41FA5}">
                      <a16:colId xmlns:a16="http://schemas.microsoft.com/office/drawing/2014/main" val="2723793310"/>
                    </a:ext>
                  </a:extLst>
                </a:gridCol>
                <a:gridCol w="979266">
                  <a:extLst>
                    <a:ext uri="{9D8B030D-6E8A-4147-A177-3AD203B41FA5}">
                      <a16:colId xmlns:a16="http://schemas.microsoft.com/office/drawing/2014/main" val="2765743195"/>
                    </a:ext>
                  </a:extLst>
                </a:gridCol>
                <a:gridCol w="1346200">
                  <a:extLst>
                    <a:ext uri="{9D8B030D-6E8A-4147-A177-3AD203B41FA5}">
                      <a16:colId xmlns:a16="http://schemas.microsoft.com/office/drawing/2014/main" val="1584972284"/>
                    </a:ext>
                  </a:extLst>
                </a:gridCol>
              </a:tblGrid>
              <a:tr h="203200">
                <a:tc>
                  <a:txBody>
                    <a:bodyPr/>
                    <a:lstStyle/>
                    <a:p>
                      <a:pPr algn="l" fontAlgn="b"/>
                      <a:r>
                        <a:rPr lang="en-US" sz="1200" u="none" strike="noStrike">
                          <a:effectLst/>
                        </a:rPr>
                        <a:t>av_total</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a:effectLst/>
                        </a:rPr>
                        <a:t>land_sf</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a:effectLst/>
                        </a:rPr>
                        <a:t>living_area</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a:effectLst/>
                        </a:rPr>
                        <a:t>num_floors</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a:effectLst/>
                        </a:rPr>
                        <a:t>bld_age</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dirty="0" err="1">
                          <a:effectLst/>
                        </a:rPr>
                        <a:t>avg_pred</a:t>
                      </a:r>
                      <a:endParaRPr lang="en-US" sz="1200" b="1" i="0" u="none" strike="noStrike" dirty="0">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dirty="0"/>
                        <a:t>Pseudo_residual_1 </a:t>
                      </a:r>
                      <a:endParaRPr lang="en-US" sz="1200" b="1" i="0" u="none" strike="noStrike" dirty="0">
                        <a:solidFill>
                          <a:srgbClr val="000000"/>
                        </a:solidFill>
                        <a:effectLst/>
                        <a:latin typeface="Lucida Sans" panose="020B0602030504020204" pitchFamily="34" charset="77"/>
                      </a:endParaRPr>
                    </a:p>
                  </a:txBody>
                  <a:tcPr marL="9525" marR="9525" marT="9525" marB="0" anchor="b"/>
                </a:tc>
                <a:extLst>
                  <a:ext uri="{0D108BD9-81ED-4DB2-BD59-A6C34878D82A}">
                    <a16:rowId xmlns:a16="http://schemas.microsoft.com/office/drawing/2014/main" val="2744246385"/>
                  </a:ext>
                </a:extLst>
              </a:tr>
              <a:tr h="203200">
                <a:tc>
                  <a:txBody>
                    <a:bodyPr/>
                    <a:lstStyle/>
                    <a:p>
                      <a:pPr algn="r" fontAlgn="b"/>
                      <a:r>
                        <a:rPr lang="en-US" sz="900" u="none" strike="noStrike">
                          <a:effectLst/>
                        </a:rPr>
                        <a:t>321200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10288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1681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-127363.64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3167557932"/>
                  </a:ext>
                </a:extLst>
              </a:tr>
              <a:tr h="203200">
                <a:tc>
                  <a:txBody>
                    <a:bodyPr/>
                    <a:lstStyle/>
                    <a:p>
                      <a:pPr algn="r" fontAlgn="b"/>
                      <a:r>
                        <a:rPr lang="en-US" sz="900" u="none" strike="noStrike">
                          <a:effectLst/>
                        </a:rPr>
                        <a:t>450500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3187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1868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1936.361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2185399183"/>
                  </a:ext>
                </a:extLst>
              </a:tr>
              <a:tr h="203200">
                <a:tc>
                  <a:txBody>
                    <a:bodyPr/>
                    <a:lstStyle/>
                    <a:p>
                      <a:pPr algn="r" fontAlgn="b"/>
                      <a:r>
                        <a:rPr lang="en-US" sz="900" u="none" strike="noStrike">
                          <a:effectLst/>
                        </a:rPr>
                        <a:t>794300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6007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2146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345736.361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3927814251"/>
                  </a:ext>
                </a:extLst>
              </a:tr>
              <a:tr h="203200">
                <a:tc>
                  <a:txBody>
                    <a:bodyPr/>
                    <a:lstStyle/>
                    <a:p>
                      <a:pPr algn="r" fontAlgn="b"/>
                      <a:r>
                        <a:rPr lang="en-US" sz="900" u="none" strike="noStrike">
                          <a:effectLst/>
                        </a:rPr>
                        <a:t>342100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5500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1357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1.5</a:t>
                      </a:r>
                      <a:endParaRPr lang="en-US" sz="900" b="0" i="0" u="none" strike="noStrike" dirty="0">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-106463.64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2534097487"/>
                  </a:ext>
                </a:extLst>
              </a:tr>
              <a:tr h="203200">
                <a:tc>
                  <a:txBody>
                    <a:bodyPr/>
                    <a:lstStyle/>
                    <a:p>
                      <a:pPr algn="r" fontAlgn="b"/>
                      <a:r>
                        <a:rPr lang="en-US" sz="900" u="none" strike="noStrike">
                          <a:effectLst/>
                        </a:rPr>
                        <a:t>444700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3026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2346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2.5</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121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-3863.639</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616792118"/>
                  </a:ext>
                </a:extLst>
              </a:tr>
              <a:tr h="203200">
                <a:tc>
                  <a:txBody>
                    <a:bodyPr/>
                    <a:lstStyle/>
                    <a:p>
                      <a:pPr algn="r" fontAlgn="b"/>
                      <a:r>
                        <a:rPr lang="en-US" sz="900" u="none" strike="noStrike">
                          <a:effectLst/>
                        </a:rPr>
                        <a:t>518500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4950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2032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69936.361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289804691"/>
                  </a:ext>
                </a:extLst>
              </a:tr>
              <a:tr h="203200">
                <a:tc>
                  <a:txBody>
                    <a:bodyPr/>
                    <a:lstStyle/>
                    <a:p>
                      <a:pPr algn="r" fontAlgn="b"/>
                      <a:r>
                        <a:rPr lang="en-US" sz="900" u="none" strike="noStrike">
                          <a:effectLst/>
                        </a:rPr>
                        <a:t>467200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7500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1648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134</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18636.361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2475277148"/>
                  </a:ext>
                </a:extLst>
              </a:tr>
              <a:tr h="203200">
                <a:tc>
                  <a:txBody>
                    <a:bodyPr/>
                    <a:lstStyle/>
                    <a:p>
                      <a:pPr algn="r" fontAlgn="b"/>
                      <a:r>
                        <a:rPr lang="en-US" sz="900" u="none" strike="noStrike">
                          <a:effectLst/>
                        </a:rPr>
                        <a:t>432600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5000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1772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111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-15963.639</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3358754260"/>
                  </a:ext>
                </a:extLst>
              </a:tr>
              <a:tr h="203200">
                <a:tc>
                  <a:txBody>
                    <a:bodyPr/>
                    <a:lstStyle/>
                    <a:p>
                      <a:pPr algn="r" fontAlgn="b"/>
                      <a:r>
                        <a:rPr lang="en-US" sz="900" u="none" strike="noStrike">
                          <a:effectLst/>
                        </a:rPr>
                        <a:t>294900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6400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1532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88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-153663.64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142465828"/>
                  </a:ext>
                </a:extLst>
              </a:tr>
              <a:tr h="203200">
                <a:tc>
                  <a:txBody>
                    <a:bodyPr/>
                    <a:lstStyle/>
                    <a:p>
                      <a:pPr algn="r" fontAlgn="b"/>
                      <a:r>
                        <a:rPr lang="en-US" sz="900" u="none" strike="noStrike">
                          <a:effectLst/>
                        </a:rPr>
                        <a:t>329200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4449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1224</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2</a:t>
                      </a:r>
                      <a:endParaRPr lang="en-US" sz="900" b="0" i="0" u="none" strike="noStrike" dirty="0">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96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448563.6</a:t>
                      </a:r>
                      <a:endParaRPr lang="en-US" sz="900" b="0" i="0" u="none" strike="noStrike">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-119363.64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3134572149"/>
                  </a:ext>
                </a:extLst>
              </a:tr>
            </a:tbl>
          </a:graphicData>
        </a:graphic>
      </p:graphicFrame>
    </p:spTree>
    <p:extLst>
      <p:ext uri="{BB962C8B-B14F-4D97-AF65-F5344CB8AC3E}">
        <p14:creationId xmlns:p14="http://schemas.microsoft.com/office/powerpoint/2010/main" val="9428625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604AA-E2B8-4D4B-8F56-D3D2F35F0781}"/>
              </a:ext>
            </a:extLst>
          </p:cNvPr>
          <p:cNvSpPr>
            <a:spLocks noGrp="1"/>
          </p:cNvSpPr>
          <p:nvPr>
            <p:ph type="title"/>
          </p:nvPr>
        </p:nvSpPr>
        <p:spPr/>
        <p:txBody>
          <a:bodyPr/>
          <a:lstStyle/>
          <a:p>
            <a:r>
              <a:rPr lang="en-US" dirty="0"/>
              <a:t>Gradient Boosting</a:t>
            </a:r>
          </a:p>
        </p:txBody>
      </p:sp>
      <p:sp>
        <p:nvSpPr>
          <p:cNvPr id="3" name="Content Placeholder 2">
            <a:extLst>
              <a:ext uri="{FF2B5EF4-FFF2-40B4-BE49-F238E27FC236}">
                <a16:creationId xmlns:a16="http://schemas.microsoft.com/office/drawing/2014/main" id="{2B68D4DA-1C60-5C4B-BAE1-938BF73AD9A2}"/>
              </a:ext>
            </a:extLst>
          </p:cNvPr>
          <p:cNvSpPr>
            <a:spLocks noGrp="1"/>
          </p:cNvSpPr>
          <p:nvPr>
            <p:ph idx="1"/>
          </p:nvPr>
        </p:nvSpPr>
        <p:spPr/>
        <p:txBody>
          <a:bodyPr/>
          <a:lstStyle/>
          <a:p>
            <a:r>
              <a:rPr lang="en-US" dirty="0"/>
              <a:t>Step 3 – Predict Pseudo Residuals </a:t>
            </a:r>
          </a:p>
          <a:p>
            <a:pPr lvl="1"/>
            <a:r>
              <a:rPr lang="en-US" dirty="0"/>
              <a:t>Using the residuals from step 2 as the target, train a tree to predict the residuals </a:t>
            </a:r>
          </a:p>
        </p:txBody>
      </p:sp>
      <p:sp>
        <p:nvSpPr>
          <p:cNvPr id="4" name="Slide Number Placeholder 3">
            <a:extLst>
              <a:ext uri="{FF2B5EF4-FFF2-40B4-BE49-F238E27FC236}">
                <a16:creationId xmlns:a16="http://schemas.microsoft.com/office/drawing/2014/main" id="{CAB3E09B-0B5D-5346-B950-9490AD574117}"/>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41</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809BED39-8C8B-8A4C-9275-9C6F6E99DFB0}"/>
              </a:ext>
            </a:extLst>
          </p:cNvPr>
          <p:cNvSpPr>
            <a:spLocks noGrp="1"/>
          </p:cNvSpPr>
          <p:nvPr>
            <p:ph type="body" sz="half" idx="2"/>
          </p:nvPr>
        </p:nvSpPr>
        <p:spPr/>
        <p:txBody>
          <a:bodyPr/>
          <a:lstStyle/>
          <a:p>
            <a:r>
              <a:rPr lang="en-US" dirty="0"/>
              <a:t>Step 3 – predict pseudo residuals </a:t>
            </a:r>
          </a:p>
        </p:txBody>
      </p:sp>
      <p:graphicFrame>
        <p:nvGraphicFramePr>
          <p:cNvPr id="6" name="Table 5">
            <a:extLst>
              <a:ext uri="{FF2B5EF4-FFF2-40B4-BE49-F238E27FC236}">
                <a16:creationId xmlns:a16="http://schemas.microsoft.com/office/drawing/2014/main" id="{47712F5E-A0F8-2140-B9CC-5CE8162BCBEC}"/>
              </a:ext>
            </a:extLst>
          </p:cNvPr>
          <p:cNvGraphicFramePr>
            <a:graphicFrameLocks noGrp="1"/>
          </p:cNvGraphicFramePr>
          <p:nvPr/>
        </p:nvGraphicFramePr>
        <p:xfrm>
          <a:off x="841375" y="2936082"/>
          <a:ext cx="7124700" cy="2235200"/>
        </p:xfrm>
        <a:graphic>
          <a:graphicData uri="http://schemas.openxmlformats.org/drawingml/2006/table">
            <a:tbl>
              <a:tblPr firstRow="1" firstCol="1">
                <a:tableStyleId>{21E4AEA4-8DFA-4A89-87EB-49C32662AFE0}</a:tableStyleId>
              </a:tblPr>
              <a:tblGrid>
                <a:gridCol w="825500">
                  <a:extLst>
                    <a:ext uri="{9D8B030D-6E8A-4147-A177-3AD203B41FA5}">
                      <a16:colId xmlns:a16="http://schemas.microsoft.com/office/drawing/2014/main" val="467062510"/>
                    </a:ext>
                  </a:extLst>
                </a:gridCol>
                <a:gridCol w="825500">
                  <a:extLst>
                    <a:ext uri="{9D8B030D-6E8A-4147-A177-3AD203B41FA5}">
                      <a16:colId xmlns:a16="http://schemas.microsoft.com/office/drawing/2014/main" val="3408746027"/>
                    </a:ext>
                  </a:extLst>
                </a:gridCol>
                <a:gridCol w="825500">
                  <a:extLst>
                    <a:ext uri="{9D8B030D-6E8A-4147-A177-3AD203B41FA5}">
                      <a16:colId xmlns:a16="http://schemas.microsoft.com/office/drawing/2014/main" val="2583127745"/>
                    </a:ext>
                  </a:extLst>
                </a:gridCol>
                <a:gridCol w="825500">
                  <a:extLst>
                    <a:ext uri="{9D8B030D-6E8A-4147-A177-3AD203B41FA5}">
                      <a16:colId xmlns:a16="http://schemas.microsoft.com/office/drawing/2014/main" val="3933601366"/>
                    </a:ext>
                  </a:extLst>
                </a:gridCol>
                <a:gridCol w="825500">
                  <a:extLst>
                    <a:ext uri="{9D8B030D-6E8A-4147-A177-3AD203B41FA5}">
                      <a16:colId xmlns:a16="http://schemas.microsoft.com/office/drawing/2014/main" val="256961610"/>
                    </a:ext>
                  </a:extLst>
                </a:gridCol>
                <a:gridCol w="825500">
                  <a:extLst>
                    <a:ext uri="{9D8B030D-6E8A-4147-A177-3AD203B41FA5}">
                      <a16:colId xmlns:a16="http://schemas.microsoft.com/office/drawing/2014/main" val="3393319523"/>
                    </a:ext>
                  </a:extLst>
                </a:gridCol>
                <a:gridCol w="1346200">
                  <a:extLst>
                    <a:ext uri="{9D8B030D-6E8A-4147-A177-3AD203B41FA5}">
                      <a16:colId xmlns:a16="http://schemas.microsoft.com/office/drawing/2014/main" val="1404423625"/>
                    </a:ext>
                  </a:extLst>
                </a:gridCol>
                <a:gridCol w="825500">
                  <a:extLst>
                    <a:ext uri="{9D8B030D-6E8A-4147-A177-3AD203B41FA5}">
                      <a16:colId xmlns:a16="http://schemas.microsoft.com/office/drawing/2014/main" val="1073609402"/>
                    </a:ext>
                  </a:extLst>
                </a:gridCol>
              </a:tblGrid>
              <a:tr h="203200">
                <a:tc>
                  <a:txBody>
                    <a:bodyPr/>
                    <a:lstStyle/>
                    <a:p>
                      <a:pPr algn="l" fontAlgn="b"/>
                      <a:r>
                        <a:rPr lang="en-US" sz="1200" u="none" strike="noStrike" dirty="0" err="1">
                          <a:effectLst/>
                        </a:rPr>
                        <a:t>av_total</a:t>
                      </a:r>
                      <a:endParaRPr lang="en-US" sz="1200" b="1" i="0" u="none" strike="noStrike" dirty="0">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a:effectLst/>
                        </a:rPr>
                        <a:t>land_sf</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a:effectLst/>
                        </a:rPr>
                        <a:t>living_area</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a:effectLst/>
                        </a:rPr>
                        <a:t>num_floors</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a:effectLst/>
                        </a:rPr>
                        <a:t>bld_age</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a:effectLst/>
                        </a:rPr>
                        <a:t>avg_pred</a:t>
                      </a:r>
                      <a:endParaRPr lang="en-US" sz="1200" b="1" i="0" u="none" strike="noStrike">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dirty="0"/>
                        <a:t>Pseudo_residual_1 </a:t>
                      </a:r>
                      <a:endParaRPr lang="en-US" sz="1200" b="1" i="0" u="none" strike="noStrike" dirty="0">
                        <a:solidFill>
                          <a:srgbClr val="000000"/>
                        </a:solidFill>
                        <a:effectLst/>
                        <a:latin typeface="Lucida Sans" panose="020B0602030504020204" pitchFamily="34" charset="77"/>
                      </a:endParaRPr>
                    </a:p>
                  </a:txBody>
                  <a:tcPr marL="9525" marR="9525" marT="9525" marB="0" anchor="b"/>
                </a:tc>
                <a:tc>
                  <a:txBody>
                    <a:bodyPr/>
                    <a:lstStyle/>
                    <a:p>
                      <a:pPr algn="l" fontAlgn="b"/>
                      <a:r>
                        <a:rPr lang="en-US" sz="1200" u="none" strike="noStrike" dirty="0">
                          <a:effectLst/>
                        </a:rPr>
                        <a:t>res_pred_1</a:t>
                      </a:r>
                      <a:endParaRPr lang="en-US" sz="1200" b="1" i="0" u="none" strike="noStrike" dirty="0">
                        <a:solidFill>
                          <a:srgbClr val="000000"/>
                        </a:solidFill>
                        <a:effectLst/>
                        <a:latin typeface="Lucida Sans" panose="020B0602030504020204" pitchFamily="34" charset="77"/>
                      </a:endParaRPr>
                    </a:p>
                  </a:txBody>
                  <a:tcPr marL="9525" marR="9525" marT="9525" marB="0" anchor="b"/>
                </a:tc>
                <a:extLst>
                  <a:ext uri="{0D108BD9-81ED-4DB2-BD59-A6C34878D82A}">
                    <a16:rowId xmlns:a16="http://schemas.microsoft.com/office/drawing/2014/main" val="3768361556"/>
                  </a:ext>
                </a:extLst>
              </a:tr>
              <a:tr h="203200">
                <a:tc>
                  <a:txBody>
                    <a:bodyPr/>
                    <a:lstStyle/>
                    <a:p>
                      <a:pPr algn="r" fontAlgn="b"/>
                      <a:r>
                        <a:rPr lang="en-US" sz="900" u="none" strike="noStrike">
                          <a:effectLst/>
                        </a:rPr>
                        <a:t>321200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10288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1681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-127363.64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-37845.902</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850432785"/>
                  </a:ext>
                </a:extLst>
              </a:tr>
              <a:tr h="203200">
                <a:tc>
                  <a:txBody>
                    <a:bodyPr/>
                    <a:lstStyle/>
                    <a:p>
                      <a:pPr algn="r" fontAlgn="b"/>
                      <a:r>
                        <a:rPr lang="en-US" sz="900" u="none" strike="noStrike">
                          <a:effectLst/>
                        </a:rPr>
                        <a:t>450500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3187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1868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1936.361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40836.953</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926821792"/>
                  </a:ext>
                </a:extLst>
              </a:tr>
              <a:tr h="203200">
                <a:tc>
                  <a:txBody>
                    <a:bodyPr/>
                    <a:lstStyle/>
                    <a:p>
                      <a:pPr algn="r" fontAlgn="b"/>
                      <a:r>
                        <a:rPr lang="en-US" sz="900" u="none" strike="noStrike">
                          <a:effectLst/>
                        </a:rPr>
                        <a:t>794300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6007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2146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345736.361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127415.925</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700909829"/>
                  </a:ext>
                </a:extLst>
              </a:tr>
              <a:tr h="203200">
                <a:tc>
                  <a:txBody>
                    <a:bodyPr/>
                    <a:lstStyle/>
                    <a:p>
                      <a:pPr algn="r" fontAlgn="b"/>
                      <a:r>
                        <a:rPr lang="en-US" sz="900" u="none" strike="noStrike">
                          <a:effectLst/>
                        </a:rPr>
                        <a:t>342100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5500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1357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1.5</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-106463.64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-14587.324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2796890658"/>
                  </a:ext>
                </a:extLst>
              </a:tr>
              <a:tr h="203200">
                <a:tc>
                  <a:txBody>
                    <a:bodyPr/>
                    <a:lstStyle/>
                    <a:p>
                      <a:pPr algn="r" fontAlgn="b"/>
                      <a:r>
                        <a:rPr lang="en-US" sz="900" u="none" strike="noStrike">
                          <a:effectLst/>
                        </a:rPr>
                        <a:t>444700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3026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2346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2.5</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121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-3863.639</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-17700.553</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3051190385"/>
                  </a:ext>
                </a:extLst>
              </a:tr>
              <a:tr h="203200">
                <a:tc>
                  <a:txBody>
                    <a:bodyPr/>
                    <a:lstStyle/>
                    <a:p>
                      <a:pPr algn="r" fontAlgn="b"/>
                      <a:r>
                        <a:rPr lang="en-US" sz="900" u="none" strike="noStrike">
                          <a:effectLst/>
                        </a:rPr>
                        <a:t>518500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4950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2032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69936.361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127415.925</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387658735"/>
                  </a:ext>
                </a:extLst>
              </a:tr>
              <a:tr h="203200">
                <a:tc>
                  <a:txBody>
                    <a:bodyPr/>
                    <a:lstStyle/>
                    <a:p>
                      <a:pPr algn="r" fontAlgn="b"/>
                      <a:r>
                        <a:rPr lang="en-US" sz="900" u="none" strike="noStrike">
                          <a:effectLst/>
                        </a:rPr>
                        <a:t>467200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7500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1648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134</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18636.361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9356.077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2304349127"/>
                  </a:ext>
                </a:extLst>
              </a:tr>
              <a:tr h="203200">
                <a:tc>
                  <a:txBody>
                    <a:bodyPr/>
                    <a:lstStyle/>
                    <a:p>
                      <a:pPr algn="r" fontAlgn="b"/>
                      <a:r>
                        <a:rPr lang="en-US" sz="900" u="none" strike="noStrike">
                          <a:effectLst/>
                        </a:rPr>
                        <a:t>432600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5000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1772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111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-15963.639</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9356.077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4022722911"/>
                  </a:ext>
                </a:extLst>
              </a:tr>
              <a:tr h="203200">
                <a:tc>
                  <a:txBody>
                    <a:bodyPr/>
                    <a:lstStyle/>
                    <a:p>
                      <a:pPr algn="r" fontAlgn="b"/>
                      <a:r>
                        <a:rPr lang="en-US" sz="900" u="none" strike="noStrike">
                          <a:effectLst/>
                        </a:rPr>
                        <a:t>294900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6400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1532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88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-153663.64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9356.077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725117656"/>
                  </a:ext>
                </a:extLst>
              </a:tr>
              <a:tr h="203200">
                <a:tc>
                  <a:txBody>
                    <a:bodyPr/>
                    <a:lstStyle/>
                    <a:p>
                      <a:pPr algn="r" fontAlgn="b"/>
                      <a:r>
                        <a:rPr lang="en-US" sz="900" u="none" strike="noStrike">
                          <a:effectLst/>
                        </a:rPr>
                        <a:t>329200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4449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1224</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2</a:t>
                      </a:r>
                      <a:endParaRPr lang="en-US" sz="900" b="0" i="0" u="none" strike="noStrike" dirty="0">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96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-119363.64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-84966.862</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3211734336"/>
                  </a:ext>
                </a:extLst>
              </a:tr>
            </a:tbl>
          </a:graphicData>
        </a:graphic>
      </p:graphicFrame>
      <p:pic>
        <p:nvPicPr>
          <p:cNvPr id="8" name="Picture 7" descr="Timeline&#10;&#10;Description automatically generated">
            <a:extLst>
              <a:ext uri="{FF2B5EF4-FFF2-40B4-BE49-F238E27FC236}">
                <a16:creationId xmlns:a16="http://schemas.microsoft.com/office/drawing/2014/main" id="{619B6E98-6F01-A84A-A062-6BF990276A64}"/>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986311" y="3990439"/>
            <a:ext cx="3826806" cy="2361686"/>
          </a:xfrm>
          <a:prstGeom prst="rect">
            <a:avLst/>
          </a:prstGeom>
          <a:ln>
            <a:solidFill>
              <a:schemeClr val="accent1"/>
            </a:solidFill>
          </a:ln>
        </p:spPr>
      </p:pic>
      <p:sp>
        <p:nvSpPr>
          <p:cNvPr id="9" name="TextBox 8">
            <a:extLst>
              <a:ext uri="{FF2B5EF4-FFF2-40B4-BE49-F238E27FC236}">
                <a16:creationId xmlns:a16="http://schemas.microsoft.com/office/drawing/2014/main" id="{C53B5297-175D-1C4E-9AD9-8695A3C73332}"/>
              </a:ext>
            </a:extLst>
          </p:cNvPr>
          <p:cNvSpPr txBox="1"/>
          <p:nvPr/>
        </p:nvSpPr>
        <p:spPr>
          <a:xfrm>
            <a:off x="5964905" y="5543781"/>
            <a:ext cx="948006" cy="369332"/>
          </a:xfrm>
          <a:prstGeom prst="rect">
            <a:avLst/>
          </a:prstGeom>
          <a:noFill/>
        </p:spPr>
        <p:txBody>
          <a:bodyPr wrap="square" rtlCol="0">
            <a:spAutoFit/>
          </a:bodyPr>
          <a:lstStyle/>
          <a:p>
            <a:pPr algn="ctr"/>
            <a:r>
              <a:rPr lang="en-US" dirty="0"/>
              <a:t>Target</a:t>
            </a:r>
          </a:p>
        </p:txBody>
      </p:sp>
      <p:cxnSp>
        <p:nvCxnSpPr>
          <p:cNvPr id="11" name="Straight Arrow Connector 10">
            <a:extLst>
              <a:ext uri="{FF2B5EF4-FFF2-40B4-BE49-F238E27FC236}">
                <a16:creationId xmlns:a16="http://schemas.microsoft.com/office/drawing/2014/main" id="{0B3062A5-5B8E-3F47-AB49-E553D043240A}"/>
              </a:ext>
            </a:extLst>
          </p:cNvPr>
          <p:cNvCxnSpPr>
            <a:cxnSpLocks/>
          </p:cNvCxnSpPr>
          <p:nvPr/>
        </p:nvCxnSpPr>
        <p:spPr>
          <a:xfrm flipV="1">
            <a:off x="6567055" y="5200195"/>
            <a:ext cx="0" cy="3574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9AB5953-3752-454A-BECF-9971F74C89B5}"/>
              </a:ext>
            </a:extLst>
          </p:cNvPr>
          <p:cNvSpPr txBox="1"/>
          <p:nvPr/>
        </p:nvSpPr>
        <p:spPr>
          <a:xfrm>
            <a:off x="6975607" y="5557652"/>
            <a:ext cx="1218365" cy="369332"/>
          </a:xfrm>
          <a:prstGeom prst="rect">
            <a:avLst/>
          </a:prstGeom>
          <a:noFill/>
        </p:spPr>
        <p:txBody>
          <a:bodyPr wrap="square" rtlCol="0">
            <a:spAutoFit/>
          </a:bodyPr>
          <a:lstStyle/>
          <a:p>
            <a:pPr algn="ctr"/>
            <a:r>
              <a:rPr lang="en-US" dirty="0"/>
              <a:t>prediction</a:t>
            </a:r>
          </a:p>
        </p:txBody>
      </p:sp>
      <p:cxnSp>
        <p:nvCxnSpPr>
          <p:cNvPr id="14" name="Straight Arrow Connector 13">
            <a:extLst>
              <a:ext uri="{FF2B5EF4-FFF2-40B4-BE49-F238E27FC236}">
                <a16:creationId xmlns:a16="http://schemas.microsoft.com/office/drawing/2014/main" id="{F86E6C97-0DC5-2742-A484-A475010E624D}"/>
              </a:ext>
            </a:extLst>
          </p:cNvPr>
          <p:cNvCxnSpPr>
            <a:cxnSpLocks/>
          </p:cNvCxnSpPr>
          <p:nvPr/>
        </p:nvCxnSpPr>
        <p:spPr>
          <a:xfrm flipV="1">
            <a:off x="7449611" y="5256993"/>
            <a:ext cx="0" cy="3574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Left Brace 14">
            <a:extLst>
              <a:ext uri="{FF2B5EF4-FFF2-40B4-BE49-F238E27FC236}">
                <a16:creationId xmlns:a16="http://schemas.microsoft.com/office/drawing/2014/main" id="{B87CD619-1F28-534F-B219-6CC045DA515B}"/>
              </a:ext>
            </a:extLst>
          </p:cNvPr>
          <p:cNvSpPr/>
          <p:nvPr/>
        </p:nvSpPr>
        <p:spPr>
          <a:xfrm rot="16200000">
            <a:off x="2985710" y="3745326"/>
            <a:ext cx="866899" cy="325383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6EAA0511-82D6-4147-8C12-AB7630D2E99C}"/>
              </a:ext>
            </a:extLst>
          </p:cNvPr>
          <p:cNvSpPr txBox="1"/>
          <p:nvPr/>
        </p:nvSpPr>
        <p:spPr>
          <a:xfrm>
            <a:off x="2914499" y="5796576"/>
            <a:ext cx="948006" cy="369332"/>
          </a:xfrm>
          <a:prstGeom prst="rect">
            <a:avLst/>
          </a:prstGeom>
          <a:noFill/>
        </p:spPr>
        <p:txBody>
          <a:bodyPr wrap="square" rtlCol="0">
            <a:spAutoFit/>
          </a:bodyPr>
          <a:lstStyle/>
          <a:p>
            <a:pPr algn="ctr"/>
            <a:r>
              <a:rPr lang="en-US" dirty="0"/>
              <a:t>Inputs</a:t>
            </a:r>
          </a:p>
        </p:txBody>
      </p:sp>
    </p:spTree>
    <p:extLst>
      <p:ext uri="{BB962C8B-B14F-4D97-AF65-F5344CB8AC3E}">
        <p14:creationId xmlns:p14="http://schemas.microsoft.com/office/powerpoint/2010/main" val="38609075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B2AC-3CCA-B143-830C-BC153C46C459}"/>
              </a:ext>
            </a:extLst>
          </p:cNvPr>
          <p:cNvSpPr>
            <a:spLocks noGrp="1"/>
          </p:cNvSpPr>
          <p:nvPr>
            <p:ph type="title"/>
          </p:nvPr>
        </p:nvSpPr>
        <p:spPr/>
        <p:txBody>
          <a:bodyPr/>
          <a:lstStyle/>
          <a:p>
            <a:r>
              <a:rPr lang="en-US" dirty="0"/>
              <a:t>Gradient Boosting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26F0E8-C28D-DE46-99D5-DD72B85407EF}"/>
                  </a:ext>
                </a:extLst>
              </p:cNvPr>
              <p:cNvSpPr>
                <a:spLocks noGrp="1"/>
              </p:cNvSpPr>
              <p:nvPr>
                <p:ph idx="1"/>
              </p:nvPr>
            </p:nvSpPr>
            <p:spPr/>
            <p:txBody>
              <a:bodyPr/>
              <a:lstStyle/>
              <a:p>
                <a:r>
                  <a:rPr lang="en-US" dirty="0"/>
                  <a:t>Step 4. Make a Prediction and compute Residuals </a:t>
                </a:r>
              </a:p>
              <a:p>
                <a:pPr lvl="1"/>
                <a:r>
                  <a:rPr lang="en-US" dirty="0"/>
                  <a:t>Prediction = Avg Predicted + learning Rate * pseudo residual 1 </a:t>
                </a:r>
              </a:p>
              <a:p>
                <a:pPr lvl="2"/>
                <a14:m>
                  <m:oMath xmlns:m="http://schemas.openxmlformats.org/officeDocument/2006/math">
                    <m:r>
                      <a:rPr lang="en-US" i="1">
                        <a:latin typeface="Cambria Math" panose="02040503050406030204" pitchFamily="18" charset="0"/>
                      </a:rPr>
                      <m:t>𝑟𝑒</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𝑝𝑟𝑒𝑑</m:t>
                        </m:r>
                      </m:sub>
                    </m:sSub>
                    <m:r>
                      <a:rPr lang="en-US" i="1">
                        <a:latin typeface="Cambria Math" panose="02040503050406030204" pitchFamily="18" charset="0"/>
                      </a:rPr>
                      <m:t>=</m:t>
                    </m:r>
                    <m:r>
                      <a:rPr lang="en-US" i="1">
                        <a:latin typeface="Cambria Math" panose="02040503050406030204" pitchFamily="18" charset="0"/>
                      </a:rPr>
                      <m:t>𝑎𝑣</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𝑝𝑟𝑒𝑑</m:t>
                        </m:r>
                      </m:sub>
                    </m:sSub>
                    <m:r>
                      <a:rPr lang="en-US" i="1">
                        <a:latin typeface="Cambria Math" panose="02040503050406030204" pitchFamily="18" charset="0"/>
                      </a:rPr>
                      <m:t>+</m:t>
                    </m:r>
                    <m:r>
                      <a:rPr lang="en-US" i="1" smtClean="0">
                        <a:solidFill>
                          <a:srgbClr val="FF0000"/>
                        </a:solidFill>
                        <a:latin typeface="Cambria Math" panose="02040503050406030204" pitchFamily="18" charset="0"/>
                      </a:rPr>
                      <m:t>𝑙𝑒𝑎𝑟</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𝑟𝑎𝑡𝑒</m:t>
                        </m:r>
                      </m:sub>
                    </m:sSub>
                    <m:r>
                      <a:rPr lang="en-US" i="1">
                        <a:latin typeface="Cambria Math" panose="02040503050406030204" pitchFamily="18" charset="0"/>
                      </a:rPr>
                      <m:t>∗</m:t>
                    </m:r>
                    <m:r>
                      <a:rPr lang="en-US" i="1">
                        <a:latin typeface="Cambria Math" panose="02040503050406030204" pitchFamily="18" charset="0"/>
                      </a:rPr>
                      <m:t>𝑟𝑒𝑠</m:t>
                    </m:r>
                    <m:r>
                      <a:rPr lang="en-US" i="1">
                        <a:latin typeface="Cambria Math" panose="02040503050406030204" pitchFamily="18" charset="0"/>
                      </a:rPr>
                      <m:t>_1</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9D26F0E8-C28D-DE46-99D5-DD72B85407EF}"/>
                  </a:ext>
                </a:extLst>
              </p:cNvPr>
              <p:cNvSpPr>
                <a:spLocks noGrp="1" noRot="1" noChangeAspect="1" noMove="1" noResize="1" noEditPoints="1" noAdjustHandles="1" noChangeArrowheads="1" noChangeShapeType="1" noTextEdit="1"/>
              </p:cNvSpPr>
              <p:nvPr>
                <p:ph idx="1"/>
              </p:nvPr>
            </p:nvSpPr>
            <p:spPr>
              <a:blipFill>
                <a:blip r:embed="rId2"/>
                <a:stretch>
                  <a:fillRect l="-252" t="-9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BF5450F-A56B-1C47-87A4-6EFDE5CD775A}"/>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42</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9DD15591-83CA-F249-87FF-DFBCDBD66BEE}"/>
              </a:ext>
            </a:extLst>
          </p:cNvPr>
          <p:cNvSpPr>
            <a:spLocks noGrp="1"/>
          </p:cNvSpPr>
          <p:nvPr>
            <p:ph type="body" sz="half" idx="2"/>
          </p:nvPr>
        </p:nvSpPr>
        <p:spPr/>
        <p:txBody>
          <a:bodyPr/>
          <a:lstStyle/>
          <a:p>
            <a:r>
              <a:rPr lang="en-US" dirty="0"/>
              <a:t>Step 4 - Make a prediction and compute the residuals</a:t>
            </a:r>
          </a:p>
        </p:txBody>
      </p:sp>
      <p:graphicFrame>
        <p:nvGraphicFramePr>
          <p:cNvPr id="6" name="Table 5">
            <a:extLst>
              <a:ext uri="{FF2B5EF4-FFF2-40B4-BE49-F238E27FC236}">
                <a16:creationId xmlns:a16="http://schemas.microsoft.com/office/drawing/2014/main" id="{480F7EB6-EFCF-274C-A772-AE8B79C6C093}"/>
              </a:ext>
            </a:extLst>
          </p:cNvPr>
          <p:cNvGraphicFramePr>
            <a:graphicFrameLocks noGrp="1"/>
          </p:cNvGraphicFramePr>
          <p:nvPr/>
        </p:nvGraphicFramePr>
        <p:xfrm>
          <a:off x="1184728" y="3273301"/>
          <a:ext cx="9296400" cy="2235200"/>
        </p:xfrm>
        <a:graphic>
          <a:graphicData uri="http://schemas.openxmlformats.org/drawingml/2006/table">
            <a:tbl>
              <a:tblPr firstRow="1" firstCol="1">
                <a:tableStyleId>{21E4AEA4-8DFA-4A89-87EB-49C32662AFE0}</a:tableStyleId>
              </a:tblPr>
              <a:tblGrid>
                <a:gridCol w="825500">
                  <a:extLst>
                    <a:ext uri="{9D8B030D-6E8A-4147-A177-3AD203B41FA5}">
                      <a16:colId xmlns:a16="http://schemas.microsoft.com/office/drawing/2014/main" val="4061419492"/>
                    </a:ext>
                  </a:extLst>
                </a:gridCol>
                <a:gridCol w="825500">
                  <a:extLst>
                    <a:ext uri="{9D8B030D-6E8A-4147-A177-3AD203B41FA5}">
                      <a16:colId xmlns:a16="http://schemas.microsoft.com/office/drawing/2014/main" val="3648695495"/>
                    </a:ext>
                  </a:extLst>
                </a:gridCol>
                <a:gridCol w="825500">
                  <a:extLst>
                    <a:ext uri="{9D8B030D-6E8A-4147-A177-3AD203B41FA5}">
                      <a16:colId xmlns:a16="http://schemas.microsoft.com/office/drawing/2014/main" val="28544849"/>
                    </a:ext>
                  </a:extLst>
                </a:gridCol>
                <a:gridCol w="825500">
                  <a:extLst>
                    <a:ext uri="{9D8B030D-6E8A-4147-A177-3AD203B41FA5}">
                      <a16:colId xmlns:a16="http://schemas.microsoft.com/office/drawing/2014/main" val="1519391443"/>
                    </a:ext>
                  </a:extLst>
                </a:gridCol>
                <a:gridCol w="825500">
                  <a:extLst>
                    <a:ext uri="{9D8B030D-6E8A-4147-A177-3AD203B41FA5}">
                      <a16:colId xmlns:a16="http://schemas.microsoft.com/office/drawing/2014/main" val="1442862514"/>
                    </a:ext>
                  </a:extLst>
                </a:gridCol>
                <a:gridCol w="825500">
                  <a:extLst>
                    <a:ext uri="{9D8B030D-6E8A-4147-A177-3AD203B41FA5}">
                      <a16:colId xmlns:a16="http://schemas.microsoft.com/office/drawing/2014/main" val="2369618121"/>
                    </a:ext>
                  </a:extLst>
                </a:gridCol>
                <a:gridCol w="1346200">
                  <a:extLst>
                    <a:ext uri="{9D8B030D-6E8A-4147-A177-3AD203B41FA5}">
                      <a16:colId xmlns:a16="http://schemas.microsoft.com/office/drawing/2014/main" val="3808501612"/>
                    </a:ext>
                  </a:extLst>
                </a:gridCol>
                <a:gridCol w="825500">
                  <a:extLst>
                    <a:ext uri="{9D8B030D-6E8A-4147-A177-3AD203B41FA5}">
                      <a16:colId xmlns:a16="http://schemas.microsoft.com/office/drawing/2014/main" val="2689773798"/>
                    </a:ext>
                  </a:extLst>
                </a:gridCol>
                <a:gridCol w="825500">
                  <a:extLst>
                    <a:ext uri="{9D8B030D-6E8A-4147-A177-3AD203B41FA5}">
                      <a16:colId xmlns:a16="http://schemas.microsoft.com/office/drawing/2014/main" val="3598300798"/>
                    </a:ext>
                  </a:extLst>
                </a:gridCol>
                <a:gridCol w="1346200">
                  <a:extLst>
                    <a:ext uri="{9D8B030D-6E8A-4147-A177-3AD203B41FA5}">
                      <a16:colId xmlns:a16="http://schemas.microsoft.com/office/drawing/2014/main" val="286129397"/>
                    </a:ext>
                  </a:extLst>
                </a:gridCol>
              </a:tblGrid>
              <a:tr h="203200">
                <a:tc>
                  <a:txBody>
                    <a:bodyPr/>
                    <a:lstStyle/>
                    <a:p>
                      <a:pPr algn="ctr" fontAlgn="b"/>
                      <a:r>
                        <a:rPr lang="en-US" sz="1200" u="none" strike="noStrike">
                          <a:effectLst/>
                        </a:rPr>
                        <a:t>av_total</a:t>
                      </a:r>
                      <a:endParaRPr lang="en-US" sz="1200" b="1" i="0" u="none" strike="noStrike">
                        <a:solidFill>
                          <a:srgbClr val="000000"/>
                        </a:solidFill>
                        <a:effectLst/>
                        <a:latin typeface="Lucida Sans" panose="020B0602030504020204" pitchFamily="34" charset="77"/>
                      </a:endParaRPr>
                    </a:p>
                  </a:txBody>
                  <a:tcPr marL="9525" marR="9525" marT="9525" marB="0" anchor="ctr"/>
                </a:tc>
                <a:tc>
                  <a:txBody>
                    <a:bodyPr/>
                    <a:lstStyle/>
                    <a:p>
                      <a:pPr algn="ctr" fontAlgn="b"/>
                      <a:r>
                        <a:rPr lang="en-US" sz="1200" u="none" strike="noStrike">
                          <a:effectLst/>
                        </a:rPr>
                        <a:t>land_sf</a:t>
                      </a:r>
                      <a:endParaRPr lang="en-US" sz="1200" b="1" i="0" u="none" strike="noStrike">
                        <a:solidFill>
                          <a:srgbClr val="000000"/>
                        </a:solidFill>
                        <a:effectLst/>
                        <a:latin typeface="Lucida Sans" panose="020B0602030504020204" pitchFamily="34" charset="77"/>
                      </a:endParaRPr>
                    </a:p>
                  </a:txBody>
                  <a:tcPr marL="9525" marR="9525" marT="9525" marB="0" anchor="ctr"/>
                </a:tc>
                <a:tc>
                  <a:txBody>
                    <a:bodyPr/>
                    <a:lstStyle/>
                    <a:p>
                      <a:pPr algn="ctr" fontAlgn="b"/>
                      <a:r>
                        <a:rPr lang="en-US" sz="1200" u="none" strike="noStrike">
                          <a:effectLst/>
                        </a:rPr>
                        <a:t>living_area</a:t>
                      </a:r>
                      <a:endParaRPr lang="en-US" sz="1200" b="1" i="0" u="none" strike="noStrike">
                        <a:solidFill>
                          <a:srgbClr val="000000"/>
                        </a:solidFill>
                        <a:effectLst/>
                        <a:latin typeface="Lucida Sans" panose="020B0602030504020204" pitchFamily="34" charset="77"/>
                      </a:endParaRPr>
                    </a:p>
                  </a:txBody>
                  <a:tcPr marL="9525" marR="9525" marT="9525" marB="0" anchor="ctr"/>
                </a:tc>
                <a:tc>
                  <a:txBody>
                    <a:bodyPr/>
                    <a:lstStyle/>
                    <a:p>
                      <a:pPr algn="ctr" fontAlgn="b"/>
                      <a:r>
                        <a:rPr lang="en-US" sz="1200" u="none" strike="noStrike">
                          <a:effectLst/>
                        </a:rPr>
                        <a:t>num_floors</a:t>
                      </a:r>
                      <a:endParaRPr lang="en-US" sz="1200" b="1" i="0" u="none" strike="noStrike">
                        <a:solidFill>
                          <a:srgbClr val="000000"/>
                        </a:solidFill>
                        <a:effectLst/>
                        <a:latin typeface="Lucida Sans" panose="020B0602030504020204" pitchFamily="34" charset="77"/>
                      </a:endParaRPr>
                    </a:p>
                  </a:txBody>
                  <a:tcPr marL="9525" marR="9525" marT="9525" marB="0" anchor="ctr"/>
                </a:tc>
                <a:tc>
                  <a:txBody>
                    <a:bodyPr/>
                    <a:lstStyle/>
                    <a:p>
                      <a:pPr algn="ctr" fontAlgn="b"/>
                      <a:r>
                        <a:rPr lang="en-US" sz="1200" u="none" strike="noStrike">
                          <a:effectLst/>
                        </a:rPr>
                        <a:t>bld_age</a:t>
                      </a:r>
                      <a:endParaRPr lang="en-US" sz="1200" b="1" i="0" u="none" strike="noStrike">
                        <a:solidFill>
                          <a:srgbClr val="000000"/>
                        </a:solidFill>
                        <a:effectLst/>
                        <a:latin typeface="Lucida Sans" panose="020B0602030504020204" pitchFamily="34" charset="77"/>
                      </a:endParaRPr>
                    </a:p>
                  </a:txBody>
                  <a:tcPr marL="9525" marR="9525" marT="9525" marB="0" anchor="ctr"/>
                </a:tc>
                <a:tc>
                  <a:txBody>
                    <a:bodyPr/>
                    <a:lstStyle/>
                    <a:p>
                      <a:pPr algn="ctr" fontAlgn="b"/>
                      <a:r>
                        <a:rPr lang="en-US" sz="1200" u="none" strike="noStrike">
                          <a:effectLst/>
                        </a:rPr>
                        <a:t>avg_pred</a:t>
                      </a:r>
                      <a:endParaRPr lang="en-US" sz="1200" b="1" i="0" u="none" strike="noStrike">
                        <a:solidFill>
                          <a:srgbClr val="000000"/>
                        </a:solidFill>
                        <a:effectLst/>
                        <a:latin typeface="Lucida Sans" panose="020B0602030504020204" pitchFamily="34" charset="77"/>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dirty="0"/>
                        <a:t>Pseudo_residual_1 </a:t>
                      </a:r>
                      <a:endParaRPr lang="en-US" sz="1200" b="1" i="0" u="none" strike="noStrike" dirty="0">
                        <a:solidFill>
                          <a:srgbClr val="000000"/>
                        </a:solidFill>
                        <a:effectLst/>
                        <a:latin typeface="Lucida Sans" panose="020B0602030504020204" pitchFamily="34" charset="77"/>
                      </a:endParaRPr>
                    </a:p>
                  </a:txBody>
                  <a:tcPr marL="9525" marR="9525" marT="9525" marB="0" anchor="ctr"/>
                </a:tc>
                <a:tc>
                  <a:txBody>
                    <a:bodyPr/>
                    <a:lstStyle/>
                    <a:p>
                      <a:pPr algn="ctr" fontAlgn="b"/>
                      <a:r>
                        <a:rPr lang="en-US" sz="1200" u="none" strike="noStrike">
                          <a:effectLst/>
                        </a:rPr>
                        <a:t>res_pred_1</a:t>
                      </a:r>
                      <a:endParaRPr lang="en-US" sz="1200" b="1" i="0" u="none" strike="noStrike">
                        <a:solidFill>
                          <a:srgbClr val="000000"/>
                        </a:solidFill>
                        <a:effectLst/>
                        <a:latin typeface="Lucida Sans" panose="020B0602030504020204" pitchFamily="34" charset="77"/>
                      </a:endParaRPr>
                    </a:p>
                  </a:txBody>
                  <a:tcPr marL="9525" marR="9525" marT="9525" marB="0" anchor="ctr"/>
                </a:tc>
                <a:tc>
                  <a:txBody>
                    <a:bodyPr/>
                    <a:lstStyle/>
                    <a:p>
                      <a:pPr algn="ctr" fontAlgn="b"/>
                      <a:r>
                        <a:rPr lang="en-US" sz="1200" u="none" strike="noStrike">
                          <a:effectLst/>
                        </a:rPr>
                        <a:t>pred_1</a:t>
                      </a:r>
                      <a:endParaRPr lang="en-US" sz="1200" b="1" i="0" u="none" strike="noStrike">
                        <a:solidFill>
                          <a:srgbClr val="000000"/>
                        </a:solidFill>
                        <a:effectLst/>
                        <a:latin typeface="Lucida Sans" panose="020B0602030504020204" pitchFamily="34" charset="77"/>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dirty="0"/>
                        <a:t>Pseudo_residual_2 </a:t>
                      </a:r>
                      <a:endParaRPr lang="en-US" sz="1200" b="1" i="0" u="none" strike="noStrike" dirty="0">
                        <a:solidFill>
                          <a:srgbClr val="000000"/>
                        </a:solidFill>
                        <a:effectLst/>
                        <a:latin typeface="Lucida Sans" panose="020B0602030504020204" pitchFamily="34" charset="77"/>
                      </a:endParaRPr>
                    </a:p>
                  </a:txBody>
                  <a:tcPr marL="9525" marR="9525" marT="9525" marB="0" anchor="ctr"/>
                </a:tc>
                <a:extLst>
                  <a:ext uri="{0D108BD9-81ED-4DB2-BD59-A6C34878D82A}">
                    <a16:rowId xmlns:a16="http://schemas.microsoft.com/office/drawing/2014/main" val="2101877720"/>
                  </a:ext>
                </a:extLst>
              </a:tr>
              <a:tr h="203200">
                <a:tc>
                  <a:txBody>
                    <a:bodyPr/>
                    <a:lstStyle/>
                    <a:p>
                      <a:pPr algn="r" fontAlgn="b"/>
                      <a:r>
                        <a:rPr lang="en-US" sz="900" u="none" strike="noStrike">
                          <a:effectLst/>
                        </a:rPr>
                        <a:t>321200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10288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1681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-127363.64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-37845.902</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tc>
                  <a:txBody>
                    <a:bodyPr/>
                    <a:lstStyle/>
                    <a:p>
                      <a:pPr algn="r" fontAlgn="b"/>
                      <a:r>
                        <a:rPr lang="en-US" sz="900" u="none" strike="noStrike" dirty="0">
                          <a:effectLst/>
                        </a:rPr>
                        <a:t>410717.7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-89517.737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457351401"/>
                  </a:ext>
                </a:extLst>
              </a:tr>
              <a:tr h="203200">
                <a:tc>
                  <a:txBody>
                    <a:bodyPr/>
                    <a:lstStyle/>
                    <a:p>
                      <a:pPr algn="r" fontAlgn="b"/>
                      <a:r>
                        <a:rPr lang="en-US" sz="900" u="none" strike="noStrike">
                          <a:effectLst/>
                        </a:rPr>
                        <a:t>450500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3187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1868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1936.361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40836.953</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tc>
                  <a:txBody>
                    <a:bodyPr/>
                    <a:lstStyle/>
                    <a:p>
                      <a:pPr algn="r" fontAlgn="b"/>
                      <a:r>
                        <a:rPr lang="en-US" sz="900" u="none" strike="noStrike" dirty="0">
                          <a:effectLst/>
                        </a:rPr>
                        <a:t>489400.6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-38900.592</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4156868185"/>
                  </a:ext>
                </a:extLst>
              </a:tr>
              <a:tr h="203200">
                <a:tc>
                  <a:txBody>
                    <a:bodyPr/>
                    <a:lstStyle/>
                    <a:p>
                      <a:pPr algn="r" fontAlgn="b"/>
                      <a:r>
                        <a:rPr lang="en-US" sz="900" u="none" strike="noStrike">
                          <a:effectLst/>
                        </a:rPr>
                        <a:t>794300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6007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2146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345736.361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127415.925</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tc>
                  <a:txBody>
                    <a:bodyPr/>
                    <a:lstStyle/>
                    <a:p>
                      <a:pPr algn="r" fontAlgn="b"/>
                      <a:r>
                        <a:rPr lang="en-US" sz="900" u="none" strike="noStrike" dirty="0">
                          <a:effectLst/>
                        </a:rPr>
                        <a:t>575979.6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218320.436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1883040522"/>
                  </a:ext>
                </a:extLst>
              </a:tr>
              <a:tr h="203200">
                <a:tc>
                  <a:txBody>
                    <a:bodyPr/>
                    <a:lstStyle/>
                    <a:p>
                      <a:pPr algn="r" fontAlgn="b"/>
                      <a:r>
                        <a:rPr lang="en-US" sz="900" u="none" strike="noStrike">
                          <a:effectLst/>
                        </a:rPr>
                        <a:t>342100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5500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1357</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1.5</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-106463.64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-14587.324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tc>
                  <a:txBody>
                    <a:bodyPr/>
                    <a:lstStyle/>
                    <a:p>
                      <a:pPr algn="r" fontAlgn="b"/>
                      <a:r>
                        <a:rPr lang="en-US" sz="900" u="none" strike="noStrike" dirty="0">
                          <a:effectLst/>
                        </a:rPr>
                        <a:t>433976.3</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-91876.315</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154088677"/>
                  </a:ext>
                </a:extLst>
              </a:tr>
              <a:tr h="203200">
                <a:tc>
                  <a:txBody>
                    <a:bodyPr/>
                    <a:lstStyle/>
                    <a:p>
                      <a:pPr algn="r" fontAlgn="b"/>
                      <a:r>
                        <a:rPr lang="en-US" sz="900" u="none" strike="noStrike">
                          <a:effectLst/>
                        </a:rPr>
                        <a:t>444700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3026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2346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2.5</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121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-3863.639</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-17700.553</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tc>
                  <a:txBody>
                    <a:bodyPr/>
                    <a:lstStyle/>
                    <a:p>
                      <a:pPr algn="r" fontAlgn="b"/>
                      <a:r>
                        <a:rPr lang="en-US" sz="900" u="none" strike="noStrike" dirty="0">
                          <a:effectLst/>
                        </a:rPr>
                        <a:t>430863.1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13836.914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35826033"/>
                  </a:ext>
                </a:extLst>
              </a:tr>
              <a:tr h="203200">
                <a:tc>
                  <a:txBody>
                    <a:bodyPr/>
                    <a:lstStyle/>
                    <a:p>
                      <a:pPr algn="r" fontAlgn="b"/>
                      <a:r>
                        <a:rPr lang="en-US" sz="900" u="none" strike="noStrike">
                          <a:effectLst/>
                        </a:rPr>
                        <a:t>518500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4950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2032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69936.361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127415.925</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tc>
                  <a:txBody>
                    <a:bodyPr/>
                    <a:lstStyle/>
                    <a:p>
                      <a:pPr algn="r" fontAlgn="b"/>
                      <a:r>
                        <a:rPr lang="en-US" sz="900" u="none" strike="noStrike" dirty="0">
                          <a:effectLst/>
                        </a:rPr>
                        <a:t>575979.6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-57479.564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3471498006"/>
                  </a:ext>
                </a:extLst>
              </a:tr>
              <a:tr h="203200">
                <a:tc>
                  <a:txBody>
                    <a:bodyPr/>
                    <a:lstStyle/>
                    <a:p>
                      <a:pPr algn="r" fontAlgn="b"/>
                      <a:r>
                        <a:rPr lang="en-US" sz="900" u="none" strike="noStrike">
                          <a:effectLst/>
                        </a:rPr>
                        <a:t>467200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7500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1648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134</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18636.361</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9356.077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tc>
                  <a:txBody>
                    <a:bodyPr/>
                    <a:lstStyle/>
                    <a:p>
                      <a:pPr algn="r" fontAlgn="b"/>
                      <a:r>
                        <a:rPr lang="en-US" sz="900" u="none" strike="noStrike" dirty="0">
                          <a:effectLst/>
                        </a:rPr>
                        <a:t>457919.7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9280.284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452202187"/>
                  </a:ext>
                </a:extLst>
              </a:tr>
              <a:tr h="203200">
                <a:tc>
                  <a:txBody>
                    <a:bodyPr/>
                    <a:lstStyle/>
                    <a:p>
                      <a:pPr algn="r" fontAlgn="b"/>
                      <a:r>
                        <a:rPr lang="en-US" sz="900" u="none" strike="noStrike">
                          <a:effectLst/>
                        </a:rPr>
                        <a:t>432600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5000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1772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111</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-15963.639</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9356.077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tc>
                  <a:txBody>
                    <a:bodyPr/>
                    <a:lstStyle/>
                    <a:p>
                      <a:pPr algn="r" fontAlgn="b"/>
                      <a:r>
                        <a:rPr lang="en-US" sz="900" u="none" strike="noStrike" dirty="0">
                          <a:effectLst/>
                        </a:rPr>
                        <a:t>457919.7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-25319.716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2229405007"/>
                  </a:ext>
                </a:extLst>
              </a:tr>
              <a:tr h="203200">
                <a:tc>
                  <a:txBody>
                    <a:bodyPr/>
                    <a:lstStyle/>
                    <a:p>
                      <a:pPr algn="r" fontAlgn="b"/>
                      <a:r>
                        <a:rPr lang="en-US" sz="900" u="none" strike="noStrike">
                          <a:effectLst/>
                        </a:rPr>
                        <a:t>294900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6400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1532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88</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-153663.64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9356.077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tc>
                  <a:txBody>
                    <a:bodyPr/>
                    <a:lstStyle/>
                    <a:p>
                      <a:pPr algn="r" fontAlgn="b"/>
                      <a:r>
                        <a:rPr lang="en-US" sz="900" u="none" strike="noStrike" dirty="0">
                          <a:effectLst/>
                        </a:rPr>
                        <a:t>457919.7</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-163019.72</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3169057385"/>
                  </a:ext>
                </a:extLst>
              </a:tr>
              <a:tr h="203200">
                <a:tc>
                  <a:txBody>
                    <a:bodyPr/>
                    <a:lstStyle/>
                    <a:p>
                      <a:pPr algn="r" fontAlgn="b"/>
                      <a:r>
                        <a:rPr lang="en-US" sz="900" u="none" strike="noStrike">
                          <a:effectLst/>
                        </a:rPr>
                        <a:t>329200</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4449</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1224</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2</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a:effectLst/>
                        </a:rPr>
                        <a:t>96</a:t>
                      </a:r>
                      <a:endParaRPr lang="en-US" sz="900" b="0" i="0" u="none" strike="noStrike">
                        <a:solidFill>
                          <a:srgbClr val="000000"/>
                        </a:solidFill>
                        <a:effectLst/>
                        <a:latin typeface="Lucida Sans" panose="020B0602030504020204" pitchFamily="34" charset="77"/>
                      </a:endParaRPr>
                    </a:p>
                  </a:txBody>
                  <a:tcPr marL="9525" marR="9525" marT="9525" marB="0" anchor="b"/>
                </a:tc>
                <a:tc>
                  <a:txBody>
                    <a:bodyPr/>
                    <a:lstStyle/>
                    <a:p>
                      <a:pPr algn="r" fontAlgn="b"/>
                      <a:r>
                        <a:rPr lang="en-US" sz="900" u="none" strike="noStrike" dirty="0">
                          <a:effectLst/>
                        </a:rPr>
                        <a:t>448563.6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-119363.64</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tc>
                  <a:txBody>
                    <a:bodyPr/>
                    <a:lstStyle/>
                    <a:p>
                      <a:pPr algn="r" fontAlgn="b"/>
                      <a:r>
                        <a:rPr lang="en-US" sz="900" u="none" strike="noStrike" dirty="0">
                          <a:effectLst/>
                        </a:rPr>
                        <a:t>-84966.862</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2">
                        <a:lumMod val="40000"/>
                        <a:lumOff val="60000"/>
                      </a:schemeClr>
                    </a:solidFill>
                  </a:tcPr>
                </a:tc>
                <a:tc>
                  <a:txBody>
                    <a:bodyPr/>
                    <a:lstStyle/>
                    <a:p>
                      <a:pPr algn="r" fontAlgn="b"/>
                      <a:r>
                        <a:rPr lang="en-US" sz="900" u="none" strike="noStrike" dirty="0">
                          <a:effectLst/>
                        </a:rPr>
                        <a:t>363596.8</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accent5">
                        <a:lumMod val="40000"/>
                        <a:lumOff val="60000"/>
                      </a:schemeClr>
                    </a:solidFill>
                  </a:tcPr>
                </a:tc>
                <a:tc>
                  <a:txBody>
                    <a:bodyPr/>
                    <a:lstStyle/>
                    <a:p>
                      <a:pPr algn="r" fontAlgn="b"/>
                      <a:r>
                        <a:rPr lang="en-US" sz="900" u="none" strike="noStrike" dirty="0">
                          <a:effectLst/>
                        </a:rPr>
                        <a:t>-34396.776</a:t>
                      </a:r>
                      <a:endParaRPr lang="en-US" sz="900" b="0" i="0" u="none" strike="noStrike" dirty="0">
                        <a:solidFill>
                          <a:srgbClr val="000000"/>
                        </a:solidFill>
                        <a:effectLst/>
                        <a:latin typeface="Lucida Sans" panose="020B0602030504020204" pitchFamily="34" charset="77"/>
                      </a:endParaRPr>
                    </a:p>
                  </a:txBody>
                  <a:tcPr marL="9525" marR="9525" marT="9525" marB="0" anchor="b">
                    <a:solidFill>
                      <a:schemeClr val="bg2">
                        <a:lumMod val="75000"/>
                      </a:schemeClr>
                    </a:solidFill>
                  </a:tcPr>
                </a:tc>
                <a:extLst>
                  <a:ext uri="{0D108BD9-81ED-4DB2-BD59-A6C34878D82A}">
                    <a16:rowId xmlns:a16="http://schemas.microsoft.com/office/drawing/2014/main" val="1245146434"/>
                  </a:ext>
                </a:extLst>
              </a:tr>
            </a:tbl>
          </a:graphicData>
        </a:graphic>
      </p:graphicFrame>
    </p:spTree>
    <p:extLst>
      <p:ext uri="{BB962C8B-B14F-4D97-AF65-F5344CB8AC3E}">
        <p14:creationId xmlns:p14="http://schemas.microsoft.com/office/powerpoint/2010/main" val="26748022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ECE2E-2451-9C46-B472-281B0D1DA30D}"/>
              </a:ext>
            </a:extLst>
          </p:cNvPr>
          <p:cNvSpPr>
            <a:spLocks noGrp="1"/>
          </p:cNvSpPr>
          <p:nvPr>
            <p:ph type="title"/>
          </p:nvPr>
        </p:nvSpPr>
        <p:spPr/>
        <p:txBody>
          <a:bodyPr/>
          <a:lstStyle/>
          <a:p>
            <a:r>
              <a:rPr lang="en-US" dirty="0"/>
              <a:t>More on Boosting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0432E1-9821-7B4C-AD14-C95B9441E028}"/>
                  </a:ext>
                </a:extLst>
              </p:cNvPr>
              <p:cNvSpPr>
                <a:spLocks noGrp="1"/>
              </p:cNvSpPr>
              <p:nvPr>
                <p:ph idx="1"/>
              </p:nvPr>
            </p:nvSpPr>
            <p:spPr/>
            <p:txBody>
              <a:bodyPr>
                <a:normAutofit fontScale="92500" lnSpcReduction="20000"/>
              </a:bodyPr>
              <a:lstStyle/>
              <a:p>
                <a:pPr fontAlgn="base"/>
                <a:r>
                  <a:rPr lang="en-US" dirty="0"/>
                  <a:t>What is the learning Rate? </a:t>
                </a:r>
              </a:p>
              <a:p>
                <a:pPr lvl="1" fontAlgn="base"/>
                <a:r>
                  <a:rPr lang="en-US" dirty="0"/>
                  <a:t>Gradient Boost applies a learning rate  to scale the contribution from a new tree, by applying a factor between 0 and 1.</a:t>
                </a:r>
              </a:p>
              <a:p>
                <a:pPr lvl="2" fontAlgn="base"/>
                <a:r>
                  <a:rPr lang="en-US" dirty="0"/>
                  <a:t>Small numbers minimize change in residuals, large numbers increase the change </a:t>
                </a:r>
              </a:p>
              <a:p>
                <a:pPr lvl="3" fontAlgn="base"/>
                <a14:m>
                  <m:oMath xmlns:m="http://schemas.openxmlformats.org/officeDocument/2006/math">
                    <m:r>
                      <a:rPr lang="en-US" i="1">
                        <a:latin typeface="Cambria Math" panose="02040503050406030204" pitchFamily="18" charset="0"/>
                      </a:rPr>
                      <m:t>𝑟𝑒</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𝑝𝑟𝑒𝑑</m:t>
                        </m:r>
                      </m:sub>
                    </m:sSub>
                    <m:r>
                      <a:rPr lang="en-US" i="1">
                        <a:latin typeface="Cambria Math" panose="02040503050406030204" pitchFamily="18" charset="0"/>
                      </a:rPr>
                      <m:t>=</m:t>
                    </m:r>
                    <m:r>
                      <a:rPr lang="en-US" i="1">
                        <a:latin typeface="Cambria Math" panose="02040503050406030204" pitchFamily="18" charset="0"/>
                      </a:rPr>
                      <m:t>𝑎𝑣</m:t>
                    </m:r>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𝑝𝑟𝑒𝑑</m:t>
                        </m:r>
                      </m:sub>
                    </m:sSub>
                    <m:r>
                      <a:rPr lang="en-US" i="1">
                        <a:latin typeface="Cambria Math" panose="02040503050406030204" pitchFamily="18" charset="0"/>
                      </a:rPr>
                      <m:t>+</m:t>
                    </m:r>
                    <m:r>
                      <a:rPr lang="en-US" i="1">
                        <a:solidFill>
                          <a:srgbClr val="FF0000"/>
                        </a:solidFill>
                        <a:latin typeface="Cambria Math" panose="02040503050406030204" pitchFamily="18" charset="0"/>
                      </a:rPr>
                      <m:t>𝑙𝑒𝑎𝑟</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𝑛</m:t>
                        </m:r>
                      </m:e>
                      <m:sub>
                        <m:r>
                          <a:rPr lang="en-US" i="1">
                            <a:solidFill>
                              <a:srgbClr val="FF0000"/>
                            </a:solidFill>
                            <a:latin typeface="Cambria Math" panose="02040503050406030204" pitchFamily="18" charset="0"/>
                          </a:rPr>
                          <m:t>𝑟𝑎𝑡𝑒</m:t>
                        </m:r>
                      </m:sub>
                    </m:sSub>
                    <m:r>
                      <a:rPr lang="en-US" i="1">
                        <a:latin typeface="Cambria Math" panose="02040503050406030204" pitchFamily="18" charset="0"/>
                      </a:rPr>
                      <m:t>∗</m:t>
                    </m:r>
                    <m:r>
                      <a:rPr lang="en-US" i="1">
                        <a:latin typeface="Cambria Math" panose="02040503050406030204" pitchFamily="18" charset="0"/>
                      </a:rPr>
                      <m:t>𝑟𝑒𝑠</m:t>
                    </m:r>
                    <m:r>
                      <a:rPr lang="en-US" i="1">
                        <a:latin typeface="Cambria Math" panose="02040503050406030204" pitchFamily="18" charset="0"/>
                      </a:rPr>
                      <m:t>_1</m:t>
                    </m:r>
                  </m:oMath>
                </a14:m>
                <a:endParaRPr lang="en-US" dirty="0"/>
              </a:p>
              <a:p>
                <a:pPr lvl="3" fontAlgn="base"/>
                <a:r>
                  <a:rPr lang="en-US" dirty="0"/>
                  <a:t>if the learn rate is near 0 learns slower and may underfit </a:t>
                </a:r>
              </a:p>
              <a:p>
                <a:pPr lvl="3" fontAlgn="base"/>
                <a:r>
                  <a:rPr lang="en-US" dirty="0"/>
                  <a:t>if the learn rate is near 1 learns faster but may overfit </a:t>
                </a:r>
              </a:p>
              <a:p>
                <a:pPr lvl="2" fontAlgn="base"/>
                <a:r>
                  <a:rPr lang="en-US" dirty="0"/>
                  <a:t>idea behind the learning rate is to make a small step in the right direction. </a:t>
                </a:r>
              </a:p>
              <a:p>
                <a:pPr lvl="3" fontAlgn="base"/>
                <a:r>
                  <a:rPr lang="en-US" dirty="0"/>
                  <a:t>Allowing for overall lower variance.</a:t>
                </a:r>
              </a:p>
              <a:p>
                <a:pPr fontAlgn="base"/>
                <a:r>
                  <a:rPr lang="en-US" dirty="0"/>
                  <a:t>Improvements to Gradient Boosting </a:t>
                </a:r>
              </a:p>
              <a:p>
                <a:pPr lvl="1" fontAlgn="base"/>
                <a:r>
                  <a:rPr lang="en-US" dirty="0"/>
                  <a:t>Subsample rows before creating each tree.</a:t>
                </a:r>
              </a:p>
              <a:p>
                <a:pPr lvl="1" fontAlgn="base"/>
                <a:r>
                  <a:rPr lang="en-US" dirty="0"/>
                  <a:t>Subsample columns before creating each tree</a:t>
                </a:r>
              </a:p>
              <a:p>
                <a:pPr lvl="1" fontAlgn="base"/>
                <a:r>
                  <a:rPr lang="en-US" dirty="0"/>
                  <a:t>Subsample columns before considering each split.</a:t>
                </a:r>
              </a:p>
              <a:p>
                <a:pPr lvl="1" fontAlgn="base"/>
                <a:endParaRPr lang="en-US" dirty="0"/>
              </a:p>
              <a:p>
                <a:endParaRPr lang="en-US" dirty="0"/>
              </a:p>
            </p:txBody>
          </p:sp>
        </mc:Choice>
        <mc:Fallback xmlns="">
          <p:sp>
            <p:nvSpPr>
              <p:cNvPr id="3" name="Content Placeholder 2">
                <a:extLst>
                  <a:ext uri="{FF2B5EF4-FFF2-40B4-BE49-F238E27FC236}">
                    <a16:creationId xmlns:a16="http://schemas.microsoft.com/office/drawing/2014/main" id="{600432E1-9821-7B4C-AD14-C95B9441E028}"/>
                  </a:ext>
                </a:extLst>
              </p:cNvPr>
              <p:cNvSpPr>
                <a:spLocks noGrp="1" noRot="1" noChangeAspect="1" noMove="1" noResize="1" noEditPoints="1" noAdjustHandles="1" noChangeArrowheads="1" noChangeShapeType="1" noTextEdit="1"/>
              </p:cNvSpPr>
              <p:nvPr>
                <p:ph idx="1"/>
              </p:nvPr>
            </p:nvSpPr>
            <p:spPr>
              <a:blipFill>
                <a:blip r:embed="rId2"/>
                <a:stretch>
                  <a:fillRect l="-126" t="-214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0DEB3E5-C30E-4640-BF69-7044C79EE2F5}"/>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43</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B62BD013-A3EA-054C-AA5B-25C4AC26E355}"/>
              </a:ext>
            </a:extLst>
          </p:cNvPr>
          <p:cNvSpPr>
            <a:spLocks noGrp="1"/>
          </p:cNvSpPr>
          <p:nvPr>
            <p:ph type="body" sz="half" idx="2"/>
          </p:nvPr>
        </p:nvSpPr>
        <p:spPr/>
        <p:txBody>
          <a:bodyPr/>
          <a:lstStyle/>
          <a:p>
            <a:r>
              <a:rPr lang="en-US" dirty="0"/>
              <a:t>Improving performance </a:t>
            </a:r>
          </a:p>
        </p:txBody>
      </p:sp>
    </p:spTree>
    <p:extLst>
      <p:ext uri="{BB962C8B-B14F-4D97-AF65-F5344CB8AC3E}">
        <p14:creationId xmlns:p14="http://schemas.microsoft.com/office/powerpoint/2010/main" val="35579683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17795-4FF8-8C46-9F11-EF18CD14C618}"/>
              </a:ext>
            </a:extLst>
          </p:cNvPr>
          <p:cNvSpPr>
            <a:spLocks noGrp="1"/>
          </p:cNvSpPr>
          <p:nvPr>
            <p:ph type="title"/>
          </p:nvPr>
        </p:nvSpPr>
        <p:spPr/>
        <p:txBody>
          <a:bodyPr/>
          <a:lstStyle/>
          <a:p>
            <a:r>
              <a:rPr lang="en-US" dirty="0"/>
              <a:t>Boosting</a:t>
            </a:r>
          </a:p>
        </p:txBody>
      </p:sp>
      <p:sp>
        <p:nvSpPr>
          <p:cNvPr id="3" name="Content Placeholder 2">
            <a:extLst>
              <a:ext uri="{FF2B5EF4-FFF2-40B4-BE49-F238E27FC236}">
                <a16:creationId xmlns:a16="http://schemas.microsoft.com/office/drawing/2014/main" id="{712A1147-D136-0D4D-8EED-700EF565554C}"/>
              </a:ext>
            </a:extLst>
          </p:cNvPr>
          <p:cNvSpPr>
            <a:spLocks noGrp="1"/>
          </p:cNvSpPr>
          <p:nvPr>
            <p:ph idx="1"/>
          </p:nvPr>
        </p:nvSpPr>
        <p:spPr>
          <a:xfrm>
            <a:off x="664633" y="1981201"/>
            <a:ext cx="10663170" cy="4144963"/>
          </a:xfrm>
        </p:spPr>
        <p:txBody>
          <a:bodyPr/>
          <a:lstStyle/>
          <a:p>
            <a:pPr marL="0" indent="0">
              <a:buNone/>
            </a:pPr>
            <a:r>
              <a:rPr lang="en-US" b="1" dirty="0"/>
              <a:t>Sequential Learners</a:t>
            </a:r>
            <a:r>
              <a:rPr lang="en-US" dirty="0"/>
              <a:t>, where several models are generated sequentially by training the model on the mistakes of previous model(s). This aims at exploiting the dependency between models by giving the mislabeled examples higher weights (</a:t>
            </a:r>
            <a:r>
              <a:rPr lang="en-US" i="1" dirty="0"/>
              <a:t>e.g. AdaBoost</a:t>
            </a:r>
            <a:r>
              <a:rPr lang="en-US" dirty="0"/>
              <a:t>).</a:t>
            </a:r>
            <a:endParaRPr lang="en-US" i="1" dirty="0"/>
          </a:p>
          <a:p>
            <a:r>
              <a:rPr lang="en-US" i="1" dirty="0"/>
              <a:t>We first model data with simple models and analyze data for errors.</a:t>
            </a:r>
          </a:p>
          <a:p>
            <a:r>
              <a:rPr lang="en-US" i="1" dirty="0"/>
              <a:t> These errors signify data points that are </a:t>
            </a:r>
            <a:r>
              <a:rPr lang="en-US" b="1" i="1" u="sng" dirty="0"/>
              <a:t>difficult to fit </a:t>
            </a:r>
            <a:r>
              <a:rPr lang="en-US" i="1" dirty="0"/>
              <a:t>by a simple model.</a:t>
            </a:r>
          </a:p>
          <a:p>
            <a:r>
              <a:rPr lang="en-US" i="1" dirty="0"/>
              <a:t>Then for subsequent models, </a:t>
            </a:r>
            <a:r>
              <a:rPr lang="en-US" b="1" i="1" u="sng" dirty="0"/>
              <a:t>we focus</a:t>
            </a:r>
            <a:r>
              <a:rPr lang="en-US" b="1" i="1" dirty="0"/>
              <a:t> </a:t>
            </a:r>
            <a:r>
              <a:rPr lang="en-US" i="1" dirty="0"/>
              <a:t>on those </a:t>
            </a:r>
            <a:r>
              <a:rPr lang="en-US" b="1" i="1" u="sng" dirty="0"/>
              <a:t>hard to fit data </a:t>
            </a:r>
            <a:r>
              <a:rPr lang="en-US" i="1" dirty="0"/>
              <a:t>to get them right.</a:t>
            </a:r>
          </a:p>
          <a:p>
            <a:r>
              <a:rPr lang="en-US" b="1" i="1" u="sng" dirty="0"/>
              <a:t>Combine</a:t>
            </a:r>
            <a:r>
              <a:rPr lang="en-US" i="1" dirty="0"/>
              <a:t> all the predictors by giving some weights to each predictor.</a:t>
            </a:r>
            <a:endParaRPr lang="en-US" dirty="0"/>
          </a:p>
        </p:txBody>
      </p:sp>
      <p:sp>
        <p:nvSpPr>
          <p:cNvPr id="4" name="Slide Number Placeholder 3">
            <a:extLst>
              <a:ext uri="{FF2B5EF4-FFF2-40B4-BE49-F238E27FC236}">
                <a16:creationId xmlns:a16="http://schemas.microsoft.com/office/drawing/2014/main" id="{519C941F-11FC-264D-91B6-DA8DED3E871A}"/>
              </a:ext>
            </a:extLst>
          </p:cNvPr>
          <p:cNvSpPr>
            <a:spLocks noGrp="1"/>
          </p:cNvSpPr>
          <p:nvPr>
            <p:ph type="sldNum" sz="quarter" idx="12"/>
          </p:nvPr>
        </p:nvSpPr>
        <p:spPr/>
        <p:txBody>
          <a:bodyPr/>
          <a:lstStyle/>
          <a:p>
            <a:fld id="{02456A73-CB17-B748-BD2A-A20F5DD59EC7}" type="slidenum">
              <a:rPr lang="en-US" smtClean="0"/>
              <a:pPr/>
              <a:t>44</a:t>
            </a:fld>
            <a:endParaRPr lang="en-US" dirty="0"/>
          </a:p>
        </p:txBody>
      </p:sp>
      <p:sp>
        <p:nvSpPr>
          <p:cNvPr id="5" name="Rectangle 4">
            <a:extLst>
              <a:ext uri="{FF2B5EF4-FFF2-40B4-BE49-F238E27FC236}">
                <a16:creationId xmlns:a16="http://schemas.microsoft.com/office/drawing/2014/main" id="{087D4144-5A5C-4F40-B12D-93184A5CBDC3}"/>
              </a:ext>
            </a:extLst>
          </p:cNvPr>
          <p:cNvSpPr/>
          <p:nvPr/>
        </p:nvSpPr>
        <p:spPr>
          <a:xfrm>
            <a:off x="864197" y="6126164"/>
            <a:ext cx="9355567" cy="369332"/>
          </a:xfrm>
          <a:prstGeom prst="rect">
            <a:avLst/>
          </a:prstGeom>
        </p:spPr>
        <p:txBody>
          <a:bodyPr wrap="square">
            <a:spAutoFit/>
          </a:bodyPr>
          <a:lstStyle/>
          <a:p>
            <a:r>
              <a:rPr lang="en-US" dirty="0">
                <a:hlinkClick r:id="rId2"/>
              </a:rPr>
              <a:t>https://www.youtube.com/watch?time_continue=215&amp;v=sRktKszFmSk&amp;feature=emb_logo</a:t>
            </a:r>
            <a:endParaRPr lang="en-US" dirty="0"/>
          </a:p>
        </p:txBody>
      </p:sp>
      <p:sp>
        <p:nvSpPr>
          <p:cNvPr id="6" name="Rectangle 5">
            <a:extLst>
              <a:ext uri="{FF2B5EF4-FFF2-40B4-BE49-F238E27FC236}">
                <a16:creationId xmlns:a16="http://schemas.microsoft.com/office/drawing/2014/main" id="{2CE33319-5C6F-4447-98AD-E19AAA119340}"/>
              </a:ext>
            </a:extLst>
          </p:cNvPr>
          <p:cNvSpPr/>
          <p:nvPr/>
        </p:nvSpPr>
        <p:spPr>
          <a:xfrm>
            <a:off x="864197" y="5450576"/>
            <a:ext cx="4984763" cy="923330"/>
          </a:xfrm>
          <a:prstGeom prst="rect">
            <a:avLst/>
          </a:prstGeom>
        </p:spPr>
        <p:txBody>
          <a:bodyPr wrap="none">
            <a:spAutoFit/>
          </a:bodyPr>
          <a:lstStyle/>
          <a:p>
            <a:r>
              <a:rPr lang="en-US" dirty="0"/>
              <a:t>Trevor Hastie in all his Glory! </a:t>
            </a:r>
          </a:p>
          <a:p>
            <a:r>
              <a:rPr lang="en-US" dirty="0">
                <a:hlinkClick r:id="rId3"/>
              </a:rPr>
              <a:t>https://www.youtube.com/watch?v=wPqtzj5VZus</a:t>
            </a:r>
            <a:endParaRPr lang="en-US" dirty="0"/>
          </a:p>
          <a:p>
            <a:endParaRPr lang="en-US" dirty="0"/>
          </a:p>
        </p:txBody>
      </p:sp>
    </p:spTree>
    <p:extLst>
      <p:ext uri="{BB962C8B-B14F-4D97-AF65-F5344CB8AC3E}">
        <p14:creationId xmlns:p14="http://schemas.microsoft.com/office/powerpoint/2010/main" val="1550026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1A18-A2E6-0E4A-ADB6-034CEB366D58}"/>
              </a:ext>
            </a:extLst>
          </p:cNvPr>
          <p:cNvSpPr>
            <a:spLocks noGrp="1"/>
          </p:cNvSpPr>
          <p:nvPr>
            <p:ph type="title"/>
          </p:nvPr>
        </p:nvSpPr>
        <p:spPr/>
        <p:txBody>
          <a:bodyPr/>
          <a:lstStyle/>
          <a:p>
            <a:r>
              <a:rPr lang="en-US" dirty="0" err="1"/>
              <a:t>XGBoost</a:t>
            </a:r>
            <a:r>
              <a:rPr lang="en-US" dirty="0"/>
              <a:t> </a:t>
            </a:r>
          </a:p>
        </p:txBody>
      </p:sp>
      <p:sp>
        <p:nvSpPr>
          <p:cNvPr id="3" name="Content Placeholder 2">
            <a:extLst>
              <a:ext uri="{FF2B5EF4-FFF2-40B4-BE49-F238E27FC236}">
                <a16:creationId xmlns:a16="http://schemas.microsoft.com/office/drawing/2014/main" id="{EB46B6D6-14B4-EF40-A384-7477B5300044}"/>
              </a:ext>
            </a:extLst>
          </p:cNvPr>
          <p:cNvSpPr>
            <a:spLocks noGrp="1"/>
          </p:cNvSpPr>
          <p:nvPr>
            <p:ph idx="1"/>
          </p:nvPr>
        </p:nvSpPr>
        <p:spPr>
          <a:xfrm>
            <a:off x="664633" y="1981201"/>
            <a:ext cx="10514996" cy="4144963"/>
          </a:xfrm>
        </p:spPr>
        <p:txBody>
          <a:bodyPr>
            <a:normAutofit/>
          </a:bodyPr>
          <a:lstStyle/>
          <a:p>
            <a:r>
              <a:rPr lang="en-US" dirty="0" err="1"/>
              <a:t>XGBoost</a:t>
            </a:r>
            <a:r>
              <a:rPr lang="en-US" dirty="0"/>
              <a:t> was developed by </a:t>
            </a:r>
            <a:r>
              <a:rPr lang="en-US" u="sng" dirty="0"/>
              <a:t>Tianqi Chen</a:t>
            </a:r>
            <a:r>
              <a:rPr lang="en-US" dirty="0"/>
              <a:t> and </a:t>
            </a:r>
            <a:r>
              <a:rPr lang="en-US" u="sng" dirty="0"/>
              <a:t>Carlos Guestrin</a:t>
            </a:r>
            <a:r>
              <a:rPr lang="en-US" dirty="0"/>
              <a:t> and it is an ensemble machine learning technique that uses the Gradient boosting framework for machine learning prediction and </a:t>
            </a:r>
            <a:r>
              <a:rPr lang="en-US" dirty="0" err="1"/>
              <a:t>XGBoost</a:t>
            </a:r>
            <a:r>
              <a:rPr lang="en-US" dirty="0"/>
              <a:t> is well known for its fast execution and Scalability.</a:t>
            </a:r>
          </a:p>
          <a:p>
            <a:pPr lvl="1"/>
            <a:r>
              <a:rPr lang="en-US" b="1" dirty="0"/>
              <a:t>Gradient Boosting </a:t>
            </a:r>
            <a:r>
              <a:rPr lang="en-US" dirty="0"/>
              <a:t>is a boosting technique for each iteration the new predictor is built to fit on the </a:t>
            </a:r>
            <a:r>
              <a:rPr lang="en-US" b="1" dirty="0"/>
              <a:t>pseudo-residuals</a:t>
            </a:r>
            <a:r>
              <a:rPr lang="en-US" dirty="0"/>
              <a:t> of the </a:t>
            </a:r>
            <a:r>
              <a:rPr lang="en-US" b="1" dirty="0"/>
              <a:t>previous predictor</a:t>
            </a:r>
          </a:p>
          <a:p>
            <a:pPr lvl="1"/>
            <a:r>
              <a:rPr lang="en-US" dirty="0" err="1"/>
              <a:t>XGBoost</a:t>
            </a:r>
            <a:r>
              <a:rPr lang="en-US" dirty="0"/>
              <a:t> fits a model on the </a:t>
            </a:r>
            <a:r>
              <a:rPr lang="en-US" b="1" dirty="0"/>
              <a:t>gradient of loss generated </a:t>
            </a:r>
            <a:r>
              <a:rPr lang="en-US" dirty="0"/>
              <a:t>from the </a:t>
            </a:r>
            <a:r>
              <a:rPr lang="en-US" b="1" dirty="0"/>
              <a:t>previous predictor</a:t>
            </a:r>
            <a:r>
              <a:rPr lang="en-US" dirty="0"/>
              <a:t>. </a:t>
            </a:r>
            <a:r>
              <a:rPr lang="en-US" dirty="0" err="1"/>
              <a:t>XGBoost</a:t>
            </a:r>
            <a:r>
              <a:rPr lang="en-US" dirty="0"/>
              <a:t> is just a modification of  the gradient boosting algorithm so that it works with any </a:t>
            </a:r>
            <a:r>
              <a:rPr lang="en-US" b="1" i="1" dirty="0"/>
              <a:t>differentiable loss function</a:t>
            </a:r>
            <a:r>
              <a:rPr lang="en-US" dirty="0"/>
              <a:t>.</a:t>
            </a:r>
            <a:endParaRPr lang="en-US" b="1" dirty="0"/>
          </a:p>
          <a:p>
            <a:pPr lvl="1"/>
            <a:endParaRPr lang="en-US" b="1" dirty="0"/>
          </a:p>
          <a:p>
            <a:pPr lvl="1"/>
            <a:r>
              <a:rPr lang="en-US" b="1" dirty="0">
                <a:hlinkClick r:id="rId2"/>
              </a:rPr>
              <a:t>https://github.com/dmlc/xgboost/tree/master/demo</a:t>
            </a:r>
            <a:endParaRPr lang="en-US" b="1" dirty="0"/>
          </a:p>
          <a:p>
            <a:pPr lvl="1"/>
            <a:r>
              <a:rPr lang="en-US" b="1" dirty="0">
                <a:hlinkClick r:id="rId3"/>
              </a:rPr>
              <a:t>http://datascience.la/xgboost-workshop-and-meetup-talk-with-tianqi-chen/</a:t>
            </a:r>
            <a:endParaRPr lang="en-US" b="1" dirty="0"/>
          </a:p>
          <a:p>
            <a:pPr lvl="1"/>
            <a:r>
              <a:rPr lang="en-US" b="1" dirty="0">
                <a:hlinkClick r:id="rId4"/>
              </a:rPr>
              <a:t>https://xgboost.readthedocs.io/en/latest/</a:t>
            </a:r>
            <a:endParaRPr lang="en-US" b="1" dirty="0"/>
          </a:p>
          <a:p>
            <a:pPr lvl="1"/>
            <a:endParaRPr lang="en-US" b="1" dirty="0"/>
          </a:p>
        </p:txBody>
      </p:sp>
      <p:sp>
        <p:nvSpPr>
          <p:cNvPr id="4" name="Slide Number Placeholder 3">
            <a:extLst>
              <a:ext uri="{FF2B5EF4-FFF2-40B4-BE49-F238E27FC236}">
                <a16:creationId xmlns:a16="http://schemas.microsoft.com/office/drawing/2014/main" id="{CF7FBC63-3E04-4141-A932-E31C244FE996}"/>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45</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7542CC96-D0F0-3B48-88A6-47756434B454}"/>
              </a:ext>
            </a:extLst>
          </p:cNvPr>
          <p:cNvSpPr>
            <a:spLocks noGrp="1"/>
          </p:cNvSpPr>
          <p:nvPr>
            <p:ph type="body" sz="half" idx="2"/>
          </p:nvPr>
        </p:nvSpPr>
        <p:spPr/>
        <p:txBody>
          <a:bodyPr/>
          <a:lstStyle/>
          <a:p>
            <a:r>
              <a:rPr lang="en-US" dirty="0"/>
              <a:t>Extreme Gradient Boosting </a:t>
            </a:r>
          </a:p>
        </p:txBody>
      </p:sp>
    </p:spTree>
    <p:extLst>
      <p:ext uri="{BB962C8B-B14F-4D97-AF65-F5344CB8AC3E}">
        <p14:creationId xmlns:p14="http://schemas.microsoft.com/office/powerpoint/2010/main" val="34949144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0B0BC-A17B-9549-8563-CFED49C6943F}"/>
              </a:ext>
            </a:extLst>
          </p:cNvPr>
          <p:cNvSpPr>
            <a:spLocks noGrp="1"/>
          </p:cNvSpPr>
          <p:nvPr>
            <p:ph type="title"/>
          </p:nvPr>
        </p:nvSpPr>
        <p:spPr/>
        <p:txBody>
          <a:bodyPr/>
          <a:lstStyle/>
          <a:p>
            <a:r>
              <a:rPr lang="en-US" dirty="0"/>
              <a:t>Boosting</a:t>
            </a:r>
          </a:p>
        </p:txBody>
      </p:sp>
      <p:sp>
        <p:nvSpPr>
          <p:cNvPr id="5" name="Content Placeholder 4">
            <a:extLst>
              <a:ext uri="{FF2B5EF4-FFF2-40B4-BE49-F238E27FC236}">
                <a16:creationId xmlns:a16="http://schemas.microsoft.com/office/drawing/2014/main" id="{329EEA08-D4B3-E54E-9AC9-CDB7F51B6436}"/>
              </a:ext>
            </a:extLst>
          </p:cNvPr>
          <p:cNvSpPr>
            <a:spLocks noGrp="1"/>
          </p:cNvSpPr>
          <p:nvPr>
            <p:ph idx="1"/>
          </p:nvPr>
        </p:nvSpPr>
        <p:spPr/>
        <p:txBody>
          <a:bodyPr>
            <a:normAutofit fontScale="70000" lnSpcReduction="20000"/>
          </a:bodyPr>
          <a:lstStyle/>
          <a:p>
            <a:r>
              <a:rPr lang="en-US" b="1" dirty="0"/>
              <a:t>Number of Trees </a:t>
            </a:r>
          </a:p>
          <a:p>
            <a:pPr lvl="1"/>
            <a:r>
              <a:rPr lang="en-US" b="1" dirty="0"/>
              <a:t>Constrains the algorithm, it learns sequentially </a:t>
            </a:r>
          </a:p>
          <a:p>
            <a:r>
              <a:rPr lang="en-US" b="1" dirty="0"/>
              <a:t> Tree Constraints (our standard set) </a:t>
            </a:r>
          </a:p>
          <a:p>
            <a:pPr lvl="1" fontAlgn="base"/>
            <a:r>
              <a:rPr lang="en-US" b="1" dirty="0"/>
              <a:t>Tree depth</a:t>
            </a:r>
            <a:r>
              <a:rPr lang="en-US" dirty="0"/>
              <a:t>, deeper trees are more complex trees and shorter trees are preferred. Generally, better results are seen with 4-8 levels.</a:t>
            </a:r>
          </a:p>
          <a:p>
            <a:pPr lvl="1" fontAlgn="base"/>
            <a:r>
              <a:rPr lang="en-US" b="1" dirty="0"/>
              <a:t>Number of nodes or number of leaves</a:t>
            </a:r>
            <a:r>
              <a:rPr lang="en-US" dirty="0"/>
              <a:t>, like depth, this can constrain the size of the tree, but is not constrained to a symmetrical structure if other constraints are used.</a:t>
            </a:r>
          </a:p>
          <a:p>
            <a:pPr lvl="1" fontAlgn="base"/>
            <a:r>
              <a:rPr lang="en-US" b="1" dirty="0"/>
              <a:t>Number of observations per split</a:t>
            </a:r>
            <a:r>
              <a:rPr lang="en-US" dirty="0"/>
              <a:t> imposes a minimum constraint on the amount of training data at a training node before a split can be considered</a:t>
            </a:r>
          </a:p>
          <a:p>
            <a:pPr fontAlgn="base"/>
            <a:r>
              <a:rPr lang="en-US" b="1" dirty="0"/>
              <a:t>Weighted Updates</a:t>
            </a:r>
          </a:p>
          <a:p>
            <a:pPr lvl="1" fontAlgn="base"/>
            <a:r>
              <a:rPr lang="en-US" dirty="0"/>
              <a:t>The predictions of each tree are added together sequentially. The </a:t>
            </a:r>
            <a:r>
              <a:rPr lang="en-US" i="1" dirty="0"/>
              <a:t>contribution of each tree to this sum can be weighted to slow down the learning </a:t>
            </a:r>
            <a:r>
              <a:rPr lang="en-US" dirty="0"/>
              <a:t>by the algorithm. This </a:t>
            </a:r>
            <a:r>
              <a:rPr lang="en-US" b="1" u="sng" dirty="0"/>
              <a:t>weighting is called a shrinkage </a:t>
            </a:r>
            <a:r>
              <a:rPr lang="en-US" dirty="0"/>
              <a:t>or a </a:t>
            </a:r>
            <a:r>
              <a:rPr lang="en-US" b="1" u="sng" dirty="0"/>
              <a:t>learning rate.</a:t>
            </a:r>
          </a:p>
          <a:p>
            <a:pPr fontAlgn="base"/>
            <a:r>
              <a:rPr lang="en-US" b="1" dirty="0"/>
              <a:t>Stochastic Gradient Boosting</a:t>
            </a:r>
          </a:p>
          <a:p>
            <a:pPr lvl="1" fontAlgn="base"/>
            <a:r>
              <a:rPr lang="en-US" i="1" dirty="0"/>
              <a:t>At each iteration a subsample of the training data is drawn at random (</a:t>
            </a:r>
            <a:r>
              <a:rPr lang="en-US" b="1" i="1" u="sng" dirty="0"/>
              <a:t>without replacement</a:t>
            </a:r>
            <a:r>
              <a:rPr lang="en-US" i="1" dirty="0"/>
              <a:t>) from the full training dataset. The randomly selected subsample is then used, instead of the full sample, to fit the base learner.</a:t>
            </a:r>
          </a:p>
          <a:p>
            <a:pPr lvl="2" fontAlgn="base"/>
            <a:r>
              <a:rPr lang="en-US" dirty="0"/>
              <a:t>Subsample rows and columns before creating each tree.</a:t>
            </a:r>
          </a:p>
          <a:p>
            <a:pPr lvl="2" fontAlgn="base"/>
            <a:r>
              <a:rPr lang="en-US" dirty="0"/>
              <a:t>Subsample columns before considering each split.</a:t>
            </a:r>
          </a:p>
        </p:txBody>
      </p:sp>
      <p:sp>
        <p:nvSpPr>
          <p:cNvPr id="4" name="Slide Number Placeholder 3">
            <a:extLst>
              <a:ext uri="{FF2B5EF4-FFF2-40B4-BE49-F238E27FC236}">
                <a16:creationId xmlns:a16="http://schemas.microsoft.com/office/drawing/2014/main" id="{7471545A-623D-7648-BFEF-E156EF007B24}"/>
              </a:ext>
            </a:extLst>
          </p:cNvPr>
          <p:cNvSpPr>
            <a:spLocks noGrp="1"/>
          </p:cNvSpPr>
          <p:nvPr>
            <p:ph type="sldNum" sz="quarter" idx="12"/>
          </p:nvPr>
        </p:nvSpPr>
        <p:spPr/>
        <p:txBody>
          <a:bodyPr/>
          <a:lstStyle/>
          <a:p>
            <a:fld id="{02456A73-CB17-B748-BD2A-A20F5DD59EC7}" type="slidenum">
              <a:rPr lang="en-US" smtClean="0"/>
              <a:pPr/>
              <a:t>46</a:t>
            </a:fld>
            <a:endParaRPr lang="en-US" dirty="0"/>
          </a:p>
        </p:txBody>
      </p:sp>
      <p:sp>
        <p:nvSpPr>
          <p:cNvPr id="6" name="Text Placeholder 5">
            <a:extLst>
              <a:ext uri="{FF2B5EF4-FFF2-40B4-BE49-F238E27FC236}">
                <a16:creationId xmlns:a16="http://schemas.microsoft.com/office/drawing/2014/main" id="{E2F3AF76-4217-5A43-9DCF-CDC229220C17}"/>
              </a:ext>
            </a:extLst>
          </p:cNvPr>
          <p:cNvSpPr>
            <a:spLocks noGrp="1"/>
          </p:cNvSpPr>
          <p:nvPr>
            <p:ph type="body" sz="half" idx="2"/>
          </p:nvPr>
        </p:nvSpPr>
        <p:spPr/>
        <p:txBody>
          <a:bodyPr/>
          <a:lstStyle/>
          <a:p>
            <a:r>
              <a:rPr lang="en-US" dirty="0"/>
              <a:t>Key components </a:t>
            </a:r>
          </a:p>
        </p:txBody>
      </p:sp>
    </p:spTree>
    <p:extLst>
      <p:ext uri="{BB962C8B-B14F-4D97-AF65-F5344CB8AC3E}">
        <p14:creationId xmlns:p14="http://schemas.microsoft.com/office/powerpoint/2010/main" val="7130834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8AAB31E-9970-1440-9DDC-8A2C77F14BC1}"/>
              </a:ext>
            </a:extLst>
          </p:cNvPr>
          <p:cNvSpPr>
            <a:spLocks noGrp="1"/>
          </p:cNvSpPr>
          <p:nvPr>
            <p:ph type="title"/>
          </p:nvPr>
        </p:nvSpPr>
        <p:spPr/>
        <p:txBody>
          <a:bodyPr/>
          <a:lstStyle/>
          <a:p>
            <a:r>
              <a:rPr lang="en-US" dirty="0"/>
              <a:t>GBM From Scratch</a:t>
            </a:r>
            <a:br>
              <a:rPr lang="en-US" dirty="0"/>
            </a:br>
            <a:r>
              <a:rPr lang="en-US" dirty="0"/>
              <a:t>GBM &amp; Churn</a:t>
            </a:r>
          </a:p>
        </p:txBody>
      </p:sp>
      <p:sp>
        <p:nvSpPr>
          <p:cNvPr id="7" name="Text Placeholder 6">
            <a:extLst>
              <a:ext uri="{FF2B5EF4-FFF2-40B4-BE49-F238E27FC236}">
                <a16:creationId xmlns:a16="http://schemas.microsoft.com/office/drawing/2014/main" id="{035758E7-79FB-B101-2139-8DD555B340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3D07A9-446A-6658-A4ED-26AA586D1E66}"/>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47</a:t>
            </a:fld>
            <a:endParaRPr lang="en-US" dirty="0">
              <a:solidFill>
                <a:srgbClr val="FFFFFF"/>
              </a:solidFill>
              <a:latin typeface="Franklin Gothic Book"/>
            </a:endParaRPr>
          </a:p>
        </p:txBody>
      </p:sp>
    </p:spTree>
    <p:extLst>
      <p:ext uri="{BB962C8B-B14F-4D97-AF65-F5344CB8AC3E}">
        <p14:creationId xmlns:p14="http://schemas.microsoft.com/office/powerpoint/2010/main" val="9659509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CFD2EA-177A-84C3-B4F2-D0D16940B379}"/>
              </a:ext>
            </a:extLst>
          </p:cNvPr>
          <p:cNvSpPr>
            <a:spLocks noGrp="1"/>
          </p:cNvSpPr>
          <p:nvPr>
            <p:ph type="title"/>
          </p:nvPr>
        </p:nvSpPr>
        <p:spPr/>
        <p:txBody>
          <a:bodyPr/>
          <a:lstStyle/>
          <a:p>
            <a:r>
              <a:rPr lang="en-US" dirty="0"/>
              <a:t>Watch and Read</a:t>
            </a:r>
          </a:p>
        </p:txBody>
      </p:sp>
      <p:sp>
        <p:nvSpPr>
          <p:cNvPr id="6" name="Content Placeholder 5">
            <a:extLst>
              <a:ext uri="{FF2B5EF4-FFF2-40B4-BE49-F238E27FC236}">
                <a16:creationId xmlns:a16="http://schemas.microsoft.com/office/drawing/2014/main" id="{18FC390F-4D51-B92D-322C-31532E84AA4C}"/>
              </a:ext>
            </a:extLst>
          </p:cNvPr>
          <p:cNvSpPr>
            <a:spLocks noGrp="1"/>
          </p:cNvSpPr>
          <p:nvPr>
            <p:ph idx="1"/>
          </p:nvPr>
        </p:nvSpPr>
        <p:spPr/>
        <p:txBody>
          <a:bodyPr anchor="ctr"/>
          <a:lstStyle/>
          <a:p>
            <a:r>
              <a:rPr lang="en-US" dirty="0"/>
              <a:t>Video </a:t>
            </a:r>
          </a:p>
          <a:p>
            <a:pPr lvl="1"/>
            <a:r>
              <a:rPr lang="en-US" dirty="0">
                <a:hlinkClick r:id="rId2"/>
              </a:rPr>
              <a:t>https://www.youtube.com/watch?v=9wDoiSo8trc</a:t>
            </a:r>
            <a:endParaRPr lang="en-US" dirty="0"/>
          </a:p>
          <a:p>
            <a:pPr lvl="1"/>
            <a:r>
              <a:rPr lang="en-US" dirty="0">
                <a:hlinkClick r:id="rId3"/>
              </a:rPr>
              <a:t>https://www.youtube.com/watch?v=Nol1hVtLOSg</a:t>
            </a:r>
            <a:endParaRPr lang="en-US" dirty="0"/>
          </a:p>
          <a:p>
            <a:r>
              <a:rPr lang="en-US" dirty="0"/>
              <a:t>Read</a:t>
            </a:r>
          </a:p>
          <a:p>
            <a:pPr lvl="1"/>
            <a:r>
              <a:rPr lang="en-US" dirty="0">
                <a:hlinkClick r:id="rId4"/>
              </a:rPr>
              <a:t>https://uc-r.github.io/gbm_regression</a:t>
            </a:r>
            <a:endParaRPr lang="en-US" dirty="0"/>
          </a:p>
          <a:p>
            <a:pPr lvl="1"/>
            <a:r>
              <a:rPr lang="en-US" dirty="0"/>
              <a:t>Book Chapter 7 pages 222 – 235</a:t>
            </a:r>
          </a:p>
          <a:p>
            <a:r>
              <a:rPr lang="en-US" dirty="0"/>
              <a:t>Looking ahead</a:t>
            </a:r>
          </a:p>
          <a:p>
            <a:pPr lvl="1"/>
            <a:r>
              <a:rPr lang="en-US" dirty="0"/>
              <a:t>Read Chapter 10 pages 299 – 317 </a:t>
            </a:r>
          </a:p>
        </p:txBody>
      </p:sp>
      <p:sp>
        <p:nvSpPr>
          <p:cNvPr id="7" name="Text Placeholder 6">
            <a:extLst>
              <a:ext uri="{FF2B5EF4-FFF2-40B4-BE49-F238E27FC236}">
                <a16:creationId xmlns:a16="http://schemas.microsoft.com/office/drawing/2014/main" id="{432B842D-7294-5E3E-C2D4-FA399A106159}"/>
              </a:ext>
            </a:extLst>
          </p:cNvPr>
          <p:cNvSpPr>
            <a:spLocks noGrp="1"/>
          </p:cNvSpPr>
          <p:nvPr>
            <p:ph type="body" sz="half" idx="2"/>
          </p:nvPr>
        </p:nvSpPr>
        <p:spPr/>
        <p:txBody>
          <a:bodyPr/>
          <a:lstStyle/>
          <a:p>
            <a:endParaRPr lang="en-US"/>
          </a:p>
        </p:txBody>
      </p:sp>
      <p:sp>
        <p:nvSpPr>
          <p:cNvPr id="4" name="Slide Number Placeholder 3">
            <a:extLst>
              <a:ext uri="{FF2B5EF4-FFF2-40B4-BE49-F238E27FC236}">
                <a16:creationId xmlns:a16="http://schemas.microsoft.com/office/drawing/2014/main" id="{42034A05-F757-59D7-374A-1C6B9785D98E}"/>
              </a:ext>
            </a:extLst>
          </p:cNvPr>
          <p:cNvSpPr>
            <a:spLocks noGrp="1"/>
          </p:cNvSpPr>
          <p:nvPr>
            <p:ph type="sldNum" sz="quarter" idx="4294967295"/>
          </p:nvPr>
        </p:nvSpPr>
        <p:spPr>
          <a:xfrm>
            <a:off x="11453813" y="6248400"/>
            <a:ext cx="738187" cy="365125"/>
          </a:xfrm>
        </p:spPr>
        <p:txBody>
          <a:bodyPr/>
          <a:lstStyle/>
          <a:p>
            <a:fld id="{02456A73-CB17-B748-BD2A-A20F5DD59EC7}" type="slidenum">
              <a:rPr lang="en-US" smtClean="0">
                <a:solidFill>
                  <a:srgbClr val="FFFFFF"/>
                </a:solidFill>
                <a:latin typeface="Franklin Gothic Book"/>
              </a:rPr>
              <a:pPr/>
              <a:t>48</a:t>
            </a:fld>
            <a:endParaRPr lang="en-US" dirty="0">
              <a:solidFill>
                <a:srgbClr val="FFFFFF"/>
              </a:solidFill>
              <a:latin typeface="Franklin Gothic Book"/>
            </a:endParaRPr>
          </a:p>
        </p:txBody>
      </p:sp>
    </p:spTree>
    <p:extLst>
      <p:ext uri="{BB962C8B-B14F-4D97-AF65-F5344CB8AC3E}">
        <p14:creationId xmlns:p14="http://schemas.microsoft.com/office/powerpoint/2010/main" val="2845352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Rectangle 3"/>
          <p:cNvSpPr/>
          <p:nvPr/>
        </p:nvSpPr>
        <p:spPr bwMode="auto">
          <a:xfrm>
            <a:off x="0" y="-13063"/>
            <a:ext cx="12192000" cy="6858000"/>
          </a:xfrm>
          <a:prstGeom prst="rect">
            <a:avLst/>
          </a:prstGeom>
          <a:solidFill>
            <a:srgbClr val="00000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defTabSz="914400" fontAlgn="base">
              <a:spcBef>
                <a:spcPct val="20000"/>
              </a:spcBef>
              <a:spcAft>
                <a:spcPct val="0"/>
              </a:spcAft>
            </a:pPr>
            <a:endParaRPr lang="en-US" sz="2400" dirty="0">
              <a:latin typeface="Arial" charset="0"/>
            </a:endParaRPr>
          </a:p>
        </p:txBody>
      </p:sp>
      <p:pic>
        <p:nvPicPr>
          <p:cNvPr id="5" name="Content Placeholder 4"/>
          <p:cNvPicPr>
            <a:picLocks noGrp="1" noChangeAspect="1"/>
          </p:cNvPicPr>
          <p:nvPr>
            <p:ph idx="4294967295"/>
          </p:nvPr>
        </p:nvPicPr>
        <p:blipFill>
          <a:blip r:embed="rId4" cstate="print">
            <a:extLst>
              <a:ext uri="{28A0092B-C50C-407E-A947-70E740481C1C}">
                <a14:useLocalDpi xmlns:a14="http://schemas.microsoft.com/office/drawing/2010/main"/>
              </a:ext>
            </a:extLst>
          </a:blip>
          <a:stretch>
            <a:fillRect/>
          </a:stretch>
        </p:blipFill>
        <p:spPr>
          <a:xfrm>
            <a:off x="3995630" y="1805427"/>
            <a:ext cx="4276791" cy="3145715"/>
          </a:xfrm>
          <a:prstGeom prst="rect">
            <a:avLst/>
          </a:prstGeom>
        </p:spPr>
      </p:pic>
    </p:spTree>
    <p:custDataLst>
      <p:tags r:id="rId1"/>
    </p:custDataLst>
    <p:extLst>
      <p:ext uri="{BB962C8B-B14F-4D97-AF65-F5344CB8AC3E}">
        <p14:creationId xmlns:p14="http://schemas.microsoft.com/office/powerpoint/2010/main" val="10939412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3"/>
  <p:tag name="ARTICULATE_DESIGN_ID_ADVANTAGE WFU GRAY" val="WskgwrCM"/>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dvantage WFU Gray">
  <a:themeElements>
    <a:clrScheme name="WFU Identity Advantage 1">
      <a:dk1>
        <a:srgbClr val="000000"/>
      </a:dk1>
      <a:lt1>
        <a:srgbClr val="FFFFFF"/>
      </a:lt1>
      <a:dk2>
        <a:srgbClr val="BEB9A6"/>
      </a:dk2>
      <a:lt2>
        <a:srgbClr val="FFFDE8"/>
      </a:lt2>
      <a:accent1>
        <a:srgbClr val="766A62"/>
      </a:accent1>
      <a:accent2>
        <a:srgbClr val="55517B"/>
      </a:accent2>
      <a:accent3>
        <a:srgbClr val="9E7E38"/>
      </a:accent3>
      <a:accent4>
        <a:srgbClr val="000000"/>
      </a:accent4>
      <a:accent5>
        <a:srgbClr val="557630"/>
      </a:accent5>
      <a:accent6>
        <a:srgbClr val="983222"/>
      </a:accent6>
      <a:hlink>
        <a:srgbClr val="033B80"/>
      </a:hlink>
      <a:folHlink>
        <a:srgbClr val="002657"/>
      </a:folHlink>
    </a:clrScheme>
    <a:fontScheme name="MtPnc Rockwell">
      <a:majorFont>
        <a:latin typeface="Rockwell"/>
        <a:ea typeface=""/>
        <a:cs typeface=""/>
      </a:majorFont>
      <a:minorFont>
        <a:latin typeface="Franklin Gothic Book"/>
        <a:ea typeface=""/>
        <a:cs typeface=""/>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6" id="{146BE606-2B82-6D44-9C82-BC76F8E56E91}" vid="{8FA9C6F1-D830-2A4D-B2C8-79AB7A36CF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 WFU Gray</Template>
  <TotalTime>22512</TotalTime>
  <Words>4693</Words>
  <Application>Microsoft Macintosh PowerPoint</Application>
  <PresentationFormat>Widescreen</PresentationFormat>
  <Paragraphs>981</Paragraphs>
  <Slides>49</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Arial</vt:lpstr>
      <vt:lpstr>Calibri</vt:lpstr>
      <vt:lpstr>Cambria Math</vt:lpstr>
      <vt:lpstr>Courier New</vt:lpstr>
      <vt:lpstr>Franklin Gothic Book</vt:lpstr>
      <vt:lpstr>Helvetica Neue</vt:lpstr>
      <vt:lpstr>Lucida Sans</vt:lpstr>
      <vt:lpstr>Rockwell</vt:lpstr>
      <vt:lpstr>Wingdings</vt:lpstr>
      <vt:lpstr>Advantage WFU Gray</vt:lpstr>
      <vt:lpstr>Gradient Boosting</vt:lpstr>
      <vt:lpstr>Agenda</vt:lpstr>
      <vt:lpstr>Churn</vt:lpstr>
      <vt:lpstr>Churn and wireless carriers </vt:lpstr>
      <vt:lpstr>Churn and some basic Math</vt:lpstr>
      <vt:lpstr>Suppose… </vt:lpstr>
      <vt:lpstr>How do I improve Prediction Performance? </vt:lpstr>
      <vt:lpstr>Feature Engineering </vt:lpstr>
      <vt:lpstr>Play with Sampling</vt:lpstr>
      <vt:lpstr>Down-Sampling AKA Under-Sampling</vt:lpstr>
      <vt:lpstr>Down-Sampling AKA Under-Sampling </vt:lpstr>
      <vt:lpstr>Up-Sampling AKA Over Sampling</vt:lpstr>
      <vt:lpstr>Up Sampling AKA Over-Sampling </vt:lpstr>
      <vt:lpstr>SMOTE</vt:lpstr>
      <vt:lpstr>How SMOTE works</vt:lpstr>
      <vt:lpstr>17July2024_UpDownAndSmoteSampling</vt:lpstr>
      <vt:lpstr>How do I improve my model performance? </vt:lpstr>
      <vt:lpstr>How do I, </vt:lpstr>
      <vt:lpstr>Tuning Grid</vt:lpstr>
      <vt:lpstr>K-Fold &amp; Hyper Parameter Tuning </vt:lpstr>
      <vt:lpstr>K-Fold &amp; Hyper Parameter Tuning </vt:lpstr>
      <vt:lpstr>And now… </vt:lpstr>
      <vt:lpstr>Decision Boundary / Surface</vt:lpstr>
      <vt:lpstr>PowerPoint Presentation</vt:lpstr>
      <vt:lpstr>Power of Crowds </vt:lpstr>
      <vt:lpstr>Combining Predictions</vt:lpstr>
      <vt:lpstr>Combining Predictions</vt:lpstr>
      <vt:lpstr>The problem with Decision Trees </vt:lpstr>
      <vt:lpstr>3 Different Samples  =  3 Different Trees</vt:lpstr>
      <vt:lpstr>Construct Random Trees? </vt:lpstr>
      <vt:lpstr>Then them THEN ensemble them </vt:lpstr>
      <vt:lpstr>Random Forest</vt:lpstr>
      <vt:lpstr>Advantages </vt:lpstr>
      <vt:lpstr>Forests and Tuning Churn</vt:lpstr>
      <vt:lpstr>Boosting</vt:lpstr>
      <vt:lpstr>How Boosting Works</vt:lpstr>
      <vt:lpstr>Gradient Boosting</vt:lpstr>
      <vt:lpstr>Gradient Boosting Machine </vt:lpstr>
      <vt:lpstr>Gradient Boosting </vt:lpstr>
      <vt:lpstr>Gradient Boosting </vt:lpstr>
      <vt:lpstr>Gradient Boosting</vt:lpstr>
      <vt:lpstr>Gradient Boosting </vt:lpstr>
      <vt:lpstr>More on Boosting</vt:lpstr>
      <vt:lpstr>Boosting</vt:lpstr>
      <vt:lpstr>XGBoost </vt:lpstr>
      <vt:lpstr>Boosting</vt:lpstr>
      <vt:lpstr>GBM From Scratch GBM &amp; Churn</vt:lpstr>
      <vt:lpstr>Watch and Read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“Tidymodel” Approach</dc:title>
  <dc:creator>Ames, Mike</dc:creator>
  <cp:lastModifiedBy>Adam Ames</cp:lastModifiedBy>
  <cp:revision>6</cp:revision>
  <cp:lastPrinted>2016-03-29T20:25:09Z</cp:lastPrinted>
  <dcterms:created xsi:type="dcterms:W3CDTF">2024-02-06T21:26:00Z</dcterms:created>
  <dcterms:modified xsi:type="dcterms:W3CDTF">2026-04-14T15:35:17Z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10BDD68B-98B4-45DB-BA9A-FFDDAACC308A</vt:lpwstr>
  </property>
  <property fmtid="{D5CDD505-2E9C-101B-9397-08002B2CF9AE}" pid="3" name="ArticulatePath">
    <vt:lpwstr>WFUSB-PowerPoint-Template1 (1)</vt:lpwstr>
  </property>
</Properties>
</file>