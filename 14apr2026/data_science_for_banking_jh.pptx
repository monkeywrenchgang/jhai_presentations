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Default Extension="xx&amp;_nc_gid=9IZRkA4xP_Iodp6h684o9w&amp;_nc_ss=7a3a8&amp;oh=00_Af1juoXkYuEFTqq_9QFDRTvzdzqUXcnLe0X2VU2abo_50Q&amp;oe=69E4AC8A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5"/>
  </p:notesMasterIdLst>
  <p:sldIdLst>
    <p:sldId id="256" r:id="rId2"/>
    <p:sldId id="308" r:id="rId3"/>
    <p:sldId id="305" r:id="rId4"/>
    <p:sldId id="257" r:id="rId5"/>
    <p:sldId id="258" r:id="rId6"/>
    <p:sldId id="259" r:id="rId7"/>
    <p:sldId id="260" r:id="rId8"/>
    <p:sldId id="261" r:id="rId9"/>
    <p:sldId id="306" r:id="rId10"/>
    <p:sldId id="307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184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390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xx&amp;_nc_gid=9IZRkA4xP_Iodp6h684o9w&amp;_nc_ss=7a3a8&amp;oh=00_Af1juoXkYuEFTqq_9QFDRTvzdzqUXcnLe0X2VU2abo_50Q&amp;oe=69E4AC8A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040E3A"/>
          </a:solidFill>
          <a:ln w="12700">
            <a:solidFill>
              <a:srgbClr val="040E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Science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Banking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Explaining things with analytics. Driving decisions with data.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Jack Henry Associates  |  Data Science Team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guana Tacos with Aji Amarillo Crema (Chicken of the Tree Tacos)">
            <a:extLst>
              <a:ext uri="{FF2B5EF4-FFF2-40B4-BE49-F238E27FC236}">
                <a16:creationId xmlns:a16="http://schemas.microsoft.com/office/drawing/2014/main" id="{2DF5A669-D628-9044-79D8-BD37EDCA9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344" y="454843"/>
            <a:ext cx="2573518" cy="3860277"/>
          </a:xfrm>
          <a:prstGeom prst="rect">
            <a:avLst/>
          </a:prstGeom>
        </p:spPr>
      </p:pic>
      <p:pic>
        <p:nvPicPr>
          <p:cNvPr id="3" name="Picture 2" descr="From Tree to Taco: The Iguana Recipe Going Viral">
            <a:extLst>
              <a:ext uri="{FF2B5EF4-FFF2-40B4-BE49-F238E27FC236}">
                <a16:creationId xmlns:a16="http://schemas.microsoft.com/office/drawing/2014/main" id="{842DD369-6145-2F6E-D981-6E5BFE9B84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72" y="226177"/>
            <a:ext cx="4356100" cy="2451100"/>
          </a:xfrm>
          <a:prstGeom prst="rect">
            <a:avLst/>
          </a:prstGeom>
        </p:spPr>
      </p:pic>
      <p:pic>
        <p:nvPicPr>
          <p:cNvPr id="4" name="Picture 3" descr="Chicken of the Trees">
            <a:extLst>
              <a:ext uri="{FF2B5EF4-FFF2-40B4-BE49-F238E27FC236}">
                <a16:creationId xmlns:a16="http://schemas.microsoft.com/office/drawing/2014/main" id="{889C960F-EE2D-D059-697E-4F390A0B1E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772" y="3565230"/>
            <a:ext cx="1752600" cy="1155700"/>
          </a:xfrm>
          <a:prstGeom prst="rect">
            <a:avLst/>
          </a:prstGeom>
        </p:spPr>
      </p:pic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921EB898-12A9-48A1-4882-52C50D1C4A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372" y="982744"/>
            <a:ext cx="3860277" cy="3860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1821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Data Science?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80467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is it different from Statistics, Machine Learning, and AI?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8503920" cy="841248"/>
          </a:xfrm>
          <a:prstGeom prst="rect">
            <a:avLst/>
          </a:prstGeom>
          <a:solidFill>
            <a:srgbClr val="F2F0EB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261872"/>
            <a:ext cx="1920240" cy="84124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84048" y="1261872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331720" y="1371600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Quantifies numbers. </a:t>
            </a:r>
            <a:r>
              <a:rPr lang="en-US" sz="12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Describes distributions, tests hypotheses, derives estimates, and draws conclusions from data.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83296" y="1490472"/>
            <a:ext cx="685800" cy="36576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083296" y="149047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Inference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0040" y="2139696"/>
            <a:ext cx="8503920" cy="841248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2139696"/>
            <a:ext cx="1920240" cy="841248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4048" y="2139696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Machine Learning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31720" y="2249424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Predicts with models. </a:t>
            </a:r>
            <a:r>
              <a:rPr lang="en-US" sz="12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Fits algorithms to data with the goal of predictive accuracy. Deep Learning is a specific class of ML models.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83296" y="2368296"/>
            <a:ext cx="685800" cy="36576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083296" y="236829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Prediction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0040" y="3017520"/>
            <a:ext cx="8503920" cy="841248"/>
          </a:xfrm>
          <a:prstGeom prst="rect">
            <a:avLst/>
          </a:prstGeom>
          <a:solidFill>
            <a:srgbClr val="F2F0EB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3017520"/>
            <a:ext cx="1920240" cy="841248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84048" y="3017520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Artificial Intelligence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331720" y="3127248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Provides the appearance of intelligent behavior. </a:t>
            </a:r>
            <a:r>
              <a:rPr lang="en-US" sz="12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Computer programs that automate processes and mimic human interaction — chat, image recognition, decision-making.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83296" y="3246120"/>
            <a:ext cx="685800" cy="36576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083296" y="32461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20040" y="3895344"/>
            <a:ext cx="8503920" cy="841248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20040" y="3895344"/>
            <a:ext cx="1920240" cy="84124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84048" y="3895344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Science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331720" y="4005072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Finds patterns to explain a phenomenon. </a:t>
            </a:r>
            <a:r>
              <a:rPr lang="en-US" sz="12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practical application of statistics, ML and AI — turning raw data into actionable insight and better decisions.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083296" y="4123944"/>
            <a:ext cx="685800" cy="36576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083296" y="4123944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Insight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F0EDE8"/>
          </a:solidFill>
          <a:ln w="5080">
            <a:solidFill>
              <a:srgbClr val="DDD8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Today's Agenda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03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64008" cy="11430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005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325880" y="99669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Data Science?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325880" y="149047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Definitions, the DS loop, types of questions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2167128"/>
            <a:ext cx="8503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2167128"/>
            <a:ext cx="64008" cy="114300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325880" y="2295144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 Types &amp; Learning Methods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325880" y="2788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Classification, prediction, clustering, anomaly, recommend + AI vs. ML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" y="3465576"/>
            <a:ext cx="8503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3465576"/>
            <a:ext cx="64008" cy="114300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3602736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325880" y="35935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Churn Case Study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325880" y="408736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→ Label → Explore → Partition → Engineer → Train → Evaluate → Explain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477316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~50 minutes  |  Questions welcome throughout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8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65760" y="192024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Data Science?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2971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Explaining things with analytics — driving decisions with data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 Problem in Banking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7432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64008" cy="32004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5–9×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expensive to acquire a new banking customer than to retain one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Bain &amp; Company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60120"/>
            <a:ext cx="27432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46120" y="960120"/>
            <a:ext cx="64008" cy="320040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1234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1%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3383280" y="22860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the data banks collect is ever analyzed or acted upon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3703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Forrester 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72200" y="960120"/>
            <a:ext cx="27432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72200" y="960120"/>
            <a:ext cx="64008" cy="320040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09360" y="1234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73%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6309360" y="22860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customers expect companies to understand their unique needs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3703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Salesforce Connected Customer Report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434340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science is the bridge between raw data and decisions that matter.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8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science 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explaining things</a:t>
            </a:r>
            <a:endParaRPr lang="en-US" sz="4600" dirty="0"/>
          </a:p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analytics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driving decisions with data.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magic. Not a replacement for domain expertise. A tool for better decisions.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 Science Loop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051560"/>
            <a:ext cx="19202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64008" cy="32004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78408" y="1252728"/>
            <a:ext cx="777240" cy="7772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78408" y="12527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21208" y="21945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1208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Collect, store,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31720" y="2651760"/>
            <a:ext cx="685800" cy="0"/>
          </a:xfrm>
          <a:prstGeom prst="line">
            <a:avLst/>
          </a:prstGeom>
          <a:noFill/>
          <a:ln w="19050">
            <a:solidFill>
              <a:srgbClr val="575A5D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051560"/>
            <a:ext cx="19202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606040" y="1051560"/>
            <a:ext cx="64008" cy="320040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172968" y="1252728"/>
            <a:ext cx="777240" cy="777240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72968" y="12527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715768" y="21945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Insight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715768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Analyze, model,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26280" y="2651760"/>
            <a:ext cx="685800" cy="0"/>
          </a:xfrm>
          <a:prstGeom prst="line">
            <a:avLst/>
          </a:prstGeom>
          <a:noFill/>
          <a:ln w="19050">
            <a:solidFill>
              <a:srgbClr val="575A5D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00600" y="1051560"/>
            <a:ext cx="19202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00600" y="1051560"/>
            <a:ext cx="64008" cy="320040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367528" y="1252728"/>
            <a:ext cx="777240" cy="777240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67528" y="12527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910328" y="21945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910328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Recommend,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act, automate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720840" y="2651760"/>
            <a:ext cx="685800" cy="0"/>
          </a:xfrm>
          <a:prstGeom prst="line">
            <a:avLst/>
          </a:prstGeom>
          <a:noFill/>
          <a:ln w="19050">
            <a:solidFill>
              <a:srgbClr val="575A5D"/>
            </a:solidFill>
            <a:prstDash val="sysDot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995160" y="1051560"/>
            <a:ext cx="19202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995160" y="1051560"/>
            <a:ext cx="64008" cy="320040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562088" y="1252728"/>
            <a:ext cx="777240" cy="777240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562088" y="12527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104888" y="21945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104888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Measure, learn,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improve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loop never stops — each outcome feeds the next iteration of understanding.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18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43891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science is just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87782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following a recipe.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65760" y="171907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Ask a question. Gather data. Explore it. Model it. Evaluate it. Visualize it. Tell the story.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4023360" cy="310896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cooking recipe has...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633472"/>
            <a:ext cx="4023360" cy="320040"/>
          </a:xfrm>
          <a:prstGeom prst="rect">
            <a:avLst/>
          </a:prstGeom>
          <a:solidFill>
            <a:srgbClr val="0A1830"/>
          </a:solidFill>
          <a:ln w="3810">
            <a:solidFill>
              <a:srgbClr val="1A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5488" y="2670048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A question (what am I making?)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2980944"/>
            <a:ext cx="4023360" cy="320040"/>
          </a:xfrm>
          <a:prstGeom prst="rect">
            <a:avLst/>
          </a:prstGeom>
          <a:solidFill>
            <a:srgbClr val="071020"/>
          </a:solidFill>
          <a:ln w="3810">
            <a:solidFill>
              <a:srgbClr val="1A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5488" y="3017520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Ingredients (your data)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3328416"/>
            <a:ext cx="4023360" cy="320040"/>
          </a:xfrm>
          <a:prstGeom prst="rect">
            <a:avLst/>
          </a:prstGeom>
          <a:solidFill>
            <a:srgbClr val="0A1830"/>
          </a:solidFill>
          <a:ln w="3810">
            <a:solidFill>
              <a:srgbClr val="1A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" y="3364992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A technique (your algorithm)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675888"/>
            <a:ext cx="4023360" cy="320040"/>
          </a:xfrm>
          <a:prstGeom prst="rect">
            <a:avLst/>
          </a:prstGeom>
          <a:solidFill>
            <a:srgbClr val="071020"/>
          </a:solidFill>
          <a:ln w="3810">
            <a:solidFill>
              <a:srgbClr val="1A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5488" y="3712464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Tasting as you go (evaluation)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4023360"/>
            <a:ext cx="4023360" cy="320040"/>
          </a:xfrm>
          <a:prstGeom prst="rect">
            <a:avLst/>
          </a:prstGeom>
          <a:solidFill>
            <a:srgbClr val="0A1830"/>
          </a:solidFill>
          <a:ln w="3810">
            <a:solidFill>
              <a:srgbClr val="1A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5488" y="4059936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Plating (visualization)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4370832"/>
            <a:ext cx="4023360" cy="320040"/>
          </a:xfrm>
          <a:prstGeom prst="rect">
            <a:avLst/>
          </a:prstGeom>
          <a:solidFill>
            <a:srgbClr val="071020"/>
          </a:solidFill>
          <a:ln w="3810">
            <a:solidFill>
              <a:srgbClr val="1A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" y="4407408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Serving to guests (storytelling)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4023360" cy="310896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54880" y="2286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data science project has...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633472"/>
            <a:ext cx="4023360" cy="320040"/>
          </a:xfrm>
          <a:prstGeom prst="rect">
            <a:avLst/>
          </a:prstGeom>
          <a:solidFill>
            <a:srgbClr val="0A1830"/>
          </a:solidFill>
          <a:ln w="3810">
            <a:solidFill>
              <a:srgbClr val="1A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73168" y="2670048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An interesting question to answer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2980944"/>
            <a:ext cx="4023360" cy="320040"/>
          </a:xfrm>
          <a:prstGeom prst="rect">
            <a:avLst/>
          </a:prstGeom>
          <a:solidFill>
            <a:srgbClr val="071020"/>
          </a:solidFill>
          <a:ln w="3810">
            <a:solidFill>
              <a:srgbClr val="1A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73168" y="3017520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Data gathered and cleaned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63440" y="3328416"/>
            <a:ext cx="4023360" cy="320040"/>
          </a:xfrm>
          <a:prstGeom prst="rect">
            <a:avLst/>
          </a:prstGeom>
          <a:solidFill>
            <a:srgbClr val="0A1830"/>
          </a:solidFill>
          <a:ln w="3810">
            <a:solidFill>
              <a:srgbClr val="1A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73168" y="3364992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A model trained and tuned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3675888"/>
            <a:ext cx="4023360" cy="320040"/>
          </a:xfrm>
          <a:prstGeom prst="rect">
            <a:avLst/>
          </a:prstGeom>
          <a:solidFill>
            <a:srgbClr val="071020"/>
          </a:solidFill>
          <a:ln w="3810">
            <a:solidFill>
              <a:srgbClr val="1A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73168" y="3712464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Metrics evaluated honestly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63440" y="4023360"/>
            <a:ext cx="4023360" cy="320040"/>
          </a:xfrm>
          <a:prstGeom prst="rect">
            <a:avLst/>
          </a:prstGeom>
          <a:solidFill>
            <a:srgbClr val="0A1830"/>
          </a:solidFill>
          <a:ln w="3810">
            <a:solidFill>
              <a:srgbClr val="1A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73168" y="4059936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Charts that reveal the truth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663440" y="4370832"/>
            <a:ext cx="4023360" cy="320040"/>
          </a:xfrm>
          <a:prstGeom prst="rect">
            <a:avLst/>
          </a:prstGeom>
          <a:solidFill>
            <a:srgbClr val="071020"/>
          </a:solidFill>
          <a:ln w="3810">
            <a:solidFill>
              <a:srgbClr val="1A2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73168" y="4407408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Insights delivered to decision-makers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F0EDE8"/>
          </a:solidFill>
          <a:ln w="5080">
            <a:solidFill>
              <a:srgbClr val="DDD8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20040" y="4910328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recipe doesn’t change whether you’re predicting churn, diagnosing cancer, or detecting fraud. Master the recipe, apply it anywhere.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12-Step Data Science Workflow</a:t>
            </a:r>
            <a:endParaRPr lang="en-US" sz="2200" dirty="0"/>
          </a:p>
        </p:txBody>
      </p:sp>
      <p:sp>
        <p:nvSpPr>
          <p:cNvPr id="200" name="Box_1"/>
          <p:cNvSpPr>
            <a:spLocks noGrp="1"/>
          </p:cNvSpPr>
          <p:nvPr/>
        </p:nvSpPr>
        <p:spPr>
          <a:xfrm>
            <a:off x="200000" y="640000"/>
            <a:ext cx="2874666" cy="1018010"/>
          </a:xfrm>
          <a:prstGeom prst="roundRect">
            <a:avLst>
              <a:gd name="adj" fmla="val 20000"/>
            </a:avLst>
          </a:prstGeom>
          <a:solidFill>
            <a:srgbClr val="E8EEF8"/>
          </a:solidFill>
          <a:ln w="12700">
            <a:solidFill>
              <a:srgbClr val="06185F"/>
            </a:solidFill>
          </a:ln>
        </p:spPr>
        <p:txBody>
          <a:bodyPr wrap="square" lIns="60960" tIns="45720" rIns="60960" bIns="45720" anchor="t"/>
          <a:lstStyle/>
          <a:p>
            <a:endParaRPr lang="en-US"/>
          </a:p>
          <a:p>
            <a:r>
              <a:rPr lang="en-US" sz="2600" b="1" dirty="0">
                <a:solidFill>
                  <a:srgbClr val="06185F"/>
                </a:solidFill>
              </a:rPr>
              <a:t>01</a:t>
            </a:r>
          </a:p>
          <a:p>
            <a:pPr>
              <a:spcBef>
                <a:spcPts val="120"/>
              </a:spcBef>
            </a:pPr>
            <a:r>
              <a:rPr lang="en-US" sz="1300" b="1" dirty="0">
                <a:solidFill>
                  <a:srgbClr val="111111"/>
                </a:solidFill>
              </a:rPr>
              <a:t>Problem Formulation</a:t>
            </a:r>
          </a:p>
          <a:p>
            <a:pPr>
              <a:spcBef>
                <a:spcPts val="80"/>
              </a:spcBef>
            </a:pPr>
            <a:r>
              <a:rPr lang="en-US" sz="980" b="0" dirty="0">
                <a:solidFill>
                  <a:srgbClr val="444444"/>
                </a:solidFill>
              </a:rPr>
              <a:t>Define business question &amp; success metrics</a:t>
            </a:r>
          </a:p>
        </p:txBody>
      </p:sp>
      <p:sp>
        <p:nvSpPr>
          <p:cNvPr id="201" name="Acc_1"/>
          <p:cNvSpPr>
            <a:spLocks noGrp="1"/>
          </p:cNvSpPr>
          <p:nvPr/>
        </p:nvSpPr>
        <p:spPr>
          <a:xfrm>
            <a:off x="200000" y="640000"/>
            <a:ext cx="50000" cy="1018010"/>
          </a:xfrm>
          <a:prstGeom prst="rect">
            <a:avLst/>
          </a:prstGeom>
          <a:solidFill>
            <a:srgbClr val="06185F"/>
          </a:solidFill>
          <a:ln w="12700">
            <a:noFill/>
          </a:ln>
        </p:spPr>
        <p:txBody>
          <a:bodyPr wrap="square" lIns="60960" tIns="45720" rIns="60960" bIns="45720" anchor="t"/>
          <a:lstStyle/>
          <a:p>
            <a:endParaRPr lang="en-US"/>
          </a:p>
        </p:txBody>
      </p:sp>
      <p:sp>
        <p:nvSpPr>
          <p:cNvPr id="202" name="Box_8"/>
          <p:cNvSpPr>
            <a:spLocks noGrp="1"/>
          </p:cNvSpPr>
          <p:nvPr/>
        </p:nvSpPr>
        <p:spPr>
          <a:xfrm>
            <a:off x="3134666" y="640000"/>
            <a:ext cx="2874666" cy="1018010"/>
          </a:xfrm>
          <a:prstGeom prst="roundRect">
            <a:avLst>
              <a:gd name="adj" fmla="val 20000"/>
            </a:avLst>
          </a:prstGeom>
          <a:solidFill>
            <a:srgbClr val="E2F4EE"/>
          </a:solidFill>
          <a:ln w="12700">
            <a:solidFill>
              <a:srgbClr val="007A5C"/>
            </a:solidFill>
          </a:ln>
        </p:spPr>
        <p:txBody>
          <a:bodyPr wrap="square" lIns="60960" tIns="45720" rIns="60960" bIns="45720" anchor="t"/>
          <a:lstStyle/>
          <a:p>
            <a:endParaRPr lang="en-US"/>
          </a:p>
          <a:p>
            <a:r>
              <a:rPr lang="en-US" sz="2600" b="1" dirty="0">
                <a:solidFill>
                  <a:srgbClr val="007A5C"/>
                </a:solidFill>
              </a:rPr>
              <a:t>08</a:t>
            </a:r>
          </a:p>
          <a:p>
            <a:pPr>
              <a:spcBef>
                <a:spcPts val="120"/>
              </a:spcBef>
            </a:pPr>
            <a:r>
              <a:rPr lang="en-US" sz="1300" b="1" dirty="0">
                <a:solidFill>
                  <a:srgbClr val="111111"/>
                </a:solidFill>
              </a:rPr>
              <a:t>Model Calibration</a:t>
            </a:r>
          </a:p>
          <a:p>
            <a:pPr>
              <a:spcBef>
                <a:spcPts val="80"/>
              </a:spcBef>
            </a:pPr>
            <a:r>
              <a:rPr lang="en-US" sz="980" b="0" dirty="0">
                <a:solidFill>
                  <a:srgbClr val="444444"/>
                </a:solidFill>
              </a:rPr>
              <a:t>Reliability diagram, Brier, isotonic</a:t>
            </a:r>
          </a:p>
        </p:txBody>
      </p:sp>
      <p:sp>
        <p:nvSpPr>
          <p:cNvPr id="203" name="Acc_8"/>
          <p:cNvSpPr>
            <a:spLocks noGrp="1"/>
          </p:cNvSpPr>
          <p:nvPr/>
        </p:nvSpPr>
        <p:spPr>
          <a:xfrm>
            <a:off x="3134666" y="640000"/>
            <a:ext cx="50000" cy="1018010"/>
          </a:xfrm>
          <a:prstGeom prst="rect">
            <a:avLst/>
          </a:prstGeom>
          <a:solidFill>
            <a:srgbClr val="007A5C"/>
          </a:solidFill>
          <a:ln w="12700">
            <a:noFill/>
          </a:ln>
        </p:spPr>
        <p:txBody>
          <a:bodyPr wrap="square" lIns="60960" tIns="45720" rIns="60960" bIns="45720" anchor="t"/>
          <a:lstStyle/>
          <a:p>
            <a:endParaRPr lang="en-US"/>
          </a:p>
        </p:txBody>
      </p:sp>
      <p:sp>
        <p:nvSpPr>
          <p:cNvPr id="204" name="Box_9"/>
          <p:cNvSpPr>
            <a:spLocks noGrp="1"/>
          </p:cNvSpPr>
          <p:nvPr/>
        </p:nvSpPr>
        <p:spPr>
          <a:xfrm>
            <a:off x="6069332" y="640000"/>
            <a:ext cx="2874666" cy="1018010"/>
          </a:xfrm>
          <a:prstGeom prst="roundRect">
            <a:avLst>
              <a:gd name="adj" fmla="val 20000"/>
            </a:avLst>
          </a:prstGeom>
          <a:solidFill>
            <a:srgbClr val="FEF0E5"/>
          </a:solidFill>
          <a:ln w="12700">
            <a:solidFill>
              <a:srgbClr val="D4690A"/>
            </a:solidFill>
          </a:ln>
        </p:spPr>
        <p:txBody>
          <a:bodyPr wrap="square" lIns="60960" tIns="45720" rIns="60960" bIns="45720" anchor="t"/>
          <a:lstStyle/>
          <a:p>
            <a:endParaRPr lang="en-US"/>
          </a:p>
          <a:p>
            <a:r>
              <a:rPr lang="en-US" sz="2600" b="1" dirty="0">
                <a:solidFill>
                  <a:srgbClr val="D4690A"/>
                </a:solidFill>
              </a:rPr>
              <a:t>09</a:t>
            </a:r>
          </a:p>
          <a:p>
            <a:pPr>
              <a:spcBef>
                <a:spcPts val="120"/>
              </a:spcBef>
            </a:pPr>
            <a:r>
              <a:rPr lang="en-US" sz="1300" b="1" dirty="0">
                <a:solidFill>
                  <a:srgbClr val="111111"/>
                </a:solidFill>
              </a:rPr>
              <a:t>Model Documentation</a:t>
            </a:r>
          </a:p>
          <a:p>
            <a:pPr>
              <a:spcBef>
                <a:spcPts val="80"/>
              </a:spcBef>
            </a:pPr>
            <a:r>
              <a:rPr lang="en-US" sz="980" b="0" dirty="0">
                <a:solidFill>
                  <a:srgbClr val="444444"/>
                </a:solidFill>
              </a:rPr>
              <a:t>SR 11-7 model card, governance</a:t>
            </a:r>
          </a:p>
        </p:txBody>
      </p:sp>
      <p:sp>
        <p:nvSpPr>
          <p:cNvPr id="205" name="Acc_9"/>
          <p:cNvSpPr>
            <a:spLocks noGrp="1"/>
          </p:cNvSpPr>
          <p:nvPr/>
        </p:nvSpPr>
        <p:spPr>
          <a:xfrm>
            <a:off x="6069332" y="640000"/>
            <a:ext cx="50000" cy="1018010"/>
          </a:xfrm>
          <a:prstGeom prst="rect">
            <a:avLst/>
          </a:prstGeom>
          <a:solidFill>
            <a:srgbClr val="D4690A"/>
          </a:solidFill>
          <a:ln w="12700">
            <a:noFill/>
          </a:ln>
        </p:spPr>
        <p:txBody>
          <a:bodyPr wrap="square" lIns="60960" tIns="45720" rIns="60960" bIns="45720" anchor="t"/>
          <a:lstStyle/>
          <a:p>
            <a:endParaRPr lang="en-US"/>
          </a:p>
        </p:txBody>
      </p:sp>
      <p:sp>
        <p:nvSpPr>
          <p:cNvPr id="206" name="Box_2"/>
          <p:cNvSpPr>
            <a:spLocks noGrp="1"/>
          </p:cNvSpPr>
          <p:nvPr/>
        </p:nvSpPr>
        <p:spPr>
          <a:xfrm>
            <a:off x="200000" y="1718010"/>
            <a:ext cx="2874666" cy="1018010"/>
          </a:xfrm>
          <a:prstGeom prst="roundRect">
            <a:avLst>
              <a:gd name="adj" fmla="val 20000"/>
            </a:avLst>
          </a:prstGeom>
          <a:solidFill>
            <a:srgbClr val="E8EEF8"/>
          </a:solidFill>
          <a:ln w="12700">
            <a:solidFill>
              <a:srgbClr val="06185F"/>
            </a:solidFill>
          </a:ln>
        </p:spPr>
        <p:txBody>
          <a:bodyPr wrap="square" lIns="60960" tIns="45720" rIns="60960" bIns="45720" anchor="t"/>
          <a:lstStyle/>
          <a:p>
            <a:endParaRPr lang="en-US"/>
          </a:p>
          <a:p>
            <a:r>
              <a:rPr lang="en-US" sz="2600" b="1" dirty="0">
                <a:solidFill>
                  <a:srgbClr val="06185F"/>
                </a:solidFill>
              </a:rPr>
              <a:t>02</a:t>
            </a:r>
          </a:p>
          <a:p>
            <a:pPr>
              <a:spcBef>
                <a:spcPts val="120"/>
              </a:spcBef>
            </a:pPr>
            <a:r>
              <a:rPr lang="en-US" sz="1300" b="1" dirty="0">
                <a:solidFill>
                  <a:srgbClr val="111111"/>
                </a:solidFill>
              </a:rPr>
              <a:t>Data Gathering</a:t>
            </a:r>
          </a:p>
          <a:p>
            <a:pPr>
              <a:spcBef>
                <a:spcPts val="80"/>
              </a:spcBef>
            </a:pPr>
            <a:r>
              <a:rPr lang="en-US" sz="980" b="0" dirty="0">
                <a:solidFill>
                  <a:srgbClr val="444444"/>
                </a:solidFill>
              </a:rPr>
              <a:t>Extract, join, and clean behavioural data</a:t>
            </a:r>
          </a:p>
        </p:txBody>
      </p:sp>
      <p:sp>
        <p:nvSpPr>
          <p:cNvPr id="207" name="Acc_2"/>
          <p:cNvSpPr>
            <a:spLocks noGrp="1"/>
          </p:cNvSpPr>
          <p:nvPr/>
        </p:nvSpPr>
        <p:spPr>
          <a:xfrm>
            <a:off x="200000" y="1718010"/>
            <a:ext cx="50000" cy="1018010"/>
          </a:xfrm>
          <a:prstGeom prst="rect">
            <a:avLst/>
          </a:prstGeom>
          <a:solidFill>
            <a:srgbClr val="06185F"/>
          </a:solidFill>
          <a:ln w="12700">
            <a:noFill/>
          </a:ln>
        </p:spPr>
        <p:txBody>
          <a:bodyPr wrap="square" lIns="60960" tIns="45720" rIns="60960" bIns="45720" anchor="t"/>
          <a:lstStyle/>
          <a:p>
            <a:endParaRPr lang="en-US"/>
          </a:p>
        </p:txBody>
      </p:sp>
      <p:sp>
        <p:nvSpPr>
          <p:cNvPr id="208" name="Box_7"/>
          <p:cNvSpPr>
            <a:spLocks noGrp="1"/>
          </p:cNvSpPr>
          <p:nvPr/>
        </p:nvSpPr>
        <p:spPr>
          <a:xfrm>
            <a:off x="3134666" y="1718010"/>
            <a:ext cx="2874666" cy="1018010"/>
          </a:xfrm>
          <a:prstGeom prst="roundRect">
            <a:avLst>
              <a:gd name="adj" fmla="val 20000"/>
            </a:avLst>
          </a:prstGeom>
          <a:solidFill>
            <a:srgbClr val="E2F4EE"/>
          </a:solidFill>
          <a:ln w="12700">
            <a:solidFill>
              <a:srgbClr val="007A5C"/>
            </a:solidFill>
          </a:ln>
        </p:spPr>
        <p:txBody>
          <a:bodyPr wrap="square" lIns="60960" tIns="45720" rIns="60960" bIns="45720" anchor="t"/>
          <a:lstStyle/>
          <a:p>
            <a:endParaRPr lang="en-US"/>
          </a:p>
          <a:p>
            <a:r>
              <a:rPr lang="en-US" sz="2600" b="1" dirty="0">
                <a:solidFill>
                  <a:srgbClr val="007A5C"/>
                </a:solidFill>
              </a:rPr>
              <a:t>07</a:t>
            </a:r>
          </a:p>
          <a:p>
            <a:pPr>
              <a:spcBef>
                <a:spcPts val="120"/>
              </a:spcBef>
            </a:pPr>
            <a:r>
              <a:rPr lang="en-US" sz="1300" b="1" dirty="0">
                <a:solidFill>
                  <a:srgbClr val="111111"/>
                </a:solidFill>
              </a:rPr>
              <a:t>Model Interpretability</a:t>
            </a:r>
          </a:p>
          <a:p>
            <a:pPr>
              <a:spcBef>
                <a:spcPts val="80"/>
              </a:spcBef>
            </a:pPr>
            <a:r>
              <a:rPr lang="en-US" sz="980" b="0" dirty="0">
                <a:solidFill>
                  <a:srgbClr val="444444"/>
                </a:solidFill>
              </a:rPr>
              <a:t>SHAP global, PDP, case-level waterfall</a:t>
            </a:r>
          </a:p>
        </p:txBody>
      </p:sp>
      <p:sp>
        <p:nvSpPr>
          <p:cNvPr id="209" name="Acc_7"/>
          <p:cNvSpPr>
            <a:spLocks noGrp="1"/>
          </p:cNvSpPr>
          <p:nvPr/>
        </p:nvSpPr>
        <p:spPr>
          <a:xfrm>
            <a:off x="3134666" y="1718010"/>
            <a:ext cx="50000" cy="1018010"/>
          </a:xfrm>
          <a:prstGeom prst="rect">
            <a:avLst/>
          </a:prstGeom>
          <a:solidFill>
            <a:srgbClr val="007A5C"/>
          </a:solidFill>
          <a:ln w="12700">
            <a:noFill/>
          </a:ln>
        </p:spPr>
        <p:txBody>
          <a:bodyPr wrap="square" lIns="60960" tIns="45720" rIns="60960" bIns="45720" anchor="t"/>
          <a:lstStyle/>
          <a:p>
            <a:endParaRPr lang="en-US"/>
          </a:p>
        </p:txBody>
      </p:sp>
      <p:sp>
        <p:nvSpPr>
          <p:cNvPr id="210" name="Box_10"/>
          <p:cNvSpPr>
            <a:spLocks noGrp="1"/>
          </p:cNvSpPr>
          <p:nvPr/>
        </p:nvSpPr>
        <p:spPr>
          <a:xfrm>
            <a:off x="6069332" y="1718010"/>
            <a:ext cx="2874666" cy="1018010"/>
          </a:xfrm>
          <a:prstGeom prst="roundRect">
            <a:avLst>
              <a:gd name="adj" fmla="val 20000"/>
            </a:avLst>
          </a:prstGeom>
          <a:solidFill>
            <a:srgbClr val="FEF0E5"/>
          </a:solidFill>
          <a:ln w="12700">
            <a:solidFill>
              <a:srgbClr val="D4690A"/>
            </a:solidFill>
          </a:ln>
        </p:spPr>
        <p:txBody>
          <a:bodyPr wrap="square" lIns="60960" tIns="45720" rIns="60960" bIns="45720" anchor="t"/>
          <a:lstStyle/>
          <a:p>
            <a:endParaRPr lang="en-US"/>
          </a:p>
          <a:p>
            <a:r>
              <a:rPr lang="en-US" sz="2600" b="1" dirty="0">
                <a:solidFill>
                  <a:srgbClr val="D4690A"/>
                </a:solidFill>
              </a:rPr>
              <a:t>10</a:t>
            </a:r>
          </a:p>
          <a:p>
            <a:pPr>
              <a:spcBef>
                <a:spcPts val="120"/>
              </a:spcBef>
            </a:pPr>
            <a:r>
              <a:rPr lang="en-US" sz="1300" b="1" dirty="0">
                <a:solidFill>
                  <a:srgbClr val="111111"/>
                </a:solidFill>
              </a:rPr>
              <a:t>Model Integration</a:t>
            </a:r>
          </a:p>
          <a:p>
            <a:pPr>
              <a:spcBef>
                <a:spcPts val="80"/>
              </a:spcBef>
            </a:pPr>
            <a:r>
              <a:rPr lang="en-US" sz="980" b="0" dirty="0">
                <a:solidFill>
                  <a:srgbClr val="444444"/>
                </a:solidFill>
              </a:rPr>
              <a:t>REST API: /predict /explain /label</a:t>
            </a:r>
          </a:p>
        </p:txBody>
      </p:sp>
      <p:sp>
        <p:nvSpPr>
          <p:cNvPr id="211" name="Acc_10"/>
          <p:cNvSpPr>
            <a:spLocks noGrp="1"/>
          </p:cNvSpPr>
          <p:nvPr/>
        </p:nvSpPr>
        <p:spPr>
          <a:xfrm>
            <a:off x="6069332" y="1718010"/>
            <a:ext cx="50000" cy="1018010"/>
          </a:xfrm>
          <a:prstGeom prst="rect">
            <a:avLst/>
          </a:prstGeom>
          <a:solidFill>
            <a:srgbClr val="D4690A"/>
          </a:solidFill>
          <a:ln w="12700">
            <a:noFill/>
          </a:ln>
        </p:spPr>
        <p:txBody>
          <a:bodyPr wrap="square" lIns="60960" tIns="45720" rIns="60960" bIns="45720" anchor="t"/>
          <a:lstStyle/>
          <a:p>
            <a:endParaRPr lang="en-US"/>
          </a:p>
        </p:txBody>
      </p:sp>
      <p:sp>
        <p:nvSpPr>
          <p:cNvPr id="212" name="Box_3"/>
          <p:cNvSpPr>
            <a:spLocks noGrp="1"/>
          </p:cNvSpPr>
          <p:nvPr/>
        </p:nvSpPr>
        <p:spPr>
          <a:xfrm>
            <a:off x="200000" y="2796020"/>
            <a:ext cx="2874666" cy="1018010"/>
          </a:xfrm>
          <a:prstGeom prst="roundRect">
            <a:avLst>
              <a:gd name="adj" fmla="val 20000"/>
            </a:avLst>
          </a:prstGeom>
          <a:solidFill>
            <a:srgbClr val="E8EEF8"/>
          </a:solidFill>
          <a:ln w="12700">
            <a:solidFill>
              <a:srgbClr val="06185F"/>
            </a:solidFill>
          </a:ln>
        </p:spPr>
        <p:txBody>
          <a:bodyPr wrap="square" lIns="60960" tIns="45720" rIns="60960" bIns="45720" anchor="t"/>
          <a:lstStyle/>
          <a:p>
            <a:endParaRPr lang="en-US"/>
          </a:p>
          <a:p>
            <a:r>
              <a:rPr lang="en-US" sz="2600" b="1" dirty="0">
                <a:solidFill>
                  <a:srgbClr val="06185F"/>
                </a:solidFill>
              </a:rPr>
              <a:t>03</a:t>
            </a:r>
          </a:p>
          <a:p>
            <a:pPr>
              <a:spcBef>
                <a:spcPts val="120"/>
              </a:spcBef>
            </a:pPr>
            <a:r>
              <a:rPr lang="en-US" sz="1300" b="1" dirty="0">
                <a:solidFill>
                  <a:srgbClr val="111111"/>
                </a:solidFill>
              </a:rPr>
              <a:t>Data Exploration</a:t>
            </a:r>
          </a:p>
          <a:p>
            <a:pPr>
              <a:spcBef>
                <a:spcPts val="80"/>
              </a:spcBef>
            </a:pPr>
            <a:r>
              <a:rPr lang="en-US" sz="980" b="0" dirty="0">
                <a:solidFill>
                  <a:srgbClr val="444444"/>
                </a:solidFill>
              </a:rPr>
              <a:t>Distributions, correlations, EDA</a:t>
            </a:r>
          </a:p>
        </p:txBody>
      </p:sp>
      <p:sp>
        <p:nvSpPr>
          <p:cNvPr id="213" name="Acc_3"/>
          <p:cNvSpPr>
            <a:spLocks noGrp="1"/>
          </p:cNvSpPr>
          <p:nvPr/>
        </p:nvSpPr>
        <p:spPr>
          <a:xfrm>
            <a:off x="200000" y="2796020"/>
            <a:ext cx="50000" cy="1018010"/>
          </a:xfrm>
          <a:prstGeom prst="rect">
            <a:avLst/>
          </a:prstGeom>
          <a:solidFill>
            <a:srgbClr val="06185F"/>
          </a:solidFill>
          <a:ln w="12700">
            <a:noFill/>
          </a:ln>
        </p:spPr>
        <p:txBody>
          <a:bodyPr wrap="square" lIns="60960" tIns="45720" rIns="60960" bIns="45720" anchor="t"/>
          <a:lstStyle/>
          <a:p>
            <a:endParaRPr lang="en-US"/>
          </a:p>
        </p:txBody>
      </p:sp>
      <p:sp>
        <p:nvSpPr>
          <p:cNvPr id="214" name="Box_6"/>
          <p:cNvSpPr>
            <a:spLocks noGrp="1"/>
          </p:cNvSpPr>
          <p:nvPr/>
        </p:nvSpPr>
        <p:spPr>
          <a:xfrm>
            <a:off x="3134666" y="2796020"/>
            <a:ext cx="2874666" cy="1018010"/>
          </a:xfrm>
          <a:prstGeom prst="roundRect">
            <a:avLst>
              <a:gd name="adj" fmla="val 20000"/>
            </a:avLst>
          </a:prstGeom>
          <a:solidFill>
            <a:srgbClr val="E2F4EE"/>
          </a:solidFill>
          <a:ln w="12700">
            <a:solidFill>
              <a:srgbClr val="007A5C"/>
            </a:solidFill>
          </a:ln>
        </p:spPr>
        <p:txBody>
          <a:bodyPr wrap="square" lIns="60960" tIns="45720" rIns="60960" bIns="45720" anchor="t"/>
          <a:lstStyle/>
          <a:p>
            <a:endParaRPr lang="en-US"/>
          </a:p>
          <a:p>
            <a:r>
              <a:rPr lang="en-US" sz="2600" b="1" dirty="0">
                <a:solidFill>
                  <a:srgbClr val="007A5C"/>
                </a:solidFill>
              </a:rPr>
              <a:t>06</a:t>
            </a:r>
          </a:p>
          <a:p>
            <a:pPr>
              <a:spcBef>
                <a:spcPts val="120"/>
              </a:spcBef>
            </a:pPr>
            <a:r>
              <a:rPr lang="en-US" sz="1300" b="1" dirty="0">
                <a:solidFill>
                  <a:srgbClr val="111111"/>
                </a:solidFill>
              </a:rPr>
              <a:t>Model Evaluation</a:t>
            </a:r>
          </a:p>
          <a:p>
            <a:pPr>
              <a:spcBef>
                <a:spcPts val="80"/>
              </a:spcBef>
            </a:pPr>
            <a:r>
              <a:rPr lang="en-US" sz="980" b="0" dirty="0">
                <a:solidFill>
                  <a:srgbClr val="444444"/>
                </a:solidFill>
              </a:rPr>
              <a:t>AUC, PR-AUC, lift, threshold analysis</a:t>
            </a:r>
          </a:p>
        </p:txBody>
      </p:sp>
      <p:sp>
        <p:nvSpPr>
          <p:cNvPr id="215" name="Acc_6"/>
          <p:cNvSpPr>
            <a:spLocks noGrp="1"/>
          </p:cNvSpPr>
          <p:nvPr/>
        </p:nvSpPr>
        <p:spPr>
          <a:xfrm>
            <a:off x="3134666" y="2796020"/>
            <a:ext cx="50000" cy="1018010"/>
          </a:xfrm>
          <a:prstGeom prst="rect">
            <a:avLst/>
          </a:prstGeom>
          <a:solidFill>
            <a:srgbClr val="007A5C"/>
          </a:solidFill>
          <a:ln w="12700">
            <a:noFill/>
          </a:ln>
        </p:spPr>
        <p:txBody>
          <a:bodyPr wrap="square" lIns="60960" tIns="45720" rIns="60960" bIns="45720" anchor="t"/>
          <a:lstStyle/>
          <a:p>
            <a:endParaRPr lang="en-US"/>
          </a:p>
        </p:txBody>
      </p:sp>
      <p:sp>
        <p:nvSpPr>
          <p:cNvPr id="216" name="Box_11"/>
          <p:cNvSpPr>
            <a:spLocks noGrp="1"/>
          </p:cNvSpPr>
          <p:nvPr/>
        </p:nvSpPr>
        <p:spPr>
          <a:xfrm>
            <a:off x="6069332" y="2796020"/>
            <a:ext cx="2874666" cy="1018010"/>
          </a:xfrm>
          <a:prstGeom prst="roundRect">
            <a:avLst>
              <a:gd name="adj" fmla="val 20000"/>
            </a:avLst>
          </a:prstGeom>
          <a:solidFill>
            <a:srgbClr val="FEF0E5"/>
          </a:solidFill>
          <a:ln w="12700">
            <a:solidFill>
              <a:srgbClr val="D4690A"/>
            </a:solidFill>
          </a:ln>
        </p:spPr>
        <p:txBody>
          <a:bodyPr wrap="square" lIns="60960" tIns="45720" rIns="60960" bIns="45720" anchor="t"/>
          <a:lstStyle/>
          <a:p>
            <a:endParaRPr lang="en-US"/>
          </a:p>
          <a:p>
            <a:r>
              <a:rPr lang="en-US" sz="2600" b="1" dirty="0">
                <a:solidFill>
                  <a:srgbClr val="D4690A"/>
                </a:solidFill>
              </a:rPr>
              <a:t>11</a:t>
            </a:r>
          </a:p>
          <a:p>
            <a:pPr>
              <a:spcBef>
                <a:spcPts val="120"/>
              </a:spcBef>
            </a:pPr>
            <a:r>
              <a:rPr lang="en-US" sz="1300" b="1" dirty="0">
                <a:solidFill>
                  <a:srgbClr val="111111"/>
                </a:solidFill>
              </a:rPr>
              <a:t>Model Monitoring</a:t>
            </a:r>
          </a:p>
          <a:p>
            <a:pPr>
              <a:spcBef>
                <a:spcPts val="80"/>
              </a:spcBef>
            </a:pPr>
            <a:r>
              <a:rPr lang="en-US" sz="980" b="0" dirty="0">
                <a:solidFill>
                  <a:srgbClr val="444444"/>
                </a:solidFill>
              </a:rPr>
              <a:t>PSI, KS drift, Brier decay</a:t>
            </a:r>
          </a:p>
        </p:txBody>
      </p:sp>
      <p:sp>
        <p:nvSpPr>
          <p:cNvPr id="217" name="Acc_11"/>
          <p:cNvSpPr>
            <a:spLocks noGrp="1"/>
          </p:cNvSpPr>
          <p:nvPr/>
        </p:nvSpPr>
        <p:spPr>
          <a:xfrm>
            <a:off x="6069332" y="2796020"/>
            <a:ext cx="50000" cy="1018010"/>
          </a:xfrm>
          <a:prstGeom prst="rect">
            <a:avLst/>
          </a:prstGeom>
          <a:solidFill>
            <a:srgbClr val="D4690A"/>
          </a:solidFill>
          <a:ln w="12700">
            <a:noFill/>
          </a:ln>
        </p:spPr>
        <p:txBody>
          <a:bodyPr wrap="square" lIns="60960" tIns="45720" rIns="60960" bIns="45720" anchor="t"/>
          <a:lstStyle/>
          <a:p>
            <a:endParaRPr lang="en-US"/>
          </a:p>
        </p:txBody>
      </p:sp>
      <p:sp>
        <p:nvSpPr>
          <p:cNvPr id="218" name="Box_4"/>
          <p:cNvSpPr>
            <a:spLocks noGrp="1"/>
          </p:cNvSpPr>
          <p:nvPr/>
        </p:nvSpPr>
        <p:spPr>
          <a:xfrm>
            <a:off x="200000" y="3874030"/>
            <a:ext cx="2874666" cy="1018010"/>
          </a:xfrm>
          <a:prstGeom prst="roundRect">
            <a:avLst>
              <a:gd name="adj" fmla="val 20000"/>
            </a:avLst>
          </a:prstGeom>
          <a:solidFill>
            <a:srgbClr val="E8EEF8"/>
          </a:solidFill>
          <a:ln w="12700">
            <a:solidFill>
              <a:srgbClr val="06185F"/>
            </a:solidFill>
          </a:ln>
        </p:spPr>
        <p:txBody>
          <a:bodyPr wrap="square" lIns="60960" tIns="45720" rIns="60960" bIns="45720" anchor="t"/>
          <a:lstStyle/>
          <a:p>
            <a:endParaRPr lang="en-US"/>
          </a:p>
          <a:p>
            <a:r>
              <a:rPr lang="en-US" sz="2600" b="1" dirty="0">
                <a:solidFill>
                  <a:srgbClr val="06185F"/>
                </a:solidFill>
              </a:rPr>
              <a:t>04</a:t>
            </a:r>
          </a:p>
          <a:p>
            <a:pPr>
              <a:spcBef>
                <a:spcPts val="120"/>
              </a:spcBef>
            </a:pPr>
            <a:r>
              <a:rPr lang="en-US" sz="1300" b="1" dirty="0">
                <a:solidFill>
                  <a:srgbClr val="111111"/>
                </a:solidFill>
              </a:rPr>
              <a:t>Feature Engineering</a:t>
            </a:r>
          </a:p>
          <a:p>
            <a:pPr>
              <a:spcBef>
                <a:spcPts val="80"/>
              </a:spcBef>
            </a:pPr>
            <a:r>
              <a:rPr lang="en-US" sz="980" b="0" dirty="0">
                <a:solidFill>
                  <a:srgbClr val="444444"/>
                </a:solidFill>
              </a:rPr>
              <a:t>Temporal split, derived features</a:t>
            </a:r>
          </a:p>
        </p:txBody>
      </p:sp>
      <p:sp>
        <p:nvSpPr>
          <p:cNvPr id="219" name="Acc_4"/>
          <p:cNvSpPr>
            <a:spLocks noGrp="1"/>
          </p:cNvSpPr>
          <p:nvPr/>
        </p:nvSpPr>
        <p:spPr>
          <a:xfrm>
            <a:off x="200000" y="3874030"/>
            <a:ext cx="50000" cy="1018010"/>
          </a:xfrm>
          <a:prstGeom prst="rect">
            <a:avLst/>
          </a:prstGeom>
          <a:solidFill>
            <a:srgbClr val="06185F"/>
          </a:solidFill>
          <a:ln w="12700">
            <a:noFill/>
          </a:ln>
        </p:spPr>
        <p:txBody>
          <a:bodyPr wrap="square" lIns="60960" tIns="45720" rIns="60960" bIns="45720" anchor="t"/>
          <a:lstStyle/>
          <a:p>
            <a:endParaRPr lang="en-US"/>
          </a:p>
        </p:txBody>
      </p:sp>
      <p:sp>
        <p:nvSpPr>
          <p:cNvPr id="220" name="Box_5"/>
          <p:cNvSpPr>
            <a:spLocks noGrp="1"/>
          </p:cNvSpPr>
          <p:nvPr/>
        </p:nvSpPr>
        <p:spPr>
          <a:xfrm>
            <a:off x="3134666" y="3874030"/>
            <a:ext cx="2874666" cy="1018010"/>
          </a:xfrm>
          <a:prstGeom prst="roundRect">
            <a:avLst>
              <a:gd name="adj" fmla="val 20000"/>
            </a:avLst>
          </a:prstGeom>
          <a:solidFill>
            <a:srgbClr val="E2F4EE"/>
          </a:solidFill>
          <a:ln w="12700">
            <a:solidFill>
              <a:srgbClr val="007A5C"/>
            </a:solidFill>
          </a:ln>
        </p:spPr>
        <p:txBody>
          <a:bodyPr wrap="square" lIns="60960" tIns="45720" rIns="60960" bIns="45720" anchor="t"/>
          <a:lstStyle/>
          <a:p>
            <a:endParaRPr lang="en-US"/>
          </a:p>
          <a:p>
            <a:r>
              <a:rPr lang="en-US" sz="2600" b="1" dirty="0">
                <a:solidFill>
                  <a:srgbClr val="007A5C"/>
                </a:solidFill>
              </a:rPr>
              <a:t>05</a:t>
            </a:r>
          </a:p>
          <a:p>
            <a:pPr>
              <a:spcBef>
                <a:spcPts val="120"/>
              </a:spcBef>
            </a:pPr>
            <a:r>
              <a:rPr lang="en-US" sz="1300" b="1" dirty="0">
                <a:solidFill>
                  <a:srgbClr val="111111"/>
                </a:solidFill>
              </a:rPr>
              <a:t>Multi-Model Training</a:t>
            </a:r>
          </a:p>
          <a:p>
            <a:pPr>
              <a:spcBef>
                <a:spcPts val="80"/>
              </a:spcBef>
            </a:pPr>
            <a:r>
              <a:rPr lang="en-US" sz="980" b="0" dirty="0">
                <a:solidFill>
                  <a:srgbClr val="444444"/>
                </a:solidFill>
              </a:rPr>
              <a:t>CatBoost, XGBoost, MLP champion/challenger</a:t>
            </a:r>
          </a:p>
        </p:txBody>
      </p:sp>
      <p:sp>
        <p:nvSpPr>
          <p:cNvPr id="221" name="Acc_5"/>
          <p:cNvSpPr>
            <a:spLocks noGrp="1"/>
          </p:cNvSpPr>
          <p:nvPr/>
        </p:nvSpPr>
        <p:spPr>
          <a:xfrm>
            <a:off x="3134666" y="3874030"/>
            <a:ext cx="50000" cy="1018010"/>
          </a:xfrm>
          <a:prstGeom prst="rect">
            <a:avLst/>
          </a:prstGeom>
          <a:solidFill>
            <a:srgbClr val="007A5C"/>
          </a:solidFill>
          <a:ln w="12700">
            <a:noFill/>
          </a:ln>
        </p:spPr>
        <p:txBody>
          <a:bodyPr wrap="square" lIns="60960" tIns="45720" rIns="60960" bIns="45720" anchor="t"/>
          <a:lstStyle/>
          <a:p>
            <a:endParaRPr lang="en-US"/>
          </a:p>
        </p:txBody>
      </p:sp>
      <p:sp>
        <p:nvSpPr>
          <p:cNvPr id="222" name="Box_12"/>
          <p:cNvSpPr>
            <a:spLocks noGrp="1"/>
          </p:cNvSpPr>
          <p:nvPr/>
        </p:nvSpPr>
        <p:spPr>
          <a:xfrm>
            <a:off x="6069332" y="3874030"/>
            <a:ext cx="2874666" cy="1018010"/>
          </a:xfrm>
          <a:prstGeom prst="roundRect">
            <a:avLst>
              <a:gd name="adj" fmla="val 20000"/>
            </a:avLst>
          </a:prstGeom>
          <a:solidFill>
            <a:srgbClr val="FEF0E5"/>
          </a:solidFill>
          <a:ln w="12700">
            <a:solidFill>
              <a:srgbClr val="D4690A"/>
            </a:solidFill>
          </a:ln>
        </p:spPr>
        <p:txBody>
          <a:bodyPr wrap="square" lIns="60960" tIns="45720" rIns="60960" bIns="45720" anchor="t"/>
          <a:lstStyle/>
          <a:p>
            <a:endParaRPr lang="en-US"/>
          </a:p>
          <a:p>
            <a:r>
              <a:rPr lang="en-US" sz="2600" b="1" dirty="0">
                <a:solidFill>
                  <a:srgbClr val="D4690A"/>
                </a:solidFill>
              </a:rPr>
              <a:t>12</a:t>
            </a:r>
          </a:p>
          <a:p>
            <a:pPr>
              <a:spcBef>
                <a:spcPts val="120"/>
              </a:spcBef>
            </a:pPr>
            <a:r>
              <a:rPr lang="en-US" sz="1300" b="1" dirty="0">
                <a:solidFill>
                  <a:srgbClr val="111111"/>
                </a:solidFill>
              </a:rPr>
              <a:t>Periodic Retraining</a:t>
            </a:r>
          </a:p>
          <a:p>
            <a:pPr>
              <a:spcBef>
                <a:spcPts val="80"/>
              </a:spcBef>
            </a:pPr>
            <a:r>
              <a:rPr lang="en-US" sz="980" b="0" dirty="0">
                <a:solidFill>
                  <a:srgbClr val="444444"/>
                </a:solidFill>
              </a:rPr>
              <a:t>Walk-forward, champion/challenger</a:t>
            </a:r>
          </a:p>
        </p:txBody>
      </p:sp>
      <p:sp>
        <p:nvSpPr>
          <p:cNvPr id="223" name="Acc_12"/>
          <p:cNvSpPr>
            <a:spLocks noGrp="1"/>
          </p:cNvSpPr>
          <p:nvPr/>
        </p:nvSpPr>
        <p:spPr>
          <a:xfrm>
            <a:off x="6069332" y="3874030"/>
            <a:ext cx="50000" cy="1018010"/>
          </a:xfrm>
          <a:prstGeom prst="rect">
            <a:avLst/>
          </a:prstGeom>
          <a:solidFill>
            <a:srgbClr val="D4690A"/>
          </a:solidFill>
          <a:ln w="12700">
            <a:noFill/>
          </a:ln>
        </p:spPr>
        <p:txBody>
          <a:bodyPr wrap="square" lIns="60960" tIns="45720" rIns="60960" bIns="45720" anchor="t"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F0EDE8"/>
          </a:solidFill>
          <a:ln w="5080">
            <a:solidFill>
              <a:srgbClr val="DDD8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320040" y="4910328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Steps 1-4: Define &amp; Data  |  Steps 5-8: Build &amp; Validate  |  Steps 9-12: Deploy &amp; Govern  |  churn_master.ipynb follows all 12 steps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Four Types of Questions Data Science Answers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41605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64008" cy="18288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Descriptive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happened?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e.g. Churn rate last quarter by segment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777240"/>
            <a:ext cx="41605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64008" cy="182880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914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did it happen?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892040" y="187452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e.g. Which features correlate with churn?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788920"/>
            <a:ext cx="41605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788920"/>
            <a:ext cx="64008" cy="182880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2926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Predictive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3383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will happen?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02920" y="38862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e.g. Which customers will churn next 90 days?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788920"/>
            <a:ext cx="41605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2788920"/>
            <a:ext cx="64008" cy="182880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2926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Prescriptive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92040" y="3383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should we do?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892040" y="38862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e.g. Which retention offer has the best ROI?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 organizations are strong on descriptive; value explodes when you reach predictive + prescriptive.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Is Data Science Having Its Moment Now?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41605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64008" cy="18288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4183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📊  Explosion of Data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Core banking systems, digital channels, and third-party feeds produce more structured data than ever before.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09160" y="777240"/>
            <a:ext cx="41605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09160" y="777240"/>
            <a:ext cx="64008" cy="18288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92040" y="94183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⚡  Cheap Compute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92040" y="14630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Cloud infrastructure makes training complex models on millions of records routine and affordable.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" y="2788920"/>
            <a:ext cx="41605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2788920"/>
            <a:ext cx="64008" cy="18288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95351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🔓  Open-Source Tooling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34747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CatBoost, XGBoost, SHAP — world-class ML is free. The moat is knowing how to use it.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2788920"/>
            <a:ext cx="41605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9160" y="2788920"/>
            <a:ext cx="64008" cy="182880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92040" y="295351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🏦  Banking Is Behind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92040" y="34747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 industries automated decisions years ago. Banking is still rich with opportunity — and pressure from fintechs.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Data Science Is NOT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6052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64008" cy="1170432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89611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 Business Intelligence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316736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BI describes the past. DS predicts the future and recommends actions.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2066544"/>
            <a:ext cx="416052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" y="2066544"/>
            <a:ext cx="64008" cy="1170432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2157984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Magic or a black box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57860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Modern explainability (SHAP) makes model logic transparent and auditable.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328416"/>
            <a:ext cx="416052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3328416"/>
            <a:ext cx="64008" cy="1170432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341985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replacement for domain knowledge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38404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Domain expertise shapes the question, the features, and the label. The model amplifies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804672"/>
            <a:ext cx="416052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9160" y="804672"/>
            <a:ext cx="64008" cy="1170432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92040" y="89611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for big tech companies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1316736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Community banks and credit unions are running churn models today with open-source tools.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2066544"/>
            <a:ext cx="416052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09160" y="2066544"/>
            <a:ext cx="64008" cy="1170432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92040" y="2157984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One-and-done project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92040" y="257860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Models drift. Data changes. DS is a continuous feedback loop, not a deliverable.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09160" y="3328416"/>
            <a:ext cx="416052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09160" y="3328416"/>
            <a:ext cx="64008" cy="1170432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92040" y="341985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data always means a better model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92040" y="38404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Data quality beats quantity. Clean, relevant, well-labeled data outperforms 10× more noise.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18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65760" y="192024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 Types &amp; Learning Methods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2971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classification to recommendation — and when to use each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in Banking — Ranking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86384"/>
            <a:ext cx="5029200" cy="2560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786384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/ Business Problem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48840" y="78638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the model does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394960" y="786384"/>
            <a:ext cx="3429000" cy="2560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58968" y="7863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Example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" y="1078992"/>
            <a:ext cx="5029200" cy="562356"/>
          </a:xfrm>
          <a:prstGeom prst="rect">
            <a:avLst/>
          </a:prstGeom>
          <a:solidFill>
            <a:srgbClr val="EFEDE6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078992"/>
            <a:ext cx="1737360" cy="56235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7472" y="1078992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48840" y="1133856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a list so the most relevant or high-value items appear first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rot="5400000">
            <a:off x="5303520" y="1232154"/>
            <a:ext cx="128016" cy="256032"/>
          </a:xfrm>
          <a:prstGeom prst="rtTriangl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" y="1641348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1641348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7472" y="1641348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148840" y="1696212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Surfaces the right next product or action for each individual customer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203704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20040" y="2203704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47472" y="2203704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148840" y="2258568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Assigns each customer or event to a category — churn/retain, fraud/clean, default/performing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2766060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2766060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7472" y="2766060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Regression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148840" y="2820924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Predicts a continuous number — a balance, a value, a probability score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" y="3328416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328416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7472" y="3328416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148840" y="3383280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Groups similar customers together without predefined labels — discovers natural segments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3890772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20040" y="3890772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47472" y="3890772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Anomaly Detection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148840" y="3945636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Finds observations that deviate significantly from normal patterns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94960" y="1078992"/>
            <a:ext cx="3429000" cy="3374136"/>
          </a:xfrm>
          <a:prstGeom prst="rect">
            <a:avLst/>
          </a:prstGeom>
          <a:solidFill>
            <a:srgbClr val="FEFDF8"/>
          </a:solidFill>
          <a:ln w="10160">
            <a:solidFill>
              <a:srgbClr val="C8C0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504688" y="1188720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Retention Priority Queue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04688" y="1463040"/>
            <a:ext cx="3209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Ranked by P(churn) × Lifetime Value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504688" y="1737360"/>
            <a:ext cx="256032" cy="2377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504688" y="173736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797296" y="1737360"/>
            <a:ext cx="960120" cy="2377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797296" y="17373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Customer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803136" y="1737360"/>
            <a:ext cx="475488" cy="2377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803136" y="1737360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P(churn)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315200" y="1737360"/>
            <a:ext cx="475488" cy="2377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315200" y="1737360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LTV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7827264" y="1737360"/>
            <a:ext cx="914400" cy="2377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827264" y="17373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504688" y="1993392"/>
            <a:ext cx="3209544" cy="347472"/>
          </a:xfrm>
          <a:prstGeom prst="rect">
            <a:avLst/>
          </a:prstGeom>
          <a:solidFill>
            <a:srgbClr val="EBF2F9"/>
          </a:solidFill>
          <a:ln w="5080">
            <a:solidFill>
              <a:srgbClr val="E0DC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504688" y="2011680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#1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797296" y="20116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Johnson, M.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803136" y="2011680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0.91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15200" y="2011680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$82K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827264" y="2029968"/>
            <a:ext cx="914400" cy="2743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7827264" y="20299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CALL TODAY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504688" y="2377440"/>
            <a:ext cx="3209544" cy="347472"/>
          </a:xfrm>
          <a:prstGeom prst="rect">
            <a:avLst/>
          </a:prstGeom>
          <a:solidFill>
            <a:srgbClr val="EBF2F9"/>
          </a:solidFill>
          <a:ln w="5080">
            <a:solidFill>
              <a:srgbClr val="E0DC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5504688" y="2395728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#2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797296" y="23957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Chen, R.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6803136" y="2395728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0.87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315200" y="2395728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$104K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827264" y="2414016"/>
            <a:ext cx="914400" cy="2743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7827264" y="24140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CALL TODAY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504688" y="2761488"/>
            <a:ext cx="3209544" cy="347472"/>
          </a:xfrm>
          <a:prstGeom prst="rect">
            <a:avLst/>
          </a:prstGeom>
          <a:solidFill>
            <a:srgbClr val="E8F6F0"/>
          </a:solidFill>
          <a:ln w="5080">
            <a:solidFill>
              <a:srgbClr val="E0DC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504688" y="2779776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#3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797296" y="27797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Williams, S.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803136" y="277977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0.78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15200" y="277977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$61K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7827264" y="2798064"/>
            <a:ext cx="914400" cy="27432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7827264" y="27980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HYSA OFFER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5504688" y="3145536"/>
            <a:ext cx="3209544" cy="347472"/>
          </a:xfrm>
          <a:prstGeom prst="rect">
            <a:avLst/>
          </a:prstGeom>
          <a:solidFill>
            <a:srgbClr val="F7F6F2"/>
          </a:solidFill>
          <a:ln w="5080">
            <a:solidFill>
              <a:srgbClr val="E0DC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5504688" y="3163824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#4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5797296" y="316382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Davis, T.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803136" y="3163824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0.71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7315200" y="3163824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$38K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7827264" y="3182112"/>
            <a:ext cx="914400" cy="274320"/>
          </a:xfrm>
          <a:prstGeom prst="rect">
            <a:avLst/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7827264" y="31821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nudge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5504688" y="3529584"/>
            <a:ext cx="3209544" cy="347472"/>
          </a:xfrm>
          <a:prstGeom prst="rect">
            <a:avLst/>
          </a:prstGeom>
          <a:solidFill>
            <a:srgbClr val="F7F6F2"/>
          </a:solidFill>
          <a:ln w="5080">
            <a:solidFill>
              <a:srgbClr val="E0DC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5504688" y="3547872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#5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797296" y="354787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Martinez, K.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6803136" y="354787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0.64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7315200" y="3547872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$29K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7827264" y="3566160"/>
            <a:ext cx="914400" cy="274320"/>
          </a:xfrm>
          <a:prstGeom prst="rect">
            <a:avLst/>
          </a:prstGeom>
          <a:solidFill>
            <a:srgbClr val="E4E0D8"/>
          </a:solidFill>
          <a:ln w="1270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827264" y="3566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nudge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504688" y="3986784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86,110 customers below threshold — no outreach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in Banking — Recommendation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86384"/>
            <a:ext cx="5029200" cy="2560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786384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/ Business Problem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48840" y="78638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the model does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394960" y="786384"/>
            <a:ext cx="3429000" cy="2560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58968" y="7863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Example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" y="1078992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078992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7472" y="1078992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48840" y="1133856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a list so the most relevant or high-value items appear first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641348"/>
            <a:ext cx="5029200" cy="562356"/>
          </a:xfrm>
          <a:prstGeom prst="rect">
            <a:avLst/>
          </a:prstGeom>
          <a:solidFill>
            <a:srgbClr val="EFEDE6"/>
          </a:solidFill>
          <a:ln w="12700">
            <a:solidFill>
              <a:srgbClr val="5B7E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" y="1641348"/>
            <a:ext cx="1737360" cy="562356"/>
          </a:xfrm>
          <a:prstGeom prst="rect">
            <a:avLst/>
          </a:prstGeom>
          <a:solidFill>
            <a:srgbClr val="5B7EC9"/>
          </a:solidFill>
          <a:ln w="12700">
            <a:solidFill>
              <a:srgbClr val="5B7E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7472" y="1641348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Recommendation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48840" y="1696212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Surfaces the right next product or action for each individual customer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rot="5400000">
            <a:off x="5303520" y="1794510"/>
            <a:ext cx="128016" cy="256032"/>
          </a:xfrm>
          <a:prstGeom prst="rtTriangle">
            <a:avLst/>
          </a:prstGeom>
          <a:solidFill>
            <a:srgbClr val="5B7EC9"/>
          </a:solidFill>
          <a:ln w="12700">
            <a:solidFill>
              <a:srgbClr val="5B7E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03704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20040" y="2203704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47472" y="2203704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148840" y="2258568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Assigns each customer or event to a category — churn/retain, fraud/clean, default/performing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2766060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2766060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7472" y="2766060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Regression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148840" y="2820924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Predicts a continuous number — a balance, a value, a probability score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" y="3328416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328416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7472" y="3328416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148840" y="3383280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Groups similar customers together without predefined labels — discovers natural segments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3890772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20040" y="3890772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47472" y="3890772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Anomaly Detection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148840" y="3945636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Finds observations that deviate significantly from normal patterns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94960" y="1078992"/>
            <a:ext cx="3429000" cy="3374136"/>
          </a:xfrm>
          <a:prstGeom prst="rect">
            <a:avLst/>
          </a:prstGeom>
          <a:solidFill>
            <a:srgbClr val="FEFDF8"/>
          </a:solidFill>
          <a:ln w="10160">
            <a:solidFill>
              <a:srgbClr val="C8C0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504688" y="1188720"/>
            <a:ext cx="3209544" cy="274320"/>
          </a:xfrm>
          <a:prstGeom prst="rect">
            <a:avLst/>
          </a:prstGeom>
          <a:solidFill>
            <a:srgbClr val="EBF2F9"/>
          </a:solidFill>
          <a:ln w="635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577840" y="11887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Customer #7841  ·  P(churn)=0.78  ·  LTV $61K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04688" y="1536192"/>
            <a:ext cx="3209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Next-Best-Offer — ranked by P(accept) × retention value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04688" y="1828800"/>
            <a:ext cx="3209544" cy="786384"/>
          </a:xfrm>
          <a:prstGeom prst="rect">
            <a:avLst/>
          </a:prstGeom>
          <a:solidFill>
            <a:srgbClr val="E8F6F0"/>
          </a:solidFill>
          <a:ln w="1524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504688" y="1828800"/>
            <a:ext cx="256032" cy="786384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504688" y="1828800"/>
            <a:ext cx="256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833872" y="1920240"/>
            <a:ext cx="2459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HYSA Promo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833872" y="2212848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4.50% APY · limited time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257032" y="1956816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91%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504688" y="2743200"/>
            <a:ext cx="3209544" cy="786384"/>
          </a:xfrm>
          <a:prstGeom prst="rect">
            <a:avLst/>
          </a:prstGeom>
          <a:solidFill>
            <a:srgbClr val="EBF2F9"/>
          </a:solidFill>
          <a:ln w="6350">
            <a:solidFill>
              <a:srgbClr val="DDD8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504688" y="2743200"/>
            <a:ext cx="256032" cy="786384"/>
          </a:xfrm>
          <a:prstGeom prst="rect">
            <a:avLst/>
          </a:prstGeom>
          <a:solidFill>
            <a:srgbClr val="5B7EC9"/>
          </a:solidFill>
          <a:ln w="12700">
            <a:solidFill>
              <a:srgbClr val="5B7E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504688" y="2743200"/>
            <a:ext cx="256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#2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833872" y="2834640"/>
            <a:ext cx="2459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 Reversal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833872" y="3127248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$35 monthly fee waived once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57032" y="2871216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B7EC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78%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5504688" y="3657600"/>
            <a:ext cx="3209544" cy="786384"/>
          </a:xfrm>
          <a:prstGeom prst="rect">
            <a:avLst/>
          </a:prstGeom>
          <a:solidFill>
            <a:srgbClr val="F4F1EC"/>
          </a:solidFill>
          <a:ln w="6350">
            <a:solidFill>
              <a:srgbClr val="DDD8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504688" y="3657600"/>
            <a:ext cx="256032" cy="786384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5504688" y="3657600"/>
            <a:ext cx="256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#3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833872" y="3749040"/>
            <a:ext cx="2459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Banker Call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833872" y="4041648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Relationship review, 20 min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57032" y="3785616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in Banking — Classification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86384"/>
            <a:ext cx="5029200" cy="2560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786384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/ Business Problem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48840" y="78638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the model does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394960" y="786384"/>
            <a:ext cx="3429000" cy="2560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58968" y="7863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Example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" y="1078992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078992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7472" y="1078992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48840" y="1133856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a list so the most relevant or high-value items appear first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641348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" y="1641348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7472" y="1641348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48840" y="1696212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Surfaces the right next product or action for each individual customer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203704"/>
            <a:ext cx="5029200" cy="562356"/>
          </a:xfrm>
          <a:prstGeom prst="rect">
            <a:avLst/>
          </a:prstGeom>
          <a:solidFill>
            <a:srgbClr val="EFEDE6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03704"/>
            <a:ext cx="1737360" cy="56235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7472" y="2203704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Classification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48840" y="2258568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Assigns each customer or event to a category — churn/retain, fraud/clean, default/performing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 rot="5400000">
            <a:off x="5303520" y="2356866"/>
            <a:ext cx="128016" cy="256032"/>
          </a:xfrm>
          <a:prstGeom prst="rtTriangl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2766060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2766060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7472" y="2766060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Regression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148840" y="2820924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Predicts a continuous number — a balance, a value, a probability score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" y="3328416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328416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7472" y="3328416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148840" y="3383280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Groups similar customers together without predefined labels — discovers natural segments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3890772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20040" y="3890772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47472" y="3890772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Anomaly Detection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148840" y="3945636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Finds observations that deviate significantly from normal patterns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94960" y="1078992"/>
            <a:ext cx="3429000" cy="3374136"/>
          </a:xfrm>
          <a:prstGeom prst="rect">
            <a:avLst/>
          </a:prstGeom>
          <a:solidFill>
            <a:srgbClr val="FEFDF8"/>
          </a:solidFill>
          <a:ln w="10160">
            <a:solidFill>
              <a:srgbClr val="C8C0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504688" y="120700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 Risk Score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04688" y="1499616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Will this customer leave in the next 30 days?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504688" y="1810512"/>
            <a:ext cx="3209544" cy="1371600"/>
          </a:xfrm>
          <a:prstGeom prst="rect">
            <a:avLst/>
          </a:prstGeom>
          <a:solidFill>
            <a:srgbClr val="EBF2F9"/>
          </a:solidFill>
          <a:ln w="1016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504688" y="1810512"/>
            <a:ext cx="64008" cy="13716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614416" y="1901952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P(churn)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14416" y="2103120"/>
            <a:ext cx="3099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0.78</a:t>
            </a:r>
            <a:endParaRPr lang="en-US" sz="4400" dirty="0"/>
          </a:p>
        </p:txBody>
      </p:sp>
      <p:sp>
        <p:nvSpPr>
          <p:cNvPr id="41" name="Shape 39"/>
          <p:cNvSpPr/>
          <p:nvPr/>
        </p:nvSpPr>
        <p:spPr>
          <a:xfrm>
            <a:off x="6053328" y="3236976"/>
            <a:ext cx="1554480" cy="292608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053328" y="323697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 RISK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504688" y="3675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803136" y="3675888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WeightedEnsemble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504688" y="391363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AUC-ROC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803136" y="3913632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0.883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504688" y="415137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Threshold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803136" y="4151376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0.18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504688" y="43891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Decile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803136" y="4389120"/>
            <a:ext cx="1911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10%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in Banking — Regression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86384"/>
            <a:ext cx="5029200" cy="2560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786384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/ Business Problem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48840" y="78638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the model does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394960" y="786384"/>
            <a:ext cx="3429000" cy="2560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58968" y="7863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Example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" y="1078992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078992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7472" y="1078992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48840" y="1133856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a list so the most relevant or high-value items appear first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641348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" y="1641348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7472" y="1641348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48840" y="1696212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Surfaces the right next product or action for each individual customer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203704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03704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7472" y="2203704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48840" y="2258568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Assigns each customer or event to a category — churn/retain, fraud/clean, default/performing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2766060"/>
            <a:ext cx="5029200" cy="562356"/>
          </a:xfrm>
          <a:prstGeom prst="rect">
            <a:avLst/>
          </a:prstGeom>
          <a:solidFill>
            <a:srgbClr val="EFEDE6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2766060"/>
            <a:ext cx="1737360" cy="562356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7472" y="2766060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Regression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148840" y="2820924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Predicts a continuous number — a balance, a value, a probability score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rot="5400000">
            <a:off x="5303520" y="2919222"/>
            <a:ext cx="128016" cy="256032"/>
          </a:xfrm>
          <a:prstGeom prst="rtTriangl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0040" y="3328416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0040" y="3328416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7472" y="3328416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148840" y="3383280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Groups similar customers together without predefined labels — discovers natural segments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3890772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20040" y="3890772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47472" y="3890772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Anomaly Detection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148840" y="3945636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Finds observations that deviate significantly from normal patterns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94960" y="1078992"/>
            <a:ext cx="3429000" cy="3374136"/>
          </a:xfrm>
          <a:prstGeom prst="rect">
            <a:avLst/>
          </a:prstGeom>
          <a:solidFill>
            <a:srgbClr val="FEFDF8"/>
          </a:solidFill>
          <a:ln w="10160">
            <a:solidFill>
              <a:srgbClr val="C8C0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504688" y="120700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Balance &amp; Lifetime Value Forecast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504688" y="1499616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much is this customer worth — and where are they heading?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22976" y="1810512"/>
            <a:ext cx="3209544" cy="1417320"/>
          </a:xfrm>
          <a:prstGeom prst="rect">
            <a:avLst/>
          </a:prstGeom>
          <a:solidFill>
            <a:srgbClr val="F4F8FC"/>
          </a:solidFill>
          <a:ln w="6350">
            <a:solidFill>
              <a:srgbClr val="D0D8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568696" y="1883664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$54K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568696" y="297180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934456" y="29900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Historical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123176" y="299008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i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Forecast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025896" y="2150669"/>
            <a:ext cx="164592" cy="757123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208776" y="2192731"/>
            <a:ext cx="164592" cy="715061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391656" y="2129638"/>
            <a:ext cx="164592" cy="77815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574536" y="2108606"/>
            <a:ext cx="164592" cy="79918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757416" y="2161184"/>
            <a:ext cx="164592" cy="7466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940296" y="2224278"/>
            <a:ext cx="164592" cy="68351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7123176" y="2255825"/>
            <a:ext cx="164592" cy="651967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306056" y="2297887"/>
            <a:ext cx="164592" cy="609905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7488936" y="2329434"/>
            <a:ext cx="164592" cy="57835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7671816" y="2360981"/>
            <a:ext cx="164592" cy="546811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7854696" y="2445106"/>
            <a:ext cx="164592" cy="462686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8037576" y="2508199"/>
            <a:ext cx="164592" cy="399593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635240" y="1901952"/>
            <a:ext cx="13716" cy="1161288"/>
          </a:xfrm>
          <a:prstGeom prst="rect">
            <a:avLst/>
          </a:prstGeom>
          <a:solidFill>
            <a:srgbClr val="B0B8C0"/>
          </a:solidFill>
          <a:ln w="12700">
            <a:solidFill>
              <a:srgbClr val="B0B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5504688" y="3383280"/>
            <a:ext cx="3209544" cy="274320"/>
          </a:xfrm>
          <a:prstGeom prst="rect">
            <a:avLst/>
          </a:prstGeom>
          <a:solidFill>
            <a:srgbClr val="EBF2F9"/>
          </a:solidFill>
          <a:ln w="508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577840" y="341071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balance (12 mo)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7424928" y="3410712"/>
            <a:ext cx="1216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$47,300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504688" y="3694176"/>
            <a:ext cx="3209544" cy="274320"/>
          </a:xfrm>
          <a:prstGeom prst="rect">
            <a:avLst/>
          </a:prstGeom>
          <a:solidFill>
            <a:srgbClr val="FEF2F2"/>
          </a:solidFill>
          <a:ln w="508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577840" y="37216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30-day forecast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7424928" y="3721608"/>
            <a:ext cx="1216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6394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$43,100 (−4,200)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04688" y="4005072"/>
            <a:ext cx="3209544" cy="274320"/>
          </a:xfrm>
          <a:prstGeom prst="rect">
            <a:avLst/>
          </a:prstGeom>
          <a:solidFill>
            <a:srgbClr val="EBF2F9"/>
          </a:solidFill>
          <a:ln w="508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577840" y="403250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LTV estimate (36 mo)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424928" y="4032504"/>
            <a:ext cx="1216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$67,400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in Banking — Clustering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86384"/>
            <a:ext cx="5029200" cy="2560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786384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/ Business Problem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48840" y="78638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the model does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394960" y="786384"/>
            <a:ext cx="3429000" cy="2560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58968" y="7863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Example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" y="1078992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078992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7472" y="1078992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48840" y="1133856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a list so the most relevant or high-value items appear first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641348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" y="1641348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7472" y="1641348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48840" y="1696212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Surfaces the right next product or action for each individual customer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203704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03704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7472" y="2203704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48840" y="2258568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Assigns each customer or event to a category — churn/retain, fraud/clean, default/performing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2766060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2766060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7472" y="2766060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Regression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148840" y="2820924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Predicts a continuous number — a balance, a value, a probability score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328416"/>
            <a:ext cx="5029200" cy="562356"/>
          </a:xfrm>
          <a:prstGeom prst="rect">
            <a:avLst/>
          </a:prstGeom>
          <a:solidFill>
            <a:srgbClr val="EFEDE6"/>
          </a:solidFill>
          <a:ln w="12700">
            <a:solidFill>
              <a:srgbClr val="8B5E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0040" y="3328416"/>
            <a:ext cx="1737360" cy="562356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7472" y="3328416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48840" y="3383280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Groups similar customers together without predefined labels — discovers natural segments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 rot="5400000">
            <a:off x="5303520" y="3481578"/>
            <a:ext cx="128016" cy="256032"/>
          </a:xfrm>
          <a:prstGeom prst="rtTriangle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20040" y="3890772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20040" y="3890772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47472" y="3890772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Anomaly Detection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148840" y="3945636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Finds observations that deviate significantly from normal patterns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94960" y="1078992"/>
            <a:ext cx="3429000" cy="3374136"/>
          </a:xfrm>
          <a:prstGeom prst="rect">
            <a:avLst/>
          </a:prstGeom>
          <a:solidFill>
            <a:srgbClr val="FEFDF8"/>
          </a:solidFill>
          <a:ln w="10160">
            <a:solidFill>
              <a:srgbClr val="C8C0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504688" y="120700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Customer Microsegments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04688" y="1499616"/>
            <a:ext cx="3209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Discovering natural groups without predefined labels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04688" y="1792224"/>
            <a:ext cx="3209544" cy="603504"/>
          </a:xfrm>
          <a:prstGeom prst="rect">
            <a:avLst/>
          </a:prstGeom>
          <a:solidFill>
            <a:srgbClr val="F4F1EC"/>
          </a:solidFill>
          <a:ln w="508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596128" y="1993392"/>
            <a:ext cx="201168" cy="201168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852160" y="184708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Digital Users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852160" y="208483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n=31,937  ·  avg bal $3,400  ·  churn 5%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8257032" y="1901952"/>
            <a:ext cx="402336" cy="310896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257032" y="1901952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35%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504688" y="2414016"/>
            <a:ext cx="3209544" cy="603504"/>
          </a:xfrm>
          <a:prstGeom prst="rect">
            <a:avLst/>
          </a:prstGeom>
          <a:solidFill>
            <a:srgbClr val="F4F1EC"/>
          </a:solidFill>
          <a:ln w="508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596128" y="2615184"/>
            <a:ext cx="201168" cy="20116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852160" y="24688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DD-Dependent Savers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852160" y="2706624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n=25,549  ·  avg bal $5,100  ·  churn 6%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257032" y="2523744"/>
            <a:ext cx="402336" cy="3108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8257032" y="2523744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28%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504688" y="3035808"/>
            <a:ext cx="3209544" cy="603504"/>
          </a:xfrm>
          <a:prstGeom prst="rect">
            <a:avLst/>
          </a:prstGeom>
          <a:solidFill>
            <a:srgbClr val="F4F1EC"/>
          </a:solidFill>
          <a:ln w="508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596128" y="3236976"/>
            <a:ext cx="201168" cy="201168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852160" y="3090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Rate-Sensitive Movers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852160" y="332841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n=16,424  ·  avg bal $8,200  ·  churn 9%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8257032" y="3145536"/>
            <a:ext cx="402336" cy="310896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8257032" y="3145536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18%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504688" y="3657600"/>
            <a:ext cx="3209544" cy="603504"/>
          </a:xfrm>
          <a:prstGeom prst="rect">
            <a:avLst/>
          </a:prstGeom>
          <a:solidFill>
            <a:srgbClr val="FEF2F2"/>
          </a:solidFill>
          <a:ln w="1524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5596128" y="3858768"/>
            <a:ext cx="201168" cy="201168"/>
          </a:xfrm>
          <a:prstGeom prst="ellipse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5852160" y="37124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At-Risk Dormant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852160" y="395020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6404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n=7,337  ·  avg bal $1,200  ·  churn 26%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8257032" y="3767328"/>
            <a:ext cx="402336" cy="310896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8257032" y="3767328"/>
            <a:ext cx="402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8%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504688" y="4206240"/>
            <a:ext cx="3209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6404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► At-Risk Dormant = primary churn model target population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in Banking — Anomaly Detection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86384"/>
            <a:ext cx="5029200" cy="2560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786384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/ Business Problem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48840" y="78638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the model does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394960" y="786384"/>
            <a:ext cx="3429000" cy="2560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58968" y="7863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Example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" y="1078992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078992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7472" y="1078992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48840" y="1133856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a list so the most relevant or high-value items appear first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641348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" y="1641348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7472" y="1641348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48840" y="1696212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Surfaces the right next product or action for each individual customer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203704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03704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7472" y="2203704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48840" y="2258568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Assigns each customer or event to a category — churn/retain, fraud/clean, default/performing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2766060"/>
            <a:ext cx="5029200" cy="562356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2766060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47472" y="2766060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Regression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148840" y="2820924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Predicts a continuous number — a balance, a value, a probability score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328416"/>
            <a:ext cx="5029200" cy="562356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0040" y="3328416"/>
            <a:ext cx="1737360" cy="562356"/>
          </a:xfrm>
          <a:prstGeom prst="rect">
            <a:avLst/>
          </a:prstGeom>
          <a:solidFill>
            <a:srgbClr val="717070"/>
          </a:solidFill>
          <a:ln w="12700">
            <a:solidFill>
              <a:srgbClr val="7170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7472" y="3328416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148840" y="3383280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Groups similar customers together without predefined labels — discovers natural segments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3890772"/>
            <a:ext cx="5029200" cy="562356"/>
          </a:xfrm>
          <a:prstGeom prst="rect">
            <a:avLst/>
          </a:prstGeom>
          <a:solidFill>
            <a:srgbClr val="EFEDE6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20040" y="3890772"/>
            <a:ext cx="1737360" cy="562356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47472" y="3890772"/>
            <a:ext cx="168249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Anomaly Detection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148840" y="3945636"/>
            <a:ext cx="312724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Finds observations that deviate significantly from normal patterns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rot="5400000">
            <a:off x="5303520" y="4043934"/>
            <a:ext cx="128016" cy="256032"/>
          </a:xfrm>
          <a:prstGeom prst="rtTriangle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394960" y="1078992"/>
            <a:ext cx="3429000" cy="3374136"/>
          </a:xfrm>
          <a:prstGeom prst="rect">
            <a:avLst/>
          </a:prstGeom>
          <a:solidFill>
            <a:srgbClr val="FEFDF8"/>
          </a:solidFill>
          <a:ln w="10160">
            <a:solidFill>
              <a:srgbClr val="C8C0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504688" y="120700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BSA / AML Transaction Alert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04688" y="1499616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this customer do something outside their normal pattern?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50408" y="1810512"/>
            <a:ext cx="3118104" cy="1188720"/>
          </a:xfrm>
          <a:prstGeom prst="rect">
            <a:avLst/>
          </a:prstGeom>
          <a:solidFill>
            <a:srgbClr val="F4F8FC"/>
          </a:solidFill>
          <a:ln w="6350">
            <a:solidFill>
              <a:srgbClr val="D0D8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596128" y="184708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Transaction volume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2542032"/>
            <a:ext cx="146304" cy="25603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779008" y="2505456"/>
            <a:ext cx="146304" cy="2926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961888" y="2578608"/>
            <a:ext cx="146304" cy="21945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144768" y="2523744"/>
            <a:ext cx="146304" cy="2743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327648" y="2560320"/>
            <a:ext cx="146304" cy="2377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510528" y="2542032"/>
            <a:ext cx="146304" cy="25603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693408" y="2487168"/>
            <a:ext cx="146304" cy="3108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876288" y="2596896"/>
            <a:ext cx="146304" cy="20116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7059168" y="2523744"/>
            <a:ext cx="146304" cy="2743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7242048" y="2542032"/>
            <a:ext cx="146304" cy="25603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424928" y="2578608"/>
            <a:ext cx="146304" cy="21945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7607808" y="2505456"/>
            <a:ext cx="146304" cy="2926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7790688" y="2560320"/>
            <a:ext cx="146304" cy="2377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7973568" y="2048256"/>
            <a:ext cx="146304" cy="749808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7936992" y="184708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6404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596128" y="2816352"/>
            <a:ext cx="3026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weeks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504688" y="3090672"/>
            <a:ext cx="3209544" cy="676656"/>
          </a:xfrm>
          <a:prstGeom prst="rect">
            <a:avLst/>
          </a:prstGeom>
          <a:solidFill>
            <a:srgbClr val="FEF2F2"/>
          </a:solidFill>
          <a:ln w="1016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5504688" y="3090672"/>
            <a:ext cx="64008" cy="676656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5614416" y="3127248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6404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⚠ FLAGGED — Wire Transfer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614416" y="3364992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2A2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$9,800 · Intl wire · 23:47 · Anomaly score: 0.94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504688" y="37307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Customer avg wire (monthly)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7534656" y="3730752"/>
            <a:ext cx="1179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$850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504688" y="39867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Deviation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534656" y="3986784"/>
            <a:ext cx="1179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3.8σ above avg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504688" y="424281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 threshold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7534656" y="4242816"/>
            <a:ext cx="1179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0.75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Model Taxonomy — Six Core Problem Types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86384"/>
            <a:ext cx="8503920" cy="21945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78638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 type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246120" y="78638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question it answers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669280" y="78638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example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0040" y="1042416"/>
            <a:ext cx="8503920" cy="603504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" y="1042416"/>
            <a:ext cx="2788920" cy="6035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8912" y="115214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50976" y="1133856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Classification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127248" y="1133856"/>
            <a:ext cx="13716" cy="420624"/>
          </a:xfrm>
          <a:prstGeom prst="rect">
            <a:avLst/>
          </a:prstGeom>
          <a:solidFill>
            <a:srgbClr val="D8D4CC"/>
          </a:solidFill>
          <a:ln w="1270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46120" y="1133856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it / Will it happen?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596128" y="1133856"/>
            <a:ext cx="13716" cy="420624"/>
          </a:xfrm>
          <a:prstGeom prst="rect">
            <a:avLst/>
          </a:prstGeom>
          <a:solidFill>
            <a:srgbClr val="D8D4CC"/>
          </a:solidFill>
          <a:ln w="1270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87568" y="1097280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Churn, fraud, loan default, AML suspicious activity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1650492"/>
            <a:ext cx="8503920" cy="603504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1650492"/>
            <a:ext cx="2788920" cy="603504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38912" y="17602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50976" y="1741932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Regression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127248" y="1741932"/>
            <a:ext cx="13716" cy="420624"/>
          </a:xfrm>
          <a:prstGeom prst="rect">
            <a:avLst/>
          </a:prstGeom>
          <a:solidFill>
            <a:srgbClr val="D8D4CC"/>
          </a:solidFill>
          <a:ln w="1270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46120" y="1741932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much? How many? When?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596128" y="1741932"/>
            <a:ext cx="13716" cy="420624"/>
          </a:xfrm>
          <a:prstGeom prst="rect">
            <a:avLst/>
          </a:prstGeom>
          <a:solidFill>
            <a:srgbClr val="D8D4CC"/>
          </a:solidFill>
          <a:ln w="1270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87568" y="1705356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Customer LTV, balance forecast, days-to-attrition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2258568"/>
            <a:ext cx="8503920" cy="603504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2258568"/>
            <a:ext cx="2788920" cy="603504"/>
          </a:xfrm>
          <a:prstGeom prst="rect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38912" y="236829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50976" y="2350008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Clustering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127248" y="2350008"/>
            <a:ext cx="13716" cy="420624"/>
          </a:xfrm>
          <a:prstGeom prst="rect">
            <a:avLst/>
          </a:prstGeom>
          <a:solidFill>
            <a:srgbClr val="D8D4CC"/>
          </a:solidFill>
          <a:ln w="1270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46120" y="2350008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are my natural groups?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596128" y="2350008"/>
            <a:ext cx="13716" cy="420624"/>
          </a:xfrm>
          <a:prstGeom prst="rect">
            <a:avLst/>
          </a:prstGeom>
          <a:solidFill>
            <a:srgbClr val="D8D4CC"/>
          </a:solidFill>
          <a:ln w="1270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687568" y="2313432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Behavioral microsegments: dormant, digital-only, rate-sensitive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" y="2866644"/>
            <a:ext cx="8503920" cy="603504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20040" y="2866644"/>
            <a:ext cx="2788920" cy="603504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38912" y="29763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50976" y="2958084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Anomaly Detection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127248" y="2958084"/>
            <a:ext cx="13716" cy="420624"/>
          </a:xfrm>
          <a:prstGeom prst="rect">
            <a:avLst/>
          </a:prstGeom>
          <a:solidFill>
            <a:srgbClr val="D8D4CC"/>
          </a:solidFill>
          <a:ln w="1270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246120" y="2958084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looks abnormal here?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596128" y="2958084"/>
            <a:ext cx="13716" cy="420624"/>
          </a:xfrm>
          <a:prstGeom prst="rect">
            <a:avLst/>
          </a:prstGeom>
          <a:solidFill>
            <a:srgbClr val="D8D4CC"/>
          </a:solidFill>
          <a:ln w="1270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687568" y="2921508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BSA structuring, unusual wire activity, card fraud rings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0040" y="3474720"/>
            <a:ext cx="8503920" cy="603504"/>
          </a:xfrm>
          <a:prstGeom prst="rect">
            <a:avLst/>
          </a:prstGeom>
          <a:solidFill>
            <a:srgbClr val="F7F6F2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20040" y="3474720"/>
            <a:ext cx="2788920" cy="6035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38912" y="358444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50976" y="3566160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Ranking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127248" y="3566160"/>
            <a:ext cx="13716" cy="420624"/>
          </a:xfrm>
          <a:prstGeom prst="rect">
            <a:avLst/>
          </a:prstGeom>
          <a:solidFill>
            <a:srgbClr val="D8D4CC"/>
          </a:solidFill>
          <a:ln w="1270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246120" y="3566160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What’s the priority order?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596128" y="3566160"/>
            <a:ext cx="13716" cy="420624"/>
          </a:xfrm>
          <a:prstGeom prst="rect">
            <a:avLst/>
          </a:prstGeom>
          <a:solidFill>
            <a:srgbClr val="D8D4CC"/>
          </a:solidFill>
          <a:ln w="1270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687568" y="3529584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Sort retention queue by P(churn) × LTV — call highest risk first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20040" y="4082796"/>
            <a:ext cx="8503920" cy="603504"/>
          </a:xfrm>
          <a:prstGeom prst="rect">
            <a:avLst/>
          </a:prstGeom>
          <a:solidFill>
            <a:srgbClr val="FEFDF8"/>
          </a:solidFill>
          <a:ln w="5080">
            <a:solidFill>
              <a:srgbClr val="E4E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320040" y="4082796"/>
            <a:ext cx="2788920" cy="603504"/>
          </a:xfrm>
          <a:prstGeom prst="rect">
            <a:avLst/>
          </a:prstGeom>
          <a:solidFill>
            <a:srgbClr val="5B7EC9"/>
          </a:solidFill>
          <a:ln w="12700">
            <a:solidFill>
              <a:srgbClr val="5B7E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438912" y="419252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950976" y="4174236"/>
            <a:ext cx="20482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Recommendation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3127248" y="4174236"/>
            <a:ext cx="13716" cy="420624"/>
          </a:xfrm>
          <a:prstGeom prst="rect">
            <a:avLst/>
          </a:prstGeom>
          <a:solidFill>
            <a:srgbClr val="D8D4CC"/>
          </a:solidFill>
          <a:ln w="1270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3246120" y="4174236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should we offer next?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596128" y="4174236"/>
            <a:ext cx="13716" cy="420624"/>
          </a:xfrm>
          <a:prstGeom prst="rect">
            <a:avLst/>
          </a:prstGeom>
          <a:solidFill>
            <a:srgbClr val="D8D4CC"/>
          </a:solidFill>
          <a:ln w="12700">
            <a:solidFill>
              <a:srgbClr val="D8D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5687568" y="4137660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5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Next-best-offer: HYSA promo, fee reversal, or banker call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case study: Classification (churn in next 30 days) → Ranking (who to call first) → Recommendation (which offer to make). Three types, one pipeline.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Classification — Is This Customer Going to Churn?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53035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64008" cy="40690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does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35331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Assigns each customer a probability (0–1) of belonging to a class — churned or retained, fraud or legitimate, default or performing.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331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examples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7432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Churn prediction (our case study)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306324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Fraud detection on card transactions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33832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Loan default / credit risk scoring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7033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AML / BSA suspicious activity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06440" y="777240"/>
            <a:ext cx="30175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806440" y="777240"/>
            <a:ext cx="64008" cy="406908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61888" y="91440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Output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61888" y="1298448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P(churn) = 0.78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961888" y="18836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metrics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961888" y="228600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AUC-ROC — ranking quality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61888" y="2532888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PR-AUC — imbalance-aware summary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61888" y="277977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Precision / Recall curve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61888" y="3026664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Calibration (reliability)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61888" y="327355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Lift @ K% — campaign ROI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61888" y="352044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KS Statistic — separation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61888" y="3767328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Brier Score — prob. accuracy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61888" y="401421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F1 / F-beta — imbalanced data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61888" y="4261104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Log Loss — confidence penalty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Calibration — Does P(churn) = 0.78 Really Mean 78%?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43891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64008" cy="40690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411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calibrated model is honest: when it says P(churn) = 0.70, roughly 70 % of customers with that score actually churn. Miscalibration means the number looks precise but is systematically wrong.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13969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it matters in banking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50545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Threshold math breaks — break-even at p &gt; 6.25% assumes honest probabilities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28437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Cost-benefit curves shift if scores are systematically high or low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318211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SR 11-7 model validation requires documented probability reliability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35478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recalibrate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9136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Platt scaling — logistic regression on raw scores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920" y="4206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Isotonic regression — non-parametric, more flexible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00600" y="777240"/>
            <a:ext cx="402336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800600" y="777240"/>
            <a:ext cx="64008" cy="40690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376672" y="1097280"/>
            <a:ext cx="22860" cy="335584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394960" y="4434840"/>
            <a:ext cx="329184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13248" y="359313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742432" y="359313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071616" y="359313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400800" y="359313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729984" y="359313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059168" y="359313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388352" y="359313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717536" y="359313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046720" y="359313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375904" y="359313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413248" y="275874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742432" y="275874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071616" y="275874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400800" y="275874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729984" y="275874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059168" y="275874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388352" y="275874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717536" y="275874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046720" y="275874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8375904" y="275874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413248" y="192435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742432" y="192435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071616" y="192435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400800" y="192435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729984" y="192435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7059168" y="192435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7388352" y="192435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7717536" y="192435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8046720" y="192435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8375904" y="1924355"/>
            <a:ext cx="292608" cy="14630"/>
          </a:xfrm>
          <a:prstGeom prst="rect">
            <a:avLst/>
          </a:prstGeom>
          <a:solidFill>
            <a:srgbClr val="E0E8F0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5376672" y="4421124"/>
            <a:ext cx="73152" cy="274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705856" y="4087368"/>
            <a:ext cx="73152" cy="274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035040" y="3753612"/>
            <a:ext cx="73152" cy="274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364224" y="3419856"/>
            <a:ext cx="73152" cy="274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693408" y="3086100"/>
            <a:ext cx="73152" cy="274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022592" y="2752344"/>
            <a:ext cx="73152" cy="274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351776" y="2418588"/>
            <a:ext cx="73152" cy="274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680960" y="2084832"/>
            <a:ext cx="73152" cy="274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8010144" y="1751076"/>
            <a:ext cx="73152" cy="274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8339328" y="1417320"/>
            <a:ext cx="73152" cy="274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668512" y="1083564"/>
            <a:ext cx="73152" cy="274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417820" y="4301338"/>
            <a:ext cx="283464" cy="133502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5747004" y="4101084"/>
            <a:ext cx="283464" cy="333756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6076188" y="3867455"/>
            <a:ext cx="283464" cy="567385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6405372" y="3567074"/>
            <a:ext cx="283464" cy="867766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6734556" y="3199943"/>
            <a:ext cx="283464" cy="1234897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7063740" y="2832811"/>
            <a:ext cx="283464" cy="1602029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7392924" y="2499055"/>
            <a:ext cx="283464" cy="1935785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7722108" y="2232050"/>
            <a:ext cx="283464" cy="220279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051292" y="1965046"/>
            <a:ext cx="283464" cy="2469794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8380476" y="1631290"/>
            <a:ext cx="283464" cy="280355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5490972" y="4199382"/>
            <a:ext cx="137160" cy="137160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5820156" y="3865626"/>
            <a:ext cx="137160" cy="137160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6149340" y="3531870"/>
            <a:ext cx="137160" cy="137160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6478524" y="3198114"/>
            <a:ext cx="137160" cy="137160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6807708" y="2864358"/>
            <a:ext cx="137160" cy="137160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7136892" y="2530602"/>
            <a:ext cx="137160" cy="137160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7466076" y="2196846"/>
            <a:ext cx="137160" cy="137160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7795260" y="1863090"/>
            <a:ext cx="137160" cy="137160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8124444" y="1529334"/>
            <a:ext cx="137160" cy="137160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8453628" y="1228954"/>
            <a:ext cx="137160" cy="137160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5029200" y="432511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5029200" y="2665476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5029200" y="996696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5394960" y="447141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0.0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8458200" y="447141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5394960" y="469087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Predicted probability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 rot="16200000">
            <a:off x="4818888" y="1371600"/>
            <a:ext cx="2743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Actual churn rate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5486400" y="4462272"/>
            <a:ext cx="201168" cy="146304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5724144" y="4443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Uncalibrated (overconfident)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5486400" y="4663440"/>
            <a:ext cx="128016" cy="128016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5660136" y="46451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isotonic calibration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7552944" y="4462272"/>
            <a:ext cx="320040" cy="640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7909560" y="4443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Perfect calibration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Prediction / Estimation — How Much, How Many, When?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53035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64008" cy="406908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does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35331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Outputs a continuous number — a dollar amount, a date, a count — rather than a category. Sometimes called regression.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331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examples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7432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Customer lifetime value (LTV)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306324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Deposit balance 90-day forecast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33832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Next transaction amount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7033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Time-to-close estimate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06440" y="777240"/>
            <a:ext cx="3017520" cy="40690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61888" y="914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Output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961888" y="137160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LTV = $4,820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61888" y="2148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metrics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61888" y="228600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RMSE / MAE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61888" y="250545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R² (explained variance)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61888" y="272491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MAPE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61888" y="294436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RMSSE — scale-invariant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961888" y="316382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Huber Loss — robust to outliers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961888" y="338328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Tweedie Deviance — zero-inflated targets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61888" y="360273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Quantile Loss (Pinball) — P10/P50/P90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961888" y="382219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CRPS — distributional forecast accuracy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961888" y="404164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NLL — probabilistic NN training loss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61888" y="426110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MDA — directional accuracy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61888" y="448056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Residual distribution / calibration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 / Segment — Who Are My Natural Customer Groups?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53035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64008" cy="406908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does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35331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Groups customers by similarity — with no predefined labels. The model discovers natural patterns in behavior, balances, and product usage.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examples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7004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Digital-First Savers — high mobile, DD active, low branch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5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Transactors — high debit velocity, low balance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336499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At-Risk Dormant — low engagement, high NSFs, no DD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Mature Relationships — multi-product, long tenure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06440" y="777240"/>
            <a:ext cx="3017520" cy="406908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61888" y="914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Output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961888" y="1353312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 3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(At-Risk Dormant)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961888" y="2231136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metrics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61888" y="26517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EE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Silhouette Score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61888" y="29992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EE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Davies-Bouldin Index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61888" y="334670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EE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Calinski-Harabasz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61888" y="369417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EE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Elbow / WCSS curve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61888" y="40416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0EE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Gower Distance (mixed types)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Unsupervised — no label needed. Common algorithms: k-Means, DBSCAN, Hierarchical, Gaussian Mixture Models.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Anomaly Detection — What Looks Suspicious?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53035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64008" cy="4069080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6404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does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353312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Learns what 'normal' looks like, then flags deviations — no pre-labeled anomalies required. Useful when fraud or rare events can't be fully enumerated.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17627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6404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Common methods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25603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Autoencoder — neural net learns to reconstruct; high error = anomaly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90779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Isolation Forest — trees isolate outliers in fewer splits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255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One-Class SVM — boundary around 'normal' in feature space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60273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Statistical z-score — simple, fast, interpretable baseline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95020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examples:  Card fraud  |  AML structuring  |  BSA alerts  |  Login anomalies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06440" y="777240"/>
            <a:ext cx="3017520" cy="4069080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61888" y="914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Output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61888" y="1353312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Anomaly score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= 0.92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61888" y="210312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D0C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(threshold: 0.75)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61888" y="25146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metrics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61888" y="294436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D0C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Reconstruction error (MSE)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61888" y="3273552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D0C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AUROC (if labels available)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61888" y="360273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D0C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Precision@K anomalies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61888" y="39319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D0C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F1 / False positive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61888" y="426110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D0C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Contamination rate tuning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 / Recommend — What Should I Show This Customer Next?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5303520" cy="40690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does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35331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Scores and ranks items for each customer — personalized product recommendations, targeted offers, or next-best-action sequences.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331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examples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27432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Next-best-offer (savings, CD, loan)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06324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Card rewards personalization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33832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Financial wellness content ranking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37033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Advisor outreach prioritization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806440" y="777240"/>
            <a:ext cx="30175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806440" y="777240"/>
            <a:ext cx="64008" cy="40690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61888" y="91440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Output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961888" y="131673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#1  HYSA  92%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61888" y="168249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#2  Auto Loan  71%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61888" y="204825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#3  CD Ladder  58%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61888" y="248716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metrics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61888" y="2871216"/>
            <a:ext cx="2697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NDCG — position-weighted ranking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61888" y="3072384"/>
            <a:ext cx="2697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MAP — mean avg. precision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61888" y="3273552"/>
            <a:ext cx="2697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MRR — rank of first relevant item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61888" y="3474720"/>
            <a:ext cx="2697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Precision@K / Recall@K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61888" y="3675888"/>
            <a:ext cx="2697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CTR — click-through rate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61888" y="3877056"/>
            <a:ext cx="2697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Conversion / acceptance rate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61888" y="4078224"/>
            <a:ext cx="2697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Revenue uplift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61888" y="4279392"/>
            <a:ext cx="2697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Incremental lift (A/B vs. control)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61888" y="4480560"/>
            <a:ext cx="2697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Coverage — % of catalog surfaced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61888" y="4681728"/>
            <a:ext cx="2697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Novelty — items not already owned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Learning Methods — The High-Level Picture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2075688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64008" cy="333756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69264" y="960120"/>
            <a:ext cx="777240" cy="7772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828800"/>
            <a:ext cx="189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Supervised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2505456"/>
            <a:ext cx="1892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Learns from labeled examples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944368"/>
            <a:ext cx="189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Classification, Regression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provide the answer key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487168" y="804672"/>
            <a:ext cx="2075688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487168" y="804672"/>
            <a:ext cx="64008" cy="333756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136392" y="960120"/>
            <a:ext cx="777240" cy="777240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78608" y="1828800"/>
            <a:ext cx="189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Unsupervised /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Semi-Supervised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78608" y="2505456"/>
            <a:ext cx="1892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labels — or only a few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78608" y="2944368"/>
            <a:ext cx="189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Clustering, Anomaly Detection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Semi: small labeled + large unlabeled set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54296" y="804672"/>
            <a:ext cx="2075688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54296" y="804672"/>
            <a:ext cx="64008" cy="333756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303520" y="960120"/>
            <a:ext cx="777240" cy="777240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45736" y="1828800"/>
            <a:ext cx="189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Self-Supervised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45736" y="2505456"/>
            <a:ext cx="1892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Creates its own training signal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45736" y="2944368"/>
            <a:ext cx="189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Pre-training, Transfer Learning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Foundation models (LLMs)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21424" y="804672"/>
            <a:ext cx="2075688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821424" y="804672"/>
            <a:ext cx="64008" cy="333756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70648" y="960120"/>
            <a:ext cx="777240" cy="777240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912864" y="1828800"/>
            <a:ext cx="189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Reinforcement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12864" y="2505456"/>
            <a:ext cx="1892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Learns from rewards over time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912864" y="2944368"/>
            <a:ext cx="189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Pricing, offer sequencing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 learns by trial/error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4251960"/>
            <a:ext cx="8503920" cy="7040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2920" y="430682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Boosted Trees (XGBoost / LightGBM / CatBoost)   —   Neural Networks &amp; Transformers   —   Linear / Logistic Models   —   Kernel Methods (SVM)   —   Distance-based (k-NN)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2920" y="46268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8C4D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Probabilistic (Naive Bayes / Bayesian Networks)   —   Autoencoders   —   Isolation Forest   —   Gaussian Mixture Models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vs. ML — Better Together, Not Interchangeable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39319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64008" cy="40690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Structured ML Models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CatBoost · XGBoost · LightGBM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Tabular data — the kind banks actually have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31343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Calibrated probabilities (0.78, not 'high')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752344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Handles millions of rows fast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319125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Auditable via SHAP / feature importance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6301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Consistent, reproducible predictions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434840" y="804672"/>
            <a:ext cx="39319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434840" y="804672"/>
            <a:ext cx="64008" cy="406908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617720" y="960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Generative AI / LLMs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17720" y="144475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GPT-4 · Claude · Gemini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17720" y="187452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Explain model outputs in plain English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617720" y="231343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Generate banker-readable risk narratives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617720" y="2752344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Surface patterns from unstructured text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319125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Answer ad-hoc questions about the model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17720" y="36301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Write intervention recommendations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233672" y="804672"/>
            <a:ext cx="219456" cy="406908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60520" y="25603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=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handles precision at scale. AI handles communication and nuance. Neither alone is the full solution.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Classical ML First — Especially in Banking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605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64008" cy="40690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classical ML wins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481328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Tabular data — rows and columns are what banks have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956816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Calibrated probabilities: P(churn)=0.78 is actionable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432304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Explainability: ECOA and Fair Lending require it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907792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Model risk management (SR 11-7) demands audit trails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338328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Low latency: score millions of customers in seconds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858768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Reproducibility: same input = same output, always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63440" y="804672"/>
            <a:ext cx="41605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63440" y="804672"/>
            <a:ext cx="64008" cy="406908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9601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GenAI adds value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46320" y="1481328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Translating ML output into plain-English narratives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846320" y="1956816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Answering ad-hoc questions about model decisions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46320" y="2432304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Summarizing SHAP explanations for non-technical users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46320" y="2907792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Processing notes, calls, emails — unstructured signals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846320" y="338328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Drafting intervention messages personalized by risk tier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453128" y="804672"/>
            <a:ext cx="237744" cy="406908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this talk: ML handles the precision. GenAI handles the communication. You'll see both in the notebook.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618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65760" y="192024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Banking Churn Case Study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2971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raw data to explainable predictions — live notebook walkthrough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Problem: Why Churn Prediction Matters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7432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64008" cy="256032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29768" y="11430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5–9×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29768" y="202996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expensive to acquire a new customer than retain 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3127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Bain &amp; Company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7432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46120" y="914400"/>
            <a:ext cx="64008" cy="25603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55848" y="11430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8–15%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355848" y="202996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 churn rate at a typical retail bank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3127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Bain / Accenture banking surveys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72200" y="914400"/>
            <a:ext cx="274320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72200" y="914400"/>
            <a:ext cx="64008" cy="2560320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81928" y="11430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D6404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$200–500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281928" y="2029968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approx. annual net revenue per retail checking customer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81928" y="3127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FDIC call report data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657600"/>
            <a:ext cx="8503920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" y="3657600"/>
            <a:ext cx="64008" cy="1207008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749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Goal: Build a model that identifies at-risk customers 90 days before they leave —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giving the retention team time to intervene with a targeted offer.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618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36576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Mystery Customer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Will they close their account in the next 90 days?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65760" y="1645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Tenure: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0" y="16459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months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331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86000" y="2331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Daily Balance: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86000" y="3017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$1,240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DD Count (30d):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3703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1645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 Logins (30d):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0" y="16459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2331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Days Since Last Login: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6634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NSF Events (12m):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3017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 Waiver Requests: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0" y="3703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5760" y="46177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We'll return to this customer at the end of the case study with a full explanation.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 — Banking Features That Actually Matter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85039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64008" cy="71323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4632" y="89611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DD Velocity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23160" y="896112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dd_count_30d, dd_amount_30d, days_since_last_dd, dd_velocity_ratio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720840" y="89611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Is this their primary bank?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1581912"/>
            <a:ext cx="85039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581912"/>
            <a:ext cx="64008" cy="713232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" y="170078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 Engagement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23160" y="1700784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digital_login_30d, mobile_login_30d, days_since_last_login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720840" y="1700784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Are they actively using the bank?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386584"/>
            <a:ext cx="85039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86584"/>
            <a:ext cx="64008" cy="713232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" y="250545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Balance Patterns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423160" y="2505456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avg_daily_balance, balance_volatility, min_balance_30d, overdraft_count_12m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720840" y="2505456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Financial health signals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3191256"/>
            <a:ext cx="85039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" y="3191256"/>
            <a:ext cx="64008" cy="7132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" y="331012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Products &amp; Relationship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423160" y="331012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product_count, tenure_months, has_savings, has_loan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720840" y="3310128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Depth of relationship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995928"/>
            <a:ext cx="85039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995928"/>
            <a:ext cx="64008" cy="713232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" y="41148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6404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Service Friction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423160" y="411480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nsf_count_12m, fee_waiver_req_12m, cust_service_calls_6m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720840" y="411480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Dissatisfaction signals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6,000 synthetic customers with realistic feature distributions. Churn label: account closure or full dormancy within 90 days.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Labeling — Getting the Definition Right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85039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64008" cy="137160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Definition:  Customer closed account OR had zero transactions AND zero digital logins for 90+ days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Look-forward window: 90 days from observation snapshot date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233172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Common Pitfalls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" y="2816352"/>
            <a:ext cx="41605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2816352"/>
            <a:ext cx="64008" cy="91440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" y="29077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Label Leakage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" y="329184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computed AFTER the churn event pollute training. e.g. 'balance at close' isn't knowable at prediction time.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816352"/>
            <a:ext cx="41605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09160" y="2816352"/>
            <a:ext cx="64008" cy="91440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73752" y="29077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Look-Back Contamination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73752" y="329184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 windows that overlap the look-forward window introduce future signal into training features.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840480"/>
            <a:ext cx="41605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3840480"/>
            <a:ext cx="64008" cy="91440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" y="39319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 Imbalance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" y="431596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Typical churn: 8–15%. A model predicting 'nobody churns' is 87% accurate — and useless. Use precision-recall, not accuracy.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09160" y="3840480"/>
            <a:ext cx="416052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709160" y="3840480"/>
            <a:ext cx="64008" cy="91440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73752" y="39319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Survivorship Bias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73752" y="431596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Exclude already-churned customers from the observation set — their features are post-churn, not pre-churn.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Exploratory Data Analysis — Key Findings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85039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64008" cy="841248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4632" y="96012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3–4×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74520" y="987552"/>
            <a:ext cx="6812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Higher churn rate in customers with no primary direct deposit vs. DD-active customers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1755648"/>
            <a:ext cx="85039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0040" y="1755648"/>
            <a:ext cx="64008" cy="84124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" y="1911096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874520" y="1938528"/>
            <a:ext cx="6812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 logins/month is the inflection point below which churn risk spikes sharply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" y="2706624"/>
            <a:ext cx="85039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2706624"/>
            <a:ext cx="64008" cy="841248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" y="2862072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−18%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874520" y="2889504"/>
            <a:ext cx="6812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additional product reduces churn probability by ~18 percentage points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3657600"/>
            <a:ext cx="85039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3657600"/>
            <a:ext cx="64008" cy="841248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" y="3813048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D6404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2.3×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874520" y="3840480"/>
            <a:ext cx="6812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Customers with 3+ NSF events in 12 months churn at 2.3× the base rate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EDA shapes feature engineering and informs which model types to prioritize. Never skip it.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Partitioning by Date — Not Randomly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850392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64008" cy="20116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most common mistake in banking ML: random train/test splits.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38988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Customer behavior changes over time. A random split lets the model 'see' future customers during training — inflating performance metrics that collapse in production.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20040" y="3017520"/>
            <a:ext cx="4389120" cy="11887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31546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367588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 2022 – Mar 2023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3017520"/>
            <a:ext cx="2103120" cy="118872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31546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46320" y="36758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 – Jun 2023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903720" y="3017520"/>
            <a:ext cx="1691640" cy="118872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995160" y="31546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95160" y="367588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– Sep 2023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0040" y="4315968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↑  Model only sees past data  |  Future is always held out  ↑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 Engineering — Raw Counts → Meaningful Signals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85039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64008" cy="71323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4632" y="8778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dd_velocity_ratio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71800" y="89611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6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from:  dd_count_30d ÷ 90d monthly avg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87782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DD activity trending down? Declining ratio = early warning of primary bank shift.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572768"/>
            <a:ext cx="85039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572768"/>
            <a:ext cx="64008" cy="713232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" y="164592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digital_engagement_score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71800" y="166420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6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from:  digital_login_30d + days_since_last_login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60720" y="1645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Composite 0–100 score — frequency (60%) + recency (40%). Drops before churn.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" y="2340864"/>
            <a:ext cx="85039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40864"/>
            <a:ext cx="64008" cy="713232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" y="241401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balance_stress_index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71800" y="243230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6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from:  balance_volatility + overdraft_cnt + nsf_cnt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60720" y="2414016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Combined financial stress signal. Predicts friction before it triggers a call.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" y="3108960"/>
            <a:ext cx="85039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" y="3108960"/>
            <a:ext cx="64008" cy="7132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" y="31821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relationship_depth_score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971800" y="3200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6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from:  product_count + tenure_months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760720" y="318211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embedded is this customer? High depth = significantly lower churn probability.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" y="3877056"/>
            <a:ext cx="85039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877056"/>
            <a:ext cx="64008" cy="713232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" y="39502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6404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friction_score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71800" y="396849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66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from:  fee_waiver_requests + cust_service_calls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60720" y="395020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Dissatisfaction proxy. Leading indicator of churn intent — often signals 30–60 days out.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Engineered features typically outperform raw counts — they capture behavior and trajectory, not just point-in-time events.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 Training — Automated Ensemble Leaderboard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5029200" cy="411480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AutoML ensemble training does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44475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Trains CatBoost, XGBoost, LightGBM, Neural Net, Random Forest — all at once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956816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Validates each on your held-out validation set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468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Stacks and ensembles the best performers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980944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Returns a ranked leaderboard — no guesswork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3493008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Best model wins; you explain it with SHAP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532120" y="777240"/>
            <a:ext cx="32918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532120" y="777240"/>
            <a:ext cx="64008" cy="41148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15000" y="9144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Leaderboard (AUC)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715000" y="1389888"/>
            <a:ext cx="2926080" cy="402336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779008" y="142646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WeightedEnsemble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142646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0.891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779008" y="190195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CatBoost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0" y="19019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0.883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779008" y="23774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LightGBM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0" y="23774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0.879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779008" y="28529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XGBoost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0" y="28529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0.871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779008" y="332841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RandomForest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0" y="332841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0.852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779008" y="38039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NeuralNet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0" y="380390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0.834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time_limit=120s for demo. Production runs: 600–3600s for best quality.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618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single evaluation metric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always misleading.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210312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need ML metrics to understand model quality.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 need business metrics to understand model value.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Neither alone is sufficient.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3520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model with 95% accuracy on a 95/5 class split is useless.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AUC-ROC of 0.92 on clean test data may collapse to 0.67 in production after drift.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Evaluation — Four Metrics, Four Different Questions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6052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64008" cy="18745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326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AUC-ROC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20" y="1399032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well does the model rank customers?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9019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Always compute. Best single-number summary for class-imbalanced data.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6052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9160" y="804672"/>
            <a:ext cx="64008" cy="187452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9326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Precision-Recall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92040" y="1399032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we predict churn, how often are we right?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92040" y="19019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Critical when false positives are costly (wasted offer budget).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816352"/>
            <a:ext cx="416052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816352"/>
            <a:ext cx="64008" cy="187452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29443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Calibration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2920" y="3410712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Does P(churn)=0.8 actually mean 80% churn?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391363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Essential if probability scores drive dollar-value decisions.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816352"/>
            <a:ext cx="416052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2816352"/>
            <a:ext cx="64008" cy="18745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29443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Lift @ Top K%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892040" y="3410712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much better than random if we target the riskiest 10%?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92040" y="391363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business metric translation — connects ML to campaign ROI.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Business Metrics — Translating ML into Dollars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850392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64008" cy="137160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84124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Assumptions: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828800" y="841248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customer value = $1,200/yr   |   retention offer cost = $75   |   test set: 1,200 customers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Targeting the top 10% riskiest customers → ~84% precision → captures $120K+ revenue at risk for only $9K in offer cost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2240280"/>
            <a:ext cx="155448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74904" y="2240280"/>
            <a:ext cx="1444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Group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74520" y="2240280"/>
            <a:ext cx="18288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929384" y="2240280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703320" y="2240280"/>
            <a:ext cx="201168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758184" y="2240280"/>
            <a:ext cx="1901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Revenue at Risk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0" y="2240280"/>
            <a:ext cx="155448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769864" y="2240280"/>
            <a:ext cx="14447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Offer Cost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269480" y="2240280"/>
            <a:ext cx="173736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24344" y="2240280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Benefit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" y="2715768"/>
            <a:ext cx="1554480" cy="438912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74904" y="27157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5%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874520" y="2715768"/>
            <a:ext cx="1828800" cy="438912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929384" y="271576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91% precision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703320" y="2715768"/>
            <a:ext cx="2011680" cy="438912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758184" y="2715768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$66,000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715000" y="2715768"/>
            <a:ext cx="1554480" cy="438912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769864" y="27157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$4,125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269480" y="2715768"/>
            <a:ext cx="1737360" cy="438912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324344" y="271576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66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$61,875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0040" y="3172968"/>
            <a:ext cx="1554480" cy="438912"/>
          </a:xfrm>
          <a:prstGeom prst="rect">
            <a:avLst/>
          </a:prstGeom>
          <a:solidFill>
            <a:srgbClr val="E8F8F2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74904" y="31729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10%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874520" y="3172968"/>
            <a:ext cx="1828800" cy="438912"/>
          </a:xfrm>
          <a:prstGeom prst="rect">
            <a:avLst/>
          </a:prstGeom>
          <a:solidFill>
            <a:srgbClr val="E8F8F2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929384" y="317296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84% precision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703320" y="3172968"/>
            <a:ext cx="2011680" cy="438912"/>
          </a:xfrm>
          <a:prstGeom prst="rect">
            <a:avLst/>
          </a:prstGeom>
          <a:solidFill>
            <a:srgbClr val="E8F8F2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758184" y="3172968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$121,200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715000" y="3172968"/>
            <a:ext cx="1554480" cy="438912"/>
          </a:xfrm>
          <a:prstGeom prst="rect">
            <a:avLst/>
          </a:prstGeom>
          <a:solidFill>
            <a:srgbClr val="E8F8F2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769864" y="31729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$9,000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269480" y="3172968"/>
            <a:ext cx="1737360" cy="438912"/>
          </a:xfrm>
          <a:prstGeom prst="rect">
            <a:avLst/>
          </a:prstGeom>
          <a:solidFill>
            <a:srgbClr val="E8F8F2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324344" y="317296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66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$112,200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0040" y="3630168"/>
            <a:ext cx="1554480" cy="438912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74904" y="36301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20%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1874520" y="3630168"/>
            <a:ext cx="1828800" cy="438912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1929384" y="363016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72% precision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703320" y="3630168"/>
            <a:ext cx="2011680" cy="438912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758184" y="3630168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$207,600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715000" y="3630168"/>
            <a:ext cx="1554480" cy="438912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769864" y="36301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$18,000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7269480" y="3630168"/>
            <a:ext cx="1737360" cy="438912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324344" y="363016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66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$189,600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20040" y="4087368"/>
            <a:ext cx="15544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74904" y="40873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30%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1874520" y="4087368"/>
            <a:ext cx="1828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1929384" y="408736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61% precision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3703320" y="4087368"/>
            <a:ext cx="20116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3758184" y="4087368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$264,000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5715000" y="4087368"/>
            <a:ext cx="15544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769864" y="408736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$27,000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7269480" y="4087368"/>
            <a:ext cx="17373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7324344" y="408736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66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$237,000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Optimal decision threshold balances false positives (wasted offers) vs. false negatives (missed churners). Use the cost-benefit curve.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Optimal Threshold — Finding the Cost-Benefit Peak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4434840" cy="411480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break-even formula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a customer when: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737360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p(churn) &gt; offer_cost ÷ LTV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2286000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 our numbers:   75 ÷ 1,200  =  6.25%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2761488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Mathematically, target anyone predicted above 6.25% churn probability — that's far more than 10%.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47472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Practical constraints push the threshold higher: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82219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4D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Retention team capacity — finite outreach bandwidth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4078224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4D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False-positive fatigue — loyal customers learn to ask for discounts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4334256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4D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Fair lending defensibility — narrower targeting is more auditable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37760" y="777240"/>
            <a:ext cx="38862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937760" y="777240"/>
            <a:ext cx="64008" cy="411480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120640" y="91440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Marginal ROI by Tier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937760" y="1389888"/>
            <a:ext cx="804672" cy="38404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74336" y="138988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742432" y="1389888"/>
            <a:ext cx="1005840" cy="38404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779008" y="1389888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Marg. Spend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748272" y="1389888"/>
            <a:ext cx="1261872" cy="38404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784848" y="138988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Marg. Benefit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010144" y="1389888"/>
            <a:ext cx="713232" cy="38404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046720" y="138988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937760" y="1773936"/>
            <a:ext cx="804672" cy="402336"/>
          </a:xfrm>
          <a:prstGeom prst="rect">
            <a:avLst/>
          </a:prstGeom>
          <a:solidFill>
            <a:srgbClr val="FFF4E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74336" y="1773936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0–5%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42432" y="1773936"/>
            <a:ext cx="1005840" cy="402336"/>
          </a:xfrm>
          <a:prstGeom prst="rect">
            <a:avLst/>
          </a:prstGeom>
          <a:solidFill>
            <a:srgbClr val="FFF4E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779008" y="1773936"/>
            <a:ext cx="932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$4,125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748272" y="1773936"/>
            <a:ext cx="1261872" cy="402336"/>
          </a:xfrm>
          <a:prstGeom prst="rect">
            <a:avLst/>
          </a:prstGeom>
          <a:solidFill>
            <a:srgbClr val="FFF4E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784848" y="177393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$61,875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10144" y="1773936"/>
            <a:ext cx="713232" cy="402336"/>
          </a:xfrm>
          <a:prstGeom prst="rect">
            <a:avLst/>
          </a:prstGeom>
          <a:solidFill>
            <a:srgbClr val="FFF4E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046720" y="177393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15.0×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2194560"/>
            <a:ext cx="804672" cy="402336"/>
          </a:xfrm>
          <a:prstGeom prst="rect">
            <a:avLst/>
          </a:prstGeom>
          <a:solidFill>
            <a:srgbClr val="FFF4E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74336" y="219456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5–10%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742432" y="2194560"/>
            <a:ext cx="1005840" cy="402336"/>
          </a:xfrm>
          <a:prstGeom prst="rect">
            <a:avLst/>
          </a:prstGeom>
          <a:solidFill>
            <a:srgbClr val="FFF4E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779008" y="2194560"/>
            <a:ext cx="932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$4,875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748272" y="2194560"/>
            <a:ext cx="1261872" cy="402336"/>
          </a:xfrm>
          <a:prstGeom prst="rect">
            <a:avLst/>
          </a:prstGeom>
          <a:solidFill>
            <a:srgbClr val="FFF4E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784848" y="219456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$50,325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010144" y="2194560"/>
            <a:ext cx="713232" cy="402336"/>
          </a:xfrm>
          <a:prstGeom prst="rect">
            <a:avLst/>
          </a:prstGeom>
          <a:solidFill>
            <a:srgbClr val="FFF4E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046720" y="219456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10.3×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937760" y="2615184"/>
            <a:ext cx="804672" cy="402336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974336" y="2615184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10–20%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742432" y="2615184"/>
            <a:ext cx="1005840" cy="402336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779008" y="2615184"/>
            <a:ext cx="932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$9,000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748272" y="2615184"/>
            <a:ext cx="1261872" cy="402336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784848" y="261518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$77,400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010144" y="2615184"/>
            <a:ext cx="713232" cy="402336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8046720" y="261518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8.6×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937760" y="3035808"/>
            <a:ext cx="80467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974336" y="3035808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20–30%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742432" y="3035808"/>
            <a:ext cx="10058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5779008" y="3035808"/>
            <a:ext cx="932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$9,000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748272" y="3035808"/>
            <a:ext cx="126187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784848" y="303580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$47,400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8010144" y="3035808"/>
            <a:ext cx="71323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8046720" y="303580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5.3×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937760" y="3493008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 the tier where marginal ROI drops below your campaign hurdle rate.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937760" y="3968496"/>
            <a:ext cx="3886200" cy="82296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029200" y="4005072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Optimal = peak of the Net Benefit curve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Plot it before every campaign. It shifts with offer cost + LTV.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A/B test against a holdout group to measure true incremental lift vs. control — distinguish model lift from seasonal effects.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Global Explainability — SHAP Beeswarm Plot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5166360" cy="411480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← reduces churn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46120" y="107899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increases churn →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82112" y="1243584"/>
            <a:ext cx="36576" cy="3127248"/>
          </a:xfrm>
          <a:prstGeom prst="rect">
            <a:avLst/>
          </a:prstGeom>
          <a:solidFill>
            <a:srgbClr val="335577"/>
          </a:solidFill>
          <a:ln w="12700">
            <a:solidFill>
              <a:srgbClr val="33557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435608"/>
            <a:ext cx="4709160" cy="9144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344168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8C4D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days_since_last_dd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59836" y="1339596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70148" y="1284732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32988" y="1403604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80460" y="1303020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195828" y="1385316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90188" y="1348740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1911096"/>
            <a:ext cx="4709160" cy="9144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181965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8C4D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digital_engagement_score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619756" y="1815084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400300" y="1760220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66060" y="1879092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35708" y="1778508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528316" y="1860804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857500" y="1824228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" y="2386584"/>
            <a:ext cx="4709160" cy="9144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2295144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8C4D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dd_count_30d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619756" y="2290572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400300" y="2235708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66060" y="2354580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235708" y="2253996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528316" y="2336292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857500" y="2299716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57200" y="2862072"/>
            <a:ext cx="4709160" cy="9144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" y="277063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8C4D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friction_score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59836" y="2766060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470148" y="2711196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332988" y="2830068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680460" y="2729484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195828" y="2811780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790188" y="2775204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57200" y="3337560"/>
            <a:ext cx="4709160" cy="9144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57200" y="324612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8C4D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balance_stress_index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59836" y="3241548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3470148" y="3186684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332988" y="3305556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680460" y="3204972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195828" y="3287268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790188" y="3250692"/>
            <a:ext cx="100584" cy="100584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57200" y="3813048"/>
            <a:ext cx="4709160" cy="9144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57200" y="3721608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8C4D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relationship_depth_score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619756" y="3717036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2400300" y="3662172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2766060" y="3781044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2235708" y="3680460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2528316" y="3762756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2857500" y="3726180"/>
            <a:ext cx="100584" cy="100584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02920" y="440740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799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Warm dots = high feature value   |   Cool dots = low feature value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577840" y="777240"/>
            <a:ext cx="324612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577840" y="777240"/>
            <a:ext cx="64008" cy="41148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742432" y="914400"/>
            <a:ext cx="290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Churn Drivers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5742432" y="138988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days_since_last_dd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229600" y="1389888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5742432" y="1865376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digital_engagement_score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229600" y="1865376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1700" dirty="0"/>
          </a:p>
        </p:txBody>
      </p:sp>
      <p:sp>
        <p:nvSpPr>
          <p:cNvPr id="64" name="Text 62"/>
          <p:cNvSpPr/>
          <p:nvPr/>
        </p:nvSpPr>
        <p:spPr>
          <a:xfrm>
            <a:off x="5742432" y="2340864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dd_count_30d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229600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1700" dirty="0"/>
          </a:p>
        </p:txBody>
      </p:sp>
      <p:sp>
        <p:nvSpPr>
          <p:cNvPr id="66" name="Text 64"/>
          <p:cNvSpPr/>
          <p:nvPr/>
        </p:nvSpPr>
        <p:spPr>
          <a:xfrm>
            <a:off x="5742432" y="2816352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friction_score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229600" y="2816352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</a:t>
            </a:r>
            <a:endParaRPr lang="en-US" sz="1700" dirty="0"/>
          </a:p>
        </p:txBody>
      </p:sp>
      <p:sp>
        <p:nvSpPr>
          <p:cNvPr id="68" name="Text 66"/>
          <p:cNvSpPr/>
          <p:nvPr/>
        </p:nvSpPr>
        <p:spPr>
          <a:xfrm>
            <a:off x="5742432" y="3291840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balance_stress_index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229600" y="329184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</a:t>
            </a:r>
            <a:endParaRPr lang="en-US" sz="1700" dirty="0"/>
          </a:p>
        </p:txBody>
      </p:sp>
      <p:sp>
        <p:nvSpPr>
          <p:cNvPr id="70" name="Text 68"/>
          <p:cNvSpPr/>
          <p:nvPr/>
        </p:nvSpPr>
        <p:spPr>
          <a:xfrm>
            <a:off x="5742432" y="376732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relationship_depth_score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8229600" y="3767328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1700" dirty="0"/>
          </a:p>
        </p:txBody>
      </p:sp>
      <p:sp>
        <p:nvSpPr>
          <p:cNvPr id="72" name="Text 70"/>
          <p:cNvSpPr/>
          <p:nvPr/>
        </p:nvSpPr>
        <p:spPr>
          <a:xfrm>
            <a:off x="5742432" y="44988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increases   |   ▼ decreases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TreeSHAP — exact, not approximate. O(TLD) time complexity on tree ensembles. Much faster than KernelSHAP for tabular data.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SHAP — Two Levels of Explainability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41605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64008" cy="406908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896112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Global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24358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does the model score customers the way it does?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Beeswarm plot — one dot per customer, shows distribution of SHAP values for every feature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3774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Mean |SHAP| bar chart — overall feature importance ranking across the entire dataset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9718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Identifies which features consistently drive churn vs. retention across all customers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56616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Used by model developers and risk managers to validate that model logic makes business sense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297680"/>
            <a:ext cx="1463040" cy="27432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4297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customers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777240"/>
            <a:ext cx="41605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663440" y="777240"/>
            <a:ext cx="64008" cy="406908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0" y="896112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46320" y="124358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did this specific customer get a score of 0.78?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178308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Waterfall plot — shows how each feature pushed one customer above or below the baseline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23774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"days_since_dd=18" added +0.31 — "product_count=2" subtracted −0.09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29718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Banker-readable narrative generated directly from these SHAP values by the LLM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356616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Used by relationship managers and compliance to explain any individual model decision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46320" y="4297680"/>
            <a:ext cx="1463040" cy="274320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46320" y="4297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customer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TreeSHAP is exact and fast for tree-based models (CatBoost, XGBoost, LightGBM). pip install shap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618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Mystery Customer — Revealed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Predicted churn probability:  78%   —   HIGH RISK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157276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drove this prediction? (SHAP Waterfall)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21031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0" y="2103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SHAP contribution  (→ increases churn risk)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4871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days_since_last_dd = 18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0" y="2523744"/>
            <a:ext cx="2267712" cy="274320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28232" y="24871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+0.31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889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digital_login_30d = 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0" y="2926080"/>
            <a:ext cx="1755648" cy="274320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16168" y="28895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+0.24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291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dd_count_30d = 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0" y="3328416"/>
            <a:ext cx="1609344" cy="274320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769864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+0.22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6941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friction_score = 0.62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0" y="3730752"/>
            <a:ext cx="1316736" cy="274320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77256" y="36941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+0.18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40965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product_count = 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56432" y="4133088"/>
            <a:ext cx="658368" cy="27432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60520" y="4096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-0.09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" y="44988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tenure_months = 34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02736" y="4535424"/>
            <a:ext cx="512064" cy="27432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4498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-0.07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+ AI: Score → Drivers → Narrative → Action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1920240" cy="37673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64008" cy="376732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88136" y="896112"/>
            <a:ext cx="384048" cy="38404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88136" y="896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716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Score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4632" y="1828800"/>
            <a:ext cx="1591056" cy="18288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276856" y="2660904"/>
            <a:ext cx="91440" cy="54864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 rot="5400000">
            <a:off x="2350008" y="2606040"/>
            <a:ext cx="91440" cy="164592"/>
          </a:xfrm>
          <a:prstGeom prst="rtTriangl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04872" y="804672"/>
            <a:ext cx="1920240" cy="37673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404872" y="804672"/>
            <a:ext cx="64008" cy="3767328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172968" y="896112"/>
            <a:ext cx="384048" cy="384048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172968" y="896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496312" y="13716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SHAP Drivers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569464" y="1828800"/>
            <a:ext cx="1591056" cy="18288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361688" y="2660904"/>
            <a:ext cx="91440" cy="54864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 rot="5400000">
            <a:off x="4434840" y="2606040"/>
            <a:ext cx="91440" cy="164592"/>
          </a:xfrm>
          <a:prstGeom prst="rtTriangl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489704" y="804672"/>
            <a:ext cx="1920240" cy="37673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489704" y="804672"/>
            <a:ext cx="64008" cy="3767328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257800" y="896112"/>
            <a:ext cx="384048" cy="384048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257800" y="896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81144" y="13716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Narrative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54296" y="1828800"/>
            <a:ext cx="1591056" cy="18288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446520" y="2660904"/>
            <a:ext cx="91440" cy="54864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 rot="5400000">
            <a:off x="6519672" y="2606040"/>
            <a:ext cx="91440" cy="164592"/>
          </a:xfrm>
          <a:prstGeom prst="rtTriangl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574536" y="804672"/>
            <a:ext cx="1920240" cy="37673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574536" y="804672"/>
            <a:ext cx="64008" cy="376732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342632" y="896112"/>
            <a:ext cx="384048" cy="38404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342632" y="896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65976" y="13716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Action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739128" y="1828800"/>
            <a:ext cx="1591056" cy="18288"/>
          </a:xfrm>
          <a:prstGeom prst="rect">
            <a:avLst/>
          </a:prstGeom>
          <a:solidFill>
            <a:srgbClr val="D0DCE8"/>
          </a:solidFill>
          <a:ln w="1270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48056" y="192024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P(churn)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48056" y="2212848"/>
            <a:ext cx="16642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0.78</a:t>
            </a:r>
            <a:endParaRPr lang="en-US" sz="4000" dirty="0"/>
          </a:p>
        </p:txBody>
      </p:sp>
      <p:sp>
        <p:nvSpPr>
          <p:cNvPr id="36" name="Shape 34"/>
          <p:cNvSpPr/>
          <p:nvPr/>
        </p:nvSpPr>
        <p:spPr>
          <a:xfrm>
            <a:off x="521208" y="2889504"/>
            <a:ext cx="1517904" cy="301752"/>
          </a:xfrm>
          <a:prstGeom prst="rect">
            <a:avLst/>
          </a:prstGeom>
          <a:solidFill>
            <a:srgbClr val="D64045"/>
          </a:solidFill>
          <a:ln w="12700">
            <a:solidFill>
              <a:srgbClr val="D640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21208" y="2889504"/>
            <a:ext cx="15179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HIGH RISK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8056" y="3291840"/>
            <a:ext cx="1664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CatBoost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WeightedEnsemble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 = 0.883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532888" y="1901952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days_since_dd = 18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532888" y="2084832"/>
            <a:ext cx="1488643" cy="164592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048963" y="208483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+0.31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2532888" y="232257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digital_logins = 2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532888" y="2505456"/>
            <a:ext cx="1152498" cy="164592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712818" y="2505456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+0.24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2532888" y="27432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dd_count_30d = 0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532888" y="2926080"/>
            <a:ext cx="1056456" cy="164592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616776" y="292608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+0.22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532888" y="3163824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friction = 0.62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532888" y="3346704"/>
            <a:ext cx="864373" cy="164592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424693" y="3346704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+0.18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2532888" y="358444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product_cnt = 2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532888" y="3767328"/>
            <a:ext cx="432187" cy="164592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992507" y="376732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−0.09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617720" y="1947672"/>
            <a:ext cx="1719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“No DD activity in 18 days — primary bank shift likely. Only 2 logins and 2 fee requests signal both dormancy and friction. High churn risk.”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4617720" y="3803904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 by LLM</a:t>
            </a:r>
            <a:endParaRPr lang="en-US" sz="950" dirty="0"/>
          </a:p>
          <a:p>
            <a:pPr marL="0" indent="0" algn="ctr">
              <a:buNone/>
            </a:pPr>
            <a:r>
              <a:rPr lang="en-US" sz="9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SHAP values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customer features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656832" y="1901952"/>
            <a:ext cx="1764792" cy="356616"/>
          </a:xfrm>
          <a:prstGeom prst="rect">
            <a:avLst/>
          </a:prstGeom>
          <a:solidFill>
            <a:srgbClr val="E8F8F2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6702552" y="1920240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#1  HYSA promo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037576" y="192024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91%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656832" y="2295144"/>
            <a:ext cx="1764792" cy="356616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702552" y="231343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#2  Fee reversal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037576" y="23134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78%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656832" y="2688336"/>
            <a:ext cx="1764792" cy="356616"/>
          </a:xfrm>
          <a:prstGeom prst="rect">
            <a:avLst/>
          </a:prstGeom>
          <a:solidFill>
            <a:srgbClr val="FEFDF8"/>
          </a:solidFill>
          <a:ln w="6350">
            <a:solidFill>
              <a:srgbClr val="C8DD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702552" y="2706624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#3  Banker call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037576" y="2706624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656832" y="3182112"/>
            <a:ext cx="1764792" cy="7132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6702552" y="3209544"/>
            <a:ext cx="1719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is also ML —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 / Recommend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702552" y="398678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Trained on past</a:t>
            </a:r>
            <a:endParaRPr lang="en-US" sz="950" dirty="0"/>
          </a:p>
          <a:p>
            <a:pPr marL="0" indent="0" algn="ctr">
              <a:buNone/>
            </a:pPr>
            <a:r>
              <a:rPr lang="en-US" sz="95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intervention outcomes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loop: Classification → SHAP explainer → LLM narrative → Rank/Recommend intervention.  ML + AI + ML.  Each stage is its own model.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Lessons Learned — What We'd Do Differently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8503920" cy="8503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64008" cy="850392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4632" y="92354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34440" y="91440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 with the label, not the algorithm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335024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spent weeks on model selection before realizing our churn definition was leaking. Fix your label first.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0040" y="1755648"/>
            <a:ext cx="8503920" cy="8503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755648"/>
            <a:ext cx="64008" cy="8503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34440" y="186537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Evaluation is a product decision, not a metric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228600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AUC-ROC told us we had a good model. Lift @ 10% told us whether it was worth deploying.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0040" y="2706624"/>
            <a:ext cx="8503920" cy="8503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706624"/>
            <a:ext cx="64008" cy="850392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" y="282549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34440" y="28163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 engineering beats model complexity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236976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dd_velocity_ratio outperformed raw DD counts by a wider margin than switching from XGBoost to ensemble.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20040" y="3657600"/>
            <a:ext cx="8503920" cy="8503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" y="3657600"/>
            <a:ext cx="64008" cy="8503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" y="37764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34440" y="376732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18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Explainability isn't optional in banking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34440" y="4187952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Regulators, compliance, and bankers all need to understand why. SHAP makes that possible.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618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 Data science is about decisions, not algorithms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49047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method matters less than the question you're answering and the label you're predicting.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96596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 ML models beat AI on structured prediction tasks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40487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Tabular banking data belongs to gradient-boosted tree ensembles — not LLMs. Use AI to explain, not predict.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88036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 One metric is never enough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331927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AUC-ROC + Precision-Recall + Calibration + Lift @ K% + Business cost-benefit — all tell different parts of the story.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379476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  Explainability is your competitive advantage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423367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SHAP turns a black-box score into an actionable banker narrative. That's what closes the loop from model to revenue.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618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9144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Questions?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914400" y="230428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Science for Banking  —  Jack Henry Associates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926080" y="2852928"/>
            <a:ext cx="3291840" cy="2743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99923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RESOURCES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Notebook  </a:t>
            </a: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 churn_demo.ipynb  +  churn_utils.py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7307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SHAP  </a:t>
            </a: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 shap.readthedocs.io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0416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churn_utils.py  </a:t>
            </a:r>
            <a:r>
              <a:rPr lang="en-US" sz="13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 github.com/mikeames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40E3A"/>
          </a:solidFill>
          <a:ln w="12700">
            <a:solidFill>
              <a:srgbClr val="040E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459028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Mike Ames   ·   github.com/mikeames   ·   michael.ames@gmail.com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618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" y="475488"/>
            <a:ext cx="1508760" cy="310896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47548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8412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 11-7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11480" y="224028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 Risk Management Guidance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11480" y="2834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Federal Reserve Board  ·  Office of the Comptroller of the Currency  ·  April 2011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3273552"/>
            <a:ext cx="7772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governing standard for how banks must develop, validate, and monitor any quantitative model used in decision-making.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40E3A"/>
          </a:solidFill>
          <a:ln w="12700">
            <a:solidFill>
              <a:srgbClr val="040E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46634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material — not required for the main talk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 11-7 — What It Requires and What Goes in the Report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416052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64008" cy="406908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Three Pillars of Model Risk Management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74320" cy="27432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41248" y="13716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85CE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 Development &amp; Implementation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" y="168249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Conceptual soundness — theory and assumptions documented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192024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Data quality review — lineage, gaps, proxies disclosed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215798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Testing — in-sample, out-of-time, sensitivity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239572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Intended use explicitly defined and bounded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743200"/>
            <a:ext cx="274320" cy="274320"/>
          </a:xfrm>
          <a:prstGeom prst="ellipse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2743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" y="27432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 Validation (Independent)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305409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Separate team — no developer involvement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Conceptual challenge — alternative approaches considered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41248" y="352958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Backtesting + benchmarking against simpler models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" y="376732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Written findings, ratings, and required remediations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4114800"/>
            <a:ext cx="274320" cy="274320"/>
          </a:xfrm>
          <a:prstGeom prst="ellipse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1248" y="41148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Ongoing Monitoring &amp; Governance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41248" y="442569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Performance tracking on live data (PSI, KS, AUC drift)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41248" y="466344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Model inventory — every model registered and owned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1248" y="490118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Periodic re-validation (typically annual or on trigger)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41248" y="513892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 MRM committee sign-off before deployment changes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17720" y="777240"/>
            <a:ext cx="4206240" cy="40690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73168" y="91440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Belongs in a Model Validation Report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73168" y="138988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50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IDENTITY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91456" y="1636776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937760" y="1591056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 name, ID, owner, business line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91456" y="1837944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37760" y="1792224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Intended use and population in scope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773168" y="204825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50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DEVELOPMENT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791456" y="2295144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37760" y="2249424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Conceptual framework and literature basis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91456" y="2496312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937760" y="2450592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 data: source, date range, exclusions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791456" y="2697480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937760" y="2651760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 engineering decisions and rationale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91456" y="2898648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937760" y="2852928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Algorithm selection — alternatives considered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773168" y="310896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50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791456" y="3355848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937760" y="3310128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AUC-ROC, PR-AUC, KS, Calibration, Brier Score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791456" y="3557016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937760" y="3511296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In-time vs. out-of-time holdout results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791456" y="3758184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937760" y="3712464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Lift @ K% and business cost-benefit validation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791456" y="3959352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937760" y="3913632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Sensitivity / stress tests on key assumptions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773168" y="416966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50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RISK &amp; LIMITS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791456" y="4416552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937760" y="4370832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Known limitations and compensating controls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791456" y="4617720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937760" y="4572000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Population Stability Index (PSI) thresholds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791456" y="4818888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937760" y="4773168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ECOA / Fair Lending disparate impact analysis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791456" y="5020056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937760" y="4974336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Re-validation trigger conditions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4773168" y="523036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50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GOVERNANCE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791456" y="5477256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4937760" y="5431536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Validation team independence attestation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791456" y="5678424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4937760" y="5632704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findings, severity ratings, remediation plan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4791456" y="5879592"/>
            <a:ext cx="91440" cy="91440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4937760" y="5833872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7F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Approval signatures — MRM committee + LOD2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 11-7 applies to any model used to inform a “material business decision.” A churn model driving retention spend qualifies. OCC 2011-12 is the parallel OCC guidance.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E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 11-7 Applied — How Our Churn Model Satisfies Each Requirement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64008" cy="694944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0" y="987552"/>
            <a:ext cx="1097280" cy="310896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0" y="9875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Strong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877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Conceptual soundness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06040" y="87782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Temporal train / validation / test split prevents leakage. Features derived from behavioral theory (recency, frequency, friction). Gradient boosting chosen over logistic regression with documented performance rationale.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1572768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" y="1572768"/>
            <a:ext cx="64008" cy="694944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498080" y="1755648"/>
            <a:ext cx="1097280" cy="310896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498080" y="17556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Strong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645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quality &amp; lineage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06040" y="16459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churn_utils.py logs source tables, date ranges, and row counts. dd_velocity_ratio and digital_engagement_score definitions are version-controlled. Missing value treatment and proxy disclosure in notebook.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340864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340864"/>
            <a:ext cx="64008" cy="694944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498080" y="2523744"/>
            <a:ext cx="1097280" cy="310896"/>
          </a:xfrm>
          <a:prstGeom prst="rect">
            <a:avLst/>
          </a:prstGeom>
          <a:solidFill>
            <a:srgbClr val="009E7A"/>
          </a:solidFill>
          <a:ln w="12700">
            <a:solidFill>
              <a:srgbClr val="009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49808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Strong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" y="24140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E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Performance documentation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06040" y="2414016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AUC-ROC 0.883, PR-AUC, KS, Calibration curve, Lift @ 10%, Brier Score all computed and logged. Out-of-time holdout (last 3 months of data held back) mirrors live deployment conditions.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3108960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3108960"/>
            <a:ext cx="64008" cy="694944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98080" y="3291840"/>
            <a:ext cx="1097280" cy="310896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0" y="32918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31821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Explainability &amp; fair lending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606040" y="318211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SHAP TreeExplainer provides per-prediction attribution (global beeswarm + local waterfall). Disparate impact analysis across protected classes is required before deployment — run cu.fair_lending_check().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877056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8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20040" y="3877056"/>
            <a:ext cx="64008" cy="694944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498080" y="4059936"/>
            <a:ext cx="1097280" cy="310896"/>
          </a:xfrm>
          <a:prstGeom prst="rect">
            <a:avLst/>
          </a:prstGeom>
          <a:solidFill>
            <a:srgbClr val="F4872B"/>
          </a:solidFill>
          <a:ln w="12700">
            <a:solidFill>
              <a:srgbClr val="F487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498080" y="40599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395020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872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Ongoing monitoring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06040" y="39502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PSI and KS tracked monthly. Re-train triggers: PSI &gt; 0.20 or AUC drop &gt; 5 pts. Model inventory entry, business owner, and scheduled annual re-validation should be formalized before production.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75A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cu.fair_lending_check() stub exists in churn_utils.py — implement before any production deployment. Document findings in the model validation report.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6112</Words>
  <Application>Microsoft Macintosh PowerPoint</Application>
  <PresentationFormat>On-screen Show (16:9)</PresentationFormat>
  <Paragraphs>1016</Paragraphs>
  <Slides>53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Science for Banking — Jack Henry Associates</dc:title>
  <dc:subject>PptxGenJS Presentation</dc:subject>
  <dc:creator>Mike Ames</dc:creator>
  <cp:lastModifiedBy>Adam Ames</cp:lastModifiedBy>
  <cp:revision>3</cp:revision>
  <dcterms:created xsi:type="dcterms:W3CDTF">2026-04-14T19:55:33Z</dcterms:created>
  <dcterms:modified xsi:type="dcterms:W3CDTF">2026-04-15T02:32:46Z</dcterms:modified>
</cp:coreProperties>
</file>