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Banking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things with analytics. Driving decisions with data.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Associates  |  Data Science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1430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25880" y="9966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Data Science?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1490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the DS loop, types of questions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8503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67128"/>
            <a:ext cx="64008" cy="11430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25880" y="22951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Types &amp; Learning Methods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prediction, clustering, anomaly, recommend + AI vs. 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465576"/>
            <a:ext cx="8503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65576"/>
            <a:ext cx="64008" cy="11430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0273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325880" y="3593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Churn Case Study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Label → Explore → Partition → Engineer → Train → Evaluate → Explain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minutes  |  Questions welcome throughout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Data Science?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things with analytics — driving decisions with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Problem in Banking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32004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5–9×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banking customer than to retain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64008" cy="3200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data banks collect is ever analyzed or acted upon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64008" cy="32004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expect companies to understand their unique needs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Connected Customer Report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 is the bridge between raw data and decisions that matter.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explaining things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analytics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driving decisions with data.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magic. Not a replacement for domain expertise. A tool for better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Science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64008" cy="32004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252728"/>
            <a:ext cx="777240" cy="7772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252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store,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31720" y="2651760"/>
            <a:ext cx="68580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2606040" y="10515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51560"/>
            <a:ext cx="64008" cy="32004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252728"/>
            <a:ext cx="777240" cy="77724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252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15768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15768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model,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2651760"/>
            <a:ext cx="68580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4800600" y="10515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51560"/>
            <a:ext cx="64008" cy="3200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67528" y="1252728"/>
            <a:ext cx="777240" cy="777240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1252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0328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10328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automate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2651760"/>
            <a:ext cx="68580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6995160" y="10515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051560"/>
            <a:ext cx="64008" cy="3200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1252728"/>
            <a:ext cx="777240" cy="77724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1252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04888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04888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learn,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never stops — each outcome feeds the next iteration of understanding.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Types of Questions Data Science Answers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828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Churn rate last quarter by segment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64008" cy="18288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it happen?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Which features correlate with churn?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88920"/>
            <a:ext cx="64008" cy="18288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happen?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Which customers will churn next 90 days?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88920"/>
            <a:ext cx="64008" cy="1828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we do?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3886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Which retention offer has the best ROI?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are strong on descriptive; value explodes when you reach predictive + prescriptive.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Data Science Having Its Moment Now?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828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Explosion of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systems, digital channels, and third-party feeds produce more structured data than ever before.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64008" cy="1828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41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Cheap Compute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makes training complex models on millions of records routine and affordable.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64008" cy="1828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🔓  Open-Source Tooling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AutoGluon, CatBoost, XGBoost, SHAP — world-class ML is free. The moat is knowing how to use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88920"/>
            <a:ext cx="64008" cy="18288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 Banking Is Behind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industries automated decisions years ago. Banking is still rich with opportunity — and pressure from fintechs.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Data Science Is NOT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Business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BI describes the past. DS predicts the future and recommends actions.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66544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66544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579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or a black box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Modern explainability (SHAP) makes model logic transparent and auditable.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32841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328416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198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domain 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Domain expertise shapes the question, the features, and the label. The model amplifies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04672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961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big tech companies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316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Community banks and credit unions are running churn models today with open-source tools.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066544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66544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579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578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Models drift. Data changes. DS is a continuous feedback loop, not a deliverable.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32841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328416"/>
            <a:ext cx="64008" cy="11704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198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always means a better model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 quality beats quantity. Clean, relevant, well-labeled data outperforms 10× more noise.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Types &amp; Learning Methods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classification to recommendation — and when to use each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Taxonomy — Five Core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749808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969264"/>
            <a:ext cx="457200" cy="45720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509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950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/ Will it?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97880" y="9509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 detection, loan default, AML alerts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64208"/>
            <a:ext cx="64008" cy="74980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810512"/>
            <a:ext cx="457200" cy="45720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922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Prediction/Estimation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179222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/ When?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97880" y="17922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LTV, deposit balance forecast, time-to-close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05456"/>
            <a:ext cx="64008" cy="749808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2651760"/>
            <a:ext cx="457200" cy="457200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633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/ Segment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26334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my groups?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26334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microsegments, behavioral personas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46704"/>
            <a:ext cx="64008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3493008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474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11880" y="34747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looks wrong?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97880" y="3474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fraud, structuring patterns, BSA alerts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87952"/>
            <a:ext cx="64008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4334256"/>
            <a:ext cx="457200" cy="45720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/ Recommend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11880" y="43159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97880" y="4315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Next-best-offer, product cross-sell, advisor outreach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 study uses Classification — predicting which customers will churn in the next 90 days.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— Is This Customer Going to Churn?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customer a probability (0–1) of belonging to a class — churned or retained, fraud or legitimate, default or performing.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Churn prediction (our case study)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Fraud detection on card 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Loan default / credit risk scoring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AML / BSA suspicious activity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777240"/>
            <a:ext cx="3017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06440" y="777240"/>
            <a:ext cx="64008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914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61888" y="12984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P(churn) = 0.78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61888" y="18836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61888" y="22860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AUC-ROC — ranking quality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61888" y="25328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PR-AUC — imbalance-aware 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7797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Precision / Recall curve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61888" y="30266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Calibration (reliability)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61888" y="32735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Lift @ K% — campaign ROI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5204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KS Statistic — separation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1888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Brier Score — prob. accuracy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61888" y="4014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F1 / F-beta — imbalanced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42611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Log Loss — confidence penalty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— Does P(churn) = 0.78 Really Mean 78%?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model is honest: when it says P(churn) = 0.70, roughly 70% of customers with that score actually churn. Miscalibration means the number is real-looking but wrong.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in banking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054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Threshold math breaks — break-even at p &gt; 6.25% assumes honest probs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437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Cost-benefit curves shift if scores are systematically too high or 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SR 11-7 model validation requires documented probability reliability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recalibrate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Platt scaling — logistic regression on raw scores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Isotonic regression — non-parametric, more flexible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777240"/>
            <a:ext cx="3383280" cy="40690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4480560"/>
            <a:ext cx="2834640" cy="1828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1188720"/>
            <a:ext cx="18288" cy="33101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815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248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114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980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1413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8462" y="2825496"/>
            <a:ext cx="299466" cy="18288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79008" y="4348886"/>
            <a:ext cx="246888" cy="13167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2472" y="4151376"/>
            <a:ext cx="246888" cy="3291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3920947"/>
            <a:ext cx="246888" cy="559613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3624682"/>
            <a:ext cx="246888" cy="85587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2864" y="3262579"/>
            <a:ext cx="246888" cy="1217981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2900477"/>
            <a:ext cx="246888" cy="1580083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2571293"/>
            <a:ext cx="246888" cy="1909267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63256" y="2307946"/>
            <a:ext cx="246888" cy="217261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044598"/>
            <a:ext cx="246888" cy="243596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0184" y="1715414"/>
            <a:ext cx="246888" cy="276514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38444" y="4251960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1908" y="3922776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5372" y="3593592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88836" y="3264408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72300" y="2935224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55764" y="2606040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39228" y="2276856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22692" y="1947672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06156" y="1618488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89620" y="1289304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45354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45354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76672" y="43616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76672" y="27340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76672" y="10881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60720" y="47548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 rot="16200000">
            <a:off x="5458968" y="1188720"/>
            <a:ext cx="3108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churn rate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33872" y="1225296"/>
            <a:ext cx="201168" cy="14630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71616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(uncalibrated)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33872" y="1435608"/>
            <a:ext cx="128016" cy="128016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07608" y="1408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calibration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over-predicts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/ Estimation — How Much, How Many, When?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continuous number — a dollar amount, a date, a count — rather than a category. Sometimes called regression.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Customer lifetime value (LTV)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Deposit balance 90-day forecast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 transaction amount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Time-to-close estimate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777240"/>
            <a:ext cx="3017520" cy="40690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61888" y="13716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LTV = $4,820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61888" y="2148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61888" y="22860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RMSE / MAE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61888" y="25054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R² (explained variance)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61888" y="27249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61888" y="29443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RMSSE — scale-invariant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61888" y="31638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Huber Loss — robust to outliers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61888" y="33832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Tweedie Deviance — zero-inflated targets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61888" y="3602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Quantile Loss (Pinball) — P10/P50/P90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61888" y="38221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CRPS — distributional forecast accuracy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61888" y="40416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NLL — probabilistic NN training loss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61888" y="42611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MDA — directional accuracy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1888" y="4480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Residual distribution / calibration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/ Segment — Who Are My Natural Customer Groups?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customers by similarity — with no predefined labels. The model discovers natural patterns in behavior, balances, and product usage.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Digital-First Savers — high mobile, DD active, low branch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Transactors — high debit velocity, low balance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3649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At-Risk Dormant — low engagement, high NSFs, no 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Mature Relationships — multi-product, long tenure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777240"/>
            <a:ext cx="3017520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61888" y="135331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(At-Risk Dormant)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1888" y="22311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61888" y="26517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Silhouette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1888" y="29992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Davies-Bouldin 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61888" y="334670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Calinski-Harabasz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61888" y="369417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Elbow / WCSS curve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61888" y="40416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Gower Distance (mixed types)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no label needed. Common algorithms: k-Means, DBSCAN, Hierarchical, Gaussian Mixture Models.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— What Looks Suspicious?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'normal' looks like, then flags deviations — no pre-labeled anomalies required. Useful when fraud or rare events can't be fully enumerated.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methods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Autoencoder — neural net learns to reconstruct; high error = anomaly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Isolation Forest — trees isolate outliers in fewer splits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One-Class SVM — boundary around 'normal' in feature 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027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Statistical z-score — simple, fast, interpretable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examples:  Card fraud  |  AML structuring  |  BSA alerts  |  Login anomalies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777240"/>
            <a:ext cx="3017520" cy="4069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61888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61888" y="13533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score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61888" y="21031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(threshold: 0.75)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1888" y="25146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61888" y="29443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Reconstruction error (MSE)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61888" y="32735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AUROC (if labels available)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61888" y="3602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Precision@K anomalies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61888" y="3931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F1 / False positive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61888" y="42611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Contamination rate tuning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/ Recommend — What Should I Show This Customer Next?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690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items for each customer — personalized product recommendations, targeted offers, or next-best-action sequences.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examples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Next-best-offer (savings, CD, loan)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Card rewards personalization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Financial wellness content ranking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Advisor outreach prioritization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777240"/>
            <a:ext cx="3017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777240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914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61888" y="131673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HYSA  92%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1888" y="16824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Auto Loan  71%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1888" y="20482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CD Ladder  58%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61888" y="24871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61888" y="2871216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NDCG — position-weighted ranking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3072384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MAP — mean avg. precision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61888" y="3273552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MRR — rank of first relevant item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61888" y="3474720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Precision@K / Recall@K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675888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CTR — click-through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1888" y="3877056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Conversion / acceptance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61888" y="4078224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Revenue uplift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4279392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Incremental lift (A/B vs. control)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61888" y="4480560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Coverage — % of catalog surfaced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61888" y="4681728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Novelty — items not already owned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Methods — The High-Level Picture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7568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333756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960120"/>
            <a:ext cx="777240" cy="7772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054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443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the answer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804672"/>
            <a:ext cx="207568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804672"/>
            <a:ext cx="64008" cy="33375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960120"/>
            <a:ext cx="777240" cy="77724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82880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Semi-Supervised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25054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or only a few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9443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Anomaly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Semi: small labeled + large unlabeled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54296" y="804672"/>
            <a:ext cx="207568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804672"/>
            <a:ext cx="64008" cy="333756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960120"/>
            <a:ext cx="777240" cy="777240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82880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Self-Supervised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45736" y="25054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its own training signal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29443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Pre-training, Transfer Learning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(LLMs)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21424" y="804672"/>
            <a:ext cx="207568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804672"/>
            <a:ext cx="64008" cy="3337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0648" y="960120"/>
            <a:ext cx="777240" cy="77724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82880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12864" y="25054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rewards over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12864" y="29443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offer sequencing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trial/error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503920" cy="7040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06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 (XGBoost / LightGBM / CatBoost)   —   Neural Networks &amp; Transformers   —   Linear / Logistic Models   —   Kernel Methods (SVM)   —   Distance-based (k-NN)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4626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(Naive Bayes / Bayesian Networks)   —   Autoencoders   —   Isolation Forest   —   Gaussian Mixture Models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vs. ML — Better Together, Not Interchangeable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ML Models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XGBoost · AutoGluon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Tabular data — the kind banks actually have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Calibrated probabilities (0.78, not 'high')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7523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Handles millions of rows fast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912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Auditable via SHAP / feature importance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630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Consistent, reproducible predictions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804672"/>
            <a:ext cx="39319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804672"/>
            <a:ext cx="64008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/ LLMs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1444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· Claude · Gemini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1874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Explain model outputs in plain English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2313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Generate banker-readable risk narratives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7720" y="27523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Surface patterns from unstructured 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31912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Answer ad-hoc questions about the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3630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Write intervention recommendations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33672" y="804672"/>
            <a:ext cx="219456" cy="406908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handles precision at scale. AI handles communication and nuance. Neither alone is the full solution.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Classical ML First — Especially in Banking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classical ML wins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Tabular data — rows and columns are what banks have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Calibrated probabilities: P(churn)=0.78 is actionable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Explainability: ECOA and Fair Lending require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Model risk management (SR 11-7) demands audit trails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Low latency: score millions of customers in seconds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Reproducibility: same input = same output, always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804672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04672"/>
            <a:ext cx="64008" cy="40690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60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GenAI adds 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Translating ML output into plain-English narratives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Answering ad-hoc questions about model decisions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4323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Summarizing SHAP explanations for non-technical users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29077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Processing notes, calls, emails — unstructured signals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Drafting intervention messages personalized by risk tier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53128" y="804672"/>
            <a:ext cx="237744" cy="406908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talk: ML handles the precision. GenAI handles the communication. You'll see both in the notebook.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Churn Case Study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explainable predictions — live notebook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Churn Prediction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256032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5–9×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29768" y="2029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customer than retain 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64008" cy="256032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43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55848" y="2029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 at a typical retail bank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/ Accenture banking surveys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64008" cy="2560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143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$200–500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81928" y="2029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annual net revenue per retail checking customer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 call report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57600"/>
            <a:ext cx="64008" cy="120700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model that identifies at-risk customers 90 days before they leave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retention team time to intervene with a targeted offer.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Mystery Customer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they close their account in the next 90 days?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months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Balance: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Count (30d):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Logins (30d):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Login: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Events (12m):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Waiver Requests: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return to this customer at the end of the case study with a full explanation.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— Banking Features That Actually Matter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713232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96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 Velocity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8961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dd_count_30d, dd_amount_30d, days_since_last_dd, dd_velocity_ratio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20840" y="8961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 this their primary bank?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81912"/>
            <a:ext cx="64008" cy="71323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700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Engagement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700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digital_login_30d, mobile_login_30d, days_since_last_login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20840" y="17007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Are they actively using the bank?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38658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86584"/>
            <a:ext cx="64008" cy="7132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505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Patterns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250545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avg_daily_balance, balance_volatility, min_balance_30d, overdraft_count_12m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25054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Financial health signals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91256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91256"/>
            <a:ext cx="64008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310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&amp; Relationship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33101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product_count, tenure_months, has_savings, has_loan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3310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Depth of relationship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95928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Friction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3160" y="41148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nsf_count_12m, fee_waiver_req_12m, cust_service_calls_6m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20840" y="4114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Dissatisfaction signals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synthetic customers with realistic feature distributions. Churn label: account closure or full dormancy within 90 days.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Labeling — Getting the Definition Right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3716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Definition:  Customer closed account OR had zero transactions AND zero digital logins for 90+ days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Look-forward window: 90 days from observation snapshot 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816352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16352"/>
            <a:ext cx="64008" cy="914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Leakage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291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computed AFTER the churn event pollute training. e.g. 'balance at close' isn't knowable at prediction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816352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816352"/>
            <a:ext cx="64008" cy="914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Look-Back Contamination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3291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windows that overlap the look-forward window introduce future signal into training features.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40480"/>
            <a:ext cx="64008" cy="914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4315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churn: 8–15%. A model predicting 'nobody churns' is 87% accurate — and useless. Use precision-recall, not accuracy.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8404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840480"/>
            <a:ext cx="64008" cy="9144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4315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already-churned customers from the observation set — their features are post-churn, not pre-churn.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841248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60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987552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churn rate in customers with no primary direct deposit vs. DD-active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55648"/>
            <a:ext cx="64008" cy="841248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91109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193852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logins/month is the inflection point below which churn risk spikes sharply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06624"/>
            <a:ext cx="64008" cy="84124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8620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74520" y="2889504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product reduces churn probability by ~18 percentage points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57600"/>
            <a:ext cx="64008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813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74520" y="384048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3+ NSF events in 12 months churn at 2.3× the base 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shapes feature engineering and informs which model types to prioritize. Never skip it.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Partitioning by Date — Not Randomly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20116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common mistake in banking ML: random train/test splits.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changes over time. A random split lets the model 'see' future customers during training — inflating performance metrics that collapse in production.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4389120" cy="118872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54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6758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Mar 2023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2103120" cy="11887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Jun 2023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3017520"/>
            <a:ext cx="1691640" cy="118872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36758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Sep 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Model only sees past data  |  Future is always held out  ↑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— Raw Counts → Meaningful Signals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713232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778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dd_velocity_ratio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896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dd_count_30d ÷ 90d monthly avg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87782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DD activity trending down? Declining ratio = early warning of primary bank shift.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64008" cy="71323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45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digital_engagement_score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digital_login_30d + days_since_last_login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645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score — frequency (60%) + recency (40%). Drops before churn.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40864"/>
            <a:ext cx="64008" cy="71323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balance_stress_index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24323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balance_volatility + overdraft_cnt + nsf_cnt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4140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financial stress signal. Predicts friction before it triggers a call.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64008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relationship_depth_score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718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product_count + tenure_months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1821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embedded is this customer? High depth = significantly lower churn probability.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877056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77056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950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friction_score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71800" y="39684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fee_waiver_requests + cust_service_calls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95020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proxy. Leading indicator of churn intent — often signals 30–60 days out.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typically outperform raw counts — they capture behavior and trajectory, not just point-in-time events.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— AutoGluon Leaderboard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4114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AutoGluon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Trains CatBoost, XGBoost, LightGBM, Neural Net, Random Forest — all at once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Validates each on your held-out validation 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Stacks and ensembles the best performers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8094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Returns a ranked leaderboard — no guesswork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Best model wins; you explain it with SHAP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777240"/>
            <a:ext cx="32918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32120" y="777240"/>
            <a:ext cx="64008" cy="4114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(AUC)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389888"/>
            <a:ext cx="2926080" cy="40233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4264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WeightedEnsemble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14264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79008" y="19019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1901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79008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79008" y="28529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79008" y="3328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328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79008" y="38039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NeuralNet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38039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time_limit=120s for demo. Production runs: 600–3600s for best quality.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F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evaluation metric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always misleading.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ML metrics to understand model quality.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business metrics to understand model value.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alone is sufficient.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95% accuracy on a 95/5 class split is useless.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of 0.92 on clean test data may collapse to 0.67 in production after drift.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Evaluation — Four Metrics, Four Different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87452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model rank customers?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compute. Best single-number summary for class-imbalanced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" cy="18745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32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Precision-Recall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13990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predict churn, how often are we right?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9019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when false positives are costly (wasted offer budget).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16352"/>
            <a:ext cx="64008" cy="187452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44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34107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P(churn)=0.8 actually mean 80% churn?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if probability scores drive dollar-value decisions.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1635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16352"/>
            <a:ext cx="64008" cy="18745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44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@ Top K%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92040" y="34107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 than random if we target the riskiest 10%?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metric translation — connects ML to campaign ROI.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Metrics — Translating ML into Dollars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3716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8412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value = $1,200/yr   |   retention offer cost = $75   |   test set: 1,200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the top 10% riskiest customers → ~84% precision → captures $120K+ revenue at risk for only $9K in offer cost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155448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2240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2240280"/>
            <a:ext cx="182880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224028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03320" y="2240280"/>
            <a:ext cx="201168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224028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2240280"/>
            <a:ext cx="155448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240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2240280"/>
            <a:ext cx="17373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22402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715768"/>
            <a:ext cx="15544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7157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74520" y="2715768"/>
            <a:ext cx="182880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9384" y="27157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precision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03320" y="2715768"/>
            <a:ext cx="20116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27157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2715768"/>
            <a:ext cx="15544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27157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$4,125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2715768"/>
            <a:ext cx="173736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27157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$61,875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172968"/>
            <a:ext cx="1554480" cy="438912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1729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74520" y="3172968"/>
            <a:ext cx="1828800" cy="438912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9384" y="31729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precision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03320" y="3172968"/>
            <a:ext cx="2011680" cy="438912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8184" y="31729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$121,200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715000" y="3172968"/>
            <a:ext cx="1554480" cy="438912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9864" y="31729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69480" y="3172968"/>
            <a:ext cx="1737360" cy="438912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24344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$112,200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" y="3630168"/>
            <a:ext cx="15544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" y="36301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874520" y="3630168"/>
            <a:ext cx="182880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9384" y="36301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precision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703320" y="3630168"/>
            <a:ext cx="20116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58184" y="36301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$207,600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715000" y="3630168"/>
            <a:ext cx="155448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9864" y="36301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269480" y="3630168"/>
            <a:ext cx="1737360" cy="438912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24344" y="36301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$189,600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20040" y="408736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" y="40873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1874520" y="4087368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9384" y="40873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precision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703320" y="408736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58184" y="40873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$264,000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15000" y="408736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9864" y="40873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$27,000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269480" y="4087368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24344" y="40873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$237,000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decision threshold balances false positives (wasted offers) vs. false negatives (missed churners). Use the cost-benefit curve.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Threshold — Finding the Cost-Benefit Peak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434840" cy="4114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break-even formula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customer when: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p(churn) &gt; offer_cost ÷ LTV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numbers:   75 ÷ 1,200  =  6.25%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Mathematically, target anyone predicted above 6.25% churn probability — that's far more than 10%.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constraints push the threshold higher: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221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Retention team capacity — finite outreach bandwidth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False-positive fatigue — loyal customers learn to ask for discounts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342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Fair lending defensibility — narrower targeting is more auditable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777240"/>
            <a:ext cx="3886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777240"/>
            <a:ext cx="64008" cy="4114800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914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ROI by Tier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1389888"/>
            <a:ext cx="804672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389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42432" y="1389888"/>
            <a:ext cx="100584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1389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Marg. Spend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48272" y="1389888"/>
            <a:ext cx="1261872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Marg. Benefit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10144" y="1389888"/>
            <a:ext cx="713232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389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1773936"/>
            <a:ext cx="80467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177393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42432" y="1773936"/>
            <a:ext cx="1005840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773936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48272" y="1773936"/>
            <a:ext cx="126187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17739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$61,875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10144" y="1773936"/>
            <a:ext cx="71323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77393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2194560"/>
            <a:ext cx="80467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1945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42432" y="2194560"/>
            <a:ext cx="1005840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219456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$4,875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48272" y="2194560"/>
            <a:ext cx="126187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2194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$50,325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10144" y="2194560"/>
            <a:ext cx="713232" cy="402336"/>
          </a:xfrm>
          <a:prstGeom prst="rect">
            <a:avLst/>
          </a:prstGeom>
          <a:solidFill>
            <a:srgbClr val="FFF4E8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21945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10.3×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2615184"/>
            <a:ext cx="804672" cy="40233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26151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42432" y="2615184"/>
            <a:ext cx="1005840" cy="40233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2615184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48272" y="2615184"/>
            <a:ext cx="1261872" cy="40233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6151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$77,400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10144" y="2615184"/>
            <a:ext cx="713232" cy="40233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261518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37760" y="3035808"/>
            <a:ext cx="8046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74336" y="30358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742432" y="3035808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79008" y="303580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748272" y="3035808"/>
            <a:ext cx="12618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3035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$47,400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010144" y="3035808"/>
            <a:ext cx="7132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30358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4930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tier where marginal ROI drops below your campaign hurdle rate.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937760" y="3968496"/>
            <a:ext cx="3886200" cy="8229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40050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= peak of the Net Benefit curve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 before every campaign. It shifts with offer cost + LTV.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against a holdout group to measure true incremental lift vs. control — distinguish model lift from seasonal effects.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Explainability — SHAP Beeswarm Plot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166360" cy="4114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reduces churn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6120" y="1078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churn 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82112" y="1243584"/>
            <a:ext cx="36576" cy="3127248"/>
          </a:xfrm>
          <a:prstGeom prst="rect">
            <a:avLst/>
          </a:prstGeom>
          <a:solidFill>
            <a:srgbClr val="335577"/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35608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days_since_last_dd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9836" y="1339596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0148" y="1284732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2988" y="1403604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0460" y="1303020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5828" y="1385316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0188" y="1348740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11096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196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digital_engagement_score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19756" y="1815084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0300" y="1760220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6060" y="1879092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5708" y="1778508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8316" y="1860804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57500" y="1824228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386584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951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dd_count_30d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19756" y="2290572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00300" y="2235708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66060" y="2354580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35708" y="2253996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8316" y="2336292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57500" y="2299716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862072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7706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friction_score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9836" y="2766060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0148" y="2711196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2988" y="2830068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80460" y="2729484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95828" y="2811780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0188" y="2775204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337560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461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balance_stress_index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59836" y="3241548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0148" y="3186684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32988" y="3305556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80460" y="3204972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95828" y="3287268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0188" y="3250692"/>
            <a:ext cx="100584" cy="100584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813048"/>
            <a:ext cx="4709160" cy="914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7216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relationship_depth_score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9756" y="3717036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00300" y="3662172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66060" y="3781044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35708" y="3680460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28316" y="3762756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57500" y="3726180"/>
            <a:ext cx="100584" cy="100584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4074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dots = high feature value   |   Cool dots = low feature value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77840" y="777240"/>
            <a:ext cx="32461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77840" y="777240"/>
            <a:ext cx="64008" cy="4114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42432" y="9144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Churn Drivers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742432" y="13898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days_since_last_dd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29600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5742432" y="18653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digital_engagement_score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229600" y="1865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5742432" y="23408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dd_count_30d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29600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5742432" y="281635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friction_score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229600" y="28163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5742432" y="3291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balance_stress_index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229600" y="32918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5742432" y="3767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relationship_depth_score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229600" y="3767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5742432" y="4498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increases   |   ▼ decreases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— exact, not approximate. O(TLD) time complexity on tree ensembles. Much faster than KernelSHAP for tabular data.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Framework — DALEX + SHAP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166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1148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DALEX  (drwhy.ai)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dalex.drwhy.ai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417320" cy="4389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model_parts()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47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importance — permutation-based, model-agnostic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417320" cy="4389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model_profile()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41401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/ ALE plots — how a feature affects predictions across its 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62656"/>
            <a:ext cx="1417320" cy="4389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626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predict_parts()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98094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Break-down plots — local attribution, like SHAP waterfall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1417320" cy="4389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958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model_diagnostics()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5478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analysis, calibration, drift detection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096512"/>
            <a:ext cx="1417320" cy="4389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9651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411480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compare multiple models side-by-side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0" y="777240"/>
            <a:ext cx="3154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777240"/>
            <a:ext cx="64008" cy="411480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914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vs. DALEX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52160" y="1444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0" y="183794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exact TreeSHAP for tree models. Best for beeswarm + waterfall plots.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24048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DALEX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27980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Model-agnostic. Best for PDP/ALE, multi-model comparison, residuals + Arena.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33649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375818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for explanation depth; DALEX for workflow, diagnostics, and stakeholder dashboards.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libraries are used in churn_demo.ipynb. pip install dalex  |  pip install shap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Mystery Customer — Revealed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probability:  78%   —   HIGH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this prediction? (SHAP Waterfall)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contribution  (→ increases churn risk)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days_since_last_dd = 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2523744"/>
            <a:ext cx="2267712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digital_login_30d =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926080"/>
            <a:ext cx="1755648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6168" y="2889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dd_count_30d =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3328416"/>
            <a:ext cx="1609344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friction_score = 0.62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730752"/>
            <a:ext cx="1316736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3694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product_count =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56432" y="4133088"/>
            <a:ext cx="658368" cy="2743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096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 = 34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02736" y="4535424"/>
            <a:ext cx="512064" cy="2743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4498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+ AI: Score → Drivers → Narrative →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20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3767328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896112"/>
            <a:ext cx="384048" cy="384048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" y="1828800"/>
            <a:ext cx="1591056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2660904"/>
            <a:ext cx="91440" cy="54864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350008" y="2606040"/>
            <a:ext cx="91440" cy="164592"/>
          </a:xfrm>
          <a:prstGeom prst="rtTriangl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804672"/>
            <a:ext cx="1920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804672"/>
            <a:ext cx="64008" cy="37673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896112"/>
            <a:ext cx="384048" cy="38404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Drivers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9464" y="1828800"/>
            <a:ext cx="1591056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1688" y="2660904"/>
            <a:ext cx="91440" cy="54864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4434840" y="2606040"/>
            <a:ext cx="91440" cy="164592"/>
          </a:xfrm>
          <a:prstGeom prst="rtTriangl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9704" y="804672"/>
            <a:ext cx="1920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9704" y="804672"/>
            <a:ext cx="64008" cy="3767328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896112"/>
            <a:ext cx="384048" cy="384048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81144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Narrative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54296" y="1828800"/>
            <a:ext cx="1591056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660904"/>
            <a:ext cx="91440" cy="54864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519672" y="2606040"/>
            <a:ext cx="91440" cy="164592"/>
          </a:xfrm>
          <a:prstGeom prst="rtTriangl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4536" y="804672"/>
            <a:ext cx="1920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74536" y="804672"/>
            <a:ext cx="64008" cy="376732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896112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65976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Action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39128" y="1828800"/>
            <a:ext cx="1591056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P(churn)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" y="221284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4000" dirty="0"/>
          </a:p>
        </p:txBody>
      </p:sp>
      <p:sp>
        <p:nvSpPr>
          <p:cNvPr id="36" name="Shape 34"/>
          <p:cNvSpPr/>
          <p:nvPr/>
        </p:nvSpPr>
        <p:spPr>
          <a:xfrm>
            <a:off x="521208" y="2889504"/>
            <a:ext cx="1517904" cy="3017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288950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8056" y="32918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0.883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32888" y="190195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days_since_dd = 18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32888" y="2084832"/>
            <a:ext cx="1488643" cy="16459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48963" y="20848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32888" y="23225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digital_logins = 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32888" y="2505456"/>
            <a:ext cx="1152498" cy="16459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12818" y="2505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532888" y="27432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dd_count_30d = 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32888" y="2926080"/>
            <a:ext cx="1056456" cy="16459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6776" y="29260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32888" y="31638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= 0.62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32888" y="3346704"/>
            <a:ext cx="864373" cy="16459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4693" y="33467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32888" y="35844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product_cnt = 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32888" y="3767328"/>
            <a:ext cx="432187" cy="16459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2507" y="37673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17720" y="1947672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DD activity in 18 days — primary bank shift likely. Only 2 logins and 2 fee requests signal both dormancy and friction. High churn risk.”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617720" y="380390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SHAP values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customer features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656832" y="1901952"/>
            <a:ext cx="1764792" cy="356616"/>
          </a:xfrm>
          <a:prstGeom prst="rect">
            <a:avLst/>
          </a:prstGeom>
          <a:solidFill>
            <a:srgbClr val="E8F8F2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02552" y="19202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HYSA promo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29016" y="19202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56832" y="2295144"/>
            <a:ext cx="1764792" cy="35661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02552" y="23134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Fee reversal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129016" y="23134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656832" y="2688336"/>
            <a:ext cx="1764792" cy="356616"/>
          </a:xfrm>
          <a:prstGeom prst="rect">
            <a:avLst/>
          </a:prstGeom>
          <a:solidFill>
            <a:srgbClr val="F4F8FC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02552" y="270662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Banker call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129016" y="270662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656832" y="3182112"/>
            <a:ext cx="1764792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02552" y="3209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ML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Recommend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702552" y="398678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past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outcomes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Classification → SHAP explainer → LLM narrative → Rank/Recommend intervention.  ML + AI + ML.  Each stage is its own model.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 — What We'd Do Differently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850392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235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 label, not the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3502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weeks on model selection before realizing our churn definition was leaking. Fix your label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55648"/>
            <a:ext cx="64008" cy="850392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8653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is a product decision, not a metric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86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told us we had a good model. Lift @ 10% told us whether it was worth deploying.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706624"/>
            <a:ext cx="85039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06624"/>
            <a:ext cx="64008" cy="85039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8254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8163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beats model complexity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3697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dd_velocity_ratio outperformed raw DD counts by a wider margin than switching from XGBoost to ensemble.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57600"/>
            <a:ext cx="64008" cy="8503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776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7673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isn't optional in banking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1879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compliance, and bankers all need to understand why. SHAP makes that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Data science is about decisions, not algorithms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90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matters less than the question you're answering and the label you're predicting.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ML models beat AI on structured prediction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04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banking data belongs to CatBoost, XGBoost, and AutoGluon — not LLMs. Use AI to explain, not predict.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One metric is never enough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3192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+ Precision-Recall + Calibration + Lift @ K% + Business cost-benefit — all tell different parts of the story.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Explainability is your competitive advantage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4233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turns a black-box score into an actionable banker narrative. That's what closes the loop from model to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3042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for Banking  —  Jack Henry Associates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852928"/>
            <a:ext cx="3291840" cy="27432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92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4198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 </a:t>
            </a:r>
            <a:pPr algn="ctr"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churn_demo.ipynb  +  churn_utils.py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30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</a:t>
            </a:r>
            <a:pPr algn="ctr"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shap.readthedocs.io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DALEX  </a:t>
            </a:r>
            <a:pPr algn="ctr" indent="0" marL="0">
              <a:buNone/>
            </a:pPr>
            <a:r>
              <a:rPr lang="en-US" sz="13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dalex.drwhy.ai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902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Ames   ·   github.com/mikeames   ·   michael.ames@gmail.com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508760" cy="31089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 11-7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 Management Guidance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Board  ·  Office of the Comptroller of the Currency  ·  April 2011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735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governing standard for how banks must develop, validate, and monitor any quantitative model used in decision-making.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 — not required for the main talk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 11-7 — What It Requires and What Goes in the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 of Model Risk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4320" cy="27432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Development &amp; Implementation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16824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Conceptual soundness — theory and assumptions documented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 quality review — lineage, gaps, proxies disclosed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15798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Testing — in-sample, out-of-time, sensitivity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3957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Intended use explicitly defined and bounded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274320" cy="27432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 (Independent)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30540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Separate team — no developer involvement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Conceptual challenge — alternative approaches considered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352958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Backtesting + benchmarking against simpler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7673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Written findings, ratings, and required remediations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274320" cy="274320"/>
          </a:xfrm>
          <a:prstGeom prst="ellipse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Monitoring &amp; Governance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44256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Performance tracking on live data (PSI, KS, AUC drift)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4663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Model inventory — every model registered and owned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490118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Periodic re-validation (typically annual or on trigger)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51389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MRM committee sign-off before deployment changes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777240"/>
            <a:ext cx="4206240" cy="40690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914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in a Model Validation Report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73168" y="13898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91456" y="1636776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9105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name, ID, owner, business 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1456" y="1837944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79222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 and population in scope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20482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91456" y="2295144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24942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and literature basis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91456" y="2496312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45059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source, date range, exclusions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91456" y="2697480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65176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decisions and rationale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91456" y="2898648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85292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 — alternatives considered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91456" y="3355848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31012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PR-AUC, KS, Calibration, Brier Score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91456" y="3557016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511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In-time vs. out-of-time holdout results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91456" y="3758184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71246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@ K% and business cost-benefit validation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91456" y="3959352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91363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/ stress tests on key assumptions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73168" y="41696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LIMITS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91456" y="4416552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37083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and compensating controls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91456" y="4617720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457200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 (PSI) thresholds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91456" y="4818888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477316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/ Fair Lending disparate impact analysis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91456" y="5020056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497433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Re-validation trigger conditions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73168" y="52303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91456" y="5477256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543153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team independence attestation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91456" y="5678424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563270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findings, severity ratings, remediation plan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91456" y="5879592"/>
            <a:ext cx="91440" cy="91440"/>
          </a:xfrm>
          <a:prstGeom prst="ellipse">
            <a:avLst/>
          </a:prstGeom>
          <a:solidFill>
            <a:srgbClr val="0078C8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37760" y="583387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signatures — MRM committee + LOD2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applies to any model used to inform a “material business decision.” A churn model driving retention spend qualifies. OCC 2011-12 is the parallel OCC guidance.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 11-7 Applied — How Our Churn Model Satisfies Each Requirement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69494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987552"/>
            <a:ext cx="1097280" cy="31089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987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77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soundness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87782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 / validation / test split prevents leakage. Features derived from behavioral theory (recency, frequency, friction). Gradient boosting chosen over logistic regression with documented performance rationale.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72768"/>
            <a:ext cx="64008" cy="69494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755648"/>
            <a:ext cx="1097280" cy="31089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&amp; lineage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1645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churn_utils.py logs source tables, date ranges, and row counts. dd_velocity_ratio and digital_engagement_score definitions are version-controlled. Missing value treatment and proxy disclosure in notebook.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40864"/>
            <a:ext cx="64008" cy="69494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523744"/>
            <a:ext cx="1097280" cy="31089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414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documentation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4140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0.883, PR-AUC, KS, Calibration curve, Lift @ 10%, Brier Score all computed and logged. Out-of-time holdout (last 3 months of data held back) mirrors live deployment conditions.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108960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08960"/>
            <a:ext cx="64008" cy="694944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291840"/>
            <a:ext cx="1097280" cy="310896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291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182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&amp; fair lending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182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provides per-prediction attribution. DALEX variable importance is model-agnostic. Disparate impact analysis across protected classes is required before deployment — run cu.fair_lending_check().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87705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77056"/>
            <a:ext cx="64008" cy="694944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059936"/>
            <a:ext cx="1097280" cy="310896"/>
          </a:xfrm>
          <a:prstGeom prst="rect">
            <a:avLst/>
          </a:prstGeom>
          <a:solidFill>
            <a:srgbClr val="F4872B"/>
          </a:solidFill>
          <a:ln w="12700">
            <a:solidFill>
              <a:srgbClr val="F487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4059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monitoring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39502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and KS tracked monthly. Re-train triggers: PSI &gt; 0.20 or AUC drop &gt; 5 pts. Model inventory entry, business owner, and scheduled annual re-validation should be formalized before production.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cu.fair_lending_check() stub exists in churn_utils.py — implement before any production deployment. Document findings in the model validation report.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Banking — Jack Henry Associates</dc:title>
  <dc:subject>PptxGenJS Presentation</dc:subject>
  <dc:creator>Mike Ames</dc:creator>
  <cp:lastModifiedBy>Mike Ames</cp:lastModifiedBy>
  <cp:revision>1</cp:revision>
  <dcterms:created xsi:type="dcterms:W3CDTF">2026-04-14T12:21:37Z</dcterms:created>
  <dcterms:modified xsi:type="dcterms:W3CDTF">2026-04-14T12:21:37Z</dcterms:modified>
</cp:coreProperties>
</file>