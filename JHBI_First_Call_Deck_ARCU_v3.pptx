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6" r:id="rId7"/>
    <p:sldId id="267" r:id="rId8"/>
    <p:sldId id="268" r:id="rId9"/>
    <p:sldId id="269" r:id="rId10"/>
    <p:sldId id="261" r:id="rId11"/>
    <p:sldId id="262" r:id="rId12"/>
    <p:sldId id="263" r:id="rId13"/>
    <p:sldId id="264" r:id="rId14"/>
    <p:sldId id="265"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5" d="100"/>
          <a:sy n="125" d="100"/>
        </p:scale>
        <p:origin x="2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4255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09E7A"/>
          </a:solidFill>
          <a:ln/>
        </p:spPr>
        <p:txBody>
          <a:bodyPr/>
          <a:lstStyle/>
          <a:p>
            <a:endParaRPr lang="en-US"/>
          </a:p>
        </p:txBody>
      </p:sp>
      <p:sp>
        <p:nvSpPr>
          <p:cNvPr id="3" name="Shape 1"/>
          <p:cNvSpPr/>
          <p:nvPr/>
        </p:nvSpPr>
        <p:spPr>
          <a:xfrm>
            <a:off x="164592" y="0"/>
            <a:ext cx="11996928" cy="54864"/>
          </a:xfrm>
          <a:prstGeom prst="rect">
            <a:avLst/>
          </a:prstGeom>
          <a:solidFill>
            <a:srgbClr val="009E7A"/>
          </a:solidFill>
          <a:ln/>
        </p:spPr>
        <p:txBody>
          <a:bodyPr/>
          <a:lstStyle/>
          <a:p>
            <a:endParaRPr lang="en-US"/>
          </a:p>
        </p:txBody>
      </p:sp>
      <p:sp>
        <p:nvSpPr>
          <p:cNvPr id="4" name="Shape 2"/>
          <p:cNvSpPr/>
          <p:nvPr/>
        </p:nvSpPr>
        <p:spPr>
          <a:xfrm>
            <a:off x="7772400" y="-1371600"/>
            <a:ext cx="5943600" cy="5943600"/>
          </a:xfrm>
          <a:prstGeom prst="ellipse">
            <a:avLst/>
          </a:prstGeom>
          <a:solidFill>
            <a:srgbClr val="06185F"/>
          </a:solidFill>
          <a:ln/>
        </p:spPr>
        <p:txBody>
          <a:bodyPr/>
          <a:lstStyle/>
          <a:p>
            <a:endParaRPr lang="en-US"/>
          </a:p>
        </p:txBody>
      </p:sp>
      <p:sp>
        <p:nvSpPr>
          <p:cNvPr id="5" name="Shape 3"/>
          <p:cNvSpPr/>
          <p:nvPr/>
        </p:nvSpPr>
        <p:spPr>
          <a:xfrm>
            <a:off x="8686800" y="-457200"/>
            <a:ext cx="4572000" cy="4572000"/>
          </a:xfrm>
          <a:prstGeom prst="ellipse">
            <a:avLst/>
          </a:prstGeom>
          <a:solidFill>
            <a:srgbClr val="009E7A"/>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961120" y="1097280"/>
            <a:ext cx="822960" cy="822960"/>
          </a:xfrm>
          <a:prstGeom prst="rect">
            <a:avLst/>
          </a:prstGeom>
        </p:spPr>
      </p:pic>
      <p:pic>
        <p:nvPicPr>
          <p:cNvPr id="7" name="Image 1" descr="preencoded.png"/>
          <p:cNvPicPr>
            <a:picLocks noChangeAspect="1"/>
          </p:cNvPicPr>
          <p:nvPr/>
        </p:nvPicPr>
        <p:blipFill>
          <a:blip r:embed="rId4"/>
          <a:stretch>
            <a:fillRect/>
          </a:stretch>
        </p:blipFill>
        <p:spPr>
          <a:xfrm>
            <a:off x="10058400" y="1645920"/>
            <a:ext cx="822960" cy="822960"/>
          </a:xfrm>
          <a:prstGeom prst="rect">
            <a:avLst/>
          </a:prstGeom>
        </p:spPr>
      </p:pic>
      <p:pic>
        <p:nvPicPr>
          <p:cNvPr id="8" name="Image 2" descr="preencoded.png"/>
          <p:cNvPicPr>
            <a:picLocks noChangeAspect="1"/>
          </p:cNvPicPr>
          <p:nvPr/>
        </p:nvPicPr>
        <p:blipFill>
          <a:blip r:embed="rId5"/>
          <a:stretch>
            <a:fillRect/>
          </a:stretch>
        </p:blipFill>
        <p:spPr>
          <a:xfrm>
            <a:off x="9418320" y="2560320"/>
            <a:ext cx="822960" cy="822960"/>
          </a:xfrm>
          <a:prstGeom prst="rect">
            <a:avLst/>
          </a:prstGeom>
        </p:spPr>
      </p:pic>
      <p:sp>
        <p:nvSpPr>
          <p:cNvPr id="9" name="Shape 4"/>
          <p:cNvSpPr/>
          <p:nvPr/>
        </p:nvSpPr>
        <p:spPr>
          <a:xfrm>
            <a:off x="502920" y="1371600"/>
            <a:ext cx="2560320" cy="347472"/>
          </a:xfrm>
          <a:prstGeom prst="rect">
            <a:avLst/>
          </a:prstGeom>
          <a:solidFill>
            <a:srgbClr val="009E7A"/>
          </a:solidFill>
          <a:ln/>
        </p:spPr>
        <p:txBody>
          <a:bodyPr/>
          <a:lstStyle/>
          <a:p>
            <a:endParaRPr lang="en-US"/>
          </a:p>
        </p:txBody>
      </p:sp>
      <p:sp>
        <p:nvSpPr>
          <p:cNvPr id="10" name="Text 5"/>
          <p:cNvSpPr/>
          <p:nvPr/>
        </p:nvSpPr>
        <p:spPr>
          <a:xfrm>
            <a:off x="502920" y="1371600"/>
            <a:ext cx="2560320" cy="347472"/>
          </a:xfrm>
          <a:prstGeom prst="rect">
            <a:avLst/>
          </a:prstGeom>
          <a:noFill/>
          <a:ln/>
        </p:spPr>
        <p:txBody>
          <a:bodyPr wrap="square" lIns="0" tIns="0" rIns="0" bIns="0" rtlCol="0" anchor="ctr"/>
          <a:lstStyle/>
          <a:p>
            <a:pPr marL="0" indent="0" algn="ctr">
              <a:buNone/>
            </a:pPr>
            <a:r>
              <a:rPr lang="en-US" sz="900" b="1" dirty="0">
                <a:solidFill>
                  <a:srgbClr val="FFFFFF"/>
                </a:solidFill>
              </a:rPr>
              <a:t>DATA SERVICES OVERVIEW</a:t>
            </a:r>
            <a:endParaRPr lang="en-US" sz="900" dirty="0"/>
          </a:p>
        </p:txBody>
      </p:sp>
      <p:sp>
        <p:nvSpPr>
          <p:cNvPr id="11" name="Text 6"/>
          <p:cNvSpPr/>
          <p:nvPr/>
        </p:nvSpPr>
        <p:spPr>
          <a:xfrm>
            <a:off x="502920" y="1874520"/>
            <a:ext cx="7315200" cy="2011680"/>
          </a:xfrm>
          <a:prstGeom prst="rect">
            <a:avLst/>
          </a:prstGeom>
          <a:noFill/>
          <a:ln/>
        </p:spPr>
        <p:txBody>
          <a:bodyPr wrap="square" rtlCol="0" anchor="ctr"/>
          <a:lstStyle/>
          <a:p>
            <a:pPr marL="0" indent="0">
              <a:lnSpc>
                <a:spcPct val="110000"/>
              </a:lnSpc>
              <a:buNone/>
            </a:pPr>
            <a:r>
              <a:rPr lang="en-US" sz="5200" b="1" dirty="0">
                <a:solidFill>
                  <a:srgbClr val="FFFFFF"/>
                </a:solidFill>
                <a:latin typeface="Calibri" pitchFamily="34" charset="0"/>
                <a:ea typeface="Calibri" pitchFamily="34" charset="-122"/>
                <a:cs typeface="Calibri" pitchFamily="34" charset="-120"/>
              </a:rPr>
              <a:t>Your Data.</a:t>
            </a:r>
            <a:endParaRPr lang="en-US" sz="5200" dirty="0"/>
          </a:p>
          <a:p>
            <a:pPr marL="0" indent="0">
              <a:lnSpc>
                <a:spcPct val="110000"/>
              </a:lnSpc>
              <a:buNone/>
            </a:pPr>
            <a:r>
              <a:rPr lang="en-US" sz="5200" b="1" dirty="0">
                <a:solidFill>
                  <a:srgbClr val="FFFFFF"/>
                </a:solidFill>
                <a:latin typeface="Calibri" pitchFamily="34" charset="0"/>
                <a:ea typeface="Calibri" pitchFamily="34" charset="-122"/>
                <a:cs typeface="Calibri" pitchFamily="34" charset="-120"/>
              </a:rPr>
              <a:t>Your Advantage.</a:t>
            </a:r>
            <a:endParaRPr lang="en-US" sz="5200" dirty="0"/>
          </a:p>
        </p:txBody>
      </p:sp>
      <p:sp>
        <p:nvSpPr>
          <p:cNvPr id="12" name="Text 7"/>
          <p:cNvSpPr/>
          <p:nvPr/>
        </p:nvSpPr>
        <p:spPr>
          <a:xfrm>
            <a:off x="502920" y="3977640"/>
            <a:ext cx="7132320" cy="822960"/>
          </a:xfrm>
          <a:prstGeom prst="rect">
            <a:avLst/>
          </a:prstGeom>
          <a:noFill/>
          <a:ln/>
        </p:spPr>
        <p:txBody>
          <a:bodyPr wrap="square" rtlCol="0" anchor="ctr"/>
          <a:lstStyle/>
          <a:p>
            <a:pPr marL="0" indent="0">
              <a:buNone/>
            </a:pPr>
            <a:r>
              <a:rPr lang="en-US" sz="1600" dirty="0">
                <a:solidFill>
                  <a:srgbClr val="717070"/>
                </a:solidFill>
                <a:latin typeface="Calibri" pitchFamily="34" charset="0"/>
                <a:ea typeface="Calibri" pitchFamily="34" charset="-122"/>
                <a:cs typeface="Calibri" pitchFamily="34" charset="-120"/>
              </a:rPr>
              <a:t>A guided tour of Jack Henry's Data Portfolio —</a:t>
            </a:r>
            <a:endParaRPr lang="en-US" sz="1600" dirty="0"/>
          </a:p>
          <a:p>
            <a:pPr marL="0" indent="0">
              <a:buNone/>
            </a:pPr>
            <a:r>
              <a:rPr lang="en-US" sz="1600" dirty="0">
                <a:solidFill>
                  <a:srgbClr val="717070"/>
                </a:solidFill>
                <a:latin typeface="Calibri" pitchFamily="34" charset="0"/>
                <a:ea typeface="Calibri" pitchFamily="34" charset="-122"/>
                <a:cs typeface="Calibri" pitchFamily="34" charset="-120"/>
              </a:rPr>
              <a:t>DataHub, JHKnow, ARCU, and JHBI.</a:t>
            </a:r>
            <a:endParaRPr lang="en-US" sz="1600" dirty="0"/>
          </a:p>
        </p:txBody>
      </p:sp>
      <p:sp>
        <p:nvSpPr>
          <p:cNvPr id="13" name="Shape 8"/>
          <p:cNvSpPr/>
          <p:nvPr/>
        </p:nvSpPr>
        <p:spPr>
          <a:xfrm>
            <a:off x="164592" y="6492240"/>
            <a:ext cx="11996928" cy="365760"/>
          </a:xfrm>
          <a:prstGeom prst="rect">
            <a:avLst/>
          </a:prstGeom>
          <a:solidFill>
            <a:srgbClr val="06185F"/>
          </a:solidFill>
          <a:ln/>
        </p:spPr>
        <p:txBody>
          <a:bodyPr/>
          <a:lstStyle/>
          <a:p>
            <a:endParaRPr lang="en-US"/>
          </a:p>
        </p:txBody>
      </p:sp>
      <p:sp>
        <p:nvSpPr>
          <p:cNvPr id="14" name="Text 9"/>
          <p:cNvSpPr/>
          <p:nvPr/>
        </p:nvSpPr>
        <p:spPr>
          <a:xfrm>
            <a:off x="457200" y="6492240"/>
            <a:ext cx="10972800" cy="365760"/>
          </a:xfrm>
          <a:prstGeom prst="rect">
            <a:avLst/>
          </a:prstGeom>
          <a:noFill/>
          <a:ln/>
        </p:spPr>
        <p:txBody>
          <a:bodyPr wrap="square" rtlCol="0" anchor="ctr"/>
          <a:lstStyle/>
          <a:p>
            <a:pPr marL="0" indent="0">
              <a:buNone/>
            </a:pPr>
            <a:r>
              <a:rPr lang="en-US" sz="900" dirty="0">
                <a:solidFill>
                  <a:srgbClr val="717070"/>
                </a:solidFill>
              </a:rPr>
              <a:t>CONFIDENTIAL  |  JACK HENRY &amp; ASSOCIATES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D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6185F"/>
          </a:solidFill>
          <a:ln/>
        </p:spPr>
        <p:txBody>
          <a:bodyPr/>
          <a:lstStyle/>
          <a:p>
            <a:endParaRPr lang="en-US"/>
          </a:p>
        </p:txBody>
      </p:sp>
      <p:sp>
        <p:nvSpPr>
          <p:cNvPr id="3" name="Shape 1"/>
          <p:cNvSpPr/>
          <p:nvPr/>
        </p:nvSpPr>
        <p:spPr>
          <a:xfrm>
            <a:off x="0" y="1188720"/>
            <a:ext cx="12161520" cy="64008"/>
          </a:xfrm>
          <a:prstGeom prst="rect">
            <a:avLst/>
          </a:prstGeom>
          <a:solidFill>
            <a:srgbClr val="009E7A"/>
          </a:solidFill>
          <a:ln/>
        </p:spPr>
        <p:txBody>
          <a:bodyPr/>
          <a:lstStyle/>
          <a:p>
            <a:endParaRPr lang="en-US"/>
          </a:p>
        </p:txBody>
      </p:sp>
      <p:sp>
        <p:nvSpPr>
          <p:cNvPr id="4" name="Text 2"/>
          <p:cNvSpPr/>
          <p:nvPr/>
        </p:nvSpPr>
        <p:spPr>
          <a:xfrm>
            <a:off x="457200" y="0"/>
            <a:ext cx="10972800" cy="1188720"/>
          </a:xfrm>
          <a:prstGeom prst="rect">
            <a:avLst/>
          </a:prstGeom>
          <a:noFill/>
          <a:ln/>
        </p:spPr>
        <p:txBody>
          <a:bodyPr wrap="square" rtlCol="0" anchor="ctr"/>
          <a:lstStyle/>
          <a:p>
            <a:pPr marL="0" indent="0">
              <a:buNone/>
            </a:pPr>
            <a:r>
              <a:rPr lang="en-US" sz="3200" b="1" dirty="0">
                <a:solidFill>
                  <a:srgbClr val="FFFFFF"/>
                </a:solidFill>
              </a:rPr>
              <a:t>What We'll Cover Today</a:t>
            </a:r>
            <a:endParaRPr lang="en-US" sz="3200" dirty="0"/>
          </a:p>
        </p:txBody>
      </p:sp>
      <p:sp>
        <p:nvSpPr>
          <p:cNvPr id="5" name="Shape 3"/>
          <p:cNvSpPr/>
          <p:nvPr/>
        </p:nvSpPr>
        <p:spPr>
          <a:xfrm>
            <a:off x="411480" y="1508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411480" y="1508760"/>
            <a:ext cx="3566160" cy="64008"/>
          </a:xfrm>
          <a:prstGeom prst="rect">
            <a:avLst/>
          </a:prstGeom>
          <a:solidFill>
            <a:srgbClr val="009E7A"/>
          </a:solidFill>
          <a:ln/>
        </p:spPr>
        <p:txBody>
          <a:bodyPr/>
          <a:lstStyle/>
          <a:p>
            <a:endParaRPr lang="en-US"/>
          </a:p>
        </p:txBody>
      </p:sp>
      <p:sp>
        <p:nvSpPr>
          <p:cNvPr id="7" name="Shape 5"/>
          <p:cNvSpPr/>
          <p:nvPr/>
        </p:nvSpPr>
        <p:spPr>
          <a:xfrm>
            <a:off x="576072" y="1691640"/>
            <a:ext cx="457200" cy="457200"/>
          </a:xfrm>
          <a:prstGeom prst="ellipse">
            <a:avLst/>
          </a:prstGeom>
          <a:solidFill>
            <a:srgbClr val="06185F"/>
          </a:solidFill>
          <a:ln/>
        </p:spPr>
        <p:txBody>
          <a:bodyPr/>
          <a:lstStyle/>
          <a:p>
            <a:endParaRPr lang="en-US"/>
          </a:p>
        </p:txBody>
      </p:sp>
      <p:sp>
        <p:nvSpPr>
          <p:cNvPr id="8" name="Text 6"/>
          <p:cNvSpPr/>
          <p:nvPr/>
        </p:nvSpPr>
        <p:spPr>
          <a:xfrm>
            <a:off x="576072" y="1691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pic>
        <p:nvPicPr>
          <p:cNvPr id="9" name="Image 0" descr="preencoded.png"/>
          <p:cNvPicPr>
            <a:picLocks noChangeAspect="1"/>
          </p:cNvPicPr>
          <p:nvPr/>
        </p:nvPicPr>
        <p:blipFill>
          <a:blip r:embed="rId3"/>
          <a:stretch>
            <a:fillRect/>
          </a:stretch>
        </p:blipFill>
        <p:spPr>
          <a:xfrm>
            <a:off x="3355848" y="1673352"/>
            <a:ext cx="365760" cy="365760"/>
          </a:xfrm>
          <a:prstGeom prst="rect">
            <a:avLst/>
          </a:prstGeom>
        </p:spPr>
      </p:pic>
      <p:sp>
        <p:nvSpPr>
          <p:cNvPr id="10" name="Text 7"/>
          <p:cNvSpPr/>
          <p:nvPr/>
        </p:nvSpPr>
        <p:spPr>
          <a:xfrm>
            <a:off x="576072" y="2221992"/>
            <a:ext cx="3236976" cy="365760"/>
          </a:xfrm>
          <a:prstGeom prst="rect">
            <a:avLst/>
          </a:prstGeom>
          <a:noFill/>
          <a:ln/>
        </p:spPr>
        <p:txBody>
          <a:bodyPr wrap="square" rtlCol="0" anchor="ctr"/>
          <a:lstStyle/>
          <a:p>
            <a:pPr marL="0" indent="0">
              <a:buNone/>
            </a:pPr>
            <a:r>
              <a:rPr lang="en-US" sz="1500" b="1" dirty="0">
                <a:solidFill>
                  <a:srgbClr val="06185F"/>
                </a:solidFill>
              </a:rPr>
              <a:t>The Data Opportunity</a:t>
            </a:r>
            <a:endParaRPr lang="en-US" sz="1500" dirty="0"/>
          </a:p>
        </p:txBody>
      </p:sp>
      <p:sp>
        <p:nvSpPr>
          <p:cNvPr id="11" name="Text 8"/>
          <p:cNvSpPr/>
          <p:nvPr/>
        </p:nvSpPr>
        <p:spPr>
          <a:xfrm>
            <a:off x="576072" y="2587752"/>
            <a:ext cx="3236976" cy="685800"/>
          </a:xfrm>
          <a:prstGeom prst="rect">
            <a:avLst/>
          </a:prstGeom>
          <a:noFill/>
          <a:ln/>
        </p:spPr>
        <p:txBody>
          <a:bodyPr wrap="square" rtlCol="0" anchor="ctr"/>
          <a:lstStyle/>
          <a:p>
            <a:pPr marL="0" indent="0">
              <a:buNone/>
            </a:pPr>
            <a:r>
              <a:rPr lang="en-US" sz="1100" dirty="0">
                <a:solidFill>
                  <a:srgbClr val="575A5D"/>
                </a:solidFill>
              </a:rPr>
              <a:t>Why data is the next competitive frontier for community FIs</a:t>
            </a:r>
            <a:endParaRPr lang="en-US" sz="1100" dirty="0"/>
          </a:p>
        </p:txBody>
      </p:sp>
      <p:sp>
        <p:nvSpPr>
          <p:cNvPr id="12" name="Shape 9"/>
          <p:cNvSpPr/>
          <p:nvPr/>
        </p:nvSpPr>
        <p:spPr>
          <a:xfrm>
            <a:off x="4251960" y="1508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3" name="Shape 10"/>
          <p:cNvSpPr/>
          <p:nvPr/>
        </p:nvSpPr>
        <p:spPr>
          <a:xfrm>
            <a:off x="4251960" y="1508760"/>
            <a:ext cx="3566160" cy="64008"/>
          </a:xfrm>
          <a:prstGeom prst="rect">
            <a:avLst/>
          </a:prstGeom>
          <a:solidFill>
            <a:srgbClr val="009E7A"/>
          </a:solidFill>
          <a:ln/>
        </p:spPr>
        <p:txBody>
          <a:bodyPr/>
          <a:lstStyle/>
          <a:p>
            <a:endParaRPr lang="en-US"/>
          </a:p>
        </p:txBody>
      </p:sp>
      <p:sp>
        <p:nvSpPr>
          <p:cNvPr id="14" name="Shape 11"/>
          <p:cNvSpPr/>
          <p:nvPr/>
        </p:nvSpPr>
        <p:spPr>
          <a:xfrm>
            <a:off x="4416552" y="1691640"/>
            <a:ext cx="457200" cy="457200"/>
          </a:xfrm>
          <a:prstGeom prst="ellipse">
            <a:avLst/>
          </a:prstGeom>
          <a:solidFill>
            <a:srgbClr val="06185F"/>
          </a:solidFill>
          <a:ln/>
        </p:spPr>
        <p:txBody>
          <a:bodyPr/>
          <a:lstStyle/>
          <a:p>
            <a:endParaRPr lang="en-US"/>
          </a:p>
        </p:txBody>
      </p:sp>
      <p:sp>
        <p:nvSpPr>
          <p:cNvPr id="15" name="Text 12"/>
          <p:cNvSpPr/>
          <p:nvPr/>
        </p:nvSpPr>
        <p:spPr>
          <a:xfrm>
            <a:off x="4416552" y="1691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pic>
        <p:nvPicPr>
          <p:cNvPr id="16" name="Image 1" descr="preencoded.png"/>
          <p:cNvPicPr>
            <a:picLocks noChangeAspect="1"/>
          </p:cNvPicPr>
          <p:nvPr/>
        </p:nvPicPr>
        <p:blipFill>
          <a:blip r:embed="rId4"/>
          <a:stretch>
            <a:fillRect/>
          </a:stretch>
        </p:blipFill>
        <p:spPr>
          <a:xfrm>
            <a:off x="7196328" y="1673352"/>
            <a:ext cx="365760" cy="365760"/>
          </a:xfrm>
          <a:prstGeom prst="rect">
            <a:avLst/>
          </a:prstGeom>
        </p:spPr>
      </p:pic>
      <p:sp>
        <p:nvSpPr>
          <p:cNvPr id="17" name="Text 13"/>
          <p:cNvSpPr/>
          <p:nvPr/>
        </p:nvSpPr>
        <p:spPr>
          <a:xfrm>
            <a:off x="4416552" y="2221992"/>
            <a:ext cx="3236976" cy="365760"/>
          </a:xfrm>
          <a:prstGeom prst="rect">
            <a:avLst/>
          </a:prstGeom>
          <a:noFill/>
          <a:ln/>
        </p:spPr>
        <p:txBody>
          <a:bodyPr wrap="square" rtlCol="0" anchor="ctr"/>
          <a:lstStyle/>
          <a:p>
            <a:pPr marL="0" indent="0">
              <a:buNone/>
            </a:pPr>
            <a:r>
              <a:rPr lang="en-US" sz="1500" b="1" dirty="0">
                <a:solidFill>
                  <a:srgbClr val="06185F"/>
                </a:solidFill>
              </a:rPr>
              <a:t>DataHub</a:t>
            </a:r>
            <a:endParaRPr lang="en-US" sz="1500" dirty="0"/>
          </a:p>
        </p:txBody>
      </p:sp>
      <p:sp>
        <p:nvSpPr>
          <p:cNvPr id="18" name="Text 14"/>
          <p:cNvSpPr/>
          <p:nvPr/>
        </p:nvSpPr>
        <p:spPr>
          <a:xfrm>
            <a:off x="4416552" y="2587752"/>
            <a:ext cx="3236976" cy="685800"/>
          </a:xfrm>
          <a:prstGeom prst="rect">
            <a:avLst/>
          </a:prstGeom>
          <a:noFill/>
          <a:ln/>
        </p:spPr>
        <p:txBody>
          <a:bodyPr wrap="square" rtlCol="0" anchor="ctr"/>
          <a:lstStyle/>
          <a:p>
            <a:pPr marL="0" indent="0">
              <a:buNone/>
            </a:pPr>
            <a:r>
              <a:rPr lang="en-US" sz="1100" dirty="0">
                <a:solidFill>
                  <a:srgbClr val="575A5D"/>
                </a:solidFill>
              </a:rPr>
              <a:t>Raw, standardized data feeds from your JH core systems — direct to your cloud</a:t>
            </a:r>
            <a:endParaRPr lang="en-US" sz="1100" dirty="0"/>
          </a:p>
        </p:txBody>
      </p:sp>
      <p:sp>
        <p:nvSpPr>
          <p:cNvPr id="19" name="Shape 15"/>
          <p:cNvSpPr/>
          <p:nvPr/>
        </p:nvSpPr>
        <p:spPr>
          <a:xfrm>
            <a:off x="8092440" y="1508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0" name="Shape 16"/>
          <p:cNvSpPr/>
          <p:nvPr/>
        </p:nvSpPr>
        <p:spPr>
          <a:xfrm>
            <a:off x="8092440" y="1508760"/>
            <a:ext cx="3566160" cy="64008"/>
          </a:xfrm>
          <a:prstGeom prst="rect">
            <a:avLst/>
          </a:prstGeom>
          <a:solidFill>
            <a:srgbClr val="009E7A"/>
          </a:solidFill>
          <a:ln/>
        </p:spPr>
        <p:txBody>
          <a:bodyPr/>
          <a:lstStyle/>
          <a:p>
            <a:endParaRPr lang="en-US"/>
          </a:p>
        </p:txBody>
      </p:sp>
      <p:sp>
        <p:nvSpPr>
          <p:cNvPr id="21" name="Shape 17"/>
          <p:cNvSpPr/>
          <p:nvPr/>
        </p:nvSpPr>
        <p:spPr>
          <a:xfrm>
            <a:off x="8257032" y="1691640"/>
            <a:ext cx="457200" cy="457200"/>
          </a:xfrm>
          <a:prstGeom prst="ellipse">
            <a:avLst/>
          </a:prstGeom>
          <a:solidFill>
            <a:srgbClr val="06185F"/>
          </a:solidFill>
          <a:ln/>
        </p:spPr>
        <p:txBody>
          <a:bodyPr/>
          <a:lstStyle/>
          <a:p>
            <a:endParaRPr lang="en-US"/>
          </a:p>
        </p:txBody>
      </p:sp>
      <p:sp>
        <p:nvSpPr>
          <p:cNvPr id="22" name="Text 18"/>
          <p:cNvSpPr/>
          <p:nvPr/>
        </p:nvSpPr>
        <p:spPr>
          <a:xfrm>
            <a:off x="8257032" y="1691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pic>
        <p:nvPicPr>
          <p:cNvPr id="23" name="Image 2" descr="preencoded.png"/>
          <p:cNvPicPr>
            <a:picLocks noChangeAspect="1"/>
          </p:cNvPicPr>
          <p:nvPr/>
        </p:nvPicPr>
        <p:blipFill>
          <a:blip r:embed="rId5"/>
          <a:stretch>
            <a:fillRect/>
          </a:stretch>
        </p:blipFill>
        <p:spPr>
          <a:xfrm>
            <a:off x="11036808" y="1673352"/>
            <a:ext cx="365760" cy="365760"/>
          </a:xfrm>
          <a:prstGeom prst="rect">
            <a:avLst/>
          </a:prstGeom>
        </p:spPr>
      </p:pic>
      <p:sp>
        <p:nvSpPr>
          <p:cNvPr id="24" name="Text 19"/>
          <p:cNvSpPr/>
          <p:nvPr/>
        </p:nvSpPr>
        <p:spPr>
          <a:xfrm>
            <a:off x="8257032" y="2221992"/>
            <a:ext cx="3236976" cy="365760"/>
          </a:xfrm>
          <a:prstGeom prst="rect">
            <a:avLst/>
          </a:prstGeom>
          <a:noFill/>
          <a:ln/>
        </p:spPr>
        <p:txBody>
          <a:bodyPr wrap="square" rtlCol="0" anchor="ctr"/>
          <a:lstStyle/>
          <a:p>
            <a:pPr marL="0" indent="0">
              <a:buNone/>
            </a:pPr>
            <a:r>
              <a:rPr lang="en-US" sz="1500" b="1" dirty="0">
                <a:solidFill>
                  <a:srgbClr val="06185F"/>
                </a:solidFill>
              </a:rPr>
              <a:t>JHKnow &amp; ARCU</a:t>
            </a:r>
            <a:endParaRPr lang="en-US" sz="1500" dirty="0"/>
          </a:p>
        </p:txBody>
      </p:sp>
      <p:sp>
        <p:nvSpPr>
          <p:cNvPr id="25" name="Text 20"/>
          <p:cNvSpPr/>
          <p:nvPr/>
        </p:nvSpPr>
        <p:spPr>
          <a:xfrm>
            <a:off x="8257032" y="2587752"/>
            <a:ext cx="3236976" cy="685800"/>
          </a:xfrm>
          <a:prstGeom prst="rect">
            <a:avLst/>
          </a:prstGeom>
          <a:noFill/>
          <a:ln/>
        </p:spPr>
        <p:txBody>
          <a:bodyPr wrap="square" rtlCol="0" anchor="ctr"/>
          <a:lstStyle/>
          <a:p>
            <a:pPr marL="0" indent="0">
              <a:buNone/>
            </a:pPr>
            <a:r>
              <a:rPr lang="en-US" sz="1100" dirty="0">
                <a:solidFill>
                  <a:srgbClr val="575A5D"/>
                </a:solidFill>
              </a:rPr>
              <a:t>Pre-modeled analytics warehouse + reporting — ready on day one</a:t>
            </a:r>
            <a:endParaRPr lang="en-US" sz="1100" dirty="0"/>
          </a:p>
        </p:txBody>
      </p:sp>
      <p:sp>
        <p:nvSpPr>
          <p:cNvPr id="26" name="Shape 21"/>
          <p:cNvSpPr/>
          <p:nvPr/>
        </p:nvSpPr>
        <p:spPr>
          <a:xfrm>
            <a:off x="411480" y="3794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7" name="Shape 22"/>
          <p:cNvSpPr/>
          <p:nvPr/>
        </p:nvSpPr>
        <p:spPr>
          <a:xfrm>
            <a:off x="411480" y="3794760"/>
            <a:ext cx="3566160" cy="64008"/>
          </a:xfrm>
          <a:prstGeom prst="rect">
            <a:avLst/>
          </a:prstGeom>
          <a:solidFill>
            <a:srgbClr val="009E7A"/>
          </a:solidFill>
          <a:ln/>
        </p:spPr>
        <p:txBody>
          <a:bodyPr/>
          <a:lstStyle/>
          <a:p>
            <a:endParaRPr lang="en-US"/>
          </a:p>
        </p:txBody>
      </p:sp>
      <p:sp>
        <p:nvSpPr>
          <p:cNvPr id="28" name="Shape 23"/>
          <p:cNvSpPr/>
          <p:nvPr/>
        </p:nvSpPr>
        <p:spPr>
          <a:xfrm>
            <a:off x="576072" y="3977640"/>
            <a:ext cx="457200" cy="457200"/>
          </a:xfrm>
          <a:prstGeom prst="ellipse">
            <a:avLst/>
          </a:prstGeom>
          <a:solidFill>
            <a:srgbClr val="06185F"/>
          </a:solidFill>
          <a:ln/>
        </p:spPr>
        <p:txBody>
          <a:bodyPr/>
          <a:lstStyle/>
          <a:p>
            <a:endParaRPr lang="en-US"/>
          </a:p>
        </p:txBody>
      </p:sp>
      <p:sp>
        <p:nvSpPr>
          <p:cNvPr id="29" name="Text 24"/>
          <p:cNvSpPr/>
          <p:nvPr/>
        </p:nvSpPr>
        <p:spPr>
          <a:xfrm>
            <a:off x="576072" y="3977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pic>
        <p:nvPicPr>
          <p:cNvPr id="30" name="Image 3" descr="preencoded.png"/>
          <p:cNvPicPr>
            <a:picLocks noChangeAspect="1"/>
          </p:cNvPicPr>
          <p:nvPr/>
        </p:nvPicPr>
        <p:blipFill>
          <a:blip r:embed="rId6"/>
          <a:stretch>
            <a:fillRect/>
          </a:stretch>
        </p:blipFill>
        <p:spPr>
          <a:xfrm>
            <a:off x="3355848" y="3959352"/>
            <a:ext cx="365760" cy="365760"/>
          </a:xfrm>
          <a:prstGeom prst="rect">
            <a:avLst/>
          </a:prstGeom>
        </p:spPr>
      </p:pic>
      <p:sp>
        <p:nvSpPr>
          <p:cNvPr id="31" name="Text 25"/>
          <p:cNvSpPr/>
          <p:nvPr/>
        </p:nvSpPr>
        <p:spPr>
          <a:xfrm>
            <a:off x="576072" y="4507992"/>
            <a:ext cx="3236976" cy="365760"/>
          </a:xfrm>
          <a:prstGeom prst="rect">
            <a:avLst/>
          </a:prstGeom>
          <a:noFill/>
          <a:ln/>
        </p:spPr>
        <p:txBody>
          <a:bodyPr wrap="square" rtlCol="0" anchor="ctr"/>
          <a:lstStyle/>
          <a:p>
            <a:pPr marL="0" indent="0">
              <a:buNone/>
            </a:pPr>
            <a:r>
              <a:rPr lang="en-US" sz="1500" b="1" dirty="0">
                <a:solidFill>
                  <a:srgbClr val="06185F"/>
                </a:solidFill>
              </a:rPr>
              <a:t>JHBI</a:t>
            </a:r>
            <a:endParaRPr lang="en-US" sz="1500" dirty="0"/>
          </a:p>
        </p:txBody>
      </p:sp>
      <p:sp>
        <p:nvSpPr>
          <p:cNvPr id="32" name="Text 26"/>
          <p:cNvSpPr/>
          <p:nvPr/>
        </p:nvSpPr>
        <p:spPr>
          <a:xfrm>
            <a:off x="576072" y="4873752"/>
            <a:ext cx="3236976" cy="685800"/>
          </a:xfrm>
          <a:prstGeom prst="rect">
            <a:avLst/>
          </a:prstGeom>
          <a:noFill/>
          <a:ln/>
        </p:spPr>
        <p:txBody>
          <a:bodyPr wrap="square" rtlCol="0" anchor="ctr"/>
          <a:lstStyle/>
          <a:p>
            <a:pPr marL="0" indent="0">
              <a:buNone/>
            </a:pPr>
            <a:r>
              <a:rPr lang="en-US" sz="1100" dirty="0">
                <a:solidFill>
                  <a:srgbClr val="575A5D"/>
                </a:solidFill>
              </a:rPr>
              <a:t>Next-gen self-service business intelligence — our newest offering</a:t>
            </a:r>
            <a:endParaRPr lang="en-US" sz="1100" dirty="0"/>
          </a:p>
        </p:txBody>
      </p:sp>
      <p:sp>
        <p:nvSpPr>
          <p:cNvPr id="33" name="Shape 27"/>
          <p:cNvSpPr/>
          <p:nvPr/>
        </p:nvSpPr>
        <p:spPr>
          <a:xfrm>
            <a:off x="4251960" y="3794760"/>
            <a:ext cx="3566160" cy="1920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34" name="Shape 28"/>
          <p:cNvSpPr/>
          <p:nvPr/>
        </p:nvSpPr>
        <p:spPr>
          <a:xfrm>
            <a:off x="4251960" y="3794760"/>
            <a:ext cx="3566160" cy="64008"/>
          </a:xfrm>
          <a:prstGeom prst="rect">
            <a:avLst/>
          </a:prstGeom>
          <a:solidFill>
            <a:srgbClr val="009E7A"/>
          </a:solidFill>
          <a:ln/>
        </p:spPr>
        <p:txBody>
          <a:bodyPr/>
          <a:lstStyle/>
          <a:p>
            <a:endParaRPr lang="en-US"/>
          </a:p>
        </p:txBody>
      </p:sp>
      <p:sp>
        <p:nvSpPr>
          <p:cNvPr id="35" name="Shape 29"/>
          <p:cNvSpPr/>
          <p:nvPr/>
        </p:nvSpPr>
        <p:spPr>
          <a:xfrm>
            <a:off x="4416552" y="3977640"/>
            <a:ext cx="457200" cy="457200"/>
          </a:xfrm>
          <a:prstGeom prst="ellipse">
            <a:avLst/>
          </a:prstGeom>
          <a:solidFill>
            <a:srgbClr val="06185F"/>
          </a:solidFill>
          <a:ln/>
        </p:spPr>
        <p:txBody>
          <a:bodyPr/>
          <a:lstStyle/>
          <a:p>
            <a:endParaRPr lang="en-US"/>
          </a:p>
        </p:txBody>
      </p:sp>
      <p:sp>
        <p:nvSpPr>
          <p:cNvPr id="36" name="Text 30"/>
          <p:cNvSpPr/>
          <p:nvPr/>
        </p:nvSpPr>
        <p:spPr>
          <a:xfrm>
            <a:off x="4416552" y="3977640"/>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pic>
        <p:nvPicPr>
          <p:cNvPr id="37" name="Image 4" descr="preencoded.png"/>
          <p:cNvPicPr>
            <a:picLocks noChangeAspect="1"/>
          </p:cNvPicPr>
          <p:nvPr/>
        </p:nvPicPr>
        <p:blipFill>
          <a:blip r:embed="rId7"/>
          <a:stretch>
            <a:fillRect/>
          </a:stretch>
        </p:blipFill>
        <p:spPr>
          <a:xfrm>
            <a:off x="7196328" y="3959352"/>
            <a:ext cx="365760" cy="365760"/>
          </a:xfrm>
          <a:prstGeom prst="rect">
            <a:avLst/>
          </a:prstGeom>
        </p:spPr>
      </p:pic>
      <p:sp>
        <p:nvSpPr>
          <p:cNvPr id="38" name="Text 31"/>
          <p:cNvSpPr/>
          <p:nvPr/>
        </p:nvSpPr>
        <p:spPr>
          <a:xfrm>
            <a:off x="4416552" y="4507992"/>
            <a:ext cx="3236976" cy="365760"/>
          </a:xfrm>
          <a:prstGeom prst="rect">
            <a:avLst/>
          </a:prstGeom>
          <a:noFill/>
          <a:ln/>
        </p:spPr>
        <p:txBody>
          <a:bodyPr wrap="square" rtlCol="0" anchor="ctr"/>
          <a:lstStyle/>
          <a:p>
            <a:pPr marL="0" indent="0">
              <a:buNone/>
            </a:pPr>
            <a:r>
              <a:rPr lang="en-US" sz="1500" b="1" dirty="0">
                <a:solidFill>
                  <a:srgbClr val="06185F"/>
                </a:solidFill>
              </a:rPr>
              <a:t>How It All Fits</a:t>
            </a:r>
            <a:endParaRPr lang="en-US" sz="1500" dirty="0"/>
          </a:p>
        </p:txBody>
      </p:sp>
      <p:sp>
        <p:nvSpPr>
          <p:cNvPr id="39" name="Text 32"/>
          <p:cNvSpPr/>
          <p:nvPr/>
        </p:nvSpPr>
        <p:spPr>
          <a:xfrm>
            <a:off x="4416552" y="4873752"/>
            <a:ext cx="3236976" cy="685800"/>
          </a:xfrm>
          <a:prstGeom prst="rect">
            <a:avLst/>
          </a:prstGeom>
          <a:noFill/>
          <a:ln/>
        </p:spPr>
        <p:txBody>
          <a:bodyPr wrap="square" rtlCol="0" anchor="ctr"/>
          <a:lstStyle/>
          <a:p>
            <a:pPr marL="0" indent="0">
              <a:buNone/>
            </a:pPr>
            <a:r>
              <a:rPr lang="en-US" sz="1100" dirty="0">
                <a:solidFill>
                  <a:srgbClr val="575A5D"/>
                </a:solidFill>
              </a:rPr>
              <a:t>The full stack: from raw data to executive insight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9E7A"/>
          </a:solidFill>
          <a:ln/>
        </p:spPr>
        <p:txBody>
          <a:bodyPr/>
          <a:lstStyle/>
          <a:p>
            <a:endParaRPr lang="en-US"/>
          </a:p>
        </p:txBody>
      </p:sp>
      <p:sp>
        <p:nvSpPr>
          <p:cNvPr id="3" name="Text 1"/>
          <p:cNvSpPr/>
          <p:nvPr/>
        </p:nvSpPr>
        <p:spPr>
          <a:xfrm>
            <a:off x="365760" y="320040"/>
            <a:ext cx="9144000" cy="594360"/>
          </a:xfrm>
          <a:prstGeom prst="rect">
            <a:avLst/>
          </a:prstGeom>
          <a:noFill/>
          <a:ln/>
        </p:spPr>
        <p:txBody>
          <a:bodyPr wrap="square" rtlCol="0" anchor="ctr"/>
          <a:lstStyle/>
          <a:p>
            <a:pPr marL="0" indent="0">
              <a:buNone/>
            </a:pPr>
            <a:r>
              <a:rPr lang="en-US" sz="3200" b="1" dirty="0">
                <a:solidFill>
                  <a:srgbClr val="FFFFFF"/>
                </a:solidFill>
              </a:rPr>
              <a:t>The Data Opportunity</a:t>
            </a:r>
            <a:endParaRPr lang="en-US" sz="3200" dirty="0"/>
          </a:p>
        </p:txBody>
      </p:sp>
      <p:sp>
        <p:nvSpPr>
          <p:cNvPr id="4" name="Text 2"/>
          <p:cNvSpPr/>
          <p:nvPr/>
        </p:nvSpPr>
        <p:spPr>
          <a:xfrm>
            <a:off x="365760" y="960120"/>
            <a:ext cx="9144000" cy="411480"/>
          </a:xfrm>
          <a:prstGeom prst="rect">
            <a:avLst/>
          </a:prstGeom>
          <a:noFill/>
          <a:ln/>
        </p:spPr>
        <p:txBody>
          <a:bodyPr wrap="square" rtlCol="0" anchor="ctr"/>
          <a:lstStyle/>
          <a:p>
            <a:pPr marL="0" indent="0">
              <a:buNone/>
            </a:pPr>
            <a:r>
              <a:rPr lang="en-US" sz="1600" i="1" dirty="0">
                <a:solidFill>
                  <a:srgbClr val="009E7A"/>
                </a:solidFill>
              </a:rPr>
              <a:t>You already own the most valuable asset in financial services.</a:t>
            </a:r>
            <a:endParaRPr lang="en-US" sz="1600" dirty="0"/>
          </a:p>
        </p:txBody>
      </p:sp>
      <p:sp>
        <p:nvSpPr>
          <p:cNvPr id="5" name="Shape 3"/>
          <p:cNvSpPr/>
          <p:nvPr/>
        </p:nvSpPr>
        <p:spPr>
          <a:xfrm>
            <a:off x="365760" y="1600200"/>
            <a:ext cx="3566160" cy="2926080"/>
          </a:xfrm>
          <a:prstGeom prst="rect">
            <a:avLst/>
          </a:prstGeom>
          <a:solidFill>
            <a:srgbClr val="06185F"/>
          </a:solidFill>
          <a:ln/>
          <a:effectLst>
            <a:outerShdw blurRad="127000" dist="38100" dir="8100000" algn="bl" rotWithShape="0">
              <a:srgbClr val="000000">
                <a:alpha val="20000"/>
              </a:srgbClr>
            </a:outerShdw>
          </a:effectLst>
        </p:spPr>
        <p:txBody>
          <a:bodyPr/>
          <a:lstStyle/>
          <a:p>
            <a:endParaRPr lang="en-US"/>
          </a:p>
        </p:txBody>
      </p:sp>
      <p:sp>
        <p:nvSpPr>
          <p:cNvPr id="6" name="Shape 4"/>
          <p:cNvSpPr/>
          <p:nvPr/>
        </p:nvSpPr>
        <p:spPr>
          <a:xfrm>
            <a:off x="365760" y="1600200"/>
            <a:ext cx="3566160" cy="64008"/>
          </a:xfrm>
          <a:prstGeom prst="rect">
            <a:avLst/>
          </a:prstGeom>
          <a:solidFill>
            <a:srgbClr val="009E7A"/>
          </a:solidFill>
          <a:ln/>
        </p:spPr>
        <p:txBody>
          <a:bodyPr/>
          <a:lstStyle/>
          <a:p>
            <a:endParaRPr lang="en-US"/>
          </a:p>
        </p:txBody>
      </p:sp>
      <p:sp>
        <p:nvSpPr>
          <p:cNvPr id="7" name="Text 5"/>
          <p:cNvSpPr/>
          <p:nvPr/>
        </p:nvSpPr>
        <p:spPr>
          <a:xfrm>
            <a:off x="548640" y="1737360"/>
            <a:ext cx="3200400" cy="1005840"/>
          </a:xfrm>
          <a:prstGeom prst="rect">
            <a:avLst/>
          </a:prstGeom>
          <a:noFill/>
          <a:ln/>
        </p:spPr>
        <p:txBody>
          <a:bodyPr wrap="square" rtlCol="0" anchor="ctr"/>
          <a:lstStyle/>
          <a:p>
            <a:pPr marL="0" indent="0">
              <a:buNone/>
            </a:pPr>
            <a:r>
              <a:rPr lang="en-US" sz="5200" b="1" dirty="0">
                <a:solidFill>
                  <a:srgbClr val="009E7A"/>
                </a:solidFill>
                <a:latin typeface="Calibri" pitchFamily="34" charset="0"/>
                <a:ea typeface="Calibri" pitchFamily="34" charset="-122"/>
                <a:cs typeface="Calibri" pitchFamily="34" charset="-120"/>
              </a:rPr>
              <a:t>80%</a:t>
            </a:r>
            <a:endParaRPr lang="en-US" sz="5200" dirty="0"/>
          </a:p>
        </p:txBody>
      </p:sp>
      <p:sp>
        <p:nvSpPr>
          <p:cNvPr id="8" name="Text 6"/>
          <p:cNvSpPr/>
          <p:nvPr/>
        </p:nvSpPr>
        <p:spPr>
          <a:xfrm>
            <a:off x="548640" y="2743200"/>
            <a:ext cx="3200400" cy="685800"/>
          </a:xfrm>
          <a:prstGeom prst="rect">
            <a:avLst/>
          </a:prstGeom>
          <a:noFill/>
          <a:ln/>
        </p:spPr>
        <p:txBody>
          <a:bodyPr wrap="square" rtlCol="0" anchor="ctr"/>
          <a:lstStyle/>
          <a:p>
            <a:pPr marL="0" indent="0">
              <a:buNone/>
            </a:pPr>
            <a:r>
              <a:rPr lang="en-US" sz="1300" b="1" dirty="0">
                <a:solidFill>
                  <a:srgbClr val="FFFFFF"/>
                </a:solidFill>
              </a:rPr>
              <a:t>of FI leaders say data is critical to their strategy</a:t>
            </a:r>
            <a:endParaRPr lang="en-US" sz="1300" dirty="0"/>
          </a:p>
        </p:txBody>
      </p:sp>
      <p:sp>
        <p:nvSpPr>
          <p:cNvPr id="9" name="Text 7"/>
          <p:cNvSpPr/>
          <p:nvPr/>
        </p:nvSpPr>
        <p:spPr>
          <a:xfrm>
            <a:off x="548640" y="3429000"/>
            <a:ext cx="3200400" cy="822960"/>
          </a:xfrm>
          <a:prstGeom prst="rect">
            <a:avLst/>
          </a:prstGeom>
          <a:noFill/>
          <a:ln/>
        </p:spPr>
        <p:txBody>
          <a:bodyPr wrap="square" rtlCol="0" anchor="ctr"/>
          <a:lstStyle/>
          <a:p>
            <a:pPr marL="0" indent="0">
              <a:buNone/>
            </a:pPr>
            <a:r>
              <a:rPr lang="en-US" sz="1100" dirty="0">
                <a:solidFill>
                  <a:srgbClr val="717070"/>
                </a:solidFill>
              </a:rPr>
              <a:t>but fewer than 30% have a modern analytics stack</a:t>
            </a:r>
            <a:endParaRPr lang="en-US" sz="1100" dirty="0"/>
          </a:p>
        </p:txBody>
      </p:sp>
      <p:sp>
        <p:nvSpPr>
          <p:cNvPr id="10" name="Shape 8"/>
          <p:cNvSpPr/>
          <p:nvPr/>
        </p:nvSpPr>
        <p:spPr>
          <a:xfrm>
            <a:off x="4206240" y="1600200"/>
            <a:ext cx="3566160" cy="2926080"/>
          </a:xfrm>
          <a:prstGeom prst="rect">
            <a:avLst/>
          </a:prstGeom>
          <a:solidFill>
            <a:srgbClr val="06185F"/>
          </a:solidFill>
          <a:ln/>
          <a:effectLst>
            <a:outerShdw blurRad="127000" dist="38100" dir="8100000" algn="bl" rotWithShape="0">
              <a:srgbClr val="000000">
                <a:alpha val="20000"/>
              </a:srgbClr>
            </a:outerShdw>
          </a:effectLst>
        </p:spPr>
        <p:txBody>
          <a:bodyPr/>
          <a:lstStyle/>
          <a:p>
            <a:endParaRPr lang="en-US"/>
          </a:p>
        </p:txBody>
      </p:sp>
      <p:sp>
        <p:nvSpPr>
          <p:cNvPr id="11" name="Shape 9"/>
          <p:cNvSpPr/>
          <p:nvPr/>
        </p:nvSpPr>
        <p:spPr>
          <a:xfrm>
            <a:off x="4206240" y="1600200"/>
            <a:ext cx="3566160" cy="64008"/>
          </a:xfrm>
          <a:prstGeom prst="rect">
            <a:avLst/>
          </a:prstGeom>
          <a:solidFill>
            <a:srgbClr val="009E7A"/>
          </a:solidFill>
          <a:ln/>
        </p:spPr>
        <p:txBody>
          <a:bodyPr/>
          <a:lstStyle/>
          <a:p>
            <a:endParaRPr lang="en-US"/>
          </a:p>
        </p:txBody>
      </p:sp>
      <p:sp>
        <p:nvSpPr>
          <p:cNvPr id="12" name="Text 10"/>
          <p:cNvSpPr/>
          <p:nvPr/>
        </p:nvSpPr>
        <p:spPr>
          <a:xfrm>
            <a:off x="4389120" y="1737360"/>
            <a:ext cx="3200400" cy="1005840"/>
          </a:xfrm>
          <a:prstGeom prst="rect">
            <a:avLst/>
          </a:prstGeom>
          <a:noFill/>
          <a:ln/>
        </p:spPr>
        <p:txBody>
          <a:bodyPr wrap="square" rtlCol="0" anchor="ctr"/>
          <a:lstStyle/>
          <a:p>
            <a:pPr marL="0" indent="0">
              <a:buNone/>
            </a:pPr>
            <a:r>
              <a:rPr lang="en-US" sz="5200" b="1" dirty="0">
                <a:solidFill>
                  <a:srgbClr val="009E7A"/>
                </a:solidFill>
                <a:latin typeface="Calibri" pitchFamily="34" charset="0"/>
                <a:ea typeface="Calibri" pitchFamily="34" charset="-122"/>
                <a:cs typeface="Calibri" pitchFamily="34" charset="-120"/>
              </a:rPr>
              <a:t>3–5×</a:t>
            </a:r>
            <a:endParaRPr lang="en-US" sz="5200" dirty="0"/>
          </a:p>
        </p:txBody>
      </p:sp>
      <p:sp>
        <p:nvSpPr>
          <p:cNvPr id="13" name="Text 11"/>
          <p:cNvSpPr/>
          <p:nvPr/>
        </p:nvSpPr>
        <p:spPr>
          <a:xfrm>
            <a:off x="4389120" y="2743200"/>
            <a:ext cx="3200400" cy="685800"/>
          </a:xfrm>
          <a:prstGeom prst="rect">
            <a:avLst/>
          </a:prstGeom>
          <a:noFill/>
          <a:ln/>
        </p:spPr>
        <p:txBody>
          <a:bodyPr wrap="square" rtlCol="0" anchor="ctr"/>
          <a:lstStyle/>
          <a:p>
            <a:pPr marL="0" indent="0">
              <a:buNone/>
            </a:pPr>
            <a:r>
              <a:rPr lang="en-US" sz="1300" b="1" dirty="0">
                <a:solidFill>
                  <a:srgbClr val="FFFFFF"/>
                </a:solidFill>
              </a:rPr>
              <a:t>more wallet share from data-driven personalization</a:t>
            </a:r>
            <a:endParaRPr lang="en-US" sz="1300" dirty="0"/>
          </a:p>
        </p:txBody>
      </p:sp>
      <p:sp>
        <p:nvSpPr>
          <p:cNvPr id="14" name="Text 12"/>
          <p:cNvSpPr/>
          <p:nvPr/>
        </p:nvSpPr>
        <p:spPr>
          <a:xfrm>
            <a:off x="4389120" y="3429000"/>
            <a:ext cx="3200400" cy="822960"/>
          </a:xfrm>
          <a:prstGeom prst="rect">
            <a:avLst/>
          </a:prstGeom>
          <a:noFill/>
          <a:ln/>
        </p:spPr>
        <p:txBody>
          <a:bodyPr wrap="square" rtlCol="0" anchor="ctr"/>
          <a:lstStyle/>
          <a:p>
            <a:pPr marL="0" indent="0">
              <a:buNone/>
            </a:pPr>
            <a:r>
              <a:rPr lang="en-US" sz="1100" dirty="0">
                <a:solidFill>
                  <a:srgbClr val="717070"/>
                </a:solidFill>
              </a:rPr>
              <a:t>vs. institutions operating without behavioral insights</a:t>
            </a:r>
            <a:endParaRPr lang="en-US" sz="1100" dirty="0"/>
          </a:p>
        </p:txBody>
      </p:sp>
      <p:sp>
        <p:nvSpPr>
          <p:cNvPr id="15" name="Shape 13"/>
          <p:cNvSpPr/>
          <p:nvPr/>
        </p:nvSpPr>
        <p:spPr>
          <a:xfrm>
            <a:off x="8046720" y="1600200"/>
            <a:ext cx="3566160" cy="2926080"/>
          </a:xfrm>
          <a:prstGeom prst="rect">
            <a:avLst/>
          </a:prstGeom>
          <a:solidFill>
            <a:srgbClr val="06185F"/>
          </a:solidFill>
          <a:ln/>
          <a:effectLst>
            <a:outerShdw blurRad="127000" dist="38100" dir="8100000" algn="bl" rotWithShape="0">
              <a:srgbClr val="000000">
                <a:alpha val="20000"/>
              </a:srgbClr>
            </a:outerShdw>
          </a:effectLst>
        </p:spPr>
        <p:txBody>
          <a:bodyPr/>
          <a:lstStyle/>
          <a:p>
            <a:endParaRPr lang="en-US"/>
          </a:p>
        </p:txBody>
      </p:sp>
      <p:sp>
        <p:nvSpPr>
          <p:cNvPr id="16" name="Shape 14"/>
          <p:cNvSpPr/>
          <p:nvPr/>
        </p:nvSpPr>
        <p:spPr>
          <a:xfrm>
            <a:off x="8046720" y="1600200"/>
            <a:ext cx="3566160" cy="64008"/>
          </a:xfrm>
          <a:prstGeom prst="rect">
            <a:avLst/>
          </a:prstGeom>
          <a:solidFill>
            <a:srgbClr val="009E7A"/>
          </a:solidFill>
          <a:ln/>
        </p:spPr>
        <p:txBody>
          <a:bodyPr/>
          <a:lstStyle/>
          <a:p>
            <a:endParaRPr lang="en-US"/>
          </a:p>
        </p:txBody>
      </p:sp>
      <p:sp>
        <p:nvSpPr>
          <p:cNvPr id="17" name="Text 15"/>
          <p:cNvSpPr/>
          <p:nvPr/>
        </p:nvSpPr>
        <p:spPr>
          <a:xfrm>
            <a:off x="8229600" y="1737360"/>
            <a:ext cx="3200400" cy="1005840"/>
          </a:xfrm>
          <a:prstGeom prst="rect">
            <a:avLst/>
          </a:prstGeom>
          <a:noFill/>
          <a:ln/>
        </p:spPr>
        <p:txBody>
          <a:bodyPr wrap="square" rtlCol="0" anchor="ctr"/>
          <a:lstStyle/>
          <a:p>
            <a:pPr marL="0" indent="0">
              <a:buNone/>
            </a:pPr>
            <a:r>
              <a:rPr lang="en-US" sz="5200" b="1" dirty="0">
                <a:solidFill>
                  <a:srgbClr val="009E7A"/>
                </a:solidFill>
                <a:latin typeface="Calibri" pitchFamily="34" charset="0"/>
                <a:ea typeface="Calibri" pitchFamily="34" charset="-122"/>
                <a:cs typeface="Calibri" pitchFamily="34" charset="-120"/>
              </a:rPr>
              <a:t>Day 1</a:t>
            </a:r>
            <a:endParaRPr lang="en-US" sz="5200" dirty="0"/>
          </a:p>
        </p:txBody>
      </p:sp>
      <p:sp>
        <p:nvSpPr>
          <p:cNvPr id="18" name="Text 16"/>
          <p:cNvSpPr/>
          <p:nvPr/>
        </p:nvSpPr>
        <p:spPr>
          <a:xfrm>
            <a:off x="8229600" y="2743200"/>
            <a:ext cx="3200400" cy="685800"/>
          </a:xfrm>
          <a:prstGeom prst="rect">
            <a:avLst/>
          </a:prstGeom>
          <a:noFill/>
          <a:ln/>
        </p:spPr>
        <p:txBody>
          <a:bodyPr wrap="square" rtlCol="0" anchor="ctr"/>
          <a:lstStyle/>
          <a:p>
            <a:pPr marL="0" indent="0">
              <a:buNone/>
            </a:pPr>
            <a:r>
              <a:rPr lang="en-US" sz="1300" b="1" dirty="0">
                <a:solidFill>
                  <a:srgbClr val="FFFFFF"/>
                </a:solidFill>
              </a:rPr>
              <a:t>time-to-value with a pre-modeled data warehouse</a:t>
            </a:r>
            <a:endParaRPr lang="en-US" sz="1300" dirty="0"/>
          </a:p>
        </p:txBody>
      </p:sp>
      <p:sp>
        <p:nvSpPr>
          <p:cNvPr id="19" name="Text 17"/>
          <p:cNvSpPr/>
          <p:nvPr/>
        </p:nvSpPr>
        <p:spPr>
          <a:xfrm>
            <a:off x="8229600" y="3429000"/>
            <a:ext cx="3200400" cy="822960"/>
          </a:xfrm>
          <a:prstGeom prst="rect">
            <a:avLst/>
          </a:prstGeom>
          <a:noFill/>
          <a:ln/>
        </p:spPr>
        <p:txBody>
          <a:bodyPr wrap="square" rtlCol="0" anchor="ctr"/>
          <a:lstStyle/>
          <a:p>
            <a:pPr marL="0" indent="0">
              <a:buNone/>
            </a:pPr>
            <a:r>
              <a:rPr lang="en-US" sz="1100" dirty="0">
                <a:solidFill>
                  <a:srgbClr val="717070"/>
                </a:solidFill>
              </a:rPr>
              <a:t>vs. 12–18 months to build an internal data lake</a:t>
            </a:r>
            <a:endParaRPr lang="en-US" sz="1100" dirty="0"/>
          </a:p>
        </p:txBody>
      </p:sp>
      <p:sp>
        <p:nvSpPr>
          <p:cNvPr id="20" name="Shape 18"/>
          <p:cNvSpPr/>
          <p:nvPr/>
        </p:nvSpPr>
        <p:spPr>
          <a:xfrm>
            <a:off x="365760" y="4754880"/>
            <a:ext cx="11430000" cy="1005840"/>
          </a:xfrm>
          <a:prstGeom prst="rect">
            <a:avLst/>
          </a:prstGeom>
          <a:solidFill>
            <a:srgbClr val="009E7A"/>
          </a:solidFill>
          <a:ln/>
        </p:spPr>
        <p:txBody>
          <a:bodyPr/>
          <a:lstStyle/>
          <a:p>
            <a:endParaRPr lang="en-US"/>
          </a:p>
        </p:txBody>
      </p:sp>
      <p:sp>
        <p:nvSpPr>
          <p:cNvPr id="21" name="Text 19"/>
          <p:cNvSpPr/>
          <p:nvPr/>
        </p:nvSpPr>
        <p:spPr>
          <a:xfrm>
            <a:off x="548640" y="4754880"/>
            <a:ext cx="11064240" cy="1005840"/>
          </a:xfrm>
          <a:prstGeom prst="rect">
            <a:avLst/>
          </a:prstGeom>
          <a:noFill/>
          <a:ln/>
        </p:spPr>
        <p:txBody>
          <a:bodyPr wrap="square" rtlCol="0" anchor="ctr"/>
          <a:lstStyle/>
          <a:p>
            <a:pPr marL="0" indent="0">
              <a:buNone/>
            </a:pPr>
            <a:r>
              <a:rPr lang="en-US" sz="1500" b="1" dirty="0">
                <a:solidFill>
                  <a:srgbClr val="06185F"/>
                </a:solidFill>
              </a:rPr>
              <a:t>As an existing Jack Henry client, you're uniquely positioned — your data is already there. The question is whether you're using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D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6185F"/>
          </a:solidFill>
          <a:ln/>
        </p:spPr>
        <p:txBody>
          <a:bodyPr/>
          <a:lstStyle/>
          <a:p>
            <a:endParaRPr lang="en-US"/>
          </a:p>
        </p:txBody>
      </p:sp>
      <p:sp>
        <p:nvSpPr>
          <p:cNvPr id="3" name="Shape 1"/>
          <p:cNvSpPr/>
          <p:nvPr/>
        </p:nvSpPr>
        <p:spPr>
          <a:xfrm>
            <a:off x="0" y="1188720"/>
            <a:ext cx="12161520" cy="64008"/>
          </a:xfrm>
          <a:prstGeom prst="rect">
            <a:avLst/>
          </a:prstGeom>
          <a:solidFill>
            <a:srgbClr val="009E7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320040" y="274320"/>
            <a:ext cx="594360" cy="594360"/>
          </a:xfrm>
          <a:prstGeom prst="rect">
            <a:avLst/>
          </a:prstGeom>
        </p:spPr>
      </p:pic>
      <p:sp>
        <p:nvSpPr>
          <p:cNvPr id="5" name="Text 2"/>
          <p:cNvSpPr/>
          <p:nvPr/>
        </p:nvSpPr>
        <p:spPr>
          <a:xfrm>
            <a:off x="1005840" y="0"/>
            <a:ext cx="4572000" cy="1188720"/>
          </a:xfrm>
          <a:prstGeom prst="rect">
            <a:avLst/>
          </a:prstGeom>
          <a:noFill/>
          <a:ln/>
        </p:spPr>
        <p:txBody>
          <a:bodyPr wrap="square" rtlCol="0" anchor="ctr"/>
          <a:lstStyle/>
          <a:p>
            <a:pPr marL="0" indent="0">
              <a:buNone/>
            </a:pPr>
            <a:r>
              <a:rPr lang="en-US" sz="3200" b="1" dirty="0">
                <a:solidFill>
                  <a:srgbClr val="FFFFFF"/>
                </a:solidFill>
              </a:rPr>
              <a:t>DataHub</a:t>
            </a:r>
            <a:endParaRPr lang="en-US" sz="3200" dirty="0"/>
          </a:p>
        </p:txBody>
      </p:sp>
      <p:sp>
        <p:nvSpPr>
          <p:cNvPr id="6" name="Text 3"/>
          <p:cNvSpPr/>
          <p:nvPr/>
        </p:nvSpPr>
        <p:spPr>
          <a:xfrm>
            <a:off x="1005840" y="502920"/>
            <a:ext cx="8229600" cy="640080"/>
          </a:xfrm>
          <a:prstGeom prst="rect">
            <a:avLst/>
          </a:prstGeom>
          <a:noFill/>
          <a:ln/>
        </p:spPr>
        <p:txBody>
          <a:bodyPr wrap="square" rtlCol="0" anchor="ctr"/>
          <a:lstStyle/>
          <a:p>
            <a:pPr marL="0" indent="0">
              <a:buNone/>
            </a:pPr>
            <a:r>
              <a:rPr lang="en-US" sz="1300" dirty="0">
                <a:solidFill>
                  <a:srgbClr val="009E7A"/>
                </a:solidFill>
              </a:rPr>
              <a:t>Raw data from your Jack Henry systems — standardized, cloud-delivered, developer-ready.</a:t>
            </a:r>
            <a:endParaRPr lang="en-US" sz="1300" dirty="0"/>
          </a:p>
        </p:txBody>
      </p:sp>
      <p:sp>
        <p:nvSpPr>
          <p:cNvPr id="7" name="Text 4"/>
          <p:cNvSpPr/>
          <p:nvPr/>
        </p:nvSpPr>
        <p:spPr>
          <a:xfrm>
            <a:off x="365760" y="1463040"/>
            <a:ext cx="5303520" cy="365760"/>
          </a:xfrm>
          <a:prstGeom prst="rect">
            <a:avLst/>
          </a:prstGeom>
          <a:noFill/>
          <a:ln/>
        </p:spPr>
        <p:txBody>
          <a:bodyPr wrap="square" rtlCol="0" anchor="ctr"/>
          <a:lstStyle/>
          <a:p>
            <a:pPr marL="0" indent="0">
              <a:buNone/>
            </a:pPr>
            <a:r>
              <a:rPr lang="en-US" sz="1600" b="1" dirty="0">
                <a:solidFill>
                  <a:srgbClr val="06185F"/>
                </a:solidFill>
              </a:rPr>
              <a:t>What It Is</a:t>
            </a:r>
            <a:endParaRPr lang="en-US" sz="1600" dirty="0"/>
          </a:p>
        </p:txBody>
      </p:sp>
      <p:sp>
        <p:nvSpPr>
          <p:cNvPr id="8" name="Text 5"/>
          <p:cNvSpPr/>
          <p:nvPr/>
        </p:nvSpPr>
        <p:spPr>
          <a:xfrm>
            <a:off x="365760" y="1874520"/>
            <a:ext cx="5303520" cy="1188720"/>
          </a:xfrm>
          <a:prstGeom prst="rect">
            <a:avLst/>
          </a:prstGeom>
          <a:noFill/>
          <a:ln/>
        </p:spPr>
        <p:txBody>
          <a:bodyPr wrap="square" rtlCol="0" anchor="ctr"/>
          <a:lstStyle/>
          <a:p>
            <a:pPr marL="0" indent="0">
              <a:buNone/>
            </a:pPr>
            <a:r>
              <a:rPr lang="en-US" sz="1200" dirty="0">
                <a:solidFill>
                  <a:srgbClr val="575A5D"/>
                </a:solidFill>
              </a:rPr>
              <a:t>DataHub delivers monthly batch feeds of raw and aggregated data from your Jack Henry core systems directly into your cloud environment (Google BigQuery). No ETL pipelines to build. No data extraction projects. The data is yours — formatted and waiting.</a:t>
            </a:r>
            <a:endParaRPr lang="en-US" sz="1200" dirty="0"/>
          </a:p>
        </p:txBody>
      </p:sp>
      <p:sp>
        <p:nvSpPr>
          <p:cNvPr id="9" name="Text 6"/>
          <p:cNvSpPr/>
          <p:nvPr/>
        </p:nvSpPr>
        <p:spPr>
          <a:xfrm>
            <a:off x="365760" y="3200400"/>
            <a:ext cx="5303520" cy="320040"/>
          </a:xfrm>
          <a:prstGeom prst="rect">
            <a:avLst/>
          </a:prstGeom>
          <a:noFill/>
          <a:ln/>
        </p:spPr>
        <p:txBody>
          <a:bodyPr wrap="square" rtlCol="0" anchor="ctr"/>
          <a:lstStyle/>
          <a:p>
            <a:pPr marL="0" indent="0">
              <a:buNone/>
            </a:pPr>
            <a:r>
              <a:rPr lang="en-US" sz="1400" b="1" dirty="0">
                <a:solidFill>
                  <a:srgbClr val="06185F"/>
                </a:solidFill>
              </a:rPr>
              <a:t>Available Data Feeds</a:t>
            </a:r>
            <a:endParaRPr lang="en-US" sz="1400" dirty="0"/>
          </a:p>
        </p:txBody>
      </p:sp>
      <p:sp>
        <p:nvSpPr>
          <p:cNvPr id="10" name="Shape 7"/>
          <p:cNvSpPr/>
          <p:nvPr/>
        </p:nvSpPr>
        <p:spPr>
          <a:xfrm>
            <a:off x="365760" y="3566160"/>
            <a:ext cx="2514600" cy="658368"/>
          </a:xfrm>
          <a:prstGeom prst="rect">
            <a:avLst/>
          </a:prstGeom>
          <a:solidFill>
            <a:srgbClr val="FFFFFF"/>
          </a:solidFill>
          <a:ln w="12700">
            <a:solidFill>
              <a:srgbClr val="E8ECF1"/>
            </a:solidFill>
            <a:prstDash val="solid"/>
          </a:ln>
        </p:spPr>
        <p:txBody>
          <a:bodyPr/>
          <a:lstStyle/>
          <a:p>
            <a:endParaRPr lang="en-US"/>
          </a:p>
        </p:txBody>
      </p:sp>
      <p:sp>
        <p:nvSpPr>
          <p:cNvPr id="11" name="Shape 8"/>
          <p:cNvSpPr/>
          <p:nvPr/>
        </p:nvSpPr>
        <p:spPr>
          <a:xfrm>
            <a:off x="365760" y="3566160"/>
            <a:ext cx="73152" cy="658368"/>
          </a:xfrm>
          <a:prstGeom prst="rect">
            <a:avLst/>
          </a:prstGeom>
          <a:solidFill>
            <a:srgbClr val="009E7A"/>
          </a:solidFill>
          <a:ln/>
        </p:spPr>
        <p:txBody>
          <a:bodyPr/>
          <a:lstStyle/>
          <a:p>
            <a:endParaRPr lang="en-US"/>
          </a:p>
        </p:txBody>
      </p:sp>
      <p:sp>
        <p:nvSpPr>
          <p:cNvPr id="12" name="Text 9"/>
          <p:cNvSpPr/>
          <p:nvPr/>
        </p:nvSpPr>
        <p:spPr>
          <a:xfrm>
            <a:off x="530352" y="3621024"/>
            <a:ext cx="2286000" cy="274320"/>
          </a:xfrm>
          <a:prstGeom prst="rect">
            <a:avLst/>
          </a:prstGeom>
          <a:noFill/>
          <a:ln/>
        </p:spPr>
        <p:txBody>
          <a:bodyPr wrap="square" rtlCol="0" anchor="ctr"/>
          <a:lstStyle/>
          <a:p>
            <a:pPr marL="0" indent="0">
              <a:buNone/>
            </a:pPr>
            <a:r>
              <a:rPr lang="en-US" sz="1100" b="1" dirty="0">
                <a:solidFill>
                  <a:srgbClr val="06185F"/>
                </a:solidFill>
              </a:rPr>
              <a:t>SilverLake Core</a:t>
            </a:r>
            <a:endParaRPr lang="en-US" sz="1100" dirty="0"/>
          </a:p>
        </p:txBody>
      </p:sp>
      <p:sp>
        <p:nvSpPr>
          <p:cNvPr id="13" name="Text 10"/>
          <p:cNvSpPr/>
          <p:nvPr/>
        </p:nvSpPr>
        <p:spPr>
          <a:xfrm>
            <a:off x="530352" y="3886200"/>
            <a:ext cx="2286000" cy="256032"/>
          </a:xfrm>
          <a:prstGeom prst="rect">
            <a:avLst/>
          </a:prstGeom>
          <a:noFill/>
          <a:ln/>
        </p:spPr>
        <p:txBody>
          <a:bodyPr wrap="square" rtlCol="0" anchor="ctr"/>
          <a:lstStyle/>
          <a:p>
            <a:pPr marL="0" indent="0">
              <a:buNone/>
            </a:pPr>
            <a:r>
              <a:rPr lang="en-US" sz="950" dirty="0">
                <a:solidFill>
                  <a:srgbClr val="4A6080"/>
                </a:solidFill>
              </a:rPr>
              <a:t>Core banking transactions &amp; balances</a:t>
            </a:r>
            <a:endParaRPr lang="en-US" sz="950" dirty="0"/>
          </a:p>
        </p:txBody>
      </p:sp>
      <p:sp>
        <p:nvSpPr>
          <p:cNvPr id="14" name="Shape 11"/>
          <p:cNvSpPr/>
          <p:nvPr/>
        </p:nvSpPr>
        <p:spPr>
          <a:xfrm>
            <a:off x="3063240" y="3566160"/>
            <a:ext cx="2514600" cy="658368"/>
          </a:xfrm>
          <a:prstGeom prst="rect">
            <a:avLst/>
          </a:prstGeom>
          <a:solidFill>
            <a:srgbClr val="FFFFFF"/>
          </a:solidFill>
          <a:ln w="12700">
            <a:solidFill>
              <a:srgbClr val="E8ECF1"/>
            </a:solidFill>
            <a:prstDash val="solid"/>
          </a:ln>
        </p:spPr>
        <p:txBody>
          <a:bodyPr/>
          <a:lstStyle/>
          <a:p>
            <a:endParaRPr lang="en-US"/>
          </a:p>
        </p:txBody>
      </p:sp>
      <p:sp>
        <p:nvSpPr>
          <p:cNvPr id="15" name="Shape 12"/>
          <p:cNvSpPr/>
          <p:nvPr/>
        </p:nvSpPr>
        <p:spPr>
          <a:xfrm>
            <a:off x="3063240" y="3566160"/>
            <a:ext cx="73152" cy="658368"/>
          </a:xfrm>
          <a:prstGeom prst="rect">
            <a:avLst/>
          </a:prstGeom>
          <a:solidFill>
            <a:srgbClr val="009E7A"/>
          </a:solidFill>
          <a:ln/>
        </p:spPr>
        <p:txBody>
          <a:bodyPr/>
          <a:lstStyle/>
          <a:p>
            <a:endParaRPr lang="en-US"/>
          </a:p>
        </p:txBody>
      </p:sp>
      <p:sp>
        <p:nvSpPr>
          <p:cNvPr id="16" name="Text 13"/>
          <p:cNvSpPr/>
          <p:nvPr/>
        </p:nvSpPr>
        <p:spPr>
          <a:xfrm>
            <a:off x="3227832" y="3621024"/>
            <a:ext cx="2286000" cy="274320"/>
          </a:xfrm>
          <a:prstGeom prst="rect">
            <a:avLst/>
          </a:prstGeom>
          <a:noFill/>
          <a:ln/>
        </p:spPr>
        <p:txBody>
          <a:bodyPr wrap="square" rtlCol="0" anchor="ctr"/>
          <a:lstStyle/>
          <a:p>
            <a:pPr marL="0" indent="0">
              <a:buNone/>
            </a:pPr>
            <a:r>
              <a:rPr lang="en-US" sz="1100" b="1" dirty="0">
                <a:solidFill>
                  <a:srgbClr val="06185F"/>
                </a:solidFill>
              </a:rPr>
              <a:t>Digital / Banno</a:t>
            </a:r>
            <a:endParaRPr lang="en-US" sz="1100" dirty="0"/>
          </a:p>
        </p:txBody>
      </p:sp>
      <p:sp>
        <p:nvSpPr>
          <p:cNvPr id="17" name="Text 14"/>
          <p:cNvSpPr/>
          <p:nvPr/>
        </p:nvSpPr>
        <p:spPr>
          <a:xfrm>
            <a:off x="3227832" y="3886200"/>
            <a:ext cx="2286000" cy="256032"/>
          </a:xfrm>
          <a:prstGeom prst="rect">
            <a:avLst/>
          </a:prstGeom>
          <a:noFill/>
          <a:ln/>
        </p:spPr>
        <p:txBody>
          <a:bodyPr wrap="square" rtlCol="0" anchor="ctr"/>
          <a:lstStyle/>
          <a:p>
            <a:pPr marL="0" indent="0">
              <a:buNone/>
            </a:pPr>
            <a:r>
              <a:rPr lang="en-US" sz="950" dirty="0">
                <a:solidFill>
                  <a:srgbClr val="4A6080"/>
                </a:solidFill>
              </a:rPr>
              <a:t>Digital banking channel activity</a:t>
            </a:r>
            <a:endParaRPr lang="en-US" sz="950" dirty="0"/>
          </a:p>
        </p:txBody>
      </p:sp>
      <p:sp>
        <p:nvSpPr>
          <p:cNvPr id="18" name="Shape 15"/>
          <p:cNvSpPr/>
          <p:nvPr/>
        </p:nvSpPr>
        <p:spPr>
          <a:xfrm>
            <a:off x="365760" y="4343400"/>
            <a:ext cx="2514600" cy="658368"/>
          </a:xfrm>
          <a:prstGeom prst="rect">
            <a:avLst/>
          </a:prstGeom>
          <a:solidFill>
            <a:srgbClr val="FFFFFF"/>
          </a:solidFill>
          <a:ln w="12700">
            <a:solidFill>
              <a:srgbClr val="E8ECF1"/>
            </a:solidFill>
            <a:prstDash val="solid"/>
          </a:ln>
        </p:spPr>
        <p:txBody>
          <a:bodyPr/>
          <a:lstStyle/>
          <a:p>
            <a:endParaRPr lang="en-US"/>
          </a:p>
        </p:txBody>
      </p:sp>
      <p:sp>
        <p:nvSpPr>
          <p:cNvPr id="19" name="Shape 16"/>
          <p:cNvSpPr/>
          <p:nvPr/>
        </p:nvSpPr>
        <p:spPr>
          <a:xfrm>
            <a:off x="365760" y="4343400"/>
            <a:ext cx="73152" cy="658368"/>
          </a:xfrm>
          <a:prstGeom prst="rect">
            <a:avLst/>
          </a:prstGeom>
          <a:solidFill>
            <a:srgbClr val="009E7A"/>
          </a:solidFill>
          <a:ln/>
        </p:spPr>
        <p:txBody>
          <a:bodyPr/>
          <a:lstStyle/>
          <a:p>
            <a:endParaRPr lang="en-US"/>
          </a:p>
        </p:txBody>
      </p:sp>
      <p:sp>
        <p:nvSpPr>
          <p:cNvPr id="20" name="Text 17"/>
          <p:cNvSpPr/>
          <p:nvPr/>
        </p:nvSpPr>
        <p:spPr>
          <a:xfrm>
            <a:off x="530352" y="4398264"/>
            <a:ext cx="2286000" cy="274320"/>
          </a:xfrm>
          <a:prstGeom prst="rect">
            <a:avLst/>
          </a:prstGeom>
          <a:noFill/>
          <a:ln/>
        </p:spPr>
        <p:txBody>
          <a:bodyPr wrap="square" rtlCol="0" anchor="ctr"/>
          <a:lstStyle/>
          <a:p>
            <a:pPr marL="0" indent="0">
              <a:buNone/>
            </a:pPr>
            <a:r>
              <a:rPr lang="en-US" sz="1100" b="1" dirty="0">
                <a:solidFill>
                  <a:srgbClr val="06185F"/>
                </a:solidFill>
              </a:rPr>
              <a:t>Digital Core</a:t>
            </a:r>
            <a:endParaRPr lang="en-US" sz="1100" dirty="0"/>
          </a:p>
        </p:txBody>
      </p:sp>
      <p:sp>
        <p:nvSpPr>
          <p:cNvPr id="21" name="Text 18"/>
          <p:cNvSpPr/>
          <p:nvPr/>
        </p:nvSpPr>
        <p:spPr>
          <a:xfrm>
            <a:off x="530352" y="4663440"/>
            <a:ext cx="2286000" cy="256032"/>
          </a:xfrm>
          <a:prstGeom prst="rect">
            <a:avLst/>
          </a:prstGeom>
          <a:noFill/>
          <a:ln/>
        </p:spPr>
        <p:txBody>
          <a:bodyPr wrap="square" rtlCol="0" anchor="ctr"/>
          <a:lstStyle/>
          <a:p>
            <a:pPr marL="0" indent="0">
              <a:buNone/>
            </a:pPr>
            <a:r>
              <a:rPr lang="en-US" sz="950" dirty="0">
                <a:solidFill>
                  <a:srgbClr val="4A6080"/>
                </a:solidFill>
              </a:rPr>
              <a:t>Cloud-native core data</a:t>
            </a:r>
            <a:endParaRPr lang="en-US" sz="950" dirty="0"/>
          </a:p>
        </p:txBody>
      </p:sp>
      <p:sp>
        <p:nvSpPr>
          <p:cNvPr id="22" name="Shape 19"/>
          <p:cNvSpPr/>
          <p:nvPr/>
        </p:nvSpPr>
        <p:spPr>
          <a:xfrm>
            <a:off x="3063240" y="4343400"/>
            <a:ext cx="2514600" cy="658368"/>
          </a:xfrm>
          <a:prstGeom prst="rect">
            <a:avLst/>
          </a:prstGeom>
          <a:solidFill>
            <a:srgbClr val="FFFFFF"/>
          </a:solidFill>
          <a:ln w="12700">
            <a:solidFill>
              <a:srgbClr val="E8ECF1"/>
            </a:solidFill>
            <a:prstDash val="solid"/>
          </a:ln>
        </p:spPr>
        <p:txBody>
          <a:bodyPr/>
          <a:lstStyle/>
          <a:p>
            <a:endParaRPr lang="en-US"/>
          </a:p>
        </p:txBody>
      </p:sp>
      <p:sp>
        <p:nvSpPr>
          <p:cNvPr id="23" name="Shape 20"/>
          <p:cNvSpPr/>
          <p:nvPr/>
        </p:nvSpPr>
        <p:spPr>
          <a:xfrm>
            <a:off x="3063240" y="4343400"/>
            <a:ext cx="73152" cy="658368"/>
          </a:xfrm>
          <a:prstGeom prst="rect">
            <a:avLst/>
          </a:prstGeom>
          <a:solidFill>
            <a:srgbClr val="009E7A"/>
          </a:solidFill>
          <a:ln/>
        </p:spPr>
        <p:txBody>
          <a:bodyPr/>
          <a:lstStyle/>
          <a:p>
            <a:endParaRPr lang="en-US"/>
          </a:p>
        </p:txBody>
      </p:sp>
      <p:sp>
        <p:nvSpPr>
          <p:cNvPr id="24" name="Text 21"/>
          <p:cNvSpPr/>
          <p:nvPr/>
        </p:nvSpPr>
        <p:spPr>
          <a:xfrm>
            <a:off x="3227832" y="4398264"/>
            <a:ext cx="2286000" cy="274320"/>
          </a:xfrm>
          <a:prstGeom prst="rect">
            <a:avLst/>
          </a:prstGeom>
          <a:noFill/>
          <a:ln/>
        </p:spPr>
        <p:txBody>
          <a:bodyPr wrap="square" rtlCol="0" anchor="ctr"/>
          <a:lstStyle/>
          <a:p>
            <a:pPr marL="0" indent="0">
              <a:buNone/>
            </a:pPr>
            <a:r>
              <a:rPr lang="en-US" sz="1100" b="1" dirty="0">
                <a:solidFill>
                  <a:srgbClr val="06185F"/>
                </a:solidFill>
              </a:rPr>
              <a:t>Wire Transfers</a:t>
            </a:r>
            <a:endParaRPr lang="en-US" sz="1100" dirty="0"/>
          </a:p>
        </p:txBody>
      </p:sp>
      <p:sp>
        <p:nvSpPr>
          <p:cNvPr id="25" name="Text 22"/>
          <p:cNvSpPr/>
          <p:nvPr/>
        </p:nvSpPr>
        <p:spPr>
          <a:xfrm>
            <a:off x="3227832" y="4663440"/>
            <a:ext cx="2286000" cy="256032"/>
          </a:xfrm>
          <a:prstGeom prst="rect">
            <a:avLst/>
          </a:prstGeom>
          <a:noFill/>
          <a:ln/>
        </p:spPr>
        <p:txBody>
          <a:bodyPr wrap="square" rtlCol="0" anchor="ctr"/>
          <a:lstStyle/>
          <a:p>
            <a:pPr marL="0" indent="0">
              <a:buNone/>
            </a:pPr>
            <a:r>
              <a:rPr lang="en-US" sz="950" dirty="0">
                <a:solidFill>
                  <a:srgbClr val="4A6080"/>
                </a:solidFill>
              </a:rPr>
              <a:t>Wire transaction records</a:t>
            </a:r>
            <a:endParaRPr lang="en-US" sz="950" dirty="0"/>
          </a:p>
        </p:txBody>
      </p:sp>
      <p:sp>
        <p:nvSpPr>
          <p:cNvPr id="26" name="Shape 23"/>
          <p:cNvSpPr/>
          <p:nvPr/>
        </p:nvSpPr>
        <p:spPr>
          <a:xfrm>
            <a:off x="365760" y="5120640"/>
            <a:ext cx="2514600" cy="658368"/>
          </a:xfrm>
          <a:prstGeom prst="rect">
            <a:avLst/>
          </a:prstGeom>
          <a:solidFill>
            <a:srgbClr val="FFFFFF"/>
          </a:solidFill>
          <a:ln w="12700">
            <a:solidFill>
              <a:srgbClr val="E8ECF1"/>
            </a:solidFill>
            <a:prstDash val="solid"/>
          </a:ln>
        </p:spPr>
        <p:txBody>
          <a:bodyPr/>
          <a:lstStyle/>
          <a:p>
            <a:endParaRPr lang="en-US"/>
          </a:p>
        </p:txBody>
      </p:sp>
      <p:sp>
        <p:nvSpPr>
          <p:cNvPr id="27" name="Shape 24"/>
          <p:cNvSpPr/>
          <p:nvPr/>
        </p:nvSpPr>
        <p:spPr>
          <a:xfrm>
            <a:off x="365760" y="5120640"/>
            <a:ext cx="73152" cy="658368"/>
          </a:xfrm>
          <a:prstGeom prst="rect">
            <a:avLst/>
          </a:prstGeom>
          <a:solidFill>
            <a:srgbClr val="009E7A"/>
          </a:solidFill>
          <a:ln/>
        </p:spPr>
        <p:txBody>
          <a:bodyPr/>
          <a:lstStyle/>
          <a:p>
            <a:endParaRPr lang="en-US"/>
          </a:p>
        </p:txBody>
      </p:sp>
      <p:sp>
        <p:nvSpPr>
          <p:cNvPr id="28" name="Text 25"/>
          <p:cNvSpPr/>
          <p:nvPr/>
        </p:nvSpPr>
        <p:spPr>
          <a:xfrm>
            <a:off x="530352" y="5175504"/>
            <a:ext cx="2286000" cy="274320"/>
          </a:xfrm>
          <a:prstGeom prst="rect">
            <a:avLst/>
          </a:prstGeom>
          <a:noFill/>
          <a:ln/>
        </p:spPr>
        <p:txBody>
          <a:bodyPr wrap="square" rtlCol="0" anchor="ctr"/>
          <a:lstStyle/>
          <a:p>
            <a:pPr marL="0" indent="0">
              <a:buNone/>
            </a:pPr>
            <a:r>
              <a:rPr lang="en-US" sz="1100" b="1" dirty="0">
                <a:solidFill>
                  <a:srgbClr val="06185F"/>
                </a:solidFill>
              </a:rPr>
              <a:t>Sanctions Screening</a:t>
            </a:r>
            <a:endParaRPr lang="en-US" sz="1100" dirty="0"/>
          </a:p>
        </p:txBody>
      </p:sp>
      <p:sp>
        <p:nvSpPr>
          <p:cNvPr id="29" name="Text 26"/>
          <p:cNvSpPr/>
          <p:nvPr/>
        </p:nvSpPr>
        <p:spPr>
          <a:xfrm>
            <a:off x="530352" y="5440680"/>
            <a:ext cx="2286000" cy="256032"/>
          </a:xfrm>
          <a:prstGeom prst="rect">
            <a:avLst/>
          </a:prstGeom>
          <a:noFill/>
          <a:ln/>
        </p:spPr>
        <p:txBody>
          <a:bodyPr wrap="square" rtlCol="0" anchor="ctr"/>
          <a:lstStyle/>
          <a:p>
            <a:pPr marL="0" indent="0">
              <a:buNone/>
            </a:pPr>
            <a:r>
              <a:rPr lang="en-US" sz="950" dirty="0">
                <a:solidFill>
                  <a:srgbClr val="4A6080"/>
                </a:solidFill>
              </a:rPr>
              <a:t>Compliance screening results</a:t>
            </a:r>
            <a:endParaRPr lang="en-US" sz="950" dirty="0"/>
          </a:p>
        </p:txBody>
      </p:sp>
      <p:sp>
        <p:nvSpPr>
          <p:cNvPr id="30" name="Shape 27"/>
          <p:cNvSpPr/>
          <p:nvPr/>
        </p:nvSpPr>
        <p:spPr>
          <a:xfrm>
            <a:off x="3063240" y="5120640"/>
            <a:ext cx="2514600" cy="658368"/>
          </a:xfrm>
          <a:prstGeom prst="rect">
            <a:avLst/>
          </a:prstGeom>
          <a:solidFill>
            <a:srgbClr val="FFFFFF"/>
          </a:solidFill>
          <a:ln w="12700">
            <a:solidFill>
              <a:srgbClr val="E8ECF1"/>
            </a:solidFill>
            <a:prstDash val="solid"/>
          </a:ln>
        </p:spPr>
        <p:txBody>
          <a:bodyPr/>
          <a:lstStyle/>
          <a:p>
            <a:endParaRPr lang="en-US"/>
          </a:p>
        </p:txBody>
      </p:sp>
      <p:sp>
        <p:nvSpPr>
          <p:cNvPr id="31" name="Shape 28"/>
          <p:cNvSpPr/>
          <p:nvPr/>
        </p:nvSpPr>
        <p:spPr>
          <a:xfrm>
            <a:off x="3063240" y="5120640"/>
            <a:ext cx="73152" cy="658368"/>
          </a:xfrm>
          <a:prstGeom prst="rect">
            <a:avLst/>
          </a:prstGeom>
          <a:solidFill>
            <a:srgbClr val="009E7A"/>
          </a:solidFill>
          <a:ln/>
        </p:spPr>
        <p:txBody>
          <a:bodyPr/>
          <a:lstStyle/>
          <a:p>
            <a:endParaRPr lang="en-US"/>
          </a:p>
        </p:txBody>
      </p:sp>
      <p:sp>
        <p:nvSpPr>
          <p:cNvPr id="32" name="Text 29"/>
          <p:cNvSpPr/>
          <p:nvPr/>
        </p:nvSpPr>
        <p:spPr>
          <a:xfrm>
            <a:off x="3227832" y="5175504"/>
            <a:ext cx="2286000" cy="274320"/>
          </a:xfrm>
          <a:prstGeom prst="rect">
            <a:avLst/>
          </a:prstGeom>
          <a:noFill/>
          <a:ln/>
        </p:spPr>
        <p:txBody>
          <a:bodyPr wrap="square" rtlCol="0" anchor="ctr"/>
          <a:lstStyle/>
          <a:p>
            <a:pPr marL="0" indent="0">
              <a:buNone/>
            </a:pPr>
            <a:r>
              <a:rPr lang="en-US" sz="1100" b="1" dirty="0">
                <a:solidFill>
                  <a:srgbClr val="06185F"/>
                </a:solidFill>
              </a:rPr>
              <a:t>Monthly Payment Agg.</a:t>
            </a:r>
            <a:endParaRPr lang="en-US" sz="1100" dirty="0"/>
          </a:p>
        </p:txBody>
      </p:sp>
      <p:sp>
        <p:nvSpPr>
          <p:cNvPr id="33" name="Text 30"/>
          <p:cNvSpPr/>
          <p:nvPr/>
        </p:nvSpPr>
        <p:spPr>
          <a:xfrm>
            <a:off x="3227832" y="5440680"/>
            <a:ext cx="2286000" cy="256032"/>
          </a:xfrm>
          <a:prstGeom prst="rect">
            <a:avLst/>
          </a:prstGeom>
          <a:noFill/>
          <a:ln/>
        </p:spPr>
        <p:txBody>
          <a:bodyPr wrap="square" rtlCol="0" anchor="ctr"/>
          <a:lstStyle/>
          <a:p>
            <a:pPr marL="0" indent="0">
              <a:buNone/>
            </a:pPr>
            <a:r>
              <a:rPr lang="en-US" sz="950" dirty="0">
                <a:solidFill>
                  <a:srgbClr val="4A6080"/>
                </a:solidFill>
              </a:rPr>
              <a:t>Payment aggregates &amp; trends</a:t>
            </a:r>
            <a:endParaRPr lang="en-US" sz="950" dirty="0"/>
          </a:p>
        </p:txBody>
      </p:sp>
      <p:sp>
        <p:nvSpPr>
          <p:cNvPr id="34" name="Shape 31"/>
          <p:cNvSpPr/>
          <p:nvPr/>
        </p:nvSpPr>
        <p:spPr>
          <a:xfrm>
            <a:off x="6126480" y="1417320"/>
            <a:ext cx="5669280" cy="5074920"/>
          </a:xfrm>
          <a:prstGeom prst="rect">
            <a:avLst/>
          </a:prstGeom>
          <a:solidFill>
            <a:srgbClr val="06185F"/>
          </a:solidFill>
          <a:ln/>
        </p:spPr>
        <p:txBody>
          <a:bodyPr/>
          <a:lstStyle/>
          <a:p>
            <a:endParaRPr lang="en-US"/>
          </a:p>
        </p:txBody>
      </p:sp>
      <p:sp>
        <p:nvSpPr>
          <p:cNvPr id="35" name="Text 32"/>
          <p:cNvSpPr/>
          <p:nvPr/>
        </p:nvSpPr>
        <p:spPr>
          <a:xfrm>
            <a:off x="6355080" y="1600200"/>
            <a:ext cx="5212080" cy="411480"/>
          </a:xfrm>
          <a:prstGeom prst="rect">
            <a:avLst/>
          </a:prstGeom>
          <a:noFill/>
          <a:ln/>
        </p:spPr>
        <p:txBody>
          <a:bodyPr wrap="square" rtlCol="0" anchor="ctr"/>
          <a:lstStyle/>
          <a:p>
            <a:pPr marL="0" indent="0">
              <a:buNone/>
            </a:pPr>
            <a:r>
              <a:rPr lang="en-US" sz="1600" b="1" dirty="0">
                <a:solidFill>
                  <a:srgbClr val="009E7A"/>
                </a:solidFill>
              </a:rPr>
              <a:t>How It Works</a:t>
            </a:r>
            <a:endParaRPr lang="en-US" sz="1600" dirty="0"/>
          </a:p>
        </p:txBody>
      </p:sp>
      <p:sp>
        <p:nvSpPr>
          <p:cNvPr id="36" name="Shape 33"/>
          <p:cNvSpPr/>
          <p:nvPr/>
        </p:nvSpPr>
        <p:spPr>
          <a:xfrm>
            <a:off x="6355080" y="2103120"/>
            <a:ext cx="384048" cy="384048"/>
          </a:xfrm>
          <a:prstGeom prst="ellipse">
            <a:avLst/>
          </a:prstGeom>
          <a:solidFill>
            <a:srgbClr val="009E7A"/>
          </a:solidFill>
          <a:ln/>
        </p:spPr>
        <p:txBody>
          <a:bodyPr/>
          <a:lstStyle/>
          <a:p>
            <a:endParaRPr lang="en-US"/>
          </a:p>
        </p:txBody>
      </p:sp>
      <p:sp>
        <p:nvSpPr>
          <p:cNvPr id="37" name="Text 34"/>
          <p:cNvSpPr/>
          <p:nvPr/>
        </p:nvSpPr>
        <p:spPr>
          <a:xfrm>
            <a:off x="6355080" y="2103120"/>
            <a:ext cx="384048" cy="384048"/>
          </a:xfrm>
          <a:prstGeom prst="rect">
            <a:avLst/>
          </a:prstGeom>
          <a:noFill/>
          <a:ln/>
        </p:spPr>
        <p:txBody>
          <a:bodyPr wrap="square" lIns="0" tIns="0" rIns="0" bIns="0" rtlCol="0" anchor="ctr"/>
          <a:lstStyle/>
          <a:p>
            <a:pPr marL="0" indent="0" algn="ctr">
              <a:buNone/>
            </a:pPr>
            <a:r>
              <a:rPr lang="en-US" sz="1300" b="1" dirty="0">
                <a:solidFill>
                  <a:srgbClr val="06185F"/>
                </a:solidFill>
              </a:rPr>
              <a:t>1</a:t>
            </a:r>
            <a:endParaRPr lang="en-US" sz="1300" dirty="0"/>
          </a:p>
        </p:txBody>
      </p:sp>
      <p:sp>
        <p:nvSpPr>
          <p:cNvPr id="38" name="Text 35"/>
          <p:cNvSpPr/>
          <p:nvPr/>
        </p:nvSpPr>
        <p:spPr>
          <a:xfrm>
            <a:off x="6858000" y="2066544"/>
            <a:ext cx="4663440" cy="320040"/>
          </a:xfrm>
          <a:prstGeom prst="rect">
            <a:avLst/>
          </a:prstGeom>
          <a:noFill/>
          <a:ln/>
        </p:spPr>
        <p:txBody>
          <a:bodyPr wrap="square" rtlCol="0" anchor="ctr"/>
          <a:lstStyle/>
          <a:p>
            <a:pPr marL="0" indent="0">
              <a:buNone/>
            </a:pPr>
            <a:r>
              <a:rPr lang="en-US" sz="1200" b="1" dirty="0">
                <a:solidFill>
                  <a:srgbClr val="FFFFFF"/>
                </a:solidFill>
              </a:rPr>
              <a:t>Your JH Core Systems</a:t>
            </a:r>
            <a:endParaRPr lang="en-US" sz="1200" dirty="0"/>
          </a:p>
        </p:txBody>
      </p:sp>
      <p:sp>
        <p:nvSpPr>
          <p:cNvPr id="39" name="Text 36"/>
          <p:cNvSpPr/>
          <p:nvPr/>
        </p:nvSpPr>
        <p:spPr>
          <a:xfrm>
            <a:off x="6858000" y="2377440"/>
            <a:ext cx="4663440" cy="502920"/>
          </a:xfrm>
          <a:prstGeom prst="rect">
            <a:avLst/>
          </a:prstGeom>
          <a:noFill/>
          <a:ln/>
        </p:spPr>
        <p:txBody>
          <a:bodyPr wrap="square" rtlCol="0" anchor="ctr"/>
          <a:lstStyle/>
          <a:p>
            <a:pPr marL="0" indent="0">
              <a:buNone/>
            </a:pPr>
            <a:r>
              <a:rPr lang="en-US" sz="1050" dirty="0">
                <a:solidFill>
                  <a:srgbClr val="717070"/>
                </a:solidFill>
              </a:rPr>
              <a:t>SilverLake, Banno, Payments, and more — already generating data every day.</a:t>
            </a:r>
            <a:endParaRPr lang="en-US" sz="1050" dirty="0"/>
          </a:p>
        </p:txBody>
      </p:sp>
      <p:sp>
        <p:nvSpPr>
          <p:cNvPr id="40" name="Shape 37"/>
          <p:cNvSpPr/>
          <p:nvPr/>
        </p:nvSpPr>
        <p:spPr>
          <a:xfrm>
            <a:off x="6547104" y="2505456"/>
            <a:ext cx="0" cy="640080"/>
          </a:xfrm>
          <a:prstGeom prst="line">
            <a:avLst/>
          </a:prstGeom>
          <a:noFill/>
          <a:ln w="12700">
            <a:solidFill>
              <a:srgbClr val="009E7A"/>
            </a:solidFill>
            <a:prstDash val="dash"/>
          </a:ln>
        </p:spPr>
        <p:txBody>
          <a:bodyPr/>
          <a:lstStyle/>
          <a:p>
            <a:endParaRPr lang="en-US"/>
          </a:p>
        </p:txBody>
      </p:sp>
      <p:sp>
        <p:nvSpPr>
          <p:cNvPr id="41" name="Shape 38"/>
          <p:cNvSpPr/>
          <p:nvPr/>
        </p:nvSpPr>
        <p:spPr>
          <a:xfrm>
            <a:off x="6355080" y="3154680"/>
            <a:ext cx="384048" cy="384048"/>
          </a:xfrm>
          <a:prstGeom prst="ellipse">
            <a:avLst/>
          </a:prstGeom>
          <a:solidFill>
            <a:srgbClr val="009E7A"/>
          </a:solidFill>
          <a:ln/>
        </p:spPr>
        <p:txBody>
          <a:bodyPr/>
          <a:lstStyle/>
          <a:p>
            <a:endParaRPr lang="en-US"/>
          </a:p>
        </p:txBody>
      </p:sp>
      <p:sp>
        <p:nvSpPr>
          <p:cNvPr id="42" name="Text 39"/>
          <p:cNvSpPr/>
          <p:nvPr/>
        </p:nvSpPr>
        <p:spPr>
          <a:xfrm>
            <a:off x="6355080" y="3154680"/>
            <a:ext cx="384048" cy="384048"/>
          </a:xfrm>
          <a:prstGeom prst="rect">
            <a:avLst/>
          </a:prstGeom>
          <a:noFill/>
          <a:ln/>
        </p:spPr>
        <p:txBody>
          <a:bodyPr wrap="square" lIns="0" tIns="0" rIns="0" bIns="0" rtlCol="0" anchor="ctr"/>
          <a:lstStyle/>
          <a:p>
            <a:pPr marL="0" indent="0" algn="ctr">
              <a:buNone/>
            </a:pPr>
            <a:r>
              <a:rPr lang="en-US" sz="1300" b="1" dirty="0">
                <a:solidFill>
                  <a:srgbClr val="06185F"/>
                </a:solidFill>
              </a:rPr>
              <a:t>2</a:t>
            </a:r>
            <a:endParaRPr lang="en-US" sz="1300" dirty="0"/>
          </a:p>
        </p:txBody>
      </p:sp>
      <p:sp>
        <p:nvSpPr>
          <p:cNvPr id="43" name="Text 40"/>
          <p:cNvSpPr/>
          <p:nvPr/>
        </p:nvSpPr>
        <p:spPr>
          <a:xfrm>
            <a:off x="6858000" y="3118104"/>
            <a:ext cx="4663440" cy="320040"/>
          </a:xfrm>
          <a:prstGeom prst="rect">
            <a:avLst/>
          </a:prstGeom>
          <a:noFill/>
          <a:ln/>
        </p:spPr>
        <p:txBody>
          <a:bodyPr wrap="square" rtlCol="0" anchor="ctr"/>
          <a:lstStyle/>
          <a:p>
            <a:pPr marL="0" indent="0">
              <a:buNone/>
            </a:pPr>
            <a:r>
              <a:rPr lang="en-US" sz="1200" b="1" dirty="0">
                <a:solidFill>
                  <a:srgbClr val="FFFFFF"/>
                </a:solidFill>
              </a:rPr>
              <a:t>Jack Henry Extracts &amp; Standardizes</a:t>
            </a:r>
            <a:endParaRPr lang="en-US" sz="1200" dirty="0"/>
          </a:p>
        </p:txBody>
      </p:sp>
      <p:sp>
        <p:nvSpPr>
          <p:cNvPr id="44" name="Text 41"/>
          <p:cNvSpPr/>
          <p:nvPr/>
        </p:nvSpPr>
        <p:spPr>
          <a:xfrm>
            <a:off x="6858000" y="3429000"/>
            <a:ext cx="4663440" cy="502920"/>
          </a:xfrm>
          <a:prstGeom prst="rect">
            <a:avLst/>
          </a:prstGeom>
          <a:noFill/>
          <a:ln/>
        </p:spPr>
        <p:txBody>
          <a:bodyPr wrap="square" rtlCol="0" anchor="ctr"/>
          <a:lstStyle/>
          <a:p>
            <a:pPr marL="0" indent="0">
              <a:buNone/>
            </a:pPr>
            <a:r>
              <a:rPr lang="en-US" sz="1050" dirty="0">
                <a:solidFill>
                  <a:srgbClr val="717070"/>
                </a:solidFill>
              </a:rPr>
              <a:t>Monthly batch extractions are normalized into canonical, dereference, and raw formats.</a:t>
            </a:r>
            <a:endParaRPr lang="en-US" sz="1050" dirty="0"/>
          </a:p>
        </p:txBody>
      </p:sp>
      <p:sp>
        <p:nvSpPr>
          <p:cNvPr id="45" name="Shape 42"/>
          <p:cNvSpPr/>
          <p:nvPr/>
        </p:nvSpPr>
        <p:spPr>
          <a:xfrm>
            <a:off x="6547104" y="3557016"/>
            <a:ext cx="0" cy="640080"/>
          </a:xfrm>
          <a:prstGeom prst="line">
            <a:avLst/>
          </a:prstGeom>
          <a:noFill/>
          <a:ln w="12700">
            <a:solidFill>
              <a:srgbClr val="009E7A"/>
            </a:solidFill>
            <a:prstDash val="dash"/>
          </a:ln>
        </p:spPr>
        <p:txBody>
          <a:bodyPr/>
          <a:lstStyle/>
          <a:p>
            <a:endParaRPr lang="en-US"/>
          </a:p>
        </p:txBody>
      </p:sp>
      <p:sp>
        <p:nvSpPr>
          <p:cNvPr id="46" name="Shape 43"/>
          <p:cNvSpPr/>
          <p:nvPr/>
        </p:nvSpPr>
        <p:spPr>
          <a:xfrm>
            <a:off x="6355080" y="4206240"/>
            <a:ext cx="384048" cy="384048"/>
          </a:xfrm>
          <a:prstGeom prst="ellipse">
            <a:avLst/>
          </a:prstGeom>
          <a:solidFill>
            <a:srgbClr val="009E7A"/>
          </a:solidFill>
          <a:ln/>
        </p:spPr>
        <p:txBody>
          <a:bodyPr/>
          <a:lstStyle/>
          <a:p>
            <a:endParaRPr lang="en-US"/>
          </a:p>
        </p:txBody>
      </p:sp>
      <p:sp>
        <p:nvSpPr>
          <p:cNvPr id="47" name="Text 44"/>
          <p:cNvSpPr/>
          <p:nvPr/>
        </p:nvSpPr>
        <p:spPr>
          <a:xfrm>
            <a:off x="6355080" y="4206240"/>
            <a:ext cx="384048" cy="384048"/>
          </a:xfrm>
          <a:prstGeom prst="rect">
            <a:avLst/>
          </a:prstGeom>
          <a:noFill/>
          <a:ln/>
        </p:spPr>
        <p:txBody>
          <a:bodyPr wrap="square" lIns="0" tIns="0" rIns="0" bIns="0" rtlCol="0" anchor="ctr"/>
          <a:lstStyle/>
          <a:p>
            <a:pPr marL="0" indent="0" algn="ctr">
              <a:buNone/>
            </a:pPr>
            <a:r>
              <a:rPr lang="en-US" sz="1300" b="1" dirty="0">
                <a:solidFill>
                  <a:srgbClr val="06185F"/>
                </a:solidFill>
              </a:rPr>
              <a:t>3</a:t>
            </a:r>
            <a:endParaRPr lang="en-US" sz="1300" dirty="0"/>
          </a:p>
        </p:txBody>
      </p:sp>
      <p:sp>
        <p:nvSpPr>
          <p:cNvPr id="48" name="Text 45"/>
          <p:cNvSpPr/>
          <p:nvPr/>
        </p:nvSpPr>
        <p:spPr>
          <a:xfrm>
            <a:off x="6858000" y="4169664"/>
            <a:ext cx="4663440" cy="320040"/>
          </a:xfrm>
          <a:prstGeom prst="rect">
            <a:avLst/>
          </a:prstGeom>
          <a:noFill/>
          <a:ln/>
        </p:spPr>
        <p:txBody>
          <a:bodyPr wrap="square" rtlCol="0" anchor="ctr"/>
          <a:lstStyle/>
          <a:p>
            <a:pPr marL="0" indent="0">
              <a:buNone/>
            </a:pPr>
            <a:r>
              <a:rPr lang="en-US" sz="1200" b="1" dirty="0">
                <a:solidFill>
                  <a:srgbClr val="FFFFFF"/>
                </a:solidFill>
              </a:rPr>
              <a:t>Delivered to BigQuery</a:t>
            </a:r>
            <a:endParaRPr lang="en-US" sz="1200" dirty="0"/>
          </a:p>
        </p:txBody>
      </p:sp>
      <p:sp>
        <p:nvSpPr>
          <p:cNvPr id="49" name="Text 46"/>
          <p:cNvSpPr/>
          <p:nvPr/>
        </p:nvSpPr>
        <p:spPr>
          <a:xfrm>
            <a:off x="6858000" y="4480560"/>
            <a:ext cx="4663440" cy="502920"/>
          </a:xfrm>
          <a:prstGeom prst="rect">
            <a:avLst/>
          </a:prstGeom>
          <a:noFill/>
          <a:ln/>
        </p:spPr>
        <p:txBody>
          <a:bodyPr wrap="square" rtlCol="0" anchor="ctr"/>
          <a:lstStyle/>
          <a:p>
            <a:pPr marL="0" indent="0">
              <a:buNone/>
            </a:pPr>
            <a:r>
              <a:rPr lang="en-US" sz="1050" dirty="0">
                <a:solidFill>
                  <a:srgbClr val="717070"/>
                </a:solidFill>
              </a:rPr>
              <a:t>Data lands in your dedicated Google BigQuery dataset on GCP — single-tenant, secure.</a:t>
            </a:r>
            <a:endParaRPr lang="en-US" sz="1050" dirty="0"/>
          </a:p>
        </p:txBody>
      </p:sp>
      <p:sp>
        <p:nvSpPr>
          <p:cNvPr id="50" name="Shape 47"/>
          <p:cNvSpPr/>
          <p:nvPr/>
        </p:nvSpPr>
        <p:spPr>
          <a:xfrm>
            <a:off x="6547104" y="4608576"/>
            <a:ext cx="0" cy="640080"/>
          </a:xfrm>
          <a:prstGeom prst="line">
            <a:avLst/>
          </a:prstGeom>
          <a:noFill/>
          <a:ln w="12700">
            <a:solidFill>
              <a:srgbClr val="009E7A"/>
            </a:solidFill>
            <a:prstDash val="dash"/>
          </a:ln>
        </p:spPr>
        <p:txBody>
          <a:bodyPr/>
          <a:lstStyle/>
          <a:p>
            <a:endParaRPr lang="en-US"/>
          </a:p>
        </p:txBody>
      </p:sp>
      <p:sp>
        <p:nvSpPr>
          <p:cNvPr id="51" name="Shape 48"/>
          <p:cNvSpPr/>
          <p:nvPr/>
        </p:nvSpPr>
        <p:spPr>
          <a:xfrm>
            <a:off x="6355080" y="5257800"/>
            <a:ext cx="384048" cy="384048"/>
          </a:xfrm>
          <a:prstGeom prst="ellipse">
            <a:avLst/>
          </a:prstGeom>
          <a:solidFill>
            <a:srgbClr val="009E7A"/>
          </a:solidFill>
          <a:ln/>
        </p:spPr>
        <p:txBody>
          <a:bodyPr/>
          <a:lstStyle/>
          <a:p>
            <a:endParaRPr lang="en-US"/>
          </a:p>
        </p:txBody>
      </p:sp>
      <p:sp>
        <p:nvSpPr>
          <p:cNvPr id="52" name="Text 49"/>
          <p:cNvSpPr/>
          <p:nvPr/>
        </p:nvSpPr>
        <p:spPr>
          <a:xfrm>
            <a:off x="6355080" y="5257800"/>
            <a:ext cx="384048" cy="384048"/>
          </a:xfrm>
          <a:prstGeom prst="rect">
            <a:avLst/>
          </a:prstGeom>
          <a:noFill/>
          <a:ln/>
        </p:spPr>
        <p:txBody>
          <a:bodyPr wrap="square" lIns="0" tIns="0" rIns="0" bIns="0" rtlCol="0" anchor="ctr"/>
          <a:lstStyle/>
          <a:p>
            <a:pPr marL="0" indent="0" algn="ctr">
              <a:buNone/>
            </a:pPr>
            <a:r>
              <a:rPr lang="en-US" sz="1300" b="1" dirty="0">
                <a:solidFill>
                  <a:srgbClr val="06185F"/>
                </a:solidFill>
              </a:rPr>
              <a:t>4</a:t>
            </a:r>
            <a:endParaRPr lang="en-US" sz="1300" dirty="0"/>
          </a:p>
        </p:txBody>
      </p:sp>
      <p:sp>
        <p:nvSpPr>
          <p:cNvPr id="53" name="Text 50"/>
          <p:cNvSpPr/>
          <p:nvPr/>
        </p:nvSpPr>
        <p:spPr>
          <a:xfrm>
            <a:off x="6858000" y="5221224"/>
            <a:ext cx="4663440" cy="320040"/>
          </a:xfrm>
          <a:prstGeom prst="rect">
            <a:avLst/>
          </a:prstGeom>
          <a:noFill/>
          <a:ln/>
        </p:spPr>
        <p:txBody>
          <a:bodyPr wrap="square" rtlCol="0" anchor="ctr"/>
          <a:lstStyle/>
          <a:p>
            <a:pPr marL="0" indent="0">
              <a:buNone/>
            </a:pPr>
            <a:r>
              <a:rPr lang="en-US" sz="1200" b="1" dirty="0">
                <a:solidFill>
                  <a:srgbClr val="FFFFFF"/>
                </a:solidFill>
              </a:rPr>
              <a:t>You Use It Your Way</a:t>
            </a:r>
            <a:endParaRPr lang="en-US" sz="1200" dirty="0"/>
          </a:p>
        </p:txBody>
      </p:sp>
      <p:sp>
        <p:nvSpPr>
          <p:cNvPr id="54" name="Text 51"/>
          <p:cNvSpPr/>
          <p:nvPr/>
        </p:nvSpPr>
        <p:spPr>
          <a:xfrm>
            <a:off x="6858000" y="5532120"/>
            <a:ext cx="4663440" cy="502920"/>
          </a:xfrm>
          <a:prstGeom prst="rect">
            <a:avLst/>
          </a:prstGeom>
          <a:noFill/>
          <a:ln/>
        </p:spPr>
        <p:txBody>
          <a:bodyPr wrap="square" rtlCol="0" anchor="ctr"/>
          <a:lstStyle/>
          <a:p>
            <a:pPr marL="0" indent="0">
              <a:buNone/>
            </a:pPr>
            <a:r>
              <a:rPr lang="en-US" sz="1050" dirty="0">
                <a:solidFill>
                  <a:srgbClr val="717070"/>
                </a:solidFill>
              </a:rPr>
              <a:t>Connect your BI tools, data science workflows, or build custom applications on top.</a:t>
            </a:r>
            <a:endParaRPr lang="en-US" sz="1050" dirty="0"/>
          </a:p>
        </p:txBody>
      </p:sp>
      <p:sp>
        <p:nvSpPr>
          <p:cNvPr id="55" name="Shape 52"/>
          <p:cNvSpPr/>
          <p:nvPr/>
        </p:nvSpPr>
        <p:spPr>
          <a:xfrm>
            <a:off x="6355080" y="6172200"/>
            <a:ext cx="5303520" cy="274320"/>
          </a:xfrm>
          <a:prstGeom prst="rect">
            <a:avLst/>
          </a:prstGeom>
          <a:solidFill>
            <a:srgbClr val="06185F"/>
          </a:solidFill>
          <a:ln/>
        </p:spPr>
        <p:txBody>
          <a:bodyPr/>
          <a:lstStyle/>
          <a:p>
            <a:endParaRPr lang="en-US"/>
          </a:p>
        </p:txBody>
      </p:sp>
      <p:sp>
        <p:nvSpPr>
          <p:cNvPr id="56" name="Text 53"/>
          <p:cNvSpPr/>
          <p:nvPr/>
        </p:nvSpPr>
        <p:spPr>
          <a:xfrm>
            <a:off x="6355080" y="6172200"/>
            <a:ext cx="5303520" cy="274320"/>
          </a:xfrm>
          <a:prstGeom prst="rect">
            <a:avLst/>
          </a:prstGeom>
          <a:noFill/>
          <a:ln/>
        </p:spPr>
        <p:txBody>
          <a:bodyPr wrap="square" rtlCol="0" anchor="ctr"/>
          <a:lstStyle/>
          <a:p>
            <a:pPr marL="0" indent="0" algn="ctr">
              <a:buNone/>
            </a:pPr>
            <a:r>
              <a:rPr lang="en-US" sz="900" dirty="0">
                <a:solidFill>
                  <a:srgbClr val="717070"/>
                </a:solidFill>
              </a:rPr>
              <a:t>GCP BigQuery  •  Single-Tenant  •  SOC2 Compliant  •  Monthly Refresh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D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6185F"/>
          </a:solidFill>
          <a:ln/>
        </p:spPr>
        <p:txBody>
          <a:bodyPr/>
          <a:lstStyle/>
          <a:p>
            <a:endParaRPr lang="en-US"/>
          </a:p>
        </p:txBody>
      </p:sp>
      <p:sp>
        <p:nvSpPr>
          <p:cNvPr id="3" name="Shape 1"/>
          <p:cNvSpPr/>
          <p:nvPr/>
        </p:nvSpPr>
        <p:spPr>
          <a:xfrm>
            <a:off x="0" y="1188720"/>
            <a:ext cx="12161520" cy="64008"/>
          </a:xfrm>
          <a:prstGeom prst="rect">
            <a:avLst/>
          </a:prstGeom>
          <a:solidFill>
            <a:srgbClr val="009E7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320040" y="274320"/>
            <a:ext cx="594360" cy="594360"/>
          </a:xfrm>
          <a:prstGeom prst="rect">
            <a:avLst/>
          </a:prstGeom>
        </p:spPr>
      </p:pic>
      <p:sp>
        <p:nvSpPr>
          <p:cNvPr id="5" name="Text 2"/>
          <p:cNvSpPr/>
          <p:nvPr/>
        </p:nvSpPr>
        <p:spPr>
          <a:xfrm>
            <a:off x="1005840" y="0"/>
            <a:ext cx="6400800" cy="1188720"/>
          </a:xfrm>
          <a:prstGeom prst="rect">
            <a:avLst/>
          </a:prstGeom>
          <a:noFill/>
          <a:ln/>
        </p:spPr>
        <p:txBody>
          <a:bodyPr wrap="square" rtlCol="0" anchor="ctr"/>
          <a:lstStyle/>
          <a:p>
            <a:pPr marL="0" indent="0">
              <a:buNone/>
            </a:pPr>
            <a:r>
              <a:rPr lang="en-US" sz="3200" b="1" dirty="0">
                <a:solidFill>
                  <a:srgbClr val="FFFFFF"/>
                </a:solidFill>
              </a:rPr>
              <a:t>JHKnow &amp; ARCU</a:t>
            </a:r>
            <a:endParaRPr lang="en-US" sz="3200" dirty="0"/>
          </a:p>
        </p:txBody>
      </p:sp>
      <p:sp>
        <p:nvSpPr>
          <p:cNvPr id="6" name="Text 3"/>
          <p:cNvSpPr/>
          <p:nvPr/>
        </p:nvSpPr>
        <p:spPr>
          <a:xfrm>
            <a:off x="1005840" y="530352"/>
            <a:ext cx="8229600" cy="594360"/>
          </a:xfrm>
          <a:prstGeom prst="rect">
            <a:avLst/>
          </a:prstGeom>
          <a:noFill/>
          <a:ln/>
        </p:spPr>
        <p:txBody>
          <a:bodyPr wrap="square" rtlCol="0" anchor="ctr"/>
          <a:lstStyle/>
          <a:p>
            <a:pPr marL="0" indent="0">
              <a:buNone/>
            </a:pPr>
            <a:r>
              <a:rPr lang="en-US" sz="1300" dirty="0">
                <a:solidFill>
                  <a:srgbClr val="009E7A"/>
                </a:solidFill>
              </a:rPr>
              <a:t>Pre-modeled banking analytics warehouse + reporting — ready to run on day one.</a:t>
            </a:r>
            <a:endParaRPr lang="en-US" sz="1300" dirty="0"/>
          </a:p>
        </p:txBody>
      </p:sp>
      <p:sp>
        <p:nvSpPr>
          <p:cNvPr id="7" name="Shape 4"/>
          <p:cNvSpPr/>
          <p:nvPr/>
        </p:nvSpPr>
        <p:spPr>
          <a:xfrm>
            <a:off x="365760" y="1463040"/>
            <a:ext cx="11430000" cy="749808"/>
          </a:xfrm>
          <a:prstGeom prst="rect">
            <a:avLst/>
          </a:prstGeom>
          <a:solidFill>
            <a:srgbClr val="E8F7F7"/>
          </a:solidFill>
          <a:ln w="12700">
            <a:solidFill>
              <a:srgbClr val="009E7A"/>
            </a:solidFill>
            <a:prstDash val="solid"/>
          </a:ln>
        </p:spPr>
        <p:txBody>
          <a:bodyPr/>
          <a:lstStyle/>
          <a:p>
            <a:endParaRPr lang="en-US"/>
          </a:p>
        </p:txBody>
      </p:sp>
      <p:sp>
        <p:nvSpPr>
          <p:cNvPr id="8" name="Text 5"/>
          <p:cNvSpPr/>
          <p:nvPr/>
        </p:nvSpPr>
        <p:spPr>
          <a:xfrm>
            <a:off x="548640" y="1463040"/>
            <a:ext cx="11064240" cy="749808"/>
          </a:xfrm>
          <a:prstGeom prst="rect">
            <a:avLst/>
          </a:prstGeom>
          <a:noFill/>
          <a:ln/>
        </p:spPr>
        <p:txBody>
          <a:bodyPr wrap="square" rtlCol="0" anchor="ctr"/>
          <a:lstStyle/>
          <a:p>
            <a:pPr marL="0" indent="0">
              <a:buNone/>
            </a:pPr>
            <a:r>
              <a:rPr lang="en-US" sz="1200" i="1" dirty="0">
                <a:solidFill>
                  <a:srgbClr val="06185F"/>
                </a:solidFill>
              </a:rPr>
              <a:t>Think of JHKnow/ARCU as your bank's data warehouse and analytics layer — already built, already modeled, already loaded with your Jack Henry data. No 18-month data lake project. No data engineering team required.</a:t>
            </a:r>
            <a:endParaRPr lang="en-US" sz="1200" dirty="0"/>
          </a:p>
        </p:txBody>
      </p:sp>
      <p:sp>
        <p:nvSpPr>
          <p:cNvPr id="9" name="Shape 6"/>
          <p:cNvSpPr/>
          <p:nvPr/>
        </p:nvSpPr>
        <p:spPr>
          <a:xfrm>
            <a:off x="365760" y="2423160"/>
            <a:ext cx="55778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0" name="Shape 7"/>
          <p:cNvSpPr/>
          <p:nvPr/>
        </p:nvSpPr>
        <p:spPr>
          <a:xfrm>
            <a:off x="365760" y="2423160"/>
            <a:ext cx="5577840" cy="594360"/>
          </a:xfrm>
          <a:prstGeom prst="rect">
            <a:avLst/>
          </a:prstGeom>
          <a:solidFill>
            <a:srgbClr val="06185F"/>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48640" y="2496312"/>
            <a:ext cx="438912" cy="438912"/>
          </a:xfrm>
          <a:prstGeom prst="rect">
            <a:avLst/>
          </a:prstGeom>
        </p:spPr>
      </p:pic>
      <p:sp>
        <p:nvSpPr>
          <p:cNvPr id="12" name="Text 8"/>
          <p:cNvSpPr/>
          <p:nvPr/>
        </p:nvSpPr>
        <p:spPr>
          <a:xfrm>
            <a:off x="1078992" y="2423160"/>
            <a:ext cx="4663440" cy="594360"/>
          </a:xfrm>
          <a:prstGeom prst="rect">
            <a:avLst/>
          </a:prstGeom>
          <a:noFill/>
          <a:ln/>
        </p:spPr>
        <p:txBody>
          <a:bodyPr wrap="square" rtlCol="0" anchor="ctr"/>
          <a:lstStyle/>
          <a:p>
            <a:pPr marL="0" indent="0">
              <a:buNone/>
            </a:pPr>
            <a:r>
              <a:rPr lang="en-US" sz="2000" b="1" dirty="0">
                <a:solidFill>
                  <a:srgbClr val="FFFFFF"/>
                </a:solidFill>
              </a:rPr>
              <a:t>JHKnow</a:t>
            </a:r>
            <a:endParaRPr lang="en-US" sz="2000" dirty="0"/>
          </a:p>
        </p:txBody>
      </p:sp>
      <p:sp>
        <p:nvSpPr>
          <p:cNvPr id="13" name="Text 9"/>
          <p:cNvSpPr/>
          <p:nvPr/>
        </p:nvSpPr>
        <p:spPr>
          <a:xfrm>
            <a:off x="548640" y="3063240"/>
            <a:ext cx="5212080" cy="347472"/>
          </a:xfrm>
          <a:prstGeom prst="rect">
            <a:avLst/>
          </a:prstGeom>
          <a:noFill/>
          <a:ln/>
        </p:spPr>
        <p:txBody>
          <a:bodyPr wrap="square" rtlCol="0" anchor="ctr"/>
          <a:lstStyle/>
          <a:p>
            <a:pPr marL="0" indent="0">
              <a:buNone/>
            </a:pPr>
            <a:r>
              <a:rPr lang="en-US" sz="1150" b="1" i="1" dirty="0">
                <a:solidFill>
                  <a:srgbClr val="009E7A"/>
                </a:solidFill>
              </a:rPr>
              <a:t>Curated data warehouse for banks (SilverLake)</a:t>
            </a:r>
            <a:endParaRPr lang="en-US" sz="1150" dirty="0"/>
          </a:p>
        </p:txBody>
      </p:sp>
      <p:pic>
        <p:nvPicPr>
          <p:cNvPr id="14" name="Image 2" descr="preencoded.png"/>
          <p:cNvPicPr>
            <a:picLocks noChangeAspect="1"/>
          </p:cNvPicPr>
          <p:nvPr/>
        </p:nvPicPr>
        <p:blipFill>
          <a:blip r:embed="rId5"/>
          <a:stretch>
            <a:fillRect/>
          </a:stretch>
        </p:blipFill>
        <p:spPr>
          <a:xfrm>
            <a:off x="548640" y="3493008"/>
            <a:ext cx="237744" cy="237744"/>
          </a:xfrm>
          <a:prstGeom prst="rect">
            <a:avLst/>
          </a:prstGeom>
        </p:spPr>
      </p:pic>
      <p:sp>
        <p:nvSpPr>
          <p:cNvPr id="15" name="Text 10"/>
          <p:cNvSpPr/>
          <p:nvPr/>
        </p:nvSpPr>
        <p:spPr>
          <a:xfrm>
            <a:off x="868680" y="3456432"/>
            <a:ext cx="4892040" cy="411480"/>
          </a:xfrm>
          <a:prstGeom prst="rect">
            <a:avLst/>
          </a:prstGeom>
          <a:noFill/>
          <a:ln/>
        </p:spPr>
        <p:txBody>
          <a:bodyPr wrap="square" rtlCol="0" anchor="ctr"/>
          <a:lstStyle/>
          <a:p>
            <a:pPr marL="0" indent="0">
              <a:buNone/>
            </a:pPr>
            <a:r>
              <a:rPr lang="en-US" sz="1150" dirty="0">
                <a:solidFill>
                  <a:srgbClr val="575A5D"/>
                </a:solidFill>
              </a:rPr>
              <a:t>Pre-built data models for core banking data</a:t>
            </a:r>
            <a:endParaRPr lang="en-US" sz="1150" dirty="0"/>
          </a:p>
        </p:txBody>
      </p:sp>
      <p:pic>
        <p:nvPicPr>
          <p:cNvPr id="16" name="Image 3" descr="preencoded.png"/>
          <p:cNvPicPr>
            <a:picLocks noChangeAspect="1"/>
          </p:cNvPicPr>
          <p:nvPr/>
        </p:nvPicPr>
        <p:blipFill>
          <a:blip r:embed="rId5"/>
          <a:stretch>
            <a:fillRect/>
          </a:stretch>
        </p:blipFill>
        <p:spPr>
          <a:xfrm>
            <a:off x="548640" y="3968496"/>
            <a:ext cx="237744" cy="237744"/>
          </a:xfrm>
          <a:prstGeom prst="rect">
            <a:avLst/>
          </a:prstGeom>
        </p:spPr>
      </p:pic>
      <p:sp>
        <p:nvSpPr>
          <p:cNvPr id="17" name="Text 11"/>
          <p:cNvSpPr/>
          <p:nvPr/>
        </p:nvSpPr>
        <p:spPr>
          <a:xfrm>
            <a:off x="868680" y="3931920"/>
            <a:ext cx="4892040" cy="411480"/>
          </a:xfrm>
          <a:prstGeom prst="rect">
            <a:avLst/>
          </a:prstGeom>
          <a:noFill/>
          <a:ln/>
        </p:spPr>
        <p:txBody>
          <a:bodyPr wrap="square" rtlCol="0" anchor="ctr"/>
          <a:lstStyle/>
          <a:p>
            <a:pPr marL="0" indent="0">
              <a:buNone/>
            </a:pPr>
            <a:r>
              <a:rPr lang="en-US" sz="1150" dirty="0">
                <a:solidFill>
                  <a:srgbClr val="575A5D"/>
                </a:solidFill>
              </a:rPr>
              <a:t>Standard operational &amp; executive reports</a:t>
            </a:r>
            <a:endParaRPr lang="en-US" sz="1150" dirty="0"/>
          </a:p>
        </p:txBody>
      </p:sp>
      <p:pic>
        <p:nvPicPr>
          <p:cNvPr id="18" name="Image 4" descr="preencoded.png"/>
          <p:cNvPicPr>
            <a:picLocks noChangeAspect="1"/>
          </p:cNvPicPr>
          <p:nvPr/>
        </p:nvPicPr>
        <p:blipFill>
          <a:blip r:embed="rId5"/>
          <a:stretch>
            <a:fillRect/>
          </a:stretch>
        </p:blipFill>
        <p:spPr>
          <a:xfrm>
            <a:off x="548640" y="4443984"/>
            <a:ext cx="237744" cy="237744"/>
          </a:xfrm>
          <a:prstGeom prst="rect">
            <a:avLst/>
          </a:prstGeom>
        </p:spPr>
      </p:pic>
      <p:sp>
        <p:nvSpPr>
          <p:cNvPr id="19" name="Text 12"/>
          <p:cNvSpPr/>
          <p:nvPr/>
        </p:nvSpPr>
        <p:spPr>
          <a:xfrm>
            <a:off x="868680" y="4407408"/>
            <a:ext cx="4892040" cy="411480"/>
          </a:xfrm>
          <a:prstGeom prst="rect">
            <a:avLst/>
          </a:prstGeom>
          <a:noFill/>
          <a:ln/>
        </p:spPr>
        <p:txBody>
          <a:bodyPr wrap="square" rtlCol="0" anchor="ctr"/>
          <a:lstStyle/>
          <a:p>
            <a:pPr marL="0" indent="0">
              <a:buNone/>
            </a:pPr>
            <a:r>
              <a:rPr lang="en-US" sz="1150" dirty="0">
                <a:solidFill>
                  <a:srgbClr val="575A5D"/>
                </a:solidFill>
              </a:rPr>
              <a:t>Deposit trends, loan performance, branch/channel usage</a:t>
            </a:r>
            <a:endParaRPr lang="en-US" sz="1150" dirty="0"/>
          </a:p>
        </p:txBody>
      </p:sp>
      <p:pic>
        <p:nvPicPr>
          <p:cNvPr id="20" name="Image 5" descr="preencoded.png"/>
          <p:cNvPicPr>
            <a:picLocks noChangeAspect="1"/>
          </p:cNvPicPr>
          <p:nvPr/>
        </p:nvPicPr>
        <p:blipFill>
          <a:blip r:embed="rId5"/>
          <a:stretch>
            <a:fillRect/>
          </a:stretch>
        </p:blipFill>
        <p:spPr>
          <a:xfrm>
            <a:off x="548640" y="4919472"/>
            <a:ext cx="237744" cy="237744"/>
          </a:xfrm>
          <a:prstGeom prst="rect">
            <a:avLst/>
          </a:prstGeom>
        </p:spPr>
      </p:pic>
      <p:sp>
        <p:nvSpPr>
          <p:cNvPr id="21" name="Text 13"/>
          <p:cNvSpPr/>
          <p:nvPr/>
        </p:nvSpPr>
        <p:spPr>
          <a:xfrm>
            <a:off x="868680" y="4882896"/>
            <a:ext cx="4892040" cy="411480"/>
          </a:xfrm>
          <a:prstGeom prst="rect">
            <a:avLst/>
          </a:prstGeom>
          <a:noFill/>
          <a:ln/>
        </p:spPr>
        <p:txBody>
          <a:bodyPr wrap="square" rtlCol="0" anchor="ctr"/>
          <a:lstStyle/>
          <a:p>
            <a:pPr marL="0" indent="0">
              <a:buNone/>
            </a:pPr>
            <a:r>
              <a:rPr lang="en-US" sz="1150" dirty="0">
                <a:solidFill>
                  <a:srgbClr val="575A5D"/>
                </a:solidFill>
              </a:rPr>
              <a:t>Customer behavior &amp; lifecycle analytics</a:t>
            </a:r>
            <a:endParaRPr lang="en-US" sz="1150" dirty="0"/>
          </a:p>
        </p:txBody>
      </p:sp>
      <p:pic>
        <p:nvPicPr>
          <p:cNvPr id="22" name="Image 6" descr="preencoded.png"/>
          <p:cNvPicPr>
            <a:picLocks noChangeAspect="1"/>
          </p:cNvPicPr>
          <p:nvPr/>
        </p:nvPicPr>
        <p:blipFill>
          <a:blip r:embed="rId5"/>
          <a:stretch>
            <a:fillRect/>
          </a:stretch>
        </p:blipFill>
        <p:spPr>
          <a:xfrm>
            <a:off x="548640" y="5394960"/>
            <a:ext cx="237744" cy="237744"/>
          </a:xfrm>
          <a:prstGeom prst="rect">
            <a:avLst/>
          </a:prstGeom>
        </p:spPr>
      </p:pic>
      <p:sp>
        <p:nvSpPr>
          <p:cNvPr id="23" name="Text 14"/>
          <p:cNvSpPr/>
          <p:nvPr/>
        </p:nvSpPr>
        <p:spPr>
          <a:xfrm>
            <a:off x="868680" y="5358384"/>
            <a:ext cx="4892040" cy="411480"/>
          </a:xfrm>
          <a:prstGeom prst="rect">
            <a:avLst/>
          </a:prstGeom>
          <a:noFill/>
          <a:ln/>
        </p:spPr>
        <p:txBody>
          <a:bodyPr wrap="square" rtlCol="0" anchor="ctr"/>
          <a:lstStyle/>
          <a:p>
            <a:pPr marL="0" indent="0">
              <a:buNone/>
            </a:pPr>
            <a:r>
              <a:rPr lang="en-US" sz="1150" dirty="0">
                <a:solidFill>
                  <a:srgbClr val="575A5D"/>
                </a:solidFill>
              </a:rPr>
              <a:t>Regulatory &amp; audit-ready reporting</a:t>
            </a:r>
            <a:endParaRPr lang="en-US" sz="1150" dirty="0"/>
          </a:p>
        </p:txBody>
      </p:sp>
      <p:pic>
        <p:nvPicPr>
          <p:cNvPr id="24" name="Image 7" descr="preencoded.png"/>
          <p:cNvPicPr>
            <a:picLocks noChangeAspect="1"/>
          </p:cNvPicPr>
          <p:nvPr/>
        </p:nvPicPr>
        <p:blipFill>
          <a:blip r:embed="rId5"/>
          <a:stretch>
            <a:fillRect/>
          </a:stretch>
        </p:blipFill>
        <p:spPr>
          <a:xfrm>
            <a:off x="548640" y="5870448"/>
            <a:ext cx="237744" cy="237744"/>
          </a:xfrm>
          <a:prstGeom prst="rect">
            <a:avLst/>
          </a:prstGeom>
        </p:spPr>
      </p:pic>
      <p:sp>
        <p:nvSpPr>
          <p:cNvPr id="25" name="Text 15"/>
          <p:cNvSpPr/>
          <p:nvPr/>
        </p:nvSpPr>
        <p:spPr>
          <a:xfrm>
            <a:off x="868680" y="5833872"/>
            <a:ext cx="4892040" cy="411480"/>
          </a:xfrm>
          <a:prstGeom prst="rect">
            <a:avLst/>
          </a:prstGeom>
          <a:noFill/>
          <a:ln/>
        </p:spPr>
        <p:txBody>
          <a:bodyPr wrap="square" rtlCol="0" anchor="ctr"/>
          <a:lstStyle/>
          <a:p>
            <a:pPr marL="0" indent="0">
              <a:buNone/>
            </a:pPr>
            <a:r>
              <a:rPr lang="en-US" sz="1150" dirty="0">
                <a:solidFill>
                  <a:srgbClr val="575A5D"/>
                </a:solidFill>
              </a:rPr>
              <a:t>Self-service dashboards with drill-down</a:t>
            </a:r>
            <a:endParaRPr lang="en-US" sz="1150" dirty="0"/>
          </a:p>
        </p:txBody>
      </p:sp>
      <p:sp>
        <p:nvSpPr>
          <p:cNvPr id="26" name="Shape 16"/>
          <p:cNvSpPr/>
          <p:nvPr/>
        </p:nvSpPr>
        <p:spPr>
          <a:xfrm>
            <a:off x="6263640" y="2423160"/>
            <a:ext cx="55778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7" name="Shape 17"/>
          <p:cNvSpPr/>
          <p:nvPr/>
        </p:nvSpPr>
        <p:spPr>
          <a:xfrm>
            <a:off x="6263640" y="2423160"/>
            <a:ext cx="5577840" cy="594360"/>
          </a:xfrm>
          <a:prstGeom prst="rect">
            <a:avLst/>
          </a:prstGeom>
          <a:solidFill>
            <a:srgbClr val="06185F"/>
          </a:solidFill>
          <a:ln/>
        </p:spPr>
        <p:txBody>
          <a:bodyPr/>
          <a:lstStyle/>
          <a:p>
            <a:endParaRPr lang="en-US"/>
          </a:p>
        </p:txBody>
      </p:sp>
      <p:pic>
        <p:nvPicPr>
          <p:cNvPr id="28" name="Image 8" descr="preencoded.png"/>
          <p:cNvPicPr>
            <a:picLocks noChangeAspect="1"/>
          </p:cNvPicPr>
          <p:nvPr/>
        </p:nvPicPr>
        <p:blipFill>
          <a:blip r:embed="rId6"/>
          <a:stretch>
            <a:fillRect/>
          </a:stretch>
        </p:blipFill>
        <p:spPr>
          <a:xfrm>
            <a:off x="6446520" y="2496312"/>
            <a:ext cx="438912" cy="438912"/>
          </a:xfrm>
          <a:prstGeom prst="rect">
            <a:avLst/>
          </a:prstGeom>
        </p:spPr>
      </p:pic>
      <p:sp>
        <p:nvSpPr>
          <p:cNvPr id="29" name="Text 18"/>
          <p:cNvSpPr/>
          <p:nvPr/>
        </p:nvSpPr>
        <p:spPr>
          <a:xfrm>
            <a:off x="6976872" y="2423160"/>
            <a:ext cx="4663440" cy="594360"/>
          </a:xfrm>
          <a:prstGeom prst="rect">
            <a:avLst/>
          </a:prstGeom>
          <a:noFill/>
          <a:ln/>
        </p:spPr>
        <p:txBody>
          <a:bodyPr wrap="square" rtlCol="0" anchor="ctr"/>
          <a:lstStyle/>
          <a:p>
            <a:pPr marL="0" indent="0">
              <a:buNone/>
            </a:pPr>
            <a:r>
              <a:rPr lang="en-US" sz="2000" b="1" dirty="0">
                <a:solidFill>
                  <a:srgbClr val="FFFFFF"/>
                </a:solidFill>
              </a:rPr>
              <a:t>ARCU</a:t>
            </a:r>
            <a:endParaRPr lang="en-US" sz="2000" dirty="0"/>
          </a:p>
        </p:txBody>
      </p:sp>
      <p:sp>
        <p:nvSpPr>
          <p:cNvPr id="30" name="Text 19"/>
          <p:cNvSpPr/>
          <p:nvPr/>
        </p:nvSpPr>
        <p:spPr>
          <a:xfrm>
            <a:off x="6446520" y="3063240"/>
            <a:ext cx="5212080" cy="347472"/>
          </a:xfrm>
          <a:prstGeom prst="rect">
            <a:avLst/>
          </a:prstGeom>
          <a:noFill/>
          <a:ln/>
        </p:spPr>
        <p:txBody>
          <a:bodyPr wrap="square" rtlCol="0" anchor="ctr"/>
          <a:lstStyle/>
          <a:p>
            <a:pPr marL="0" indent="0">
              <a:buNone/>
            </a:pPr>
            <a:r>
              <a:rPr lang="en-US" sz="1150" b="1" i="1" dirty="0">
                <a:solidFill>
                  <a:srgbClr val="009E7A"/>
                </a:solidFill>
              </a:rPr>
              <a:t>Curated data warehouse for credit unions (Symitar)</a:t>
            </a:r>
            <a:endParaRPr lang="en-US" sz="1150" dirty="0"/>
          </a:p>
        </p:txBody>
      </p:sp>
      <p:pic>
        <p:nvPicPr>
          <p:cNvPr id="31" name="Image 9" descr="preencoded.png"/>
          <p:cNvPicPr>
            <a:picLocks noChangeAspect="1"/>
          </p:cNvPicPr>
          <p:nvPr/>
        </p:nvPicPr>
        <p:blipFill>
          <a:blip r:embed="rId5"/>
          <a:stretch>
            <a:fillRect/>
          </a:stretch>
        </p:blipFill>
        <p:spPr>
          <a:xfrm>
            <a:off x="6446520" y="3493008"/>
            <a:ext cx="237744" cy="237744"/>
          </a:xfrm>
          <a:prstGeom prst="rect">
            <a:avLst/>
          </a:prstGeom>
        </p:spPr>
      </p:pic>
      <p:sp>
        <p:nvSpPr>
          <p:cNvPr id="32" name="Text 20"/>
          <p:cNvSpPr/>
          <p:nvPr/>
        </p:nvSpPr>
        <p:spPr>
          <a:xfrm>
            <a:off x="6766560" y="3456432"/>
            <a:ext cx="4892040" cy="411480"/>
          </a:xfrm>
          <a:prstGeom prst="rect">
            <a:avLst/>
          </a:prstGeom>
          <a:noFill/>
          <a:ln/>
        </p:spPr>
        <p:txBody>
          <a:bodyPr wrap="square" rtlCol="0" anchor="ctr"/>
          <a:lstStyle/>
          <a:p>
            <a:pPr marL="0" indent="0">
              <a:buNone/>
            </a:pPr>
            <a:r>
              <a:rPr lang="en-US" sz="1150" dirty="0">
                <a:solidFill>
                  <a:srgbClr val="575A5D"/>
                </a:solidFill>
              </a:rPr>
              <a:t>Same pre-modeled architecture — optimized for CUs</a:t>
            </a:r>
            <a:endParaRPr lang="en-US" sz="1150" dirty="0"/>
          </a:p>
        </p:txBody>
      </p:sp>
      <p:pic>
        <p:nvPicPr>
          <p:cNvPr id="33" name="Image 10" descr="preencoded.png"/>
          <p:cNvPicPr>
            <a:picLocks noChangeAspect="1"/>
          </p:cNvPicPr>
          <p:nvPr/>
        </p:nvPicPr>
        <p:blipFill>
          <a:blip r:embed="rId5"/>
          <a:stretch>
            <a:fillRect/>
          </a:stretch>
        </p:blipFill>
        <p:spPr>
          <a:xfrm>
            <a:off x="6446520" y="3968496"/>
            <a:ext cx="237744" cy="237744"/>
          </a:xfrm>
          <a:prstGeom prst="rect">
            <a:avLst/>
          </a:prstGeom>
        </p:spPr>
      </p:pic>
      <p:sp>
        <p:nvSpPr>
          <p:cNvPr id="34" name="Text 21"/>
          <p:cNvSpPr/>
          <p:nvPr/>
        </p:nvSpPr>
        <p:spPr>
          <a:xfrm>
            <a:off x="6766560" y="3931920"/>
            <a:ext cx="4892040" cy="411480"/>
          </a:xfrm>
          <a:prstGeom prst="rect">
            <a:avLst/>
          </a:prstGeom>
          <a:noFill/>
          <a:ln/>
        </p:spPr>
        <p:txBody>
          <a:bodyPr wrap="square" rtlCol="0" anchor="ctr"/>
          <a:lstStyle/>
          <a:p>
            <a:pPr marL="0" indent="0">
              <a:buNone/>
            </a:pPr>
            <a:r>
              <a:rPr lang="en-US" sz="1150" dirty="0">
                <a:solidFill>
                  <a:srgbClr val="575A5D"/>
                </a:solidFill>
              </a:rPr>
              <a:t>Member account &amp; transaction analysis</a:t>
            </a:r>
            <a:endParaRPr lang="en-US" sz="1150" dirty="0"/>
          </a:p>
        </p:txBody>
      </p:sp>
      <p:pic>
        <p:nvPicPr>
          <p:cNvPr id="35" name="Image 11" descr="preencoded.png"/>
          <p:cNvPicPr>
            <a:picLocks noChangeAspect="1"/>
          </p:cNvPicPr>
          <p:nvPr/>
        </p:nvPicPr>
        <p:blipFill>
          <a:blip r:embed="rId5"/>
          <a:stretch>
            <a:fillRect/>
          </a:stretch>
        </p:blipFill>
        <p:spPr>
          <a:xfrm>
            <a:off x="6446520" y="4443984"/>
            <a:ext cx="237744" cy="237744"/>
          </a:xfrm>
          <a:prstGeom prst="rect">
            <a:avLst/>
          </a:prstGeom>
        </p:spPr>
      </p:pic>
      <p:sp>
        <p:nvSpPr>
          <p:cNvPr id="36" name="Text 22"/>
          <p:cNvSpPr/>
          <p:nvPr/>
        </p:nvSpPr>
        <p:spPr>
          <a:xfrm>
            <a:off x="6766560" y="4407408"/>
            <a:ext cx="4892040" cy="411480"/>
          </a:xfrm>
          <a:prstGeom prst="rect">
            <a:avLst/>
          </a:prstGeom>
          <a:noFill/>
          <a:ln/>
        </p:spPr>
        <p:txBody>
          <a:bodyPr wrap="square" rtlCol="0" anchor="ctr"/>
          <a:lstStyle/>
          <a:p>
            <a:pPr marL="0" indent="0">
              <a:buNone/>
            </a:pPr>
            <a:r>
              <a:rPr lang="en-US" sz="1150" dirty="0">
                <a:solidFill>
                  <a:srgbClr val="575A5D"/>
                </a:solidFill>
              </a:rPr>
              <a:t>Share &amp; loan performance dashboards</a:t>
            </a:r>
            <a:endParaRPr lang="en-US" sz="1150" dirty="0"/>
          </a:p>
        </p:txBody>
      </p:sp>
      <p:pic>
        <p:nvPicPr>
          <p:cNvPr id="37" name="Image 12" descr="preencoded.png"/>
          <p:cNvPicPr>
            <a:picLocks noChangeAspect="1"/>
          </p:cNvPicPr>
          <p:nvPr/>
        </p:nvPicPr>
        <p:blipFill>
          <a:blip r:embed="rId5"/>
          <a:stretch>
            <a:fillRect/>
          </a:stretch>
        </p:blipFill>
        <p:spPr>
          <a:xfrm>
            <a:off x="6446520" y="4919472"/>
            <a:ext cx="237744" cy="237744"/>
          </a:xfrm>
          <a:prstGeom prst="rect">
            <a:avLst/>
          </a:prstGeom>
        </p:spPr>
      </p:pic>
      <p:sp>
        <p:nvSpPr>
          <p:cNvPr id="38" name="Text 23"/>
          <p:cNvSpPr/>
          <p:nvPr/>
        </p:nvSpPr>
        <p:spPr>
          <a:xfrm>
            <a:off x="6766560" y="4882896"/>
            <a:ext cx="4892040" cy="411480"/>
          </a:xfrm>
          <a:prstGeom prst="rect">
            <a:avLst/>
          </a:prstGeom>
          <a:noFill/>
          <a:ln/>
        </p:spPr>
        <p:txBody>
          <a:bodyPr wrap="square" rtlCol="0" anchor="ctr"/>
          <a:lstStyle/>
          <a:p>
            <a:pPr marL="0" indent="0">
              <a:buNone/>
            </a:pPr>
            <a:r>
              <a:rPr lang="en-US" sz="1150" dirty="0">
                <a:solidFill>
                  <a:srgbClr val="575A5D"/>
                </a:solidFill>
              </a:rPr>
              <a:t>Card &amp; payments activity reporting</a:t>
            </a:r>
            <a:endParaRPr lang="en-US" sz="1150" dirty="0"/>
          </a:p>
        </p:txBody>
      </p:sp>
      <p:pic>
        <p:nvPicPr>
          <p:cNvPr id="39" name="Image 13" descr="preencoded.png"/>
          <p:cNvPicPr>
            <a:picLocks noChangeAspect="1"/>
          </p:cNvPicPr>
          <p:nvPr/>
        </p:nvPicPr>
        <p:blipFill>
          <a:blip r:embed="rId5"/>
          <a:stretch>
            <a:fillRect/>
          </a:stretch>
        </p:blipFill>
        <p:spPr>
          <a:xfrm>
            <a:off x="6446520" y="5394960"/>
            <a:ext cx="237744" cy="237744"/>
          </a:xfrm>
          <a:prstGeom prst="rect">
            <a:avLst/>
          </a:prstGeom>
        </p:spPr>
      </p:pic>
      <p:sp>
        <p:nvSpPr>
          <p:cNvPr id="40" name="Text 24"/>
          <p:cNvSpPr/>
          <p:nvPr/>
        </p:nvSpPr>
        <p:spPr>
          <a:xfrm>
            <a:off x="6766560" y="5358384"/>
            <a:ext cx="4892040" cy="411480"/>
          </a:xfrm>
          <a:prstGeom prst="rect">
            <a:avLst/>
          </a:prstGeom>
          <a:noFill/>
          <a:ln/>
        </p:spPr>
        <p:txBody>
          <a:bodyPr wrap="square" rtlCol="0" anchor="ctr"/>
          <a:lstStyle/>
          <a:p>
            <a:pPr marL="0" indent="0">
              <a:buNone/>
            </a:pPr>
            <a:r>
              <a:rPr lang="en-US" sz="1150" dirty="0">
                <a:solidFill>
                  <a:srgbClr val="575A5D"/>
                </a:solidFill>
              </a:rPr>
              <a:t>Channel usage (branch, digital, call center)</a:t>
            </a:r>
            <a:endParaRPr lang="en-US" sz="1150" dirty="0"/>
          </a:p>
        </p:txBody>
      </p:sp>
      <p:pic>
        <p:nvPicPr>
          <p:cNvPr id="41" name="Image 14" descr="preencoded.png"/>
          <p:cNvPicPr>
            <a:picLocks noChangeAspect="1"/>
          </p:cNvPicPr>
          <p:nvPr/>
        </p:nvPicPr>
        <p:blipFill>
          <a:blip r:embed="rId5"/>
          <a:stretch>
            <a:fillRect/>
          </a:stretch>
        </p:blipFill>
        <p:spPr>
          <a:xfrm>
            <a:off x="6446520" y="5870448"/>
            <a:ext cx="237744" cy="237744"/>
          </a:xfrm>
          <a:prstGeom prst="rect">
            <a:avLst/>
          </a:prstGeom>
        </p:spPr>
      </p:pic>
      <p:sp>
        <p:nvSpPr>
          <p:cNvPr id="42" name="Text 25"/>
          <p:cNvSpPr/>
          <p:nvPr/>
        </p:nvSpPr>
        <p:spPr>
          <a:xfrm>
            <a:off x="6766560" y="5833872"/>
            <a:ext cx="4892040" cy="411480"/>
          </a:xfrm>
          <a:prstGeom prst="rect">
            <a:avLst/>
          </a:prstGeom>
          <a:noFill/>
          <a:ln/>
        </p:spPr>
        <p:txBody>
          <a:bodyPr wrap="square" rtlCol="0" anchor="ctr"/>
          <a:lstStyle/>
          <a:p>
            <a:pPr marL="0" indent="0">
              <a:buNone/>
            </a:pPr>
            <a:r>
              <a:rPr lang="en-US" sz="1150" dirty="0">
                <a:solidFill>
                  <a:srgbClr val="575A5D"/>
                </a:solidFill>
              </a:rPr>
              <a:t>Performance benchmarking &amp; peer comparison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ARCU Capabilities">
    <p:bg>
      <p:bgPr>
        <a:solidFill>
          <a:srgbClr val="FEFD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6185F"/>
          </a:solidFill>
          <a:ln/>
        </p:spPr>
        <p:txBody>
          <a:bodyPr/>
          <a:lstStyle/>
          <a:p>
            <a:endParaRPr lang="en-US"/>
          </a:p>
        </p:txBody>
      </p:sp>
      <p:sp>
        <p:nvSpPr>
          <p:cNvPr id="3" name="Shape 1"/>
          <p:cNvSpPr/>
          <p:nvPr/>
        </p:nvSpPr>
        <p:spPr>
          <a:xfrm>
            <a:off x="0" y="1188720"/>
            <a:ext cx="12161520" cy="64008"/>
          </a:xfrm>
          <a:prstGeom prst="rect">
            <a:avLst/>
          </a:prstGeom>
          <a:solidFill>
            <a:srgbClr val="009E7A"/>
          </a:solidFill>
          <a:ln/>
        </p:spPr>
        <p:txBody>
          <a:bodyPr/>
          <a:lstStyle/>
          <a:p>
            <a:endParaRPr lang="en-US"/>
          </a:p>
        </p:txBody>
      </p:sp>
      <p:pic>
        <p:nvPicPr>
          <p:cNvPr id="4" name="Image 0" descr="preencoded.png"/>
          <p:cNvPicPr>
            <a:picLocks noChangeAspect="1"/>
          </p:cNvPicPr>
          <p:nvPr/>
        </p:nvPicPr>
        <p:blipFill>
          <a:blip r:embed="rId2"/>
          <a:stretch>
            <a:fillRect/>
          </a:stretch>
        </p:blipFill>
        <p:spPr>
          <a:xfrm>
            <a:off x="320040" y="274320"/>
            <a:ext cx="594360" cy="594360"/>
          </a:xfrm>
          <a:prstGeom prst="rect">
            <a:avLst/>
          </a:prstGeom>
        </p:spPr>
      </p:pic>
      <p:sp>
        <p:nvSpPr>
          <p:cNvPr id="5" name="Text 2"/>
          <p:cNvSpPr/>
          <p:nvPr/>
        </p:nvSpPr>
        <p:spPr>
          <a:xfrm>
            <a:off x="1005840" y="0"/>
            <a:ext cx="6400800" cy="1188720"/>
          </a:xfrm>
          <a:prstGeom prst="rect">
            <a:avLst/>
          </a:prstGeom>
          <a:noFill/>
          <a:ln/>
        </p:spPr>
        <p:txBody>
          <a:bodyPr wrap="square" rtlCol="0" anchor="ctr"/>
          <a:lstStyle/>
          <a:p>
            <a:pPr marL="0" indent="0">
              <a:buNone/>
            </a:pPr>
            <a:r>
              <a:rPr lang="en-US" sz="3200" b="1" dirty="0">
                <a:solidFill>
                  <a:srgbClr val="FFFFFF"/>
                </a:solidFill>
              </a:rPr>
              <a:t>ARCU: Credit Union Intelligence</a:t>
            </a:r>
            <a:endParaRPr lang="en-US" sz="3200" dirty="0"/>
          </a:p>
        </p:txBody>
      </p:sp>
      <p:sp>
        <p:nvSpPr>
          <p:cNvPr id="6" name="Text 3"/>
          <p:cNvSpPr/>
          <p:nvPr/>
        </p:nvSpPr>
        <p:spPr>
          <a:xfrm>
            <a:off x="1005840" y="530352"/>
            <a:ext cx="8229600" cy="594360"/>
          </a:xfrm>
          <a:prstGeom prst="rect">
            <a:avLst/>
          </a:prstGeom>
          <a:noFill/>
          <a:ln/>
        </p:spPr>
        <p:txBody>
          <a:bodyPr wrap="square" rtlCol="0" anchor="ctr"/>
          <a:lstStyle/>
          <a:p>
            <a:pPr marL="0" indent="0">
              <a:buNone/>
            </a:pPr>
            <a:r>
              <a:rPr lang="en-US" sz="1300" dirty="0">
                <a:solidFill>
                  <a:srgbClr val="009E7A"/>
                </a:solidFill>
              </a:rPr>
              <a:t>Purpose-built data warehouse + analytics for Symitar credit unions — insights from day one.</a:t>
            </a:r>
            <a:endParaRPr lang="en-US" sz="1300" dirty="0"/>
          </a:p>
        </p:txBody>
      </p:sp>
      <p:sp>
        <p:nvSpPr>
          <p:cNvPr id="7" name="Shape 4"/>
          <p:cNvSpPr/>
          <p:nvPr/>
        </p:nvSpPr>
        <p:spPr>
          <a:xfrm>
            <a:off x="365760" y="1463040"/>
            <a:ext cx="11430000" cy="749808"/>
          </a:xfrm>
          <a:prstGeom prst="rect">
            <a:avLst/>
          </a:prstGeom>
          <a:solidFill>
            <a:srgbClr val="E8F7F7"/>
          </a:solidFill>
          <a:ln w="12700">
            <a:solidFill>
              <a:srgbClr val="009E7A"/>
            </a:solidFill>
            <a:prstDash val="solid"/>
          </a:ln>
        </p:spPr>
        <p:txBody>
          <a:bodyPr/>
          <a:lstStyle/>
          <a:p>
            <a:endParaRPr lang="en-US"/>
          </a:p>
        </p:txBody>
      </p:sp>
      <p:sp>
        <p:nvSpPr>
          <p:cNvPr id="8" name="Text 5"/>
          <p:cNvSpPr/>
          <p:nvPr/>
        </p:nvSpPr>
        <p:spPr>
          <a:xfrm>
            <a:off x="548640" y="1463040"/>
            <a:ext cx="11064240" cy="749808"/>
          </a:xfrm>
          <a:prstGeom prst="rect">
            <a:avLst/>
          </a:prstGeom>
          <a:noFill/>
          <a:ln/>
        </p:spPr>
        <p:txBody>
          <a:bodyPr wrap="square" rtlCol="0" anchor="ctr"/>
          <a:lstStyle/>
          <a:p>
            <a:pPr marL="0" indent="0">
              <a:buNone/>
            </a:pPr>
            <a:r>
              <a:rPr lang="en-US" sz="1200" i="1" dirty="0">
                <a:solidFill>
                  <a:srgbClr val="06185F"/>
                </a:solidFill>
              </a:rPr>
              <a:t>Think of ARCU as your credit union’s data warehouse — already built, pre-loaded with your Symitar data, ready to answer your hardest strategic questions on day one. No data lake project. No engineering team required.</a:t>
            </a:r>
            <a:endParaRPr lang="en-US" sz="1200" dirty="0"/>
          </a:p>
        </p:txBody>
      </p:sp>
      <p:sp>
        <p:nvSpPr>
          <p:cNvPr id="9" name="Shape 6"/>
          <p:cNvSpPr/>
          <p:nvPr/>
        </p:nvSpPr>
        <p:spPr>
          <a:xfrm>
            <a:off x="365760" y="2423160"/>
            <a:ext cx="55778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0" name="Shape 7"/>
          <p:cNvSpPr/>
          <p:nvPr/>
        </p:nvSpPr>
        <p:spPr>
          <a:xfrm>
            <a:off x="365760" y="2423160"/>
            <a:ext cx="5577840" cy="594360"/>
          </a:xfrm>
          <a:prstGeom prst="rect">
            <a:avLst/>
          </a:prstGeom>
          <a:solidFill>
            <a:srgbClr val="06185F"/>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548640" y="2496312"/>
            <a:ext cx="438912" cy="438912"/>
          </a:xfrm>
          <a:prstGeom prst="rect">
            <a:avLst/>
          </a:prstGeom>
        </p:spPr>
      </p:pic>
      <p:sp>
        <p:nvSpPr>
          <p:cNvPr id="12" name="Text 8"/>
          <p:cNvSpPr/>
          <p:nvPr/>
        </p:nvSpPr>
        <p:spPr>
          <a:xfrm>
            <a:off x="1078992" y="2423160"/>
            <a:ext cx="4663440" cy="594360"/>
          </a:xfrm>
          <a:prstGeom prst="rect">
            <a:avLst/>
          </a:prstGeom>
          <a:noFill/>
          <a:ln/>
        </p:spPr>
        <p:txBody>
          <a:bodyPr wrap="square" rtlCol="0" anchor="ctr"/>
          <a:lstStyle/>
          <a:p>
            <a:pPr marL="0" indent="0">
              <a:buNone/>
            </a:pPr>
            <a:r>
              <a:rPr lang="en-US" sz="2000" b="1" dirty="0">
                <a:solidFill>
                  <a:srgbClr val="FFFFFF"/>
                </a:solidFill>
              </a:rPr>
              <a:t>Member &amp; Operations Analytics</a:t>
            </a:r>
            <a:endParaRPr lang="en-US" sz="2000" dirty="0"/>
          </a:p>
        </p:txBody>
      </p:sp>
      <p:sp>
        <p:nvSpPr>
          <p:cNvPr id="13" name="Text 9"/>
          <p:cNvSpPr/>
          <p:nvPr/>
        </p:nvSpPr>
        <p:spPr>
          <a:xfrm>
            <a:off x="548640" y="3063240"/>
            <a:ext cx="5212080" cy="347472"/>
          </a:xfrm>
          <a:prstGeom prst="rect">
            <a:avLst/>
          </a:prstGeom>
          <a:noFill/>
          <a:ln/>
        </p:spPr>
        <p:txBody>
          <a:bodyPr wrap="square" rtlCol="0" anchor="ctr"/>
          <a:lstStyle/>
          <a:p>
            <a:pPr marL="0" indent="0">
              <a:buNone/>
            </a:pPr>
            <a:r>
              <a:rPr lang="en-US" sz="1150" b="1" i="1" dirty="0">
                <a:solidFill>
                  <a:srgbClr val="009E7A"/>
                </a:solidFill>
              </a:rPr>
              <a:t>Core analytics powered by your Symitar data</a:t>
            </a:r>
            <a:endParaRPr lang="en-US" sz="1150" dirty="0"/>
          </a:p>
        </p:txBody>
      </p:sp>
      <p:pic>
        <p:nvPicPr>
          <p:cNvPr id="14" name="Image 2" descr="preencoded.png"/>
          <p:cNvPicPr>
            <a:picLocks noChangeAspect="1"/>
          </p:cNvPicPr>
          <p:nvPr/>
        </p:nvPicPr>
        <p:blipFill>
          <a:blip r:embed="rId4"/>
          <a:stretch>
            <a:fillRect/>
          </a:stretch>
        </p:blipFill>
        <p:spPr>
          <a:xfrm>
            <a:off x="548640" y="3493008"/>
            <a:ext cx="237744" cy="237744"/>
          </a:xfrm>
          <a:prstGeom prst="rect">
            <a:avLst/>
          </a:prstGeom>
        </p:spPr>
      </p:pic>
      <p:sp>
        <p:nvSpPr>
          <p:cNvPr id="15" name="Text 10"/>
          <p:cNvSpPr/>
          <p:nvPr/>
        </p:nvSpPr>
        <p:spPr>
          <a:xfrm>
            <a:off x="868680" y="3456432"/>
            <a:ext cx="4892040" cy="411480"/>
          </a:xfrm>
          <a:prstGeom prst="rect">
            <a:avLst/>
          </a:prstGeom>
          <a:noFill/>
          <a:ln/>
        </p:spPr>
        <p:txBody>
          <a:bodyPr wrap="square" rtlCol="0" anchor="ctr"/>
          <a:lstStyle/>
          <a:p>
            <a:pPr marL="0" indent="0">
              <a:buNone/>
            </a:pPr>
            <a:r>
              <a:rPr lang="en-US" sz="1150" dirty="0">
                <a:solidFill>
                  <a:srgbClr val="575A5D"/>
                </a:solidFill>
              </a:rPr>
              <a:t>Member account &amp; transaction reporting</a:t>
            </a:r>
            <a:endParaRPr lang="en-US" sz="1150" dirty="0"/>
          </a:p>
        </p:txBody>
      </p:sp>
      <p:pic>
        <p:nvPicPr>
          <p:cNvPr id="16" name="Image 3" descr="preencoded.png"/>
          <p:cNvPicPr>
            <a:picLocks noChangeAspect="1"/>
          </p:cNvPicPr>
          <p:nvPr/>
        </p:nvPicPr>
        <p:blipFill>
          <a:blip r:embed="rId4"/>
          <a:stretch>
            <a:fillRect/>
          </a:stretch>
        </p:blipFill>
        <p:spPr>
          <a:xfrm>
            <a:off x="548640" y="3968496"/>
            <a:ext cx="237744" cy="237744"/>
          </a:xfrm>
          <a:prstGeom prst="rect">
            <a:avLst/>
          </a:prstGeom>
        </p:spPr>
      </p:pic>
      <p:sp>
        <p:nvSpPr>
          <p:cNvPr id="17" name="Text 11"/>
          <p:cNvSpPr/>
          <p:nvPr/>
        </p:nvSpPr>
        <p:spPr>
          <a:xfrm>
            <a:off x="868680" y="3931920"/>
            <a:ext cx="4892040" cy="411480"/>
          </a:xfrm>
          <a:prstGeom prst="rect">
            <a:avLst/>
          </a:prstGeom>
          <a:noFill/>
          <a:ln/>
        </p:spPr>
        <p:txBody>
          <a:bodyPr wrap="square" rtlCol="0" anchor="ctr"/>
          <a:lstStyle/>
          <a:p>
            <a:pPr marL="0" indent="0">
              <a:buNone/>
            </a:pPr>
            <a:r>
              <a:rPr lang="en-US" sz="1150" dirty="0">
                <a:solidFill>
                  <a:srgbClr val="575A5D"/>
                </a:solidFill>
              </a:rPr>
              <a:t>Share &amp; loan portfolio performance</a:t>
            </a:r>
            <a:endParaRPr lang="en-US" sz="1150" dirty="0"/>
          </a:p>
        </p:txBody>
      </p:sp>
      <p:pic>
        <p:nvPicPr>
          <p:cNvPr id="18" name="Image 4" descr="preencoded.png"/>
          <p:cNvPicPr>
            <a:picLocks noChangeAspect="1"/>
          </p:cNvPicPr>
          <p:nvPr/>
        </p:nvPicPr>
        <p:blipFill>
          <a:blip r:embed="rId4"/>
          <a:stretch>
            <a:fillRect/>
          </a:stretch>
        </p:blipFill>
        <p:spPr>
          <a:xfrm>
            <a:off x="548640" y="4443984"/>
            <a:ext cx="237744" cy="237744"/>
          </a:xfrm>
          <a:prstGeom prst="rect">
            <a:avLst/>
          </a:prstGeom>
        </p:spPr>
      </p:pic>
      <p:sp>
        <p:nvSpPr>
          <p:cNvPr id="19" name="Text 12"/>
          <p:cNvSpPr/>
          <p:nvPr/>
        </p:nvSpPr>
        <p:spPr>
          <a:xfrm>
            <a:off x="868680" y="4407408"/>
            <a:ext cx="4892040" cy="411480"/>
          </a:xfrm>
          <a:prstGeom prst="rect">
            <a:avLst/>
          </a:prstGeom>
          <a:noFill/>
          <a:ln/>
        </p:spPr>
        <p:txBody>
          <a:bodyPr wrap="square" rtlCol="0" anchor="ctr"/>
          <a:lstStyle/>
          <a:p>
            <a:pPr marL="0" indent="0">
              <a:buNone/>
            </a:pPr>
            <a:r>
              <a:rPr lang="en-US" sz="1150" dirty="0">
                <a:solidFill>
                  <a:srgbClr val="575A5D"/>
                </a:solidFill>
              </a:rPr>
              <a:t>Delinquency tracking &amp; early warning signals</a:t>
            </a:r>
            <a:endParaRPr lang="en-US" sz="1150" dirty="0"/>
          </a:p>
        </p:txBody>
      </p:sp>
      <p:pic>
        <p:nvPicPr>
          <p:cNvPr id="20" name="Image 5" descr="preencoded.png"/>
          <p:cNvPicPr>
            <a:picLocks noChangeAspect="1"/>
          </p:cNvPicPr>
          <p:nvPr/>
        </p:nvPicPr>
        <p:blipFill>
          <a:blip r:embed="rId4"/>
          <a:stretch>
            <a:fillRect/>
          </a:stretch>
        </p:blipFill>
        <p:spPr>
          <a:xfrm>
            <a:off x="548640" y="4919472"/>
            <a:ext cx="237744" cy="237744"/>
          </a:xfrm>
          <a:prstGeom prst="rect">
            <a:avLst/>
          </a:prstGeom>
        </p:spPr>
      </p:pic>
      <p:sp>
        <p:nvSpPr>
          <p:cNvPr id="21" name="Text 13"/>
          <p:cNvSpPr/>
          <p:nvPr/>
        </p:nvSpPr>
        <p:spPr>
          <a:xfrm>
            <a:off x="868680" y="4882896"/>
            <a:ext cx="4892040" cy="411480"/>
          </a:xfrm>
          <a:prstGeom prst="rect">
            <a:avLst/>
          </a:prstGeom>
          <a:noFill/>
          <a:ln/>
        </p:spPr>
        <p:txBody>
          <a:bodyPr wrap="square" rtlCol="0" anchor="ctr"/>
          <a:lstStyle/>
          <a:p>
            <a:pPr marL="0" indent="0">
              <a:buNone/>
            </a:pPr>
            <a:r>
              <a:rPr lang="en-US" sz="1150" dirty="0">
                <a:solidFill>
                  <a:srgbClr val="575A5D"/>
                </a:solidFill>
              </a:rPr>
              <a:t>Card &amp; payments activity monitoring</a:t>
            </a:r>
            <a:endParaRPr lang="en-US" sz="1150" dirty="0"/>
          </a:p>
        </p:txBody>
      </p:sp>
      <p:pic>
        <p:nvPicPr>
          <p:cNvPr id="22" name="Image 6" descr="preencoded.png"/>
          <p:cNvPicPr>
            <a:picLocks noChangeAspect="1"/>
          </p:cNvPicPr>
          <p:nvPr/>
        </p:nvPicPr>
        <p:blipFill>
          <a:blip r:embed="rId4"/>
          <a:stretch>
            <a:fillRect/>
          </a:stretch>
        </p:blipFill>
        <p:spPr>
          <a:xfrm>
            <a:off x="548640" y="5394960"/>
            <a:ext cx="237744" cy="237744"/>
          </a:xfrm>
          <a:prstGeom prst="rect">
            <a:avLst/>
          </a:prstGeom>
        </p:spPr>
      </p:pic>
      <p:sp>
        <p:nvSpPr>
          <p:cNvPr id="23" name="Text 14"/>
          <p:cNvSpPr/>
          <p:nvPr/>
        </p:nvSpPr>
        <p:spPr>
          <a:xfrm>
            <a:off x="868680" y="5358384"/>
            <a:ext cx="4892040" cy="411480"/>
          </a:xfrm>
          <a:prstGeom prst="rect">
            <a:avLst/>
          </a:prstGeom>
          <a:noFill/>
          <a:ln/>
        </p:spPr>
        <p:txBody>
          <a:bodyPr wrap="square" rtlCol="0" anchor="ctr"/>
          <a:lstStyle/>
          <a:p>
            <a:pPr marL="0" indent="0">
              <a:buNone/>
            </a:pPr>
            <a:r>
              <a:rPr lang="en-US" sz="1150" dirty="0">
                <a:solidFill>
                  <a:srgbClr val="575A5D"/>
                </a:solidFill>
              </a:rPr>
              <a:t>Branch vs. digital channel analytics</a:t>
            </a:r>
            <a:endParaRPr lang="en-US" sz="1150" dirty="0"/>
          </a:p>
        </p:txBody>
      </p:sp>
      <p:pic>
        <p:nvPicPr>
          <p:cNvPr id="24" name="Image 7" descr="preencoded.png"/>
          <p:cNvPicPr>
            <a:picLocks noChangeAspect="1"/>
          </p:cNvPicPr>
          <p:nvPr/>
        </p:nvPicPr>
        <p:blipFill>
          <a:blip r:embed="rId4"/>
          <a:stretch>
            <a:fillRect/>
          </a:stretch>
        </p:blipFill>
        <p:spPr>
          <a:xfrm>
            <a:off x="548640" y="5870448"/>
            <a:ext cx="237744" cy="237744"/>
          </a:xfrm>
          <a:prstGeom prst="rect">
            <a:avLst/>
          </a:prstGeom>
        </p:spPr>
      </p:pic>
      <p:sp>
        <p:nvSpPr>
          <p:cNvPr id="25" name="Text 15"/>
          <p:cNvSpPr/>
          <p:nvPr/>
        </p:nvSpPr>
        <p:spPr>
          <a:xfrm>
            <a:off x="868680" y="5833872"/>
            <a:ext cx="4892040" cy="411480"/>
          </a:xfrm>
          <a:prstGeom prst="rect">
            <a:avLst/>
          </a:prstGeom>
          <a:noFill/>
          <a:ln/>
        </p:spPr>
        <p:txBody>
          <a:bodyPr wrap="square" rtlCol="0" anchor="ctr"/>
          <a:lstStyle/>
          <a:p>
            <a:pPr marL="0" indent="0">
              <a:buNone/>
            </a:pPr>
            <a:r>
              <a:rPr lang="en-US" sz="1150" dirty="0">
                <a:solidFill>
                  <a:srgbClr val="575A5D"/>
                </a:solidFill>
              </a:rPr>
              <a:t>Member lifecycle &amp; attrition modeling</a:t>
            </a:r>
            <a:endParaRPr lang="en-US" sz="1150" dirty="0"/>
          </a:p>
        </p:txBody>
      </p:sp>
      <p:sp>
        <p:nvSpPr>
          <p:cNvPr id="26" name="Shape 16"/>
          <p:cNvSpPr/>
          <p:nvPr/>
        </p:nvSpPr>
        <p:spPr>
          <a:xfrm>
            <a:off x="6263640" y="2423160"/>
            <a:ext cx="55778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7" name="Shape 17"/>
          <p:cNvSpPr/>
          <p:nvPr/>
        </p:nvSpPr>
        <p:spPr>
          <a:xfrm>
            <a:off x="6263640" y="2423160"/>
            <a:ext cx="5577840" cy="594360"/>
          </a:xfrm>
          <a:prstGeom prst="rect">
            <a:avLst/>
          </a:prstGeom>
          <a:solidFill>
            <a:srgbClr val="06185F"/>
          </a:solidFill>
          <a:ln/>
        </p:spPr>
        <p:txBody>
          <a:bodyPr/>
          <a:lstStyle/>
          <a:p>
            <a:endParaRPr lang="en-US"/>
          </a:p>
        </p:txBody>
      </p:sp>
      <p:pic>
        <p:nvPicPr>
          <p:cNvPr id="28" name="Image 8" descr="preencoded.png"/>
          <p:cNvPicPr>
            <a:picLocks noChangeAspect="1"/>
          </p:cNvPicPr>
          <p:nvPr/>
        </p:nvPicPr>
        <p:blipFill>
          <a:blip r:embed="rId5"/>
          <a:stretch>
            <a:fillRect/>
          </a:stretch>
        </p:blipFill>
        <p:spPr>
          <a:xfrm>
            <a:off x="6446520" y="2496312"/>
            <a:ext cx="438912" cy="438912"/>
          </a:xfrm>
          <a:prstGeom prst="rect">
            <a:avLst/>
          </a:prstGeom>
        </p:spPr>
      </p:pic>
      <p:sp>
        <p:nvSpPr>
          <p:cNvPr id="29" name="Text 18"/>
          <p:cNvSpPr/>
          <p:nvPr/>
        </p:nvSpPr>
        <p:spPr>
          <a:xfrm>
            <a:off x="6976872" y="2423160"/>
            <a:ext cx="4663440" cy="594360"/>
          </a:xfrm>
          <a:prstGeom prst="rect">
            <a:avLst/>
          </a:prstGeom>
          <a:noFill/>
          <a:ln/>
        </p:spPr>
        <p:txBody>
          <a:bodyPr wrap="square" rtlCol="0" anchor="ctr"/>
          <a:lstStyle/>
          <a:p>
            <a:pPr marL="0" indent="0">
              <a:buNone/>
            </a:pPr>
            <a:r>
              <a:rPr lang="en-US" sz="2000" b="1" dirty="0">
                <a:solidFill>
                  <a:srgbClr val="FFFFFF"/>
                </a:solidFill>
              </a:rPr>
              <a:t>ARCU</a:t>
            </a:r>
            <a:endParaRPr lang="en-US" sz="2000" dirty="0"/>
          </a:p>
        </p:txBody>
      </p:sp>
      <p:sp>
        <p:nvSpPr>
          <p:cNvPr id="30" name="Text 19"/>
          <p:cNvSpPr/>
          <p:nvPr/>
        </p:nvSpPr>
        <p:spPr>
          <a:xfrm>
            <a:off x="6446520" y="3063240"/>
            <a:ext cx="5212080" cy="347472"/>
          </a:xfrm>
          <a:prstGeom prst="rect">
            <a:avLst/>
          </a:prstGeom>
          <a:noFill/>
          <a:ln/>
        </p:spPr>
        <p:txBody>
          <a:bodyPr wrap="square" rtlCol="0" anchor="ctr"/>
          <a:lstStyle/>
          <a:p>
            <a:pPr marL="0" indent="0">
              <a:buNone/>
            </a:pPr>
            <a:r>
              <a:rPr lang="en-US" sz="1150" b="1" i="1" dirty="0">
                <a:solidFill>
                  <a:srgbClr val="009E7A"/>
                </a:solidFill>
              </a:rPr>
              <a:t>Strategic intelligence for CU leadership</a:t>
            </a:r>
            <a:endParaRPr lang="en-US" sz="1150" dirty="0"/>
          </a:p>
        </p:txBody>
      </p:sp>
      <p:pic>
        <p:nvPicPr>
          <p:cNvPr id="31" name="Image 9" descr="preencoded.png"/>
          <p:cNvPicPr>
            <a:picLocks noChangeAspect="1"/>
          </p:cNvPicPr>
          <p:nvPr/>
        </p:nvPicPr>
        <p:blipFill>
          <a:blip r:embed="rId4"/>
          <a:stretch>
            <a:fillRect/>
          </a:stretch>
        </p:blipFill>
        <p:spPr>
          <a:xfrm>
            <a:off x="6446520" y="3493008"/>
            <a:ext cx="237744" cy="237744"/>
          </a:xfrm>
          <a:prstGeom prst="rect">
            <a:avLst/>
          </a:prstGeom>
        </p:spPr>
      </p:pic>
      <p:sp>
        <p:nvSpPr>
          <p:cNvPr id="32" name="Text 20"/>
          <p:cNvSpPr/>
          <p:nvPr/>
        </p:nvSpPr>
        <p:spPr>
          <a:xfrm>
            <a:off x="6766560" y="3456432"/>
            <a:ext cx="4892040" cy="411480"/>
          </a:xfrm>
          <a:prstGeom prst="rect">
            <a:avLst/>
          </a:prstGeom>
          <a:noFill/>
          <a:ln/>
        </p:spPr>
        <p:txBody>
          <a:bodyPr wrap="square" rtlCol="0" anchor="ctr"/>
          <a:lstStyle/>
          <a:p>
            <a:pPr marL="0" indent="0">
              <a:buNone/>
            </a:pPr>
            <a:r>
              <a:rPr lang="en-US" sz="1150" dirty="0">
                <a:solidFill>
                  <a:srgbClr val="575A5D"/>
                </a:solidFill>
              </a:rPr>
              <a:t>Executive &amp; board-ready scorecards</a:t>
            </a:r>
            <a:endParaRPr lang="en-US" sz="1150" dirty="0"/>
          </a:p>
        </p:txBody>
      </p:sp>
      <p:pic>
        <p:nvPicPr>
          <p:cNvPr id="33" name="Image 10" descr="preencoded.png"/>
          <p:cNvPicPr>
            <a:picLocks noChangeAspect="1"/>
          </p:cNvPicPr>
          <p:nvPr/>
        </p:nvPicPr>
        <p:blipFill>
          <a:blip r:embed="rId4"/>
          <a:stretch>
            <a:fillRect/>
          </a:stretch>
        </p:blipFill>
        <p:spPr>
          <a:xfrm>
            <a:off x="6446520" y="3968496"/>
            <a:ext cx="237744" cy="237744"/>
          </a:xfrm>
          <a:prstGeom prst="rect">
            <a:avLst/>
          </a:prstGeom>
        </p:spPr>
      </p:pic>
      <p:sp>
        <p:nvSpPr>
          <p:cNvPr id="34" name="Text 21"/>
          <p:cNvSpPr/>
          <p:nvPr/>
        </p:nvSpPr>
        <p:spPr>
          <a:xfrm>
            <a:off x="6766560" y="3931920"/>
            <a:ext cx="4892040" cy="411480"/>
          </a:xfrm>
          <a:prstGeom prst="rect">
            <a:avLst/>
          </a:prstGeom>
          <a:noFill/>
          <a:ln/>
        </p:spPr>
        <p:txBody>
          <a:bodyPr wrap="square" rtlCol="0" anchor="ctr"/>
          <a:lstStyle/>
          <a:p>
            <a:pPr marL="0" indent="0">
              <a:buNone/>
            </a:pPr>
            <a:r>
              <a:rPr lang="en-US" sz="1150" dirty="0">
                <a:solidFill>
                  <a:srgbClr val="575A5D"/>
                </a:solidFill>
              </a:rPr>
              <a:t>Peer benchmarking &amp; competitive positioning</a:t>
            </a:r>
            <a:endParaRPr lang="en-US" sz="1150" dirty="0"/>
          </a:p>
        </p:txBody>
      </p:sp>
      <p:pic>
        <p:nvPicPr>
          <p:cNvPr id="35" name="Image 11" descr="preencoded.png"/>
          <p:cNvPicPr>
            <a:picLocks noChangeAspect="1"/>
          </p:cNvPicPr>
          <p:nvPr/>
        </p:nvPicPr>
        <p:blipFill>
          <a:blip r:embed="rId4"/>
          <a:stretch>
            <a:fillRect/>
          </a:stretch>
        </p:blipFill>
        <p:spPr>
          <a:xfrm>
            <a:off x="6446520" y="4443984"/>
            <a:ext cx="237744" cy="237744"/>
          </a:xfrm>
          <a:prstGeom prst="rect">
            <a:avLst/>
          </a:prstGeom>
        </p:spPr>
      </p:pic>
      <p:sp>
        <p:nvSpPr>
          <p:cNvPr id="36" name="Text 22"/>
          <p:cNvSpPr/>
          <p:nvPr/>
        </p:nvSpPr>
        <p:spPr>
          <a:xfrm>
            <a:off x="6766560" y="4407408"/>
            <a:ext cx="4892040" cy="411480"/>
          </a:xfrm>
          <a:prstGeom prst="rect">
            <a:avLst/>
          </a:prstGeom>
          <a:noFill/>
          <a:ln/>
        </p:spPr>
        <p:txBody>
          <a:bodyPr wrap="square" rtlCol="0" anchor="ctr"/>
          <a:lstStyle/>
          <a:p>
            <a:pPr marL="0" indent="0">
              <a:buNone/>
            </a:pPr>
            <a:r>
              <a:rPr lang="en-US" sz="1150" dirty="0">
                <a:solidFill>
                  <a:srgbClr val="575A5D"/>
                </a:solidFill>
              </a:rPr>
              <a:t>Regulatory &amp; NCUA compliance reporting</a:t>
            </a:r>
            <a:endParaRPr lang="en-US" sz="1150" dirty="0"/>
          </a:p>
        </p:txBody>
      </p:sp>
      <p:pic>
        <p:nvPicPr>
          <p:cNvPr id="37" name="Image 12" descr="preencoded.png"/>
          <p:cNvPicPr>
            <a:picLocks noChangeAspect="1"/>
          </p:cNvPicPr>
          <p:nvPr/>
        </p:nvPicPr>
        <p:blipFill>
          <a:blip r:embed="rId4"/>
          <a:stretch>
            <a:fillRect/>
          </a:stretch>
        </p:blipFill>
        <p:spPr>
          <a:xfrm>
            <a:off x="6446520" y="4919472"/>
            <a:ext cx="237744" cy="237744"/>
          </a:xfrm>
          <a:prstGeom prst="rect">
            <a:avLst/>
          </a:prstGeom>
        </p:spPr>
      </p:pic>
      <p:sp>
        <p:nvSpPr>
          <p:cNvPr id="38" name="Text 23"/>
          <p:cNvSpPr/>
          <p:nvPr/>
        </p:nvSpPr>
        <p:spPr>
          <a:xfrm>
            <a:off x="6766560" y="4882896"/>
            <a:ext cx="4892040" cy="411480"/>
          </a:xfrm>
          <a:prstGeom prst="rect">
            <a:avLst/>
          </a:prstGeom>
          <a:noFill/>
          <a:ln/>
        </p:spPr>
        <p:txBody>
          <a:bodyPr wrap="square" rtlCol="0" anchor="ctr"/>
          <a:lstStyle/>
          <a:p>
            <a:pPr marL="0" indent="0">
              <a:buNone/>
            </a:pPr>
            <a:r>
              <a:rPr lang="en-US" sz="1150" dirty="0">
                <a:solidFill>
                  <a:srgbClr val="575A5D"/>
                </a:solidFill>
              </a:rPr>
              <a:t>New member acquisition analytics</a:t>
            </a:r>
            <a:endParaRPr lang="en-US" sz="1150" dirty="0"/>
          </a:p>
        </p:txBody>
      </p:sp>
      <p:pic>
        <p:nvPicPr>
          <p:cNvPr id="39" name="Image 13" descr="preencoded.png"/>
          <p:cNvPicPr>
            <a:picLocks noChangeAspect="1"/>
          </p:cNvPicPr>
          <p:nvPr/>
        </p:nvPicPr>
        <p:blipFill>
          <a:blip r:embed="rId4"/>
          <a:stretch>
            <a:fillRect/>
          </a:stretch>
        </p:blipFill>
        <p:spPr>
          <a:xfrm>
            <a:off x="6446520" y="5394960"/>
            <a:ext cx="237744" cy="237744"/>
          </a:xfrm>
          <a:prstGeom prst="rect">
            <a:avLst/>
          </a:prstGeom>
        </p:spPr>
      </p:pic>
      <p:sp>
        <p:nvSpPr>
          <p:cNvPr id="40" name="Text 24"/>
          <p:cNvSpPr/>
          <p:nvPr/>
        </p:nvSpPr>
        <p:spPr>
          <a:xfrm>
            <a:off x="6766560" y="5358384"/>
            <a:ext cx="4892040" cy="411480"/>
          </a:xfrm>
          <a:prstGeom prst="rect">
            <a:avLst/>
          </a:prstGeom>
          <a:noFill/>
          <a:ln/>
        </p:spPr>
        <p:txBody>
          <a:bodyPr wrap="square" rtlCol="0" anchor="ctr"/>
          <a:lstStyle/>
          <a:p>
            <a:pPr marL="0" indent="0">
              <a:buNone/>
            </a:pPr>
            <a:r>
              <a:rPr lang="en-US" sz="1150" dirty="0">
                <a:solidFill>
                  <a:srgbClr val="575A5D"/>
                </a:solidFill>
              </a:rPr>
              <a:t>Product penetration &amp; cross-sell opportunities</a:t>
            </a:r>
            <a:endParaRPr lang="en-US" sz="1150" dirty="0"/>
          </a:p>
        </p:txBody>
      </p:sp>
      <p:pic>
        <p:nvPicPr>
          <p:cNvPr id="41" name="Image 14" descr="preencoded.png"/>
          <p:cNvPicPr>
            <a:picLocks noChangeAspect="1"/>
          </p:cNvPicPr>
          <p:nvPr/>
        </p:nvPicPr>
        <p:blipFill>
          <a:blip r:embed="rId4"/>
          <a:stretch>
            <a:fillRect/>
          </a:stretch>
        </p:blipFill>
        <p:spPr>
          <a:xfrm>
            <a:off x="6446520" y="5870448"/>
            <a:ext cx="237744" cy="237744"/>
          </a:xfrm>
          <a:prstGeom prst="rect">
            <a:avLst/>
          </a:prstGeom>
        </p:spPr>
      </p:pic>
      <p:sp>
        <p:nvSpPr>
          <p:cNvPr id="42" name="Text 25"/>
          <p:cNvSpPr/>
          <p:nvPr/>
        </p:nvSpPr>
        <p:spPr>
          <a:xfrm>
            <a:off x="6766560" y="5833872"/>
            <a:ext cx="4892040" cy="411480"/>
          </a:xfrm>
          <a:prstGeom prst="rect">
            <a:avLst/>
          </a:prstGeom>
          <a:noFill/>
          <a:ln/>
        </p:spPr>
        <p:txBody>
          <a:bodyPr wrap="square" rtlCol="0" anchor="ctr"/>
          <a:lstStyle/>
          <a:p>
            <a:pPr marL="0" indent="0">
              <a:buNone/>
            </a:pPr>
            <a:r>
              <a:rPr lang="en-US" sz="1150" dirty="0">
                <a:solidFill>
                  <a:srgbClr val="575A5D"/>
                </a:solidFill>
              </a:rPr>
              <a:t>Self-service drill-down dashboards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9E7A"/>
          </a:solidFill>
          <a:ln/>
        </p:spPr>
        <p:txBody>
          <a:bodyPr/>
          <a:lstStyle/>
          <a:p>
            <a:endParaRPr lang="en-US"/>
          </a:p>
        </p:txBody>
      </p:sp>
      <p:sp>
        <p:nvSpPr>
          <p:cNvPr id="3" name="Shape 1"/>
          <p:cNvSpPr/>
          <p:nvPr/>
        </p:nvSpPr>
        <p:spPr>
          <a:xfrm>
            <a:off x="365760" y="274320"/>
            <a:ext cx="822960" cy="347472"/>
          </a:xfrm>
          <a:prstGeom prst="rect">
            <a:avLst/>
          </a:prstGeom>
          <a:solidFill>
            <a:srgbClr val="F5A623"/>
          </a:solidFill>
          <a:ln/>
        </p:spPr>
        <p:txBody>
          <a:bodyPr/>
          <a:lstStyle/>
          <a:p>
            <a:endParaRPr lang="en-US"/>
          </a:p>
        </p:txBody>
      </p:sp>
      <p:sp>
        <p:nvSpPr>
          <p:cNvPr id="4" name="Text 2"/>
          <p:cNvSpPr/>
          <p:nvPr/>
        </p:nvSpPr>
        <p:spPr>
          <a:xfrm>
            <a:off x="365760" y="274320"/>
            <a:ext cx="822960" cy="347472"/>
          </a:xfrm>
          <a:prstGeom prst="rect">
            <a:avLst/>
          </a:prstGeom>
          <a:noFill/>
          <a:ln/>
        </p:spPr>
        <p:txBody>
          <a:bodyPr wrap="square" lIns="0" tIns="0" rIns="0" bIns="0" rtlCol="0" anchor="ctr"/>
          <a:lstStyle/>
          <a:p>
            <a:pPr marL="0" indent="0" algn="ctr">
              <a:buNone/>
            </a:pPr>
            <a:r>
              <a:rPr lang="en-US" sz="1200" b="1" dirty="0">
                <a:solidFill>
                  <a:srgbClr val="06185F"/>
                </a:solidFill>
              </a:rPr>
              <a:t>FOR CUs</a:t>
            </a:r>
            <a:endParaRPr lang="en-US" sz="1200" dirty="0"/>
          </a:p>
        </p:txBody>
      </p:sp>
      <p:pic>
        <p:nvPicPr>
          <p:cNvPr id="5" name="Image 0" descr="preencoded.png"/>
          <p:cNvPicPr>
            <a:picLocks noChangeAspect="1"/>
          </p:cNvPicPr>
          <p:nvPr/>
        </p:nvPicPr>
        <p:blipFill>
          <a:blip r:embed="rId2"/>
          <a:stretch>
            <a:fillRect/>
          </a:stretch>
        </p:blipFill>
        <p:spPr>
          <a:xfrm>
            <a:off x="1325880" y="201168"/>
            <a:ext cx="594360" cy="594360"/>
          </a:xfrm>
          <a:prstGeom prst="rect">
            <a:avLst/>
          </a:prstGeom>
        </p:spPr>
      </p:pic>
      <p:sp>
        <p:nvSpPr>
          <p:cNvPr id="6" name="Text 3"/>
          <p:cNvSpPr/>
          <p:nvPr/>
        </p:nvSpPr>
        <p:spPr>
          <a:xfrm>
            <a:off x="2011680" y="0"/>
            <a:ext cx="3657600" cy="1005840"/>
          </a:xfrm>
          <a:prstGeom prst="rect">
            <a:avLst/>
          </a:prstGeom>
          <a:noFill/>
          <a:ln/>
        </p:spPr>
        <p:txBody>
          <a:bodyPr wrap="square" rtlCol="0" anchor="ctr"/>
          <a:lstStyle/>
          <a:p>
            <a:pPr marL="0" indent="0">
              <a:buNone/>
            </a:pPr>
            <a:r>
              <a:rPr lang="en-US" sz="4200" b="1" dirty="0">
                <a:solidFill>
                  <a:srgbClr val="FFFFFF"/>
                </a:solidFill>
              </a:rPr>
              <a:t>ARCU in Action</a:t>
            </a:r>
            <a:endParaRPr lang="en-US" sz="4200" dirty="0"/>
          </a:p>
        </p:txBody>
      </p:sp>
      <p:sp>
        <p:nvSpPr>
          <p:cNvPr id="7" name="Text 4"/>
          <p:cNvSpPr/>
          <p:nvPr/>
        </p:nvSpPr>
        <p:spPr>
          <a:xfrm>
            <a:off x="2011680" y="640080"/>
            <a:ext cx="6400800" cy="548640"/>
          </a:xfrm>
          <a:prstGeom prst="rect">
            <a:avLst/>
          </a:prstGeom>
          <a:noFill/>
          <a:ln/>
        </p:spPr>
        <p:txBody>
          <a:bodyPr wrap="square" rtlCol="0" anchor="ctr"/>
          <a:lstStyle/>
          <a:p>
            <a:pPr marL="0" indent="0">
              <a:buNone/>
            </a:pPr>
            <a:r>
              <a:rPr lang="en-US" sz="1500" dirty="0">
                <a:solidFill>
                  <a:srgbClr val="009E7A"/>
                </a:solidFill>
              </a:rPr>
              <a:t>Advanced Reporting for Credit Unions</a:t>
            </a:r>
            <a:endParaRPr lang="en-US" sz="1500" dirty="0"/>
          </a:p>
        </p:txBody>
      </p:sp>
      <p:sp>
        <p:nvSpPr>
          <p:cNvPr id="8" name="Text 5"/>
          <p:cNvSpPr/>
          <p:nvPr/>
        </p:nvSpPr>
        <p:spPr>
          <a:xfrm>
            <a:off x="365760" y="1097280"/>
            <a:ext cx="8229600" cy="457200"/>
          </a:xfrm>
          <a:prstGeom prst="rect">
            <a:avLst/>
          </a:prstGeom>
          <a:noFill/>
          <a:ln/>
        </p:spPr>
        <p:txBody>
          <a:bodyPr wrap="square" rtlCol="0" anchor="ctr"/>
          <a:lstStyle/>
          <a:p>
            <a:pPr marL="0" indent="0">
              <a:buNone/>
            </a:pPr>
            <a:r>
              <a:rPr lang="en-US" sz="1600" i="1" dirty="0">
                <a:solidFill>
                  <a:srgbClr val="717070"/>
                </a:solidFill>
              </a:rPr>
              <a:t>Real outcomes credit union leaders achieve with ARCU — from day one.</a:t>
            </a:r>
            <a:endParaRPr lang="en-US" sz="1600" dirty="0"/>
          </a:p>
        </p:txBody>
      </p:sp>
      <p:sp>
        <p:nvSpPr>
          <p:cNvPr id="9" name="Shape 6"/>
          <p:cNvSpPr/>
          <p:nvPr/>
        </p:nvSpPr>
        <p:spPr>
          <a:xfrm>
            <a:off x="365760" y="1737360"/>
            <a:ext cx="5486400" cy="3200400"/>
          </a:xfrm>
          <a:prstGeom prst="rect">
            <a:avLst/>
          </a:prstGeom>
          <a:solidFill>
            <a:srgbClr val="06185F"/>
          </a:solidFill>
          <a:ln/>
        </p:spPr>
        <p:txBody>
          <a:bodyPr/>
          <a:lstStyle/>
          <a:p>
            <a:endParaRPr lang="en-US"/>
          </a:p>
        </p:txBody>
      </p:sp>
      <p:sp>
        <p:nvSpPr>
          <p:cNvPr id="10" name="Text 7"/>
          <p:cNvSpPr/>
          <p:nvPr/>
        </p:nvSpPr>
        <p:spPr>
          <a:xfrm>
            <a:off x="548640" y="1874520"/>
            <a:ext cx="5120640" cy="384048"/>
          </a:xfrm>
          <a:prstGeom prst="rect">
            <a:avLst/>
          </a:prstGeom>
          <a:noFill/>
          <a:ln/>
        </p:spPr>
        <p:txBody>
          <a:bodyPr wrap="square" rtlCol="0" anchor="ctr"/>
          <a:lstStyle/>
          <a:p>
            <a:pPr marL="0" indent="0">
              <a:buNone/>
            </a:pPr>
            <a:r>
              <a:rPr lang="en-US" sz="1500" b="1" dirty="0">
                <a:solidFill>
                  <a:srgbClr val="009E7A"/>
                </a:solidFill>
              </a:rPr>
              <a:t>What CU Leaders Do with ARCU</a:t>
            </a:r>
            <a:endParaRPr lang="en-US" sz="1500" dirty="0"/>
          </a:p>
        </p:txBody>
      </p:sp>
      <p:pic>
        <p:nvPicPr>
          <p:cNvPr id="11" name="Image 1" descr="preencoded.png"/>
          <p:cNvPicPr>
            <a:picLocks noChangeAspect="1"/>
          </p:cNvPicPr>
          <p:nvPr/>
        </p:nvPicPr>
        <p:blipFill>
          <a:blip r:embed="rId3"/>
          <a:stretch>
            <a:fillRect/>
          </a:stretch>
        </p:blipFill>
        <p:spPr>
          <a:xfrm>
            <a:off x="548640" y="2404872"/>
            <a:ext cx="256032" cy="256032"/>
          </a:xfrm>
          <a:prstGeom prst="rect">
            <a:avLst/>
          </a:prstGeom>
        </p:spPr>
      </p:pic>
      <p:sp>
        <p:nvSpPr>
          <p:cNvPr id="12" name="Text 8"/>
          <p:cNvSpPr/>
          <p:nvPr/>
        </p:nvSpPr>
        <p:spPr>
          <a:xfrm>
            <a:off x="914400" y="2359152"/>
            <a:ext cx="4754880" cy="384048"/>
          </a:xfrm>
          <a:prstGeom prst="rect">
            <a:avLst/>
          </a:prstGeom>
          <a:noFill/>
          <a:ln/>
        </p:spPr>
        <p:txBody>
          <a:bodyPr wrap="square" rtlCol="0" anchor="ctr"/>
          <a:lstStyle/>
          <a:p>
            <a:pPr marL="0" indent="0">
              <a:buNone/>
            </a:pPr>
            <a:r>
              <a:rPr lang="en-US" sz="1200" dirty="0">
                <a:solidFill>
                  <a:srgbClr val="FFFFFF"/>
                </a:solidFill>
              </a:rPr>
              <a:t>Monitor daily deposit flows and rate sensitivity — no analyst needed</a:t>
            </a:r>
            <a:endParaRPr lang="en-US" sz="1200" dirty="0"/>
          </a:p>
        </p:txBody>
      </p:sp>
      <p:pic>
        <p:nvPicPr>
          <p:cNvPr id="13" name="Image 2" descr="preencoded.png"/>
          <p:cNvPicPr>
            <a:picLocks noChangeAspect="1"/>
          </p:cNvPicPr>
          <p:nvPr/>
        </p:nvPicPr>
        <p:blipFill>
          <a:blip r:embed="rId3"/>
          <a:stretch>
            <a:fillRect/>
          </a:stretch>
        </p:blipFill>
        <p:spPr>
          <a:xfrm>
            <a:off x="548640" y="2834640"/>
            <a:ext cx="256032" cy="256032"/>
          </a:xfrm>
          <a:prstGeom prst="rect">
            <a:avLst/>
          </a:prstGeom>
        </p:spPr>
      </p:pic>
      <p:sp>
        <p:nvSpPr>
          <p:cNvPr id="14" name="Text 9"/>
          <p:cNvSpPr/>
          <p:nvPr/>
        </p:nvSpPr>
        <p:spPr>
          <a:xfrm>
            <a:off x="914400" y="2788920"/>
            <a:ext cx="4754880" cy="384048"/>
          </a:xfrm>
          <a:prstGeom prst="rect">
            <a:avLst/>
          </a:prstGeom>
          <a:noFill/>
          <a:ln/>
        </p:spPr>
        <p:txBody>
          <a:bodyPr wrap="square" rtlCol="0" anchor="ctr"/>
          <a:lstStyle/>
          <a:p>
            <a:pPr marL="0" indent="0">
              <a:buNone/>
            </a:pPr>
            <a:r>
              <a:rPr lang="en-US" sz="1200" dirty="0">
                <a:solidFill>
                  <a:srgbClr val="FFFFFF"/>
                </a:solidFill>
              </a:rPr>
              <a:t>Track delinquency trends before they become problems</a:t>
            </a:r>
            <a:endParaRPr lang="en-US" sz="1200" dirty="0"/>
          </a:p>
        </p:txBody>
      </p:sp>
      <p:pic>
        <p:nvPicPr>
          <p:cNvPr id="15" name="Image 3" descr="preencoded.png"/>
          <p:cNvPicPr>
            <a:picLocks noChangeAspect="1"/>
          </p:cNvPicPr>
          <p:nvPr/>
        </p:nvPicPr>
        <p:blipFill>
          <a:blip r:embed="rId3"/>
          <a:stretch>
            <a:fillRect/>
          </a:stretch>
        </p:blipFill>
        <p:spPr>
          <a:xfrm>
            <a:off x="548640" y="3264408"/>
            <a:ext cx="256032" cy="256032"/>
          </a:xfrm>
          <a:prstGeom prst="rect">
            <a:avLst/>
          </a:prstGeom>
        </p:spPr>
      </p:pic>
      <p:sp>
        <p:nvSpPr>
          <p:cNvPr id="16" name="Text 10"/>
          <p:cNvSpPr/>
          <p:nvPr/>
        </p:nvSpPr>
        <p:spPr>
          <a:xfrm>
            <a:off x="914400" y="3218688"/>
            <a:ext cx="4754880" cy="384048"/>
          </a:xfrm>
          <a:prstGeom prst="rect">
            <a:avLst/>
          </a:prstGeom>
          <a:noFill/>
          <a:ln/>
        </p:spPr>
        <p:txBody>
          <a:bodyPr wrap="square" rtlCol="0" anchor="ctr"/>
          <a:lstStyle/>
          <a:p>
            <a:pPr marL="0" indent="0">
              <a:buNone/>
            </a:pPr>
            <a:r>
              <a:rPr lang="en-US" sz="1200" dirty="0">
                <a:solidFill>
                  <a:srgbClr val="FFFFFF"/>
                </a:solidFill>
              </a:rPr>
              <a:t>Compare your CU’s performance to peer institutions</a:t>
            </a:r>
            <a:endParaRPr lang="en-US" sz="1200" dirty="0"/>
          </a:p>
        </p:txBody>
      </p:sp>
      <p:pic>
        <p:nvPicPr>
          <p:cNvPr id="17" name="Image 4" descr="preencoded.png"/>
          <p:cNvPicPr>
            <a:picLocks noChangeAspect="1"/>
          </p:cNvPicPr>
          <p:nvPr/>
        </p:nvPicPr>
        <p:blipFill>
          <a:blip r:embed="rId3"/>
          <a:stretch>
            <a:fillRect/>
          </a:stretch>
        </p:blipFill>
        <p:spPr>
          <a:xfrm>
            <a:off x="548640" y="3694176"/>
            <a:ext cx="256032" cy="256032"/>
          </a:xfrm>
          <a:prstGeom prst="rect">
            <a:avLst/>
          </a:prstGeom>
        </p:spPr>
      </p:pic>
      <p:sp>
        <p:nvSpPr>
          <p:cNvPr id="18" name="Text 11"/>
          <p:cNvSpPr/>
          <p:nvPr/>
        </p:nvSpPr>
        <p:spPr>
          <a:xfrm>
            <a:off x="914400" y="3648456"/>
            <a:ext cx="4754880" cy="384048"/>
          </a:xfrm>
          <a:prstGeom prst="rect">
            <a:avLst/>
          </a:prstGeom>
          <a:noFill/>
          <a:ln/>
        </p:spPr>
        <p:txBody>
          <a:bodyPr wrap="square" rtlCol="0" anchor="ctr"/>
          <a:lstStyle/>
          <a:p>
            <a:pPr marL="0" indent="0">
              <a:buNone/>
            </a:pPr>
            <a:r>
              <a:rPr lang="en-US" sz="1200" dirty="0">
                <a:solidFill>
                  <a:srgbClr val="FFFFFF"/>
                </a:solidFill>
              </a:rPr>
              <a:t>Spot members at risk of leaving before they do</a:t>
            </a:r>
            <a:endParaRPr lang="en-US" sz="1200" dirty="0"/>
          </a:p>
        </p:txBody>
      </p:sp>
      <p:pic>
        <p:nvPicPr>
          <p:cNvPr id="19" name="Image 5" descr="preencoded.png"/>
          <p:cNvPicPr>
            <a:picLocks noChangeAspect="1"/>
          </p:cNvPicPr>
          <p:nvPr/>
        </p:nvPicPr>
        <p:blipFill>
          <a:blip r:embed="rId3"/>
          <a:stretch>
            <a:fillRect/>
          </a:stretch>
        </p:blipFill>
        <p:spPr>
          <a:xfrm>
            <a:off x="548640" y="4123944"/>
            <a:ext cx="256032" cy="256032"/>
          </a:xfrm>
          <a:prstGeom prst="rect">
            <a:avLst/>
          </a:prstGeom>
        </p:spPr>
      </p:pic>
      <p:sp>
        <p:nvSpPr>
          <p:cNvPr id="20" name="Text 12"/>
          <p:cNvSpPr/>
          <p:nvPr/>
        </p:nvSpPr>
        <p:spPr>
          <a:xfrm>
            <a:off x="914400" y="4078224"/>
            <a:ext cx="4754880" cy="384048"/>
          </a:xfrm>
          <a:prstGeom prst="rect">
            <a:avLst/>
          </a:prstGeom>
          <a:noFill/>
          <a:ln/>
        </p:spPr>
        <p:txBody>
          <a:bodyPr wrap="square" rtlCol="0" anchor="ctr"/>
          <a:lstStyle/>
          <a:p>
            <a:pPr marL="0" indent="0">
              <a:buNone/>
            </a:pPr>
            <a:r>
              <a:rPr lang="en-US" sz="1200" dirty="0">
                <a:solidFill>
                  <a:srgbClr val="FFFFFF"/>
                </a:solidFill>
              </a:rPr>
              <a:t>Identify cross-sell opportunities in your existing member base</a:t>
            </a:r>
            <a:endParaRPr lang="en-US" sz="1200" dirty="0"/>
          </a:p>
        </p:txBody>
      </p:sp>
      <p:pic>
        <p:nvPicPr>
          <p:cNvPr id="21" name="Image 6" descr="preencoded.png"/>
          <p:cNvPicPr>
            <a:picLocks noChangeAspect="1"/>
          </p:cNvPicPr>
          <p:nvPr/>
        </p:nvPicPr>
        <p:blipFill>
          <a:blip r:embed="rId3"/>
          <a:stretch>
            <a:fillRect/>
          </a:stretch>
        </p:blipFill>
        <p:spPr>
          <a:xfrm>
            <a:off x="548640" y="4553712"/>
            <a:ext cx="256032" cy="256032"/>
          </a:xfrm>
          <a:prstGeom prst="rect">
            <a:avLst/>
          </a:prstGeom>
        </p:spPr>
      </p:pic>
      <p:sp>
        <p:nvSpPr>
          <p:cNvPr id="22" name="Text 13"/>
          <p:cNvSpPr/>
          <p:nvPr/>
        </p:nvSpPr>
        <p:spPr>
          <a:xfrm>
            <a:off x="914400" y="4507992"/>
            <a:ext cx="4754880" cy="384048"/>
          </a:xfrm>
          <a:prstGeom prst="rect">
            <a:avLst/>
          </a:prstGeom>
          <a:noFill/>
          <a:ln/>
        </p:spPr>
        <p:txBody>
          <a:bodyPr wrap="square" rtlCol="0" anchor="ctr"/>
          <a:lstStyle/>
          <a:p>
            <a:pPr marL="0" indent="0">
              <a:buNone/>
            </a:pPr>
            <a:r>
              <a:rPr lang="en-US" sz="1200" dirty="0">
                <a:solidFill>
                  <a:srgbClr val="FFFFFF"/>
                </a:solidFill>
              </a:rPr>
              <a:t>Deliver board-ready reports without touching a spreadsheet</a:t>
            </a:r>
            <a:endParaRPr lang="en-US" sz="1200" dirty="0"/>
          </a:p>
        </p:txBody>
      </p:sp>
      <p:sp>
        <p:nvSpPr>
          <p:cNvPr id="23" name="Shape 14"/>
          <p:cNvSpPr/>
          <p:nvPr/>
        </p:nvSpPr>
        <p:spPr>
          <a:xfrm>
            <a:off x="6263640" y="1737360"/>
            <a:ext cx="5577840" cy="3200400"/>
          </a:xfrm>
          <a:prstGeom prst="rect">
            <a:avLst/>
          </a:prstGeom>
          <a:solidFill>
            <a:srgbClr val="06185F"/>
          </a:solidFill>
          <a:ln/>
        </p:spPr>
        <p:txBody>
          <a:bodyPr/>
          <a:lstStyle/>
          <a:p>
            <a:endParaRPr lang="en-US"/>
          </a:p>
        </p:txBody>
      </p:sp>
      <p:sp>
        <p:nvSpPr>
          <p:cNvPr id="24" name="Text 15"/>
          <p:cNvSpPr/>
          <p:nvPr/>
        </p:nvSpPr>
        <p:spPr>
          <a:xfrm>
            <a:off x="6446520" y="1874520"/>
            <a:ext cx="5212080" cy="384048"/>
          </a:xfrm>
          <a:prstGeom prst="rect">
            <a:avLst/>
          </a:prstGeom>
          <a:noFill/>
          <a:ln/>
        </p:spPr>
        <p:txBody>
          <a:bodyPr wrap="square" rtlCol="0" anchor="ctr"/>
          <a:lstStyle/>
          <a:p>
            <a:pPr marL="0" indent="0">
              <a:buNone/>
            </a:pPr>
            <a:r>
              <a:rPr lang="en-US" sz="1500" b="1" dirty="0">
                <a:solidFill>
                  <a:srgbClr val="009E7A"/>
                </a:solidFill>
              </a:rPr>
              <a:t>Business Outcomes</a:t>
            </a:r>
            <a:endParaRPr lang="en-US" sz="1500" dirty="0"/>
          </a:p>
        </p:txBody>
      </p:sp>
      <p:sp>
        <p:nvSpPr>
          <p:cNvPr id="25" name="Shape 16"/>
          <p:cNvSpPr/>
          <p:nvPr/>
        </p:nvSpPr>
        <p:spPr>
          <a:xfrm>
            <a:off x="6446520" y="2377440"/>
            <a:ext cx="64008" cy="411480"/>
          </a:xfrm>
          <a:prstGeom prst="rect">
            <a:avLst/>
          </a:prstGeom>
          <a:solidFill>
            <a:srgbClr val="009E7A"/>
          </a:solidFill>
          <a:ln/>
        </p:spPr>
        <p:txBody>
          <a:bodyPr/>
          <a:lstStyle/>
          <a:p>
            <a:endParaRPr lang="en-US"/>
          </a:p>
        </p:txBody>
      </p:sp>
      <p:sp>
        <p:nvSpPr>
          <p:cNvPr id="26" name="Text 17"/>
          <p:cNvSpPr/>
          <p:nvPr/>
        </p:nvSpPr>
        <p:spPr>
          <a:xfrm>
            <a:off x="6583680" y="2359152"/>
            <a:ext cx="5029200" cy="256032"/>
          </a:xfrm>
          <a:prstGeom prst="rect">
            <a:avLst/>
          </a:prstGeom>
          <a:noFill/>
          <a:ln/>
        </p:spPr>
        <p:txBody>
          <a:bodyPr wrap="square" rtlCol="0" anchor="ctr"/>
          <a:lstStyle/>
          <a:p>
            <a:pPr marL="0" indent="0">
              <a:buNone/>
            </a:pPr>
            <a:r>
              <a:rPr lang="en-US" sz="1200" b="1" dirty="0">
                <a:solidFill>
                  <a:srgbClr val="FFFFFF"/>
                </a:solidFill>
              </a:rPr>
              <a:t>Loan Portfolio Health</a:t>
            </a:r>
            <a:endParaRPr lang="en-US" sz="1200" dirty="0"/>
          </a:p>
        </p:txBody>
      </p:sp>
      <p:sp>
        <p:nvSpPr>
          <p:cNvPr id="27" name="Text 18"/>
          <p:cNvSpPr/>
          <p:nvPr/>
        </p:nvSpPr>
        <p:spPr>
          <a:xfrm>
            <a:off x="6583680" y="2587752"/>
            <a:ext cx="5029200" cy="256032"/>
          </a:xfrm>
          <a:prstGeom prst="rect">
            <a:avLst/>
          </a:prstGeom>
          <a:noFill/>
          <a:ln/>
        </p:spPr>
        <p:txBody>
          <a:bodyPr wrap="square" rtlCol="0" anchor="ctr"/>
          <a:lstStyle/>
          <a:p>
            <a:pPr marL="0" indent="0">
              <a:buNone/>
            </a:pPr>
            <a:r>
              <a:rPr lang="en-US" sz="1050" dirty="0">
                <a:solidFill>
                  <a:srgbClr val="717070"/>
                </a:solidFill>
              </a:rPr>
              <a:t>Real-time delinquency, charge-off trends, and origination pipeline visibility</a:t>
            </a:r>
            <a:endParaRPr lang="en-US" sz="1050" dirty="0"/>
          </a:p>
        </p:txBody>
      </p:sp>
      <p:sp>
        <p:nvSpPr>
          <p:cNvPr id="28" name="Shape 19"/>
          <p:cNvSpPr/>
          <p:nvPr/>
        </p:nvSpPr>
        <p:spPr>
          <a:xfrm>
            <a:off x="6446520" y="2926080"/>
            <a:ext cx="64008" cy="411480"/>
          </a:xfrm>
          <a:prstGeom prst="rect">
            <a:avLst/>
          </a:prstGeom>
          <a:solidFill>
            <a:srgbClr val="009E7A"/>
          </a:solidFill>
          <a:ln/>
        </p:spPr>
        <p:txBody>
          <a:bodyPr/>
          <a:lstStyle/>
          <a:p>
            <a:endParaRPr lang="en-US"/>
          </a:p>
        </p:txBody>
      </p:sp>
      <p:sp>
        <p:nvSpPr>
          <p:cNvPr id="29" name="Text 20"/>
          <p:cNvSpPr/>
          <p:nvPr/>
        </p:nvSpPr>
        <p:spPr>
          <a:xfrm>
            <a:off x="6583680" y="2907792"/>
            <a:ext cx="5029200" cy="256032"/>
          </a:xfrm>
          <a:prstGeom prst="rect">
            <a:avLst/>
          </a:prstGeom>
          <a:noFill/>
          <a:ln/>
        </p:spPr>
        <p:txBody>
          <a:bodyPr wrap="square" rtlCol="0" anchor="ctr"/>
          <a:lstStyle/>
          <a:p>
            <a:pPr marL="0" indent="0">
              <a:buNone/>
            </a:pPr>
            <a:r>
              <a:rPr lang="en-US" sz="1200" b="1" dirty="0">
                <a:solidFill>
                  <a:srgbClr val="FFFFFF"/>
                </a:solidFill>
              </a:rPr>
              <a:t>Member Growth</a:t>
            </a:r>
            <a:endParaRPr lang="en-US" sz="1200" dirty="0"/>
          </a:p>
        </p:txBody>
      </p:sp>
      <p:sp>
        <p:nvSpPr>
          <p:cNvPr id="30" name="Text 21"/>
          <p:cNvSpPr/>
          <p:nvPr/>
        </p:nvSpPr>
        <p:spPr>
          <a:xfrm>
            <a:off x="6583680" y="3136392"/>
            <a:ext cx="5029200" cy="256032"/>
          </a:xfrm>
          <a:prstGeom prst="rect">
            <a:avLst/>
          </a:prstGeom>
          <a:noFill/>
          <a:ln/>
        </p:spPr>
        <p:txBody>
          <a:bodyPr wrap="square" rtlCol="0" anchor="ctr"/>
          <a:lstStyle/>
          <a:p>
            <a:pPr marL="0" indent="0">
              <a:buNone/>
            </a:pPr>
            <a:r>
              <a:rPr lang="en-US" sz="1050" dirty="0">
                <a:solidFill>
                  <a:srgbClr val="717070"/>
                </a:solidFill>
              </a:rPr>
              <a:t>Acquisition rates, onboarding completion, and 90-day activation metrics</a:t>
            </a:r>
            <a:endParaRPr lang="en-US" sz="1050" dirty="0"/>
          </a:p>
        </p:txBody>
      </p:sp>
      <p:sp>
        <p:nvSpPr>
          <p:cNvPr id="31" name="Shape 22"/>
          <p:cNvSpPr/>
          <p:nvPr/>
        </p:nvSpPr>
        <p:spPr>
          <a:xfrm>
            <a:off x="6446520" y="3474720"/>
            <a:ext cx="64008" cy="411480"/>
          </a:xfrm>
          <a:prstGeom prst="rect">
            <a:avLst/>
          </a:prstGeom>
          <a:solidFill>
            <a:srgbClr val="009E7A"/>
          </a:solidFill>
          <a:ln/>
        </p:spPr>
        <p:txBody>
          <a:bodyPr/>
          <a:lstStyle/>
          <a:p>
            <a:endParaRPr lang="en-US"/>
          </a:p>
        </p:txBody>
      </p:sp>
      <p:sp>
        <p:nvSpPr>
          <p:cNvPr id="32" name="Text 23"/>
          <p:cNvSpPr/>
          <p:nvPr/>
        </p:nvSpPr>
        <p:spPr>
          <a:xfrm>
            <a:off x="6583680" y="3456432"/>
            <a:ext cx="5029200" cy="256032"/>
          </a:xfrm>
          <a:prstGeom prst="rect">
            <a:avLst/>
          </a:prstGeom>
          <a:noFill/>
          <a:ln/>
        </p:spPr>
        <p:txBody>
          <a:bodyPr wrap="square" rtlCol="0" anchor="ctr"/>
          <a:lstStyle/>
          <a:p>
            <a:pPr marL="0" indent="0">
              <a:buNone/>
            </a:pPr>
            <a:r>
              <a:rPr lang="en-US" sz="1200" b="1" dirty="0">
                <a:solidFill>
                  <a:srgbClr val="FFFFFF"/>
                </a:solidFill>
              </a:rPr>
              <a:t>Channel Intelligence</a:t>
            </a:r>
            <a:endParaRPr lang="en-US" sz="1200" dirty="0"/>
          </a:p>
        </p:txBody>
      </p:sp>
      <p:sp>
        <p:nvSpPr>
          <p:cNvPr id="33" name="Text 24"/>
          <p:cNvSpPr/>
          <p:nvPr/>
        </p:nvSpPr>
        <p:spPr>
          <a:xfrm>
            <a:off x="6583680" y="3685032"/>
            <a:ext cx="5029200" cy="256032"/>
          </a:xfrm>
          <a:prstGeom prst="rect">
            <a:avLst/>
          </a:prstGeom>
          <a:noFill/>
          <a:ln/>
        </p:spPr>
        <p:txBody>
          <a:bodyPr wrap="square" rtlCol="0" anchor="ctr"/>
          <a:lstStyle/>
          <a:p>
            <a:pPr marL="0" indent="0">
              <a:buNone/>
            </a:pPr>
            <a:r>
              <a:rPr lang="en-US" sz="1050" dirty="0">
                <a:solidFill>
                  <a:srgbClr val="717070"/>
                </a:solidFill>
              </a:rPr>
              <a:t>Branch traffic, digital adoption rates, call center volume trends</a:t>
            </a:r>
            <a:endParaRPr lang="en-US" sz="1050" dirty="0"/>
          </a:p>
        </p:txBody>
      </p:sp>
      <p:sp>
        <p:nvSpPr>
          <p:cNvPr id="34" name="Shape 25"/>
          <p:cNvSpPr/>
          <p:nvPr/>
        </p:nvSpPr>
        <p:spPr>
          <a:xfrm>
            <a:off x="6446520" y="4023360"/>
            <a:ext cx="64008" cy="411480"/>
          </a:xfrm>
          <a:prstGeom prst="rect">
            <a:avLst/>
          </a:prstGeom>
          <a:solidFill>
            <a:srgbClr val="009E7A"/>
          </a:solidFill>
          <a:ln/>
        </p:spPr>
        <p:txBody>
          <a:bodyPr/>
          <a:lstStyle/>
          <a:p>
            <a:endParaRPr lang="en-US"/>
          </a:p>
        </p:txBody>
      </p:sp>
      <p:sp>
        <p:nvSpPr>
          <p:cNvPr id="35" name="Text 26"/>
          <p:cNvSpPr/>
          <p:nvPr/>
        </p:nvSpPr>
        <p:spPr>
          <a:xfrm>
            <a:off x="6583680" y="4005072"/>
            <a:ext cx="5029200" cy="256032"/>
          </a:xfrm>
          <a:prstGeom prst="rect">
            <a:avLst/>
          </a:prstGeom>
          <a:noFill/>
          <a:ln/>
        </p:spPr>
        <p:txBody>
          <a:bodyPr wrap="square" rtlCol="0" anchor="ctr"/>
          <a:lstStyle/>
          <a:p>
            <a:pPr marL="0" indent="0">
              <a:buNone/>
            </a:pPr>
            <a:r>
              <a:rPr lang="en-US" sz="1200" b="1" dirty="0">
                <a:solidFill>
                  <a:srgbClr val="FFFFFF"/>
                </a:solidFill>
              </a:rPr>
              <a:t>Executive Reporting</a:t>
            </a:r>
            <a:endParaRPr lang="en-US" sz="1200" dirty="0"/>
          </a:p>
        </p:txBody>
      </p:sp>
      <p:sp>
        <p:nvSpPr>
          <p:cNvPr id="36" name="Text 27"/>
          <p:cNvSpPr/>
          <p:nvPr/>
        </p:nvSpPr>
        <p:spPr>
          <a:xfrm>
            <a:off x="6583680" y="4233672"/>
            <a:ext cx="5029200" cy="256032"/>
          </a:xfrm>
          <a:prstGeom prst="rect">
            <a:avLst/>
          </a:prstGeom>
          <a:noFill/>
          <a:ln/>
        </p:spPr>
        <p:txBody>
          <a:bodyPr wrap="square" rtlCol="0" anchor="ctr"/>
          <a:lstStyle/>
          <a:p>
            <a:pPr marL="0" indent="0">
              <a:buNone/>
            </a:pPr>
            <a:r>
              <a:rPr lang="en-US" sz="1050" dirty="0">
                <a:solidFill>
                  <a:srgbClr val="717070"/>
                </a:solidFill>
              </a:rPr>
              <a:t>Board packages, KPI scorecards, and peer benchmarks — automated</a:t>
            </a:r>
            <a:endParaRPr lang="en-US" sz="1050" dirty="0"/>
          </a:p>
        </p:txBody>
      </p:sp>
      <p:sp>
        <p:nvSpPr>
          <p:cNvPr id="37" name="Shape 28"/>
          <p:cNvSpPr/>
          <p:nvPr/>
        </p:nvSpPr>
        <p:spPr>
          <a:xfrm>
            <a:off x="6446520" y="4572000"/>
            <a:ext cx="64008" cy="411480"/>
          </a:xfrm>
          <a:prstGeom prst="rect">
            <a:avLst/>
          </a:prstGeom>
          <a:solidFill>
            <a:srgbClr val="009E7A"/>
          </a:solidFill>
          <a:ln/>
        </p:spPr>
        <p:txBody>
          <a:bodyPr/>
          <a:lstStyle/>
          <a:p>
            <a:endParaRPr lang="en-US"/>
          </a:p>
        </p:txBody>
      </p:sp>
      <p:sp>
        <p:nvSpPr>
          <p:cNvPr id="38" name="Text 29"/>
          <p:cNvSpPr/>
          <p:nvPr/>
        </p:nvSpPr>
        <p:spPr>
          <a:xfrm>
            <a:off x="6583680" y="4553712"/>
            <a:ext cx="5029200" cy="256032"/>
          </a:xfrm>
          <a:prstGeom prst="rect">
            <a:avLst/>
          </a:prstGeom>
          <a:noFill/>
          <a:ln/>
        </p:spPr>
        <p:txBody>
          <a:bodyPr wrap="square" rtlCol="0" anchor="ctr"/>
          <a:lstStyle/>
          <a:p>
            <a:pPr marL="0" indent="0">
              <a:buNone/>
            </a:pPr>
            <a:r>
              <a:rPr lang="en-US" sz="1200" b="1" dirty="0">
                <a:solidFill>
                  <a:srgbClr val="FFFFFF"/>
                </a:solidFill>
              </a:rPr>
              <a:t>Deposit Intelligence</a:t>
            </a:r>
            <a:endParaRPr lang="en-US" sz="1200" dirty="0"/>
          </a:p>
        </p:txBody>
      </p:sp>
      <p:sp>
        <p:nvSpPr>
          <p:cNvPr id="39" name="Text 30"/>
          <p:cNvSpPr/>
          <p:nvPr/>
        </p:nvSpPr>
        <p:spPr>
          <a:xfrm>
            <a:off x="6583680" y="4782312"/>
            <a:ext cx="5029200" cy="256032"/>
          </a:xfrm>
          <a:prstGeom prst="rect">
            <a:avLst/>
          </a:prstGeom>
          <a:noFill/>
          <a:ln/>
        </p:spPr>
        <p:txBody>
          <a:bodyPr wrap="square" rtlCol="0" anchor="ctr"/>
          <a:lstStyle/>
          <a:p>
            <a:pPr marL="0" indent="0">
              <a:buNone/>
            </a:pPr>
            <a:r>
              <a:rPr lang="en-US" sz="1050" dirty="0">
                <a:solidFill>
                  <a:srgbClr val="717070"/>
                </a:solidFill>
              </a:rPr>
              <a:t>Monitor deposit flows, rate sensitivity, and share concentration risk in real time</a:t>
            </a:r>
            <a:endParaRPr lang="en-US" sz="1050" dirty="0"/>
          </a:p>
        </p:txBody>
      </p:sp>
      <p:sp>
        <p:nvSpPr>
          <p:cNvPr id="40" name="Shape 31"/>
          <p:cNvSpPr/>
          <p:nvPr/>
        </p:nvSpPr>
        <p:spPr>
          <a:xfrm>
            <a:off x="365760" y="5166360"/>
            <a:ext cx="11475720" cy="914400"/>
          </a:xfrm>
          <a:prstGeom prst="rect">
            <a:avLst/>
          </a:prstGeom>
          <a:solidFill>
            <a:srgbClr val="009E7A"/>
          </a:solidFill>
          <a:ln/>
        </p:spPr>
        <p:txBody>
          <a:bodyPr/>
          <a:lstStyle/>
          <a:p>
            <a:endParaRPr lang="en-US"/>
          </a:p>
        </p:txBody>
      </p:sp>
      <p:pic>
        <p:nvPicPr>
          <p:cNvPr id="41" name="Image 7" descr="preencoded.png"/>
          <p:cNvPicPr>
            <a:picLocks noChangeAspect="1"/>
          </p:cNvPicPr>
          <p:nvPr/>
        </p:nvPicPr>
        <p:blipFill>
          <a:blip r:embed="rId4"/>
          <a:stretch>
            <a:fillRect/>
          </a:stretch>
        </p:blipFill>
        <p:spPr>
          <a:xfrm>
            <a:off x="502920" y="5276088"/>
            <a:ext cx="457200" cy="457200"/>
          </a:xfrm>
          <a:prstGeom prst="rect">
            <a:avLst/>
          </a:prstGeom>
        </p:spPr>
      </p:pic>
      <p:sp>
        <p:nvSpPr>
          <p:cNvPr id="42" name="Text 32"/>
          <p:cNvSpPr/>
          <p:nvPr/>
        </p:nvSpPr>
        <p:spPr>
          <a:xfrm>
            <a:off x="1097280" y="5166360"/>
            <a:ext cx="10515600" cy="914400"/>
          </a:xfrm>
          <a:prstGeom prst="rect">
            <a:avLst/>
          </a:prstGeom>
          <a:noFill/>
          <a:ln/>
        </p:spPr>
        <p:txBody>
          <a:bodyPr wrap="square" rtlCol="0" anchor="ctr"/>
          <a:lstStyle/>
          <a:p>
            <a:pPr marL="0" indent="0">
              <a:buNone/>
            </a:pPr>
            <a:r>
              <a:rPr lang="en-US" sz="1500" b="1" dirty="0">
                <a:solidFill>
                  <a:srgbClr val="06185F"/>
                </a:solidFill>
              </a:rPr>
              <a:t>ARCU turns your Symitar data into answers — delivering the intelligence credit union leaders need to grow, retain members, and stay competitive.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9E7A"/>
          </a:solidFill>
          <a:ln/>
        </p:spPr>
        <p:txBody>
          <a:bodyPr/>
          <a:lstStyle/>
          <a:p>
            <a:endParaRPr lang="en-US"/>
          </a:p>
        </p:txBody>
      </p:sp>
      <p:sp>
        <p:nvSpPr>
          <p:cNvPr id="3" name="Text 1"/>
          <p:cNvSpPr/>
          <p:nvPr/>
        </p:nvSpPr>
        <p:spPr>
          <a:xfrm>
            <a:off x="365760" y="320040"/>
            <a:ext cx="9144000" cy="594360"/>
          </a:xfrm>
          <a:prstGeom prst="rect">
            <a:avLst/>
          </a:prstGeom>
          <a:noFill/>
          <a:ln/>
        </p:spPr>
        <p:txBody>
          <a:bodyPr wrap="square" rtlCol="0" anchor="ctr"/>
          <a:lstStyle/>
          <a:p>
            <a:pPr marL="0" indent="0">
              <a:buNone/>
            </a:pPr>
            <a:r>
              <a:rPr lang="en-US" sz="3200" b="1" dirty="0">
                <a:solidFill>
                  <a:srgbClr val="FFFFFF"/>
                </a:solidFill>
              </a:rPr>
              <a:t>ARCU’s Cloud Future</a:t>
            </a:r>
            <a:endParaRPr lang="en-US" sz="3200" dirty="0"/>
          </a:p>
        </p:txBody>
      </p:sp>
      <p:sp>
        <p:nvSpPr>
          <p:cNvPr id="4" name="Text 2"/>
          <p:cNvSpPr/>
          <p:nvPr/>
        </p:nvSpPr>
        <p:spPr>
          <a:xfrm>
            <a:off x="365760" y="960120"/>
            <a:ext cx="9144000" cy="411480"/>
          </a:xfrm>
          <a:prstGeom prst="rect">
            <a:avLst/>
          </a:prstGeom>
          <a:noFill/>
          <a:ln/>
        </p:spPr>
        <p:txBody>
          <a:bodyPr wrap="square" rtlCol="0" anchor="ctr"/>
          <a:lstStyle/>
          <a:p>
            <a:pPr marL="0" indent="0">
              <a:buNone/>
            </a:pPr>
            <a:r>
              <a:rPr lang="en-US" sz="1600" i="1" dirty="0">
                <a:solidFill>
                  <a:srgbClr val="009E7A"/>
                </a:solidFill>
              </a:rPr>
              <a:t>ARCU is moving to Google Cloud — delivering more power, more scale, and zero on-prem burden for your credit union.</a:t>
            </a:r>
            <a:endParaRPr lang="en-US" sz="1600" dirty="0"/>
          </a:p>
        </p:txBody>
      </p:sp>
      <p:sp>
        <p:nvSpPr>
          <p:cNvPr id="5" name="Shape 3"/>
          <p:cNvSpPr/>
          <p:nvPr/>
        </p:nvSpPr>
        <p:spPr>
          <a:xfrm>
            <a:off x="365760" y="1600200"/>
            <a:ext cx="3566160" cy="2926080"/>
          </a:xfrm>
          <a:prstGeom prst="rect">
            <a:avLst/>
          </a:prstGeom>
          <a:solidFill>
            <a:srgbClr val="06185F"/>
          </a:solidFill>
          <a:ln/>
          <a:effectLst>
            <a:outerShdw blurRad="127000" dist="38100" dir="8100000" algn="bl" rotWithShape="0">
              <a:srgbClr val="000000">
                <a:alpha val="20000"/>
              </a:srgbClr>
            </a:outerShdw>
          </a:effectLst>
        </p:spPr>
        <p:txBody>
          <a:bodyPr/>
          <a:lstStyle/>
          <a:p>
            <a:endParaRPr lang="en-US"/>
          </a:p>
        </p:txBody>
      </p:sp>
      <p:sp>
        <p:nvSpPr>
          <p:cNvPr id="6" name="Shape 4"/>
          <p:cNvSpPr/>
          <p:nvPr/>
        </p:nvSpPr>
        <p:spPr>
          <a:xfrm>
            <a:off x="365760" y="1600200"/>
            <a:ext cx="3566160" cy="64008"/>
          </a:xfrm>
          <a:prstGeom prst="rect">
            <a:avLst/>
          </a:prstGeom>
          <a:solidFill>
            <a:srgbClr val="009E7A"/>
          </a:solidFill>
          <a:ln/>
        </p:spPr>
        <p:txBody>
          <a:bodyPr/>
          <a:lstStyle/>
          <a:p>
            <a:endParaRPr lang="en-US"/>
          </a:p>
        </p:txBody>
      </p:sp>
      <p:sp>
        <p:nvSpPr>
          <p:cNvPr id="7" name="Text 5"/>
          <p:cNvSpPr/>
          <p:nvPr/>
        </p:nvSpPr>
        <p:spPr>
          <a:xfrm>
            <a:off x="548640" y="1737360"/>
            <a:ext cx="3200400" cy="1005840"/>
          </a:xfrm>
          <a:prstGeom prst="rect">
            <a:avLst/>
          </a:prstGeom>
          <a:noFill/>
          <a:ln/>
        </p:spPr>
        <p:txBody>
          <a:bodyPr wrap="square" rtlCol="0" anchor="ctr"/>
          <a:lstStyle/>
          <a:p>
            <a:pPr marL="0" indent="0">
              <a:buNone/>
            </a:pPr>
            <a:r>
              <a:rPr lang="en-US" sz="5200" b="1" dirty="0">
                <a:solidFill>
                  <a:srgbClr val="009E7A"/>
                </a:solidFill>
                <a:latin typeface="Calibri" pitchFamily="34" charset="0"/>
                <a:ea typeface="Calibri" pitchFamily="34" charset="-122"/>
                <a:cs typeface="Calibri" pitchFamily="34" charset="-120"/>
              </a:rPr>
              <a:t>~700</a:t>
            </a:r>
            <a:endParaRPr lang="en-US" sz="5200" dirty="0"/>
          </a:p>
        </p:txBody>
      </p:sp>
      <p:sp>
        <p:nvSpPr>
          <p:cNvPr id="8" name="Text 6"/>
          <p:cNvSpPr/>
          <p:nvPr/>
        </p:nvSpPr>
        <p:spPr>
          <a:xfrm>
            <a:off x="548640" y="2743200"/>
            <a:ext cx="3200400" cy="685800"/>
          </a:xfrm>
          <a:prstGeom prst="rect">
            <a:avLst/>
          </a:prstGeom>
          <a:noFill/>
          <a:ln/>
        </p:spPr>
        <p:txBody>
          <a:bodyPr wrap="square" rtlCol="0" anchor="ctr"/>
          <a:lstStyle/>
          <a:p>
            <a:pPr marL="0" indent="0">
              <a:buNone/>
            </a:pPr>
            <a:r>
              <a:rPr lang="en-US" sz="1300" b="1" dirty="0">
                <a:solidFill>
                  <a:srgbClr val="FFFFFF"/>
                </a:solidFill>
              </a:rPr>
              <a:t>credit unions migrating from on-prem SQL Server</a:t>
            </a:r>
            <a:endParaRPr lang="en-US" sz="1300" dirty="0"/>
          </a:p>
        </p:txBody>
      </p:sp>
      <p:sp>
        <p:nvSpPr>
          <p:cNvPr id="9" name="Text 7"/>
          <p:cNvSpPr/>
          <p:nvPr/>
        </p:nvSpPr>
        <p:spPr>
          <a:xfrm>
            <a:off x="548640" y="3429000"/>
            <a:ext cx="3200400" cy="822960"/>
          </a:xfrm>
          <a:prstGeom prst="rect">
            <a:avLst/>
          </a:prstGeom>
          <a:noFill/>
          <a:ln/>
        </p:spPr>
        <p:txBody>
          <a:bodyPr wrap="square" rtlCol="0" anchor="ctr"/>
          <a:lstStyle/>
          <a:p>
            <a:pPr marL="0" indent="0">
              <a:buNone/>
            </a:pPr>
            <a:r>
              <a:rPr lang="en-US" sz="1100" dirty="0">
                <a:solidFill>
                  <a:srgbClr val="717070"/>
                </a:solidFill>
              </a:rPr>
              <a:t>as part of Jack Henry’s EC2030 cloud initiative</a:t>
            </a:r>
            <a:endParaRPr lang="en-US" sz="1100" dirty="0"/>
          </a:p>
        </p:txBody>
      </p:sp>
      <p:sp>
        <p:nvSpPr>
          <p:cNvPr id="10" name="Shape 8"/>
          <p:cNvSpPr/>
          <p:nvPr/>
        </p:nvSpPr>
        <p:spPr>
          <a:xfrm>
            <a:off x="4206240" y="1600200"/>
            <a:ext cx="3566160" cy="2926080"/>
          </a:xfrm>
          <a:prstGeom prst="rect">
            <a:avLst/>
          </a:prstGeom>
          <a:solidFill>
            <a:srgbClr val="06185F"/>
          </a:solidFill>
          <a:ln/>
          <a:effectLst>
            <a:outerShdw blurRad="127000" dist="38100" dir="8100000" algn="bl" rotWithShape="0">
              <a:srgbClr val="000000">
                <a:alpha val="20000"/>
              </a:srgbClr>
            </a:outerShdw>
          </a:effectLst>
        </p:spPr>
        <p:txBody>
          <a:bodyPr/>
          <a:lstStyle/>
          <a:p>
            <a:endParaRPr lang="en-US"/>
          </a:p>
        </p:txBody>
      </p:sp>
      <p:sp>
        <p:nvSpPr>
          <p:cNvPr id="11" name="Shape 9"/>
          <p:cNvSpPr/>
          <p:nvPr/>
        </p:nvSpPr>
        <p:spPr>
          <a:xfrm>
            <a:off x="4206240" y="1600200"/>
            <a:ext cx="3566160" cy="64008"/>
          </a:xfrm>
          <a:prstGeom prst="rect">
            <a:avLst/>
          </a:prstGeom>
          <a:solidFill>
            <a:srgbClr val="009E7A"/>
          </a:solidFill>
          <a:ln/>
        </p:spPr>
        <p:txBody>
          <a:bodyPr/>
          <a:lstStyle/>
          <a:p>
            <a:endParaRPr lang="en-US"/>
          </a:p>
        </p:txBody>
      </p:sp>
      <p:sp>
        <p:nvSpPr>
          <p:cNvPr id="12" name="Text 10"/>
          <p:cNvSpPr/>
          <p:nvPr/>
        </p:nvSpPr>
        <p:spPr>
          <a:xfrm>
            <a:off x="4389120" y="1737360"/>
            <a:ext cx="3200400" cy="1005840"/>
          </a:xfrm>
          <a:prstGeom prst="rect">
            <a:avLst/>
          </a:prstGeom>
          <a:noFill/>
          <a:ln/>
        </p:spPr>
        <p:txBody>
          <a:bodyPr wrap="square" rtlCol="0" anchor="ctr"/>
          <a:lstStyle/>
          <a:p>
            <a:pPr marL="0" indent="0">
              <a:buNone/>
            </a:pPr>
            <a:r>
              <a:rPr lang="en-US" sz="5200" b="1" dirty="0">
                <a:solidFill>
                  <a:srgbClr val="009E7A"/>
                </a:solidFill>
                <a:latin typeface="Calibri" pitchFamily="34" charset="0"/>
                <a:ea typeface="Calibri" pitchFamily="34" charset="-122"/>
                <a:cs typeface="Calibri" pitchFamily="34" charset="-120"/>
              </a:rPr>
              <a:t>Zero</a:t>
            </a:r>
            <a:endParaRPr lang="en-US" sz="5200" dirty="0"/>
          </a:p>
        </p:txBody>
      </p:sp>
      <p:sp>
        <p:nvSpPr>
          <p:cNvPr id="13" name="Text 11"/>
          <p:cNvSpPr/>
          <p:nvPr/>
        </p:nvSpPr>
        <p:spPr>
          <a:xfrm>
            <a:off x="4389120" y="2743200"/>
            <a:ext cx="3200400" cy="685800"/>
          </a:xfrm>
          <a:prstGeom prst="rect">
            <a:avLst/>
          </a:prstGeom>
          <a:noFill/>
          <a:ln/>
        </p:spPr>
        <p:txBody>
          <a:bodyPr wrap="square" rtlCol="0" anchor="ctr"/>
          <a:lstStyle/>
          <a:p>
            <a:pPr marL="0" indent="0">
              <a:buNone/>
            </a:pPr>
            <a:r>
              <a:rPr lang="en-US" sz="1300" b="1" dirty="0">
                <a:solidFill>
                  <a:srgbClr val="FFFFFF"/>
                </a:solidFill>
              </a:rPr>
              <a:t>on-prem infrastructure to manage after migration</a:t>
            </a:r>
            <a:endParaRPr lang="en-US" sz="1300" dirty="0"/>
          </a:p>
        </p:txBody>
      </p:sp>
      <p:sp>
        <p:nvSpPr>
          <p:cNvPr id="14" name="Text 12"/>
          <p:cNvSpPr/>
          <p:nvPr/>
        </p:nvSpPr>
        <p:spPr>
          <a:xfrm>
            <a:off x="4389120" y="3429000"/>
            <a:ext cx="3200400" cy="822960"/>
          </a:xfrm>
          <a:prstGeom prst="rect">
            <a:avLst/>
          </a:prstGeom>
          <a:noFill/>
          <a:ln/>
        </p:spPr>
        <p:txBody>
          <a:bodyPr wrap="square" rtlCol="0" anchor="ctr"/>
          <a:lstStyle/>
          <a:p>
            <a:pPr marL="0" indent="0">
              <a:buNone/>
            </a:pPr>
            <a:r>
              <a:rPr lang="en-US" sz="1100" dirty="0">
                <a:solidFill>
                  <a:srgbClr val="717070"/>
                </a:solidFill>
              </a:rPr>
              <a:t>vs. dedicated servers your IT team maintains today</a:t>
            </a:r>
            <a:endParaRPr lang="en-US" sz="1100" dirty="0"/>
          </a:p>
        </p:txBody>
      </p:sp>
      <p:sp>
        <p:nvSpPr>
          <p:cNvPr id="15" name="Shape 13"/>
          <p:cNvSpPr/>
          <p:nvPr/>
        </p:nvSpPr>
        <p:spPr>
          <a:xfrm>
            <a:off x="8046720" y="1600200"/>
            <a:ext cx="3566160" cy="2926080"/>
          </a:xfrm>
          <a:prstGeom prst="rect">
            <a:avLst/>
          </a:prstGeom>
          <a:solidFill>
            <a:srgbClr val="06185F"/>
          </a:solidFill>
          <a:ln/>
          <a:effectLst>
            <a:outerShdw blurRad="127000" dist="38100" dir="8100000" algn="bl" rotWithShape="0">
              <a:srgbClr val="000000">
                <a:alpha val="20000"/>
              </a:srgbClr>
            </a:outerShdw>
          </a:effectLst>
        </p:spPr>
        <p:txBody>
          <a:bodyPr/>
          <a:lstStyle/>
          <a:p>
            <a:endParaRPr lang="en-US"/>
          </a:p>
        </p:txBody>
      </p:sp>
      <p:sp>
        <p:nvSpPr>
          <p:cNvPr id="16" name="Shape 14"/>
          <p:cNvSpPr/>
          <p:nvPr/>
        </p:nvSpPr>
        <p:spPr>
          <a:xfrm>
            <a:off x="8046720" y="1600200"/>
            <a:ext cx="3566160" cy="64008"/>
          </a:xfrm>
          <a:prstGeom prst="rect">
            <a:avLst/>
          </a:prstGeom>
          <a:solidFill>
            <a:srgbClr val="009E7A"/>
          </a:solidFill>
          <a:ln/>
        </p:spPr>
        <p:txBody>
          <a:bodyPr/>
          <a:lstStyle/>
          <a:p>
            <a:endParaRPr lang="en-US"/>
          </a:p>
        </p:txBody>
      </p:sp>
      <p:sp>
        <p:nvSpPr>
          <p:cNvPr id="17" name="Text 15"/>
          <p:cNvSpPr/>
          <p:nvPr/>
        </p:nvSpPr>
        <p:spPr>
          <a:xfrm>
            <a:off x="8229600" y="1737360"/>
            <a:ext cx="3200400" cy="1005840"/>
          </a:xfrm>
          <a:prstGeom prst="rect">
            <a:avLst/>
          </a:prstGeom>
          <a:noFill/>
          <a:ln/>
        </p:spPr>
        <p:txBody>
          <a:bodyPr wrap="square" rtlCol="0" anchor="ctr"/>
          <a:lstStyle/>
          <a:p>
            <a:pPr marL="0" indent="0">
              <a:buNone/>
            </a:pPr>
            <a:r>
              <a:rPr lang="en-US" sz="5200" b="1" dirty="0">
                <a:solidFill>
                  <a:srgbClr val="009E7A"/>
                </a:solidFill>
                <a:latin typeface="Calibri" pitchFamily="34" charset="0"/>
                <a:ea typeface="Calibri" pitchFamily="34" charset="-122"/>
                <a:cs typeface="Calibri" pitchFamily="34" charset="-120"/>
              </a:rPr>
              <a:t>GCP</a:t>
            </a:r>
            <a:endParaRPr lang="en-US" sz="5200" dirty="0"/>
          </a:p>
        </p:txBody>
      </p:sp>
      <p:sp>
        <p:nvSpPr>
          <p:cNvPr id="18" name="Text 16"/>
          <p:cNvSpPr/>
          <p:nvPr/>
        </p:nvSpPr>
        <p:spPr>
          <a:xfrm>
            <a:off x="8229600" y="2743200"/>
            <a:ext cx="3200400" cy="685800"/>
          </a:xfrm>
          <a:prstGeom prst="rect">
            <a:avLst/>
          </a:prstGeom>
          <a:noFill/>
          <a:ln/>
        </p:spPr>
        <p:txBody>
          <a:bodyPr wrap="square" rtlCol="0" anchor="ctr"/>
          <a:lstStyle/>
          <a:p>
            <a:pPr marL="0" indent="0">
              <a:buNone/>
            </a:pPr>
            <a:r>
              <a:rPr lang="en-US" sz="1300" b="1" dirty="0">
                <a:solidFill>
                  <a:srgbClr val="FFFFFF"/>
                </a:solidFill>
              </a:rPr>
              <a:t>Google Cloud Platform — enterprise-grade, elastic, secure</a:t>
            </a:r>
            <a:endParaRPr lang="en-US" sz="1300" dirty="0"/>
          </a:p>
        </p:txBody>
      </p:sp>
      <p:sp>
        <p:nvSpPr>
          <p:cNvPr id="19" name="Text 17"/>
          <p:cNvSpPr/>
          <p:nvPr/>
        </p:nvSpPr>
        <p:spPr>
          <a:xfrm>
            <a:off x="8229600" y="3429000"/>
            <a:ext cx="3200400" cy="822960"/>
          </a:xfrm>
          <a:prstGeom prst="rect">
            <a:avLst/>
          </a:prstGeom>
          <a:noFill/>
          <a:ln/>
        </p:spPr>
        <p:txBody>
          <a:bodyPr wrap="square" rtlCol="0" anchor="ctr"/>
          <a:lstStyle/>
          <a:p>
            <a:pPr marL="0" indent="0">
              <a:buNone/>
            </a:pPr>
            <a:r>
              <a:rPr lang="en-US" sz="1100" dirty="0">
                <a:solidFill>
                  <a:srgbClr val="717070"/>
                </a:solidFill>
              </a:rPr>
              <a:t>single-tenant architecture, SOC2 compliant, always current</a:t>
            </a:r>
            <a:endParaRPr lang="en-US" sz="1100" dirty="0"/>
          </a:p>
        </p:txBody>
      </p:sp>
      <p:sp>
        <p:nvSpPr>
          <p:cNvPr id="20" name="Shape 18"/>
          <p:cNvSpPr/>
          <p:nvPr/>
        </p:nvSpPr>
        <p:spPr>
          <a:xfrm>
            <a:off x="365760" y="4754880"/>
            <a:ext cx="11430000" cy="1005840"/>
          </a:xfrm>
          <a:prstGeom prst="rect">
            <a:avLst/>
          </a:prstGeom>
          <a:solidFill>
            <a:srgbClr val="009E7A"/>
          </a:solidFill>
          <a:ln/>
        </p:spPr>
        <p:txBody>
          <a:bodyPr/>
          <a:lstStyle/>
          <a:p>
            <a:endParaRPr lang="en-US"/>
          </a:p>
        </p:txBody>
      </p:sp>
      <p:sp>
        <p:nvSpPr>
          <p:cNvPr id="21" name="Text 19"/>
          <p:cNvSpPr/>
          <p:nvPr/>
        </p:nvSpPr>
        <p:spPr>
          <a:xfrm>
            <a:off x="548640" y="4754880"/>
            <a:ext cx="11064240" cy="1005840"/>
          </a:xfrm>
          <a:prstGeom prst="rect">
            <a:avLst/>
          </a:prstGeom>
          <a:noFill/>
          <a:ln/>
        </p:spPr>
        <p:txBody>
          <a:bodyPr wrap="square" rtlCol="0" anchor="ctr"/>
          <a:lstStyle/>
          <a:p>
            <a:pPr marL="0" indent="0">
              <a:buNone/>
            </a:pPr>
            <a:r>
              <a:rPr lang="en-US" sz="1500" b="1" dirty="0">
                <a:solidFill>
                  <a:srgbClr val="06185F"/>
                </a:solidFill>
              </a:rPr>
              <a:t>ARCU’s move to GCP means your credit union gets elastic compute that scales with your data, no server refresh cycles, always-on availability, and a roadmap built for the next decade — not the last one.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9E7A"/>
          </a:solidFill>
          <a:ln/>
        </p:spPr>
        <p:txBody>
          <a:bodyPr/>
          <a:lstStyle/>
          <a:p>
            <a:endParaRPr lang="en-US"/>
          </a:p>
        </p:txBody>
      </p:sp>
      <p:sp>
        <p:nvSpPr>
          <p:cNvPr id="3" name="Text 1"/>
          <p:cNvSpPr/>
          <p:nvPr/>
        </p:nvSpPr>
        <p:spPr>
          <a:xfrm>
            <a:off x="365760" y="274320"/>
            <a:ext cx="9144000" cy="594360"/>
          </a:xfrm>
          <a:prstGeom prst="rect">
            <a:avLst/>
          </a:prstGeom>
          <a:noFill/>
          <a:ln/>
        </p:spPr>
        <p:txBody>
          <a:bodyPr wrap="square" rtlCol="0" anchor="ctr"/>
          <a:lstStyle/>
          <a:p>
            <a:pPr marL="0" indent="0">
              <a:buNone/>
            </a:pPr>
            <a:r>
              <a:rPr lang="en-US" sz="3200" b="1" dirty="0">
                <a:solidFill>
                  <a:srgbClr val="FFFFFF"/>
                </a:solidFill>
              </a:rPr>
              <a:t>Why ARCU vs. Building Your Own</a:t>
            </a:r>
            <a:endParaRPr lang="en-US" sz="3200" dirty="0"/>
          </a:p>
        </p:txBody>
      </p:sp>
      <p:sp>
        <p:nvSpPr>
          <p:cNvPr id="4" name="Text 2"/>
          <p:cNvSpPr/>
          <p:nvPr/>
        </p:nvSpPr>
        <p:spPr>
          <a:xfrm>
            <a:off x="365760" y="914400"/>
            <a:ext cx="9144000" cy="365760"/>
          </a:xfrm>
          <a:prstGeom prst="rect">
            <a:avLst/>
          </a:prstGeom>
          <a:noFill/>
          <a:ln/>
        </p:spPr>
        <p:txBody>
          <a:bodyPr wrap="square" rtlCol="0" anchor="ctr"/>
          <a:lstStyle/>
          <a:p>
            <a:pPr marL="0" indent="0">
              <a:buNone/>
            </a:pPr>
            <a:r>
              <a:rPr lang="en-US" sz="1400" i="1" dirty="0">
                <a:solidFill>
                  <a:srgbClr val="009E7A"/>
                </a:solidFill>
              </a:rPr>
              <a:t>The cost of waiting — what DIY data projects really deliver compared to ARCU.</a:t>
            </a:r>
            <a:endParaRPr lang="en-US" sz="1400" dirty="0"/>
          </a:p>
        </p:txBody>
      </p:sp>
      <p:sp>
        <p:nvSpPr>
          <p:cNvPr id="5" name="Shape 3"/>
          <p:cNvSpPr/>
          <p:nvPr/>
        </p:nvSpPr>
        <p:spPr>
          <a:xfrm>
            <a:off x="365760" y="1463040"/>
            <a:ext cx="3611880" cy="2011680"/>
          </a:xfrm>
          <a:prstGeom prst="rect">
            <a:avLst/>
          </a:prstGeom>
          <a:solidFill>
            <a:srgbClr val="06185F"/>
          </a:solidFill>
          <a:ln/>
          <a:effectLst>
            <a:outerShdw blurRad="127000" dist="25400" dir="8100000" algn="bl" rotWithShape="0">
              <a:srgbClr val="000000">
                <a:alpha val="20000"/>
              </a:srgbClr>
            </a:outerShdw>
          </a:effectLst>
        </p:spPr>
        <p:txBody>
          <a:bodyPr/>
          <a:lstStyle/>
          <a:p>
            <a:endParaRPr lang="en-US"/>
          </a:p>
        </p:txBody>
      </p:sp>
      <p:sp>
        <p:nvSpPr>
          <p:cNvPr id="6" name="Shape 4"/>
          <p:cNvSpPr/>
          <p:nvPr/>
        </p:nvSpPr>
        <p:spPr>
          <a:xfrm>
            <a:off x="365760" y="1463040"/>
            <a:ext cx="3611880" cy="64008"/>
          </a:xfrm>
          <a:prstGeom prst="rect">
            <a:avLst/>
          </a:prstGeom>
          <a:solidFill>
            <a:srgbClr val="009E7A"/>
          </a:solidFill>
          <a:ln/>
        </p:spPr>
        <p:txBody>
          <a:bodyPr/>
          <a:lstStyle/>
          <a:p>
            <a:endParaRPr lang="en-US"/>
          </a:p>
        </p:txBody>
      </p:sp>
      <p:sp>
        <p:nvSpPr>
          <p:cNvPr id="7" name="Shape 5"/>
          <p:cNvSpPr/>
          <p:nvPr/>
        </p:nvSpPr>
        <p:spPr>
          <a:xfrm>
            <a:off x="548640" y="1691640"/>
            <a:ext cx="548640" cy="548640"/>
          </a:xfrm>
          <a:prstGeom prst="ellipse">
            <a:avLst/>
          </a:prstGeom>
          <a:solidFill>
            <a:srgbClr val="009E7A"/>
          </a:solidFill>
          <a:ln/>
        </p:spPr>
        <p:txBody>
          <a:bodyPr/>
          <a:lstStyle/>
          <a:p>
            <a:endParaRPr lang="en-US"/>
          </a:p>
        </p:txBody>
      </p:sp>
      <p:pic>
        <p:nvPicPr>
          <p:cNvPr id="8" name="Image 0" descr="preencoded.png"/>
          <p:cNvPicPr>
            <a:picLocks noChangeAspect="1"/>
          </p:cNvPicPr>
          <p:nvPr/>
        </p:nvPicPr>
        <p:blipFill>
          <a:blip r:embed="rId2"/>
          <a:stretch>
            <a:fillRect/>
          </a:stretch>
        </p:blipFill>
        <p:spPr>
          <a:xfrm>
            <a:off x="612648" y="1737360"/>
            <a:ext cx="402336" cy="402336"/>
          </a:xfrm>
          <a:prstGeom prst="rect">
            <a:avLst/>
          </a:prstGeom>
        </p:spPr>
      </p:pic>
      <p:sp>
        <p:nvSpPr>
          <p:cNvPr id="9" name="Text 6"/>
          <p:cNvSpPr/>
          <p:nvPr/>
        </p:nvSpPr>
        <p:spPr>
          <a:xfrm>
            <a:off x="1234440" y="1737360"/>
            <a:ext cx="2560320" cy="384048"/>
          </a:xfrm>
          <a:prstGeom prst="rect">
            <a:avLst/>
          </a:prstGeom>
          <a:noFill/>
          <a:ln/>
        </p:spPr>
        <p:txBody>
          <a:bodyPr wrap="square" rtlCol="0" anchor="ctr"/>
          <a:lstStyle/>
          <a:p>
            <a:pPr marL="0" indent="0">
              <a:buNone/>
            </a:pPr>
            <a:r>
              <a:rPr lang="en-US" sz="1300" b="1" dirty="0">
                <a:solidFill>
                  <a:srgbClr val="FFFFFF"/>
                </a:solidFill>
              </a:rPr>
              <a:t>Days, Not Years</a:t>
            </a:r>
            <a:endParaRPr lang="en-US" sz="1300" dirty="0"/>
          </a:p>
        </p:txBody>
      </p:sp>
      <p:sp>
        <p:nvSpPr>
          <p:cNvPr id="10" name="Text 7"/>
          <p:cNvSpPr/>
          <p:nvPr/>
        </p:nvSpPr>
        <p:spPr>
          <a:xfrm>
            <a:off x="548640" y="2359152"/>
            <a:ext cx="3246120" cy="868680"/>
          </a:xfrm>
          <a:prstGeom prst="rect">
            <a:avLst/>
          </a:prstGeom>
          <a:noFill/>
          <a:ln/>
        </p:spPr>
        <p:txBody>
          <a:bodyPr wrap="square" rtlCol="0" anchor="ctr"/>
          <a:lstStyle/>
          <a:p>
            <a:pPr marL="0" indent="0">
              <a:buNone/>
            </a:pPr>
            <a:r>
              <a:rPr lang="en-US" sz="1100" dirty="0">
                <a:solidFill>
                  <a:srgbClr val="717070"/>
                </a:solidFill>
              </a:rPr>
              <a:t>ARCU is pre-built and pre-loaded with your Symitar data. DIY data lakes take 12-24 months before your first report.</a:t>
            </a:r>
            <a:endParaRPr lang="en-US" sz="1100" dirty="0"/>
          </a:p>
        </p:txBody>
      </p:sp>
      <p:sp>
        <p:nvSpPr>
          <p:cNvPr id="11" name="Shape 8"/>
          <p:cNvSpPr/>
          <p:nvPr/>
        </p:nvSpPr>
        <p:spPr>
          <a:xfrm>
            <a:off x="4251960" y="1463040"/>
            <a:ext cx="3611880" cy="2011680"/>
          </a:xfrm>
          <a:prstGeom prst="rect">
            <a:avLst/>
          </a:prstGeom>
          <a:solidFill>
            <a:srgbClr val="06185F"/>
          </a:solidFill>
          <a:ln/>
          <a:effectLst>
            <a:outerShdw blurRad="127000" dist="25400" dir="8100000" algn="bl" rotWithShape="0">
              <a:srgbClr val="000000">
                <a:alpha val="20000"/>
              </a:srgbClr>
            </a:outerShdw>
          </a:effectLst>
        </p:spPr>
        <p:txBody>
          <a:bodyPr/>
          <a:lstStyle/>
          <a:p>
            <a:endParaRPr lang="en-US"/>
          </a:p>
        </p:txBody>
      </p:sp>
      <p:sp>
        <p:nvSpPr>
          <p:cNvPr id="12" name="Shape 9"/>
          <p:cNvSpPr/>
          <p:nvPr/>
        </p:nvSpPr>
        <p:spPr>
          <a:xfrm>
            <a:off x="4251960" y="1463040"/>
            <a:ext cx="3611880" cy="64008"/>
          </a:xfrm>
          <a:prstGeom prst="rect">
            <a:avLst/>
          </a:prstGeom>
          <a:solidFill>
            <a:srgbClr val="009E7A"/>
          </a:solidFill>
          <a:ln/>
        </p:spPr>
        <p:txBody>
          <a:bodyPr/>
          <a:lstStyle/>
          <a:p>
            <a:endParaRPr lang="en-US"/>
          </a:p>
        </p:txBody>
      </p:sp>
      <p:sp>
        <p:nvSpPr>
          <p:cNvPr id="13" name="Shape 10"/>
          <p:cNvSpPr/>
          <p:nvPr/>
        </p:nvSpPr>
        <p:spPr>
          <a:xfrm>
            <a:off x="4434840" y="1691640"/>
            <a:ext cx="548640" cy="548640"/>
          </a:xfrm>
          <a:prstGeom prst="ellipse">
            <a:avLst/>
          </a:prstGeom>
          <a:solidFill>
            <a:srgbClr val="009E7A"/>
          </a:solidFill>
          <a:ln/>
        </p:spPr>
        <p:txBody>
          <a:bodyPr/>
          <a:lstStyle/>
          <a:p>
            <a:endParaRPr lang="en-US"/>
          </a:p>
        </p:txBody>
      </p:sp>
      <p:pic>
        <p:nvPicPr>
          <p:cNvPr id="14" name="Image 1" descr="preencoded.png"/>
          <p:cNvPicPr>
            <a:picLocks noChangeAspect="1"/>
          </p:cNvPicPr>
          <p:nvPr/>
        </p:nvPicPr>
        <p:blipFill>
          <a:blip r:embed="rId3"/>
          <a:stretch>
            <a:fillRect/>
          </a:stretch>
        </p:blipFill>
        <p:spPr>
          <a:xfrm>
            <a:off x="4498848" y="1737360"/>
            <a:ext cx="402336" cy="402336"/>
          </a:xfrm>
          <a:prstGeom prst="rect">
            <a:avLst/>
          </a:prstGeom>
        </p:spPr>
      </p:pic>
      <p:sp>
        <p:nvSpPr>
          <p:cNvPr id="15" name="Text 11"/>
          <p:cNvSpPr/>
          <p:nvPr/>
        </p:nvSpPr>
        <p:spPr>
          <a:xfrm>
            <a:off x="5120640" y="1737360"/>
            <a:ext cx="2560320" cy="384048"/>
          </a:xfrm>
          <a:prstGeom prst="rect">
            <a:avLst/>
          </a:prstGeom>
          <a:noFill/>
          <a:ln/>
        </p:spPr>
        <p:txBody>
          <a:bodyPr wrap="square" rtlCol="0" anchor="ctr"/>
          <a:lstStyle/>
          <a:p>
            <a:pPr marL="0" indent="0">
              <a:buNone/>
            </a:pPr>
            <a:r>
              <a:rPr lang="en-US" sz="1300" b="1" dirty="0">
                <a:solidFill>
                  <a:srgbClr val="FFFFFF"/>
                </a:solidFill>
              </a:rPr>
              <a:t>No Hiring Required</a:t>
            </a:r>
            <a:endParaRPr lang="en-US" sz="1300" dirty="0"/>
          </a:p>
        </p:txBody>
      </p:sp>
      <p:sp>
        <p:nvSpPr>
          <p:cNvPr id="16" name="Text 12"/>
          <p:cNvSpPr/>
          <p:nvPr/>
        </p:nvSpPr>
        <p:spPr>
          <a:xfrm>
            <a:off x="4434840" y="2359152"/>
            <a:ext cx="3246120" cy="868680"/>
          </a:xfrm>
          <a:prstGeom prst="rect">
            <a:avLst/>
          </a:prstGeom>
          <a:noFill/>
          <a:ln/>
        </p:spPr>
        <p:txBody>
          <a:bodyPr wrap="square" rtlCol="0" anchor="ctr"/>
          <a:lstStyle/>
          <a:p>
            <a:pPr marL="0" indent="0">
              <a:buNone/>
            </a:pPr>
            <a:r>
              <a:rPr lang="en-US" sz="1100" dirty="0">
                <a:solidFill>
                  <a:srgbClr val="717070"/>
                </a:solidFill>
              </a:rPr>
              <a:t>Building in-house means hiring data engineers, BI developers, and DBAs. ARCU is fully managed by Jack Henry.</a:t>
            </a:r>
            <a:endParaRPr lang="en-US" sz="1100" dirty="0"/>
          </a:p>
        </p:txBody>
      </p:sp>
      <p:sp>
        <p:nvSpPr>
          <p:cNvPr id="17" name="Shape 13"/>
          <p:cNvSpPr/>
          <p:nvPr/>
        </p:nvSpPr>
        <p:spPr>
          <a:xfrm>
            <a:off x="8138160" y="1463040"/>
            <a:ext cx="3611880" cy="2011680"/>
          </a:xfrm>
          <a:prstGeom prst="rect">
            <a:avLst/>
          </a:prstGeom>
          <a:solidFill>
            <a:srgbClr val="06185F"/>
          </a:solidFill>
          <a:ln/>
          <a:effectLst>
            <a:outerShdw blurRad="127000" dist="25400" dir="8100000" algn="bl" rotWithShape="0">
              <a:srgbClr val="000000">
                <a:alpha val="20000"/>
              </a:srgbClr>
            </a:outerShdw>
          </a:effectLst>
        </p:spPr>
        <p:txBody>
          <a:bodyPr/>
          <a:lstStyle/>
          <a:p>
            <a:endParaRPr lang="en-US"/>
          </a:p>
        </p:txBody>
      </p:sp>
      <p:sp>
        <p:nvSpPr>
          <p:cNvPr id="18" name="Shape 14"/>
          <p:cNvSpPr/>
          <p:nvPr/>
        </p:nvSpPr>
        <p:spPr>
          <a:xfrm>
            <a:off x="8138160" y="1463040"/>
            <a:ext cx="3611880" cy="64008"/>
          </a:xfrm>
          <a:prstGeom prst="rect">
            <a:avLst/>
          </a:prstGeom>
          <a:solidFill>
            <a:srgbClr val="009E7A"/>
          </a:solidFill>
          <a:ln/>
        </p:spPr>
        <p:txBody>
          <a:bodyPr/>
          <a:lstStyle/>
          <a:p>
            <a:endParaRPr lang="en-US"/>
          </a:p>
        </p:txBody>
      </p:sp>
      <p:sp>
        <p:nvSpPr>
          <p:cNvPr id="19" name="Shape 15"/>
          <p:cNvSpPr/>
          <p:nvPr/>
        </p:nvSpPr>
        <p:spPr>
          <a:xfrm>
            <a:off x="8321040" y="1691640"/>
            <a:ext cx="548640" cy="548640"/>
          </a:xfrm>
          <a:prstGeom prst="ellipse">
            <a:avLst/>
          </a:prstGeom>
          <a:solidFill>
            <a:srgbClr val="009E7A"/>
          </a:solidFill>
          <a:ln/>
        </p:spPr>
        <p:txBody>
          <a:bodyPr/>
          <a:lstStyle/>
          <a:p>
            <a:endParaRPr lang="en-US"/>
          </a:p>
        </p:txBody>
      </p:sp>
      <p:pic>
        <p:nvPicPr>
          <p:cNvPr id="20" name="Image 2" descr="preencoded.png"/>
          <p:cNvPicPr>
            <a:picLocks noChangeAspect="1"/>
          </p:cNvPicPr>
          <p:nvPr/>
        </p:nvPicPr>
        <p:blipFill>
          <a:blip r:embed="rId4"/>
          <a:stretch>
            <a:fillRect/>
          </a:stretch>
        </p:blipFill>
        <p:spPr>
          <a:xfrm>
            <a:off x="8385048" y="1737360"/>
            <a:ext cx="402336" cy="402336"/>
          </a:xfrm>
          <a:prstGeom prst="rect">
            <a:avLst/>
          </a:prstGeom>
        </p:spPr>
      </p:pic>
      <p:sp>
        <p:nvSpPr>
          <p:cNvPr id="21" name="Text 16"/>
          <p:cNvSpPr/>
          <p:nvPr/>
        </p:nvSpPr>
        <p:spPr>
          <a:xfrm>
            <a:off x="9006840" y="1737360"/>
            <a:ext cx="2560320" cy="384048"/>
          </a:xfrm>
          <a:prstGeom prst="rect">
            <a:avLst/>
          </a:prstGeom>
          <a:noFill/>
          <a:ln/>
        </p:spPr>
        <p:txBody>
          <a:bodyPr wrap="square" rtlCol="0" anchor="ctr"/>
          <a:lstStyle/>
          <a:p>
            <a:pPr marL="0" indent="0">
              <a:buNone/>
            </a:pPr>
            <a:r>
              <a:rPr lang="en-US" sz="1300" b="1" dirty="0">
                <a:solidFill>
                  <a:srgbClr val="FFFFFF"/>
                </a:solidFill>
              </a:rPr>
              <a:t>CU Domain Built In</a:t>
            </a:r>
            <a:endParaRPr lang="en-US" sz="1300" dirty="0"/>
          </a:p>
        </p:txBody>
      </p:sp>
      <p:sp>
        <p:nvSpPr>
          <p:cNvPr id="22" name="Text 17"/>
          <p:cNvSpPr/>
          <p:nvPr/>
        </p:nvSpPr>
        <p:spPr>
          <a:xfrm>
            <a:off x="8321040" y="2359152"/>
            <a:ext cx="3246120" cy="868680"/>
          </a:xfrm>
          <a:prstGeom prst="rect">
            <a:avLst/>
          </a:prstGeom>
          <a:noFill/>
          <a:ln/>
        </p:spPr>
        <p:txBody>
          <a:bodyPr wrap="square" rtlCol="0" anchor="ctr"/>
          <a:lstStyle/>
          <a:p>
            <a:pPr marL="0" indent="0">
              <a:buNone/>
            </a:pPr>
            <a:r>
              <a:rPr lang="en-US" sz="1100" dirty="0">
                <a:solidFill>
                  <a:srgbClr val="717070"/>
                </a:solidFill>
              </a:rPr>
              <a:t>ARCU’s data models reflect 20+ years of credit union expertise — generic BI tools start from a blank slate.</a:t>
            </a:r>
            <a:endParaRPr lang="en-US" sz="1100" dirty="0"/>
          </a:p>
        </p:txBody>
      </p:sp>
      <p:sp>
        <p:nvSpPr>
          <p:cNvPr id="23" name="Shape 18"/>
          <p:cNvSpPr/>
          <p:nvPr/>
        </p:nvSpPr>
        <p:spPr>
          <a:xfrm>
            <a:off x="365760" y="3749040"/>
            <a:ext cx="3611880" cy="2011680"/>
          </a:xfrm>
          <a:prstGeom prst="rect">
            <a:avLst/>
          </a:prstGeom>
          <a:solidFill>
            <a:srgbClr val="06185F"/>
          </a:solidFill>
          <a:ln/>
          <a:effectLst>
            <a:outerShdw blurRad="127000" dist="25400" dir="8100000" algn="bl" rotWithShape="0">
              <a:srgbClr val="000000">
                <a:alpha val="20000"/>
              </a:srgbClr>
            </a:outerShdw>
          </a:effectLst>
        </p:spPr>
        <p:txBody>
          <a:bodyPr/>
          <a:lstStyle/>
          <a:p>
            <a:endParaRPr lang="en-US"/>
          </a:p>
        </p:txBody>
      </p:sp>
      <p:sp>
        <p:nvSpPr>
          <p:cNvPr id="24" name="Shape 19"/>
          <p:cNvSpPr/>
          <p:nvPr/>
        </p:nvSpPr>
        <p:spPr>
          <a:xfrm>
            <a:off x="365760" y="3749040"/>
            <a:ext cx="3611880" cy="64008"/>
          </a:xfrm>
          <a:prstGeom prst="rect">
            <a:avLst/>
          </a:prstGeom>
          <a:solidFill>
            <a:srgbClr val="009E7A"/>
          </a:solidFill>
          <a:ln/>
        </p:spPr>
        <p:txBody>
          <a:bodyPr/>
          <a:lstStyle/>
          <a:p>
            <a:endParaRPr lang="en-US"/>
          </a:p>
        </p:txBody>
      </p:sp>
      <p:sp>
        <p:nvSpPr>
          <p:cNvPr id="25" name="Shape 20"/>
          <p:cNvSpPr/>
          <p:nvPr/>
        </p:nvSpPr>
        <p:spPr>
          <a:xfrm>
            <a:off x="548640" y="3977640"/>
            <a:ext cx="548640" cy="548640"/>
          </a:xfrm>
          <a:prstGeom prst="ellipse">
            <a:avLst/>
          </a:prstGeom>
          <a:solidFill>
            <a:srgbClr val="009E7A"/>
          </a:solidFill>
          <a:ln/>
        </p:spPr>
        <p:txBody>
          <a:bodyPr/>
          <a:lstStyle/>
          <a:p>
            <a:endParaRPr lang="en-US"/>
          </a:p>
        </p:txBody>
      </p:sp>
      <p:pic>
        <p:nvPicPr>
          <p:cNvPr id="26" name="Image 3" descr="preencoded.png"/>
          <p:cNvPicPr>
            <a:picLocks noChangeAspect="1"/>
          </p:cNvPicPr>
          <p:nvPr/>
        </p:nvPicPr>
        <p:blipFill>
          <a:blip r:embed="rId5"/>
          <a:stretch>
            <a:fillRect/>
          </a:stretch>
        </p:blipFill>
        <p:spPr>
          <a:xfrm>
            <a:off x="612648" y="4023360"/>
            <a:ext cx="402336" cy="402336"/>
          </a:xfrm>
          <a:prstGeom prst="rect">
            <a:avLst/>
          </a:prstGeom>
        </p:spPr>
      </p:pic>
      <p:sp>
        <p:nvSpPr>
          <p:cNvPr id="27" name="Text 21"/>
          <p:cNvSpPr/>
          <p:nvPr/>
        </p:nvSpPr>
        <p:spPr>
          <a:xfrm>
            <a:off x="1234440" y="4023360"/>
            <a:ext cx="2560320" cy="384048"/>
          </a:xfrm>
          <a:prstGeom prst="rect">
            <a:avLst/>
          </a:prstGeom>
          <a:noFill/>
          <a:ln/>
        </p:spPr>
        <p:txBody>
          <a:bodyPr wrap="square" rtlCol="0" anchor="ctr"/>
          <a:lstStyle/>
          <a:p>
            <a:pPr marL="0" indent="0">
              <a:buNone/>
            </a:pPr>
            <a:r>
              <a:rPr lang="en-US" sz="1300" b="1" dirty="0">
                <a:solidFill>
                  <a:srgbClr val="FFFFFF"/>
                </a:solidFill>
              </a:rPr>
              <a:t>Single Source of Truth</a:t>
            </a:r>
            <a:endParaRPr lang="en-US" sz="1300" dirty="0"/>
          </a:p>
        </p:txBody>
      </p:sp>
      <p:sp>
        <p:nvSpPr>
          <p:cNvPr id="28" name="Text 22"/>
          <p:cNvSpPr/>
          <p:nvPr/>
        </p:nvSpPr>
        <p:spPr>
          <a:xfrm>
            <a:off x="548640" y="4645152"/>
            <a:ext cx="3246120" cy="868680"/>
          </a:xfrm>
          <a:prstGeom prst="rect">
            <a:avLst/>
          </a:prstGeom>
          <a:noFill/>
          <a:ln/>
        </p:spPr>
        <p:txBody>
          <a:bodyPr wrap="square" rtlCol="0" anchor="ctr"/>
          <a:lstStyle/>
          <a:p>
            <a:pPr marL="0" indent="0">
              <a:buNone/>
            </a:pPr>
            <a:r>
              <a:rPr lang="en-US" sz="1100" dirty="0">
                <a:solidFill>
                  <a:srgbClr val="717070"/>
                </a:solidFill>
              </a:rPr>
              <a:t>Your Symitar data flows directly into ARCU — no manual exports, no reconciliation, no version conflicts.</a:t>
            </a:r>
            <a:endParaRPr lang="en-US" sz="1100" dirty="0"/>
          </a:p>
        </p:txBody>
      </p:sp>
      <p:sp>
        <p:nvSpPr>
          <p:cNvPr id="29" name="Shape 23"/>
          <p:cNvSpPr/>
          <p:nvPr/>
        </p:nvSpPr>
        <p:spPr>
          <a:xfrm>
            <a:off x="4251960" y="3749040"/>
            <a:ext cx="3611880" cy="2011680"/>
          </a:xfrm>
          <a:prstGeom prst="rect">
            <a:avLst/>
          </a:prstGeom>
          <a:solidFill>
            <a:srgbClr val="06185F"/>
          </a:solidFill>
          <a:ln/>
          <a:effectLst>
            <a:outerShdw blurRad="127000" dist="25400" dir="8100000" algn="bl" rotWithShape="0">
              <a:srgbClr val="000000">
                <a:alpha val="20000"/>
              </a:srgbClr>
            </a:outerShdw>
          </a:effectLst>
        </p:spPr>
        <p:txBody>
          <a:bodyPr/>
          <a:lstStyle/>
          <a:p>
            <a:endParaRPr lang="en-US"/>
          </a:p>
        </p:txBody>
      </p:sp>
      <p:sp>
        <p:nvSpPr>
          <p:cNvPr id="30" name="Shape 24"/>
          <p:cNvSpPr/>
          <p:nvPr/>
        </p:nvSpPr>
        <p:spPr>
          <a:xfrm>
            <a:off x="4251960" y="3749040"/>
            <a:ext cx="3611880" cy="64008"/>
          </a:xfrm>
          <a:prstGeom prst="rect">
            <a:avLst/>
          </a:prstGeom>
          <a:solidFill>
            <a:srgbClr val="009E7A"/>
          </a:solidFill>
          <a:ln/>
        </p:spPr>
        <p:txBody>
          <a:bodyPr/>
          <a:lstStyle/>
          <a:p>
            <a:endParaRPr lang="en-US"/>
          </a:p>
        </p:txBody>
      </p:sp>
      <p:sp>
        <p:nvSpPr>
          <p:cNvPr id="31" name="Shape 25"/>
          <p:cNvSpPr/>
          <p:nvPr/>
        </p:nvSpPr>
        <p:spPr>
          <a:xfrm>
            <a:off x="4434840" y="3977640"/>
            <a:ext cx="548640" cy="548640"/>
          </a:xfrm>
          <a:prstGeom prst="ellipse">
            <a:avLst/>
          </a:prstGeom>
          <a:solidFill>
            <a:srgbClr val="009E7A"/>
          </a:solidFill>
          <a:ln/>
        </p:spPr>
        <p:txBody>
          <a:bodyPr/>
          <a:lstStyle/>
          <a:p>
            <a:endParaRPr lang="en-US"/>
          </a:p>
        </p:txBody>
      </p:sp>
      <p:pic>
        <p:nvPicPr>
          <p:cNvPr id="32" name="Image 4" descr="preencoded.png"/>
          <p:cNvPicPr>
            <a:picLocks noChangeAspect="1"/>
          </p:cNvPicPr>
          <p:nvPr/>
        </p:nvPicPr>
        <p:blipFill>
          <a:blip r:embed="rId6"/>
          <a:stretch>
            <a:fillRect/>
          </a:stretch>
        </p:blipFill>
        <p:spPr>
          <a:xfrm>
            <a:off x="4498848" y="4023360"/>
            <a:ext cx="402336" cy="402336"/>
          </a:xfrm>
          <a:prstGeom prst="rect">
            <a:avLst/>
          </a:prstGeom>
        </p:spPr>
      </p:pic>
      <p:sp>
        <p:nvSpPr>
          <p:cNvPr id="33" name="Text 26"/>
          <p:cNvSpPr/>
          <p:nvPr/>
        </p:nvSpPr>
        <p:spPr>
          <a:xfrm>
            <a:off x="5120640" y="4023360"/>
            <a:ext cx="2560320" cy="384048"/>
          </a:xfrm>
          <a:prstGeom prst="rect">
            <a:avLst/>
          </a:prstGeom>
          <a:noFill/>
          <a:ln/>
        </p:spPr>
        <p:txBody>
          <a:bodyPr wrap="square" rtlCol="0" anchor="ctr"/>
          <a:lstStyle/>
          <a:p>
            <a:pPr marL="0" indent="0">
              <a:buNone/>
            </a:pPr>
            <a:r>
              <a:rPr lang="en-US" sz="1300" b="1" dirty="0">
                <a:solidFill>
                  <a:srgbClr val="FFFFFF"/>
                </a:solidFill>
              </a:rPr>
              <a:t>Proven at Scale</a:t>
            </a:r>
            <a:endParaRPr lang="en-US" sz="1300" dirty="0"/>
          </a:p>
        </p:txBody>
      </p:sp>
      <p:sp>
        <p:nvSpPr>
          <p:cNvPr id="34" name="Text 27"/>
          <p:cNvSpPr/>
          <p:nvPr/>
        </p:nvSpPr>
        <p:spPr>
          <a:xfrm>
            <a:off x="4434840" y="4645152"/>
            <a:ext cx="3246120" cy="868680"/>
          </a:xfrm>
          <a:prstGeom prst="rect">
            <a:avLst/>
          </a:prstGeom>
          <a:noFill/>
          <a:ln/>
        </p:spPr>
        <p:txBody>
          <a:bodyPr wrap="square" rtlCol="0" anchor="ctr"/>
          <a:lstStyle/>
          <a:p>
            <a:pPr marL="0" indent="0">
              <a:buNone/>
            </a:pPr>
            <a:r>
              <a:rPr lang="en-US" sz="1100" dirty="0">
                <a:solidFill>
                  <a:srgbClr val="717070"/>
                </a:solidFill>
              </a:rPr>
              <a:t>Hundreds of credit unions run ARCU today. You’re getting a battle-tested platform, not a prototype.</a:t>
            </a:r>
            <a:endParaRPr lang="en-US" sz="1100" dirty="0"/>
          </a:p>
        </p:txBody>
      </p:sp>
      <p:sp>
        <p:nvSpPr>
          <p:cNvPr id="35" name="Shape 28"/>
          <p:cNvSpPr/>
          <p:nvPr/>
        </p:nvSpPr>
        <p:spPr>
          <a:xfrm>
            <a:off x="8138160" y="3749040"/>
            <a:ext cx="3611880" cy="2011680"/>
          </a:xfrm>
          <a:prstGeom prst="rect">
            <a:avLst/>
          </a:prstGeom>
          <a:solidFill>
            <a:srgbClr val="06185F"/>
          </a:solidFill>
          <a:ln/>
          <a:effectLst>
            <a:outerShdw blurRad="127000" dist="25400" dir="8100000" algn="bl" rotWithShape="0">
              <a:srgbClr val="000000">
                <a:alpha val="20000"/>
              </a:srgbClr>
            </a:outerShdw>
          </a:effectLst>
        </p:spPr>
        <p:txBody>
          <a:bodyPr/>
          <a:lstStyle/>
          <a:p>
            <a:endParaRPr lang="en-US"/>
          </a:p>
        </p:txBody>
      </p:sp>
      <p:sp>
        <p:nvSpPr>
          <p:cNvPr id="36" name="Shape 29"/>
          <p:cNvSpPr/>
          <p:nvPr/>
        </p:nvSpPr>
        <p:spPr>
          <a:xfrm>
            <a:off x="8138160" y="3749040"/>
            <a:ext cx="3611880" cy="64008"/>
          </a:xfrm>
          <a:prstGeom prst="rect">
            <a:avLst/>
          </a:prstGeom>
          <a:solidFill>
            <a:srgbClr val="009E7A"/>
          </a:solidFill>
          <a:ln/>
        </p:spPr>
        <p:txBody>
          <a:bodyPr/>
          <a:lstStyle/>
          <a:p>
            <a:endParaRPr lang="en-US"/>
          </a:p>
        </p:txBody>
      </p:sp>
      <p:sp>
        <p:nvSpPr>
          <p:cNvPr id="37" name="Shape 30"/>
          <p:cNvSpPr/>
          <p:nvPr/>
        </p:nvSpPr>
        <p:spPr>
          <a:xfrm>
            <a:off x="8321040" y="3977640"/>
            <a:ext cx="548640" cy="548640"/>
          </a:xfrm>
          <a:prstGeom prst="ellipse">
            <a:avLst/>
          </a:prstGeom>
          <a:solidFill>
            <a:srgbClr val="009E7A"/>
          </a:solidFill>
          <a:ln/>
        </p:spPr>
        <p:txBody>
          <a:bodyPr/>
          <a:lstStyle/>
          <a:p>
            <a:endParaRPr lang="en-US"/>
          </a:p>
        </p:txBody>
      </p:sp>
      <p:pic>
        <p:nvPicPr>
          <p:cNvPr id="38" name="Image 5" descr="preencoded.png"/>
          <p:cNvPicPr>
            <a:picLocks noChangeAspect="1"/>
          </p:cNvPicPr>
          <p:nvPr/>
        </p:nvPicPr>
        <p:blipFill>
          <a:blip r:embed="rId7"/>
          <a:stretch>
            <a:fillRect/>
          </a:stretch>
        </p:blipFill>
        <p:spPr>
          <a:xfrm>
            <a:off x="8385048" y="4023360"/>
            <a:ext cx="402336" cy="402336"/>
          </a:xfrm>
          <a:prstGeom prst="rect">
            <a:avLst/>
          </a:prstGeom>
        </p:spPr>
      </p:pic>
      <p:sp>
        <p:nvSpPr>
          <p:cNvPr id="39" name="Text 31"/>
          <p:cNvSpPr/>
          <p:nvPr/>
        </p:nvSpPr>
        <p:spPr>
          <a:xfrm>
            <a:off x="9006840" y="4023360"/>
            <a:ext cx="2560320" cy="384048"/>
          </a:xfrm>
          <a:prstGeom prst="rect">
            <a:avLst/>
          </a:prstGeom>
          <a:noFill/>
          <a:ln/>
        </p:spPr>
        <p:txBody>
          <a:bodyPr wrap="square" rtlCol="0" anchor="ctr"/>
          <a:lstStyle/>
          <a:p>
            <a:pPr marL="0" indent="0">
              <a:buNone/>
            </a:pPr>
            <a:r>
              <a:rPr lang="en-US" sz="1300" b="1" dirty="0">
                <a:solidFill>
                  <a:srgbClr val="FFFFFF"/>
                </a:solidFill>
              </a:rPr>
              <a:t>One Partner Relationship</a:t>
            </a:r>
            <a:endParaRPr lang="en-US" sz="1300" dirty="0"/>
          </a:p>
        </p:txBody>
      </p:sp>
      <p:sp>
        <p:nvSpPr>
          <p:cNvPr id="40" name="Text 32"/>
          <p:cNvSpPr/>
          <p:nvPr/>
        </p:nvSpPr>
        <p:spPr>
          <a:xfrm>
            <a:off x="8321040" y="4645152"/>
            <a:ext cx="3246120" cy="868680"/>
          </a:xfrm>
          <a:prstGeom prst="rect">
            <a:avLst/>
          </a:prstGeom>
          <a:noFill/>
          <a:ln/>
        </p:spPr>
        <p:txBody>
          <a:bodyPr wrap="square" rtlCol="0" anchor="ctr"/>
          <a:lstStyle/>
          <a:p>
            <a:pPr marL="0" indent="0">
              <a:buNone/>
            </a:pPr>
            <a:r>
              <a:rPr lang="en-US" sz="1100" dirty="0">
                <a:solidFill>
                  <a:srgbClr val="717070"/>
                </a:solidFill>
              </a:rPr>
              <a:t>Core + analytics from Jack Henry means one contract, one support team, one roadmap aligned to your growth.</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9E7A"/>
          </a:solidFill>
          <a:ln/>
        </p:spPr>
        <p:txBody>
          <a:bodyPr/>
          <a:lstStyle/>
          <a:p>
            <a:endParaRPr lang="en-US"/>
          </a:p>
        </p:txBody>
      </p:sp>
      <p:sp>
        <p:nvSpPr>
          <p:cNvPr id="3" name="Shape 1"/>
          <p:cNvSpPr/>
          <p:nvPr/>
        </p:nvSpPr>
        <p:spPr>
          <a:xfrm>
            <a:off x="365760" y="274320"/>
            <a:ext cx="822960" cy="347472"/>
          </a:xfrm>
          <a:prstGeom prst="rect">
            <a:avLst/>
          </a:prstGeom>
          <a:solidFill>
            <a:srgbClr val="F5A623"/>
          </a:solidFill>
          <a:ln/>
        </p:spPr>
        <p:txBody>
          <a:bodyPr/>
          <a:lstStyle/>
          <a:p>
            <a:endParaRPr lang="en-US"/>
          </a:p>
        </p:txBody>
      </p:sp>
      <p:sp>
        <p:nvSpPr>
          <p:cNvPr id="4" name="Text 2"/>
          <p:cNvSpPr/>
          <p:nvPr/>
        </p:nvSpPr>
        <p:spPr>
          <a:xfrm>
            <a:off x="365760" y="274320"/>
            <a:ext cx="822960" cy="347472"/>
          </a:xfrm>
          <a:prstGeom prst="rect">
            <a:avLst/>
          </a:prstGeom>
          <a:noFill/>
          <a:ln/>
        </p:spPr>
        <p:txBody>
          <a:bodyPr wrap="square" lIns="0" tIns="0" rIns="0" bIns="0" rtlCol="0" anchor="ctr"/>
          <a:lstStyle/>
          <a:p>
            <a:pPr marL="0" indent="0" algn="ctr">
              <a:buNone/>
            </a:pPr>
            <a:r>
              <a:rPr lang="en-US" sz="1200" b="1" dirty="0">
                <a:solidFill>
                  <a:srgbClr val="06185F"/>
                </a:solidFill>
              </a:rPr>
              <a:t>NEW</a:t>
            </a:r>
            <a:endParaRPr lang="en-US" sz="1200" dirty="0"/>
          </a:p>
        </p:txBody>
      </p:sp>
      <p:pic>
        <p:nvPicPr>
          <p:cNvPr id="5" name="Image 0" descr="preencoded.png"/>
          <p:cNvPicPr>
            <a:picLocks noChangeAspect="1"/>
          </p:cNvPicPr>
          <p:nvPr/>
        </p:nvPicPr>
        <p:blipFill>
          <a:blip r:embed="rId3"/>
          <a:stretch>
            <a:fillRect/>
          </a:stretch>
        </p:blipFill>
        <p:spPr>
          <a:xfrm>
            <a:off x="1325880" y="201168"/>
            <a:ext cx="594360" cy="594360"/>
          </a:xfrm>
          <a:prstGeom prst="rect">
            <a:avLst/>
          </a:prstGeom>
        </p:spPr>
      </p:pic>
      <p:sp>
        <p:nvSpPr>
          <p:cNvPr id="6" name="Text 3"/>
          <p:cNvSpPr/>
          <p:nvPr/>
        </p:nvSpPr>
        <p:spPr>
          <a:xfrm>
            <a:off x="2011680" y="0"/>
            <a:ext cx="3657600" cy="1005840"/>
          </a:xfrm>
          <a:prstGeom prst="rect">
            <a:avLst/>
          </a:prstGeom>
          <a:noFill/>
          <a:ln/>
        </p:spPr>
        <p:txBody>
          <a:bodyPr wrap="square" rtlCol="0" anchor="ctr"/>
          <a:lstStyle/>
          <a:p>
            <a:pPr marL="0" indent="0">
              <a:buNone/>
            </a:pPr>
            <a:r>
              <a:rPr lang="en-US" sz="4200" b="1" dirty="0">
                <a:solidFill>
                  <a:srgbClr val="FFFFFF"/>
                </a:solidFill>
              </a:rPr>
              <a:t>JHBI</a:t>
            </a:r>
            <a:endParaRPr lang="en-US" sz="4200" dirty="0"/>
          </a:p>
        </p:txBody>
      </p:sp>
      <p:sp>
        <p:nvSpPr>
          <p:cNvPr id="7" name="Text 4"/>
          <p:cNvSpPr/>
          <p:nvPr/>
        </p:nvSpPr>
        <p:spPr>
          <a:xfrm>
            <a:off x="2011680" y="640080"/>
            <a:ext cx="6400800" cy="548640"/>
          </a:xfrm>
          <a:prstGeom prst="rect">
            <a:avLst/>
          </a:prstGeom>
          <a:noFill/>
          <a:ln/>
        </p:spPr>
        <p:txBody>
          <a:bodyPr wrap="square" rtlCol="0" anchor="ctr"/>
          <a:lstStyle/>
          <a:p>
            <a:pPr marL="0" indent="0">
              <a:buNone/>
            </a:pPr>
            <a:r>
              <a:rPr lang="en-US" sz="1500" dirty="0">
                <a:solidFill>
                  <a:srgbClr val="009E7A"/>
                </a:solidFill>
              </a:rPr>
              <a:t>Jack Henry Business Intelligence</a:t>
            </a:r>
            <a:endParaRPr lang="en-US" sz="1500" dirty="0"/>
          </a:p>
        </p:txBody>
      </p:sp>
      <p:sp>
        <p:nvSpPr>
          <p:cNvPr id="8" name="Text 5"/>
          <p:cNvSpPr/>
          <p:nvPr/>
        </p:nvSpPr>
        <p:spPr>
          <a:xfrm>
            <a:off x="365760" y="1097280"/>
            <a:ext cx="8229600" cy="457200"/>
          </a:xfrm>
          <a:prstGeom prst="rect">
            <a:avLst/>
          </a:prstGeom>
          <a:noFill/>
          <a:ln/>
        </p:spPr>
        <p:txBody>
          <a:bodyPr wrap="square" rtlCol="0" anchor="ctr"/>
          <a:lstStyle/>
          <a:p>
            <a:pPr marL="0" indent="0">
              <a:buNone/>
            </a:pPr>
            <a:r>
              <a:rPr lang="en-US" sz="1600" i="1" dirty="0">
                <a:solidFill>
                  <a:srgbClr val="717070"/>
                </a:solidFill>
              </a:rPr>
              <a:t>Self-service BI built on top of your JH data — no data team required.</a:t>
            </a:r>
            <a:endParaRPr lang="en-US" sz="1600" dirty="0"/>
          </a:p>
        </p:txBody>
      </p:sp>
      <p:sp>
        <p:nvSpPr>
          <p:cNvPr id="9" name="Shape 6"/>
          <p:cNvSpPr/>
          <p:nvPr/>
        </p:nvSpPr>
        <p:spPr>
          <a:xfrm>
            <a:off x="365760" y="1737360"/>
            <a:ext cx="5486400" cy="3200400"/>
          </a:xfrm>
          <a:prstGeom prst="rect">
            <a:avLst/>
          </a:prstGeom>
          <a:solidFill>
            <a:srgbClr val="06185F"/>
          </a:solidFill>
          <a:ln/>
        </p:spPr>
        <p:txBody>
          <a:bodyPr/>
          <a:lstStyle/>
          <a:p>
            <a:endParaRPr lang="en-US"/>
          </a:p>
        </p:txBody>
      </p:sp>
      <p:sp>
        <p:nvSpPr>
          <p:cNvPr id="10" name="Text 7"/>
          <p:cNvSpPr/>
          <p:nvPr/>
        </p:nvSpPr>
        <p:spPr>
          <a:xfrm>
            <a:off x="548640" y="1874520"/>
            <a:ext cx="5120640" cy="384048"/>
          </a:xfrm>
          <a:prstGeom prst="rect">
            <a:avLst/>
          </a:prstGeom>
          <a:noFill/>
          <a:ln/>
        </p:spPr>
        <p:txBody>
          <a:bodyPr wrap="square" rtlCol="0" anchor="ctr"/>
          <a:lstStyle/>
          <a:p>
            <a:pPr marL="0" indent="0">
              <a:buNone/>
            </a:pPr>
            <a:r>
              <a:rPr lang="en-US" sz="1500" b="1" dirty="0">
                <a:solidFill>
                  <a:srgbClr val="009E7A"/>
                </a:solidFill>
              </a:rPr>
              <a:t>What Makes JHBI Different</a:t>
            </a:r>
            <a:endParaRPr lang="en-US" sz="1500" dirty="0"/>
          </a:p>
        </p:txBody>
      </p:sp>
      <p:pic>
        <p:nvPicPr>
          <p:cNvPr id="11" name="Image 1" descr="preencoded.png"/>
          <p:cNvPicPr>
            <a:picLocks noChangeAspect="1"/>
          </p:cNvPicPr>
          <p:nvPr/>
        </p:nvPicPr>
        <p:blipFill>
          <a:blip r:embed="rId4"/>
          <a:stretch>
            <a:fillRect/>
          </a:stretch>
        </p:blipFill>
        <p:spPr>
          <a:xfrm>
            <a:off x="548640" y="2404872"/>
            <a:ext cx="256032" cy="256032"/>
          </a:xfrm>
          <a:prstGeom prst="rect">
            <a:avLst/>
          </a:prstGeom>
        </p:spPr>
      </p:pic>
      <p:sp>
        <p:nvSpPr>
          <p:cNvPr id="12" name="Text 8"/>
          <p:cNvSpPr/>
          <p:nvPr/>
        </p:nvSpPr>
        <p:spPr>
          <a:xfrm>
            <a:off x="914400" y="2359152"/>
            <a:ext cx="4754880" cy="384048"/>
          </a:xfrm>
          <a:prstGeom prst="rect">
            <a:avLst/>
          </a:prstGeom>
          <a:noFill/>
          <a:ln/>
        </p:spPr>
        <p:txBody>
          <a:bodyPr wrap="square" rtlCol="0" anchor="ctr"/>
          <a:lstStyle/>
          <a:p>
            <a:pPr marL="0" indent="0">
              <a:buNone/>
            </a:pPr>
            <a:r>
              <a:rPr lang="en-US" sz="1200" dirty="0">
                <a:solidFill>
                  <a:srgbClr val="FFFFFF"/>
                </a:solidFill>
              </a:rPr>
              <a:t>Pre-connected to your JH core — no data wiring needed</a:t>
            </a:r>
            <a:endParaRPr lang="en-US" sz="1200" dirty="0"/>
          </a:p>
        </p:txBody>
      </p:sp>
      <p:pic>
        <p:nvPicPr>
          <p:cNvPr id="13" name="Image 2" descr="preencoded.png"/>
          <p:cNvPicPr>
            <a:picLocks noChangeAspect="1"/>
          </p:cNvPicPr>
          <p:nvPr/>
        </p:nvPicPr>
        <p:blipFill>
          <a:blip r:embed="rId4"/>
          <a:stretch>
            <a:fillRect/>
          </a:stretch>
        </p:blipFill>
        <p:spPr>
          <a:xfrm>
            <a:off x="548640" y="2834640"/>
            <a:ext cx="256032" cy="256032"/>
          </a:xfrm>
          <a:prstGeom prst="rect">
            <a:avLst/>
          </a:prstGeom>
        </p:spPr>
      </p:pic>
      <p:sp>
        <p:nvSpPr>
          <p:cNvPr id="14" name="Text 9"/>
          <p:cNvSpPr/>
          <p:nvPr/>
        </p:nvSpPr>
        <p:spPr>
          <a:xfrm>
            <a:off x="914400" y="2788920"/>
            <a:ext cx="4754880" cy="384048"/>
          </a:xfrm>
          <a:prstGeom prst="rect">
            <a:avLst/>
          </a:prstGeom>
          <a:noFill/>
          <a:ln/>
        </p:spPr>
        <p:txBody>
          <a:bodyPr wrap="square" rtlCol="0" anchor="ctr"/>
          <a:lstStyle/>
          <a:p>
            <a:pPr marL="0" indent="0">
              <a:buNone/>
            </a:pPr>
            <a:r>
              <a:rPr lang="en-US" sz="1200" dirty="0">
                <a:solidFill>
                  <a:srgbClr val="FFFFFF"/>
                </a:solidFill>
              </a:rPr>
              <a:t>Self-service dashboards business users can actually run</a:t>
            </a:r>
            <a:endParaRPr lang="en-US" sz="1200" dirty="0"/>
          </a:p>
        </p:txBody>
      </p:sp>
      <p:pic>
        <p:nvPicPr>
          <p:cNvPr id="15" name="Image 3" descr="preencoded.png"/>
          <p:cNvPicPr>
            <a:picLocks noChangeAspect="1"/>
          </p:cNvPicPr>
          <p:nvPr/>
        </p:nvPicPr>
        <p:blipFill>
          <a:blip r:embed="rId4"/>
          <a:stretch>
            <a:fillRect/>
          </a:stretch>
        </p:blipFill>
        <p:spPr>
          <a:xfrm>
            <a:off x="548640" y="3264408"/>
            <a:ext cx="256032" cy="256032"/>
          </a:xfrm>
          <a:prstGeom prst="rect">
            <a:avLst/>
          </a:prstGeom>
        </p:spPr>
      </p:pic>
      <p:sp>
        <p:nvSpPr>
          <p:cNvPr id="16" name="Text 10"/>
          <p:cNvSpPr/>
          <p:nvPr/>
        </p:nvSpPr>
        <p:spPr>
          <a:xfrm>
            <a:off x="914400" y="3218688"/>
            <a:ext cx="4754880" cy="384048"/>
          </a:xfrm>
          <a:prstGeom prst="rect">
            <a:avLst/>
          </a:prstGeom>
          <a:noFill/>
          <a:ln/>
        </p:spPr>
        <p:txBody>
          <a:bodyPr wrap="square" rtlCol="0" anchor="ctr"/>
          <a:lstStyle/>
          <a:p>
            <a:pPr marL="0" indent="0">
              <a:buNone/>
            </a:pPr>
            <a:r>
              <a:rPr lang="en-US" sz="1200" dirty="0">
                <a:solidFill>
                  <a:srgbClr val="FFFFFF"/>
                </a:solidFill>
              </a:rPr>
              <a:t>Built on top of the JHKnow/ARCU data model</a:t>
            </a:r>
            <a:endParaRPr lang="en-US" sz="1200" dirty="0"/>
          </a:p>
        </p:txBody>
      </p:sp>
      <p:pic>
        <p:nvPicPr>
          <p:cNvPr id="17" name="Image 4" descr="preencoded.png"/>
          <p:cNvPicPr>
            <a:picLocks noChangeAspect="1"/>
          </p:cNvPicPr>
          <p:nvPr/>
        </p:nvPicPr>
        <p:blipFill>
          <a:blip r:embed="rId4"/>
          <a:stretch>
            <a:fillRect/>
          </a:stretch>
        </p:blipFill>
        <p:spPr>
          <a:xfrm>
            <a:off x="548640" y="3694176"/>
            <a:ext cx="256032" cy="256032"/>
          </a:xfrm>
          <a:prstGeom prst="rect">
            <a:avLst/>
          </a:prstGeom>
        </p:spPr>
      </p:pic>
      <p:sp>
        <p:nvSpPr>
          <p:cNvPr id="18" name="Text 11"/>
          <p:cNvSpPr/>
          <p:nvPr/>
        </p:nvSpPr>
        <p:spPr>
          <a:xfrm>
            <a:off x="914400" y="3648456"/>
            <a:ext cx="4754880" cy="384048"/>
          </a:xfrm>
          <a:prstGeom prst="rect">
            <a:avLst/>
          </a:prstGeom>
          <a:noFill/>
          <a:ln/>
        </p:spPr>
        <p:txBody>
          <a:bodyPr wrap="square" rtlCol="0" anchor="ctr"/>
          <a:lstStyle/>
          <a:p>
            <a:pPr marL="0" indent="0">
              <a:buNone/>
            </a:pPr>
            <a:r>
              <a:rPr lang="en-US" sz="1200" dirty="0">
                <a:solidFill>
                  <a:srgbClr val="FFFFFF"/>
                </a:solidFill>
              </a:rPr>
              <a:t>Drag-and-drop report builder — no SQL required</a:t>
            </a:r>
            <a:endParaRPr lang="en-US" sz="1200" dirty="0"/>
          </a:p>
        </p:txBody>
      </p:sp>
      <p:pic>
        <p:nvPicPr>
          <p:cNvPr id="19" name="Image 5" descr="preencoded.png"/>
          <p:cNvPicPr>
            <a:picLocks noChangeAspect="1"/>
          </p:cNvPicPr>
          <p:nvPr/>
        </p:nvPicPr>
        <p:blipFill>
          <a:blip r:embed="rId4"/>
          <a:stretch>
            <a:fillRect/>
          </a:stretch>
        </p:blipFill>
        <p:spPr>
          <a:xfrm>
            <a:off x="548640" y="4123944"/>
            <a:ext cx="256032" cy="256032"/>
          </a:xfrm>
          <a:prstGeom prst="rect">
            <a:avLst/>
          </a:prstGeom>
        </p:spPr>
      </p:pic>
      <p:sp>
        <p:nvSpPr>
          <p:cNvPr id="20" name="Text 12"/>
          <p:cNvSpPr/>
          <p:nvPr/>
        </p:nvSpPr>
        <p:spPr>
          <a:xfrm>
            <a:off x="914400" y="4078224"/>
            <a:ext cx="4754880" cy="384048"/>
          </a:xfrm>
          <a:prstGeom prst="rect">
            <a:avLst/>
          </a:prstGeom>
          <a:noFill/>
          <a:ln/>
        </p:spPr>
        <p:txBody>
          <a:bodyPr wrap="square" rtlCol="0" anchor="ctr"/>
          <a:lstStyle/>
          <a:p>
            <a:pPr marL="0" indent="0">
              <a:buNone/>
            </a:pPr>
            <a:r>
              <a:rPr lang="en-US" sz="1200" dirty="0">
                <a:solidFill>
                  <a:srgbClr val="FFFFFF"/>
                </a:solidFill>
              </a:rPr>
              <a:t>Executive KPI views, operational reports, ad-hoc queries</a:t>
            </a:r>
            <a:endParaRPr lang="en-US" sz="1200" dirty="0"/>
          </a:p>
        </p:txBody>
      </p:sp>
      <p:pic>
        <p:nvPicPr>
          <p:cNvPr id="21" name="Image 6" descr="preencoded.png"/>
          <p:cNvPicPr>
            <a:picLocks noChangeAspect="1"/>
          </p:cNvPicPr>
          <p:nvPr/>
        </p:nvPicPr>
        <p:blipFill>
          <a:blip r:embed="rId4"/>
          <a:stretch>
            <a:fillRect/>
          </a:stretch>
        </p:blipFill>
        <p:spPr>
          <a:xfrm>
            <a:off x="548640" y="4553712"/>
            <a:ext cx="256032" cy="256032"/>
          </a:xfrm>
          <a:prstGeom prst="rect">
            <a:avLst/>
          </a:prstGeom>
        </p:spPr>
      </p:pic>
      <p:sp>
        <p:nvSpPr>
          <p:cNvPr id="22" name="Text 13"/>
          <p:cNvSpPr/>
          <p:nvPr/>
        </p:nvSpPr>
        <p:spPr>
          <a:xfrm>
            <a:off x="914400" y="4507992"/>
            <a:ext cx="4754880" cy="384048"/>
          </a:xfrm>
          <a:prstGeom prst="rect">
            <a:avLst/>
          </a:prstGeom>
          <a:noFill/>
          <a:ln/>
        </p:spPr>
        <p:txBody>
          <a:bodyPr wrap="square" rtlCol="0" anchor="ctr"/>
          <a:lstStyle/>
          <a:p>
            <a:pPr marL="0" indent="0">
              <a:buNone/>
            </a:pPr>
            <a:r>
              <a:rPr lang="en-US" sz="1200" dirty="0">
                <a:solidFill>
                  <a:srgbClr val="FFFFFF"/>
                </a:solidFill>
              </a:rPr>
              <a:t>Managed &amp; hosted by Jack Henry — zero infrastructure</a:t>
            </a:r>
            <a:endParaRPr lang="en-US" sz="1200" dirty="0"/>
          </a:p>
        </p:txBody>
      </p:sp>
      <p:sp>
        <p:nvSpPr>
          <p:cNvPr id="23" name="Shape 14"/>
          <p:cNvSpPr/>
          <p:nvPr/>
        </p:nvSpPr>
        <p:spPr>
          <a:xfrm>
            <a:off x="6263640" y="1737360"/>
            <a:ext cx="5577840" cy="3200400"/>
          </a:xfrm>
          <a:prstGeom prst="rect">
            <a:avLst/>
          </a:prstGeom>
          <a:solidFill>
            <a:srgbClr val="06185F"/>
          </a:solidFill>
          <a:ln/>
        </p:spPr>
        <p:txBody>
          <a:bodyPr/>
          <a:lstStyle/>
          <a:p>
            <a:endParaRPr lang="en-US"/>
          </a:p>
        </p:txBody>
      </p:sp>
      <p:sp>
        <p:nvSpPr>
          <p:cNvPr id="24" name="Text 15"/>
          <p:cNvSpPr/>
          <p:nvPr/>
        </p:nvSpPr>
        <p:spPr>
          <a:xfrm>
            <a:off x="6446520" y="1874520"/>
            <a:ext cx="5212080" cy="384048"/>
          </a:xfrm>
          <a:prstGeom prst="rect">
            <a:avLst/>
          </a:prstGeom>
          <a:noFill/>
          <a:ln/>
        </p:spPr>
        <p:txBody>
          <a:bodyPr wrap="square" rtlCol="0" anchor="ctr"/>
          <a:lstStyle/>
          <a:p>
            <a:pPr marL="0" indent="0">
              <a:buNone/>
            </a:pPr>
            <a:r>
              <a:rPr lang="en-US" sz="1500" b="1" dirty="0">
                <a:solidFill>
                  <a:srgbClr val="009E7A"/>
                </a:solidFill>
              </a:rPr>
              <a:t>Built-in Use Cases</a:t>
            </a:r>
            <a:endParaRPr lang="en-US" sz="1500" dirty="0"/>
          </a:p>
        </p:txBody>
      </p:sp>
      <p:sp>
        <p:nvSpPr>
          <p:cNvPr id="25" name="Shape 16"/>
          <p:cNvSpPr/>
          <p:nvPr/>
        </p:nvSpPr>
        <p:spPr>
          <a:xfrm>
            <a:off x="6446520" y="2377440"/>
            <a:ext cx="64008" cy="411480"/>
          </a:xfrm>
          <a:prstGeom prst="rect">
            <a:avLst/>
          </a:prstGeom>
          <a:solidFill>
            <a:srgbClr val="009E7A"/>
          </a:solidFill>
          <a:ln/>
        </p:spPr>
        <p:txBody>
          <a:bodyPr/>
          <a:lstStyle/>
          <a:p>
            <a:endParaRPr lang="en-US"/>
          </a:p>
        </p:txBody>
      </p:sp>
      <p:sp>
        <p:nvSpPr>
          <p:cNvPr id="26" name="Text 17"/>
          <p:cNvSpPr/>
          <p:nvPr/>
        </p:nvSpPr>
        <p:spPr>
          <a:xfrm>
            <a:off x="6583680" y="2359152"/>
            <a:ext cx="5029200" cy="256032"/>
          </a:xfrm>
          <a:prstGeom prst="rect">
            <a:avLst/>
          </a:prstGeom>
          <a:noFill/>
          <a:ln/>
        </p:spPr>
        <p:txBody>
          <a:bodyPr wrap="square" rtlCol="0" anchor="ctr"/>
          <a:lstStyle/>
          <a:p>
            <a:pPr marL="0" indent="0">
              <a:buNone/>
            </a:pPr>
            <a:r>
              <a:rPr lang="en-US" sz="1200" b="1" dirty="0">
                <a:solidFill>
                  <a:srgbClr val="FFFFFF"/>
                </a:solidFill>
              </a:rPr>
              <a:t>Deposit &amp; Liquidity</a:t>
            </a:r>
            <a:endParaRPr lang="en-US" sz="1200" dirty="0"/>
          </a:p>
        </p:txBody>
      </p:sp>
      <p:sp>
        <p:nvSpPr>
          <p:cNvPr id="27" name="Text 18"/>
          <p:cNvSpPr/>
          <p:nvPr/>
        </p:nvSpPr>
        <p:spPr>
          <a:xfrm>
            <a:off x="6583680" y="2587752"/>
            <a:ext cx="5029200" cy="256032"/>
          </a:xfrm>
          <a:prstGeom prst="rect">
            <a:avLst/>
          </a:prstGeom>
          <a:noFill/>
          <a:ln/>
        </p:spPr>
        <p:txBody>
          <a:bodyPr wrap="square" rtlCol="0" anchor="ctr"/>
          <a:lstStyle/>
          <a:p>
            <a:pPr marL="0" indent="0">
              <a:buNone/>
            </a:pPr>
            <a:r>
              <a:rPr lang="en-US" sz="1050" dirty="0">
                <a:solidFill>
                  <a:srgbClr val="717070"/>
                </a:solidFill>
              </a:rPr>
              <a:t>Track deposit flows, rate sensitivity, and concentration risk</a:t>
            </a:r>
            <a:endParaRPr lang="en-US" sz="1050" dirty="0"/>
          </a:p>
        </p:txBody>
      </p:sp>
      <p:sp>
        <p:nvSpPr>
          <p:cNvPr id="28" name="Shape 19"/>
          <p:cNvSpPr/>
          <p:nvPr/>
        </p:nvSpPr>
        <p:spPr>
          <a:xfrm>
            <a:off x="6446520" y="2926080"/>
            <a:ext cx="64008" cy="411480"/>
          </a:xfrm>
          <a:prstGeom prst="rect">
            <a:avLst/>
          </a:prstGeom>
          <a:solidFill>
            <a:srgbClr val="009E7A"/>
          </a:solidFill>
          <a:ln/>
        </p:spPr>
        <p:txBody>
          <a:bodyPr/>
          <a:lstStyle/>
          <a:p>
            <a:endParaRPr lang="en-US"/>
          </a:p>
        </p:txBody>
      </p:sp>
      <p:sp>
        <p:nvSpPr>
          <p:cNvPr id="29" name="Text 20"/>
          <p:cNvSpPr/>
          <p:nvPr/>
        </p:nvSpPr>
        <p:spPr>
          <a:xfrm>
            <a:off x="6583680" y="2907792"/>
            <a:ext cx="5029200" cy="256032"/>
          </a:xfrm>
          <a:prstGeom prst="rect">
            <a:avLst/>
          </a:prstGeom>
          <a:noFill/>
          <a:ln/>
        </p:spPr>
        <p:txBody>
          <a:bodyPr wrap="square" rtlCol="0" anchor="ctr"/>
          <a:lstStyle/>
          <a:p>
            <a:pPr marL="0" indent="0">
              <a:buNone/>
            </a:pPr>
            <a:r>
              <a:rPr lang="en-US" sz="1200" b="1" dirty="0">
                <a:solidFill>
                  <a:srgbClr val="FFFFFF"/>
                </a:solidFill>
              </a:rPr>
              <a:t>Loan Performance</a:t>
            </a:r>
            <a:endParaRPr lang="en-US" sz="1200" dirty="0"/>
          </a:p>
        </p:txBody>
      </p:sp>
      <p:sp>
        <p:nvSpPr>
          <p:cNvPr id="30" name="Text 21"/>
          <p:cNvSpPr/>
          <p:nvPr/>
        </p:nvSpPr>
        <p:spPr>
          <a:xfrm>
            <a:off x="6583680" y="3136392"/>
            <a:ext cx="5029200" cy="256032"/>
          </a:xfrm>
          <a:prstGeom prst="rect">
            <a:avLst/>
          </a:prstGeom>
          <a:noFill/>
          <a:ln/>
        </p:spPr>
        <p:txBody>
          <a:bodyPr wrap="square" rtlCol="0" anchor="ctr"/>
          <a:lstStyle/>
          <a:p>
            <a:pPr marL="0" indent="0">
              <a:buNone/>
            </a:pPr>
            <a:r>
              <a:rPr lang="en-US" sz="1050" dirty="0">
                <a:solidFill>
                  <a:srgbClr val="717070"/>
                </a:solidFill>
              </a:rPr>
              <a:t>Delinquency trends, origination pipelines, portfolio health</a:t>
            </a:r>
            <a:endParaRPr lang="en-US" sz="1050" dirty="0"/>
          </a:p>
        </p:txBody>
      </p:sp>
      <p:sp>
        <p:nvSpPr>
          <p:cNvPr id="31" name="Shape 22"/>
          <p:cNvSpPr/>
          <p:nvPr/>
        </p:nvSpPr>
        <p:spPr>
          <a:xfrm>
            <a:off x="6446520" y="3474720"/>
            <a:ext cx="64008" cy="411480"/>
          </a:xfrm>
          <a:prstGeom prst="rect">
            <a:avLst/>
          </a:prstGeom>
          <a:solidFill>
            <a:srgbClr val="009E7A"/>
          </a:solidFill>
          <a:ln/>
        </p:spPr>
        <p:txBody>
          <a:bodyPr/>
          <a:lstStyle/>
          <a:p>
            <a:endParaRPr lang="en-US"/>
          </a:p>
        </p:txBody>
      </p:sp>
      <p:sp>
        <p:nvSpPr>
          <p:cNvPr id="32" name="Text 23"/>
          <p:cNvSpPr/>
          <p:nvPr/>
        </p:nvSpPr>
        <p:spPr>
          <a:xfrm>
            <a:off x="6583680" y="3456432"/>
            <a:ext cx="5029200" cy="256032"/>
          </a:xfrm>
          <a:prstGeom prst="rect">
            <a:avLst/>
          </a:prstGeom>
          <a:noFill/>
          <a:ln/>
        </p:spPr>
        <p:txBody>
          <a:bodyPr wrap="square" rtlCol="0" anchor="ctr"/>
          <a:lstStyle/>
          <a:p>
            <a:pPr marL="0" indent="0">
              <a:buNone/>
            </a:pPr>
            <a:r>
              <a:rPr lang="en-US" sz="1200" b="1" dirty="0">
                <a:solidFill>
                  <a:srgbClr val="FFFFFF"/>
                </a:solidFill>
              </a:rPr>
              <a:t>Channel &amp; Digital</a:t>
            </a:r>
            <a:endParaRPr lang="en-US" sz="1200" dirty="0"/>
          </a:p>
        </p:txBody>
      </p:sp>
      <p:sp>
        <p:nvSpPr>
          <p:cNvPr id="33" name="Text 24"/>
          <p:cNvSpPr/>
          <p:nvPr/>
        </p:nvSpPr>
        <p:spPr>
          <a:xfrm>
            <a:off x="6583680" y="3685032"/>
            <a:ext cx="5029200" cy="256032"/>
          </a:xfrm>
          <a:prstGeom prst="rect">
            <a:avLst/>
          </a:prstGeom>
          <a:noFill/>
          <a:ln/>
        </p:spPr>
        <p:txBody>
          <a:bodyPr wrap="square" rtlCol="0" anchor="ctr"/>
          <a:lstStyle/>
          <a:p>
            <a:pPr marL="0" indent="0">
              <a:buNone/>
            </a:pPr>
            <a:r>
              <a:rPr lang="en-US" sz="1050" dirty="0">
                <a:solidFill>
                  <a:srgbClr val="717070"/>
                </a:solidFill>
              </a:rPr>
              <a:t>Digital adoption, mobile vs. branch transaction split</a:t>
            </a:r>
            <a:endParaRPr lang="en-US" sz="1050" dirty="0"/>
          </a:p>
        </p:txBody>
      </p:sp>
      <p:sp>
        <p:nvSpPr>
          <p:cNvPr id="34" name="Shape 25"/>
          <p:cNvSpPr/>
          <p:nvPr/>
        </p:nvSpPr>
        <p:spPr>
          <a:xfrm>
            <a:off x="6446520" y="4023360"/>
            <a:ext cx="64008" cy="411480"/>
          </a:xfrm>
          <a:prstGeom prst="rect">
            <a:avLst/>
          </a:prstGeom>
          <a:solidFill>
            <a:srgbClr val="009E7A"/>
          </a:solidFill>
          <a:ln/>
        </p:spPr>
        <p:txBody>
          <a:bodyPr/>
          <a:lstStyle/>
          <a:p>
            <a:endParaRPr lang="en-US"/>
          </a:p>
        </p:txBody>
      </p:sp>
      <p:sp>
        <p:nvSpPr>
          <p:cNvPr id="35" name="Text 26"/>
          <p:cNvSpPr/>
          <p:nvPr/>
        </p:nvSpPr>
        <p:spPr>
          <a:xfrm>
            <a:off x="6583680" y="4005072"/>
            <a:ext cx="5029200" cy="256032"/>
          </a:xfrm>
          <a:prstGeom prst="rect">
            <a:avLst/>
          </a:prstGeom>
          <a:noFill/>
          <a:ln/>
        </p:spPr>
        <p:txBody>
          <a:bodyPr wrap="square" rtlCol="0" anchor="ctr"/>
          <a:lstStyle/>
          <a:p>
            <a:pPr marL="0" indent="0">
              <a:buNone/>
            </a:pPr>
            <a:r>
              <a:rPr lang="en-US" sz="1200" b="1" dirty="0">
                <a:solidFill>
                  <a:srgbClr val="FFFFFF"/>
                </a:solidFill>
              </a:rPr>
              <a:t>Customer Behavior</a:t>
            </a:r>
            <a:endParaRPr lang="en-US" sz="1200" dirty="0"/>
          </a:p>
        </p:txBody>
      </p:sp>
      <p:sp>
        <p:nvSpPr>
          <p:cNvPr id="36" name="Text 27"/>
          <p:cNvSpPr/>
          <p:nvPr/>
        </p:nvSpPr>
        <p:spPr>
          <a:xfrm>
            <a:off x="6583680" y="4233672"/>
            <a:ext cx="5029200" cy="256032"/>
          </a:xfrm>
          <a:prstGeom prst="rect">
            <a:avLst/>
          </a:prstGeom>
          <a:noFill/>
          <a:ln/>
        </p:spPr>
        <p:txBody>
          <a:bodyPr wrap="square" rtlCol="0" anchor="ctr"/>
          <a:lstStyle/>
          <a:p>
            <a:pPr marL="0" indent="0">
              <a:buNone/>
            </a:pPr>
            <a:r>
              <a:rPr lang="en-US" sz="1050" dirty="0">
                <a:solidFill>
                  <a:srgbClr val="717070"/>
                </a:solidFill>
              </a:rPr>
              <a:t>Lifecycle, attrition signals, product penetration</a:t>
            </a:r>
            <a:endParaRPr lang="en-US" sz="1050" dirty="0"/>
          </a:p>
        </p:txBody>
      </p:sp>
      <p:sp>
        <p:nvSpPr>
          <p:cNvPr id="37" name="Shape 28"/>
          <p:cNvSpPr/>
          <p:nvPr/>
        </p:nvSpPr>
        <p:spPr>
          <a:xfrm>
            <a:off x="6446520" y="4572000"/>
            <a:ext cx="64008" cy="411480"/>
          </a:xfrm>
          <a:prstGeom prst="rect">
            <a:avLst/>
          </a:prstGeom>
          <a:solidFill>
            <a:srgbClr val="009E7A"/>
          </a:solidFill>
          <a:ln/>
        </p:spPr>
        <p:txBody>
          <a:bodyPr/>
          <a:lstStyle/>
          <a:p>
            <a:endParaRPr lang="en-US"/>
          </a:p>
        </p:txBody>
      </p:sp>
      <p:sp>
        <p:nvSpPr>
          <p:cNvPr id="38" name="Text 29"/>
          <p:cNvSpPr/>
          <p:nvPr/>
        </p:nvSpPr>
        <p:spPr>
          <a:xfrm>
            <a:off x="6583680" y="4553712"/>
            <a:ext cx="5029200" cy="256032"/>
          </a:xfrm>
          <a:prstGeom prst="rect">
            <a:avLst/>
          </a:prstGeom>
          <a:noFill/>
          <a:ln/>
        </p:spPr>
        <p:txBody>
          <a:bodyPr wrap="square" rtlCol="0" anchor="ctr"/>
          <a:lstStyle/>
          <a:p>
            <a:pPr marL="0" indent="0">
              <a:buNone/>
            </a:pPr>
            <a:r>
              <a:rPr lang="en-US" sz="1200" b="1" dirty="0">
                <a:solidFill>
                  <a:srgbClr val="FFFFFF"/>
                </a:solidFill>
              </a:rPr>
              <a:t>Exec Scorecards</a:t>
            </a:r>
            <a:endParaRPr lang="en-US" sz="1200" dirty="0"/>
          </a:p>
        </p:txBody>
      </p:sp>
      <p:sp>
        <p:nvSpPr>
          <p:cNvPr id="39" name="Text 30"/>
          <p:cNvSpPr/>
          <p:nvPr/>
        </p:nvSpPr>
        <p:spPr>
          <a:xfrm>
            <a:off x="6583680" y="4782312"/>
            <a:ext cx="5029200" cy="256032"/>
          </a:xfrm>
          <a:prstGeom prst="rect">
            <a:avLst/>
          </a:prstGeom>
          <a:noFill/>
          <a:ln/>
        </p:spPr>
        <p:txBody>
          <a:bodyPr wrap="square" rtlCol="0" anchor="ctr"/>
          <a:lstStyle/>
          <a:p>
            <a:pPr marL="0" indent="0">
              <a:buNone/>
            </a:pPr>
            <a:r>
              <a:rPr lang="en-US" sz="1050" dirty="0">
                <a:solidFill>
                  <a:srgbClr val="717070"/>
                </a:solidFill>
              </a:rPr>
              <a:t>Board-ready KPI dashboards updated automatically</a:t>
            </a:r>
            <a:endParaRPr lang="en-US" sz="1050" dirty="0"/>
          </a:p>
        </p:txBody>
      </p:sp>
      <p:sp>
        <p:nvSpPr>
          <p:cNvPr id="40" name="Shape 31"/>
          <p:cNvSpPr/>
          <p:nvPr/>
        </p:nvSpPr>
        <p:spPr>
          <a:xfrm>
            <a:off x="365760" y="5166360"/>
            <a:ext cx="11475720" cy="914400"/>
          </a:xfrm>
          <a:prstGeom prst="rect">
            <a:avLst/>
          </a:prstGeom>
          <a:solidFill>
            <a:srgbClr val="009E7A"/>
          </a:solidFill>
          <a:ln/>
        </p:spPr>
        <p:txBody>
          <a:bodyPr/>
          <a:lstStyle/>
          <a:p>
            <a:endParaRPr lang="en-US"/>
          </a:p>
        </p:txBody>
      </p:sp>
      <p:pic>
        <p:nvPicPr>
          <p:cNvPr id="41" name="Image 7" descr="preencoded.png"/>
          <p:cNvPicPr>
            <a:picLocks noChangeAspect="1"/>
          </p:cNvPicPr>
          <p:nvPr/>
        </p:nvPicPr>
        <p:blipFill>
          <a:blip r:embed="rId5"/>
          <a:stretch>
            <a:fillRect/>
          </a:stretch>
        </p:blipFill>
        <p:spPr>
          <a:xfrm>
            <a:off x="502920" y="5276088"/>
            <a:ext cx="457200" cy="457200"/>
          </a:xfrm>
          <a:prstGeom prst="rect">
            <a:avLst/>
          </a:prstGeom>
        </p:spPr>
      </p:pic>
      <p:sp>
        <p:nvSpPr>
          <p:cNvPr id="42" name="Text 32"/>
          <p:cNvSpPr/>
          <p:nvPr/>
        </p:nvSpPr>
        <p:spPr>
          <a:xfrm>
            <a:off x="1097280" y="5166360"/>
            <a:ext cx="10515600" cy="914400"/>
          </a:xfrm>
          <a:prstGeom prst="rect">
            <a:avLst/>
          </a:prstGeom>
          <a:noFill/>
          <a:ln/>
        </p:spPr>
        <p:txBody>
          <a:bodyPr wrap="square" rtlCol="0" anchor="ctr"/>
          <a:lstStyle/>
          <a:p>
            <a:pPr marL="0" indent="0">
              <a:buNone/>
            </a:pPr>
            <a:r>
              <a:rPr lang="en-US" sz="1500" b="1" dirty="0">
                <a:solidFill>
                  <a:srgbClr val="06185F"/>
                </a:solidFill>
              </a:rPr>
              <a:t>JHBI turns your JHKnow/ARCU data into action — without hiring a data team or waiting on IT.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EFD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6185F"/>
          </a:solidFill>
          <a:ln/>
        </p:spPr>
        <p:txBody>
          <a:bodyPr/>
          <a:lstStyle/>
          <a:p>
            <a:endParaRPr lang="en-US"/>
          </a:p>
        </p:txBody>
      </p:sp>
      <p:sp>
        <p:nvSpPr>
          <p:cNvPr id="3" name="Shape 1"/>
          <p:cNvSpPr/>
          <p:nvPr/>
        </p:nvSpPr>
        <p:spPr>
          <a:xfrm>
            <a:off x="0" y="1188720"/>
            <a:ext cx="12161520" cy="64008"/>
          </a:xfrm>
          <a:prstGeom prst="rect">
            <a:avLst/>
          </a:prstGeom>
          <a:solidFill>
            <a:srgbClr val="009E7A"/>
          </a:solidFill>
          <a:ln/>
        </p:spPr>
        <p:txBody>
          <a:bodyPr/>
          <a:lstStyle/>
          <a:p>
            <a:endParaRPr lang="en-US"/>
          </a:p>
        </p:txBody>
      </p:sp>
      <p:sp>
        <p:nvSpPr>
          <p:cNvPr id="4" name="Text 2"/>
          <p:cNvSpPr/>
          <p:nvPr/>
        </p:nvSpPr>
        <p:spPr>
          <a:xfrm>
            <a:off x="457200" y="0"/>
            <a:ext cx="9144000" cy="1188720"/>
          </a:xfrm>
          <a:prstGeom prst="rect">
            <a:avLst/>
          </a:prstGeom>
          <a:noFill/>
          <a:ln/>
        </p:spPr>
        <p:txBody>
          <a:bodyPr wrap="square" rtlCol="0" anchor="ctr"/>
          <a:lstStyle/>
          <a:p>
            <a:pPr marL="0" indent="0">
              <a:buNone/>
            </a:pPr>
            <a:r>
              <a:rPr lang="en-US" sz="3200" b="1" dirty="0">
                <a:solidFill>
                  <a:srgbClr val="FFFFFF"/>
                </a:solidFill>
              </a:rPr>
              <a:t>How It All Fits Together</a:t>
            </a:r>
            <a:endParaRPr lang="en-US" sz="3200" dirty="0"/>
          </a:p>
        </p:txBody>
      </p:sp>
      <p:sp>
        <p:nvSpPr>
          <p:cNvPr id="5" name="Text 3"/>
          <p:cNvSpPr/>
          <p:nvPr/>
        </p:nvSpPr>
        <p:spPr>
          <a:xfrm>
            <a:off x="457200" y="594360"/>
            <a:ext cx="9144000" cy="502920"/>
          </a:xfrm>
          <a:prstGeom prst="rect">
            <a:avLst/>
          </a:prstGeom>
          <a:noFill/>
          <a:ln/>
        </p:spPr>
        <p:txBody>
          <a:bodyPr wrap="square" rtlCol="0" anchor="ctr"/>
          <a:lstStyle/>
          <a:p>
            <a:pPr marL="0" indent="0">
              <a:buNone/>
            </a:pPr>
            <a:r>
              <a:rPr lang="en-US" sz="1400" dirty="0">
                <a:solidFill>
                  <a:srgbClr val="009E7A"/>
                </a:solidFill>
              </a:rPr>
              <a:t>One connected data portfolio — from raw core data to executive insight.</a:t>
            </a:r>
            <a:endParaRPr lang="en-US" sz="1400" dirty="0"/>
          </a:p>
        </p:txBody>
      </p:sp>
      <p:sp>
        <p:nvSpPr>
          <p:cNvPr id="6" name="Shape 4"/>
          <p:cNvSpPr/>
          <p:nvPr/>
        </p:nvSpPr>
        <p:spPr>
          <a:xfrm>
            <a:off x="365760" y="1463040"/>
            <a:ext cx="11430000" cy="868680"/>
          </a:xfrm>
          <a:prstGeom prst="rect">
            <a:avLst/>
          </a:prstGeom>
          <a:solidFill>
            <a:srgbClr val="4A6080"/>
          </a:solidFill>
          <a:ln/>
        </p:spPr>
        <p:txBody>
          <a:bodyPr/>
          <a:lstStyle/>
          <a:p>
            <a:endParaRPr lang="en-US"/>
          </a:p>
        </p:txBody>
      </p:sp>
      <p:sp>
        <p:nvSpPr>
          <p:cNvPr id="7" name="Shape 5"/>
          <p:cNvSpPr/>
          <p:nvPr/>
        </p:nvSpPr>
        <p:spPr>
          <a:xfrm>
            <a:off x="365760" y="1463040"/>
            <a:ext cx="2194560" cy="256032"/>
          </a:xfrm>
          <a:prstGeom prst="rect">
            <a:avLst/>
          </a:prstGeom>
          <a:solidFill>
            <a:srgbClr val="06185F"/>
          </a:solidFill>
          <a:ln/>
        </p:spPr>
        <p:txBody>
          <a:bodyPr/>
          <a:lstStyle/>
          <a:p>
            <a:endParaRPr lang="en-US"/>
          </a:p>
        </p:txBody>
      </p:sp>
      <p:sp>
        <p:nvSpPr>
          <p:cNvPr id="8" name="Text 6"/>
          <p:cNvSpPr/>
          <p:nvPr/>
        </p:nvSpPr>
        <p:spPr>
          <a:xfrm>
            <a:off x="365760" y="1463040"/>
            <a:ext cx="2194560" cy="256032"/>
          </a:xfrm>
          <a:prstGeom prst="rect">
            <a:avLst/>
          </a:prstGeom>
          <a:noFill/>
          <a:ln/>
        </p:spPr>
        <p:txBody>
          <a:bodyPr wrap="square" lIns="0" tIns="0" rIns="0" bIns="0" rtlCol="0" anchor="ctr"/>
          <a:lstStyle/>
          <a:p>
            <a:pPr marL="0" indent="0" algn="ctr">
              <a:buNone/>
            </a:pPr>
            <a:r>
              <a:rPr lang="en-US" sz="750" b="1" dirty="0">
                <a:solidFill>
                  <a:srgbClr val="009E7A"/>
                </a:solidFill>
              </a:rPr>
              <a:t>LAYER 1 — SOURCE DATA</a:t>
            </a:r>
            <a:endParaRPr lang="en-US" sz="750" dirty="0"/>
          </a:p>
        </p:txBody>
      </p:sp>
      <p:pic>
        <p:nvPicPr>
          <p:cNvPr id="9" name="Image 0" descr="preencoded.png"/>
          <p:cNvPicPr>
            <a:picLocks noChangeAspect="1"/>
          </p:cNvPicPr>
          <p:nvPr/>
        </p:nvPicPr>
        <p:blipFill>
          <a:blip r:embed="rId3"/>
          <a:stretch>
            <a:fillRect/>
          </a:stretch>
        </p:blipFill>
        <p:spPr>
          <a:xfrm>
            <a:off x="502920" y="1764792"/>
            <a:ext cx="411480" cy="411480"/>
          </a:xfrm>
          <a:prstGeom prst="rect">
            <a:avLst/>
          </a:prstGeom>
        </p:spPr>
      </p:pic>
      <p:sp>
        <p:nvSpPr>
          <p:cNvPr id="10" name="Text 7"/>
          <p:cNvSpPr/>
          <p:nvPr/>
        </p:nvSpPr>
        <p:spPr>
          <a:xfrm>
            <a:off x="1051560" y="1709928"/>
            <a:ext cx="3474720" cy="347472"/>
          </a:xfrm>
          <a:prstGeom prst="rect">
            <a:avLst/>
          </a:prstGeom>
          <a:noFill/>
          <a:ln/>
        </p:spPr>
        <p:txBody>
          <a:bodyPr wrap="square" rtlCol="0" anchor="ctr"/>
          <a:lstStyle/>
          <a:p>
            <a:pPr marL="0" indent="0">
              <a:buNone/>
            </a:pPr>
            <a:r>
              <a:rPr lang="en-US" sz="1400" b="1" dirty="0">
                <a:solidFill>
                  <a:srgbClr val="FFFFFF"/>
                </a:solidFill>
              </a:rPr>
              <a:t>Jack Henry Core Systems</a:t>
            </a:r>
            <a:endParaRPr lang="en-US" sz="1400" dirty="0"/>
          </a:p>
        </p:txBody>
      </p:sp>
      <p:sp>
        <p:nvSpPr>
          <p:cNvPr id="11" name="Text 8"/>
          <p:cNvSpPr/>
          <p:nvPr/>
        </p:nvSpPr>
        <p:spPr>
          <a:xfrm>
            <a:off x="1051560" y="2011680"/>
            <a:ext cx="10424160" cy="274320"/>
          </a:xfrm>
          <a:prstGeom prst="rect">
            <a:avLst/>
          </a:prstGeom>
          <a:noFill/>
          <a:ln/>
        </p:spPr>
        <p:txBody>
          <a:bodyPr wrap="square" rtlCol="0" anchor="ctr"/>
          <a:lstStyle/>
          <a:p>
            <a:pPr marL="0" indent="0">
              <a:buNone/>
            </a:pPr>
            <a:r>
              <a:rPr lang="en-US" sz="1050" dirty="0">
                <a:solidFill>
                  <a:srgbClr val="FFFFFF"/>
                </a:solidFill>
              </a:rPr>
              <a:t>SilverLake  ·  Symitar  ·  Banno Digital  ·  Payments  ·  Wires  ·  Compliance</a:t>
            </a:r>
            <a:endParaRPr lang="en-US" sz="1050" dirty="0"/>
          </a:p>
        </p:txBody>
      </p:sp>
      <p:sp>
        <p:nvSpPr>
          <p:cNvPr id="12" name="Shape 9"/>
          <p:cNvSpPr/>
          <p:nvPr/>
        </p:nvSpPr>
        <p:spPr>
          <a:xfrm>
            <a:off x="5852160" y="2331720"/>
            <a:ext cx="457200" cy="109728"/>
          </a:xfrm>
          <a:prstGeom prst="rect">
            <a:avLst/>
          </a:prstGeom>
          <a:solidFill>
            <a:srgbClr val="009E7A"/>
          </a:solidFill>
          <a:ln/>
        </p:spPr>
        <p:txBody>
          <a:bodyPr/>
          <a:lstStyle/>
          <a:p>
            <a:endParaRPr lang="en-US"/>
          </a:p>
        </p:txBody>
      </p:sp>
      <p:sp>
        <p:nvSpPr>
          <p:cNvPr id="13" name="Shape 10"/>
          <p:cNvSpPr/>
          <p:nvPr/>
        </p:nvSpPr>
        <p:spPr>
          <a:xfrm>
            <a:off x="365760" y="2542032"/>
            <a:ext cx="11430000" cy="868680"/>
          </a:xfrm>
          <a:prstGeom prst="rect">
            <a:avLst/>
          </a:prstGeom>
          <a:solidFill>
            <a:srgbClr val="06185F"/>
          </a:solidFill>
          <a:ln/>
        </p:spPr>
        <p:txBody>
          <a:bodyPr/>
          <a:lstStyle/>
          <a:p>
            <a:endParaRPr lang="en-US"/>
          </a:p>
        </p:txBody>
      </p:sp>
      <p:sp>
        <p:nvSpPr>
          <p:cNvPr id="14" name="Shape 11"/>
          <p:cNvSpPr/>
          <p:nvPr/>
        </p:nvSpPr>
        <p:spPr>
          <a:xfrm>
            <a:off x="365760" y="2542032"/>
            <a:ext cx="2194560" cy="256032"/>
          </a:xfrm>
          <a:prstGeom prst="rect">
            <a:avLst/>
          </a:prstGeom>
          <a:solidFill>
            <a:srgbClr val="06185F"/>
          </a:solidFill>
          <a:ln/>
        </p:spPr>
        <p:txBody>
          <a:bodyPr/>
          <a:lstStyle/>
          <a:p>
            <a:endParaRPr lang="en-US"/>
          </a:p>
        </p:txBody>
      </p:sp>
      <p:sp>
        <p:nvSpPr>
          <p:cNvPr id="15" name="Text 12"/>
          <p:cNvSpPr/>
          <p:nvPr/>
        </p:nvSpPr>
        <p:spPr>
          <a:xfrm>
            <a:off x="365760" y="2542032"/>
            <a:ext cx="2194560" cy="256032"/>
          </a:xfrm>
          <a:prstGeom prst="rect">
            <a:avLst/>
          </a:prstGeom>
          <a:noFill/>
          <a:ln/>
        </p:spPr>
        <p:txBody>
          <a:bodyPr wrap="square" lIns="0" tIns="0" rIns="0" bIns="0" rtlCol="0" anchor="ctr"/>
          <a:lstStyle/>
          <a:p>
            <a:pPr marL="0" indent="0" algn="ctr">
              <a:buNone/>
            </a:pPr>
            <a:r>
              <a:rPr lang="en-US" sz="750" b="1" dirty="0">
                <a:solidFill>
                  <a:srgbClr val="009E7A"/>
                </a:solidFill>
              </a:rPr>
              <a:t>LAYER 2 — DATA DELIVERY</a:t>
            </a:r>
            <a:endParaRPr lang="en-US" sz="750" dirty="0"/>
          </a:p>
        </p:txBody>
      </p:sp>
      <p:pic>
        <p:nvPicPr>
          <p:cNvPr id="16" name="Image 1" descr="preencoded.png"/>
          <p:cNvPicPr>
            <a:picLocks noChangeAspect="1"/>
          </p:cNvPicPr>
          <p:nvPr/>
        </p:nvPicPr>
        <p:blipFill>
          <a:blip r:embed="rId4"/>
          <a:stretch>
            <a:fillRect/>
          </a:stretch>
        </p:blipFill>
        <p:spPr>
          <a:xfrm>
            <a:off x="502920" y="2843784"/>
            <a:ext cx="411480" cy="411480"/>
          </a:xfrm>
          <a:prstGeom prst="rect">
            <a:avLst/>
          </a:prstGeom>
        </p:spPr>
      </p:pic>
      <p:sp>
        <p:nvSpPr>
          <p:cNvPr id="17" name="Text 13"/>
          <p:cNvSpPr/>
          <p:nvPr/>
        </p:nvSpPr>
        <p:spPr>
          <a:xfrm>
            <a:off x="1051560" y="2788920"/>
            <a:ext cx="3474720" cy="347472"/>
          </a:xfrm>
          <a:prstGeom prst="rect">
            <a:avLst/>
          </a:prstGeom>
          <a:noFill/>
          <a:ln/>
        </p:spPr>
        <p:txBody>
          <a:bodyPr wrap="square" rtlCol="0" anchor="ctr"/>
          <a:lstStyle/>
          <a:p>
            <a:pPr marL="0" indent="0">
              <a:buNone/>
            </a:pPr>
            <a:r>
              <a:rPr lang="en-US" sz="1400" b="1" dirty="0">
                <a:solidFill>
                  <a:srgbClr val="FFFFFF"/>
                </a:solidFill>
              </a:rPr>
              <a:t>DataHub</a:t>
            </a:r>
            <a:endParaRPr lang="en-US" sz="1400" dirty="0"/>
          </a:p>
        </p:txBody>
      </p:sp>
      <p:sp>
        <p:nvSpPr>
          <p:cNvPr id="18" name="Text 14"/>
          <p:cNvSpPr/>
          <p:nvPr/>
        </p:nvSpPr>
        <p:spPr>
          <a:xfrm>
            <a:off x="1051560" y="3090672"/>
            <a:ext cx="10424160" cy="274320"/>
          </a:xfrm>
          <a:prstGeom prst="rect">
            <a:avLst/>
          </a:prstGeom>
          <a:noFill/>
          <a:ln/>
        </p:spPr>
        <p:txBody>
          <a:bodyPr wrap="square" rtlCol="0" anchor="ctr"/>
          <a:lstStyle/>
          <a:p>
            <a:pPr marL="0" indent="0">
              <a:buNone/>
            </a:pPr>
            <a:r>
              <a:rPr lang="en-US" sz="1050" dirty="0">
                <a:solidFill>
                  <a:srgbClr val="FFFFFF"/>
                </a:solidFill>
              </a:rPr>
              <a:t>Monthly batch feeds of raw, canonicalized, and dereference data → delivered to your Google BigQuery dataset</a:t>
            </a:r>
            <a:endParaRPr lang="en-US" sz="1050" dirty="0"/>
          </a:p>
        </p:txBody>
      </p:sp>
      <p:sp>
        <p:nvSpPr>
          <p:cNvPr id="19" name="Shape 15"/>
          <p:cNvSpPr/>
          <p:nvPr/>
        </p:nvSpPr>
        <p:spPr>
          <a:xfrm>
            <a:off x="5852160" y="3410712"/>
            <a:ext cx="457200" cy="109728"/>
          </a:xfrm>
          <a:prstGeom prst="rect">
            <a:avLst/>
          </a:prstGeom>
          <a:solidFill>
            <a:srgbClr val="009E7A"/>
          </a:solidFill>
          <a:ln/>
        </p:spPr>
        <p:txBody>
          <a:bodyPr/>
          <a:lstStyle/>
          <a:p>
            <a:endParaRPr lang="en-US"/>
          </a:p>
        </p:txBody>
      </p:sp>
      <p:sp>
        <p:nvSpPr>
          <p:cNvPr id="20" name="Shape 16"/>
          <p:cNvSpPr/>
          <p:nvPr/>
        </p:nvSpPr>
        <p:spPr>
          <a:xfrm>
            <a:off x="365760" y="3621024"/>
            <a:ext cx="11430000" cy="868680"/>
          </a:xfrm>
          <a:prstGeom prst="rect">
            <a:avLst/>
          </a:prstGeom>
          <a:solidFill>
            <a:srgbClr val="0C5C6E"/>
          </a:solidFill>
          <a:ln/>
        </p:spPr>
        <p:txBody>
          <a:bodyPr/>
          <a:lstStyle/>
          <a:p>
            <a:endParaRPr lang="en-US"/>
          </a:p>
        </p:txBody>
      </p:sp>
      <p:sp>
        <p:nvSpPr>
          <p:cNvPr id="21" name="Shape 17"/>
          <p:cNvSpPr/>
          <p:nvPr/>
        </p:nvSpPr>
        <p:spPr>
          <a:xfrm>
            <a:off x="365760" y="3621024"/>
            <a:ext cx="2194560" cy="256032"/>
          </a:xfrm>
          <a:prstGeom prst="rect">
            <a:avLst/>
          </a:prstGeom>
          <a:solidFill>
            <a:srgbClr val="06185F"/>
          </a:solidFill>
          <a:ln/>
        </p:spPr>
        <p:txBody>
          <a:bodyPr/>
          <a:lstStyle/>
          <a:p>
            <a:endParaRPr lang="en-US"/>
          </a:p>
        </p:txBody>
      </p:sp>
      <p:sp>
        <p:nvSpPr>
          <p:cNvPr id="22" name="Text 18"/>
          <p:cNvSpPr/>
          <p:nvPr/>
        </p:nvSpPr>
        <p:spPr>
          <a:xfrm>
            <a:off x="365760" y="3621024"/>
            <a:ext cx="2194560" cy="256032"/>
          </a:xfrm>
          <a:prstGeom prst="rect">
            <a:avLst/>
          </a:prstGeom>
          <a:noFill/>
          <a:ln/>
        </p:spPr>
        <p:txBody>
          <a:bodyPr wrap="square" lIns="0" tIns="0" rIns="0" bIns="0" rtlCol="0" anchor="ctr"/>
          <a:lstStyle/>
          <a:p>
            <a:pPr marL="0" indent="0" algn="ctr">
              <a:buNone/>
            </a:pPr>
            <a:r>
              <a:rPr lang="en-US" sz="750" b="1" dirty="0">
                <a:solidFill>
                  <a:srgbClr val="009E7A"/>
                </a:solidFill>
              </a:rPr>
              <a:t>LAYER 3 — ANALYTICS WAREHOUSE</a:t>
            </a:r>
            <a:endParaRPr lang="en-US" sz="750" dirty="0"/>
          </a:p>
        </p:txBody>
      </p:sp>
      <p:pic>
        <p:nvPicPr>
          <p:cNvPr id="23" name="Image 2" descr="preencoded.png"/>
          <p:cNvPicPr>
            <a:picLocks noChangeAspect="1"/>
          </p:cNvPicPr>
          <p:nvPr/>
        </p:nvPicPr>
        <p:blipFill>
          <a:blip r:embed="rId5"/>
          <a:stretch>
            <a:fillRect/>
          </a:stretch>
        </p:blipFill>
        <p:spPr>
          <a:xfrm>
            <a:off x="502920" y="3922776"/>
            <a:ext cx="411480" cy="411480"/>
          </a:xfrm>
          <a:prstGeom prst="rect">
            <a:avLst/>
          </a:prstGeom>
        </p:spPr>
      </p:pic>
      <p:sp>
        <p:nvSpPr>
          <p:cNvPr id="24" name="Text 19"/>
          <p:cNvSpPr/>
          <p:nvPr/>
        </p:nvSpPr>
        <p:spPr>
          <a:xfrm>
            <a:off x="1051560" y="3867912"/>
            <a:ext cx="3474720" cy="347472"/>
          </a:xfrm>
          <a:prstGeom prst="rect">
            <a:avLst/>
          </a:prstGeom>
          <a:noFill/>
          <a:ln/>
        </p:spPr>
        <p:txBody>
          <a:bodyPr wrap="square" rtlCol="0" anchor="ctr"/>
          <a:lstStyle/>
          <a:p>
            <a:pPr marL="0" indent="0">
              <a:buNone/>
            </a:pPr>
            <a:r>
              <a:rPr lang="en-US" sz="1400" b="1" dirty="0">
                <a:solidFill>
                  <a:srgbClr val="FFFFFF"/>
                </a:solidFill>
              </a:rPr>
              <a:t>JHKnow (Banks) &amp; ARCU (Credit Unions)</a:t>
            </a:r>
            <a:endParaRPr lang="en-US" sz="1400" dirty="0"/>
          </a:p>
        </p:txBody>
      </p:sp>
      <p:sp>
        <p:nvSpPr>
          <p:cNvPr id="25" name="Text 20"/>
          <p:cNvSpPr/>
          <p:nvPr/>
        </p:nvSpPr>
        <p:spPr>
          <a:xfrm>
            <a:off x="1051560" y="4169664"/>
            <a:ext cx="10424160" cy="274320"/>
          </a:xfrm>
          <a:prstGeom prst="rect">
            <a:avLst/>
          </a:prstGeom>
          <a:noFill/>
          <a:ln/>
        </p:spPr>
        <p:txBody>
          <a:bodyPr wrap="square" rtlCol="0" anchor="ctr"/>
          <a:lstStyle/>
          <a:p>
            <a:pPr marL="0" indent="0">
              <a:buNone/>
            </a:pPr>
            <a:r>
              <a:rPr lang="en-US" sz="1050" dirty="0">
                <a:solidFill>
                  <a:srgbClr val="FFFFFF"/>
                </a:solidFill>
              </a:rPr>
              <a:t>Pre-modeled data warehouse: accounts, transactions, customers, channels — structured and ready to query</a:t>
            </a:r>
            <a:endParaRPr lang="en-US" sz="1050" dirty="0"/>
          </a:p>
        </p:txBody>
      </p:sp>
      <p:sp>
        <p:nvSpPr>
          <p:cNvPr id="26" name="Shape 21"/>
          <p:cNvSpPr/>
          <p:nvPr/>
        </p:nvSpPr>
        <p:spPr>
          <a:xfrm>
            <a:off x="5852160" y="4489704"/>
            <a:ext cx="457200" cy="109728"/>
          </a:xfrm>
          <a:prstGeom prst="rect">
            <a:avLst/>
          </a:prstGeom>
          <a:solidFill>
            <a:srgbClr val="009E7A"/>
          </a:solidFill>
          <a:ln/>
        </p:spPr>
        <p:txBody>
          <a:bodyPr/>
          <a:lstStyle/>
          <a:p>
            <a:endParaRPr lang="en-US"/>
          </a:p>
        </p:txBody>
      </p:sp>
      <p:sp>
        <p:nvSpPr>
          <p:cNvPr id="27" name="Shape 22"/>
          <p:cNvSpPr/>
          <p:nvPr/>
        </p:nvSpPr>
        <p:spPr>
          <a:xfrm>
            <a:off x="365760" y="4700016"/>
            <a:ext cx="11430000" cy="868680"/>
          </a:xfrm>
          <a:prstGeom prst="rect">
            <a:avLst/>
          </a:prstGeom>
          <a:solidFill>
            <a:srgbClr val="009E7A"/>
          </a:solidFill>
          <a:ln/>
        </p:spPr>
        <p:txBody>
          <a:bodyPr/>
          <a:lstStyle/>
          <a:p>
            <a:endParaRPr lang="en-US"/>
          </a:p>
        </p:txBody>
      </p:sp>
      <p:sp>
        <p:nvSpPr>
          <p:cNvPr id="28" name="Shape 23"/>
          <p:cNvSpPr/>
          <p:nvPr/>
        </p:nvSpPr>
        <p:spPr>
          <a:xfrm>
            <a:off x="365760" y="4700016"/>
            <a:ext cx="2194560" cy="256032"/>
          </a:xfrm>
          <a:prstGeom prst="rect">
            <a:avLst/>
          </a:prstGeom>
          <a:solidFill>
            <a:srgbClr val="06185F"/>
          </a:solidFill>
          <a:ln/>
        </p:spPr>
        <p:txBody>
          <a:bodyPr/>
          <a:lstStyle/>
          <a:p>
            <a:endParaRPr lang="en-US"/>
          </a:p>
        </p:txBody>
      </p:sp>
      <p:sp>
        <p:nvSpPr>
          <p:cNvPr id="29" name="Text 24"/>
          <p:cNvSpPr/>
          <p:nvPr/>
        </p:nvSpPr>
        <p:spPr>
          <a:xfrm>
            <a:off x="365760" y="4700016"/>
            <a:ext cx="2194560" cy="256032"/>
          </a:xfrm>
          <a:prstGeom prst="rect">
            <a:avLst/>
          </a:prstGeom>
          <a:noFill/>
          <a:ln/>
        </p:spPr>
        <p:txBody>
          <a:bodyPr wrap="square" lIns="0" tIns="0" rIns="0" bIns="0" rtlCol="0" anchor="ctr"/>
          <a:lstStyle/>
          <a:p>
            <a:pPr marL="0" indent="0" algn="ctr">
              <a:buNone/>
            </a:pPr>
            <a:r>
              <a:rPr lang="en-US" sz="750" b="1" dirty="0">
                <a:solidFill>
                  <a:srgbClr val="009E7A"/>
                </a:solidFill>
              </a:rPr>
              <a:t>LAYER 4 — BUSINESS INTELLIGENCE</a:t>
            </a:r>
            <a:endParaRPr lang="en-US" sz="750" dirty="0"/>
          </a:p>
        </p:txBody>
      </p:sp>
      <p:pic>
        <p:nvPicPr>
          <p:cNvPr id="30" name="Image 3" descr="preencoded.png"/>
          <p:cNvPicPr>
            <a:picLocks noChangeAspect="1"/>
          </p:cNvPicPr>
          <p:nvPr/>
        </p:nvPicPr>
        <p:blipFill>
          <a:blip r:embed="rId6"/>
          <a:stretch>
            <a:fillRect/>
          </a:stretch>
        </p:blipFill>
        <p:spPr>
          <a:xfrm>
            <a:off x="502920" y="5001768"/>
            <a:ext cx="411480" cy="411480"/>
          </a:xfrm>
          <a:prstGeom prst="rect">
            <a:avLst/>
          </a:prstGeom>
        </p:spPr>
      </p:pic>
      <p:sp>
        <p:nvSpPr>
          <p:cNvPr id="31" name="Text 25"/>
          <p:cNvSpPr/>
          <p:nvPr/>
        </p:nvSpPr>
        <p:spPr>
          <a:xfrm>
            <a:off x="1051560" y="4946904"/>
            <a:ext cx="3474720" cy="347472"/>
          </a:xfrm>
          <a:prstGeom prst="rect">
            <a:avLst/>
          </a:prstGeom>
          <a:noFill/>
          <a:ln/>
        </p:spPr>
        <p:txBody>
          <a:bodyPr wrap="square" rtlCol="0" anchor="ctr"/>
          <a:lstStyle/>
          <a:p>
            <a:pPr marL="0" indent="0">
              <a:buNone/>
            </a:pPr>
            <a:r>
              <a:rPr lang="en-US" sz="1400" b="1" dirty="0">
                <a:solidFill>
                  <a:srgbClr val="FFFFFF"/>
                </a:solidFill>
              </a:rPr>
              <a:t>JHBI  ✦ New</a:t>
            </a:r>
            <a:endParaRPr lang="en-US" sz="1400" dirty="0"/>
          </a:p>
        </p:txBody>
      </p:sp>
      <p:sp>
        <p:nvSpPr>
          <p:cNvPr id="32" name="Text 26"/>
          <p:cNvSpPr/>
          <p:nvPr/>
        </p:nvSpPr>
        <p:spPr>
          <a:xfrm>
            <a:off x="1051560" y="5248656"/>
            <a:ext cx="10424160" cy="274320"/>
          </a:xfrm>
          <a:prstGeom prst="rect">
            <a:avLst/>
          </a:prstGeom>
          <a:noFill/>
          <a:ln/>
        </p:spPr>
        <p:txBody>
          <a:bodyPr wrap="square" rtlCol="0" anchor="ctr"/>
          <a:lstStyle/>
          <a:p>
            <a:pPr marL="0" indent="0">
              <a:buNone/>
            </a:pPr>
            <a:r>
              <a:rPr lang="en-US" sz="1050" dirty="0">
                <a:solidFill>
                  <a:srgbClr val="FFFFFF"/>
                </a:solidFill>
              </a:rPr>
              <a:t>Self-service dashboards, executive scorecards, ad-hoc reports — no SQL, no data team, no wait</a:t>
            </a:r>
            <a:endParaRPr lang="en-US" sz="1050" dirty="0"/>
          </a:p>
        </p:txBody>
      </p:sp>
      <p:sp>
        <p:nvSpPr>
          <p:cNvPr id="33" name="Shape 27"/>
          <p:cNvSpPr/>
          <p:nvPr/>
        </p:nvSpPr>
        <p:spPr>
          <a:xfrm>
            <a:off x="8869680" y="1463040"/>
            <a:ext cx="2926080" cy="4105656"/>
          </a:xfrm>
          <a:prstGeom prst="rect">
            <a:avLst/>
          </a:prstGeom>
          <a:solidFill>
            <a:srgbClr val="06185F"/>
          </a:solidFill>
          <a:ln/>
        </p:spPr>
        <p:txBody>
          <a:bodyPr/>
          <a:lstStyle/>
          <a:p>
            <a:endParaRPr lang="en-US"/>
          </a:p>
        </p:txBody>
      </p:sp>
      <p:sp>
        <p:nvSpPr>
          <p:cNvPr id="34" name="Text 28"/>
          <p:cNvSpPr/>
          <p:nvPr/>
        </p:nvSpPr>
        <p:spPr>
          <a:xfrm>
            <a:off x="8869680" y="1828800"/>
            <a:ext cx="2926080" cy="822960"/>
          </a:xfrm>
          <a:prstGeom prst="rect">
            <a:avLst/>
          </a:prstGeom>
          <a:noFill/>
          <a:ln/>
        </p:spPr>
        <p:txBody>
          <a:bodyPr wrap="square" rtlCol="0" anchor="ctr"/>
          <a:lstStyle/>
          <a:p>
            <a:pPr marL="0" indent="0" algn="ctr">
              <a:buNone/>
            </a:pPr>
            <a:r>
              <a:rPr lang="en-US" sz="2200" b="1" dirty="0">
                <a:solidFill>
                  <a:srgbClr val="009E7A"/>
                </a:solidFill>
              </a:rPr>
              <a:t>THE</a:t>
            </a:r>
            <a:endParaRPr lang="en-US" sz="2200" dirty="0"/>
          </a:p>
          <a:p>
            <a:pPr marL="0" indent="0" algn="ctr">
              <a:buNone/>
            </a:pPr>
            <a:r>
              <a:rPr lang="en-US" sz="2200" b="1" dirty="0">
                <a:solidFill>
                  <a:srgbClr val="009E7A"/>
                </a:solidFill>
              </a:rPr>
              <a:t>OUTCOME</a:t>
            </a:r>
            <a:endParaRPr lang="en-US" sz="2200" dirty="0"/>
          </a:p>
        </p:txBody>
      </p:sp>
      <p:pic>
        <p:nvPicPr>
          <p:cNvPr id="35" name="Image 4" descr="preencoded.png"/>
          <p:cNvPicPr>
            <a:picLocks noChangeAspect="1"/>
          </p:cNvPicPr>
          <p:nvPr/>
        </p:nvPicPr>
        <p:blipFill>
          <a:blip r:embed="rId7"/>
          <a:stretch>
            <a:fillRect/>
          </a:stretch>
        </p:blipFill>
        <p:spPr>
          <a:xfrm>
            <a:off x="9098280" y="2788920"/>
            <a:ext cx="274320" cy="274320"/>
          </a:xfrm>
          <a:prstGeom prst="rect">
            <a:avLst/>
          </a:prstGeom>
        </p:spPr>
      </p:pic>
      <p:sp>
        <p:nvSpPr>
          <p:cNvPr id="36" name="Text 29"/>
          <p:cNvSpPr/>
          <p:nvPr/>
        </p:nvSpPr>
        <p:spPr>
          <a:xfrm>
            <a:off x="9464040" y="2761488"/>
            <a:ext cx="2194560" cy="347472"/>
          </a:xfrm>
          <a:prstGeom prst="rect">
            <a:avLst/>
          </a:prstGeom>
          <a:noFill/>
          <a:ln/>
        </p:spPr>
        <p:txBody>
          <a:bodyPr wrap="square" rtlCol="0" anchor="ctr"/>
          <a:lstStyle/>
          <a:p>
            <a:pPr marL="0" indent="0">
              <a:buNone/>
            </a:pPr>
            <a:r>
              <a:rPr lang="en-US" sz="1200" dirty="0">
                <a:solidFill>
                  <a:srgbClr val="FFFFFF"/>
                </a:solidFill>
              </a:rPr>
              <a:t>Faster decisions</a:t>
            </a:r>
            <a:endParaRPr lang="en-US" sz="1200" dirty="0"/>
          </a:p>
        </p:txBody>
      </p:sp>
      <p:pic>
        <p:nvPicPr>
          <p:cNvPr id="37" name="Image 5" descr="preencoded.png"/>
          <p:cNvPicPr>
            <a:picLocks noChangeAspect="1"/>
          </p:cNvPicPr>
          <p:nvPr/>
        </p:nvPicPr>
        <p:blipFill>
          <a:blip r:embed="rId7"/>
          <a:stretch>
            <a:fillRect/>
          </a:stretch>
        </p:blipFill>
        <p:spPr>
          <a:xfrm>
            <a:off x="9098280" y="3291840"/>
            <a:ext cx="274320" cy="274320"/>
          </a:xfrm>
          <a:prstGeom prst="rect">
            <a:avLst/>
          </a:prstGeom>
        </p:spPr>
      </p:pic>
      <p:sp>
        <p:nvSpPr>
          <p:cNvPr id="38" name="Text 30"/>
          <p:cNvSpPr/>
          <p:nvPr/>
        </p:nvSpPr>
        <p:spPr>
          <a:xfrm>
            <a:off x="9464040" y="3264408"/>
            <a:ext cx="2194560" cy="347472"/>
          </a:xfrm>
          <a:prstGeom prst="rect">
            <a:avLst/>
          </a:prstGeom>
          <a:noFill/>
          <a:ln/>
        </p:spPr>
        <p:txBody>
          <a:bodyPr wrap="square" rtlCol="0" anchor="ctr"/>
          <a:lstStyle/>
          <a:p>
            <a:pPr marL="0" indent="0">
              <a:buNone/>
            </a:pPr>
            <a:r>
              <a:rPr lang="en-US" sz="1200" dirty="0">
                <a:solidFill>
                  <a:srgbClr val="FFFFFF"/>
                </a:solidFill>
              </a:rPr>
              <a:t>Lower reporting costs</a:t>
            </a:r>
            <a:endParaRPr lang="en-US" sz="1200" dirty="0"/>
          </a:p>
        </p:txBody>
      </p:sp>
      <p:pic>
        <p:nvPicPr>
          <p:cNvPr id="39" name="Image 6" descr="preencoded.png"/>
          <p:cNvPicPr>
            <a:picLocks noChangeAspect="1"/>
          </p:cNvPicPr>
          <p:nvPr/>
        </p:nvPicPr>
        <p:blipFill>
          <a:blip r:embed="rId7"/>
          <a:stretch>
            <a:fillRect/>
          </a:stretch>
        </p:blipFill>
        <p:spPr>
          <a:xfrm>
            <a:off x="9098280" y="3794760"/>
            <a:ext cx="274320" cy="274320"/>
          </a:xfrm>
          <a:prstGeom prst="rect">
            <a:avLst/>
          </a:prstGeom>
        </p:spPr>
      </p:pic>
      <p:sp>
        <p:nvSpPr>
          <p:cNvPr id="40" name="Text 31"/>
          <p:cNvSpPr/>
          <p:nvPr/>
        </p:nvSpPr>
        <p:spPr>
          <a:xfrm>
            <a:off x="9464040" y="3767328"/>
            <a:ext cx="2194560" cy="347472"/>
          </a:xfrm>
          <a:prstGeom prst="rect">
            <a:avLst/>
          </a:prstGeom>
          <a:noFill/>
          <a:ln/>
        </p:spPr>
        <p:txBody>
          <a:bodyPr wrap="square" rtlCol="0" anchor="ctr"/>
          <a:lstStyle/>
          <a:p>
            <a:pPr marL="0" indent="0">
              <a:buNone/>
            </a:pPr>
            <a:r>
              <a:rPr lang="en-US" sz="1200" dirty="0">
                <a:solidFill>
                  <a:srgbClr val="FFFFFF"/>
                </a:solidFill>
              </a:rPr>
              <a:t>No data lake build</a:t>
            </a:r>
            <a:endParaRPr lang="en-US" sz="1200" dirty="0"/>
          </a:p>
        </p:txBody>
      </p:sp>
      <p:pic>
        <p:nvPicPr>
          <p:cNvPr id="41" name="Image 7" descr="preencoded.png"/>
          <p:cNvPicPr>
            <a:picLocks noChangeAspect="1"/>
          </p:cNvPicPr>
          <p:nvPr/>
        </p:nvPicPr>
        <p:blipFill>
          <a:blip r:embed="rId7"/>
          <a:stretch>
            <a:fillRect/>
          </a:stretch>
        </p:blipFill>
        <p:spPr>
          <a:xfrm>
            <a:off x="9098280" y="4297680"/>
            <a:ext cx="274320" cy="274320"/>
          </a:xfrm>
          <a:prstGeom prst="rect">
            <a:avLst/>
          </a:prstGeom>
        </p:spPr>
      </p:pic>
      <p:sp>
        <p:nvSpPr>
          <p:cNvPr id="42" name="Text 32"/>
          <p:cNvSpPr/>
          <p:nvPr/>
        </p:nvSpPr>
        <p:spPr>
          <a:xfrm>
            <a:off x="9464040" y="4270248"/>
            <a:ext cx="2194560" cy="347472"/>
          </a:xfrm>
          <a:prstGeom prst="rect">
            <a:avLst/>
          </a:prstGeom>
          <a:noFill/>
          <a:ln/>
        </p:spPr>
        <p:txBody>
          <a:bodyPr wrap="square" rtlCol="0" anchor="ctr"/>
          <a:lstStyle/>
          <a:p>
            <a:pPr marL="0" indent="0">
              <a:buNone/>
            </a:pPr>
            <a:r>
              <a:rPr lang="en-US" sz="1200" dirty="0">
                <a:solidFill>
                  <a:srgbClr val="FFFFFF"/>
                </a:solidFill>
              </a:rPr>
              <a:t>Data-driven products</a:t>
            </a:r>
            <a:endParaRPr lang="en-US" sz="1200" dirty="0"/>
          </a:p>
        </p:txBody>
      </p:sp>
      <p:pic>
        <p:nvPicPr>
          <p:cNvPr id="43" name="Image 8" descr="preencoded.png"/>
          <p:cNvPicPr>
            <a:picLocks noChangeAspect="1"/>
          </p:cNvPicPr>
          <p:nvPr/>
        </p:nvPicPr>
        <p:blipFill>
          <a:blip r:embed="rId7"/>
          <a:stretch>
            <a:fillRect/>
          </a:stretch>
        </p:blipFill>
        <p:spPr>
          <a:xfrm>
            <a:off x="9098280" y="4800600"/>
            <a:ext cx="274320" cy="274320"/>
          </a:xfrm>
          <a:prstGeom prst="rect">
            <a:avLst/>
          </a:prstGeom>
        </p:spPr>
      </p:pic>
      <p:sp>
        <p:nvSpPr>
          <p:cNvPr id="44" name="Text 33"/>
          <p:cNvSpPr/>
          <p:nvPr/>
        </p:nvSpPr>
        <p:spPr>
          <a:xfrm>
            <a:off x="9464040" y="4773168"/>
            <a:ext cx="2194560" cy="347472"/>
          </a:xfrm>
          <a:prstGeom prst="rect">
            <a:avLst/>
          </a:prstGeom>
          <a:noFill/>
          <a:ln/>
        </p:spPr>
        <p:txBody>
          <a:bodyPr wrap="square" rtlCol="0" anchor="ctr"/>
          <a:lstStyle/>
          <a:p>
            <a:pPr marL="0" indent="0">
              <a:buNone/>
            </a:pPr>
            <a:r>
              <a:rPr lang="en-US" sz="1200" dirty="0">
                <a:solidFill>
                  <a:srgbClr val="FFFFFF"/>
                </a:solidFill>
              </a:rPr>
              <a:t>Regulatory confidence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EFD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6185F"/>
          </a:solidFill>
          <a:ln/>
        </p:spPr>
        <p:txBody>
          <a:bodyPr/>
          <a:lstStyle/>
          <a:p>
            <a:endParaRPr lang="en-US"/>
          </a:p>
        </p:txBody>
      </p:sp>
      <p:sp>
        <p:nvSpPr>
          <p:cNvPr id="3" name="Shape 1"/>
          <p:cNvSpPr/>
          <p:nvPr/>
        </p:nvSpPr>
        <p:spPr>
          <a:xfrm>
            <a:off x="0" y="1188720"/>
            <a:ext cx="12161520" cy="64008"/>
          </a:xfrm>
          <a:prstGeom prst="rect">
            <a:avLst/>
          </a:prstGeom>
          <a:solidFill>
            <a:srgbClr val="009E7A"/>
          </a:solidFill>
          <a:ln/>
        </p:spPr>
        <p:txBody>
          <a:bodyPr/>
          <a:lstStyle/>
          <a:p>
            <a:endParaRPr lang="en-US"/>
          </a:p>
        </p:txBody>
      </p:sp>
      <p:sp>
        <p:nvSpPr>
          <p:cNvPr id="4" name="Text 2"/>
          <p:cNvSpPr/>
          <p:nvPr/>
        </p:nvSpPr>
        <p:spPr>
          <a:xfrm>
            <a:off x="457200" y="0"/>
            <a:ext cx="9144000" cy="1188720"/>
          </a:xfrm>
          <a:prstGeom prst="rect">
            <a:avLst/>
          </a:prstGeom>
          <a:noFill/>
          <a:ln/>
        </p:spPr>
        <p:txBody>
          <a:bodyPr wrap="square" rtlCol="0" anchor="ctr"/>
          <a:lstStyle/>
          <a:p>
            <a:pPr marL="0" indent="0">
              <a:buNone/>
            </a:pPr>
            <a:r>
              <a:rPr lang="en-US" sz="3200" b="1" dirty="0">
                <a:solidFill>
                  <a:srgbClr val="FFFFFF"/>
                </a:solidFill>
              </a:rPr>
              <a:t>Which Product Is Right for You?</a:t>
            </a:r>
            <a:endParaRPr lang="en-US" sz="3200" dirty="0"/>
          </a:p>
        </p:txBody>
      </p:sp>
      <p:sp>
        <p:nvSpPr>
          <p:cNvPr id="5" name="Shape 3"/>
          <p:cNvSpPr/>
          <p:nvPr/>
        </p:nvSpPr>
        <p:spPr>
          <a:xfrm>
            <a:off x="320040" y="1463040"/>
            <a:ext cx="2560320" cy="493776"/>
          </a:xfrm>
          <a:prstGeom prst="rect">
            <a:avLst/>
          </a:prstGeom>
          <a:solidFill>
            <a:srgbClr val="06185F"/>
          </a:solidFill>
          <a:ln w="12700">
            <a:solidFill>
              <a:srgbClr val="D0D8E4"/>
            </a:solidFill>
            <a:prstDash val="solid"/>
          </a:ln>
        </p:spPr>
        <p:txBody>
          <a:bodyPr/>
          <a:lstStyle/>
          <a:p>
            <a:endParaRPr lang="en-US"/>
          </a:p>
        </p:txBody>
      </p:sp>
      <p:sp>
        <p:nvSpPr>
          <p:cNvPr id="6" name="Text 4"/>
          <p:cNvSpPr/>
          <p:nvPr/>
        </p:nvSpPr>
        <p:spPr>
          <a:xfrm>
            <a:off x="429768" y="1463040"/>
            <a:ext cx="2377440" cy="493776"/>
          </a:xfrm>
          <a:prstGeom prst="rect">
            <a:avLst/>
          </a:prstGeom>
          <a:noFill/>
          <a:ln/>
        </p:spPr>
        <p:txBody>
          <a:bodyPr wrap="square" rtlCol="0" anchor="ctr"/>
          <a:lstStyle/>
          <a:p>
            <a:pPr marL="0" indent="0">
              <a:buNone/>
            </a:pPr>
            <a:endParaRPr lang="en-US" sz="1300" dirty="0"/>
          </a:p>
        </p:txBody>
      </p:sp>
      <p:sp>
        <p:nvSpPr>
          <p:cNvPr id="7" name="Shape 5"/>
          <p:cNvSpPr/>
          <p:nvPr/>
        </p:nvSpPr>
        <p:spPr>
          <a:xfrm>
            <a:off x="2880360" y="1463040"/>
            <a:ext cx="2743200" cy="493776"/>
          </a:xfrm>
          <a:prstGeom prst="rect">
            <a:avLst/>
          </a:prstGeom>
          <a:solidFill>
            <a:srgbClr val="06185F"/>
          </a:solidFill>
          <a:ln w="12700">
            <a:solidFill>
              <a:srgbClr val="D0D8E4"/>
            </a:solidFill>
            <a:prstDash val="solid"/>
          </a:ln>
        </p:spPr>
        <p:txBody>
          <a:bodyPr/>
          <a:lstStyle/>
          <a:p>
            <a:endParaRPr lang="en-US"/>
          </a:p>
        </p:txBody>
      </p:sp>
      <p:sp>
        <p:nvSpPr>
          <p:cNvPr id="8" name="Text 6"/>
          <p:cNvSpPr/>
          <p:nvPr/>
        </p:nvSpPr>
        <p:spPr>
          <a:xfrm>
            <a:off x="2990088" y="1463040"/>
            <a:ext cx="2560320" cy="493776"/>
          </a:xfrm>
          <a:prstGeom prst="rect">
            <a:avLst/>
          </a:prstGeom>
          <a:noFill/>
          <a:ln/>
        </p:spPr>
        <p:txBody>
          <a:bodyPr wrap="square" rtlCol="0" anchor="ctr"/>
          <a:lstStyle/>
          <a:p>
            <a:pPr marL="0" indent="0">
              <a:buNone/>
            </a:pPr>
            <a:r>
              <a:rPr lang="en-US" sz="1300" b="1" dirty="0">
                <a:solidFill>
                  <a:srgbClr val="FFFFFF"/>
                </a:solidFill>
              </a:rPr>
              <a:t>DataHub</a:t>
            </a:r>
            <a:endParaRPr lang="en-US" sz="1300" dirty="0"/>
          </a:p>
        </p:txBody>
      </p:sp>
      <p:sp>
        <p:nvSpPr>
          <p:cNvPr id="9" name="Shape 7"/>
          <p:cNvSpPr/>
          <p:nvPr/>
        </p:nvSpPr>
        <p:spPr>
          <a:xfrm>
            <a:off x="5623560" y="1463040"/>
            <a:ext cx="3017520" cy="493776"/>
          </a:xfrm>
          <a:prstGeom prst="rect">
            <a:avLst/>
          </a:prstGeom>
          <a:solidFill>
            <a:srgbClr val="06185F"/>
          </a:solidFill>
          <a:ln w="12700">
            <a:solidFill>
              <a:srgbClr val="D0D8E4"/>
            </a:solidFill>
            <a:prstDash val="solid"/>
          </a:ln>
        </p:spPr>
        <p:txBody>
          <a:bodyPr/>
          <a:lstStyle/>
          <a:p>
            <a:endParaRPr lang="en-US"/>
          </a:p>
        </p:txBody>
      </p:sp>
      <p:sp>
        <p:nvSpPr>
          <p:cNvPr id="10" name="Text 8"/>
          <p:cNvSpPr/>
          <p:nvPr/>
        </p:nvSpPr>
        <p:spPr>
          <a:xfrm>
            <a:off x="5733288" y="1463040"/>
            <a:ext cx="2834640" cy="493776"/>
          </a:xfrm>
          <a:prstGeom prst="rect">
            <a:avLst/>
          </a:prstGeom>
          <a:noFill/>
          <a:ln/>
        </p:spPr>
        <p:txBody>
          <a:bodyPr wrap="square" rtlCol="0" anchor="ctr"/>
          <a:lstStyle/>
          <a:p>
            <a:pPr marL="0" indent="0">
              <a:buNone/>
            </a:pPr>
            <a:r>
              <a:rPr lang="en-US" sz="1300" b="1" dirty="0">
                <a:solidFill>
                  <a:srgbClr val="FFFFFF"/>
                </a:solidFill>
              </a:rPr>
              <a:t>JHKnow / ARCU</a:t>
            </a:r>
            <a:endParaRPr lang="en-US" sz="1300" dirty="0"/>
          </a:p>
        </p:txBody>
      </p:sp>
      <p:sp>
        <p:nvSpPr>
          <p:cNvPr id="11" name="Shape 9"/>
          <p:cNvSpPr/>
          <p:nvPr/>
        </p:nvSpPr>
        <p:spPr>
          <a:xfrm>
            <a:off x="8641080" y="1463040"/>
            <a:ext cx="3017520" cy="493776"/>
          </a:xfrm>
          <a:prstGeom prst="rect">
            <a:avLst/>
          </a:prstGeom>
          <a:solidFill>
            <a:srgbClr val="009E7A"/>
          </a:solidFill>
          <a:ln w="12700">
            <a:solidFill>
              <a:srgbClr val="D0D8E4"/>
            </a:solidFill>
            <a:prstDash val="solid"/>
          </a:ln>
        </p:spPr>
        <p:txBody>
          <a:bodyPr/>
          <a:lstStyle/>
          <a:p>
            <a:endParaRPr lang="en-US"/>
          </a:p>
        </p:txBody>
      </p:sp>
      <p:sp>
        <p:nvSpPr>
          <p:cNvPr id="12" name="Text 10"/>
          <p:cNvSpPr/>
          <p:nvPr/>
        </p:nvSpPr>
        <p:spPr>
          <a:xfrm>
            <a:off x="8750808" y="1463040"/>
            <a:ext cx="2834640" cy="493776"/>
          </a:xfrm>
          <a:prstGeom prst="rect">
            <a:avLst/>
          </a:prstGeom>
          <a:noFill/>
          <a:ln/>
        </p:spPr>
        <p:txBody>
          <a:bodyPr wrap="square" rtlCol="0" anchor="ctr"/>
          <a:lstStyle/>
          <a:p>
            <a:pPr marL="0" indent="0">
              <a:buNone/>
            </a:pPr>
            <a:r>
              <a:rPr lang="en-US" sz="1300" b="1" dirty="0">
                <a:solidFill>
                  <a:srgbClr val="FFFFFF"/>
                </a:solidFill>
              </a:rPr>
              <a:t>JHBI</a:t>
            </a:r>
            <a:endParaRPr lang="en-US" sz="1300" dirty="0"/>
          </a:p>
        </p:txBody>
      </p:sp>
      <p:sp>
        <p:nvSpPr>
          <p:cNvPr id="13" name="Shape 11"/>
          <p:cNvSpPr/>
          <p:nvPr/>
        </p:nvSpPr>
        <p:spPr>
          <a:xfrm>
            <a:off x="320040" y="1956816"/>
            <a:ext cx="2560320" cy="493776"/>
          </a:xfrm>
          <a:prstGeom prst="rect">
            <a:avLst/>
          </a:prstGeom>
          <a:solidFill>
            <a:srgbClr val="E8ECF1"/>
          </a:solidFill>
          <a:ln w="12700">
            <a:solidFill>
              <a:srgbClr val="D0D8E4"/>
            </a:solidFill>
            <a:prstDash val="solid"/>
          </a:ln>
        </p:spPr>
        <p:txBody>
          <a:bodyPr/>
          <a:lstStyle/>
          <a:p>
            <a:endParaRPr lang="en-US"/>
          </a:p>
        </p:txBody>
      </p:sp>
      <p:sp>
        <p:nvSpPr>
          <p:cNvPr id="14" name="Text 12"/>
          <p:cNvSpPr/>
          <p:nvPr/>
        </p:nvSpPr>
        <p:spPr>
          <a:xfrm>
            <a:off x="429768" y="1956816"/>
            <a:ext cx="2377440" cy="493776"/>
          </a:xfrm>
          <a:prstGeom prst="rect">
            <a:avLst/>
          </a:prstGeom>
          <a:noFill/>
          <a:ln/>
        </p:spPr>
        <p:txBody>
          <a:bodyPr wrap="square" rtlCol="0" anchor="ctr"/>
          <a:lstStyle/>
          <a:p>
            <a:pPr marL="0" indent="0">
              <a:buNone/>
            </a:pPr>
            <a:r>
              <a:rPr lang="en-US" sz="1150" b="1" dirty="0">
                <a:solidFill>
                  <a:srgbClr val="06185F"/>
                </a:solidFill>
              </a:rPr>
              <a:t>Best for</a:t>
            </a:r>
            <a:endParaRPr lang="en-US" sz="1150" dirty="0"/>
          </a:p>
        </p:txBody>
      </p:sp>
      <p:sp>
        <p:nvSpPr>
          <p:cNvPr id="15" name="Shape 13"/>
          <p:cNvSpPr/>
          <p:nvPr/>
        </p:nvSpPr>
        <p:spPr>
          <a:xfrm>
            <a:off x="2880360" y="1956816"/>
            <a:ext cx="2743200" cy="493776"/>
          </a:xfrm>
          <a:prstGeom prst="rect">
            <a:avLst/>
          </a:prstGeom>
          <a:solidFill>
            <a:srgbClr val="FEFDF8"/>
          </a:solidFill>
          <a:ln w="12700">
            <a:solidFill>
              <a:srgbClr val="D0D8E4"/>
            </a:solidFill>
            <a:prstDash val="solid"/>
          </a:ln>
        </p:spPr>
        <p:txBody>
          <a:bodyPr/>
          <a:lstStyle/>
          <a:p>
            <a:endParaRPr lang="en-US"/>
          </a:p>
        </p:txBody>
      </p:sp>
      <p:sp>
        <p:nvSpPr>
          <p:cNvPr id="16" name="Text 14"/>
          <p:cNvSpPr/>
          <p:nvPr/>
        </p:nvSpPr>
        <p:spPr>
          <a:xfrm>
            <a:off x="2990088" y="1956816"/>
            <a:ext cx="2560320" cy="493776"/>
          </a:xfrm>
          <a:prstGeom prst="rect">
            <a:avLst/>
          </a:prstGeom>
          <a:noFill/>
          <a:ln/>
        </p:spPr>
        <p:txBody>
          <a:bodyPr wrap="square" rtlCol="0" anchor="ctr"/>
          <a:lstStyle/>
          <a:p>
            <a:pPr marL="0" indent="0">
              <a:buNone/>
            </a:pPr>
            <a:r>
              <a:rPr lang="en-US" sz="1100" dirty="0">
                <a:solidFill>
                  <a:srgbClr val="575A5D"/>
                </a:solidFill>
              </a:rPr>
              <a:t>Developers &amp; data teams</a:t>
            </a:r>
            <a:endParaRPr lang="en-US" sz="1100" dirty="0"/>
          </a:p>
        </p:txBody>
      </p:sp>
      <p:sp>
        <p:nvSpPr>
          <p:cNvPr id="17" name="Shape 15"/>
          <p:cNvSpPr/>
          <p:nvPr/>
        </p:nvSpPr>
        <p:spPr>
          <a:xfrm>
            <a:off x="5623560" y="1956816"/>
            <a:ext cx="3017520" cy="493776"/>
          </a:xfrm>
          <a:prstGeom prst="rect">
            <a:avLst/>
          </a:prstGeom>
          <a:solidFill>
            <a:srgbClr val="FEFDF8"/>
          </a:solidFill>
          <a:ln w="12700">
            <a:solidFill>
              <a:srgbClr val="D0D8E4"/>
            </a:solidFill>
            <a:prstDash val="solid"/>
          </a:ln>
        </p:spPr>
        <p:txBody>
          <a:bodyPr/>
          <a:lstStyle/>
          <a:p>
            <a:endParaRPr lang="en-US"/>
          </a:p>
        </p:txBody>
      </p:sp>
      <p:sp>
        <p:nvSpPr>
          <p:cNvPr id="18" name="Text 16"/>
          <p:cNvSpPr/>
          <p:nvPr/>
        </p:nvSpPr>
        <p:spPr>
          <a:xfrm>
            <a:off x="5733288" y="1956816"/>
            <a:ext cx="2834640" cy="493776"/>
          </a:xfrm>
          <a:prstGeom prst="rect">
            <a:avLst/>
          </a:prstGeom>
          <a:noFill/>
          <a:ln/>
        </p:spPr>
        <p:txBody>
          <a:bodyPr wrap="square" rtlCol="0" anchor="ctr"/>
          <a:lstStyle/>
          <a:p>
            <a:pPr marL="0" indent="0">
              <a:buNone/>
            </a:pPr>
            <a:r>
              <a:rPr lang="en-US" sz="1100" dirty="0">
                <a:solidFill>
                  <a:srgbClr val="575A5D"/>
                </a:solidFill>
              </a:rPr>
              <a:t>Analytics teams &amp; ops</a:t>
            </a:r>
            <a:endParaRPr lang="en-US" sz="1100" dirty="0"/>
          </a:p>
        </p:txBody>
      </p:sp>
      <p:sp>
        <p:nvSpPr>
          <p:cNvPr id="19" name="Shape 17"/>
          <p:cNvSpPr/>
          <p:nvPr/>
        </p:nvSpPr>
        <p:spPr>
          <a:xfrm>
            <a:off x="8641080" y="1956816"/>
            <a:ext cx="3017520" cy="493776"/>
          </a:xfrm>
          <a:prstGeom prst="rect">
            <a:avLst/>
          </a:prstGeom>
          <a:solidFill>
            <a:srgbClr val="CCF0EE"/>
          </a:solidFill>
          <a:ln w="12700">
            <a:solidFill>
              <a:srgbClr val="D0D8E4"/>
            </a:solidFill>
            <a:prstDash val="solid"/>
          </a:ln>
        </p:spPr>
        <p:txBody>
          <a:bodyPr/>
          <a:lstStyle/>
          <a:p>
            <a:endParaRPr lang="en-US"/>
          </a:p>
        </p:txBody>
      </p:sp>
      <p:sp>
        <p:nvSpPr>
          <p:cNvPr id="20" name="Text 18"/>
          <p:cNvSpPr/>
          <p:nvPr/>
        </p:nvSpPr>
        <p:spPr>
          <a:xfrm>
            <a:off x="8750808" y="1956816"/>
            <a:ext cx="2834640" cy="493776"/>
          </a:xfrm>
          <a:prstGeom prst="rect">
            <a:avLst/>
          </a:prstGeom>
          <a:noFill/>
          <a:ln/>
        </p:spPr>
        <p:txBody>
          <a:bodyPr wrap="square" rtlCol="0" anchor="ctr"/>
          <a:lstStyle/>
          <a:p>
            <a:pPr marL="0" indent="0">
              <a:buNone/>
            </a:pPr>
            <a:r>
              <a:rPr lang="en-US" sz="1100" dirty="0">
                <a:solidFill>
                  <a:srgbClr val="575A5D"/>
                </a:solidFill>
              </a:rPr>
              <a:t>Business users &amp; executives</a:t>
            </a:r>
            <a:endParaRPr lang="en-US" sz="1100" dirty="0"/>
          </a:p>
        </p:txBody>
      </p:sp>
      <p:sp>
        <p:nvSpPr>
          <p:cNvPr id="21" name="Shape 19"/>
          <p:cNvSpPr/>
          <p:nvPr/>
        </p:nvSpPr>
        <p:spPr>
          <a:xfrm>
            <a:off x="320040" y="2450592"/>
            <a:ext cx="2560320" cy="493776"/>
          </a:xfrm>
          <a:prstGeom prst="rect">
            <a:avLst/>
          </a:prstGeom>
          <a:solidFill>
            <a:srgbClr val="E8ECF1"/>
          </a:solidFill>
          <a:ln w="12700">
            <a:solidFill>
              <a:srgbClr val="D0D8E4"/>
            </a:solidFill>
            <a:prstDash val="solid"/>
          </a:ln>
        </p:spPr>
        <p:txBody>
          <a:bodyPr/>
          <a:lstStyle/>
          <a:p>
            <a:endParaRPr lang="en-US"/>
          </a:p>
        </p:txBody>
      </p:sp>
      <p:sp>
        <p:nvSpPr>
          <p:cNvPr id="22" name="Text 20"/>
          <p:cNvSpPr/>
          <p:nvPr/>
        </p:nvSpPr>
        <p:spPr>
          <a:xfrm>
            <a:off x="429768" y="2450592"/>
            <a:ext cx="2377440" cy="493776"/>
          </a:xfrm>
          <a:prstGeom prst="rect">
            <a:avLst/>
          </a:prstGeom>
          <a:noFill/>
          <a:ln/>
        </p:spPr>
        <p:txBody>
          <a:bodyPr wrap="square" rtlCol="0" anchor="ctr"/>
          <a:lstStyle/>
          <a:p>
            <a:pPr marL="0" indent="0">
              <a:buNone/>
            </a:pPr>
            <a:r>
              <a:rPr lang="en-US" sz="1150" b="1" dirty="0">
                <a:solidFill>
                  <a:srgbClr val="06185F"/>
                </a:solidFill>
              </a:rPr>
              <a:t>Data format</a:t>
            </a:r>
            <a:endParaRPr lang="en-US" sz="1150" dirty="0"/>
          </a:p>
        </p:txBody>
      </p:sp>
      <p:sp>
        <p:nvSpPr>
          <p:cNvPr id="23" name="Shape 21"/>
          <p:cNvSpPr/>
          <p:nvPr/>
        </p:nvSpPr>
        <p:spPr>
          <a:xfrm>
            <a:off x="2880360" y="2450592"/>
            <a:ext cx="2743200" cy="493776"/>
          </a:xfrm>
          <a:prstGeom prst="rect">
            <a:avLst/>
          </a:prstGeom>
          <a:solidFill>
            <a:srgbClr val="FFFFFF"/>
          </a:solidFill>
          <a:ln w="12700">
            <a:solidFill>
              <a:srgbClr val="D0D8E4"/>
            </a:solidFill>
            <a:prstDash val="solid"/>
          </a:ln>
        </p:spPr>
        <p:txBody>
          <a:bodyPr/>
          <a:lstStyle/>
          <a:p>
            <a:endParaRPr lang="en-US"/>
          </a:p>
        </p:txBody>
      </p:sp>
      <p:sp>
        <p:nvSpPr>
          <p:cNvPr id="24" name="Text 22"/>
          <p:cNvSpPr/>
          <p:nvPr/>
        </p:nvSpPr>
        <p:spPr>
          <a:xfrm>
            <a:off x="2990088" y="2450592"/>
            <a:ext cx="2560320" cy="493776"/>
          </a:xfrm>
          <a:prstGeom prst="rect">
            <a:avLst/>
          </a:prstGeom>
          <a:noFill/>
          <a:ln/>
        </p:spPr>
        <p:txBody>
          <a:bodyPr wrap="square" rtlCol="0" anchor="ctr"/>
          <a:lstStyle/>
          <a:p>
            <a:pPr marL="0" indent="0">
              <a:buNone/>
            </a:pPr>
            <a:r>
              <a:rPr lang="en-US" sz="1100" dirty="0">
                <a:solidFill>
                  <a:srgbClr val="575A5D"/>
                </a:solidFill>
              </a:rPr>
              <a:t>Raw / batch feeds</a:t>
            </a:r>
            <a:endParaRPr lang="en-US" sz="1100" dirty="0"/>
          </a:p>
        </p:txBody>
      </p:sp>
      <p:sp>
        <p:nvSpPr>
          <p:cNvPr id="25" name="Shape 23"/>
          <p:cNvSpPr/>
          <p:nvPr/>
        </p:nvSpPr>
        <p:spPr>
          <a:xfrm>
            <a:off x="5623560" y="2450592"/>
            <a:ext cx="3017520" cy="493776"/>
          </a:xfrm>
          <a:prstGeom prst="rect">
            <a:avLst/>
          </a:prstGeom>
          <a:solidFill>
            <a:srgbClr val="FFFFFF"/>
          </a:solidFill>
          <a:ln w="12700">
            <a:solidFill>
              <a:srgbClr val="D0D8E4"/>
            </a:solidFill>
            <a:prstDash val="solid"/>
          </a:ln>
        </p:spPr>
        <p:txBody>
          <a:bodyPr/>
          <a:lstStyle/>
          <a:p>
            <a:endParaRPr lang="en-US"/>
          </a:p>
        </p:txBody>
      </p:sp>
      <p:sp>
        <p:nvSpPr>
          <p:cNvPr id="26" name="Text 24"/>
          <p:cNvSpPr/>
          <p:nvPr/>
        </p:nvSpPr>
        <p:spPr>
          <a:xfrm>
            <a:off x="5733288" y="2450592"/>
            <a:ext cx="2834640" cy="493776"/>
          </a:xfrm>
          <a:prstGeom prst="rect">
            <a:avLst/>
          </a:prstGeom>
          <a:noFill/>
          <a:ln/>
        </p:spPr>
        <p:txBody>
          <a:bodyPr wrap="square" rtlCol="0" anchor="ctr"/>
          <a:lstStyle/>
          <a:p>
            <a:pPr marL="0" indent="0">
              <a:buNone/>
            </a:pPr>
            <a:r>
              <a:rPr lang="en-US" sz="1100" dirty="0">
                <a:solidFill>
                  <a:srgbClr val="575A5D"/>
                </a:solidFill>
              </a:rPr>
              <a:t>Pre-modeled warehouse</a:t>
            </a:r>
            <a:endParaRPr lang="en-US" sz="1100" dirty="0"/>
          </a:p>
        </p:txBody>
      </p:sp>
      <p:sp>
        <p:nvSpPr>
          <p:cNvPr id="27" name="Shape 25"/>
          <p:cNvSpPr/>
          <p:nvPr/>
        </p:nvSpPr>
        <p:spPr>
          <a:xfrm>
            <a:off x="8641080" y="2450592"/>
            <a:ext cx="3017520" cy="493776"/>
          </a:xfrm>
          <a:prstGeom prst="rect">
            <a:avLst/>
          </a:prstGeom>
          <a:solidFill>
            <a:srgbClr val="E8F7F7"/>
          </a:solidFill>
          <a:ln w="12700">
            <a:solidFill>
              <a:srgbClr val="D0D8E4"/>
            </a:solidFill>
            <a:prstDash val="solid"/>
          </a:ln>
        </p:spPr>
        <p:txBody>
          <a:bodyPr/>
          <a:lstStyle/>
          <a:p>
            <a:endParaRPr lang="en-US"/>
          </a:p>
        </p:txBody>
      </p:sp>
      <p:sp>
        <p:nvSpPr>
          <p:cNvPr id="28" name="Text 26"/>
          <p:cNvSpPr/>
          <p:nvPr/>
        </p:nvSpPr>
        <p:spPr>
          <a:xfrm>
            <a:off x="8750808" y="2450592"/>
            <a:ext cx="2834640" cy="493776"/>
          </a:xfrm>
          <a:prstGeom prst="rect">
            <a:avLst/>
          </a:prstGeom>
          <a:noFill/>
          <a:ln/>
        </p:spPr>
        <p:txBody>
          <a:bodyPr wrap="square" rtlCol="0" anchor="ctr"/>
          <a:lstStyle/>
          <a:p>
            <a:pPr marL="0" indent="0">
              <a:buNone/>
            </a:pPr>
            <a:r>
              <a:rPr lang="en-US" sz="1100" dirty="0">
                <a:solidFill>
                  <a:srgbClr val="575A5D"/>
                </a:solidFill>
              </a:rPr>
              <a:t>Dashboards &amp; reports</a:t>
            </a:r>
            <a:endParaRPr lang="en-US" sz="1100" dirty="0"/>
          </a:p>
        </p:txBody>
      </p:sp>
      <p:sp>
        <p:nvSpPr>
          <p:cNvPr id="29" name="Shape 27"/>
          <p:cNvSpPr/>
          <p:nvPr/>
        </p:nvSpPr>
        <p:spPr>
          <a:xfrm>
            <a:off x="320040" y="2944368"/>
            <a:ext cx="2560320" cy="493776"/>
          </a:xfrm>
          <a:prstGeom prst="rect">
            <a:avLst/>
          </a:prstGeom>
          <a:solidFill>
            <a:srgbClr val="E8ECF1"/>
          </a:solidFill>
          <a:ln w="12700">
            <a:solidFill>
              <a:srgbClr val="D0D8E4"/>
            </a:solidFill>
            <a:prstDash val="solid"/>
          </a:ln>
        </p:spPr>
        <p:txBody>
          <a:bodyPr/>
          <a:lstStyle/>
          <a:p>
            <a:endParaRPr lang="en-US"/>
          </a:p>
        </p:txBody>
      </p:sp>
      <p:sp>
        <p:nvSpPr>
          <p:cNvPr id="30" name="Text 28"/>
          <p:cNvSpPr/>
          <p:nvPr/>
        </p:nvSpPr>
        <p:spPr>
          <a:xfrm>
            <a:off x="429768" y="2944368"/>
            <a:ext cx="2377440" cy="493776"/>
          </a:xfrm>
          <a:prstGeom prst="rect">
            <a:avLst/>
          </a:prstGeom>
          <a:noFill/>
          <a:ln/>
        </p:spPr>
        <p:txBody>
          <a:bodyPr wrap="square" rtlCol="0" anchor="ctr"/>
          <a:lstStyle/>
          <a:p>
            <a:pPr marL="0" indent="0">
              <a:buNone/>
            </a:pPr>
            <a:r>
              <a:rPr lang="en-US" sz="1150" b="1" dirty="0">
                <a:solidFill>
                  <a:srgbClr val="06185F"/>
                </a:solidFill>
              </a:rPr>
              <a:t>Technical skill</a:t>
            </a:r>
            <a:endParaRPr lang="en-US" sz="1150" dirty="0"/>
          </a:p>
        </p:txBody>
      </p:sp>
      <p:sp>
        <p:nvSpPr>
          <p:cNvPr id="31" name="Shape 29"/>
          <p:cNvSpPr/>
          <p:nvPr/>
        </p:nvSpPr>
        <p:spPr>
          <a:xfrm>
            <a:off x="2880360" y="2944368"/>
            <a:ext cx="2743200" cy="493776"/>
          </a:xfrm>
          <a:prstGeom prst="rect">
            <a:avLst/>
          </a:prstGeom>
          <a:solidFill>
            <a:srgbClr val="FEFDF8"/>
          </a:solidFill>
          <a:ln w="12700">
            <a:solidFill>
              <a:srgbClr val="D0D8E4"/>
            </a:solidFill>
            <a:prstDash val="solid"/>
          </a:ln>
        </p:spPr>
        <p:txBody>
          <a:bodyPr/>
          <a:lstStyle/>
          <a:p>
            <a:endParaRPr lang="en-US"/>
          </a:p>
        </p:txBody>
      </p:sp>
      <p:sp>
        <p:nvSpPr>
          <p:cNvPr id="32" name="Text 30"/>
          <p:cNvSpPr/>
          <p:nvPr/>
        </p:nvSpPr>
        <p:spPr>
          <a:xfrm>
            <a:off x="2990088" y="2944368"/>
            <a:ext cx="2560320" cy="493776"/>
          </a:xfrm>
          <a:prstGeom prst="rect">
            <a:avLst/>
          </a:prstGeom>
          <a:noFill/>
          <a:ln/>
        </p:spPr>
        <p:txBody>
          <a:bodyPr wrap="square" rtlCol="0" anchor="ctr"/>
          <a:lstStyle/>
          <a:p>
            <a:pPr marL="0" indent="0">
              <a:buNone/>
            </a:pPr>
            <a:r>
              <a:rPr lang="en-US" sz="1100" dirty="0">
                <a:solidFill>
                  <a:srgbClr val="575A5D"/>
                </a:solidFill>
              </a:rPr>
              <a:t>High — SQL/Python/BI tools</a:t>
            </a:r>
            <a:endParaRPr lang="en-US" sz="1100" dirty="0"/>
          </a:p>
        </p:txBody>
      </p:sp>
      <p:sp>
        <p:nvSpPr>
          <p:cNvPr id="33" name="Shape 31"/>
          <p:cNvSpPr/>
          <p:nvPr/>
        </p:nvSpPr>
        <p:spPr>
          <a:xfrm>
            <a:off x="5623560" y="2944368"/>
            <a:ext cx="3017520" cy="493776"/>
          </a:xfrm>
          <a:prstGeom prst="rect">
            <a:avLst/>
          </a:prstGeom>
          <a:solidFill>
            <a:srgbClr val="FEFDF8"/>
          </a:solidFill>
          <a:ln w="12700">
            <a:solidFill>
              <a:srgbClr val="D0D8E4"/>
            </a:solidFill>
            <a:prstDash val="solid"/>
          </a:ln>
        </p:spPr>
        <p:txBody>
          <a:bodyPr/>
          <a:lstStyle/>
          <a:p>
            <a:endParaRPr lang="en-US"/>
          </a:p>
        </p:txBody>
      </p:sp>
      <p:sp>
        <p:nvSpPr>
          <p:cNvPr id="34" name="Text 32"/>
          <p:cNvSpPr/>
          <p:nvPr/>
        </p:nvSpPr>
        <p:spPr>
          <a:xfrm>
            <a:off x="5733288" y="2944368"/>
            <a:ext cx="2834640" cy="493776"/>
          </a:xfrm>
          <a:prstGeom prst="rect">
            <a:avLst/>
          </a:prstGeom>
          <a:noFill/>
          <a:ln/>
        </p:spPr>
        <p:txBody>
          <a:bodyPr wrap="square" rtlCol="0" anchor="ctr"/>
          <a:lstStyle/>
          <a:p>
            <a:pPr marL="0" indent="0">
              <a:buNone/>
            </a:pPr>
            <a:r>
              <a:rPr lang="en-US" sz="1100" dirty="0">
                <a:solidFill>
                  <a:srgbClr val="575A5D"/>
                </a:solidFill>
              </a:rPr>
              <a:t>Medium — SQL + reporting</a:t>
            </a:r>
            <a:endParaRPr lang="en-US" sz="1100" dirty="0"/>
          </a:p>
        </p:txBody>
      </p:sp>
      <p:sp>
        <p:nvSpPr>
          <p:cNvPr id="35" name="Shape 33"/>
          <p:cNvSpPr/>
          <p:nvPr/>
        </p:nvSpPr>
        <p:spPr>
          <a:xfrm>
            <a:off x="8641080" y="2944368"/>
            <a:ext cx="3017520" cy="493776"/>
          </a:xfrm>
          <a:prstGeom prst="rect">
            <a:avLst/>
          </a:prstGeom>
          <a:solidFill>
            <a:srgbClr val="CCF0EE"/>
          </a:solidFill>
          <a:ln w="12700">
            <a:solidFill>
              <a:srgbClr val="D0D8E4"/>
            </a:solidFill>
            <a:prstDash val="solid"/>
          </a:ln>
        </p:spPr>
        <p:txBody>
          <a:bodyPr/>
          <a:lstStyle/>
          <a:p>
            <a:endParaRPr lang="en-US"/>
          </a:p>
        </p:txBody>
      </p:sp>
      <p:sp>
        <p:nvSpPr>
          <p:cNvPr id="36" name="Text 34"/>
          <p:cNvSpPr/>
          <p:nvPr/>
        </p:nvSpPr>
        <p:spPr>
          <a:xfrm>
            <a:off x="8750808" y="2944368"/>
            <a:ext cx="2834640" cy="493776"/>
          </a:xfrm>
          <a:prstGeom prst="rect">
            <a:avLst/>
          </a:prstGeom>
          <a:noFill/>
          <a:ln/>
        </p:spPr>
        <p:txBody>
          <a:bodyPr wrap="square" rtlCol="0" anchor="ctr"/>
          <a:lstStyle/>
          <a:p>
            <a:pPr marL="0" indent="0">
              <a:buNone/>
            </a:pPr>
            <a:r>
              <a:rPr lang="en-US" sz="1100" dirty="0">
                <a:solidFill>
                  <a:srgbClr val="575A5D"/>
                </a:solidFill>
              </a:rPr>
              <a:t>Low — self-service UI</a:t>
            </a:r>
            <a:endParaRPr lang="en-US" sz="1100" dirty="0"/>
          </a:p>
        </p:txBody>
      </p:sp>
      <p:sp>
        <p:nvSpPr>
          <p:cNvPr id="37" name="Shape 35"/>
          <p:cNvSpPr/>
          <p:nvPr/>
        </p:nvSpPr>
        <p:spPr>
          <a:xfrm>
            <a:off x="320040" y="3438144"/>
            <a:ext cx="2560320" cy="493776"/>
          </a:xfrm>
          <a:prstGeom prst="rect">
            <a:avLst/>
          </a:prstGeom>
          <a:solidFill>
            <a:srgbClr val="E8ECF1"/>
          </a:solidFill>
          <a:ln w="12700">
            <a:solidFill>
              <a:srgbClr val="D0D8E4"/>
            </a:solidFill>
            <a:prstDash val="solid"/>
          </a:ln>
        </p:spPr>
        <p:txBody>
          <a:bodyPr/>
          <a:lstStyle/>
          <a:p>
            <a:endParaRPr lang="en-US"/>
          </a:p>
        </p:txBody>
      </p:sp>
      <p:sp>
        <p:nvSpPr>
          <p:cNvPr id="38" name="Text 36"/>
          <p:cNvSpPr/>
          <p:nvPr/>
        </p:nvSpPr>
        <p:spPr>
          <a:xfrm>
            <a:off x="429768" y="3438144"/>
            <a:ext cx="2377440" cy="493776"/>
          </a:xfrm>
          <a:prstGeom prst="rect">
            <a:avLst/>
          </a:prstGeom>
          <a:noFill/>
          <a:ln/>
        </p:spPr>
        <p:txBody>
          <a:bodyPr wrap="square" rtlCol="0" anchor="ctr"/>
          <a:lstStyle/>
          <a:p>
            <a:pPr marL="0" indent="0">
              <a:buNone/>
            </a:pPr>
            <a:r>
              <a:rPr lang="en-US" sz="1150" b="1" dirty="0">
                <a:solidFill>
                  <a:srgbClr val="06185F"/>
                </a:solidFill>
              </a:rPr>
              <a:t>Time to value</a:t>
            </a:r>
            <a:endParaRPr lang="en-US" sz="1150" dirty="0"/>
          </a:p>
        </p:txBody>
      </p:sp>
      <p:sp>
        <p:nvSpPr>
          <p:cNvPr id="39" name="Shape 37"/>
          <p:cNvSpPr/>
          <p:nvPr/>
        </p:nvSpPr>
        <p:spPr>
          <a:xfrm>
            <a:off x="2880360" y="3438144"/>
            <a:ext cx="2743200" cy="493776"/>
          </a:xfrm>
          <a:prstGeom prst="rect">
            <a:avLst/>
          </a:prstGeom>
          <a:solidFill>
            <a:srgbClr val="FFFFFF"/>
          </a:solidFill>
          <a:ln w="12700">
            <a:solidFill>
              <a:srgbClr val="D0D8E4"/>
            </a:solidFill>
            <a:prstDash val="solid"/>
          </a:ln>
        </p:spPr>
        <p:txBody>
          <a:bodyPr/>
          <a:lstStyle/>
          <a:p>
            <a:endParaRPr lang="en-US"/>
          </a:p>
        </p:txBody>
      </p:sp>
      <p:sp>
        <p:nvSpPr>
          <p:cNvPr id="40" name="Text 38"/>
          <p:cNvSpPr/>
          <p:nvPr/>
        </p:nvSpPr>
        <p:spPr>
          <a:xfrm>
            <a:off x="2990088" y="3438144"/>
            <a:ext cx="2560320" cy="493776"/>
          </a:xfrm>
          <a:prstGeom prst="rect">
            <a:avLst/>
          </a:prstGeom>
          <a:noFill/>
          <a:ln/>
        </p:spPr>
        <p:txBody>
          <a:bodyPr wrap="square" rtlCol="0" anchor="ctr"/>
          <a:lstStyle/>
          <a:p>
            <a:pPr marL="0" indent="0">
              <a:buNone/>
            </a:pPr>
            <a:r>
              <a:rPr lang="en-US" sz="1100" dirty="0">
                <a:solidFill>
                  <a:srgbClr val="575A5D"/>
                </a:solidFill>
              </a:rPr>
              <a:t>Weeks (after integration)</a:t>
            </a:r>
            <a:endParaRPr lang="en-US" sz="1100" dirty="0"/>
          </a:p>
        </p:txBody>
      </p:sp>
      <p:sp>
        <p:nvSpPr>
          <p:cNvPr id="41" name="Shape 39"/>
          <p:cNvSpPr/>
          <p:nvPr/>
        </p:nvSpPr>
        <p:spPr>
          <a:xfrm>
            <a:off x="5623560" y="3438144"/>
            <a:ext cx="3017520" cy="493776"/>
          </a:xfrm>
          <a:prstGeom prst="rect">
            <a:avLst/>
          </a:prstGeom>
          <a:solidFill>
            <a:srgbClr val="FFFFFF"/>
          </a:solidFill>
          <a:ln w="12700">
            <a:solidFill>
              <a:srgbClr val="D0D8E4"/>
            </a:solidFill>
            <a:prstDash val="solid"/>
          </a:ln>
        </p:spPr>
        <p:txBody>
          <a:bodyPr/>
          <a:lstStyle/>
          <a:p>
            <a:endParaRPr lang="en-US"/>
          </a:p>
        </p:txBody>
      </p:sp>
      <p:sp>
        <p:nvSpPr>
          <p:cNvPr id="42" name="Text 40"/>
          <p:cNvSpPr/>
          <p:nvPr/>
        </p:nvSpPr>
        <p:spPr>
          <a:xfrm>
            <a:off x="5733288" y="3438144"/>
            <a:ext cx="2834640" cy="493776"/>
          </a:xfrm>
          <a:prstGeom prst="rect">
            <a:avLst/>
          </a:prstGeom>
          <a:noFill/>
          <a:ln/>
        </p:spPr>
        <p:txBody>
          <a:bodyPr wrap="square" rtlCol="0" anchor="ctr"/>
          <a:lstStyle/>
          <a:p>
            <a:pPr marL="0" indent="0">
              <a:buNone/>
            </a:pPr>
            <a:r>
              <a:rPr lang="en-US" sz="1100" dirty="0">
                <a:solidFill>
                  <a:srgbClr val="575A5D"/>
                </a:solidFill>
              </a:rPr>
              <a:t>Days (pre-configured)</a:t>
            </a:r>
            <a:endParaRPr lang="en-US" sz="1100" dirty="0"/>
          </a:p>
        </p:txBody>
      </p:sp>
      <p:sp>
        <p:nvSpPr>
          <p:cNvPr id="43" name="Shape 41"/>
          <p:cNvSpPr/>
          <p:nvPr/>
        </p:nvSpPr>
        <p:spPr>
          <a:xfrm>
            <a:off x="8641080" y="3438144"/>
            <a:ext cx="3017520" cy="493776"/>
          </a:xfrm>
          <a:prstGeom prst="rect">
            <a:avLst/>
          </a:prstGeom>
          <a:solidFill>
            <a:srgbClr val="E8F7F7"/>
          </a:solidFill>
          <a:ln w="12700">
            <a:solidFill>
              <a:srgbClr val="D0D8E4"/>
            </a:solidFill>
            <a:prstDash val="solid"/>
          </a:ln>
        </p:spPr>
        <p:txBody>
          <a:bodyPr/>
          <a:lstStyle/>
          <a:p>
            <a:endParaRPr lang="en-US"/>
          </a:p>
        </p:txBody>
      </p:sp>
      <p:sp>
        <p:nvSpPr>
          <p:cNvPr id="44" name="Text 42"/>
          <p:cNvSpPr/>
          <p:nvPr/>
        </p:nvSpPr>
        <p:spPr>
          <a:xfrm>
            <a:off x="8750808" y="3438144"/>
            <a:ext cx="2834640" cy="493776"/>
          </a:xfrm>
          <a:prstGeom prst="rect">
            <a:avLst/>
          </a:prstGeom>
          <a:noFill/>
          <a:ln/>
        </p:spPr>
        <p:txBody>
          <a:bodyPr wrap="square" rtlCol="0" anchor="ctr"/>
          <a:lstStyle/>
          <a:p>
            <a:pPr marL="0" indent="0">
              <a:buNone/>
            </a:pPr>
            <a:r>
              <a:rPr lang="en-US" sz="1100" dirty="0">
                <a:solidFill>
                  <a:srgbClr val="575A5D"/>
                </a:solidFill>
              </a:rPr>
              <a:t>Days (pre-built views)</a:t>
            </a:r>
            <a:endParaRPr lang="en-US" sz="1100" dirty="0"/>
          </a:p>
        </p:txBody>
      </p:sp>
      <p:sp>
        <p:nvSpPr>
          <p:cNvPr id="45" name="Shape 43"/>
          <p:cNvSpPr/>
          <p:nvPr/>
        </p:nvSpPr>
        <p:spPr>
          <a:xfrm>
            <a:off x="320040" y="3931920"/>
            <a:ext cx="2560320" cy="493776"/>
          </a:xfrm>
          <a:prstGeom prst="rect">
            <a:avLst/>
          </a:prstGeom>
          <a:solidFill>
            <a:srgbClr val="E8ECF1"/>
          </a:solidFill>
          <a:ln w="12700">
            <a:solidFill>
              <a:srgbClr val="D0D8E4"/>
            </a:solidFill>
            <a:prstDash val="solid"/>
          </a:ln>
        </p:spPr>
        <p:txBody>
          <a:bodyPr/>
          <a:lstStyle/>
          <a:p>
            <a:endParaRPr lang="en-US"/>
          </a:p>
        </p:txBody>
      </p:sp>
      <p:sp>
        <p:nvSpPr>
          <p:cNvPr id="46" name="Text 44"/>
          <p:cNvSpPr/>
          <p:nvPr/>
        </p:nvSpPr>
        <p:spPr>
          <a:xfrm>
            <a:off x="429768" y="3931920"/>
            <a:ext cx="2377440" cy="493776"/>
          </a:xfrm>
          <a:prstGeom prst="rect">
            <a:avLst/>
          </a:prstGeom>
          <a:noFill/>
          <a:ln/>
        </p:spPr>
        <p:txBody>
          <a:bodyPr wrap="square" rtlCol="0" anchor="ctr"/>
          <a:lstStyle/>
          <a:p>
            <a:pPr marL="0" indent="0">
              <a:buNone/>
            </a:pPr>
            <a:r>
              <a:rPr lang="en-US" sz="1150" b="1" dirty="0">
                <a:solidFill>
                  <a:srgbClr val="06185F"/>
                </a:solidFill>
              </a:rPr>
              <a:t>Customization</a:t>
            </a:r>
            <a:endParaRPr lang="en-US" sz="1150" dirty="0"/>
          </a:p>
        </p:txBody>
      </p:sp>
      <p:sp>
        <p:nvSpPr>
          <p:cNvPr id="47" name="Shape 45"/>
          <p:cNvSpPr/>
          <p:nvPr/>
        </p:nvSpPr>
        <p:spPr>
          <a:xfrm>
            <a:off x="2880360" y="3931920"/>
            <a:ext cx="2743200" cy="493776"/>
          </a:xfrm>
          <a:prstGeom prst="rect">
            <a:avLst/>
          </a:prstGeom>
          <a:solidFill>
            <a:srgbClr val="FEFDF8"/>
          </a:solidFill>
          <a:ln w="12700">
            <a:solidFill>
              <a:srgbClr val="D0D8E4"/>
            </a:solidFill>
            <a:prstDash val="solid"/>
          </a:ln>
        </p:spPr>
        <p:txBody>
          <a:bodyPr/>
          <a:lstStyle/>
          <a:p>
            <a:endParaRPr lang="en-US"/>
          </a:p>
        </p:txBody>
      </p:sp>
      <p:sp>
        <p:nvSpPr>
          <p:cNvPr id="48" name="Text 46"/>
          <p:cNvSpPr/>
          <p:nvPr/>
        </p:nvSpPr>
        <p:spPr>
          <a:xfrm>
            <a:off x="2990088" y="3931920"/>
            <a:ext cx="2560320" cy="493776"/>
          </a:xfrm>
          <a:prstGeom prst="rect">
            <a:avLst/>
          </a:prstGeom>
          <a:noFill/>
          <a:ln/>
        </p:spPr>
        <p:txBody>
          <a:bodyPr wrap="square" rtlCol="0" anchor="ctr"/>
          <a:lstStyle/>
          <a:p>
            <a:pPr marL="0" indent="0">
              <a:buNone/>
            </a:pPr>
            <a:r>
              <a:rPr lang="en-US" sz="1100" dirty="0">
                <a:solidFill>
                  <a:srgbClr val="575A5D"/>
                </a:solidFill>
              </a:rPr>
              <a:t>Fully custom</a:t>
            </a:r>
            <a:endParaRPr lang="en-US" sz="1100" dirty="0"/>
          </a:p>
        </p:txBody>
      </p:sp>
      <p:sp>
        <p:nvSpPr>
          <p:cNvPr id="49" name="Shape 47"/>
          <p:cNvSpPr/>
          <p:nvPr/>
        </p:nvSpPr>
        <p:spPr>
          <a:xfrm>
            <a:off x="5623560" y="3931920"/>
            <a:ext cx="3017520" cy="493776"/>
          </a:xfrm>
          <a:prstGeom prst="rect">
            <a:avLst/>
          </a:prstGeom>
          <a:solidFill>
            <a:srgbClr val="FEFDF8"/>
          </a:solidFill>
          <a:ln w="12700">
            <a:solidFill>
              <a:srgbClr val="D0D8E4"/>
            </a:solidFill>
            <a:prstDash val="solid"/>
          </a:ln>
        </p:spPr>
        <p:txBody>
          <a:bodyPr/>
          <a:lstStyle/>
          <a:p>
            <a:endParaRPr lang="en-US"/>
          </a:p>
        </p:txBody>
      </p:sp>
      <p:sp>
        <p:nvSpPr>
          <p:cNvPr id="50" name="Text 48"/>
          <p:cNvSpPr/>
          <p:nvPr/>
        </p:nvSpPr>
        <p:spPr>
          <a:xfrm>
            <a:off x="5733288" y="3931920"/>
            <a:ext cx="2834640" cy="493776"/>
          </a:xfrm>
          <a:prstGeom prst="rect">
            <a:avLst/>
          </a:prstGeom>
          <a:noFill/>
          <a:ln/>
        </p:spPr>
        <p:txBody>
          <a:bodyPr wrap="square" rtlCol="0" anchor="ctr"/>
          <a:lstStyle/>
          <a:p>
            <a:pPr marL="0" indent="0">
              <a:buNone/>
            </a:pPr>
            <a:r>
              <a:rPr lang="en-US" sz="1100" dirty="0">
                <a:solidFill>
                  <a:srgbClr val="575A5D"/>
                </a:solidFill>
              </a:rPr>
              <a:t>Configurable models</a:t>
            </a:r>
            <a:endParaRPr lang="en-US" sz="1100" dirty="0"/>
          </a:p>
        </p:txBody>
      </p:sp>
      <p:sp>
        <p:nvSpPr>
          <p:cNvPr id="51" name="Shape 49"/>
          <p:cNvSpPr/>
          <p:nvPr/>
        </p:nvSpPr>
        <p:spPr>
          <a:xfrm>
            <a:off x="8641080" y="3931920"/>
            <a:ext cx="3017520" cy="493776"/>
          </a:xfrm>
          <a:prstGeom prst="rect">
            <a:avLst/>
          </a:prstGeom>
          <a:solidFill>
            <a:srgbClr val="CCF0EE"/>
          </a:solidFill>
          <a:ln w="12700">
            <a:solidFill>
              <a:srgbClr val="D0D8E4"/>
            </a:solidFill>
            <a:prstDash val="solid"/>
          </a:ln>
        </p:spPr>
        <p:txBody>
          <a:bodyPr/>
          <a:lstStyle/>
          <a:p>
            <a:endParaRPr lang="en-US"/>
          </a:p>
        </p:txBody>
      </p:sp>
      <p:sp>
        <p:nvSpPr>
          <p:cNvPr id="52" name="Text 50"/>
          <p:cNvSpPr/>
          <p:nvPr/>
        </p:nvSpPr>
        <p:spPr>
          <a:xfrm>
            <a:off x="8750808" y="3931920"/>
            <a:ext cx="2834640" cy="493776"/>
          </a:xfrm>
          <a:prstGeom prst="rect">
            <a:avLst/>
          </a:prstGeom>
          <a:noFill/>
          <a:ln/>
        </p:spPr>
        <p:txBody>
          <a:bodyPr wrap="square" rtlCol="0" anchor="ctr"/>
          <a:lstStyle/>
          <a:p>
            <a:pPr marL="0" indent="0">
              <a:buNone/>
            </a:pPr>
            <a:r>
              <a:rPr lang="en-US" sz="1100" dirty="0">
                <a:solidFill>
                  <a:srgbClr val="575A5D"/>
                </a:solidFill>
              </a:rPr>
              <a:t>Drag-and-drop builder</a:t>
            </a:r>
            <a:endParaRPr lang="en-US" sz="1100" dirty="0"/>
          </a:p>
        </p:txBody>
      </p:sp>
      <p:sp>
        <p:nvSpPr>
          <p:cNvPr id="53" name="Shape 51"/>
          <p:cNvSpPr/>
          <p:nvPr/>
        </p:nvSpPr>
        <p:spPr>
          <a:xfrm>
            <a:off x="320040" y="4425696"/>
            <a:ext cx="2560320" cy="493776"/>
          </a:xfrm>
          <a:prstGeom prst="rect">
            <a:avLst/>
          </a:prstGeom>
          <a:solidFill>
            <a:srgbClr val="E8ECF1"/>
          </a:solidFill>
          <a:ln w="12700">
            <a:solidFill>
              <a:srgbClr val="D0D8E4"/>
            </a:solidFill>
            <a:prstDash val="solid"/>
          </a:ln>
        </p:spPr>
        <p:txBody>
          <a:bodyPr/>
          <a:lstStyle/>
          <a:p>
            <a:endParaRPr lang="en-US"/>
          </a:p>
        </p:txBody>
      </p:sp>
      <p:sp>
        <p:nvSpPr>
          <p:cNvPr id="54" name="Text 52"/>
          <p:cNvSpPr/>
          <p:nvPr/>
        </p:nvSpPr>
        <p:spPr>
          <a:xfrm>
            <a:off x="429768" y="4425696"/>
            <a:ext cx="2377440" cy="493776"/>
          </a:xfrm>
          <a:prstGeom prst="rect">
            <a:avLst/>
          </a:prstGeom>
          <a:noFill/>
          <a:ln/>
        </p:spPr>
        <p:txBody>
          <a:bodyPr wrap="square" rtlCol="0" anchor="ctr"/>
          <a:lstStyle/>
          <a:p>
            <a:pPr marL="0" indent="0">
              <a:buNone/>
            </a:pPr>
            <a:r>
              <a:rPr lang="en-US" sz="1150" b="1" dirty="0">
                <a:solidFill>
                  <a:srgbClr val="06185F"/>
                </a:solidFill>
              </a:rPr>
              <a:t>Hosting</a:t>
            </a:r>
            <a:endParaRPr lang="en-US" sz="1150" dirty="0"/>
          </a:p>
        </p:txBody>
      </p:sp>
      <p:sp>
        <p:nvSpPr>
          <p:cNvPr id="55" name="Shape 53"/>
          <p:cNvSpPr/>
          <p:nvPr/>
        </p:nvSpPr>
        <p:spPr>
          <a:xfrm>
            <a:off x="2880360" y="4425696"/>
            <a:ext cx="2743200" cy="493776"/>
          </a:xfrm>
          <a:prstGeom prst="rect">
            <a:avLst/>
          </a:prstGeom>
          <a:solidFill>
            <a:srgbClr val="FFFFFF"/>
          </a:solidFill>
          <a:ln w="12700">
            <a:solidFill>
              <a:srgbClr val="D0D8E4"/>
            </a:solidFill>
            <a:prstDash val="solid"/>
          </a:ln>
        </p:spPr>
        <p:txBody>
          <a:bodyPr/>
          <a:lstStyle/>
          <a:p>
            <a:endParaRPr lang="en-US"/>
          </a:p>
        </p:txBody>
      </p:sp>
      <p:sp>
        <p:nvSpPr>
          <p:cNvPr id="56" name="Text 54"/>
          <p:cNvSpPr/>
          <p:nvPr/>
        </p:nvSpPr>
        <p:spPr>
          <a:xfrm>
            <a:off x="2990088" y="4425696"/>
            <a:ext cx="2560320" cy="493776"/>
          </a:xfrm>
          <a:prstGeom prst="rect">
            <a:avLst/>
          </a:prstGeom>
          <a:noFill/>
          <a:ln/>
        </p:spPr>
        <p:txBody>
          <a:bodyPr wrap="square" rtlCol="0" anchor="ctr"/>
          <a:lstStyle/>
          <a:p>
            <a:pPr marL="0" indent="0">
              <a:buNone/>
            </a:pPr>
            <a:r>
              <a:rPr lang="en-US" sz="1100" dirty="0">
                <a:solidFill>
                  <a:srgbClr val="575A5D"/>
                </a:solidFill>
              </a:rPr>
              <a:t>Your cloud (GCP BigQuery)</a:t>
            </a:r>
            <a:endParaRPr lang="en-US" sz="1100" dirty="0"/>
          </a:p>
        </p:txBody>
      </p:sp>
      <p:sp>
        <p:nvSpPr>
          <p:cNvPr id="57" name="Shape 55"/>
          <p:cNvSpPr/>
          <p:nvPr/>
        </p:nvSpPr>
        <p:spPr>
          <a:xfrm>
            <a:off x="5623560" y="4425696"/>
            <a:ext cx="3017520" cy="493776"/>
          </a:xfrm>
          <a:prstGeom prst="rect">
            <a:avLst/>
          </a:prstGeom>
          <a:solidFill>
            <a:srgbClr val="FFFFFF"/>
          </a:solidFill>
          <a:ln w="12700">
            <a:solidFill>
              <a:srgbClr val="D0D8E4"/>
            </a:solidFill>
            <a:prstDash val="solid"/>
          </a:ln>
        </p:spPr>
        <p:txBody>
          <a:bodyPr/>
          <a:lstStyle/>
          <a:p>
            <a:endParaRPr lang="en-US"/>
          </a:p>
        </p:txBody>
      </p:sp>
      <p:sp>
        <p:nvSpPr>
          <p:cNvPr id="58" name="Text 56"/>
          <p:cNvSpPr/>
          <p:nvPr/>
        </p:nvSpPr>
        <p:spPr>
          <a:xfrm>
            <a:off x="5733288" y="4425696"/>
            <a:ext cx="2834640" cy="493776"/>
          </a:xfrm>
          <a:prstGeom prst="rect">
            <a:avLst/>
          </a:prstGeom>
          <a:noFill/>
          <a:ln/>
        </p:spPr>
        <p:txBody>
          <a:bodyPr wrap="square" rtlCol="0" anchor="ctr"/>
          <a:lstStyle/>
          <a:p>
            <a:pPr marL="0" indent="0">
              <a:buNone/>
            </a:pPr>
            <a:r>
              <a:rPr lang="en-US" sz="1100" dirty="0">
                <a:solidFill>
                  <a:srgbClr val="575A5D"/>
                </a:solidFill>
              </a:rPr>
              <a:t>JH-managed warehouse</a:t>
            </a:r>
            <a:endParaRPr lang="en-US" sz="1100" dirty="0"/>
          </a:p>
        </p:txBody>
      </p:sp>
      <p:sp>
        <p:nvSpPr>
          <p:cNvPr id="59" name="Shape 57"/>
          <p:cNvSpPr/>
          <p:nvPr/>
        </p:nvSpPr>
        <p:spPr>
          <a:xfrm>
            <a:off x="8641080" y="4425696"/>
            <a:ext cx="3017520" cy="493776"/>
          </a:xfrm>
          <a:prstGeom prst="rect">
            <a:avLst/>
          </a:prstGeom>
          <a:solidFill>
            <a:srgbClr val="E8F7F7"/>
          </a:solidFill>
          <a:ln w="12700">
            <a:solidFill>
              <a:srgbClr val="D0D8E4"/>
            </a:solidFill>
            <a:prstDash val="solid"/>
          </a:ln>
        </p:spPr>
        <p:txBody>
          <a:bodyPr/>
          <a:lstStyle/>
          <a:p>
            <a:endParaRPr lang="en-US"/>
          </a:p>
        </p:txBody>
      </p:sp>
      <p:sp>
        <p:nvSpPr>
          <p:cNvPr id="60" name="Text 58"/>
          <p:cNvSpPr/>
          <p:nvPr/>
        </p:nvSpPr>
        <p:spPr>
          <a:xfrm>
            <a:off x="8750808" y="4425696"/>
            <a:ext cx="2834640" cy="493776"/>
          </a:xfrm>
          <a:prstGeom prst="rect">
            <a:avLst/>
          </a:prstGeom>
          <a:noFill/>
          <a:ln/>
        </p:spPr>
        <p:txBody>
          <a:bodyPr wrap="square" rtlCol="0" anchor="ctr"/>
          <a:lstStyle/>
          <a:p>
            <a:pPr marL="0" indent="0">
              <a:buNone/>
            </a:pPr>
            <a:r>
              <a:rPr lang="en-US" sz="1100" dirty="0">
                <a:solidFill>
                  <a:srgbClr val="575A5D"/>
                </a:solidFill>
              </a:rPr>
              <a:t>JH-managed, fully hosted</a:t>
            </a:r>
            <a:endParaRPr lang="en-US" sz="1100" dirty="0"/>
          </a:p>
        </p:txBody>
      </p:sp>
      <p:sp>
        <p:nvSpPr>
          <p:cNvPr id="61" name="Shape 59"/>
          <p:cNvSpPr/>
          <p:nvPr/>
        </p:nvSpPr>
        <p:spPr>
          <a:xfrm>
            <a:off x="320040" y="4919472"/>
            <a:ext cx="2560320" cy="493776"/>
          </a:xfrm>
          <a:prstGeom prst="rect">
            <a:avLst/>
          </a:prstGeom>
          <a:solidFill>
            <a:srgbClr val="E8ECF1"/>
          </a:solidFill>
          <a:ln w="12700">
            <a:solidFill>
              <a:srgbClr val="D0D8E4"/>
            </a:solidFill>
            <a:prstDash val="solid"/>
          </a:ln>
        </p:spPr>
        <p:txBody>
          <a:bodyPr/>
          <a:lstStyle/>
          <a:p>
            <a:endParaRPr lang="en-US"/>
          </a:p>
        </p:txBody>
      </p:sp>
      <p:sp>
        <p:nvSpPr>
          <p:cNvPr id="62" name="Text 60"/>
          <p:cNvSpPr/>
          <p:nvPr/>
        </p:nvSpPr>
        <p:spPr>
          <a:xfrm>
            <a:off x="429768" y="4919472"/>
            <a:ext cx="2377440" cy="493776"/>
          </a:xfrm>
          <a:prstGeom prst="rect">
            <a:avLst/>
          </a:prstGeom>
          <a:noFill/>
          <a:ln/>
        </p:spPr>
        <p:txBody>
          <a:bodyPr wrap="square" rtlCol="0" anchor="ctr"/>
          <a:lstStyle/>
          <a:p>
            <a:pPr marL="0" indent="0">
              <a:buNone/>
            </a:pPr>
            <a:r>
              <a:rPr lang="en-US" sz="1150" b="1" dirty="0">
                <a:solidFill>
                  <a:srgbClr val="06185F"/>
                </a:solidFill>
              </a:rPr>
              <a:t>Use independently?</a:t>
            </a:r>
            <a:endParaRPr lang="en-US" sz="1150" dirty="0"/>
          </a:p>
        </p:txBody>
      </p:sp>
      <p:sp>
        <p:nvSpPr>
          <p:cNvPr id="63" name="Shape 61"/>
          <p:cNvSpPr/>
          <p:nvPr/>
        </p:nvSpPr>
        <p:spPr>
          <a:xfrm>
            <a:off x="2880360" y="4919472"/>
            <a:ext cx="2743200" cy="493776"/>
          </a:xfrm>
          <a:prstGeom prst="rect">
            <a:avLst/>
          </a:prstGeom>
          <a:solidFill>
            <a:srgbClr val="FEFDF8"/>
          </a:solidFill>
          <a:ln w="12700">
            <a:solidFill>
              <a:srgbClr val="D0D8E4"/>
            </a:solidFill>
            <a:prstDash val="solid"/>
          </a:ln>
        </p:spPr>
        <p:txBody>
          <a:bodyPr/>
          <a:lstStyle/>
          <a:p>
            <a:endParaRPr lang="en-US"/>
          </a:p>
        </p:txBody>
      </p:sp>
      <p:sp>
        <p:nvSpPr>
          <p:cNvPr id="64" name="Text 62"/>
          <p:cNvSpPr/>
          <p:nvPr/>
        </p:nvSpPr>
        <p:spPr>
          <a:xfrm>
            <a:off x="2990088" y="4919472"/>
            <a:ext cx="2560320" cy="493776"/>
          </a:xfrm>
          <a:prstGeom prst="rect">
            <a:avLst/>
          </a:prstGeom>
          <a:noFill/>
          <a:ln/>
        </p:spPr>
        <p:txBody>
          <a:bodyPr wrap="square" rtlCol="0" anchor="ctr"/>
          <a:lstStyle/>
          <a:p>
            <a:pPr marL="0" indent="0">
              <a:buNone/>
            </a:pPr>
            <a:r>
              <a:rPr lang="en-US" sz="1100" dirty="0">
                <a:solidFill>
                  <a:srgbClr val="575A5D"/>
                </a:solidFill>
              </a:rPr>
              <a:t>Yes</a:t>
            </a:r>
            <a:endParaRPr lang="en-US" sz="1100" dirty="0"/>
          </a:p>
        </p:txBody>
      </p:sp>
      <p:sp>
        <p:nvSpPr>
          <p:cNvPr id="65" name="Shape 63"/>
          <p:cNvSpPr/>
          <p:nvPr/>
        </p:nvSpPr>
        <p:spPr>
          <a:xfrm>
            <a:off x="5623560" y="4919472"/>
            <a:ext cx="3017520" cy="493776"/>
          </a:xfrm>
          <a:prstGeom prst="rect">
            <a:avLst/>
          </a:prstGeom>
          <a:solidFill>
            <a:srgbClr val="FEFDF8"/>
          </a:solidFill>
          <a:ln w="12700">
            <a:solidFill>
              <a:srgbClr val="D0D8E4"/>
            </a:solidFill>
            <a:prstDash val="solid"/>
          </a:ln>
        </p:spPr>
        <p:txBody>
          <a:bodyPr/>
          <a:lstStyle/>
          <a:p>
            <a:endParaRPr lang="en-US"/>
          </a:p>
        </p:txBody>
      </p:sp>
      <p:sp>
        <p:nvSpPr>
          <p:cNvPr id="66" name="Text 64"/>
          <p:cNvSpPr/>
          <p:nvPr/>
        </p:nvSpPr>
        <p:spPr>
          <a:xfrm>
            <a:off x="5733288" y="4919472"/>
            <a:ext cx="2834640" cy="493776"/>
          </a:xfrm>
          <a:prstGeom prst="rect">
            <a:avLst/>
          </a:prstGeom>
          <a:noFill/>
          <a:ln/>
        </p:spPr>
        <p:txBody>
          <a:bodyPr wrap="square" rtlCol="0" anchor="ctr"/>
          <a:lstStyle/>
          <a:p>
            <a:pPr marL="0" indent="0">
              <a:buNone/>
            </a:pPr>
            <a:r>
              <a:rPr lang="en-US" sz="1100" dirty="0">
                <a:solidFill>
                  <a:srgbClr val="575A5D"/>
                </a:solidFill>
              </a:rPr>
              <a:t>Yes</a:t>
            </a:r>
            <a:endParaRPr lang="en-US" sz="1100" dirty="0"/>
          </a:p>
        </p:txBody>
      </p:sp>
      <p:sp>
        <p:nvSpPr>
          <p:cNvPr id="67" name="Shape 65"/>
          <p:cNvSpPr/>
          <p:nvPr/>
        </p:nvSpPr>
        <p:spPr>
          <a:xfrm>
            <a:off x="8641080" y="4919472"/>
            <a:ext cx="3017520" cy="493776"/>
          </a:xfrm>
          <a:prstGeom prst="rect">
            <a:avLst/>
          </a:prstGeom>
          <a:solidFill>
            <a:srgbClr val="CCF0EE"/>
          </a:solidFill>
          <a:ln w="12700">
            <a:solidFill>
              <a:srgbClr val="D0D8E4"/>
            </a:solidFill>
            <a:prstDash val="solid"/>
          </a:ln>
        </p:spPr>
        <p:txBody>
          <a:bodyPr/>
          <a:lstStyle/>
          <a:p>
            <a:endParaRPr lang="en-US"/>
          </a:p>
        </p:txBody>
      </p:sp>
      <p:sp>
        <p:nvSpPr>
          <p:cNvPr id="68" name="Text 66"/>
          <p:cNvSpPr/>
          <p:nvPr/>
        </p:nvSpPr>
        <p:spPr>
          <a:xfrm>
            <a:off x="8750808" y="4919472"/>
            <a:ext cx="2834640" cy="493776"/>
          </a:xfrm>
          <a:prstGeom prst="rect">
            <a:avLst/>
          </a:prstGeom>
          <a:noFill/>
          <a:ln/>
        </p:spPr>
        <p:txBody>
          <a:bodyPr wrap="square" rtlCol="0" anchor="ctr"/>
          <a:lstStyle/>
          <a:p>
            <a:pPr marL="0" indent="0">
              <a:buNone/>
            </a:pPr>
            <a:r>
              <a:rPr lang="en-US" sz="1100" dirty="0">
                <a:solidFill>
                  <a:srgbClr val="575A5D"/>
                </a:solidFill>
              </a:rPr>
              <a:t>Best on JHKnow/ARCU data</a:t>
            </a:r>
            <a:endParaRPr lang="en-US" sz="1100" dirty="0"/>
          </a:p>
        </p:txBody>
      </p:sp>
      <p:sp>
        <p:nvSpPr>
          <p:cNvPr id="69" name="Shape 67"/>
          <p:cNvSpPr/>
          <p:nvPr/>
        </p:nvSpPr>
        <p:spPr>
          <a:xfrm>
            <a:off x="8641080" y="1325880"/>
            <a:ext cx="3017520" cy="201168"/>
          </a:xfrm>
          <a:prstGeom prst="rect">
            <a:avLst/>
          </a:prstGeom>
          <a:solidFill>
            <a:srgbClr val="F5A623"/>
          </a:solidFill>
          <a:ln/>
        </p:spPr>
        <p:txBody>
          <a:bodyPr/>
          <a:lstStyle/>
          <a:p>
            <a:endParaRPr lang="en-US"/>
          </a:p>
        </p:txBody>
      </p:sp>
      <p:sp>
        <p:nvSpPr>
          <p:cNvPr id="70" name="Text 68"/>
          <p:cNvSpPr/>
          <p:nvPr/>
        </p:nvSpPr>
        <p:spPr>
          <a:xfrm>
            <a:off x="8641080" y="1325880"/>
            <a:ext cx="3017520" cy="201168"/>
          </a:xfrm>
          <a:prstGeom prst="rect">
            <a:avLst/>
          </a:prstGeom>
          <a:noFill/>
          <a:ln/>
        </p:spPr>
        <p:txBody>
          <a:bodyPr wrap="square" lIns="0" tIns="0" rIns="0" bIns="0" rtlCol="0" anchor="ctr"/>
          <a:lstStyle/>
          <a:p>
            <a:pPr marL="0" indent="0" algn="ctr">
              <a:buNone/>
            </a:pPr>
            <a:r>
              <a:rPr lang="en-US" sz="900" b="1" dirty="0">
                <a:solidFill>
                  <a:srgbClr val="06185F"/>
                </a:solidFill>
              </a:rPr>
              <a:t>✦ NEW OFFERING</a:t>
            </a:r>
            <a:endParaRPr lang="en-US" sz="900" dirty="0"/>
          </a:p>
        </p:txBody>
      </p:sp>
      <p:sp>
        <p:nvSpPr>
          <p:cNvPr id="71" name="Text 69"/>
          <p:cNvSpPr/>
          <p:nvPr/>
        </p:nvSpPr>
        <p:spPr>
          <a:xfrm>
            <a:off x="320040" y="5897880"/>
            <a:ext cx="11430000" cy="320040"/>
          </a:xfrm>
          <a:prstGeom prst="rect">
            <a:avLst/>
          </a:prstGeom>
          <a:noFill/>
          <a:ln/>
        </p:spPr>
        <p:txBody>
          <a:bodyPr wrap="square" rtlCol="0" anchor="ctr"/>
          <a:lstStyle/>
          <a:p>
            <a:pPr marL="0" indent="0">
              <a:buNone/>
            </a:pPr>
            <a:r>
              <a:rPr lang="en-US" sz="950" i="1" dirty="0">
                <a:solidFill>
                  <a:srgbClr val="4A6080"/>
                </a:solidFill>
              </a:rPr>
              <a:t>* Products can be used independently or in combination. JHBI delivers maximum value when layered on JHKnow or ARCU.</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06185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9E7A"/>
          </a:solidFill>
          <a:ln/>
        </p:spPr>
        <p:txBody>
          <a:bodyPr/>
          <a:lstStyle/>
          <a:p>
            <a:endParaRPr lang="en-US"/>
          </a:p>
        </p:txBody>
      </p:sp>
      <p:sp>
        <p:nvSpPr>
          <p:cNvPr id="3" name="Text 1"/>
          <p:cNvSpPr/>
          <p:nvPr/>
        </p:nvSpPr>
        <p:spPr>
          <a:xfrm>
            <a:off x="365760" y="274320"/>
            <a:ext cx="9144000" cy="594360"/>
          </a:xfrm>
          <a:prstGeom prst="rect">
            <a:avLst/>
          </a:prstGeom>
          <a:noFill/>
          <a:ln/>
        </p:spPr>
        <p:txBody>
          <a:bodyPr wrap="square" rtlCol="0" anchor="ctr"/>
          <a:lstStyle/>
          <a:p>
            <a:pPr marL="0" indent="0">
              <a:buNone/>
            </a:pPr>
            <a:r>
              <a:rPr lang="en-US" sz="3200" b="1" dirty="0">
                <a:solidFill>
                  <a:srgbClr val="FFFFFF"/>
                </a:solidFill>
              </a:rPr>
              <a:t>Why Jack Henry for Data?</a:t>
            </a:r>
            <a:endParaRPr lang="en-US" sz="3200" dirty="0"/>
          </a:p>
        </p:txBody>
      </p:sp>
      <p:sp>
        <p:nvSpPr>
          <p:cNvPr id="4" name="Text 2"/>
          <p:cNvSpPr/>
          <p:nvPr/>
        </p:nvSpPr>
        <p:spPr>
          <a:xfrm>
            <a:off x="365760" y="914400"/>
            <a:ext cx="9144000" cy="365760"/>
          </a:xfrm>
          <a:prstGeom prst="rect">
            <a:avLst/>
          </a:prstGeom>
          <a:noFill/>
          <a:ln/>
        </p:spPr>
        <p:txBody>
          <a:bodyPr wrap="square" rtlCol="0" anchor="ctr"/>
          <a:lstStyle/>
          <a:p>
            <a:pPr marL="0" indent="0">
              <a:buNone/>
            </a:pPr>
            <a:r>
              <a:rPr lang="en-US" sz="1400" i="1" dirty="0">
                <a:solidFill>
                  <a:srgbClr val="009E7A"/>
                </a:solidFill>
              </a:rPr>
              <a:t>Seven reasons your peers choose JH data products over building their own.</a:t>
            </a:r>
            <a:endParaRPr lang="en-US" sz="1400" dirty="0"/>
          </a:p>
        </p:txBody>
      </p:sp>
      <p:sp>
        <p:nvSpPr>
          <p:cNvPr id="5" name="Shape 3"/>
          <p:cNvSpPr/>
          <p:nvPr/>
        </p:nvSpPr>
        <p:spPr>
          <a:xfrm>
            <a:off x="365760" y="1463040"/>
            <a:ext cx="3611880" cy="2011680"/>
          </a:xfrm>
          <a:prstGeom prst="rect">
            <a:avLst/>
          </a:prstGeom>
          <a:solidFill>
            <a:srgbClr val="06185F"/>
          </a:solidFill>
          <a:ln/>
          <a:effectLst>
            <a:outerShdw blurRad="127000" dist="25400" dir="8100000" algn="bl" rotWithShape="0">
              <a:srgbClr val="000000">
                <a:alpha val="20000"/>
              </a:srgbClr>
            </a:outerShdw>
          </a:effectLst>
        </p:spPr>
        <p:txBody>
          <a:bodyPr/>
          <a:lstStyle/>
          <a:p>
            <a:endParaRPr lang="en-US"/>
          </a:p>
        </p:txBody>
      </p:sp>
      <p:sp>
        <p:nvSpPr>
          <p:cNvPr id="6" name="Shape 4"/>
          <p:cNvSpPr/>
          <p:nvPr/>
        </p:nvSpPr>
        <p:spPr>
          <a:xfrm>
            <a:off x="365760" y="1463040"/>
            <a:ext cx="3611880" cy="64008"/>
          </a:xfrm>
          <a:prstGeom prst="rect">
            <a:avLst/>
          </a:prstGeom>
          <a:solidFill>
            <a:srgbClr val="009E7A"/>
          </a:solidFill>
          <a:ln/>
        </p:spPr>
        <p:txBody>
          <a:bodyPr/>
          <a:lstStyle/>
          <a:p>
            <a:endParaRPr lang="en-US"/>
          </a:p>
        </p:txBody>
      </p:sp>
      <p:sp>
        <p:nvSpPr>
          <p:cNvPr id="7" name="Shape 5"/>
          <p:cNvSpPr/>
          <p:nvPr/>
        </p:nvSpPr>
        <p:spPr>
          <a:xfrm>
            <a:off x="548640" y="1691640"/>
            <a:ext cx="548640" cy="548640"/>
          </a:xfrm>
          <a:prstGeom prst="ellipse">
            <a:avLst/>
          </a:prstGeom>
          <a:solidFill>
            <a:srgbClr val="009E7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612648" y="1737360"/>
            <a:ext cx="402336" cy="402336"/>
          </a:xfrm>
          <a:prstGeom prst="rect">
            <a:avLst/>
          </a:prstGeom>
        </p:spPr>
      </p:pic>
      <p:sp>
        <p:nvSpPr>
          <p:cNvPr id="9" name="Text 6"/>
          <p:cNvSpPr/>
          <p:nvPr/>
        </p:nvSpPr>
        <p:spPr>
          <a:xfrm>
            <a:off x="1234440" y="1737360"/>
            <a:ext cx="2560320" cy="384048"/>
          </a:xfrm>
          <a:prstGeom prst="rect">
            <a:avLst/>
          </a:prstGeom>
          <a:noFill/>
          <a:ln/>
        </p:spPr>
        <p:txBody>
          <a:bodyPr wrap="square" rtlCol="0" anchor="ctr"/>
          <a:lstStyle/>
          <a:p>
            <a:pPr marL="0" indent="0">
              <a:buNone/>
            </a:pPr>
            <a:r>
              <a:rPr lang="en-US" sz="1300" b="1" dirty="0">
                <a:solidFill>
                  <a:srgbClr val="FFFFFF"/>
                </a:solidFill>
              </a:rPr>
              <a:t>Native Integration</a:t>
            </a:r>
            <a:endParaRPr lang="en-US" sz="1300" dirty="0"/>
          </a:p>
        </p:txBody>
      </p:sp>
      <p:sp>
        <p:nvSpPr>
          <p:cNvPr id="10" name="Text 7"/>
          <p:cNvSpPr/>
          <p:nvPr/>
        </p:nvSpPr>
        <p:spPr>
          <a:xfrm>
            <a:off x="548640" y="2359152"/>
            <a:ext cx="3246120" cy="868680"/>
          </a:xfrm>
          <a:prstGeom prst="rect">
            <a:avLst/>
          </a:prstGeom>
          <a:noFill/>
          <a:ln/>
        </p:spPr>
        <p:txBody>
          <a:bodyPr wrap="square" rtlCol="0" anchor="ctr"/>
          <a:lstStyle/>
          <a:p>
            <a:pPr marL="0" indent="0">
              <a:buNone/>
            </a:pPr>
            <a:r>
              <a:rPr lang="en-US" sz="1100" dirty="0">
                <a:solidFill>
                  <a:srgbClr val="717070"/>
                </a:solidFill>
              </a:rPr>
              <a:t>Data comes directly from JH core systems — no third-party connectors or custom ETL to maintain.</a:t>
            </a:r>
            <a:endParaRPr lang="en-US" sz="1100" dirty="0"/>
          </a:p>
        </p:txBody>
      </p:sp>
      <p:sp>
        <p:nvSpPr>
          <p:cNvPr id="11" name="Shape 8"/>
          <p:cNvSpPr/>
          <p:nvPr/>
        </p:nvSpPr>
        <p:spPr>
          <a:xfrm>
            <a:off x="4251960" y="1463040"/>
            <a:ext cx="3611880" cy="2011680"/>
          </a:xfrm>
          <a:prstGeom prst="rect">
            <a:avLst/>
          </a:prstGeom>
          <a:solidFill>
            <a:srgbClr val="06185F"/>
          </a:solidFill>
          <a:ln/>
          <a:effectLst>
            <a:outerShdw blurRad="127000" dist="25400" dir="8100000" algn="bl" rotWithShape="0">
              <a:srgbClr val="000000">
                <a:alpha val="20000"/>
              </a:srgbClr>
            </a:outerShdw>
          </a:effectLst>
        </p:spPr>
        <p:txBody>
          <a:bodyPr/>
          <a:lstStyle/>
          <a:p>
            <a:endParaRPr lang="en-US"/>
          </a:p>
        </p:txBody>
      </p:sp>
      <p:sp>
        <p:nvSpPr>
          <p:cNvPr id="12" name="Shape 9"/>
          <p:cNvSpPr/>
          <p:nvPr/>
        </p:nvSpPr>
        <p:spPr>
          <a:xfrm>
            <a:off x="4251960" y="1463040"/>
            <a:ext cx="3611880" cy="64008"/>
          </a:xfrm>
          <a:prstGeom prst="rect">
            <a:avLst/>
          </a:prstGeom>
          <a:solidFill>
            <a:srgbClr val="009E7A"/>
          </a:solidFill>
          <a:ln/>
        </p:spPr>
        <p:txBody>
          <a:bodyPr/>
          <a:lstStyle/>
          <a:p>
            <a:endParaRPr lang="en-US"/>
          </a:p>
        </p:txBody>
      </p:sp>
      <p:sp>
        <p:nvSpPr>
          <p:cNvPr id="13" name="Shape 10"/>
          <p:cNvSpPr/>
          <p:nvPr/>
        </p:nvSpPr>
        <p:spPr>
          <a:xfrm>
            <a:off x="4434840" y="1691640"/>
            <a:ext cx="548640" cy="548640"/>
          </a:xfrm>
          <a:prstGeom prst="ellipse">
            <a:avLst/>
          </a:prstGeom>
          <a:solidFill>
            <a:srgbClr val="009E7A"/>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498848" y="1737360"/>
            <a:ext cx="402336" cy="402336"/>
          </a:xfrm>
          <a:prstGeom prst="rect">
            <a:avLst/>
          </a:prstGeom>
        </p:spPr>
      </p:pic>
      <p:sp>
        <p:nvSpPr>
          <p:cNvPr id="15" name="Text 11"/>
          <p:cNvSpPr/>
          <p:nvPr/>
        </p:nvSpPr>
        <p:spPr>
          <a:xfrm>
            <a:off x="5120640" y="1737360"/>
            <a:ext cx="2560320" cy="384048"/>
          </a:xfrm>
          <a:prstGeom prst="rect">
            <a:avLst/>
          </a:prstGeom>
          <a:noFill/>
          <a:ln/>
        </p:spPr>
        <p:txBody>
          <a:bodyPr wrap="square" rtlCol="0" anchor="ctr"/>
          <a:lstStyle/>
          <a:p>
            <a:pPr marL="0" indent="0">
              <a:buNone/>
            </a:pPr>
            <a:r>
              <a:rPr lang="en-US" sz="1300" b="1" dirty="0">
                <a:solidFill>
                  <a:srgbClr val="FFFFFF"/>
                </a:solidFill>
              </a:rPr>
              <a:t>Security &amp; Compliance</a:t>
            </a:r>
            <a:endParaRPr lang="en-US" sz="1300" dirty="0"/>
          </a:p>
        </p:txBody>
      </p:sp>
      <p:sp>
        <p:nvSpPr>
          <p:cNvPr id="16" name="Text 12"/>
          <p:cNvSpPr/>
          <p:nvPr/>
        </p:nvSpPr>
        <p:spPr>
          <a:xfrm>
            <a:off x="4434840" y="2359152"/>
            <a:ext cx="3246120" cy="868680"/>
          </a:xfrm>
          <a:prstGeom prst="rect">
            <a:avLst/>
          </a:prstGeom>
          <a:noFill/>
          <a:ln/>
        </p:spPr>
        <p:txBody>
          <a:bodyPr wrap="square" rtlCol="0" anchor="ctr"/>
          <a:lstStyle/>
          <a:p>
            <a:pPr marL="0" indent="0">
              <a:buNone/>
            </a:pPr>
            <a:r>
              <a:rPr lang="en-US" sz="1100" dirty="0">
                <a:solidFill>
                  <a:srgbClr val="717070"/>
                </a:solidFill>
              </a:rPr>
              <a:t>SOC2-compliant, single-tenant architecture. Your data never co-mingles with another institution.</a:t>
            </a:r>
            <a:endParaRPr lang="en-US" sz="1100" dirty="0"/>
          </a:p>
        </p:txBody>
      </p:sp>
      <p:sp>
        <p:nvSpPr>
          <p:cNvPr id="17" name="Shape 13"/>
          <p:cNvSpPr/>
          <p:nvPr/>
        </p:nvSpPr>
        <p:spPr>
          <a:xfrm>
            <a:off x="8138160" y="1463040"/>
            <a:ext cx="3611880" cy="2011680"/>
          </a:xfrm>
          <a:prstGeom prst="rect">
            <a:avLst/>
          </a:prstGeom>
          <a:solidFill>
            <a:srgbClr val="06185F"/>
          </a:solidFill>
          <a:ln/>
          <a:effectLst>
            <a:outerShdw blurRad="127000" dist="25400" dir="8100000" algn="bl" rotWithShape="0">
              <a:srgbClr val="000000">
                <a:alpha val="20000"/>
              </a:srgbClr>
            </a:outerShdw>
          </a:effectLst>
        </p:spPr>
        <p:txBody>
          <a:bodyPr/>
          <a:lstStyle/>
          <a:p>
            <a:endParaRPr lang="en-US"/>
          </a:p>
        </p:txBody>
      </p:sp>
      <p:sp>
        <p:nvSpPr>
          <p:cNvPr id="18" name="Shape 14"/>
          <p:cNvSpPr/>
          <p:nvPr/>
        </p:nvSpPr>
        <p:spPr>
          <a:xfrm>
            <a:off x="8138160" y="1463040"/>
            <a:ext cx="3611880" cy="64008"/>
          </a:xfrm>
          <a:prstGeom prst="rect">
            <a:avLst/>
          </a:prstGeom>
          <a:solidFill>
            <a:srgbClr val="009E7A"/>
          </a:solidFill>
          <a:ln/>
        </p:spPr>
        <p:txBody>
          <a:bodyPr/>
          <a:lstStyle/>
          <a:p>
            <a:endParaRPr lang="en-US"/>
          </a:p>
        </p:txBody>
      </p:sp>
      <p:sp>
        <p:nvSpPr>
          <p:cNvPr id="19" name="Shape 15"/>
          <p:cNvSpPr/>
          <p:nvPr/>
        </p:nvSpPr>
        <p:spPr>
          <a:xfrm>
            <a:off x="8321040" y="1691640"/>
            <a:ext cx="548640" cy="548640"/>
          </a:xfrm>
          <a:prstGeom prst="ellipse">
            <a:avLst/>
          </a:prstGeom>
          <a:solidFill>
            <a:srgbClr val="009E7A"/>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385048" y="1737360"/>
            <a:ext cx="402336" cy="402336"/>
          </a:xfrm>
          <a:prstGeom prst="rect">
            <a:avLst/>
          </a:prstGeom>
        </p:spPr>
      </p:pic>
      <p:sp>
        <p:nvSpPr>
          <p:cNvPr id="21" name="Text 16"/>
          <p:cNvSpPr/>
          <p:nvPr/>
        </p:nvSpPr>
        <p:spPr>
          <a:xfrm>
            <a:off x="9006840" y="1737360"/>
            <a:ext cx="2560320" cy="384048"/>
          </a:xfrm>
          <a:prstGeom prst="rect">
            <a:avLst/>
          </a:prstGeom>
          <a:noFill/>
          <a:ln/>
        </p:spPr>
        <p:txBody>
          <a:bodyPr wrap="square" rtlCol="0" anchor="ctr"/>
          <a:lstStyle/>
          <a:p>
            <a:pPr marL="0" indent="0">
              <a:buNone/>
            </a:pPr>
            <a:r>
              <a:rPr lang="en-US" sz="1300" b="1" dirty="0">
                <a:solidFill>
                  <a:srgbClr val="FFFFFF"/>
                </a:solidFill>
              </a:rPr>
              <a:t>Pre-Built Models</a:t>
            </a:r>
            <a:endParaRPr lang="en-US" sz="1300" dirty="0"/>
          </a:p>
        </p:txBody>
      </p:sp>
      <p:sp>
        <p:nvSpPr>
          <p:cNvPr id="22" name="Text 17"/>
          <p:cNvSpPr/>
          <p:nvPr/>
        </p:nvSpPr>
        <p:spPr>
          <a:xfrm>
            <a:off x="8321040" y="2359152"/>
            <a:ext cx="3246120" cy="868680"/>
          </a:xfrm>
          <a:prstGeom prst="rect">
            <a:avLst/>
          </a:prstGeom>
          <a:noFill/>
          <a:ln/>
        </p:spPr>
        <p:txBody>
          <a:bodyPr wrap="square" rtlCol="0" anchor="ctr"/>
          <a:lstStyle/>
          <a:p>
            <a:pPr marL="0" indent="0">
              <a:buNone/>
            </a:pPr>
            <a:r>
              <a:rPr lang="en-US" sz="1100" dirty="0">
                <a:solidFill>
                  <a:srgbClr val="717070"/>
                </a:solidFill>
              </a:rPr>
              <a:t>Years of banking domain expertise baked into the data models — not starting from a blank schema.</a:t>
            </a:r>
            <a:endParaRPr lang="en-US" sz="1100" dirty="0"/>
          </a:p>
        </p:txBody>
      </p:sp>
      <p:sp>
        <p:nvSpPr>
          <p:cNvPr id="23" name="Shape 18"/>
          <p:cNvSpPr/>
          <p:nvPr/>
        </p:nvSpPr>
        <p:spPr>
          <a:xfrm>
            <a:off x="365760" y="3749040"/>
            <a:ext cx="3611880" cy="2011680"/>
          </a:xfrm>
          <a:prstGeom prst="rect">
            <a:avLst/>
          </a:prstGeom>
          <a:solidFill>
            <a:srgbClr val="06185F"/>
          </a:solidFill>
          <a:ln/>
          <a:effectLst>
            <a:outerShdw blurRad="127000" dist="25400" dir="8100000" algn="bl" rotWithShape="0">
              <a:srgbClr val="000000">
                <a:alpha val="20000"/>
              </a:srgbClr>
            </a:outerShdw>
          </a:effectLst>
        </p:spPr>
        <p:txBody>
          <a:bodyPr/>
          <a:lstStyle/>
          <a:p>
            <a:endParaRPr lang="en-US"/>
          </a:p>
        </p:txBody>
      </p:sp>
      <p:sp>
        <p:nvSpPr>
          <p:cNvPr id="24" name="Shape 19"/>
          <p:cNvSpPr/>
          <p:nvPr/>
        </p:nvSpPr>
        <p:spPr>
          <a:xfrm>
            <a:off x="365760" y="3749040"/>
            <a:ext cx="3611880" cy="64008"/>
          </a:xfrm>
          <a:prstGeom prst="rect">
            <a:avLst/>
          </a:prstGeom>
          <a:solidFill>
            <a:srgbClr val="009E7A"/>
          </a:solidFill>
          <a:ln/>
        </p:spPr>
        <p:txBody>
          <a:bodyPr/>
          <a:lstStyle/>
          <a:p>
            <a:endParaRPr lang="en-US"/>
          </a:p>
        </p:txBody>
      </p:sp>
      <p:sp>
        <p:nvSpPr>
          <p:cNvPr id="25" name="Shape 20"/>
          <p:cNvSpPr/>
          <p:nvPr/>
        </p:nvSpPr>
        <p:spPr>
          <a:xfrm>
            <a:off x="548640" y="3977640"/>
            <a:ext cx="548640" cy="548640"/>
          </a:xfrm>
          <a:prstGeom prst="ellipse">
            <a:avLst/>
          </a:prstGeom>
          <a:solidFill>
            <a:srgbClr val="009E7A"/>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612648" y="4023360"/>
            <a:ext cx="402336" cy="402336"/>
          </a:xfrm>
          <a:prstGeom prst="rect">
            <a:avLst/>
          </a:prstGeom>
        </p:spPr>
      </p:pic>
      <p:sp>
        <p:nvSpPr>
          <p:cNvPr id="27" name="Text 21"/>
          <p:cNvSpPr/>
          <p:nvPr/>
        </p:nvSpPr>
        <p:spPr>
          <a:xfrm>
            <a:off x="1234440" y="4023360"/>
            <a:ext cx="2560320" cy="384048"/>
          </a:xfrm>
          <a:prstGeom prst="rect">
            <a:avLst/>
          </a:prstGeom>
          <a:noFill/>
          <a:ln/>
        </p:spPr>
        <p:txBody>
          <a:bodyPr wrap="square" rtlCol="0" anchor="ctr"/>
          <a:lstStyle/>
          <a:p>
            <a:pPr marL="0" indent="0">
              <a:buNone/>
            </a:pPr>
            <a:r>
              <a:rPr lang="en-US" sz="1300" b="1" dirty="0">
                <a:solidFill>
                  <a:srgbClr val="FFFFFF"/>
                </a:solidFill>
              </a:rPr>
              <a:t>Faster ROI</a:t>
            </a:r>
            <a:endParaRPr lang="en-US" sz="1300" dirty="0"/>
          </a:p>
        </p:txBody>
      </p:sp>
      <p:sp>
        <p:nvSpPr>
          <p:cNvPr id="28" name="Text 22"/>
          <p:cNvSpPr/>
          <p:nvPr/>
        </p:nvSpPr>
        <p:spPr>
          <a:xfrm>
            <a:off x="548640" y="4645152"/>
            <a:ext cx="3246120" cy="868680"/>
          </a:xfrm>
          <a:prstGeom prst="rect">
            <a:avLst/>
          </a:prstGeom>
          <a:noFill/>
          <a:ln/>
        </p:spPr>
        <p:txBody>
          <a:bodyPr wrap="square" rtlCol="0" anchor="ctr"/>
          <a:lstStyle/>
          <a:p>
            <a:pPr marL="0" indent="0">
              <a:buNone/>
            </a:pPr>
            <a:r>
              <a:rPr lang="en-US" sz="1100" dirty="0">
                <a:solidFill>
                  <a:srgbClr val="717070"/>
                </a:solidFill>
              </a:rPr>
              <a:t>Operational in days, not months. No data engineering hiring cycle required.</a:t>
            </a:r>
            <a:endParaRPr lang="en-US" sz="1100" dirty="0"/>
          </a:p>
        </p:txBody>
      </p:sp>
      <p:sp>
        <p:nvSpPr>
          <p:cNvPr id="29" name="Shape 23"/>
          <p:cNvSpPr/>
          <p:nvPr/>
        </p:nvSpPr>
        <p:spPr>
          <a:xfrm>
            <a:off x="4251960" y="3749040"/>
            <a:ext cx="3611880" cy="2011680"/>
          </a:xfrm>
          <a:prstGeom prst="rect">
            <a:avLst/>
          </a:prstGeom>
          <a:solidFill>
            <a:srgbClr val="06185F"/>
          </a:solidFill>
          <a:ln/>
          <a:effectLst>
            <a:outerShdw blurRad="127000" dist="25400" dir="8100000" algn="bl" rotWithShape="0">
              <a:srgbClr val="000000">
                <a:alpha val="20000"/>
              </a:srgbClr>
            </a:outerShdw>
          </a:effectLst>
        </p:spPr>
        <p:txBody>
          <a:bodyPr/>
          <a:lstStyle/>
          <a:p>
            <a:endParaRPr lang="en-US"/>
          </a:p>
        </p:txBody>
      </p:sp>
      <p:sp>
        <p:nvSpPr>
          <p:cNvPr id="30" name="Shape 24"/>
          <p:cNvSpPr/>
          <p:nvPr/>
        </p:nvSpPr>
        <p:spPr>
          <a:xfrm>
            <a:off x="4251960" y="3749040"/>
            <a:ext cx="3611880" cy="64008"/>
          </a:xfrm>
          <a:prstGeom prst="rect">
            <a:avLst/>
          </a:prstGeom>
          <a:solidFill>
            <a:srgbClr val="009E7A"/>
          </a:solidFill>
          <a:ln/>
        </p:spPr>
        <p:txBody>
          <a:bodyPr/>
          <a:lstStyle/>
          <a:p>
            <a:endParaRPr lang="en-US"/>
          </a:p>
        </p:txBody>
      </p:sp>
      <p:sp>
        <p:nvSpPr>
          <p:cNvPr id="31" name="Shape 25"/>
          <p:cNvSpPr/>
          <p:nvPr/>
        </p:nvSpPr>
        <p:spPr>
          <a:xfrm>
            <a:off x="4434840" y="3977640"/>
            <a:ext cx="548640" cy="548640"/>
          </a:xfrm>
          <a:prstGeom prst="ellipse">
            <a:avLst/>
          </a:prstGeom>
          <a:solidFill>
            <a:srgbClr val="009E7A"/>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4498848" y="4023360"/>
            <a:ext cx="402336" cy="402336"/>
          </a:xfrm>
          <a:prstGeom prst="rect">
            <a:avLst/>
          </a:prstGeom>
        </p:spPr>
      </p:pic>
      <p:sp>
        <p:nvSpPr>
          <p:cNvPr id="33" name="Text 26"/>
          <p:cNvSpPr/>
          <p:nvPr/>
        </p:nvSpPr>
        <p:spPr>
          <a:xfrm>
            <a:off x="5120640" y="4023360"/>
            <a:ext cx="2560320" cy="384048"/>
          </a:xfrm>
          <a:prstGeom prst="rect">
            <a:avLst/>
          </a:prstGeom>
          <a:noFill/>
          <a:ln/>
        </p:spPr>
        <p:txBody>
          <a:bodyPr wrap="square" rtlCol="0" anchor="ctr"/>
          <a:lstStyle/>
          <a:p>
            <a:pPr marL="0" indent="0">
              <a:buNone/>
            </a:pPr>
            <a:r>
              <a:rPr lang="en-US" sz="1300" b="1" dirty="0">
                <a:solidFill>
                  <a:srgbClr val="FFFFFF"/>
                </a:solidFill>
              </a:rPr>
              <a:t>Cloud-Native</a:t>
            </a:r>
            <a:endParaRPr lang="en-US" sz="1300" dirty="0"/>
          </a:p>
        </p:txBody>
      </p:sp>
      <p:sp>
        <p:nvSpPr>
          <p:cNvPr id="34" name="Text 27"/>
          <p:cNvSpPr/>
          <p:nvPr/>
        </p:nvSpPr>
        <p:spPr>
          <a:xfrm>
            <a:off x="4434840" y="4645152"/>
            <a:ext cx="3246120" cy="868680"/>
          </a:xfrm>
          <a:prstGeom prst="rect">
            <a:avLst/>
          </a:prstGeom>
          <a:noFill/>
          <a:ln/>
        </p:spPr>
        <p:txBody>
          <a:bodyPr wrap="square" rtlCol="0" anchor="ctr"/>
          <a:lstStyle/>
          <a:p>
            <a:pPr marL="0" indent="0">
              <a:buNone/>
            </a:pPr>
            <a:r>
              <a:rPr lang="en-US" sz="1100" dirty="0">
                <a:solidFill>
                  <a:srgbClr val="717070"/>
                </a:solidFill>
              </a:rPr>
              <a:t>Built on GCP/BigQuery — elastic scale, no on-premise hardware, pay for what you use.</a:t>
            </a:r>
            <a:endParaRPr lang="en-US" sz="1100" dirty="0"/>
          </a:p>
        </p:txBody>
      </p:sp>
      <p:sp>
        <p:nvSpPr>
          <p:cNvPr id="35" name="Shape 28"/>
          <p:cNvSpPr/>
          <p:nvPr/>
        </p:nvSpPr>
        <p:spPr>
          <a:xfrm>
            <a:off x="8138160" y="3749040"/>
            <a:ext cx="3611880" cy="2011680"/>
          </a:xfrm>
          <a:prstGeom prst="rect">
            <a:avLst/>
          </a:prstGeom>
          <a:solidFill>
            <a:srgbClr val="06185F"/>
          </a:solidFill>
          <a:ln/>
          <a:effectLst>
            <a:outerShdw blurRad="127000" dist="25400" dir="8100000" algn="bl" rotWithShape="0">
              <a:srgbClr val="000000">
                <a:alpha val="20000"/>
              </a:srgbClr>
            </a:outerShdw>
          </a:effectLst>
        </p:spPr>
        <p:txBody>
          <a:bodyPr/>
          <a:lstStyle/>
          <a:p>
            <a:endParaRPr lang="en-US"/>
          </a:p>
        </p:txBody>
      </p:sp>
      <p:sp>
        <p:nvSpPr>
          <p:cNvPr id="36" name="Shape 29"/>
          <p:cNvSpPr/>
          <p:nvPr/>
        </p:nvSpPr>
        <p:spPr>
          <a:xfrm>
            <a:off x="8138160" y="3749040"/>
            <a:ext cx="3611880" cy="64008"/>
          </a:xfrm>
          <a:prstGeom prst="rect">
            <a:avLst/>
          </a:prstGeom>
          <a:solidFill>
            <a:srgbClr val="009E7A"/>
          </a:solidFill>
          <a:ln/>
        </p:spPr>
        <p:txBody>
          <a:bodyPr/>
          <a:lstStyle/>
          <a:p>
            <a:endParaRPr lang="en-US"/>
          </a:p>
        </p:txBody>
      </p:sp>
      <p:sp>
        <p:nvSpPr>
          <p:cNvPr id="37" name="Shape 30"/>
          <p:cNvSpPr/>
          <p:nvPr/>
        </p:nvSpPr>
        <p:spPr>
          <a:xfrm>
            <a:off x="8321040" y="3977640"/>
            <a:ext cx="548640" cy="548640"/>
          </a:xfrm>
          <a:prstGeom prst="ellipse">
            <a:avLst/>
          </a:prstGeom>
          <a:solidFill>
            <a:srgbClr val="009E7A"/>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8385048" y="4023360"/>
            <a:ext cx="402336" cy="402336"/>
          </a:xfrm>
          <a:prstGeom prst="rect">
            <a:avLst/>
          </a:prstGeom>
        </p:spPr>
      </p:pic>
      <p:sp>
        <p:nvSpPr>
          <p:cNvPr id="39" name="Text 31"/>
          <p:cNvSpPr/>
          <p:nvPr/>
        </p:nvSpPr>
        <p:spPr>
          <a:xfrm>
            <a:off x="9006840" y="4023360"/>
            <a:ext cx="2560320" cy="384048"/>
          </a:xfrm>
          <a:prstGeom prst="rect">
            <a:avLst/>
          </a:prstGeom>
          <a:noFill/>
          <a:ln/>
        </p:spPr>
        <p:txBody>
          <a:bodyPr wrap="square" rtlCol="0" anchor="ctr"/>
          <a:lstStyle/>
          <a:p>
            <a:pPr marL="0" indent="0">
              <a:buNone/>
            </a:pPr>
            <a:r>
              <a:rPr lang="en-US" sz="1300" b="1" dirty="0">
                <a:solidFill>
                  <a:srgbClr val="FFFFFF"/>
                </a:solidFill>
              </a:rPr>
              <a:t>One Relationship</a:t>
            </a:r>
            <a:endParaRPr lang="en-US" sz="1300" dirty="0"/>
          </a:p>
        </p:txBody>
      </p:sp>
      <p:sp>
        <p:nvSpPr>
          <p:cNvPr id="40" name="Text 32"/>
          <p:cNvSpPr/>
          <p:nvPr/>
        </p:nvSpPr>
        <p:spPr>
          <a:xfrm>
            <a:off x="8321040" y="4645152"/>
            <a:ext cx="3246120" cy="868680"/>
          </a:xfrm>
          <a:prstGeom prst="rect">
            <a:avLst/>
          </a:prstGeom>
          <a:noFill/>
          <a:ln/>
        </p:spPr>
        <p:txBody>
          <a:bodyPr wrap="square" rtlCol="0" anchor="ctr"/>
          <a:lstStyle/>
          <a:p>
            <a:pPr marL="0" indent="0">
              <a:buNone/>
            </a:pPr>
            <a:r>
              <a:rPr lang="en-US" sz="1100" dirty="0">
                <a:solidFill>
                  <a:srgbClr val="717070"/>
                </a:solidFill>
              </a:rPr>
              <a:t>Core + data + BI from a single partner. One contract, one support team, one roadmap.</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EFD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1188720"/>
          </a:xfrm>
          <a:prstGeom prst="rect">
            <a:avLst/>
          </a:prstGeom>
          <a:solidFill>
            <a:srgbClr val="06185F"/>
          </a:solidFill>
          <a:ln/>
        </p:spPr>
        <p:txBody>
          <a:bodyPr/>
          <a:lstStyle/>
          <a:p>
            <a:endParaRPr lang="en-US"/>
          </a:p>
        </p:txBody>
      </p:sp>
      <p:sp>
        <p:nvSpPr>
          <p:cNvPr id="3" name="Shape 1"/>
          <p:cNvSpPr/>
          <p:nvPr/>
        </p:nvSpPr>
        <p:spPr>
          <a:xfrm>
            <a:off x="0" y="1188720"/>
            <a:ext cx="12161520" cy="64008"/>
          </a:xfrm>
          <a:prstGeom prst="rect">
            <a:avLst/>
          </a:prstGeom>
          <a:solidFill>
            <a:srgbClr val="009E7A"/>
          </a:solidFill>
          <a:ln/>
        </p:spPr>
        <p:txBody>
          <a:bodyPr/>
          <a:lstStyle/>
          <a:p>
            <a:endParaRPr lang="en-US"/>
          </a:p>
        </p:txBody>
      </p:sp>
      <p:sp>
        <p:nvSpPr>
          <p:cNvPr id="4" name="Text 2"/>
          <p:cNvSpPr/>
          <p:nvPr/>
        </p:nvSpPr>
        <p:spPr>
          <a:xfrm>
            <a:off x="457200" y="0"/>
            <a:ext cx="9144000" cy="1188720"/>
          </a:xfrm>
          <a:prstGeom prst="rect">
            <a:avLst/>
          </a:prstGeom>
          <a:noFill/>
          <a:ln/>
        </p:spPr>
        <p:txBody>
          <a:bodyPr wrap="square" rtlCol="0" anchor="ctr"/>
          <a:lstStyle/>
          <a:p>
            <a:pPr marL="0" indent="0">
              <a:buNone/>
            </a:pPr>
            <a:r>
              <a:rPr lang="en-US" sz="3200" b="1" dirty="0">
                <a:solidFill>
                  <a:srgbClr val="FFFFFF"/>
                </a:solidFill>
              </a:rPr>
              <a:t>Suggested Next Steps</a:t>
            </a:r>
            <a:endParaRPr lang="en-US" sz="3200" dirty="0"/>
          </a:p>
        </p:txBody>
      </p:sp>
      <p:sp>
        <p:nvSpPr>
          <p:cNvPr id="5" name="Shape 3"/>
          <p:cNvSpPr/>
          <p:nvPr/>
        </p:nvSpPr>
        <p:spPr>
          <a:xfrm>
            <a:off x="32004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320040" y="1463040"/>
            <a:ext cx="2743200" cy="822960"/>
          </a:xfrm>
          <a:prstGeom prst="rect">
            <a:avLst/>
          </a:prstGeom>
          <a:solidFill>
            <a:srgbClr val="06185F"/>
          </a:solidFill>
          <a:ln/>
        </p:spPr>
        <p:txBody>
          <a:bodyPr/>
          <a:lstStyle/>
          <a:p>
            <a:endParaRPr lang="en-US"/>
          </a:p>
        </p:txBody>
      </p:sp>
      <p:sp>
        <p:nvSpPr>
          <p:cNvPr id="7" name="Shape 5"/>
          <p:cNvSpPr/>
          <p:nvPr/>
        </p:nvSpPr>
        <p:spPr>
          <a:xfrm>
            <a:off x="1344168" y="1508760"/>
            <a:ext cx="694944" cy="694944"/>
          </a:xfrm>
          <a:prstGeom prst="ellipse">
            <a:avLst/>
          </a:prstGeom>
          <a:solidFill>
            <a:srgbClr val="009E7A"/>
          </a:solidFill>
          <a:ln/>
        </p:spPr>
        <p:txBody>
          <a:bodyPr/>
          <a:lstStyle/>
          <a:p>
            <a:endParaRPr lang="en-US"/>
          </a:p>
        </p:txBody>
      </p:sp>
      <p:sp>
        <p:nvSpPr>
          <p:cNvPr id="8" name="Text 6"/>
          <p:cNvSpPr/>
          <p:nvPr/>
        </p:nvSpPr>
        <p:spPr>
          <a:xfrm>
            <a:off x="1344168" y="1508760"/>
            <a:ext cx="694944" cy="694944"/>
          </a:xfrm>
          <a:prstGeom prst="rect">
            <a:avLst/>
          </a:prstGeom>
          <a:noFill/>
          <a:ln/>
        </p:spPr>
        <p:txBody>
          <a:bodyPr wrap="square" lIns="0" tIns="0" rIns="0" bIns="0" rtlCol="0" anchor="ctr"/>
          <a:lstStyle/>
          <a:p>
            <a:pPr marL="0" indent="0" algn="ctr">
              <a:buNone/>
            </a:pPr>
            <a:r>
              <a:rPr lang="en-US" sz="2200" b="1" dirty="0">
                <a:solidFill>
                  <a:srgbClr val="06185F"/>
                </a:solidFill>
              </a:rPr>
              <a:t>1</a:t>
            </a:r>
            <a:endParaRPr lang="en-US" sz="2200" dirty="0"/>
          </a:p>
        </p:txBody>
      </p:sp>
      <p:sp>
        <p:nvSpPr>
          <p:cNvPr id="9" name="Text 7"/>
          <p:cNvSpPr/>
          <p:nvPr/>
        </p:nvSpPr>
        <p:spPr>
          <a:xfrm>
            <a:off x="411480" y="2176272"/>
            <a:ext cx="2560320" cy="256032"/>
          </a:xfrm>
          <a:prstGeom prst="rect">
            <a:avLst/>
          </a:prstGeom>
          <a:noFill/>
          <a:ln/>
        </p:spPr>
        <p:txBody>
          <a:bodyPr wrap="square" rtlCol="0" anchor="ctr"/>
          <a:lstStyle/>
          <a:p>
            <a:pPr marL="0" indent="0" algn="ctr">
              <a:buNone/>
            </a:pPr>
            <a:r>
              <a:rPr lang="en-US" sz="850" b="1" dirty="0">
                <a:solidFill>
                  <a:srgbClr val="009E7A"/>
                </a:solidFill>
              </a:rPr>
              <a:t>DISCOVERY CALL</a:t>
            </a:r>
            <a:endParaRPr lang="en-US" sz="850" dirty="0"/>
          </a:p>
        </p:txBody>
      </p:sp>
      <p:sp>
        <p:nvSpPr>
          <p:cNvPr id="10" name="Text 8"/>
          <p:cNvSpPr/>
          <p:nvPr/>
        </p:nvSpPr>
        <p:spPr>
          <a:xfrm>
            <a:off x="457200" y="2487168"/>
            <a:ext cx="2468880" cy="594360"/>
          </a:xfrm>
          <a:prstGeom prst="rect">
            <a:avLst/>
          </a:prstGeom>
          <a:noFill/>
          <a:ln/>
        </p:spPr>
        <p:txBody>
          <a:bodyPr wrap="square" rtlCol="0" anchor="ctr"/>
          <a:lstStyle/>
          <a:p>
            <a:pPr marL="0" indent="0" algn="ctr">
              <a:buNone/>
            </a:pPr>
            <a:r>
              <a:rPr lang="en-US" sz="1300" b="1" dirty="0">
                <a:solidFill>
                  <a:srgbClr val="06185F"/>
                </a:solidFill>
              </a:rPr>
              <a:t>Tell us about your data goals</a:t>
            </a:r>
            <a:endParaRPr lang="en-US" sz="1300" dirty="0"/>
          </a:p>
        </p:txBody>
      </p:sp>
      <p:sp>
        <p:nvSpPr>
          <p:cNvPr id="11" name="Text 9"/>
          <p:cNvSpPr/>
          <p:nvPr/>
        </p:nvSpPr>
        <p:spPr>
          <a:xfrm>
            <a:off x="457200" y="3127248"/>
            <a:ext cx="2468880" cy="1828800"/>
          </a:xfrm>
          <a:prstGeom prst="rect">
            <a:avLst/>
          </a:prstGeom>
          <a:noFill/>
          <a:ln/>
        </p:spPr>
        <p:txBody>
          <a:bodyPr wrap="square" rtlCol="0" anchor="ctr"/>
          <a:lstStyle/>
          <a:p>
            <a:pPr marL="0" indent="0" algn="ctr">
              <a:buNone/>
            </a:pPr>
            <a:r>
              <a:rPr lang="en-US" sz="1100" dirty="0">
                <a:solidFill>
                  <a:srgbClr val="575A5D"/>
                </a:solidFill>
              </a:rPr>
              <a:t>What decisions do you wish you could make faster? What reports take too long? We'll map your priorities to the right starting point.</a:t>
            </a:r>
            <a:endParaRPr lang="en-US" sz="1100" dirty="0"/>
          </a:p>
        </p:txBody>
      </p:sp>
      <p:sp>
        <p:nvSpPr>
          <p:cNvPr id="12" name="Shape 10"/>
          <p:cNvSpPr/>
          <p:nvPr/>
        </p:nvSpPr>
        <p:spPr>
          <a:xfrm>
            <a:off x="457200" y="5102352"/>
            <a:ext cx="2468880" cy="347472"/>
          </a:xfrm>
          <a:prstGeom prst="rect">
            <a:avLst/>
          </a:prstGeom>
          <a:solidFill>
            <a:srgbClr val="06185F"/>
          </a:solidFill>
          <a:ln/>
        </p:spPr>
        <p:txBody>
          <a:bodyPr/>
          <a:lstStyle/>
          <a:p>
            <a:endParaRPr lang="en-US"/>
          </a:p>
        </p:txBody>
      </p:sp>
      <p:sp>
        <p:nvSpPr>
          <p:cNvPr id="13" name="Text 11"/>
          <p:cNvSpPr/>
          <p:nvPr/>
        </p:nvSpPr>
        <p:spPr>
          <a:xfrm>
            <a:off x="45720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Schedule 30-min discovery</a:t>
            </a:r>
            <a:endParaRPr lang="en-US" sz="1000" dirty="0"/>
          </a:p>
        </p:txBody>
      </p:sp>
      <p:sp>
        <p:nvSpPr>
          <p:cNvPr id="14" name="Shape 12"/>
          <p:cNvSpPr/>
          <p:nvPr/>
        </p:nvSpPr>
        <p:spPr>
          <a:xfrm>
            <a:off x="3063240" y="3794760"/>
            <a:ext cx="182880" cy="0"/>
          </a:xfrm>
          <a:prstGeom prst="line">
            <a:avLst/>
          </a:prstGeom>
          <a:noFill/>
          <a:ln w="12700">
            <a:solidFill>
              <a:srgbClr val="009E7A"/>
            </a:solidFill>
            <a:prstDash val="solid"/>
          </a:ln>
        </p:spPr>
        <p:txBody>
          <a:bodyPr/>
          <a:lstStyle/>
          <a:p>
            <a:endParaRPr lang="en-US"/>
          </a:p>
        </p:txBody>
      </p:sp>
      <p:sp>
        <p:nvSpPr>
          <p:cNvPr id="15" name="Shape 13"/>
          <p:cNvSpPr/>
          <p:nvPr/>
        </p:nvSpPr>
        <p:spPr>
          <a:xfrm>
            <a:off x="324612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6" name="Shape 14"/>
          <p:cNvSpPr/>
          <p:nvPr/>
        </p:nvSpPr>
        <p:spPr>
          <a:xfrm>
            <a:off x="3246120" y="1463040"/>
            <a:ext cx="2743200" cy="822960"/>
          </a:xfrm>
          <a:prstGeom prst="rect">
            <a:avLst/>
          </a:prstGeom>
          <a:solidFill>
            <a:srgbClr val="06185F"/>
          </a:solidFill>
          <a:ln/>
        </p:spPr>
        <p:txBody>
          <a:bodyPr/>
          <a:lstStyle/>
          <a:p>
            <a:endParaRPr lang="en-US"/>
          </a:p>
        </p:txBody>
      </p:sp>
      <p:sp>
        <p:nvSpPr>
          <p:cNvPr id="17" name="Shape 15"/>
          <p:cNvSpPr/>
          <p:nvPr/>
        </p:nvSpPr>
        <p:spPr>
          <a:xfrm>
            <a:off x="4270248" y="1508760"/>
            <a:ext cx="694944" cy="694944"/>
          </a:xfrm>
          <a:prstGeom prst="ellipse">
            <a:avLst/>
          </a:prstGeom>
          <a:solidFill>
            <a:srgbClr val="009E7A"/>
          </a:solidFill>
          <a:ln/>
        </p:spPr>
        <p:txBody>
          <a:bodyPr/>
          <a:lstStyle/>
          <a:p>
            <a:endParaRPr lang="en-US"/>
          </a:p>
        </p:txBody>
      </p:sp>
      <p:sp>
        <p:nvSpPr>
          <p:cNvPr id="18" name="Text 16"/>
          <p:cNvSpPr/>
          <p:nvPr/>
        </p:nvSpPr>
        <p:spPr>
          <a:xfrm>
            <a:off x="4270248" y="1508760"/>
            <a:ext cx="694944" cy="694944"/>
          </a:xfrm>
          <a:prstGeom prst="rect">
            <a:avLst/>
          </a:prstGeom>
          <a:noFill/>
          <a:ln/>
        </p:spPr>
        <p:txBody>
          <a:bodyPr wrap="square" lIns="0" tIns="0" rIns="0" bIns="0" rtlCol="0" anchor="ctr"/>
          <a:lstStyle/>
          <a:p>
            <a:pPr marL="0" indent="0" algn="ctr">
              <a:buNone/>
            </a:pPr>
            <a:r>
              <a:rPr lang="en-US" sz="2200" b="1" dirty="0">
                <a:solidFill>
                  <a:srgbClr val="06185F"/>
                </a:solidFill>
              </a:rPr>
              <a:t>2</a:t>
            </a:r>
            <a:endParaRPr lang="en-US" sz="2200" dirty="0"/>
          </a:p>
        </p:txBody>
      </p:sp>
      <p:sp>
        <p:nvSpPr>
          <p:cNvPr id="19" name="Text 17"/>
          <p:cNvSpPr/>
          <p:nvPr/>
        </p:nvSpPr>
        <p:spPr>
          <a:xfrm>
            <a:off x="3337560" y="2176272"/>
            <a:ext cx="2560320" cy="256032"/>
          </a:xfrm>
          <a:prstGeom prst="rect">
            <a:avLst/>
          </a:prstGeom>
          <a:noFill/>
          <a:ln/>
        </p:spPr>
        <p:txBody>
          <a:bodyPr wrap="square" rtlCol="0" anchor="ctr"/>
          <a:lstStyle/>
          <a:p>
            <a:pPr marL="0" indent="0" algn="ctr">
              <a:buNone/>
            </a:pPr>
            <a:r>
              <a:rPr lang="en-US" sz="850" b="1" dirty="0">
                <a:solidFill>
                  <a:srgbClr val="009E7A"/>
                </a:solidFill>
              </a:rPr>
              <a:t>DATAHUB ASSESSMENT</a:t>
            </a:r>
            <a:endParaRPr lang="en-US" sz="850" dirty="0"/>
          </a:p>
        </p:txBody>
      </p:sp>
      <p:sp>
        <p:nvSpPr>
          <p:cNvPr id="20" name="Text 18"/>
          <p:cNvSpPr/>
          <p:nvPr/>
        </p:nvSpPr>
        <p:spPr>
          <a:xfrm>
            <a:off x="3383280" y="2487168"/>
            <a:ext cx="2468880" cy="594360"/>
          </a:xfrm>
          <a:prstGeom prst="rect">
            <a:avLst/>
          </a:prstGeom>
          <a:noFill/>
          <a:ln/>
        </p:spPr>
        <p:txBody>
          <a:bodyPr wrap="square" rtlCol="0" anchor="ctr"/>
          <a:lstStyle/>
          <a:p>
            <a:pPr marL="0" indent="0" algn="ctr">
              <a:buNone/>
            </a:pPr>
            <a:r>
              <a:rPr lang="en-US" sz="1300" b="1" dirty="0">
                <a:solidFill>
                  <a:srgbClr val="06185F"/>
                </a:solidFill>
              </a:rPr>
              <a:t>Review your current data feeds</a:t>
            </a:r>
            <a:endParaRPr lang="en-US" sz="1300" dirty="0"/>
          </a:p>
        </p:txBody>
      </p:sp>
      <p:sp>
        <p:nvSpPr>
          <p:cNvPr id="21" name="Text 19"/>
          <p:cNvSpPr/>
          <p:nvPr/>
        </p:nvSpPr>
        <p:spPr>
          <a:xfrm>
            <a:off x="3383280" y="3127248"/>
            <a:ext cx="2468880" cy="1828800"/>
          </a:xfrm>
          <a:prstGeom prst="rect">
            <a:avLst/>
          </a:prstGeom>
          <a:noFill/>
          <a:ln/>
        </p:spPr>
        <p:txBody>
          <a:bodyPr wrap="square" rtlCol="0" anchor="ctr"/>
          <a:lstStyle/>
          <a:p>
            <a:pPr marL="0" indent="0" algn="ctr">
              <a:buNone/>
            </a:pPr>
            <a:r>
              <a:rPr lang="en-US" sz="1100" dirty="0">
                <a:solidFill>
                  <a:srgbClr val="575A5D"/>
                </a:solidFill>
              </a:rPr>
              <a:t>We'll audit which JH systems you're live on and confirm which DataHub feeds are available for your institution today.</a:t>
            </a:r>
            <a:endParaRPr lang="en-US" sz="1100" dirty="0"/>
          </a:p>
        </p:txBody>
      </p:sp>
      <p:sp>
        <p:nvSpPr>
          <p:cNvPr id="22" name="Shape 20"/>
          <p:cNvSpPr/>
          <p:nvPr/>
        </p:nvSpPr>
        <p:spPr>
          <a:xfrm>
            <a:off x="3383280" y="5102352"/>
            <a:ext cx="2468880" cy="347472"/>
          </a:xfrm>
          <a:prstGeom prst="rect">
            <a:avLst/>
          </a:prstGeom>
          <a:solidFill>
            <a:srgbClr val="06185F"/>
          </a:solidFill>
          <a:ln/>
        </p:spPr>
        <p:txBody>
          <a:bodyPr/>
          <a:lstStyle/>
          <a:p>
            <a:endParaRPr lang="en-US"/>
          </a:p>
        </p:txBody>
      </p:sp>
      <p:sp>
        <p:nvSpPr>
          <p:cNvPr id="23" name="Text 21"/>
          <p:cNvSpPr/>
          <p:nvPr/>
        </p:nvSpPr>
        <p:spPr>
          <a:xfrm>
            <a:off x="338328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Initiate DataHub assessment</a:t>
            </a:r>
            <a:endParaRPr lang="en-US" sz="1000" dirty="0"/>
          </a:p>
        </p:txBody>
      </p:sp>
      <p:sp>
        <p:nvSpPr>
          <p:cNvPr id="24" name="Shape 22"/>
          <p:cNvSpPr/>
          <p:nvPr/>
        </p:nvSpPr>
        <p:spPr>
          <a:xfrm>
            <a:off x="5989320" y="3794760"/>
            <a:ext cx="182880" cy="0"/>
          </a:xfrm>
          <a:prstGeom prst="line">
            <a:avLst/>
          </a:prstGeom>
          <a:noFill/>
          <a:ln w="12700">
            <a:solidFill>
              <a:srgbClr val="009E7A"/>
            </a:solidFill>
            <a:prstDash val="solid"/>
          </a:ln>
        </p:spPr>
        <p:txBody>
          <a:bodyPr/>
          <a:lstStyle/>
          <a:p>
            <a:endParaRPr lang="en-US"/>
          </a:p>
        </p:txBody>
      </p:sp>
      <p:sp>
        <p:nvSpPr>
          <p:cNvPr id="25" name="Shape 23"/>
          <p:cNvSpPr/>
          <p:nvPr/>
        </p:nvSpPr>
        <p:spPr>
          <a:xfrm>
            <a:off x="617220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6" name="Shape 24"/>
          <p:cNvSpPr/>
          <p:nvPr/>
        </p:nvSpPr>
        <p:spPr>
          <a:xfrm>
            <a:off x="6172200" y="1463040"/>
            <a:ext cx="2743200" cy="822960"/>
          </a:xfrm>
          <a:prstGeom prst="rect">
            <a:avLst/>
          </a:prstGeom>
          <a:solidFill>
            <a:srgbClr val="0C5C6E"/>
          </a:solidFill>
          <a:ln/>
        </p:spPr>
        <p:txBody>
          <a:bodyPr/>
          <a:lstStyle/>
          <a:p>
            <a:endParaRPr lang="en-US"/>
          </a:p>
        </p:txBody>
      </p:sp>
      <p:sp>
        <p:nvSpPr>
          <p:cNvPr id="27" name="Shape 25"/>
          <p:cNvSpPr/>
          <p:nvPr/>
        </p:nvSpPr>
        <p:spPr>
          <a:xfrm>
            <a:off x="7196328" y="1508760"/>
            <a:ext cx="694944" cy="694944"/>
          </a:xfrm>
          <a:prstGeom prst="ellipse">
            <a:avLst/>
          </a:prstGeom>
          <a:solidFill>
            <a:srgbClr val="009E7A"/>
          </a:solidFill>
          <a:ln/>
        </p:spPr>
        <p:txBody>
          <a:bodyPr/>
          <a:lstStyle/>
          <a:p>
            <a:endParaRPr lang="en-US"/>
          </a:p>
        </p:txBody>
      </p:sp>
      <p:sp>
        <p:nvSpPr>
          <p:cNvPr id="28" name="Text 26"/>
          <p:cNvSpPr/>
          <p:nvPr/>
        </p:nvSpPr>
        <p:spPr>
          <a:xfrm>
            <a:off x="7196328" y="1508760"/>
            <a:ext cx="694944" cy="694944"/>
          </a:xfrm>
          <a:prstGeom prst="rect">
            <a:avLst/>
          </a:prstGeom>
          <a:noFill/>
          <a:ln/>
        </p:spPr>
        <p:txBody>
          <a:bodyPr wrap="square" lIns="0" tIns="0" rIns="0" bIns="0" rtlCol="0" anchor="ctr"/>
          <a:lstStyle/>
          <a:p>
            <a:pPr marL="0" indent="0" algn="ctr">
              <a:buNone/>
            </a:pPr>
            <a:r>
              <a:rPr lang="en-US" sz="2200" b="1" dirty="0">
                <a:solidFill>
                  <a:srgbClr val="06185F"/>
                </a:solidFill>
              </a:rPr>
              <a:t>3</a:t>
            </a:r>
            <a:endParaRPr lang="en-US" sz="2200" dirty="0"/>
          </a:p>
        </p:txBody>
      </p:sp>
      <p:sp>
        <p:nvSpPr>
          <p:cNvPr id="29" name="Text 27"/>
          <p:cNvSpPr/>
          <p:nvPr/>
        </p:nvSpPr>
        <p:spPr>
          <a:xfrm>
            <a:off x="6263640" y="2176272"/>
            <a:ext cx="2560320" cy="256032"/>
          </a:xfrm>
          <a:prstGeom prst="rect">
            <a:avLst/>
          </a:prstGeom>
          <a:noFill/>
          <a:ln/>
        </p:spPr>
        <p:txBody>
          <a:bodyPr wrap="square" rtlCol="0" anchor="ctr"/>
          <a:lstStyle/>
          <a:p>
            <a:pPr marL="0" indent="0" algn="ctr">
              <a:buNone/>
            </a:pPr>
            <a:r>
              <a:rPr lang="en-US" sz="850" b="1" dirty="0">
                <a:solidFill>
                  <a:srgbClr val="009E7A"/>
                </a:solidFill>
              </a:rPr>
              <a:t>JHBI DEMO</a:t>
            </a:r>
            <a:endParaRPr lang="en-US" sz="850" dirty="0"/>
          </a:p>
        </p:txBody>
      </p:sp>
      <p:sp>
        <p:nvSpPr>
          <p:cNvPr id="30" name="Text 28"/>
          <p:cNvSpPr/>
          <p:nvPr/>
        </p:nvSpPr>
        <p:spPr>
          <a:xfrm>
            <a:off x="6309360" y="2487168"/>
            <a:ext cx="2468880" cy="594360"/>
          </a:xfrm>
          <a:prstGeom prst="rect">
            <a:avLst/>
          </a:prstGeom>
          <a:noFill/>
          <a:ln/>
        </p:spPr>
        <p:txBody>
          <a:bodyPr wrap="square" rtlCol="0" anchor="ctr"/>
          <a:lstStyle/>
          <a:p>
            <a:pPr marL="0" indent="0" algn="ctr">
              <a:buNone/>
            </a:pPr>
            <a:r>
              <a:rPr lang="en-US" sz="1300" b="1" dirty="0">
                <a:solidFill>
                  <a:srgbClr val="06185F"/>
                </a:solidFill>
              </a:rPr>
              <a:t>See JHBI with your own data</a:t>
            </a:r>
            <a:endParaRPr lang="en-US" sz="1300" dirty="0"/>
          </a:p>
        </p:txBody>
      </p:sp>
      <p:sp>
        <p:nvSpPr>
          <p:cNvPr id="31" name="Text 29"/>
          <p:cNvSpPr/>
          <p:nvPr/>
        </p:nvSpPr>
        <p:spPr>
          <a:xfrm>
            <a:off x="6309360" y="3127248"/>
            <a:ext cx="2468880" cy="1828800"/>
          </a:xfrm>
          <a:prstGeom prst="rect">
            <a:avLst/>
          </a:prstGeom>
          <a:noFill/>
          <a:ln/>
        </p:spPr>
        <p:txBody>
          <a:bodyPr wrap="square" rtlCol="0" anchor="ctr"/>
          <a:lstStyle/>
          <a:p>
            <a:pPr marL="0" indent="0" algn="ctr">
              <a:buNone/>
            </a:pPr>
            <a:r>
              <a:rPr lang="en-US" sz="1100" dirty="0">
                <a:solidFill>
                  <a:srgbClr val="575A5D"/>
                </a:solidFill>
              </a:rPr>
              <a:t>The best way to evaluate JHBI is a live demo using real JH data models. We can show the exact dashboards your team would use.</a:t>
            </a:r>
            <a:endParaRPr lang="en-US" sz="1100" dirty="0"/>
          </a:p>
        </p:txBody>
      </p:sp>
      <p:sp>
        <p:nvSpPr>
          <p:cNvPr id="32" name="Shape 30"/>
          <p:cNvSpPr/>
          <p:nvPr/>
        </p:nvSpPr>
        <p:spPr>
          <a:xfrm>
            <a:off x="6309360" y="5102352"/>
            <a:ext cx="2468880" cy="347472"/>
          </a:xfrm>
          <a:prstGeom prst="rect">
            <a:avLst/>
          </a:prstGeom>
          <a:solidFill>
            <a:srgbClr val="0C5C6E"/>
          </a:solidFill>
          <a:ln/>
        </p:spPr>
        <p:txBody>
          <a:bodyPr/>
          <a:lstStyle/>
          <a:p>
            <a:endParaRPr lang="en-US"/>
          </a:p>
        </p:txBody>
      </p:sp>
      <p:sp>
        <p:nvSpPr>
          <p:cNvPr id="33" name="Text 31"/>
          <p:cNvSpPr/>
          <p:nvPr/>
        </p:nvSpPr>
        <p:spPr>
          <a:xfrm>
            <a:off x="630936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Book a JHBI demo</a:t>
            </a:r>
            <a:endParaRPr lang="en-US" sz="1000" dirty="0"/>
          </a:p>
        </p:txBody>
      </p:sp>
      <p:sp>
        <p:nvSpPr>
          <p:cNvPr id="34" name="Shape 32"/>
          <p:cNvSpPr/>
          <p:nvPr/>
        </p:nvSpPr>
        <p:spPr>
          <a:xfrm>
            <a:off x="8915400" y="3794760"/>
            <a:ext cx="182880" cy="0"/>
          </a:xfrm>
          <a:prstGeom prst="line">
            <a:avLst/>
          </a:prstGeom>
          <a:noFill/>
          <a:ln w="12700">
            <a:solidFill>
              <a:srgbClr val="009E7A"/>
            </a:solidFill>
            <a:prstDash val="solid"/>
          </a:ln>
        </p:spPr>
        <p:txBody>
          <a:bodyPr/>
          <a:lstStyle/>
          <a:p>
            <a:endParaRPr lang="en-US"/>
          </a:p>
        </p:txBody>
      </p:sp>
      <p:sp>
        <p:nvSpPr>
          <p:cNvPr id="35" name="Shape 33"/>
          <p:cNvSpPr/>
          <p:nvPr/>
        </p:nvSpPr>
        <p:spPr>
          <a:xfrm>
            <a:off x="9098280" y="1463040"/>
            <a:ext cx="2743200" cy="47091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36" name="Shape 34"/>
          <p:cNvSpPr/>
          <p:nvPr/>
        </p:nvSpPr>
        <p:spPr>
          <a:xfrm>
            <a:off x="9098280" y="1463040"/>
            <a:ext cx="2743200" cy="822960"/>
          </a:xfrm>
          <a:prstGeom prst="rect">
            <a:avLst/>
          </a:prstGeom>
          <a:solidFill>
            <a:srgbClr val="009E7A"/>
          </a:solidFill>
          <a:ln/>
        </p:spPr>
        <p:txBody>
          <a:bodyPr/>
          <a:lstStyle/>
          <a:p>
            <a:endParaRPr lang="en-US"/>
          </a:p>
        </p:txBody>
      </p:sp>
      <p:sp>
        <p:nvSpPr>
          <p:cNvPr id="37" name="Shape 35"/>
          <p:cNvSpPr/>
          <p:nvPr/>
        </p:nvSpPr>
        <p:spPr>
          <a:xfrm>
            <a:off x="10122408" y="1508760"/>
            <a:ext cx="694944" cy="694944"/>
          </a:xfrm>
          <a:prstGeom prst="ellipse">
            <a:avLst/>
          </a:prstGeom>
          <a:solidFill>
            <a:srgbClr val="009E7A"/>
          </a:solidFill>
          <a:ln/>
        </p:spPr>
        <p:txBody>
          <a:bodyPr/>
          <a:lstStyle/>
          <a:p>
            <a:endParaRPr lang="en-US"/>
          </a:p>
        </p:txBody>
      </p:sp>
      <p:sp>
        <p:nvSpPr>
          <p:cNvPr id="38" name="Text 36"/>
          <p:cNvSpPr/>
          <p:nvPr/>
        </p:nvSpPr>
        <p:spPr>
          <a:xfrm>
            <a:off x="10122408" y="1508760"/>
            <a:ext cx="694944" cy="694944"/>
          </a:xfrm>
          <a:prstGeom prst="rect">
            <a:avLst/>
          </a:prstGeom>
          <a:noFill/>
          <a:ln/>
        </p:spPr>
        <p:txBody>
          <a:bodyPr wrap="square" lIns="0" tIns="0" rIns="0" bIns="0" rtlCol="0" anchor="ctr"/>
          <a:lstStyle/>
          <a:p>
            <a:pPr marL="0" indent="0" algn="ctr">
              <a:buNone/>
            </a:pPr>
            <a:r>
              <a:rPr lang="en-US" sz="2200" b="1" dirty="0">
                <a:solidFill>
                  <a:srgbClr val="06185F"/>
                </a:solidFill>
              </a:rPr>
              <a:t>4</a:t>
            </a:r>
            <a:endParaRPr lang="en-US" sz="2200" dirty="0"/>
          </a:p>
        </p:txBody>
      </p:sp>
      <p:sp>
        <p:nvSpPr>
          <p:cNvPr id="39" name="Text 37"/>
          <p:cNvSpPr/>
          <p:nvPr/>
        </p:nvSpPr>
        <p:spPr>
          <a:xfrm>
            <a:off x="9189720" y="2176272"/>
            <a:ext cx="2560320" cy="256032"/>
          </a:xfrm>
          <a:prstGeom prst="rect">
            <a:avLst/>
          </a:prstGeom>
          <a:noFill/>
          <a:ln/>
        </p:spPr>
        <p:txBody>
          <a:bodyPr wrap="square" rtlCol="0" anchor="ctr"/>
          <a:lstStyle/>
          <a:p>
            <a:pPr marL="0" indent="0" algn="ctr">
              <a:buNone/>
            </a:pPr>
            <a:r>
              <a:rPr lang="en-US" sz="850" b="1" dirty="0">
                <a:solidFill>
                  <a:srgbClr val="009E7A"/>
                </a:solidFill>
              </a:rPr>
              <a:t>PILOT PROGRAM</a:t>
            </a:r>
            <a:endParaRPr lang="en-US" sz="850" dirty="0"/>
          </a:p>
        </p:txBody>
      </p:sp>
      <p:sp>
        <p:nvSpPr>
          <p:cNvPr id="40" name="Text 38"/>
          <p:cNvSpPr/>
          <p:nvPr/>
        </p:nvSpPr>
        <p:spPr>
          <a:xfrm>
            <a:off x="9235440" y="2487168"/>
            <a:ext cx="2468880" cy="594360"/>
          </a:xfrm>
          <a:prstGeom prst="rect">
            <a:avLst/>
          </a:prstGeom>
          <a:noFill/>
          <a:ln/>
        </p:spPr>
        <p:txBody>
          <a:bodyPr wrap="square" rtlCol="0" anchor="ctr"/>
          <a:lstStyle/>
          <a:p>
            <a:pPr marL="0" indent="0" algn="ctr">
              <a:buNone/>
            </a:pPr>
            <a:r>
              <a:rPr lang="en-US" sz="1300" b="1" dirty="0">
                <a:solidFill>
                  <a:srgbClr val="06185F"/>
                </a:solidFill>
              </a:rPr>
              <a:t>Start with one use case</a:t>
            </a:r>
            <a:endParaRPr lang="en-US" sz="1300" dirty="0"/>
          </a:p>
        </p:txBody>
      </p:sp>
      <p:sp>
        <p:nvSpPr>
          <p:cNvPr id="41" name="Text 39"/>
          <p:cNvSpPr/>
          <p:nvPr/>
        </p:nvSpPr>
        <p:spPr>
          <a:xfrm>
            <a:off x="9235440" y="3127248"/>
            <a:ext cx="2468880" cy="1828800"/>
          </a:xfrm>
          <a:prstGeom prst="rect">
            <a:avLst/>
          </a:prstGeom>
          <a:noFill/>
          <a:ln/>
        </p:spPr>
        <p:txBody>
          <a:bodyPr wrap="square" rtlCol="0" anchor="ctr"/>
          <a:lstStyle/>
          <a:p>
            <a:pPr marL="0" indent="0" algn="ctr">
              <a:buNone/>
            </a:pPr>
            <a:r>
              <a:rPr lang="en-US" sz="1100" dirty="0">
                <a:solidFill>
                  <a:srgbClr val="575A5D"/>
                </a:solidFill>
              </a:rPr>
              <a:t>Most clients begin with a single high-value use case — deposit analytics, loan performance, or executive dashboards — and expand from there.</a:t>
            </a:r>
            <a:endParaRPr lang="en-US" sz="1100" dirty="0"/>
          </a:p>
        </p:txBody>
      </p:sp>
      <p:sp>
        <p:nvSpPr>
          <p:cNvPr id="42" name="Shape 40"/>
          <p:cNvSpPr/>
          <p:nvPr/>
        </p:nvSpPr>
        <p:spPr>
          <a:xfrm>
            <a:off x="9235440" y="5102352"/>
            <a:ext cx="2468880" cy="347472"/>
          </a:xfrm>
          <a:prstGeom prst="rect">
            <a:avLst/>
          </a:prstGeom>
          <a:solidFill>
            <a:srgbClr val="009E7A"/>
          </a:solidFill>
          <a:ln/>
        </p:spPr>
        <p:txBody>
          <a:bodyPr/>
          <a:lstStyle/>
          <a:p>
            <a:endParaRPr lang="en-US"/>
          </a:p>
        </p:txBody>
      </p:sp>
      <p:sp>
        <p:nvSpPr>
          <p:cNvPr id="43" name="Text 41"/>
          <p:cNvSpPr/>
          <p:nvPr/>
        </p:nvSpPr>
        <p:spPr>
          <a:xfrm>
            <a:off x="9235440" y="5102352"/>
            <a:ext cx="2468880" cy="347472"/>
          </a:xfrm>
          <a:prstGeom prst="rect">
            <a:avLst/>
          </a:prstGeom>
          <a:noFill/>
          <a:ln/>
        </p:spPr>
        <p:txBody>
          <a:bodyPr wrap="square" lIns="0" tIns="0" rIns="0" bIns="0" rtlCol="0" anchor="ctr"/>
          <a:lstStyle/>
          <a:p>
            <a:pPr marL="0" indent="0" algn="ctr">
              <a:buNone/>
            </a:pPr>
            <a:r>
              <a:rPr lang="en-US" sz="1000" b="1" dirty="0">
                <a:solidFill>
                  <a:srgbClr val="FFFFFF"/>
                </a:solidFill>
              </a:rPr>
              <a:t>Define pilot scope</a:t>
            </a:r>
            <a:endParaRPr lang="en-US" sz="1000" dirty="0"/>
          </a:p>
        </p:txBody>
      </p:sp>
      <p:sp>
        <p:nvSpPr>
          <p:cNvPr id="44" name="Shape 42"/>
          <p:cNvSpPr/>
          <p:nvPr/>
        </p:nvSpPr>
        <p:spPr>
          <a:xfrm>
            <a:off x="320040" y="6446520"/>
            <a:ext cx="11521440" cy="292608"/>
          </a:xfrm>
          <a:prstGeom prst="rect">
            <a:avLst/>
          </a:prstGeom>
          <a:solidFill>
            <a:srgbClr val="E8ECF1"/>
          </a:solidFill>
          <a:ln/>
        </p:spPr>
        <p:txBody>
          <a:bodyPr/>
          <a:lstStyle/>
          <a:p>
            <a:endParaRPr lang="en-US"/>
          </a:p>
        </p:txBody>
      </p:sp>
      <p:sp>
        <p:nvSpPr>
          <p:cNvPr id="45" name="Text 43"/>
          <p:cNvSpPr/>
          <p:nvPr/>
        </p:nvSpPr>
        <p:spPr>
          <a:xfrm>
            <a:off x="320040" y="6446520"/>
            <a:ext cx="11521440" cy="292608"/>
          </a:xfrm>
          <a:prstGeom prst="rect">
            <a:avLst/>
          </a:prstGeom>
          <a:noFill/>
          <a:ln/>
        </p:spPr>
        <p:txBody>
          <a:bodyPr wrap="square" rtlCol="0" anchor="ctr"/>
          <a:lstStyle/>
          <a:p>
            <a:pPr marL="0" indent="0" algn="ctr">
              <a:buNone/>
            </a:pPr>
            <a:r>
              <a:rPr lang="en-US" sz="900" dirty="0">
                <a:solidFill>
                  <a:srgbClr val="4A6080"/>
                </a:solidFill>
              </a:rPr>
              <a:t>jackhenry.com  |  jackhenry.dev/data-hub  |  © 2025 Jack Henry &amp; Associates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1854</Words>
  <Application>Microsoft Macintosh PowerPoint</Application>
  <PresentationFormat>Widescreen</PresentationFormat>
  <Paragraphs>276</Paragraphs>
  <Slides>14</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Jack Henry Data Services - First Call Deck</dc:title>
  <dc:subject>PptxGenJS Presentation</dc:subject>
  <dc:creator>PptxGenJS</dc:creator>
  <cp:lastModifiedBy>Adam Ames</cp:lastModifiedBy>
  <cp:revision>1</cp:revision>
  <dcterms:created xsi:type="dcterms:W3CDTF">2026-02-27T17:55:13Z</dcterms:created>
  <dcterms:modified xsi:type="dcterms:W3CDTF">2026-04-16T14:00:14Z</dcterms:modified>
</cp:coreProperties>
</file>