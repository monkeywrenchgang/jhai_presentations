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0D2E7A"/>
          </a:solidFill>
          <a:ln w="12700">
            <a:solidFill>
              <a:srgbClr val="0D2E7A"/>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3" name="Text 17"/>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4" name="Shape 18"/>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A52C4"/>
          </a:solidFill>
          <a:ln w="12700">
            <a:solidFill>
              <a:srgbClr val="0A52C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Personal-as-</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Commercial Detection</a:t>
            </a:r>
            <a:endParaRPr lang="en-US" sz="1150" dirty="0"/>
          </a:p>
        </p:txBody>
      </p:sp>
      <p:sp>
        <p:nvSpPr>
          <p:cNvPr id="28" name="Text 21"/>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29" name="Shape 22"/>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F3D8A"/>
          </a:solidFill>
          <a:ln w="12700">
            <a:solidFill>
              <a:srgbClr val="0F3D8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3" name="Text 25"/>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4" name="Shape 26"/>
          <p:cNvSpPr/>
          <p:nvPr/>
        </p:nvSpPr>
        <p:spPr>
          <a:xfrm>
            <a:off x="320040" y="4718304"/>
            <a:ext cx="8503920" cy="329184"/>
          </a:xfrm>
          <a:prstGeom prst="rect">
            <a:avLst/>
          </a:prstGeom>
          <a:solidFill>
            <a:srgbClr val="E8F7F7"/>
          </a:solidFill>
          <a:ln w="12700">
            <a:solidFill>
              <a:srgbClr val="085CE5"/>
            </a:solidFill>
            <a:prstDash val="solid"/>
          </a:ln>
        </p:spPr>
      </p:sp>
      <p:sp>
        <p:nvSpPr>
          <p:cNvPr id="35" name="Text 27"/>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also includes: Call Report AI  ·  Account Opening LTV  ·  Cross-Sell Propensity  ·  Fraud Ring Detection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Personal-as-Commercial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084832" cy="73152"/>
          </a:xfrm>
          <a:prstGeom prst="rect">
            <a:avLst/>
          </a:prstGeom>
          <a:solidFill>
            <a:srgbClr val="575A5D"/>
          </a:solidFill>
          <a:ln w="12700">
            <a:solidFill>
              <a:srgbClr val="575A5D"/>
            </a:solidFill>
            <a:prstDash val="solid"/>
          </a:ln>
        </p:spPr>
      </p:sp>
      <p:sp>
        <p:nvSpPr>
          <p:cNvPr id="6" name="Shape 4"/>
          <p:cNvSpPr/>
          <p:nvPr/>
        </p:nvSpPr>
        <p:spPr>
          <a:xfrm>
            <a:off x="1609344" y="914400"/>
            <a:ext cx="548640" cy="182880"/>
          </a:xfrm>
          <a:prstGeom prst="rect">
            <a:avLst/>
          </a:prstGeom>
          <a:solidFill>
            <a:srgbClr val="575A5D"/>
          </a:solidFill>
          <a:ln w="12700">
            <a:solidFill>
              <a:srgbClr val="575A5D"/>
            </a:solidFill>
            <a:prstDash val="solid"/>
          </a:ln>
        </p:spPr>
      </p:sp>
      <p:sp>
        <p:nvSpPr>
          <p:cNvPr id="7" name="Text 5"/>
          <p:cNvSpPr/>
          <p:nvPr/>
        </p:nvSpPr>
        <p:spPr>
          <a:xfrm>
            <a:off x="16093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Aug '26</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10" name="Text 7"/>
          <p:cNvSpPr/>
          <p:nvPr/>
        </p:nvSpPr>
        <p:spPr>
          <a:xfrm>
            <a:off x="237744" y="138988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Claude-powered NCUA 5300 intelligence — market pulse, NL Q&amp;A, and peer benchmarking for CU executives. In active development, targeting Aug/Sept 2026.</a:t>
            </a:r>
            <a:endParaRPr lang="en-US" sz="900" dirty="0"/>
          </a:p>
        </p:txBody>
      </p:sp>
      <p:sp>
        <p:nvSpPr>
          <p:cNvPr id="11" name="Shape 8"/>
          <p:cNvSpPr/>
          <p:nvPr/>
        </p:nvSpPr>
        <p:spPr>
          <a:xfrm>
            <a:off x="2350008" y="78638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350008" y="786384"/>
            <a:ext cx="2084832" cy="73152"/>
          </a:xfrm>
          <a:prstGeom prst="rect">
            <a:avLst/>
          </a:prstGeom>
          <a:solidFill>
            <a:srgbClr val="0B68D4"/>
          </a:solidFill>
          <a:ln w="12700">
            <a:solidFill>
              <a:srgbClr val="0B68D4"/>
            </a:solidFill>
            <a:prstDash val="solid"/>
          </a:ln>
        </p:spPr>
      </p:sp>
      <p:sp>
        <p:nvSpPr>
          <p:cNvPr id="13" name="Shape 10"/>
          <p:cNvSpPr/>
          <p:nvPr/>
        </p:nvSpPr>
        <p:spPr>
          <a:xfrm>
            <a:off x="3831336" y="914400"/>
            <a:ext cx="548640" cy="182880"/>
          </a:xfrm>
          <a:prstGeom prst="rect">
            <a:avLst/>
          </a:prstGeom>
          <a:solidFill>
            <a:srgbClr val="0B68D4"/>
          </a:solidFill>
          <a:ln w="12700">
            <a:solidFill>
              <a:srgbClr val="0B68D4"/>
            </a:solidFill>
            <a:prstDash val="solid"/>
          </a:ln>
        </p:spPr>
      </p:sp>
      <p:sp>
        <p:nvSpPr>
          <p:cNvPr id="14" name="Text 11"/>
          <p:cNvSpPr/>
          <p:nvPr/>
        </p:nvSpPr>
        <p:spPr>
          <a:xfrm>
            <a:off x="383133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Phase 2</a:t>
            </a:r>
            <a:endParaRPr lang="en-US" sz="650" dirty="0"/>
          </a:p>
        </p:txBody>
      </p:sp>
      <p:pic>
        <p:nvPicPr>
          <p:cNvPr id="15" name="Image 1" descr="preencoded.png">    </p:cNvPr>
          <p:cNvPicPr>
            <a:picLocks noChangeAspect="1"/>
          </p:cNvPicPr>
          <p:nvPr/>
        </p:nvPicPr>
        <p:blipFill>
          <a:blip r:embed="rId2"/>
          <a:stretch>
            <a:fillRect/>
          </a:stretch>
        </p:blipFill>
        <p:spPr>
          <a:xfrm>
            <a:off x="2478024" y="969264"/>
            <a:ext cx="310896" cy="310896"/>
          </a:xfrm>
          <a:prstGeom prst="rect">
            <a:avLst/>
          </a:prstGeom>
        </p:spPr>
      </p:pic>
      <p:sp>
        <p:nvSpPr>
          <p:cNvPr id="16" name="Text 12"/>
          <p:cNvSpPr/>
          <p:nvPr/>
        </p:nvSpPr>
        <p:spPr>
          <a:xfrm>
            <a:off x="2843784" y="91440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17" name="Text 13"/>
          <p:cNvSpPr/>
          <p:nvPr/>
        </p:nvSpPr>
        <p:spPr>
          <a:xfrm>
            <a:off x="2459736" y="138988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Score new accounts by predicted LTV at opening — routing applicants to differentiated service tiers and triggering ML-guided cross-sell sequencing.</a:t>
            </a:r>
            <a:endParaRPr lang="en-US" sz="900" dirty="0"/>
          </a:p>
        </p:txBody>
      </p:sp>
      <p:sp>
        <p:nvSpPr>
          <p:cNvPr id="18" name="Shape 14"/>
          <p:cNvSpPr/>
          <p:nvPr/>
        </p:nvSpPr>
        <p:spPr>
          <a:xfrm>
            <a:off x="4572000" y="78638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572000" y="786384"/>
            <a:ext cx="2084832" cy="73152"/>
          </a:xfrm>
          <a:prstGeom prst="rect">
            <a:avLst/>
          </a:prstGeom>
          <a:solidFill>
            <a:srgbClr val="085CE5"/>
          </a:solidFill>
          <a:ln w="12700">
            <a:solidFill>
              <a:srgbClr val="085CE5"/>
            </a:solidFill>
            <a:prstDash val="solid"/>
          </a:ln>
        </p:spPr>
      </p:sp>
      <p:sp>
        <p:nvSpPr>
          <p:cNvPr id="20" name="Shape 16"/>
          <p:cNvSpPr/>
          <p:nvPr/>
        </p:nvSpPr>
        <p:spPr>
          <a:xfrm>
            <a:off x="6053328" y="914400"/>
            <a:ext cx="548640" cy="182880"/>
          </a:xfrm>
          <a:prstGeom prst="rect">
            <a:avLst/>
          </a:prstGeom>
          <a:solidFill>
            <a:srgbClr val="085CE5"/>
          </a:solidFill>
          <a:ln w="12700">
            <a:solidFill>
              <a:srgbClr val="085CE5"/>
            </a:solidFill>
            <a:prstDash val="solid"/>
          </a:ln>
        </p:spPr>
      </p:sp>
      <p:sp>
        <p:nvSpPr>
          <p:cNvPr id="21" name="Text 17"/>
          <p:cNvSpPr/>
          <p:nvPr/>
        </p:nvSpPr>
        <p:spPr>
          <a:xfrm>
            <a:off x="6053328"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4700016" y="969264"/>
            <a:ext cx="310896" cy="310896"/>
          </a:xfrm>
          <a:prstGeom prst="rect">
            <a:avLst/>
          </a:prstGeom>
        </p:spPr>
      </p:pic>
      <p:sp>
        <p:nvSpPr>
          <p:cNvPr id="23" name="Text 18"/>
          <p:cNvSpPr/>
          <p:nvPr/>
        </p:nvSpPr>
        <p:spPr>
          <a:xfrm>
            <a:off x="5065776" y="91440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24" name="Text 19"/>
          <p:cNvSpPr/>
          <p:nvPr/>
        </p:nvSpPr>
        <p:spPr>
          <a:xfrm>
            <a:off x="4681728" y="138988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25" name="Shape 20"/>
          <p:cNvSpPr/>
          <p:nvPr/>
        </p:nvSpPr>
        <p:spPr>
          <a:xfrm>
            <a:off x="6793992" y="78638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93992" y="786384"/>
            <a:ext cx="2084832" cy="73152"/>
          </a:xfrm>
          <a:prstGeom prst="rect">
            <a:avLst/>
          </a:prstGeom>
          <a:solidFill>
            <a:srgbClr val="06185F"/>
          </a:solidFill>
          <a:ln w="12700">
            <a:solidFill>
              <a:srgbClr val="06185F"/>
            </a:solidFill>
            <a:prstDash val="solid"/>
          </a:ln>
        </p:spPr>
      </p:sp>
      <p:sp>
        <p:nvSpPr>
          <p:cNvPr id="27" name="Shape 22"/>
          <p:cNvSpPr/>
          <p:nvPr/>
        </p:nvSpPr>
        <p:spPr>
          <a:xfrm>
            <a:off x="8275320" y="914400"/>
            <a:ext cx="548640" cy="182880"/>
          </a:xfrm>
          <a:prstGeom prst="rect">
            <a:avLst/>
          </a:prstGeom>
          <a:solidFill>
            <a:srgbClr val="06185F"/>
          </a:solidFill>
          <a:ln w="12700">
            <a:solidFill>
              <a:srgbClr val="06185F"/>
            </a:solidFill>
            <a:prstDash val="solid"/>
          </a:ln>
        </p:spPr>
      </p:sp>
      <p:sp>
        <p:nvSpPr>
          <p:cNvPr id="28" name="Text 23"/>
          <p:cNvSpPr/>
          <p:nvPr/>
        </p:nvSpPr>
        <p:spPr>
          <a:xfrm>
            <a:off x="8275320"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6922008" y="969264"/>
            <a:ext cx="310896" cy="310896"/>
          </a:xfrm>
          <a:prstGeom prst="rect">
            <a:avLst/>
          </a:prstGeom>
        </p:spPr>
      </p:pic>
      <p:sp>
        <p:nvSpPr>
          <p:cNvPr id="30" name="Text 24"/>
          <p:cNvSpPr/>
          <p:nvPr/>
        </p:nvSpPr>
        <p:spPr>
          <a:xfrm>
            <a:off x="7287768" y="91440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31" name="Text 25"/>
          <p:cNvSpPr/>
          <p:nvPr/>
        </p:nvSpPr>
        <p:spPr>
          <a:xfrm>
            <a:off x="6903720" y="138988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32" name="Shape 26"/>
          <p:cNvSpPr/>
          <p:nvPr/>
        </p:nvSpPr>
        <p:spPr>
          <a:xfrm>
            <a:off x="128016" y="288950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128016" y="2889504"/>
            <a:ext cx="2084832" cy="73152"/>
          </a:xfrm>
          <a:prstGeom prst="rect">
            <a:avLst/>
          </a:prstGeom>
          <a:solidFill>
            <a:srgbClr val="073FA8"/>
          </a:solidFill>
          <a:ln w="12700">
            <a:solidFill>
              <a:srgbClr val="073FA8"/>
            </a:solidFill>
            <a:prstDash val="solid"/>
          </a:ln>
        </p:spPr>
      </p:sp>
      <p:sp>
        <p:nvSpPr>
          <p:cNvPr id="34" name="Shape 28"/>
          <p:cNvSpPr/>
          <p:nvPr/>
        </p:nvSpPr>
        <p:spPr>
          <a:xfrm>
            <a:off x="1609344" y="3017520"/>
            <a:ext cx="548640" cy="182880"/>
          </a:xfrm>
          <a:prstGeom prst="rect">
            <a:avLst/>
          </a:prstGeom>
          <a:solidFill>
            <a:srgbClr val="073FA8"/>
          </a:solidFill>
          <a:ln w="12700">
            <a:solidFill>
              <a:srgbClr val="073FA8"/>
            </a:solidFill>
            <a:prstDash val="solid"/>
          </a:ln>
        </p:spPr>
      </p:sp>
      <p:sp>
        <p:nvSpPr>
          <p:cNvPr id="35" name="Text 29"/>
          <p:cNvSpPr/>
          <p:nvPr/>
        </p:nvSpPr>
        <p:spPr>
          <a:xfrm>
            <a:off x="16093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256032" y="3072384"/>
            <a:ext cx="310896" cy="310896"/>
          </a:xfrm>
          <a:prstGeom prst="rect">
            <a:avLst/>
          </a:prstGeom>
        </p:spPr>
      </p:pic>
      <p:sp>
        <p:nvSpPr>
          <p:cNvPr id="37" name="Text 30"/>
          <p:cNvSpPr/>
          <p:nvPr/>
        </p:nvSpPr>
        <p:spPr>
          <a:xfrm>
            <a:off x="621792" y="301752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38" name="Text 31"/>
          <p:cNvSpPr/>
          <p:nvPr/>
        </p:nvSpPr>
        <p:spPr>
          <a:xfrm>
            <a:off x="237744" y="349300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39" name="Shape 32"/>
          <p:cNvSpPr/>
          <p:nvPr/>
        </p:nvSpPr>
        <p:spPr>
          <a:xfrm>
            <a:off x="2350008" y="288950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2350008" y="2889504"/>
            <a:ext cx="2084832" cy="73152"/>
          </a:xfrm>
          <a:prstGeom prst="rect">
            <a:avLst/>
          </a:prstGeom>
          <a:solidFill>
            <a:srgbClr val="575A5D"/>
          </a:solidFill>
          <a:ln w="12700">
            <a:solidFill>
              <a:srgbClr val="575A5D"/>
            </a:solidFill>
            <a:prstDash val="solid"/>
          </a:ln>
        </p:spPr>
      </p:sp>
      <p:sp>
        <p:nvSpPr>
          <p:cNvPr id="41" name="Shape 34"/>
          <p:cNvSpPr/>
          <p:nvPr/>
        </p:nvSpPr>
        <p:spPr>
          <a:xfrm>
            <a:off x="3831336" y="3017520"/>
            <a:ext cx="548640" cy="182880"/>
          </a:xfrm>
          <a:prstGeom prst="rect">
            <a:avLst/>
          </a:prstGeom>
          <a:solidFill>
            <a:srgbClr val="575A5D"/>
          </a:solidFill>
          <a:ln w="12700">
            <a:solidFill>
              <a:srgbClr val="575A5D"/>
            </a:solidFill>
            <a:prstDash val="solid"/>
          </a:ln>
        </p:spPr>
      </p:sp>
      <p:sp>
        <p:nvSpPr>
          <p:cNvPr id="42" name="Text 35"/>
          <p:cNvSpPr/>
          <p:nvPr/>
        </p:nvSpPr>
        <p:spPr>
          <a:xfrm>
            <a:off x="383133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2478024" y="3072384"/>
            <a:ext cx="310896" cy="310896"/>
          </a:xfrm>
          <a:prstGeom prst="rect">
            <a:avLst/>
          </a:prstGeom>
        </p:spPr>
      </p:pic>
      <p:sp>
        <p:nvSpPr>
          <p:cNvPr id="44" name="Text 36"/>
          <p:cNvSpPr/>
          <p:nvPr/>
        </p:nvSpPr>
        <p:spPr>
          <a:xfrm>
            <a:off x="2843784" y="301752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45" name="Text 37"/>
          <p:cNvSpPr/>
          <p:nvPr/>
        </p:nvSpPr>
        <p:spPr>
          <a:xfrm>
            <a:off x="2459736" y="349300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46" name="Shape 38"/>
          <p:cNvSpPr/>
          <p:nvPr/>
        </p:nvSpPr>
        <p:spPr>
          <a:xfrm>
            <a:off x="4572000" y="288950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7" name="Shape 39"/>
          <p:cNvSpPr/>
          <p:nvPr/>
        </p:nvSpPr>
        <p:spPr>
          <a:xfrm>
            <a:off x="4572000" y="2889504"/>
            <a:ext cx="2084832" cy="73152"/>
          </a:xfrm>
          <a:prstGeom prst="rect">
            <a:avLst/>
          </a:prstGeom>
          <a:solidFill>
            <a:srgbClr val="0B68D4"/>
          </a:solidFill>
          <a:ln w="12700">
            <a:solidFill>
              <a:srgbClr val="0B68D4"/>
            </a:solidFill>
            <a:prstDash val="solid"/>
          </a:ln>
        </p:spPr>
      </p:sp>
      <p:sp>
        <p:nvSpPr>
          <p:cNvPr id="48" name="Shape 40"/>
          <p:cNvSpPr/>
          <p:nvPr/>
        </p:nvSpPr>
        <p:spPr>
          <a:xfrm>
            <a:off x="6053328" y="3017520"/>
            <a:ext cx="548640" cy="182880"/>
          </a:xfrm>
          <a:prstGeom prst="rect">
            <a:avLst/>
          </a:prstGeom>
          <a:solidFill>
            <a:srgbClr val="0B68D4"/>
          </a:solidFill>
          <a:ln w="12700">
            <a:solidFill>
              <a:srgbClr val="0B68D4"/>
            </a:solidFill>
            <a:prstDash val="solid"/>
          </a:ln>
        </p:spPr>
      </p:sp>
      <p:sp>
        <p:nvSpPr>
          <p:cNvPr id="49" name="Text 41"/>
          <p:cNvSpPr/>
          <p:nvPr/>
        </p:nvSpPr>
        <p:spPr>
          <a:xfrm>
            <a:off x="6053328"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50" name="Image 6" descr="preencoded.png">    </p:cNvPr>
          <p:cNvPicPr>
            <a:picLocks noChangeAspect="1"/>
          </p:cNvPicPr>
          <p:nvPr/>
        </p:nvPicPr>
        <p:blipFill>
          <a:blip r:embed="rId7"/>
          <a:stretch>
            <a:fillRect/>
          </a:stretch>
        </p:blipFill>
        <p:spPr>
          <a:xfrm>
            <a:off x="4700016" y="3072384"/>
            <a:ext cx="310896" cy="310896"/>
          </a:xfrm>
          <a:prstGeom prst="rect">
            <a:avLst/>
          </a:prstGeom>
        </p:spPr>
      </p:pic>
      <p:sp>
        <p:nvSpPr>
          <p:cNvPr id="51" name="Text 42"/>
          <p:cNvSpPr/>
          <p:nvPr/>
        </p:nvSpPr>
        <p:spPr>
          <a:xfrm>
            <a:off x="5065776" y="301752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52" name="Text 43"/>
          <p:cNvSpPr/>
          <p:nvPr/>
        </p:nvSpPr>
        <p:spPr>
          <a:xfrm>
            <a:off x="4681728" y="349300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53" name="Shape 44"/>
          <p:cNvSpPr/>
          <p:nvPr/>
        </p:nvSpPr>
        <p:spPr>
          <a:xfrm>
            <a:off x="6793992" y="2889504"/>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4" name="Shape 45"/>
          <p:cNvSpPr/>
          <p:nvPr/>
        </p:nvSpPr>
        <p:spPr>
          <a:xfrm>
            <a:off x="6793992" y="2889504"/>
            <a:ext cx="2084832" cy="73152"/>
          </a:xfrm>
          <a:prstGeom prst="rect">
            <a:avLst/>
          </a:prstGeom>
          <a:solidFill>
            <a:srgbClr val="0D2E7A"/>
          </a:solidFill>
          <a:ln w="12700">
            <a:solidFill>
              <a:srgbClr val="0D2E7A"/>
            </a:solidFill>
            <a:prstDash val="solid"/>
          </a:ln>
        </p:spPr>
      </p:sp>
      <p:sp>
        <p:nvSpPr>
          <p:cNvPr id="55" name="Shape 46"/>
          <p:cNvSpPr/>
          <p:nvPr/>
        </p:nvSpPr>
        <p:spPr>
          <a:xfrm>
            <a:off x="8275320" y="3017520"/>
            <a:ext cx="548640" cy="182880"/>
          </a:xfrm>
          <a:prstGeom prst="rect">
            <a:avLst/>
          </a:prstGeom>
          <a:solidFill>
            <a:srgbClr val="0D2E7A"/>
          </a:solidFill>
          <a:ln w="12700">
            <a:solidFill>
              <a:srgbClr val="0D2E7A"/>
            </a:solidFill>
            <a:prstDash val="solid"/>
          </a:ln>
        </p:spPr>
      </p:sp>
      <p:sp>
        <p:nvSpPr>
          <p:cNvPr id="56" name="Text 47"/>
          <p:cNvSpPr/>
          <p:nvPr/>
        </p:nvSpPr>
        <p:spPr>
          <a:xfrm>
            <a:off x="8275320"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57" name="Image 7" descr="preencoded.png">    </p:cNvPr>
          <p:cNvPicPr>
            <a:picLocks noChangeAspect="1"/>
          </p:cNvPicPr>
          <p:nvPr/>
        </p:nvPicPr>
        <p:blipFill>
          <a:blip r:embed="rId8"/>
          <a:stretch>
            <a:fillRect/>
          </a:stretch>
        </p:blipFill>
        <p:spPr>
          <a:xfrm>
            <a:off x="6922008" y="3072384"/>
            <a:ext cx="310896" cy="310896"/>
          </a:xfrm>
          <a:prstGeom prst="rect">
            <a:avLst/>
          </a:prstGeom>
        </p:spPr>
      </p:pic>
      <p:sp>
        <p:nvSpPr>
          <p:cNvPr id="58" name="Text 48"/>
          <p:cNvSpPr/>
          <p:nvPr/>
        </p:nvSpPr>
        <p:spPr>
          <a:xfrm>
            <a:off x="7287768" y="3017520"/>
            <a:ext cx="950976"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59" name="Text 49"/>
          <p:cNvSpPr/>
          <p:nvPr/>
        </p:nvSpPr>
        <p:spPr>
          <a:xfrm>
            <a:off x="6903720" y="3493008"/>
            <a:ext cx="1865376"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60" name="Text 50"/>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Call Report AI and Account Opening LTV are Phase 2 promotions. Remaining six are Year 2 opportunities contingent on Phase 1 delivery and continued investment approval.</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737360"/>
            <a:ext cx="715518" cy="182880"/>
          </a:xfrm>
          <a:prstGeom prst="rect">
            <a:avLst/>
          </a:prstGeom>
          <a:solidFill>
            <a:srgbClr val="085CE5"/>
          </a:solidFill>
          <a:ln w="12700">
            <a:solidFill>
              <a:srgbClr val="085CE5"/>
            </a:solidFill>
            <a:prstDash val="solid"/>
          </a:ln>
        </p:spPr>
      </p:sp>
      <p:sp>
        <p:nvSpPr>
          <p:cNvPr id="37" name="Text 35"/>
          <p:cNvSpPr/>
          <p:nvPr/>
        </p:nvSpPr>
        <p:spPr>
          <a:xfrm>
            <a:off x="3275838" y="1737360"/>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85CE5"/>
          </a:solidFill>
          <a:ln w="12700">
            <a:solidFill>
              <a:srgbClr val="085CE5"/>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2505456" y="4041648"/>
            <a:ext cx="1504188" cy="182880"/>
          </a:xfrm>
          <a:prstGeom prst="rect">
            <a:avLst/>
          </a:prstGeom>
          <a:solidFill>
            <a:srgbClr val="085CE5"/>
          </a:solidFill>
          <a:ln w="12700">
            <a:solidFill>
              <a:srgbClr val="085CE5"/>
            </a:solidFill>
            <a:prstDash val="solid"/>
          </a:ln>
        </p:spPr>
      </p:sp>
      <p:sp>
        <p:nvSpPr>
          <p:cNvPr id="73" name="Text 71"/>
          <p:cNvSpPr/>
          <p:nvPr/>
        </p:nvSpPr>
        <p:spPr>
          <a:xfrm>
            <a:off x="256946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073FA8"/>
          </a:solidFill>
          <a:ln w="12700">
            <a:solidFill>
              <a:srgbClr val="073FA8"/>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8" name="Shape 76"/>
          <p:cNvSpPr/>
          <p:nvPr/>
        </p:nvSpPr>
        <p:spPr>
          <a:xfrm>
            <a:off x="4082796" y="4425696"/>
            <a:ext cx="1504188" cy="182880"/>
          </a:xfrm>
          <a:prstGeom prst="rect">
            <a:avLst/>
          </a:prstGeom>
          <a:solidFill>
            <a:srgbClr val="073FA8"/>
          </a:solidFill>
          <a:ln w="12700">
            <a:solidFill>
              <a:srgbClr val="073FA8"/>
            </a:solidFill>
            <a:prstDash val="solid"/>
          </a:ln>
        </p:spPr>
      </p:sp>
      <p:sp>
        <p:nvSpPr>
          <p:cNvPr id="79" name="Text 77"/>
          <p:cNvSpPr/>
          <p:nvPr/>
        </p:nvSpPr>
        <p:spPr>
          <a:xfrm>
            <a:off x="4146804" y="442569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Personal-as-Commercial · Wealth Deflection</a:t>
            </a:r>
            <a:endParaRPr lang="en-US" sz="750" dirty="0"/>
          </a:p>
        </p:txBody>
      </p:sp>
      <p:sp>
        <p:nvSpPr>
          <p:cNvPr id="80" name="Shape 78"/>
          <p:cNvSpPr/>
          <p:nvPr/>
        </p:nvSpPr>
        <p:spPr>
          <a:xfrm>
            <a:off x="274320" y="4736592"/>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736592"/>
            <a:ext cx="54864" cy="356616"/>
          </a:xfrm>
          <a:prstGeom prst="rect">
            <a:avLst/>
          </a:prstGeom>
          <a:solidFill>
            <a:srgbClr val="575A5D"/>
          </a:solidFill>
          <a:ln w="12700">
            <a:solidFill>
              <a:srgbClr val="575A5D"/>
            </a:solidFill>
            <a:prstDash val="solid"/>
          </a:ln>
        </p:spPr>
      </p:sp>
      <p:sp>
        <p:nvSpPr>
          <p:cNvPr id="82" name="Text 80"/>
          <p:cNvSpPr/>
          <p:nvPr/>
        </p:nvSpPr>
        <p:spPr>
          <a:xfrm>
            <a:off x="384048" y="476402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83" name="Text 81"/>
          <p:cNvSpPr/>
          <p:nvPr/>
        </p:nvSpPr>
        <p:spPr>
          <a:xfrm>
            <a:off x="384048" y="495604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84" name="Shape 82"/>
          <p:cNvSpPr/>
          <p:nvPr/>
        </p:nvSpPr>
        <p:spPr>
          <a:xfrm>
            <a:off x="5660136" y="4809744"/>
            <a:ext cx="2292858" cy="182880"/>
          </a:xfrm>
          <a:prstGeom prst="rect">
            <a:avLst/>
          </a:prstGeom>
          <a:solidFill>
            <a:srgbClr val="575A5D"/>
          </a:solidFill>
          <a:ln w="12700">
            <a:solidFill>
              <a:srgbClr val="575A5D"/>
            </a:solidFill>
            <a:prstDash val="solid"/>
          </a:ln>
        </p:spPr>
      </p:sp>
      <p:sp>
        <p:nvSpPr>
          <p:cNvPr id="85" name="Text 83"/>
          <p:cNvSpPr/>
          <p:nvPr/>
        </p:nvSpPr>
        <p:spPr>
          <a:xfrm>
            <a:off x="5724144" y="4809744"/>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6" name="Shape 84"/>
          <p:cNvSpPr/>
          <p:nvPr/>
        </p:nvSpPr>
        <p:spPr>
          <a:xfrm>
            <a:off x="2482596" y="1115568"/>
            <a:ext cx="36576" cy="4005072"/>
          </a:xfrm>
          <a:prstGeom prst="rect">
            <a:avLst/>
          </a:prstGeom>
          <a:solidFill>
            <a:srgbClr val="76DCFD"/>
          </a:solidFill>
          <a:ln w="12700">
            <a:solidFill>
              <a:srgbClr val="76DCFD"/>
            </a:solidFill>
            <a:prstDash val="solid"/>
          </a:ln>
        </p:spPr>
      </p:sp>
      <p:sp>
        <p:nvSpPr>
          <p:cNvPr id="87" name="Text 85"/>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Mediation</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Phase 1 MVP</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MVP  ·  Phase 1</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575A5D"/>
          </a:solidFill>
          <a:ln w="12700">
            <a:solidFill>
              <a:srgbClr val="575A5D"/>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Call Report AI</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Aug/Sept 2026 launch</a:t>
            </a:r>
            <a:endParaRPr lang="en-US" sz="750" dirty="0"/>
          </a:p>
        </p:txBody>
      </p:sp>
      <p:sp>
        <p:nvSpPr>
          <p:cNvPr id="43" name="Shape 41"/>
          <p:cNvSpPr/>
          <p:nvPr/>
        </p:nvSpPr>
        <p:spPr>
          <a:xfrm>
            <a:off x="2542032" y="2157984"/>
            <a:ext cx="2279142" cy="182880"/>
          </a:xfrm>
          <a:prstGeom prst="rect">
            <a:avLst/>
          </a:prstGeom>
          <a:solidFill>
            <a:srgbClr val="575A5D">
              <a:alpha val="70000"/>
            </a:srgbClr>
          </a:solidFill>
          <a:ln w="12700">
            <a:solidFill>
              <a:srgbClr val="575A5D">
                <a:alpha val="90000"/>
              </a:srgbClr>
            </a:solidFill>
            <a:prstDash val="solid"/>
          </a:ln>
        </p:spPr>
      </p:sp>
      <p:sp>
        <p:nvSpPr>
          <p:cNvPr id="44" name="Shape 42"/>
          <p:cNvSpPr/>
          <p:nvPr/>
        </p:nvSpPr>
        <p:spPr>
          <a:xfrm>
            <a:off x="4183014" y="2157984"/>
            <a:ext cx="638160" cy="182880"/>
          </a:xfrm>
          <a:prstGeom prst="rect">
            <a:avLst/>
          </a:prstGeom>
          <a:solidFill>
            <a:srgbClr val="575A5D"/>
          </a:solidFill>
          <a:ln w="12700">
            <a:solidFill>
              <a:srgbClr val="575A5D"/>
            </a:solidFill>
            <a:prstDash val="solid"/>
          </a:ln>
        </p:spPr>
      </p:sp>
      <p:sp>
        <p:nvSpPr>
          <p:cNvPr id="45" name="Text 43"/>
          <p:cNvSpPr/>
          <p:nvPr/>
        </p:nvSpPr>
        <p:spPr>
          <a:xfrm>
            <a:off x="2606040" y="2157984"/>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Active dev  →  Aug/Sept '26</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73FA8"/>
          </a:solidFill>
          <a:ln w="12700">
            <a:solidFill>
              <a:srgbClr val="073FA8"/>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50" name="Shape 48"/>
          <p:cNvSpPr/>
          <p:nvPr/>
        </p:nvSpPr>
        <p:spPr>
          <a:xfrm>
            <a:off x="3326130" y="2560320"/>
            <a:ext cx="2279142" cy="182880"/>
          </a:xfrm>
          <a:prstGeom prst="rect">
            <a:avLst/>
          </a:prstGeom>
          <a:solidFill>
            <a:srgbClr val="073FA8">
              <a:alpha val="70000"/>
            </a:srgbClr>
          </a:solidFill>
          <a:ln w="12700">
            <a:solidFill>
              <a:srgbClr val="073FA8">
                <a:alpha val="90000"/>
              </a:srgbClr>
            </a:solidFill>
            <a:prstDash val="solid"/>
          </a:ln>
        </p:spPr>
      </p:sp>
      <p:sp>
        <p:nvSpPr>
          <p:cNvPr id="51" name="Shape 49"/>
          <p:cNvSpPr/>
          <p:nvPr/>
        </p:nvSpPr>
        <p:spPr>
          <a:xfrm>
            <a:off x="4967112" y="2560320"/>
            <a:ext cx="638160" cy="182880"/>
          </a:xfrm>
          <a:prstGeom prst="rect">
            <a:avLst/>
          </a:prstGeom>
          <a:solidFill>
            <a:srgbClr val="073FA8"/>
          </a:solidFill>
          <a:ln w="12700">
            <a:solidFill>
              <a:srgbClr val="073FA8"/>
            </a:solidFill>
            <a:prstDash val="solid"/>
          </a:ln>
        </p:spPr>
      </p:sp>
      <p:sp>
        <p:nvSpPr>
          <p:cNvPr id="52" name="Text 50"/>
          <p:cNvSpPr/>
          <p:nvPr/>
        </p:nvSpPr>
        <p:spPr>
          <a:xfrm>
            <a:off x="3390138" y="2560320"/>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6185F"/>
          </a:solidFill>
          <a:ln w="12700">
            <a:solidFill>
              <a:srgbClr val="06185F"/>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57" name="Shape 55"/>
          <p:cNvSpPr/>
          <p:nvPr/>
        </p:nvSpPr>
        <p:spPr>
          <a:xfrm>
            <a:off x="4110228" y="2962656"/>
            <a:ext cx="1495044" cy="182880"/>
          </a:xfrm>
          <a:prstGeom prst="rect">
            <a:avLst/>
          </a:prstGeom>
          <a:solidFill>
            <a:srgbClr val="06185F">
              <a:alpha val="70000"/>
            </a:srgbClr>
          </a:solidFill>
          <a:ln w="12700">
            <a:solidFill>
              <a:srgbClr val="06185F">
                <a:alpha val="90000"/>
              </a:srgbClr>
            </a:solidFill>
            <a:prstDash val="solid"/>
          </a:ln>
        </p:spPr>
      </p:sp>
      <p:sp>
        <p:nvSpPr>
          <p:cNvPr id="58" name="Shape 56"/>
          <p:cNvSpPr/>
          <p:nvPr/>
        </p:nvSpPr>
        <p:spPr>
          <a:xfrm>
            <a:off x="5186660" y="2962656"/>
            <a:ext cx="418612" cy="182880"/>
          </a:xfrm>
          <a:prstGeom prst="rect">
            <a:avLst/>
          </a:prstGeom>
          <a:solidFill>
            <a:srgbClr val="06185F"/>
          </a:solidFill>
          <a:ln w="12700">
            <a:solidFill>
              <a:srgbClr val="06185F"/>
            </a:solidFill>
            <a:prstDash val="solid"/>
          </a:ln>
        </p:spPr>
      </p:sp>
      <p:sp>
        <p:nvSpPr>
          <p:cNvPr id="59" name="Text 57"/>
          <p:cNvSpPr/>
          <p:nvPr/>
        </p:nvSpPr>
        <p:spPr>
          <a:xfrm>
            <a:off x="4174236" y="2962656"/>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A52C4"/>
          </a:solidFill>
          <a:ln w="12700">
            <a:solidFill>
              <a:srgbClr val="0A52C4"/>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Personal-as-Commercial</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64" name="Shape 62"/>
          <p:cNvSpPr/>
          <p:nvPr/>
        </p:nvSpPr>
        <p:spPr>
          <a:xfrm>
            <a:off x="4110228" y="3364992"/>
            <a:ext cx="1495044" cy="182880"/>
          </a:xfrm>
          <a:prstGeom prst="rect">
            <a:avLst/>
          </a:prstGeom>
          <a:solidFill>
            <a:srgbClr val="0A52C4">
              <a:alpha val="70000"/>
            </a:srgbClr>
          </a:solidFill>
          <a:ln w="12700">
            <a:solidFill>
              <a:srgbClr val="0A52C4">
                <a:alpha val="90000"/>
              </a:srgbClr>
            </a:solidFill>
            <a:prstDash val="solid"/>
          </a:ln>
        </p:spPr>
      </p:sp>
      <p:sp>
        <p:nvSpPr>
          <p:cNvPr id="65" name="Shape 63"/>
          <p:cNvSpPr/>
          <p:nvPr/>
        </p:nvSpPr>
        <p:spPr>
          <a:xfrm>
            <a:off x="5186660" y="3364992"/>
            <a:ext cx="418612" cy="182880"/>
          </a:xfrm>
          <a:prstGeom prst="rect">
            <a:avLst/>
          </a:prstGeom>
          <a:solidFill>
            <a:srgbClr val="0A52C4"/>
          </a:solidFill>
          <a:ln w="12700">
            <a:solidFill>
              <a:srgbClr val="0A52C4"/>
            </a:solidFill>
            <a:prstDash val="solid"/>
          </a:ln>
        </p:spPr>
      </p:sp>
      <p:sp>
        <p:nvSpPr>
          <p:cNvPr id="66" name="Text 64"/>
          <p:cNvSpPr/>
          <p:nvPr/>
        </p:nvSpPr>
        <p:spPr>
          <a:xfrm>
            <a:off x="4174236" y="3364992"/>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F3D8A"/>
          </a:solidFill>
          <a:ln w="12700">
            <a:solidFill>
              <a:srgbClr val="0F3D8A"/>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71" name="Shape 69"/>
          <p:cNvSpPr/>
          <p:nvPr/>
        </p:nvSpPr>
        <p:spPr>
          <a:xfrm>
            <a:off x="4110228" y="3767328"/>
            <a:ext cx="2279142" cy="182880"/>
          </a:xfrm>
          <a:prstGeom prst="rect">
            <a:avLst/>
          </a:prstGeom>
          <a:solidFill>
            <a:srgbClr val="0F3D8A">
              <a:alpha val="70000"/>
            </a:srgbClr>
          </a:solidFill>
          <a:ln w="12700">
            <a:solidFill>
              <a:srgbClr val="0F3D8A">
                <a:alpha val="90000"/>
              </a:srgbClr>
            </a:solidFill>
            <a:prstDash val="solid"/>
          </a:ln>
        </p:spPr>
      </p:sp>
      <p:sp>
        <p:nvSpPr>
          <p:cNvPr id="72" name="Shape 70"/>
          <p:cNvSpPr/>
          <p:nvPr/>
        </p:nvSpPr>
        <p:spPr>
          <a:xfrm>
            <a:off x="5751210" y="3767328"/>
            <a:ext cx="638160" cy="182880"/>
          </a:xfrm>
          <a:prstGeom prst="rect">
            <a:avLst/>
          </a:prstGeom>
          <a:solidFill>
            <a:srgbClr val="0F3D8A"/>
          </a:solidFill>
          <a:ln w="12700">
            <a:solidFill>
              <a:srgbClr val="0F3D8A"/>
            </a:solidFill>
            <a:prstDash val="solid"/>
          </a:ln>
        </p:spPr>
      </p:sp>
      <p:sp>
        <p:nvSpPr>
          <p:cNvPr id="73" name="Text 71"/>
          <p:cNvSpPr/>
          <p:nvPr/>
        </p:nvSpPr>
        <p:spPr>
          <a:xfrm>
            <a:off x="4174236" y="3767328"/>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74" name="Shape 72"/>
          <p:cNvSpPr/>
          <p:nvPr/>
        </p:nvSpPr>
        <p:spPr>
          <a:xfrm>
            <a:off x="274320" y="4078224"/>
            <a:ext cx="8503920" cy="374904"/>
          </a:xfrm>
          <a:prstGeom prst="rect">
            <a:avLst/>
          </a:prstGeom>
          <a:solidFill>
            <a:srgbClr val="FFFFFF"/>
          </a:solidFill>
          <a:ln w="12700">
            <a:solidFill>
              <a:srgbClr val="E7ECF0"/>
            </a:solidFill>
            <a:prstDash val="solid"/>
          </a:ln>
        </p:spPr>
      </p:sp>
      <p:sp>
        <p:nvSpPr>
          <p:cNvPr id="75" name="Shape 73"/>
          <p:cNvSpPr/>
          <p:nvPr/>
        </p:nvSpPr>
        <p:spPr>
          <a:xfrm>
            <a:off x="274320" y="4078224"/>
            <a:ext cx="54864" cy="374904"/>
          </a:xfrm>
          <a:prstGeom prst="rect">
            <a:avLst/>
          </a:prstGeom>
          <a:solidFill>
            <a:srgbClr val="0B68D4"/>
          </a:solidFill>
          <a:ln w="12700">
            <a:solidFill>
              <a:srgbClr val="0B68D4"/>
            </a:solidFill>
            <a:prstDash val="solid"/>
          </a:ln>
        </p:spPr>
      </p:sp>
      <p:sp>
        <p:nvSpPr>
          <p:cNvPr id="76" name="Text 74"/>
          <p:cNvSpPr/>
          <p:nvPr/>
        </p:nvSpPr>
        <p:spPr>
          <a:xfrm>
            <a:off x="384048" y="410565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Account Opening LTV</a:t>
            </a:r>
            <a:endParaRPr lang="en-US" sz="850" dirty="0"/>
          </a:p>
        </p:txBody>
      </p:sp>
      <p:sp>
        <p:nvSpPr>
          <p:cNvPr id="77" name="Text 75"/>
          <p:cNvSpPr/>
          <p:nvPr/>
        </p:nvSpPr>
        <p:spPr>
          <a:xfrm>
            <a:off x="384048" y="430682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New account LTV scoring</a:t>
            </a:r>
            <a:endParaRPr lang="en-US" sz="750" dirty="0"/>
          </a:p>
        </p:txBody>
      </p:sp>
      <p:sp>
        <p:nvSpPr>
          <p:cNvPr id="78" name="Shape 76"/>
          <p:cNvSpPr/>
          <p:nvPr/>
        </p:nvSpPr>
        <p:spPr>
          <a:xfrm>
            <a:off x="5678424" y="4169664"/>
            <a:ext cx="1495044" cy="182880"/>
          </a:xfrm>
          <a:prstGeom prst="rect">
            <a:avLst/>
          </a:prstGeom>
          <a:solidFill>
            <a:srgbClr val="0B68D4">
              <a:alpha val="70000"/>
            </a:srgbClr>
          </a:solidFill>
          <a:ln w="12700">
            <a:solidFill>
              <a:srgbClr val="0B68D4">
                <a:alpha val="90000"/>
              </a:srgbClr>
            </a:solidFill>
            <a:prstDash val="solid"/>
          </a:ln>
        </p:spPr>
      </p:sp>
      <p:sp>
        <p:nvSpPr>
          <p:cNvPr id="79" name="Shape 77"/>
          <p:cNvSpPr/>
          <p:nvPr/>
        </p:nvSpPr>
        <p:spPr>
          <a:xfrm>
            <a:off x="6754856" y="4169664"/>
            <a:ext cx="418612" cy="182880"/>
          </a:xfrm>
          <a:prstGeom prst="rect">
            <a:avLst/>
          </a:prstGeom>
          <a:solidFill>
            <a:srgbClr val="0B68D4"/>
          </a:solidFill>
          <a:ln w="12700">
            <a:solidFill>
              <a:srgbClr val="0B68D4"/>
            </a:solidFill>
            <a:prstDash val="solid"/>
          </a:ln>
        </p:spPr>
      </p:sp>
      <p:sp>
        <p:nvSpPr>
          <p:cNvPr id="80" name="Text 78"/>
          <p:cNvSpPr/>
          <p:nvPr/>
        </p:nvSpPr>
        <p:spPr>
          <a:xfrm>
            <a:off x="5742432" y="416966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81" name="Shape 79"/>
          <p:cNvSpPr/>
          <p:nvPr/>
        </p:nvSpPr>
        <p:spPr>
          <a:xfrm>
            <a:off x="274320" y="4480560"/>
            <a:ext cx="8503920" cy="374904"/>
          </a:xfrm>
          <a:prstGeom prst="rect">
            <a:avLst/>
          </a:prstGeom>
          <a:solidFill>
            <a:srgbClr val="F8F9FA"/>
          </a:solidFill>
          <a:ln w="12700">
            <a:solidFill>
              <a:srgbClr val="E7ECF0"/>
            </a:solidFill>
            <a:prstDash val="solid"/>
          </a:ln>
        </p:spPr>
      </p:sp>
      <p:sp>
        <p:nvSpPr>
          <p:cNvPr id="82" name="Shape 80"/>
          <p:cNvSpPr/>
          <p:nvPr/>
        </p:nvSpPr>
        <p:spPr>
          <a:xfrm>
            <a:off x="274320" y="4480560"/>
            <a:ext cx="54864" cy="374904"/>
          </a:xfrm>
          <a:prstGeom prst="rect">
            <a:avLst/>
          </a:prstGeom>
          <a:solidFill>
            <a:srgbClr val="0D2E7A"/>
          </a:solidFill>
          <a:ln w="12700">
            <a:solidFill>
              <a:srgbClr val="0D2E7A"/>
            </a:solidFill>
            <a:prstDash val="solid"/>
          </a:ln>
        </p:spPr>
      </p:sp>
      <p:sp>
        <p:nvSpPr>
          <p:cNvPr id="83" name="Text 81"/>
          <p:cNvSpPr/>
          <p:nvPr/>
        </p:nvSpPr>
        <p:spPr>
          <a:xfrm>
            <a:off x="384048" y="450799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84" name="Text 82"/>
          <p:cNvSpPr/>
          <p:nvPr/>
        </p:nvSpPr>
        <p:spPr>
          <a:xfrm>
            <a:off x="384048" y="470916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85" name="Shape 83"/>
          <p:cNvSpPr/>
          <p:nvPr/>
        </p:nvSpPr>
        <p:spPr>
          <a:xfrm>
            <a:off x="5678424" y="4572000"/>
            <a:ext cx="3063240" cy="182880"/>
          </a:xfrm>
          <a:prstGeom prst="rect">
            <a:avLst/>
          </a:prstGeom>
          <a:solidFill>
            <a:srgbClr val="0D2E7A">
              <a:alpha val="70000"/>
            </a:srgbClr>
          </a:solidFill>
          <a:ln w="12700">
            <a:solidFill>
              <a:srgbClr val="0D2E7A">
                <a:alpha val="90000"/>
              </a:srgbClr>
            </a:solidFill>
            <a:prstDash val="solid"/>
          </a:ln>
        </p:spPr>
      </p:sp>
      <p:sp>
        <p:nvSpPr>
          <p:cNvPr id="86" name="Shape 84"/>
          <p:cNvSpPr/>
          <p:nvPr/>
        </p:nvSpPr>
        <p:spPr>
          <a:xfrm>
            <a:off x="8030718" y="4572000"/>
            <a:ext cx="710946" cy="182880"/>
          </a:xfrm>
          <a:prstGeom prst="rect">
            <a:avLst/>
          </a:prstGeom>
          <a:solidFill>
            <a:srgbClr val="0D2E7A"/>
          </a:solidFill>
          <a:ln w="12700">
            <a:solidFill>
              <a:srgbClr val="0D2E7A"/>
            </a:solidFill>
            <a:prstDash val="solid"/>
          </a:ln>
        </p:spPr>
      </p:sp>
      <p:sp>
        <p:nvSpPr>
          <p:cNvPr id="87" name="Text 85"/>
          <p:cNvSpPr/>
          <p:nvPr/>
        </p:nvSpPr>
        <p:spPr>
          <a:xfrm>
            <a:off x="5742432" y="4572000"/>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88" name="Shape 86"/>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89" name="Text 87"/>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90" name="Shape 88"/>
          <p:cNvSpPr/>
          <p:nvPr/>
        </p:nvSpPr>
        <p:spPr>
          <a:xfrm>
            <a:off x="2304288" y="4919472"/>
            <a:ext cx="457200" cy="128016"/>
          </a:xfrm>
          <a:prstGeom prst="rect">
            <a:avLst/>
          </a:prstGeom>
          <a:solidFill>
            <a:srgbClr val="085CE5"/>
          </a:solidFill>
          <a:ln w="12700">
            <a:solidFill>
              <a:srgbClr val="085CE5"/>
            </a:solidFill>
            <a:prstDash val="solid"/>
          </a:ln>
        </p:spPr>
      </p:sp>
      <p:sp>
        <p:nvSpPr>
          <p:cNvPr id="91" name="Text 89"/>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92" name="Shape 90"/>
          <p:cNvSpPr/>
          <p:nvPr/>
        </p:nvSpPr>
        <p:spPr>
          <a:xfrm>
            <a:off x="2519172" y="1115568"/>
            <a:ext cx="36576" cy="3767328"/>
          </a:xfrm>
          <a:prstGeom prst="rect">
            <a:avLst/>
          </a:prstGeom>
          <a:solidFill>
            <a:srgbClr val="76DCFD"/>
          </a:solidFill>
          <a:ln w="12700">
            <a:solidFill>
              <a:srgbClr val="76DCFD"/>
            </a:solidFill>
            <a:prstDash val="solid"/>
          </a:ln>
        </p:spPr>
      </p:sp>
      <p:sp>
        <p:nvSpPr>
          <p:cNvPr id="93" name="Text 91"/>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73FA8"/>
          </a:solidFill>
          <a:ln w="12700">
            <a:solidFill>
              <a:srgbClr val="073FA8"/>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Anomaly Detection</a:t>
            </a:r>
            <a:endParaRPr lang="en-US" sz="800" dirty="0"/>
          </a:p>
        </p:txBody>
      </p:sp>
      <p:sp>
        <p:nvSpPr>
          <p:cNvPr id="32" name="Shape 30"/>
          <p:cNvSpPr/>
          <p:nvPr/>
        </p:nvSpPr>
        <p:spPr>
          <a:xfrm>
            <a:off x="3328416" y="3968496"/>
            <a:ext cx="2523744" cy="219456"/>
          </a:xfrm>
          <a:prstGeom prst="rect">
            <a:avLst/>
          </a:prstGeom>
          <a:solidFill>
            <a:srgbClr val="06185F"/>
          </a:solidFill>
          <a:ln w="12700">
            <a:solidFill>
              <a:srgbClr val="06185F"/>
            </a:solidFill>
            <a:prstDash val="solid"/>
          </a:ln>
        </p:spPr>
      </p:sp>
      <p:sp>
        <p:nvSpPr>
          <p:cNvPr id="33" name="Shape 31"/>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5" name="Shape 33"/>
          <p:cNvSpPr/>
          <p:nvPr/>
        </p:nvSpPr>
        <p:spPr>
          <a:xfrm>
            <a:off x="3328416" y="4224528"/>
            <a:ext cx="2523744" cy="219456"/>
          </a:xfrm>
          <a:prstGeom prst="rect">
            <a:avLst/>
          </a:prstGeom>
          <a:solidFill>
            <a:srgbClr val="575A5D"/>
          </a:solidFill>
          <a:ln w="12700">
            <a:solidFill>
              <a:srgbClr val="575A5D"/>
            </a:solidFill>
            <a:prstDash val="solid"/>
          </a:ln>
        </p:spPr>
      </p:sp>
      <p:sp>
        <p:nvSpPr>
          <p:cNvPr id="36" name="Shape 34"/>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224528"/>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Call Report AI</a:t>
            </a:r>
            <a:endParaRPr lang="en-US" sz="800" dirty="0"/>
          </a:p>
        </p:txBody>
      </p:sp>
      <p:sp>
        <p:nvSpPr>
          <p:cNvPr id="38" name="Shape 36"/>
          <p:cNvSpPr/>
          <p:nvPr/>
        </p:nvSpPr>
        <p:spPr>
          <a:xfrm>
            <a:off x="4974336" y="4251960"/>
            <a:ext cx="749808" cy="164592"/>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4974336" y="4251960"/>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Aug/Sept '26</a:t>
            </a:r>
            <a:endParaRPr lang="en-US" sz="700" dirty="0"/>
          </a:p>
        </p:txBody>
      </p:sp>
      <p:sp>
        <p:nvSpPr>
          <p:cNvPr id="40" name="Shape 38"/>
          <p:cNvSpPr/>
          <p:nvPr/>
        </p:nvSpPr>
        <p:spPr>
          <a:xfrm>
            <a:off x="3328416" y="4480560"/>
            <a:ext cx="2523744" cy="219456"/>
          </a:xfrm>
          <a:prstGeom prst="rect">
            <a:avLst/>
          </a:prstGeom>
          <a:solidFill>
            <a:srgbClr val="0A52C4"/>
          </a:solidFill>
          <a:ln w="12700">
            <a:solidFill>
              <a:srgbClr val="0A52C4"/>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Personal-as-Commercial</a:t>
            </a:r>
            <a:endParaRPr lang="en-US" sz="800" dirty="0"/>
          </a:p>
        </p:txBody>
      </p:sp>
      <p:sp>
        <p:nvSpPr>
          <p:cNvPr id="43" name="Shape 41"/>
          <p:cNvSpPr/>
          <p:nvPr/>
        </p:nvSpPr>
        <p:spPr>
          <a:xfrm>
            <a:off x="3328416" y="4736592"/>
            <a:ext cx="2523744" cy="219456"/>
          </a:xfrm>
          <a:prstGeom prst="rect">
            <a:avLst/>
          </a:prstGeom>
          <a:solidFill>
            <a:srgbClr val="0F3D8A"/>
          </a:solidFill>
          <a:ln w="12700">
            <a:solidFill>
              <a:srgbClr val="0F3D8A"/>
            </a:solidFill>
            <a:prstDash val="solid"/>
          </a:ln>
        </p:spPr>
      </p:sp>
      <p:sp>
        <p:nvSpPr>
          <p:cNvPr id="44" name="Shape 42"/>
          <p:cNvSpPr/>
          <p:nvPr/>
        </p:nvSpPr>
        <p:spPr>
          <a:xfrm>
            <a:off x="3383280" y="4782312"/>
            <a:ext cx="128016" cy="128016"/>
          </a:xfrm>
          <a:prstGeom prst="ellipse">
            <a:avLst/>
          </a:prstGeom>
          <a:solidFill>
            <a:srgbClr val="FFFFFF">
              <a:alpha val="70000"/>
            </a:srgbClr>
          </a:solidFill>
          <a:ln w="12700">
            <a:solidFill>
              <a:srgbClr val="FFFFFF">
                <a:alpha val="70000"/>
              </a:srgbClr>
            </a:solidFill>
            <a:prstDash val="solid"/>
          </a:ln>
        </p:spPr>
      </p:sp>
      <p:sp>
        <p:nvSpPr>
          <p:cNvPr id="45" name="Text 43"/>
          <p:cNvSpPr/>
          <p:nvPr/>
        </p:nvSpPr>
        <p:spPr>
          <a:xfrm>
            <a:off x="3566160" y="4736592"/>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6" name="Shape 44"/>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7" name="Shape 45"/>
          <p:cNvSpPr/>
          <p:nvPr/>
        </p:nvSpPr>
        <p:spPr>
          <a:xfrm>
            <a:off x="6144768" y="749808"/>
            <a:ext cx="2816352" cy="804672"/>
          </a:xfrm>
          <a:prstGeom prst="rect">
            <a:avLst/>
          </a:prstGeom>
          <a:solidFill>
            <a:srgbClr val="575A5D"/>
          </a:solidFill>
          <a:ln w="12700">
            <a:solidFill>
              <a:srgbClr val="575A5D"/>
            </a:solidFill>
            <a:prstDash val="solid"/>
          </a:ln>
        </p:spPr>
      </p:sp>
      <p:sp>
        <p:nvSpPr>
          <p:cNvPr id="48" name="Text 46"/>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9" name="Shape 47"/>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50" name="Text 48"/>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51" name="Text 49"/>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52" name="Text 50"/>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3" name="Shape 51"/>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4" name="Shape 52"/>
          <p:cNvSpPr/>
          <p:nvPr/>
        </p:nvSpPr>
        <p:spPr>
          <a:xfrm>
            <a:off x="6144768" y="3675888"/>
            <a:ext cx="54864" cy="237744"/>
          </a:xfrm>
          <a:prstGeom prst="rect">
            <a:avLst/>
          </a:prstGeom>
          <a:solidFill>
            <a:srgbClr val="575A5D"/>
          </a:solidFill>
          <a:ln w="12700">
            <a:solidFill>
              <a:srgbClr val="575A5D"/>
            </a:solidFill>
            <a:prstDash val="solid"/>
          </a:ln>
        </p:spPr>
      </p:sp>
      <p:sp>
        <p:nvSpPr>
          <p:cNvPr id="55" name="Text 53"/>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6" name="Shape 54"/>
          <p:cNvSpPr/>
          <p:nvPr/>
        </p:nvSpPr>
        <p:spPr>
          <a:xfrm>
            <a:off x="6272784" y="3950208"/>
            <a:ext cx="2523744" cy="256032"/>
          </a:xfrm>
          <a:prstGeom prst="rect">
            <a:avLst/>
          </a:prstGeom>
          <a:solidFill>
            <a:srgbClr val="0B68D4"/>
          </a:solidFill>
          <a:ln w="12700">
            <a:solidFill>
              <a:srgbClr val="0B68D4"/>
            </a:solidFill>
            <a:prstDash val="solid"/>
          </a:ln>
        </p:spPr>
      </p:sp>
      <p:sp>
        <p:nvSpPr>
          <p:cNvPr id="57" name="Shape 55"/>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9" name="Shape 57"/>
          <p:cNvSpPr/>
          <p:nvPr/>
        </p:nvSpPr>
        <p:spPr>
          <a:xfrm>
            <a:off x="6272784" y="4279392"/>
            <a:ext cx="2523744" cy="256032"/>
          </a:xfrm>
          <a:prstGeom prst="rect">
            <a:avLst/>
          </a:prstGeom>
          <a:solidFill>
            <a:srgbClr val="0D2E7A"/>
          </a:solidFill>
          <a:ln w="12700">
            <a:solidFill>
              <a:srgbClr val="0D2E7A"/>
            </a:solidFill>
            <a:prstDash val="solid"/>
          </a:ln>
        </p:spPr>
      </p:sp>
      <p:sp>
        <p:nvSpPr>
          <p:cNvPr id="60" name="Shape 58"/>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61" name="Text 59"/>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62" name="Shape 60"/>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3" name="Text 61"/>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4" name="Shape 62"/>
          <p:cNvSpPr/>
          <p:nvPr/>
        </p:nvSpPr>
        <p:spPr>
          <a:xfrm>
            <a:off x="6272784" y="4608576"/>
            <a:ext cx="2523744" cy="256032"/>
          </a:xfrm>
          <a:prstGeom prst="rect">
            <a:avLst/>
          </a:prstGeom>
          <a:solidFill>
            <a:srgbClr val="073FA8"/>
          </a:solidFill>
          <a:ln w="12700">
            <a:solidFill>
              <a:srgbClr val="073FA8"/>
            </a:solidFill>
            <a:prstDash val="solid"/>
          </a:ln>
        </p:spPr>
      </p:sp>
      <p:sp>
        <p:nvSpPr>
          <p:cNvPr id="65" name="Shape 63"/>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6" name="Text 64"/>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7" name="Shape 65"/>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8" name="Text 66"/>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2026-04-02T01:52:45Z</dcterms:created>
  <dcterms:modified xsi:type="dcterms:W3CDTF">2026-04-02T01:52:45Z</dcterms:modified>
</cp:coreProperties>
</file>