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 Six Core Applications</a:t>
            </a:r>
            <a:endParaRPr lang="en-US" sz="2200" dirty="0"/>
          </a:p>
        </p:txBody>
      </p:sp>
      <p:sp>
        <p:nvSpPr>
          <p:cNvPr id="4" name="Shape 2"/>
          <p:cNvSpPr/>
          <p:nvPr/>
        </p:nvSpPr>
        <p:spPr>
          <a:xfrm>
            <a:off x="320040"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Attrition /</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Churn Mediation</a:t>
            </a:r>
            <a:endParaRPr lang="en-US" sz="1150" dirty="0"/>
          </a:p>
        </p:txBody>
      </p:sp>
      <p:sp>
        <p:nvSpPr>
          <p:cNvPr id="8" name="Text 5"/>
          <p:cNvSpPr/>
          <p:nvPr/>
        </p:nvSpPr>
        <p:spPr>
          <a:xfrm>
            <a:off x="429768"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0D2E7A"/>
          </a:solidFill>
          <a:ln w="12700">
            <a:solidFill>
              <a:srgbClr val="0D2E7A"/>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23" name="Text 17"/>
          <p:cNvSpPr/>
          <p:nvPr/>
        </p:nvSpPr>
        <p:spPr>
          <a:xfrm>
            <a:off x="429768"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1050" dirty="0"/>
          </a:p>
        </p:txBody>
      </p:sp>
      <p:sp>
        <p:nvSpPr>
          <p:cNvPr id="24" name="Shape 18"/>
          <p:cNvSpPr/>
          <p:nvPr/>
        </p:nvSpPr>
        <p:spPr>
          <a:xfrm>
            <a:off x="3172968"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A52C4"/>
          </a:solidFill>
          <a:ln w="12700">
            <a:solidFill>
              <a:srgbClr val="0A52C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Personal-as-</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Commercial Detection</a:t>
            </a:r>
            <a:endParaRPr lang="en-US" sz="1150" dirty="0"/>
          </a:p>
        </p:txBody>
      </p:sp>
      <p:sp>
        <p:nvSpPr>
          <p:cNvPr id="28" name="Text 21"/>
          <p:cNvSpPr/>
          <p:nvPr/>
        </p:nvSpPr>
        <p:spPr>
          <a:xfrm>
            <a:off x="3282696"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1050" dirty="0"/>
          </a:p>
        </p:txBody>
      </p:sp>
      <p:sp>
        <p:nvSpPr>
          <p:cNvPr id="29" name="Shape 22"/>
          <p:cNvSpPr/>
          <p:nvPr/>
        </p:nvSpPr>
        <p:spPr>
          <a:xfrm>
            <a:off x="6025896"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25896" y="2953512"/>
            <a:ext cx="2706624" cy="658368"/>
          </a:xfrm>
          <a:prstGeom prst="rect">
            <a:avLst/>
          </a:prstGeom>
          <a:solidFill>
            <a:srgbClr val="0F3D8A"/>
          </a:solidFill>
          <a:ln w="12700">
            <a:solidFill>
              <a:srgbClr val="0F3D8A"/>
            </a:solidFill>
            <a:prstDash val="solid"/>
          </a:ln>
        </p:spPr>
      </p:sp>
      <p:pic>
        <p:nvPicPr>
          <p:cNvPr id="31"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2" name="Text 24"/>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Generational</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Wealth Deflection</a:t>
            </a:r>
            <a:endParaRPr lang="en-US" sz="1150" dirty="0"/>
          </a:p>
        </p:txBody>
      </p:sp>
      <p:sp>
        <p:nvSpPr>
          <p:cNvPr id="33" name="Text 25"/>
          <p:cNvSpPr/>
          <p:nvPr/>
        </p:nvSpPr>
        <p:spPr>
          <a:xfrm>
            <a:off x="6135624"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1050" dirty="0"/>
          </a:p>
        </p:txBody>
      </p:sp>
      <p:sp>
        <p:nvSpPr>
          <p:cNvPr id="34" name="Shape 26"/>
          <p:cNvSpPr/>
          <p:nvPr/>
        </p:nvSpPr>
        <p:spPr>
          <a:xfrm>
            <a:off x="320040" y="4718304"/>
            <a:ext cx="8503920" cy="329184"/>
          </a:xfrm>
          <a:prstGeom prst="rect">
            <a:avLst/>
          </a:prstGeom>
          <a:solidFill>
            <a:srgbClr val="E8F7F7"/>
          </a:solidFill>
          <a:ln w="12700">
            <a:solidFill>
              <a:srgbClr val="085CE5"/>
            </a:solidFill>
            <a:prstDash val="solid"/>
          </a:ln>
        </p:spPr>
      </p:sp>
      <p:sp>
        <p:nvSpPr>
          <p:cNvPr id="35" name="Text 27"/>
          <p:cNvSpPr/>
          <p:nvPr/>
        </p:nvSpPr>
        <p:spPr>
          <a:xfrm>
            <a:off x="475488" y="4736592"/>
            <a:ext cx="8229600" cy="274320"/>
          </a:xfrm>
          <a:prstGeom prst="rect">
            <a:avLst/>
          </a:prstGeom>
          <a:noFill/>
          <a:ln/>
        </p:spPr>
        <p:txBody>
          <a:bodyPr wrap="square" lIns="0" tIns="0" rIns="0" bIns="0" rtlCol="0" anchor="ctr"/>
          <a:lstStyle/>
          <a:p>
            <a:pPr indent="0" marL="0">
              <a:buNone/>
            </a:pPr>
            <a:r>
              <a:rPr lang="en-US" sz="950" i="1" dirty="0">
                <a:solidFill>
                  <a:srgbClr val="085CE5"/>
                </a:solidFill>
                <a:latin typeface="Calibri" pitchFamily="34" charset="0"/>
                <a:ea typeface="Calibri" pitchFamily="34" charset="-122"/>
                <a:cs typeface="Calibri" pitchFamily="34" charset="-120"/>
              </a:rPr>
              <a:t>Horizon Pipeline includes Year 2 opportunities: Cross-Sell Propensity  ·  Fraud Ring Detection  ·  Deposit Runoff  ·  Overdraft Prediction  ·  and more →  see Horizon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Personal-as-Commercial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Horizon Pipeline — Phase 2 &amp; Year 2 Platform Opportunities</a:t>
            </a:r>
            <a:endParaRPr lang="en-US" sz="2000" dirty="0"/>
          </a:p>
        </p:txBody>
      </p:sp>
      <p:sp>
        <p:nvSpPr>
          <p:cNvPr id="4" name="Shape 2"/>
          <p:cNvSpPr/>
          <p:nvPr/>
        </p:nvSpPr>
        <p:spPr>
          <a:xfrm>
            <a:off x="128016"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86384"/>
            <a:ext cx="2798064" cy="73152"/>
          </a:xfrm>
          <a:prstGeom prst="rect">
            <a:avLst/>
          </a:prstGeom>
          <a:solidFill>
            <a:srgbClr val="085CE5"/>
          </a:solidFill>
          <a:ln w="12700">
            <a:solidFill>
              <a:srgbClr val="085CE5"/>
            </a:solidFill>
            <a:prstDash val="solid"/>
          </a:ln>
        </p:spPr>
      </p:sp>
      <p:sp>
        <p:nvSpPr>
          <p:cNvPr id="6" name="Shape 4"/>
          <p:cNvSpPr/>
          <p:nvPr/>
        </p:nvSpPr>
        <p:spPr>
          <a:xfrm>
            <a:off x="2322576" y="914400"/>
            <a:ext cx="548640" cy="182880"/>
          </a:xfrm>
          <a:prstGeom prst="rect">
            <a:avLst/>
          </a:prstGeom>
          <a:solidFill>
            <a:srgbClr val="085CE5"/>
          </a:solidFill>
          <a:ln w="12700">
            <a:solidFill>
              <a:srgbClr val="085CE5"/>
            </a:solidFill>
            <a:prstDash val="solid"/>
          </a:ln>
        </p:spPr>
      </p:sp>
      <p:sp>
        <p:nvSpPr>
          <p:cNvPr id="7" name="Text 5"/>
          <p:cNvSpPr/>
          <p:nvPr/>
        </p:nvSpPr>
        <p:spPr>
          <a:xfrm>
            <a:off x="2322576"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8" name="Image 0" descr="preencoded.png">    </p:cNvPr>
          <p:cNvPicPr>
            <a:picLocks noChangeAspect="1"/>
          </p:cNvPicPr>
          <p:nvPr/>
        </p:nvPicPr>
        <p:blipFill>
          <a:blip r:embed="rId1"/>
          <a:stretch>
            <a:fillRect/>
          </a:stretch>
        </p:blipFill>
        <p:spPr>
          <a:xfrm>
            <a:off x="256032" y="969264"/>
            <a:ext cx="310896" cy="310896"/>
          </a:xfrm>
          <a:prstGeom prst="rect">
            <a:avLst/>
          </a:prstGeom>
        </p:spPr>
      </p:pic>
      <p:sp>
        <p:nvSpPr>
          <p:cNvPr id="9" name="Text 6"/>
          <p:cNvSpPr/>
          <p:nvPr/>
        </p:nvSpPr>
        <p:spPr>
          <a:xfrm>
            <a:off x="621792"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Cross-Sell Propensity</a:t>
            </a:r>
            <a:endParaRPr lang="en-US" sz="950" dirty="0"/>
          </a:p>
        </p:txBody>
      </p:sp>
      <p:sp>
        <p:nvSpPr>
          <p:cNvPr id="10" name="Text 7"/>
          <p:cNvSpPr/>
          <p:nvPr/>
        </p:nvSpPr>
        <p:spPr>
          <a:xfrm>
            <a:off x="237744"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900" dirty="0"/>
          </a:p>
        </p:txBody>
      </p:sp>
      <p:sp>
        <p:nvSpPr>
          <p:cNvPr id="11" name="Shape 8"/>
          <p:cNvSpPr/>
          <p:nvPr/>
        </p:nvSpPr>
        <p:spPr>
          <a:xfrm>
            <a:off x="3072384"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3072384" y="786384"/>
            <a:ext cx="2798064" cy="73152"/>
          </a:xfrm>
          <a:prstGeom prst="rect">
            <a:avLst/>
          </a:prstGeom>
          <a:solidFill>
            <a:srgbClr val="06185F"/>
          </a:solidFill>
          <a:ln w="12700">
            <a:solidFill>
              <a:srgbClr val="06185F"/>
            </a:solidFill>
            <a:prstDash val="solid"/>
          </a:ln>
        </p:spPr>
      </p:sp>
      <p:sp>
        <p:nvSpPr>
          <p:cNvPr id="13" name="Shape 10"/>
          <p:cNvSpPr/>
          <p:nvPr/>
        </p:nvSpPr>
        <p:spPr>
          <a:xfrm>
            <a:off x="5266944" y="914400"/>
            <a:ext cx="548640" cy="182880"/>
          </a:xfrm>
          <a:prstGeom prst="rect">
            <a:avLst/>
          </a:prstGeom>
          <a:solidFill>
            <a:srgbClr val="06185F"/>
          </a:solidFill>
          <a:ln w="12700">
            <a:solidFill>
              <a:srgbClr val="06185F"/>
            </a:solidFill>
            <a:prstDash val="solid"/>
          </a:ln>
        </p:spPr>
      </p:sp>
      <p:sp>
        <p:nvSpPr>
          <p:cNvPr id="14" name="Text 11"/>
          <p:cNvSpPr/>
          <p:nvPr/>
        </p:nvSpPr>
        <p:spPr>
          <a:xfrm>
            <a:off x="5266944"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15" name="Image 1" descr="preencoded.png">    </p:cNvPr>
          <p:cNvPicPr>
            <a:picLocks noChangeAspect="1"/>
          </p:cNvPicPr>
          <p:nvPr/>
        </p:nvPicPr>
        <p:blipFill>
          <a:blip r:embed="rId2"/>
          <a:stretch>
            <a:fillRect/>
          </a:stretch>
        </p:blipFill>
        <p:spPr>
          <a:xfrm>
            <a:off x="3200400" y="969264"/>
            <a:ext cx="310896" cy="310896"/>
          </a:xfrm>
          <a:prstGeom prst="rect">
            <a:avLst/>
          </a:prstGeom>
        </p:spPr>
      </p:pic>
      <p:sp>
        <p:nvSpPr>
          <p:cNvPr id="16" name="Text 12"/>
          <p:cNvSpPr/>
          <p:nvPr/>
        </p:nvSpPr>
        <p:spPr>
          <a:xfrm>
            <a:off x="3566160"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Fraud Ring Detection</a:t>
            </a:r>
            <a:endParaRPr lang="en-US" sz="950" dirty="0"/>
          </a:p>
        </p:txBody>
      </p:sp>
      <p:sp>
        <p:nvSpPr>
          <p:cNvPr id="17" name="Text 13"/>
          <p:cNvSpPr/>
          <p:nvPr/>
        </p:nvSpPr>
        <p:spPr>
          <a:xfrm>
            <a:off x="3182112"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900" dirty="0"/>
          </a:p>
        </p:txBody>
      </p:sp>
      <p:sp>
        <p:nvSpPr>
          <p:cNvPr id="18" name="Shape 14"/>
          <p:cNvSpPr/>
          <p:nvPr/>
        </p:nvSpPr>
        <p:spPr>
          <a:xfrm>
            <a:off x="6016752"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6016752" y="786384"/>
            <a:ext cx="2798064" cy="73152"/>
          </a:xfrm>
          <a:prstGeom prst="rect">
            <a:avLst/>
          </a:prstGeom>
          <a:solidFill>
            <a:srgbClr val="073FA8"/>
          </a:solidFill>
          <a:ln w="12700">
            <a:solidFill>
              <a:srgbClr val="073FA8"/>
            </a:solidFill>
            <a:prstDash val="solid"/>
          </a:ln>
        </p:spPr>
      </p:sp>
      <p:sp>
        <p:nvSpPr>
          <p:cNvPr id="20" name="Shape 16"/>
          <p:cNvSpPr/>
          <p:nvPr/>
        </p:nvSpPr>
        <p:spPr>
          <a:xfrm>
            <a:off x="8211312" y="914400"/>
            <a:ext cx="548640" cy="182880"/>
          </a:xfrm>
          <a:prstGeom prst="rect">
            <a:avLst/>
          </a:prstGeom>
          <a:solidFill>
            <a:srgbClr val="073FA8"/>
          </a:solidFill>
          <a:ln w="12700">
            <a:solidFill>
              <a:srgbClr val="073FA8"/>
            </a:solidFill>
            <a:prstDash val="solid"/>
          </a:ln>
        </p:spPr>
      </p:sp>
      <p:sp>
        <p:nvSpPr>
          <p:cNvPr id="21" name="Text 17"/>
          <p:cNvSpPr/>
          <p:nvPr/>
        </p:nvSpPr>
        <p:spPr>
          <a:xfrm>
            <a:off x="8211312"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2" name="Image 2" descr="preencoded.png">    </p:cNvPr>
          <p:cNvPicPr>
            <a:picLocks noChangeAspect="1"/>
          </p:cNvPicPr>
          <p:nvPr/>
        </p:nvPicPr>
        <p:blipFill>
          <a:blip r:embed="rId3"/>
          <a:stretch>
            <a:fillRect/>
          </a:stretch>
        </p:blipFill>
        <p:spPr>
          <a:xfrm>
            <a:off x="6144768" y="969264"/>
            <a:ext cx="310896" cy="310896"/>
          </a:xfrm>
          <a:prstGeom prst="rect">
            <a:avLst/>
          </a:prstGeom>
        </p:spPr>
      </p:pic>
      <p:sp>
        <p:nvSpPr>
          <p:cNvPr id="23" name="Text 18"/>
          <p:cNvSpPr/>
          <p:nvPr/>
        </p:nvSpPr>
        <p:spPr>
          <a:xfrm>
            <a:off x="6510528"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Deposit Runoff Forecasting</a:t>
            </a:r>
            <a:endParaRPr lang="en-US" sz="950" dirty="0"/>
          </a:p>
        </p:txBody>
      </p:sp>
      <p:sp>
        <p:nvSpPr>
          <p:cNvPr id="24" name="Text 19"/>
          <p:cNvSpPr/>
          <p:nvPr/>
        </p:nvSpPr>
        <p:spPr>
          <a:xfrm>
            <a:off x="6126480"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900" dirty="0"/>
          </a:p>
        </p:txBody>
      </p:sp>
      <p:sp>
        <p:nvSpPr>
          <p:cNvPr id="25" name="Shape 20"/>
          <p:cNvSpPr/>
          <p:nvPr/>
        </p:nvSpPr>
        <p:spPr>
          <a:xfrm>
            <a:off x="128016"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128016" y="2889504"/>
            <a:ext cx="2798064" cy="73152"/>
          </a:xfrm>
          <a:prstGeom prst="rect">
            <a:avLst/>
          </a:prstGeom>
          <a:solidFill>
            <a:srgbClr val="575A5D"/>
          </a:solidFill>
          <a:ln w="12700">
            <a:solidFill>
              <a:srgbClr val="575A5D"/>
            </a:solidFill>
            <a:prstDash val="solid"/>
          </a:ln>
        </p:spPr>
      </p:sp>
      <p:sp>
        <p:nvSpPr>
          <p:cNvPr id="27" name="Shape 22"/>
          <p:cNvSpPr/>
          <p:nvPr/>
        </p:nvSpPr>
        <p:spPr>
          <a:xfrm>
            <a:off x="2322576" y="3017520"/>
            <a:ext cx="548640" cy="182880"/>
          </a:xfrm>
          <a:prstGeom prst="rect">
            <a:avLst/>
          </a:prstGeom>
          <a:solidFill>
            <a:srgbClr val="575A5D"/>
          </a:solidFill>
          <a:ln w="12700">
            <a:solidFill>
              <a:srgbClr val="575A5D"/>
            </a:solidFill>
            <a:prstDash val="solid"/>
          </a:ln>
        </p:spPr>
      </p:sp>
      <p:sp>
        <p:nvSpPr>
          <p:cNvPr id="28" name="Text 23"/>
          <p:cNvSpPr/>
          <p:nvPr/>
        </p:nvSpPr>
        <p:spPr>
          <a:xfrm>
            <a:off x="2322576"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9" name="Image 3" descr="preencoded.png">    </p:cNvPr>
          <p:cNvPicPr>
            <a:picLocks noChangeAspect="1"/>
          </p:cNvPicPr>
          <p:nvPr/>
        </p:nvPicPr>
        <p:blipFill>
          <a:blip r:embed="rId4"/>
          <a:stretch>
            <a:fillRect/>
          </a:stretch>
        </p:blipFill>
        <p:spPr>
          <a:xfrm>
            <a:off x="256032" y="3072384"/>
            <a:ext cx="310896" cy="310896"/>
          </a:xfrm>
          <a:prstGeom prst="rect">
            <a:avLst/>
          </a:prstGeom>
        </p:spPr>
      </p:pic>
      <p:sp>
        <p:nvSpPr>
          <p:cNvPr id="30" name="Text 24"/>
          <p:cNvSpPr/>
          <p:nvPr/>
        </p:nvSpPr>
        <p:spPr>
          <a:xfrm>
            <a:off x="621792"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Overdraft Prediction</a:t>
            </a:r>
            <a:endParaRPr lang="en-US" sz="950" dirty="0"/>
          </a:p>
        </p:txBody>
      </p:sp>
      <p:sp>
        <p:nvSpPr>
          <p:cNvPr id="31" name="Text 25"/>
          <p:cNvSpPr/>
          <p:nvPr/>
        </p:nvSpPr>
        <p:spPr>
          <a:xfrm>
            <a:off x="237744"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900" dirty="0"/>
          </a:p>
        </p:txBody>
      </p:sp>
      <p:sp>
        <p:nvSpPr>
          <p:cNvPr id="32" name="Shape 26"/>
          <p:cNvSpPr/>
          <p:nvPr/>
        </p:nvSpPr>
        <p:spPr>
          <a:xfrm>
            <a:off x="3072384"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3" name="Shape 27"/>
          <p:cNvSpPr/>
          <p:nvPr/>
        </p:nvSpPr>
        <p:spPr>
          <a:xfrm>
            <a:off x="3072384" y="2889504"/>
            <a:ext cx="2798064" cy="73152"/>
          </a:xfrm>
          <a:prstGeom prst="rect">
            <a:avLst/>
          </a:prstGeom>
          <a:solidFill>
            <a:srgbClr val="0B68D4"/>
          </a:solidFill>
          <a:ln w="12700">
            <a:solidFill>
              <a:srgbClr val="0B68D4"/>
            </a:solidFill>
            <a:prstDash val="solid"/>
          </a:ln>
        </p:spPr>
      </p:sp>
      <p:sp>
        <p:nvSpPr>
          <p:cNvPr id="34" name="Shape 28"/>
          <p:cNvSpPr/>
          <p:nvPr/>
        </p:nvSpPr>
        <p:spPr>
          <a:xfrm>
            <a:off x="5266944" y="3017520"/>
            <a:ext cx="548640" cy="182880"/>
          </a:xfrm>
          <a:prstGeom prst="rect">
            <a:avLst/>
          </a:prstGeom>
          <a:solidFill>
            <a:srgbClr val="0B68D4"/>
          </a:solidFill>
          <a:ln w="12700">
            <a:solidFill>
              <a:srgbClr val="0B68D4"/>
            </a:solidFill>
            <a:prstDash val="solid"/>
          </a:ln>
        </p:spPr>
      </p:sp>
      <p:sp>
        <p:nvSpPr>
          <p:cNvPr id="35" name="Text 29"/>
          <p:cNvSpPr/>
          <p:nvPr/>
        </p:nvSpPr>
        <p:spPr>
          <a:xfrm>
            <a:off x="5266944"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36" name="Image 4" descr="preencoded.png">    </p:cNvPr>
          <p:cNvPicPr>
            <a:picLocks noChangeAspect="1"/>
          </p:cNvPicPr>
          <p:nvPr/>
        </p:nvPicPr>
        <p:blipFill>
          <a:blip r:embed="rId5"/>
          <a:stretch>
            <a:fillRect/>
          </a:stretch>
        </p:blipFill>
        <p:spPr>
          <a:xfrm>
            <a:off x="3200400" y="3072384"/>
            <a:ext cx="310896" cy="310896"/>
          </a:xfrm>
          <a:prstGeom prst="rect">
            <a:avLst/>
          </a:prstGeom>
        </p:spPr>
      </p:pic>
      <p:sp>
        <p:nvSpPr>
          <p:cNvPr id="37" name="Text 30"/>
          <p:cNvSpPr/>
          <p:nvPr/>
        </p:nvSpPr>
        <p:spPr>
          <a:xfrm>
            <a:off x="3566160"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Customer Sentiment Engine</a:t>
            </a:r>
            <a:endParaRPr lang="en-US" sz="950" dirty="0"/>
          </a:p>
        </p:txBody>
      </p:sp>
      <p:sp>
        <p:nvSpPr>
          <p:cNvPr id="38" name="Text 31"/>
          <p:cNvSpPr/>
          <p:nvPr/>
        </p:nvSpPr>
        <p:spPr>
          <a:xfrm>
            <a:off x="3182112"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900" dirty="0"/>
          </a:p>
        </p:txBody>
      </p:sp>
      <p:sp>
        <p:nvSpPr>
          <p:cNvPr id="39" name="Shape 32"/>
          <p:cNvSpPr/>
          <p:nvPr/>
        </p:nvSpPr>
        <p:spPr>
          <a:xfrm>
            <a:off x="6016752"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3"/>
          <p:cNvSpPr/>
          <p:nvPr/>
        </p:nvSpPr>
        <p:spPr>
          <a:xfrm>
            <a:off x="6016752" y="2889504"/>
            <a:ext cx="2798064" cy="73152"/>
          </a:xfrm>
          <a:prstGeom prst="rect">
            <a:avLst/>
          </a:prstGeom>
          <a:solidFill>
            <a:srgbClr val="0D2E7A"/>
          </a:solidFill>
          <a:ln w="12700">
            <a:solidFill>
              <a:srgbClr val="0D2E7A"/>
            </a:solidFill>
            <a:prstDash val="solid"/>
          </a:ln>
        </p:spPr>
      </p:sp>
      <p:sp>
        <p:nvSpPr>
          <p:cNvPr id="41" name="Shape 34"/>
          <p:cNvSpPr/>
          <p:nvPr/>
        </p:nvSpPr>
        <p:spPr>
          <a:xfrm>
            <a:off x="8211312" y="3017520"/>
            <a:ext cx="548640" cy="182880"/>
          </a:xfrm>
          <a:prstGeom prst="rect">
            <a:avLst/>
          </a:prstGeom>
          <a:solidFill>
            <a:srgbClr val="0D2E7A"/>
          </a:solidFill>
          <a:ln w="12700">
            <a:solidFill>
              <a:srgbClr val="0D2E7A"/>
            </a:solidFill>
            <a:prstDash val="solid"/>
          </a:ln>
        </p:spPr>
      </p:sp>
      <p:sp>
        <p:nvSpPr>
          <p:cNvPr id="42" name="Text 35"/>
          <p:cNvSpPr/>
          <p:nvPr/>
        </p:nvSpPr>
        <p:spPr>
          <a:xfrm>
            <a:off x="8211312"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43" name="Image 5" descr="preencoded.png">    </p:cNvPr>
          <p:cNvPicPr>
            <a:picLocks noChangeAspect="1"/>
          </p:cNvPicPr>
          <p:nvPr/>
        </p:nvPicPr>
        <p:blipFill>
          <a:blip r:embed="rId6"/>
          <a:stretch>
            <a:fillRect/>
          </a:stretch>
        </p:blipFill>
        <p:spPr>
          <a:xfrm>
            <a:off x="6144768" y="3072384"/>
            <a:ext cx="310896" cy="310896"/>
          </a:xfrm>
          <a:prstGeom prst="rect">
            <a:avLst/>
          </a:prstGeom>
        </p:spPr>
      </p:pic>
      <p:sp>
        <p:nvSpPr>
          <p:cNvPr id="44" name="Text 36"/>
          <p:cNvSpPr/>
          <p:nvPr/>
        </p:nvSpPr>
        <p:spPr>
          <a:xfrm>
            <a:off x="6510528"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Next Best Action Platform</a:t>
            </a:r>
            <a:endParaRPr lang="en-US" sz="950" dirty="0"/>
          </a:p>
        </p:txBody>
      </p:sp>
      <p:sp>
        <p:nvSpPr>
          <p:cNvPr id="45" name="Text 37"/>
          <p:cNvSpPr/>
          <p:nvPr/>
        </p:nvSpPr>
        <p:spPr>
          <a:xfrm>
            <a:off x="6126480"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900" dirty="0"/>
          </a:p>
        </p:txBody>
      </p:sp>
      <p:sp>
        <p:nvSpPr>
          <p:cNvPr id="46" name="Text 38"/>
          <p:cNvSpPr/>
          <p:nvPr/>
        </p:nvSpPr>
        <p:spPr>
          <a:xfrm>
            <a:off x="365760" y="4773168"/>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Year 2 opportunities contingent on Phase 1 &amp; Phase 2 delivery and continued investment approval.</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36" name="Shape 34"/>
          <p:cNvSpPr/>
          <p:nvPr/>
        </p:nvSpPr>
        <p:spPr>
          <a:xfrm>
            <a:off x="2505456" y="1737360"/>
            <a:ext cx="1504188" cy="182880"/>
          </a:xfrm>
          <a:prstGeom prst="rect">
            <a:avLst/>
          </a:prstGeom>
          <a:solidFill>
            <a:srgbClr val="085CE5"/>
          </a:solidFill>
          <a:ln w="12700">
            <a:solidFill>
              <a:srgbClr val="085CE5"/>
            </a:solidFill>
            <a:prstDash val="solid"/>
          </a:ln>
        </p:spPr>
      </p:sp>
      <p:sp>
        <p:nvSpPr>
          <p:cNvPr id="37" name="Text 35"/>
          <p:cNvSpPr/>
          <p:nvPr/>
        </p:nvSpPr>
        <p:spPr>
          <a:xfrm>
            <a:off x="2569464" y="173736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73FA8"/>
          </a:solidFill>
          <a:ln w="12700">
            <a:solidFill>
              <a:srgbClr val="073FA8"/>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2" name="Shape 70"/>
          <p:cNvSpPr/>
          <p:nvPr/>
        </p:nvSpPr>
        <p:spPr>
          <a:xfrm>
            <a:off x="4082796" y="4041648"/>
            <a:ext cx="1504188" cy="182880"/>
          </a:xfrm>
          <a:prstGeom prst="rect">
            <a:avLst/>
          </a:prstGeom>
          <a:solidFill>
            <a:srgbClr val="073FA8"/>
          </a:solidFill>
          <a:ln w="12700">
            <a:solidFill>
              <a:srgbClr val="073FA8"/>
            </a:solidFill>
            <a:prstDash val="solid"/>
          </a:ln>
        </p:spPr>
      </p:sp>
      <p:sp>
        <p:nvSpPr>
          <p:cNvPr id="73" name="Text 71"/>
          <p:cNvSpPr/>
          <p:nvPr/>
        </p:nvSpPr>
        <p:spPr>
          <a:xfrm>
            <a:off x="414680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 · Personal-as-Commercial · Wealth Deflection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575A5D"/>
          </a:solidFill>
          <a:ln w="12700">
            <a:solidFill>
              <a:srgbClr val="575A5D"/>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78" name="Shape 76"/>
          <p:cNvSpPr/>
          <p:nvPr/>
        </p:nvSpPr>
        <p:spPr>
          <a:xfrm>
            <a:off x="5660136" y="4425696"/>
            <a:ext cx="2292858" cy="182880"/>
          </a:xfrm>
          <a:prstGeom prst="rect">
            <a:avLst/>
          </a:prstGeom>
          <a:solidFill>
            <a:srgbClr val="575A5D"/>
          </a:solidFill>
          <a:ln w="12700">
            <a:solidFill>
              <a:srgbClr val="575A5D"/>
            </a:solidFill>
            <a:prstDash val="solid"/>
          </a:ln>
        </p:spPr>
      </p:sp>
      <p:sp>
        <p:nvSpPr>
          <p:cNvPr id="79" name="Text 77"/>
          <p:cNvSpPr/>
          <p:nvPr/>
        </p:nvSpPr>
        <p:spPr>
          <a:xfrm>
            <a:off x="5724144" y="4425696"/>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0" name="Shape 78"/>
          <p:cNvSpPr/>
          <p:nvPr/>
        </p:nvSpPr>
        <p:spPr>
          <a:xfrm>
            <a:off x="2482596" y="1115568"/>
            <a:ext cx="36576" cy="4005072"/>
          </a:xfrm>
          <a:prstGeom prst="rect">
            <a:avLst/>
          </a:prstGeom>
          <a:solidFill>
            <a:srgbClr val="76DCFD"/>
          </a:solidFill>
          <a:ln w="12700">
            <a:solidFill>
              <a:srgbClr val="76DCFD"/>
            </a:solidFill>
            <a:prstDash val="solid"/>
          </a:ln>
        </p:spPr>
      </p:sp>
      <p:sp>
        <p:nvSpPr>
          <p:cNvPr id="81" name="Text 79"/>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Application Delivery Roadmap — Build &amp; Launch Timeline</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Eight applications sequenced across three phases. Each bar spans the active build and validation window; wider bars reflect higher integration complexity.</a:t>
            </a:r>
            <a:endParaRPr lang="en-US" sz="1000" dirty="0"/>
          </a:p>
        </p:txBody>
      </p:sp>
      <p:sp>
        <p:nvSpPr>
          <p:cNvPr id="5" name="Shape 3"/>
          <p:cNvSpPr/>
          <p:nvPr/>
        </p:nvSpPr>
        <p:spPr>
          <a:xfrm>
            <a:off x="2505456" y="1133856"/>
            <a:ext cx="1568196" cy="237744"/>
          </a:xfrm>
          <a:prstGeom prst="rect">
            <a:avLst/>
          </a:prstGeom>
          <a:solidFill>
            <a:srgbClr val="085CE5"/>
          </a:solidFill>
          <a:ln w="12700">
            <a:solidFill>
              <a:srgbClr val="085CE5"/>
            </a:solidFill>
            <a:prstDash val="solid"/>
          </a:ln>
        </p:spPr>
      </p:sp>
      <p:sp>
        <p:nvSpPr>
          <p:cNvPr id="6" name="Text 4"/>
          <p:cNvSpPr/>
          <p:nvPr/>
        </p:nvSpPr>
        <p:spPr>
          <a:xfrm>
            <a:off x="2551176"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7" name="Shape 5"/>
          <p:cNvSpPr/>
          <p:nvPr/>
        </p:nvSpPr>
        <p:spPr>
          <a:xfrm>
            <a:off x="4073652" y="1133856"/>
            <a:ext cx="1568196" cy="237744"/>
          </a:xfrm>
          <a:prstGeom prst="rect">
            <a:avLst/>
          </a:prstGeom>
          <a:solidFill>
            <a:srgbClr val="073FA8"/>
          </a:solidFill>
          <a:ln w="12700">
            <a:solidFill>
              <a:srgbClr val="073FA8"/>
            </a:solidFill>
            <a:prstDash val="solid"/>
          </a:ln>
        </p:spPr>
      </p:sp>
      <p:sp>
        <p:nvSpPr>
          <p:cNvPr id="8" name="Text 6"/>
          <p:cNvSpPr/>
          <p:nvPr/>
        </p:nvSpPr>
        <p:spPr>
          <a:xfrm>
            <a:off x="4119372"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Applications  (Q1–Q2 FY27)</a:t>
            </a:r>
            <a:endParaRPr lang="en-US" sz="750" dirty="0"/>
          </a:p>
        </p:txBody>
      </p:sp>
      <p:sp>
        <p:nvSpPr>
          <p:cNvPr id="9" name="Shape 7"/>
          <p:cNvSpPr/>
          <p:nvPr/>
        </p:nvSpPr>
        <p:spPr>
          <a:xfrm>
            <a:off x="5641848" y="1133856"/>
            <a:ext cx="3136392" cy="237744"/>
          </a:xfrm>
          <a:prstGeom prst="rect">
            <a:avLst/>
          </a:prstGeom>
          <a:solidFill>
            <a:srgbClr val="575A5D"/>
          </a:solidFill>
          <a:ln w="12700">
            <a:solidFill>
              <a:srgbClr val="575A5D"/>
            </a:solidFill>
            <a:prstDash val="solid"/>
          </a:ln>
        </p:spPr>
      </p:sp>
      <p:sp>
        <p:nvSpPr>
          <p:cNvPr id="10" name="Text 8"/>
          <p:cNvSpPr/>
          <p:nvPr/>
        </p:nvSpPr>
        <p:spPr>
          <a:xfrm>
            <a:off x="5687568" y="1133856"/>
            <a:ext cx="3044952"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a:t>
            </a:r>
            <a:endParaRPr lang="en-US" sz="750" dirty="0"/>
          </a:p>
        </p:txBody>
      </p:sp>
      <p:sp>
        <p:nvSpPr>
          <p:cNvPr id="11" name="Shape 9"/>
          <p:cNvSpPr/>
          <p:nvPr/>
        </p:nvSpPr>
        <p:spPr>
          <a:xfrm>
            <a:off x="2505456" y="1389888"/>
            <a:ext cx="6272784" cy="256032"/>
          </a:xfrm>
          <a:prstGeom prst="rect">
            <a:avLst/>
          </a:prstGeom>
          <a:solidFill>
            <a:srgbClr val="E7ECF0"/>
          </a:solidFill>
          <a:ln w="12700">
            <a:solidFill>
              <a:srgbClr val="E7ECF0"/>
            </a:solidFill>
            <a:prstDash val="solid"/>
          </a:ln>
        </p:spPr>
      </p:sp>
      <p:sp>
        <p:nvSpPr>
          <p:cNvPr id="12" name="Shape 10"/>
          <p:cNvSpPr/>
          <p:nvPr/>
        </p:nvSpPr>
        <p:spPr>
          <a:xfrm>
            <a:off x="2505456" y="1664208"/>
            <a:ext cx="784098" cy="3218688"/>
          </a:xfrm>
          <a:prstGeom prst="rect">
            <a:avLst/>
          </a:prstGeom>
          <a:solidFill>
            <a:srgbClr val="F4F6F8"/>
          </a:solidFill>
          <a:ln w="12700">
            <a:solidFill>
              <a:srgbClr val="F4F6F8"/>
            </a:solidFill>
            <a:prstDash val="solid"/>
          </a:ln>
        </p:spPr>
      </p:sp>
      <p:sp>
        <p:nvSpPr>
          <p:cNvPr id="13" name="Text 11"/>
          <p:cNvSpPr/>
          <p:nvPr/>
        </p:nvSpPr>
        <p:spPr>
          <a:xfrm>
            <a:off x="250545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505456" y="1133856"/>
            <a:ext cx="13716" cy="3749040"/>
          </a:xfrm>
          <a:prstGeom prst="rect">
            <a:avLst/>
          </a:prstGeom>
          <a:solidFill>
            <a:srgbClr val="B6BBC0"/>
          </a:solidFill>
          <a:ln w="12700">
            <a:solidFill>
              <a:srgbClr val="B6BBC0"/>
            </a:solidFill>
            <a:prstDash val="solid"/>
          </a:ln>
        </p:spPr>
      </p:sp>
      <p:sp>
        <p:nvSpPr>
          <p:cNvPr id="15" name="Text 13"/>
          <p:cNvSpPr/>
          <p:nvPr/>
        </p:nvSpPr>
        <p:spPr>
          <a:xfrm>
            <a:off x="328955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89554" y="1133856"/>
            <a:ext cx="13716" cy="3749040"/>
          </a:xfrm>
          <a:prstGeom prst="rect">
            <a:avLst/>
          </a:prstGeom>
          <a:solidFill>
            <a:srgbClr val="B6BBC0"/>
          </a:solidFill>
          <a:ln w="12700">
            <a:solidFill>
              <a:srgbClr val="B6BBC0"/>
            </a:solidFill>
            <a:prstDash val="solid"/>
          </a:ln>
        </p:spPr>
      </p:sp>
      <p:sp>
        <p:nvSpPr>
          <p:cNvPr id="17" name="Shape 15"/>
          <p:cNvSpPr/>
          <p:nvPr/>
        </p:nvSpPr>
        <p:spPr>
          <a:xfrm>
            <a:off x="4073652" y="1664208"/>
            <a:ext cx="784098" cy="3218688"/>
          </a:xfrm>
          <a:prstGeom prst="rect">
            <a:avLst/>
          </a:prstGeom>
          <a:solidFill>
            <a:srgbClr val="F4F6F8"/>
          </a:solidFill>
          <a:ln w="12700">
            <a:solidFill>
              <a:srgbClr val="F4F6F8"/>
            </a:solidFill>
            <a:prstDash val="solid"/>
          </a:ln>
        </p:spPr>
      </p:sp>
      <p:sp>
        <p:nvSpPr>
          <p:cNvPr id="18" name="Text 16"/>
          <p:cNvSpPr/>
          <p:nvPr/>
        </p:nvSpPr>
        <p:spPr>
          <a:xfrm>
            <a:off x="407365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73652" y="1133856"/>
            <a:ext cx="13716" cy="3749040"/>
          </a:xfrm>
          <a:prstGeom prst="rect">
            <a:avLst/>
          </a:prstGeom>
          <a:solidFill>
            <a:srgbClr val="B6BBC0"/>
          </a:solidFill>
          <a:ln w="12700">
            <a:solidFill>
              <a:srgbClr val="B6BBC0"/>
            </a:solidFill>
            <a:prstDash val="solid"/>
          </a:ln>
        </p:spPr>
      </p:sp>
      <p:sp>
        <p:nvSpPr>
          <p:cNvPr id="20" name="Text 18"/>
          <p:cNvSpPr/>
          <p:nvPr/>
        </p:nvSpPr>
        <p:spPr>
          <a:xfrm>
            <a:off x="4857750"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57750" y="1133856"/>
            <a:ext cx="13716" cy="3749040"/>
          </a:xfrm>
          <a:prstGeom prst="rect">
            <a:avLst/>
          </a:prstGeom>
          <a:solidFill>
            <a:srgbClr val="B6BBC0"/>
          </a:solidFill>
          <a:ln w="12700">
            <a:solidFill>
              <a:srgbClr val="B6BBC0"/>
            </a:solidFill>
            <a:prstDash val="solid"/>
          </a:ln>
        </p:spPr>
      </p:sp>
      <p:sp>
        <p:nvSpPr>
          <p:cNvPr id="22" name="Shape 20"/>
          <p:cNvSpPr/>
          <p:nvPr/>
        </p:nvSpPr>
        <p:spPr>
          <a:xfrm>
            <a:off x="5641848" y="1664208"/>
            <a:ext cx="784098" cy="3218688"/>
          </a:xfrm>
          <a:prstGeom prst="rect">
            <a:avLst/>
          </a:prstGeom>
          <a:solidFill>
            <a:srgbClr val="F4F6F8"/>
          </a:solidFill>
          <a:ln w="12700">
            <a:solidFill>
              <a:srgbClr val="F4F6F8"/>
            </a:solidFill>
            <a:prstDash val="solid"/>
          </a:ln>
        </p:spPr>
      </p:sp>
      <p:sp>
        <p:nvSpPr>
          <p:cNvPr id="23" name="Text 21"/>
          <p:cNvSpPr/>
          <p:nvPr/>
        </p:nvSpPr>
        <p:spPr>
          <a:xfrm>
            <a:off x="5641848"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41848" y="1133856"/>
            <a:ext cx="13716" cy="3749040"/>
          </a:xfrm>
          <a:prstGeom prst="rect">
            <a:avLst/>
          </a:prstGeom>
          <a:solidFill>
            <a:srgbClr val="B6BBC0"/>
          </a:solidFill>
          <a:ln w="12700">
            <a:solidFill>
              <a:srgbClr val="B6BBC0"/>
            </a:solidFill>
            <a:prstDash val="solid"/>
          </a:ln>
        </p:spPr>
      </p:sp>
      <p:sp>
        <p:nvSpPr>
          <p:cNvPr id="25" name="Text 23"/>
          <p:cNvSpPr/>
          <p:nvPr/>
        </p:nvSpPr>
        <p:spPr>
          <a:xfrm>
            <a:off x="642594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25946" y="1133856"/>
            <a:ext cx="13716" cy="3749040"/>
          </a:xfrm>
          <a:prstGeom prst="rect">
            <a:avLst/>
          </a:prstGeom>
          <a:solidFill>
            <a:srgbClr val="B6BBC0"/>
          </a:solidFill>
          <a:ln w="12700">
            <a:solidFill>
              <a:srgbClr val="B6BBC0"/>
            </a:solidFill>
            <a:prstDash val="solid"/>
          </a:ln>
        </p:spPr>
      </p:sp>
      <p:sp>
        <p:nvSpPr>
          <p:cNvPr id="27" name="Shape 25"/>
          <p:cNvSpPr/>
          <p:nvPr/>
        </p:nvSpPr>
        <p:spPr>
          <a:xfrm>
            <a:off x="7210044" y="1664208"/>
            <a:ext cx="784098" cy="3218688"/>
          </a:xfrm>
          <a:prstGeom prst="rect">
            <a:avLst/>
          </a:prstGeom>
          <a:solidFill>
            <a:srgbClr val="F4F6F8"/>
          </a:solidFill>
          <a:ln w="12700">
            <a:solidFill>
              <a:srgbClr val="F4F6F8"/>
            </a:solidFill>
            <a:prstDash val="solid"/>
          </a:ln>
        </p:spPr>
      </p:sp>
      <p:sp>
        <p:nvSpPr>
          <p:cNvPr id="28" name="Text 26"/>
          <p:cNvSpPr/>
          <p:nvPr/>
        </p:nvSpPr>
        <p:spPr>
          <a:xfrm>
            <a:off x="721004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10044" y="1133856"/>
            <a:ext cx="13716" cy="3749040"/>
          </a:xfrm>
          <a:prstGeom prst="rect">
            <a:avLst/>
          </a:prstGeom>
          <a:solidFill>
            <a:srgbClr val="B6BBC0"/>
          </a:solidFill>
          <a:ln w="12700">
            <a:solidFill>
              <a:srgbClr val="B6BBC0"/>
            </a:solidFill>
            <a:prstDash val="solid"/>
          </a:ln>
        </p:spPr>
      </p:sp>
      <p:sp>
        <p:nvSpPr>
          <p:cNvPr id="30" name="Text 28"/>
          <p:cNvSpPr/>
          <p:nvPr/>
        </p:nvSpPr>
        <p:spPr>
          <a:xfrm>
            <a:off x="799414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94142" y="1133856"/>
            <a:ext cx="13716" cy="3749040"/>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74904"/>
          </a:xfrm>
          <a:prstGeom prst="rect">
            <a:avLst/>
          </a:prstGeom>
          <a:solidFill>
            <a:srgbClr val="FFFFFF"/>
          </a:solidFill>
          <a:ln w="12700">
            <a:solidFill>
              <a:srgbClr val="E7ECF0"/>
            </a:solidFill>
            <a:prstDash val="solid"/>
          </a:ln>
        </p:spPr>
      </p:sp>
      <p:sp>
        <p:nvSpPr>
          <p:cNvPr id="33" name="Shape 31"/>
          <p:cNvSpPr/>
          <p:nvPr/>
        </p:nvSpPr>
        <p:spPr>
          <a:xfrm>
            <a:off x="274320" y="1664208"/>
            <a:ext cx="54864" cy="374904"/>
          </a:xfrm>
          <a:prstGeom prst="rect">
            <a:avLst/>
          </a:prstGeom>
          <a:solidFill>
            <a:srgbClr val="085CE5"/>
          </a:solidFill>
          <a:ln w="12700">
            <a:solidFill>
              <a:srgbClr val="085CE5"/>
            </a:solidFill>
            <a:prstDash val="solid"/>
          </a:ln>
        </p:spPr>
      </p:sp>
      <p:sp>
        <p:nvSpPr>
          <p:cNvPr id="34" name="Text 32"/>
          <p:cNvSpPr/>
          <p:nvPr/>
        </p:nvSpPr>
        <p:spPr>
          <a:xfrm>
            <a:off x="384048" y="169164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Mediation</a:t>
            </a:r>
            <a:endParaRPr lang="en-US" sz="850" dirty="0"/>
          </a:p>
        </p:txBody>
      </p:sp>
      <p:sp>
        <p:nvSpPr>
          <p:cNvPr id="35" name="Text 33"/>
          <p:cNvSpPr/>
          <p:nvPr/>
        </p:nvSpPr>
        <p:spPr>
          <a:xfrm>
            <a:off x="384048" y="189280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Phase 1 MVP</a:t>
            </a:r>
            <a:endParaRPr lang="en-US" sz="750" dirty="0"/>
          </a:p>
        </p:txBody>
      </p:sp>
      <p:sp>
        <p:nvSpPr>
          <p:cNvPr id="36" name="Shape 34"/>
          <p:cNvSpPr/>
          <p:nvPr/>
        </p:nvSpPr>
        <p:spPr>
          <a:xfrm>
            <a:off x="2542032" y="1755648"/>
            <a:ext cx="1495044" cy="182880"/>
          </a:xfrm>
          <a:prstGeom prst="rect">
            <a:avLst/>
          </a:prstGeom>
          <a:solidFill>
            <a:srgbClr val="085CE5">
              <a:alpha val="70000"/>
            </a:srgbClr>
          </a:solidFill>
          <a:ln w="12700">
            <a:solidFill>
              <a:srgbClr val="085CE5">
                <a:alpha val="90000"/>
              </a:srgbClr>
            </a:solidFill>
            <a:prstDash val="solid"/>
          </a:ln>
        </p:spPr>
      </p:sp>
      <p:sp>
        <p:nvSpPr>
          <p:cNvPr id="37" name="Shape 35"/>
          <p:cNvSpPr/>
          <p:nvPr/>
        </p:nvSpPr>
        <p:spPr>
          <a:xfrm>
            <a:off x="3618464" y="1755648"/>
            <a:ext cx="418612" cy="182880"/>
          </a:xfrm>
          <a:prstGeom prst="rect">
            <a:avLst/>
          </a:prstGeom>
          <a:solidFill>
            <a:srgbClr val="085CE5"/>
          </a:solidFill>
          <a:ln w="12700">
            <a:solidFill>
              <a:srgbClr val="085CE5"/>
            </a:solidFill>
            <a:prstDash val="solid"/>
          </a:ln>
        </p:spPr>
      </p:sp>
      <p:sp>
        <p:nvSpPr>
          <p:cNvPr id="38" name="Text 36"/>
          <p:cNvSpPr/>
          <p:nvPr/>
        </p:nvSpPr>
        <p:spPr>
          <a:xfrm>
            <a:off x="2606040" y="1755648"/>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MVP  ·  Phase 1</a:t>
            </a:r>
            <a:endParaRPr lang="en-US" sz="750" dirty="0"/>
          </a:p>
        </p:txBody>
      </p:sp>
      <p:sp>
        <p:nvSpPr>
          <p:cNvPr id="39" name="Shape 37"/>
          <p:cNvSpPr/>
          <p:nvPr/>
        </p:nvSpPr>
        <p:spPr>
          <a:xfrm>
            <a:off x="274320" y="2066544"/>
            <a:ext cx="8503920" cy="374904"/>
          </a:xfrm>
          <a:prstGeom prst="rect">
            <a:avLst/>
          </a:prstGeom>
          <a:solidFill>
            <a:srgbClr val="F8F9FA"/>
          </a:solidFill>
          <a:ln w="12700">
            <a:solidFill>
              <a:srgbClr val="E7ECF0"/>
            </a:solidFill>
            <a:prstDash val="solid"/>
          </a:ln>
        </p:spPr>
      </p:sp>
      <p:sp>
        <p:nvSpPr>
          <p:cNvPr id="40" name="Shape 38"/>
          <p:cNvSpPr/>
          <p:nvPr/>
        </p:nvSpPr>
        <p:spPr>
          <a:xfrm>
            <a:off x="274320" y="2066544"/>
            <a:ext cx="54864" cy="374904"/>
          </a:xfrm>
          <a:prstGeom prst="rect">
            <a:avLst/>
          </a:prstGeom>
          <a:solidFill>
            <a:srgbClr val="06185F"/>
          </a:solidFill>
          <a:ln w="12700">
            <a:solidFill>
              <a:srgbClr val="06185F"/>
            </a:solidFill>
            <a:prstDash val="solid"/>
          </a:ln>
        </p:spPr>
      </p:sp>
      <p:sp>
        <p:nvSpPr>
          <p:cNvPr id="41" name="Text 39"/>
          <p:cNvSpPr/>
          <p:nvPr/>
        </p:nvSpPr>
        <p:spPr>
          <a:xfrm>
            <a:off x="384048" y="209397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Memo Intelligence</a:t>
            </a:r>
            <a:endParaRPr lang="en-US" sz="850" dirty="0"/>
          </a:p>
        </p:txBody>
      </p:sp>
      <p:sp>
        <p:nvSpPr>
          <p:cNvPr id="42" name="Text 40"/>
          <p:cNvSpPr/>
          <p:nvPr/>
        </p:nvSpPr>
        <p:spPr>
          <a:xfrm>
            <a:off x="384048" y="229514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NLP compliance pipeline</a:t>
            </a:r>
            <a:endParaRPr lang="en-US" sz="750" dirty="0"/>
          </a:p>
        </p:txBody>
      </p:sp>
      <p:sp>
        <p:nvSpPr>
          <p:cNvPr id="43" name="Shape 41"/>
          <p:cNvSpPr/>
          <p:nvPr/>
        </p:nvSpPr>
        <p:spPr>
          <a:xfrm>
            <a:off x="4110228" y="2157984"/>
            <a:ext cx="1495044" cy="182880"/>
          </a:xfrm>
          <a:prstGeom prst="rect">
            <a:avLst/>
          </a:prstGeom>
          <a:solidFill>
            <a:srgbClr val="06185F">
              <a:alpha val="70000"/>
            </a:srgbClr>
          </a:solidFill>
          <a:ln w="12700">
            <a:solidFill>
              <a:srgbClr val="06185F">
                <a:alpha val="90000"/>
              </a:srgbClr>
            </a:solidFill>
            <a:prstDash val="solid"/>
          </a:ln>
        </p:spPr>
      </p:sp>
      <p:sp>
        <p:nvSpPr>
          <p:cNvPr id="44" name="Shape 42"/>
          <p:cNvSpPr/>
          <p:nvPr/>
        </p:nvSpPr>
        <p:spPr>
          <a:xfrm>
            <a:off x="5186660" y="2157984"/>
            <a:ext cx="418612" cy="182880"/>
          </a:xfrm>
          <a:prstGeom prst="rect">
            <a:avLst/>
          </a:prstGeom>
          <a:solidFill>
            <a:srgbClr val="06185F"/>
          </a:solidFill>
          <a:ln w="12700">
            <a:solidFill>
              <a:srgbClr val="06185F"/>
            </a:solidFill>
            <a:prstDash val="solid"/>
          </a:ln>
        </p:spPr>
      </p:sp>
      <p:sp>
        <p:nvSpPr>
          <p:cNvPr id="45" name="Text 43"/>
          <p:cNvSpPr/>
          <p:nvPr/>
        </p:nvSpPr>
        <p:spPr>
          <a:xfrm>
            <a:off x="4174236" y="2157984"/>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46" name="Shape 44"/>
          <p:cNvSpPr/>
          <p:nvPr/>
        </p:nvSpPr>
        <p:spPr>
          <a:xfrm>
            <a:off x="274320" y="2468880"/>
            <a:ext cx="8503920" cy="374904"/>
          </a:xfrm>
          <a:prstGeom prst="rect">
            <a:avLst/>
          </a:prstGeom>
          <a:solidFill>
            <a:srgbClr val="FFFFFF"/>
          </a:solidFill>
          <a:ln w="12700">
            <a:solidFill>
              <a:srgbClr val="E7ECF0"/>
            </a:solidFill>
            <a:prstDash val="solid"/>
          </a:ln>
        </p:spPr>
      </p:sp>
      <p:sp>
        <p:nvSpPr>
          <p:cNvPr id="47" name="Shape 45"/>
          <p:cNvSpPr/>
          <p:nvPr/>
        </p:nvSpPr>
        <p:spPr>
          <a:xfrm>
            <a:off x="274320" y="2468880"/>
            <a:ext cx="54864" cy="374904"/>
          </a:xfrm>
          <a:prstGeom prst="rect">
            <a:avLst/>
          </a:prstGeom>
          <a:solidFill>
            <a:srgbClr val="0A52C4"/>
          </a:solidFill>
          <a:ln w="12700">
            <a:solidFill>
              <a:srgbClr val="0A52C4"/>
            </a:solidFill>
            <a:prstDash val="solid"/>
          </a:ln>
        </p:spPr>
      </p:sp>
      <p:sp>
        <p:nvSpPr>
          <p:cNvPr id="48" name="Text 46"/>
          <p:cNvSpPr/>
          <p:nvPr/>
        </p:nvSpPr>
        <p:spPr>
          <a:xfrm>
            <a:off x="384048" y="249631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Personal-as-Commercial</a:t>
            </a:r>
            <a:endParaRPr lang="en-US" sz="850" dirty="0"/>
          </a:p>
        </p:txBody>
      </p:sp>
      <p:sp>
        <p:nvSpPr>
          <p:cNvPr id="49" name="Text 47"/>
          <p:cNvSpPr/>
          <p:nvPr/>
        </p:nvSpPr>
        <p:spPr>
          <a:xfrm>
            <a:off x="384048" y="269748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SMB conversion model</a:t>
            </a:r>
            <a:endParaRPr lang="en-US" sz="750" dirty="0"/>
          </a:p>
        </p:txBody>
      </p:sp>
      <p:sp>
        <p:nvSpPr>
          <p:cNvPr id="50" name="Shape 48"/>
          <p:cNvSpPr/>
          <p:nvPr/>
        </p:nvSpPr>
        <p:spPr>
          <a:xfrm>
            <a:off x="4110228" y="2560320"/>
            <a:ext cx="1495044" cy="182880"/>
          </a:xfrm>
          <a:prstGeom prst="rect">
            <a:avLst/>
          </a:prstGeom>
          <a:solidFill>
            <a:srgbClr val="0A52C4">
              <a:alpha val="70000"/>
            </a:srgbClr>
          </a:solidFill>
          <a:ln w="12700">
            <a:solidFill>
              <a:srgbClr val="0A52C4">
                <a:alpha val="90000"/>
              </a:srgbClr>
            </a:solidFill>
            <a:prstDash val="solid"/>
          </a:ln>
        </p:spPr>
      </p:sp>
      <p:sp>
        <p:nvSpPr>
          <p:cNvPr id="51" name="Shape 49"/>
          <p:cNvSpPr/>
          <p:nvPr/>
        </p:nvSpPr>
        <p:spPr>
          <a:xfrm>
            <a:off x="5186660" y="2560320"/>
            <a:ext cx="418612" cy="182880"/>
          </a:xfrm>
          <a:prstGeom prst="rect">
            <a:avLst/>
          </a:prstGeom>
          <a:solidFill>
            <a:srgbClr val="0A52C4"/>
          </a:solidFill>
          <a:ln w="12700">
            <a:solidFill>
              <a:srgbClr val="0A52C4"/>
            </a:solidFill>
            <a:prstDash val="solid"/>
          </a:ln>
        </p:spPr>
      </p:sp>
      <p:sp>
        <p:nvSpPr>
          <p:cNvPr id="52" name="Text 50"/>
          <p:cNvSpPr/>
          <p:nvPr/>
        </p:nvSpPr>
        <p:spPr>
          <a:xfrm>
            <a:off x="4174236" y="2560320"/>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53" name="Shape 51"/>
          <p:cNvSpPr/>
          <p:nvPr/>
        </p:nvSpPr>
        <p:spPr>
          <a:xfrm>
            <a:off x="274320" y="2871216"/>
            <a:ext cx="8503920" cy="374904"/>
          </a:xfrm>
          <a:prstGeom prst="rect">
            <a:avLst/>
          </a:prstGeom>
          <a:solidFill>
            <a:srgbClr val="F8F9FA"/>
          </a:solidFill>
          <a:ln w="12700">
            <a:solidFill>
              <a:srgbClr val="E7ECF0"/>
            </a:solidFill>
            <a:prstDash val="solid"/>
          </a:ln>
        </p:spPr>
      </p:sp>
      <p:sp>
        <p:nvSpPr>
          <p:cNvPr id="54" name="Shape 52"/>
          <p:cNvSpPr/>
          <p:nvPr/>
        </p:nvSpPr>
        <p:spPr>
          <a:xfrm>
            <a:off x="274320" y="2871216"/>
            <a:ext cx="54864" cy="374904"/>
          </a:xfrm>
          <a:prstGeom prst="rect">
            <a:avLst/>
          </a:prstGeom>
          <a:solidFill>
            <a:srgbClr val="0F3D8A"/>
          </a:solidFill>
          <a:ln w="12700">
            <a:solidFill>
              <a:srgbClr val="0F3D8A"/>
            </a:solidFill>
            <a:prstDash val="solid"/>
          </a:ln>
        </p:spPr>
      </p:sp>
      <p:sp>
        <p:nvSpPr>
          <p:cNvPr id="55" name="Text 53"/>
          <p:cNvSpPr/>
          <p:nvPr/>
        </p:nvSpPr>
        <p:spPr>
          <a:xfrm>
            <a:off x="384048" y="2898648"/>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Gen. Wealth Deflection</a:t>
            </a:r>
            <a:endParaRPr lang="en-US" sz="850" dirty="0"/>
          </a:p>
        </p:txBody>
      </p:sp>
      <p:sp>
        <p:nvSpPr>
          <p:cNvPr id="56" name="Text 54"/>
          <p:cNvSpPr/>
          <p:nvPr/>
        </p:nvSpPr>
        <p:spPr>
          <a:xfrm>
            <a:off x="384048" y="3099816"/>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Household coverage model</a:t>
            </a:r>
            <a:endParaRPr lang="en-US" sz="750" dirty="0"/>
          </a:p>
        </p:txBody>
      </p:sp>
      <p:sp>
        <p:nvSpPr>
          <p:cNvPr id="57" name="Shape 55"/>
          <p:cNvSpPr/>
          <p:nvPr/>
        </p:nvSpPr>
        <p:spPr>
          <a:xfrm>
            <a:off x="4110228" y="2962656"/>
            <a:ext cx="2279142" cy="182880"/>
          </a:xfrm>
          <a:prstGeom prst="rect">
            <a:avLst/>
          </a:prstGeom>
          <a:solidFill>
            <a:srgbClr val="0F3D8A">
              <a:alpha val="70000"/>
            </a:srgbClr>
          </a:solidFill>
          <a:ln w="12700">
            <a:solidFill>
              <a:srgbClr val="0F3D8A">
                <a:alpha val="90000"/>
              </a:srgbClr>
            </a:solidFill>
            <a:prstDash val="solid"/>
          </a:ln>
        </p:spPr>
      </p:sp>
      <p:sp>
        <p:nvSpPr>
          <p:cNvPr id="58" name="Shape 56"/>
          <p:cNvSpPr/>
          <p:nvPr/>
        </p:nvSpPr>
        <p:spPr>
          <a:xfrm>
            <a:off x="5751210" y="2962656"/>
            <a:ext cx="638160" cy="182880"/>
          </a:xfrm>
          <a:prstGeom prst="rect">
            <a:avLst/>
          </a:prstGeom>
          <a:solidFill>
            <a:srgbClr val="0F3D8A"/>
          </a:solidFill>
          <a:ln w="12700">
            <a:solidFill>
              <a:srgbClr val="0F3D8A"/>
            </a:solidFill>
            <a:prstDash val="solid"/>
          </a:ln>
        </p:spPr>
      </p:sp>
      <p:sp>
        <p:nvSpPr>
          <p:cNvPr id="59" name="Text 57"/>
          <p:cNvSpPr/>
          <p:nvPr/>
        </p:nvSpPr>
        <p:spPr>
          <a:xfrm>
            <a:off x="4174236" y="2962656"/>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Phase 2 build  →  Phase 3</a:t>
            </a:r>
            <a:endParaRPr lang="en-US" sz="750" dirty="0"/>
          </a:p>
        </p:txBody>
      </p:sp>
      <p:sp>
        <p:nvSpPr>
          <p:cNvPr id="60" name="Shape 58"/>
          <p:cNvSpPr/>
          <p:nvPr/>
        </p:nvSpPr>
        <p:spPr>
          <a:xfrm>
            <a:off x="274320" y="3273552"/>
            <a:ext cx="8503920" cy="374904"/>
          </a:xfrm>
          <a:prstGeom prst="rect">
            <a:avLst/>
          </a:prstGeom>
          <a:solidFill>
            <a:srgbClr val="FFFFFF"/>
          </a:solidFill>
          <a:ln w="12700">
            <a:solidFill>
              <a:srgbClr val="E7ECF0"/>
            </a:solidFill>
            <a:prstDash val="solid"/>
          </a:ln>
        </p:spPr>
      </p:sp>
      <p:sp>
        <p:nvSpPr>
          <p:cNvPr id="61" name="Shape 59"/>
          <p:cNvSpPr/>
          <p:nvPr/>
        </p:nvSpPr>
        <p:spPr>
          <a:xfrm>
            <a:off x="274320" y="3273552"/>
            <a:ext cx="54864" cy="374904"/>
          </a:xfrm>
          <a:prstGeom prst="rect">
            <a:avLst/>
          </a:prstGeom>
          <a:solidFill>
            <a:srgbClr val="073FA8"/>
          </a:solidFill>
          <a:ln w="12700">
            <a:solidFill>
              <a:srgbClr val="073FA8"/>
            </a:solidFill>
            <a:prstDash val="solid"/>
          </a:ln>
        </p:spPr>
      </p:sp>
      <p:sp>
        <p:nvSpPr>
          <p:cNvPr id="62" name="Text 60"/>
          <p:cNvSpPr/>
          <p:nvPr/>
        </p:nvSpPr>
        <p:spPr>
          <a:xfrm>
            <a:off x="384048" y="3300984"/>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Anomaly Detection</a:t>
            </a:r>
            <a:endParaRPr lang="en-US" sz="850" dirty="0"/>
          </a:p>
        </p:txBody>
      </p:sp>
      <p:sp>
        <p:nvSpPr>
          <p:cNvPr id="63" name="Text 61"/>
          <p:cNvSpPr/>
          <p:nvPr/>
        </p:nvSpPr>
        <p:spPr>
          <a:xfrm>
            <a:off x="384048" y="3502152"/>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Real-time fraud engine</a:t>
            </a:r>
            <a:endParaRPr lang="en-US" sz="750" dirty="0"/>
          </a:p>
        </p:txBody>
      </p:sp>
      <p:sp>
        <p:nvSpPr>
          <p:cNvPr id="64" name="Shape 62"/>
          <p:cNvSpPr/>
          <p:nvPr/>
        </p:nvSpPr>
        <p:spPr>
          <a:xfrm>
            <a:off x="5678424" y="3364992"/>
            <a:ext cx="2279142" cy="182880"/>
          </a:xfrm>
          <a:prstGeom prst="rect">
            <a:avLst/>
          </a:prstGeom>
          <a:solidFill>
            <a:srgbClr val="073FA8">
              <a:alpha val="70000"/>
            </a:srgbClr>
          </a:solidFill>
          <a:ln w="12700">
            <a:solidFill>
              <a:srgbClr val="073FA8">
                <a:alpha val="90000"/>
              </a:srgbClr>
            </a:solidFill>
            <a:prstDash val="solid"/>
          </a:ln>
        </p:spPr>
      </p:sp>
      <p:sp>
        <p:nvSpPr>
          <p:cNvPr id="65" name="Shape 63"/>
          <p:cNvSpPr/>
          <p:nvPr/>
        </p:nvSpPr>
        <p:spPr>
          <a:xfrm>
            <a:off x="7319406" y="3364992"/>
            <a:ext cx="638160" cy="182880"/>
          </a:xfrm>
          <a:prstGeom prst="rect">
            <a:avLst/>
          </a:prstGeom>
          <a:solidFill>
            <a:srgbClr val="073FA8"/>
          </a:solidFill>
          <a:ln w="12700">
            <a:solidFill>
              <a:srgbClr val="073FA8"/>
            </a:solidFill>
            <a:prstDash val="solid"/>
          </a:ln>
        </p:spPr>
      </p:sp>
      <p:sp>
        <p:nvSpPr>
          <p:cNvPr id="66" name="Text 64"/>
          <p:cNvSpPr/>
          <p:nvPr/>
        </p:nvSpPr>
        <p:spPr>
          <a:xfrm>
            <a:off x="5742432" y="3364992"/>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3 launch</a:t>
            </a:r>
            <a:endParaRPr lang="en-US" sz="750" dirty="0"/>
          </a:p>
        </p:txBody>
      </p:sp>
      <p:sp>
        <p:nvSpPr>
          <p:cNvPr id="67" name="Shape 65"/>
          <p:cNvSpPr/>
          <p:nvPr/>
        </p:nvSpPr>
        <p:spPr>
          <a:xfrm>
            <a:off x="274320" y="3675888"/>
            <a:ext cx="8503920" cy="374904"/>
          </a:xfrm>
          <a:prstGeom prst="rect">
            <a:avLst/>
          </a:prstGeom>
          <a:solidFill>
            <a:srgbClr val="F8F9FA"/>
          </a:solidFill>
          <a:ln w="12700">
            <a:solidFill>
              <a:srgbClr val="E7ECF0"/>
            </a:solidFill>
            <a:prstDash val="solid"/>
          </a:ln>
        </p:spPr>
      </p:sp>
      <p:sp>
        <p:nvSpPr>
          <p:cNvPr id="68" name="Shape 66"/>
          <p:cNvSpPr/>
          <p:nvPr/>
        </p:nvSpPr>
        <p:spPr>
          <a:xfrm>
            <a:off x="274320" y="3675888"/>
            <a:ext cx="54864" cy="374904"/>
          </a:xfrm>
          <a:prstGeom prst="rect">
            <a:avLst/>
          </a:prstGeom>
          <a:solidFill>
            <a:srgbClr val="0D2E7A"/>
          </a:solidFill>
          <a:ln w="12700">
            <a:solidFill>
              <a:srgbClr val="0D2E7A"/>
            </a:solidFill>
            <a:prstDash val="solid"/>
          </a:ln>
        </p:spPr>
      </p:sp>
      <p:sp>
        <p:nvSpPr>
          <p:cNvPr id="69" name="Text 67"/>
          <p:cNvSpPr/>
          <p:nvPr/>
        </p:nvSpPr>
        <p:spPr>
          <a:xfrm>
            <a:off x="384048" y="370332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70" name="Text 68"/>
          <p:cNvSpPr/>
          <p:nvPr/>
        </p:nvSpPr>
        <p:spPr>
          <a:xfrm>
            <a:off x="384048" y="390448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platform  ·  GA</a:t>
            </a:r>
            <a:endParaRPr lang="en-US" sz="750" dirty="0"/>
          </a:p>
        </p:txBody>
      </p:sp>
      <p:sp>
        <p:nvSpPr>
          <p:cNvPr id="71" name="Shape 69"/>
          <p:cNvSpPr/>
          <p:nvPr/>
        </p:nvSpPr>
        <p:spPr>
          <a:xfrm>
            <a:off x="5678424" y="3767328"/>
            <a:ext cx="3063240" cy="182880"/>
          </a:xfrm>
          <a:prstGeom prst="rect">
            <a:avLst/>
          </a:prstGeom>
          <a:solidFill>
            <a:srgbClr val="0D2E7A">
              <a:alpha val="70000"/>
            </a:srgbClr>
          </a:solidFill>
          <a:ln w="12700">
            <a:solidFill>
              <a:srgbClr val="0D2E7A">
                <a:alpha val="90000"/>
              </a:srgbClr>
            </a:solidFill>
            <a:prstDash val="solid"/>
          </a:ln>
        </p:spPr>
      </p:sp>
      <p:sp>
        <p:nvSpPr>
          <p:cNvPr id="72" name="Shape 70"/>
          <p:cNvSpPr/>
          <p:nvPr/>
        </p:nvSpPr>
        <p:spPr>
          <a:xfrm>
            <a:off x="8030718" y="3767328"/>
            <a:ext cx="710946" cy="182880"/>
          </a:xfrm>
          <a:prstGeom prst="rect">
            <a:avLst/>
          </a:prstGeom>
          <a:solidFill>
            <a:srgbClr val="0D2E7A"/>
          </a:solidFill>
          <a:ln w="12700">
            <a:solidFill>
              <a:srgbClr val="0D2E7A"/>
            </a:solidFill>
            <a:prstDash val="solid"/>
          </a:ln>
        </p:spPr>
      </p:sp>
      <p:sp>
        <p:nvSpPr>
          <p:cNvPr id="73" name="Text 71"/>
          <p:cNvSpPr/>
          <p:nvPr/>
        </p:nvSpPr>
        <p:spPr>
          <a:xfrm>
            <a:off x="5742432" y="3767328"/>
            <a:ext cx="2935224"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Platform build  →  Phase 3 GA</a:t>
            </a:r>
            <a:endParaRPr lang="en-US" sz="750" dirty="0"/>
          </a:p>
        </p:txBody>
      </p:sp>
      <p:sp>
        <p:nvSpPr>
          <p:cNvPr id="74" name="Shape 72"/>
          <p:cNvSpPr/>
          <p:nvPr/>
        </p:nvSpPr>
        <p:spPr>
          <a:xfrm>
            <a:off x="384048" y="4919472"/>
            <a:ext cx="457200" cy="128016"/>
          </a:xfrm>
          <a:prstGeom prst="rect">
            <a:avLst/>
          </a:prstGeom>
          <a:solidFill>
            <a:srgbClr val="085CE5">
              <a:alpha val="70000"/>
            </a:srgbClr>
          </a:solidFill>
          <a:ln w="12700">
            <a:solidFill>
              <a:srgbClr val="085CE5"/>
            </a:solidFill>
            <a:prstDash val="solid"/>
          </a:ln>
        </p:spPr>
      </p:sp>
      <p:sp>
        <p:nvSpPr>
          <p:cNvPr id="75" name="Text 73"/>
          <p:cNvSpPr/>
          <p:nvPr/>
        </p:nvSpPr>
        <p:spPr>
          <a:xfrm>
            <a:off x="89611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Build / validate</a:t>
            </a:r>
            <a:endParaRPr lang="en-US" sz="750" dirty="0"/>
          </a:p>
        </p:txBody>
      </p:sp>
      <p:sp>
        <p:nvSpPr>
          <p:cNvPr id="76" name="Shape 74"/>
          <p:cNvSpPr/>
          <p:nvPr/>
        </p:nvSpPr>
        <p:spPr>
          <a:xfrm>
            <a:off x="2304288" y="4919472"/>
            <a:ext cx="457200" cy="128016"/>
          </a:xfrm>
          <a:prstGeom prst="rect">
            <a:avLst/>
          </a:prstGeom>
          <a:solidFill>
            <a:srgbClr val="085CE5"/>
          </a:solidFill>
          <a:ln w="12700">
            <a:solidFill>
              <a:srgbClr val="085CE5"/>
            </a:solidFill>
            <a:prstDash val="solid"/>
          </a:ln>
        </p:spPr>
      </p:sp>
      <p:sp>
        <p:nvSpPr>
          <p:cNvPr id="77" name="Text 75"/>
          <p:cNvSpPr/>
          <p:nvPr/>
        </p:nvSpPr>
        <p:spPr>
          <a:xfrm>
            <a:off x="281635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Launch window</a:t>
            </a:r>
            <a:endParaRPr lang="en-US" sz="750" dirty="0"/>
          </a:p>
        </p:txBody>
      </p:sp>
      <p:sp>
        <p:nvSpPr>
          <p:cNvPr id="78" name="Shape 76"/>
          <p:cNvSpPr/>
          <p:nvPr/>
        </p:nvSpPr>
        <p:spPr>
          <a:xfrm>
            <a:off x="2519172" y="1115568"/>
            <a:ext cx="36576" cy="3767328"/>
          </a:xfrm>
          <a:prstGeom prst="rect">
            <a:avLst/>
          </a:prstGeom>
          <a:solidFill>
            <a:srgbClr val="76DCFD"/>
          </a:solidFill>
          <a:ln w="12700">
            <a:solidFill>
              <a:srgbClr val="76DCFD"/>
            </a:solidFill>
            <a:prstDash val="solid"/>
          </a:ln>
        </p:spPr>
      </p:sp>
      <p:sp>
        <p:nvSpPr>
          <p:cNvPr id="79" name="Text 77"/>
          <p:cNvSpPr/>
          <p:nvPr/>
        </p:nvSpPr>
        <p:spPr>
          <a:xfrm>
            <a:off x="2395728"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MVP</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banking + payments data integration complete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Personal-as-Commercial SMB conversion model</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Generational Wealth household relationship engine</a:t>
            </a:r>
            <a:endParaRPr lang="en-US" sz="1000" dirty="0"/>
          </a:p>
        </p:txBody>
      </p:sp>
      <p:sp>
        <p:nvSpPr>
          <p:cNvPr id="26" name="Shape 24"/>
          <p:cNvSpPr/>
          <p:nvPr/>
        </p:nvSpPr>
        <p:spPr>
          <a:xfrm>
            <a:off x="3200400" y="3675888"/>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675888"/>
            <a:ext cx="54864" cy="237744"/>
          </a:xfrm>
          <a:prstGeom prst="rect">
            <a:avLst/>
          </a:prstGeom>
          <a:solidFill>
            <a:srgbClr val="073FA8"/>
          </a:solidFill>
          <a:ln w="12700">
            <a:solidFill>
              <a:srgbClr val="073FA8"/>
            </a:solidFill>
            <a:prstDash val="solid"/>
          </a:ln>
        </p:spPr>
      </p:sp>
      <p:sp>
        <p:nvSpPr>
          <p:cNvPr id="28" name="Text 26"/>
          <p:cNvSpPr/>
          <p:nvPr/>
        </p:nvSpPr>
        <p:spPr>
          <a:xfrm>
            <a:off x="3328416" y="3675888"/>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950208"/>
            <a:ext cx="2523744" cy="256032"/>
          </a:xfrm>
          <a:prstGeom prst="rect">
            <a:avLst/>
          </a:prstGeom>
          <a:solidFill>
            <a:srgbClr val="06185F"/>
          </a:solidFill>
          <a:ln w="12700">
            <a:solidFill>
              <a:srgbClr val="06185F"/>
            </a:solidFill>
            <a:prstDash val="solid"/>
          </a:ln>
        </p:spPr>
      </p:sp>
      <p:sp>
        <p:nvSpPr>
          <p:cNvPr id="30" name="Shape 28"/>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Zelle Memo Intelligence</a:t>
            </a:r>
            <a:endParaRPr lang="en-US" sz="900" dirty="0"/>
          </a:p>
        </p:txBody>
      </p:sp>
      <p:sp>
        <p:nvSpPr>
          <p:cNvPr id="32" name="Shape 30"/>
          <p:cNvSpPr/>
          <p:nvPr/>
        </p:nvSpPr>
        <p:spPr>
          <a:xfrm>
            <a:off x="3328416" y="4279392"/>
            <a:ext cx="2523744" cy="256032"/>
          </a:xfrm>
          <a:prstGeom prst="rect">
            <a:avLst/>
          </a:prstGeom>
          <a:solidFill>
            <a:srgbClr val="0A52C4"/>
          </a:solidFill>
          <a:ln w="12700">
            <a:solidFill>
              <a:srgbClr val="0A52C4"/>
            </a:solidFill>
            <a:prstDash val="solid"/>
          </a:ln>
        </p:spPr>
      </p:sp>
      <p:sp>
        <p:nvSpPr>
          <p:cNvPr id="33" name="Shape 31"/>
          <p:cNvSpPr/>
          <p:nvPr/>
        </p:nvSpPr>
        <p:spPr>
          <a:xfrm>
            <a:off x="3383280" y="4343400"/>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4279392"/>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Personal-as-Commercial</a:t>
            </a:r>
            <a:endParaRPr lang="en-US" sz="900" dirty="0"/>
          </a:p>
        </p:txBody>
      </p:sp>
      <p:sp>
        <p:nvSpPr>
          <p:cNvPr id="35" name="Shape 33"/>
          <p:cNvSpPr/>
          <p:nvPr/>
        </p:nvSpPr>
        <p:spPr>
          <a:xfrm>
            <a:off x="3328416" y="4608576"/>
            <a:ext cx="2523744" cy="256032"/>
          </a:xfrm>
          <a:prstGeom prst="rect">
            <a:avLst/>
          </a:prstGeom>
          <a:solidFill>
            <a:srgbClr val="0F3D8A"/>
          </a:solidFill>
          <a:ln w="12700">
            <a:solidFill>
              <a:srgbClr val="0F3D8A"/>
            </a:solidFill>
            <a:prstDash val="solid"/>
          </a:ln>
        </p:spPr>
      </p:sp>
      <p:sp>
        <p:nvSpPr>
          <p:cNvPr id="36" name="Shape 34"/>
          <p:cNvSpPr/>
          <p:nvPr/>
        </p:nvSpPr>
        <p:spPr>
          <a:xfrm>
            <a:off x="3383280" y="4672584"/>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60857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Generational Wealth Deflection</a:t>
            </a:r>
            <a:endParaRPr lang="en-US" sz="900" dirty="0"/>
          </a:p>
        </p:txBody>
      </p:sp>
      <p:sp>
        <p:nvSpPr>
          <p:cNvPr id="38" name="Shape 36"/>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9" name="Shape 37"/>
          <p:cNvSpPr/>
          <p:nvPr/>
        </p:nvSpPr>
        <p:spPr>
          <a:xfrm>
            <a:off x="6144768" y="749808"/>
            <a:ext cx="2816352" cy="804672"/>
          </a:xfrm>
          <a:prstGeom prst="rect">
            <a:avLst/>
          </a:prstGeom>
          <a:solidFill>
            <a:srgbClr val="575A5D"/>
          </a:solidFill>
          <a:ln w="12700">
            <a:solidFill>
              <a:srgbClr val="575A5D"/>
            </a:solidFill>
            <a:prstDash val="solid"/>
          </a:ln>
        </p:spPr>
      </p:sp>
      <p:sp>
        <p:nvSpPr>
          <p:cNvPr id="40" name="Text 38"/>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1" name="Shape 39"/>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2" name="Text 40"/>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3" name="Text 41"/>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44" name="Text 42"/>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Anomaly Detection: real-time streaming fraud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fully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45" name="Shape 43"/>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46" name="Shape 44"/>
          <p:cNvSpPr/>
          <p:nvPr/>
        </p:nvSpPr>
        <p:spPr>
          <a:xfrm>
            <a:off x="6144768" y="3675888"/>
            <a:ext cx="54864" cy="237744"/>
          </a:xfrm>
          <a:prstGeom prst="rect">
            <a:avLst/>
          </a:prstGeom>
          <a:solidFill>
            <a:srgbClr val="575A5D"/>
          </a:solidFill>
          <a:ln w="12700">
            <a:solidFill>
              <a:srgbClr val="575A5D"/>
            </a:solidFill>
            <a:prstDash val="solid"/>
          </a:ln>
        </p:spPr>
      </p:sp>
      <p:sp>
        <p:nvSpPr>
          <p:cNvPr id="47" name="Text 45"/>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48" name="Shape 46"/>
          <p:cNvSpPr/>
          <p:nvPr/>
        </p:nvSpPr>
        <p:spPr>
          <a:xfrm>
            <a:off x="6272784" y="3950208"/>
            <a:ext cx="2523744" cy="256032"/>
          </a:xfrm>
          <a:prstGeom prst="rect">
            <a:avLst/>
          </a:prstGeom>
          <a:solidFill>
            <a:srgbClr val="073FA8"/>
          </a:solidFill>
          <a:ln w="12700">
            <a:solidFill>
              <a:srgbClr val="073FA8"/>
            </a:solidFill>
            <a:prstDash val="solid"/>
          </a:ln>
        </p:spPr>
      </p:sp>
      <p:sp>
        <p:nvSpPr>
          <p:cNvPr id="49" name="Shape 47"/>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0" name="Text 48"/>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51" name="Shape 49"/>
          <p:cNvSpPr/>
          <p:nvPr/>
        </p:nvSpPr>
        <p:spPr>
          <a:xfrm>
            <a:off x="6272784" y="4279392"/>
            <a:ext cx="2523744" cy="256032"/>
          </a:xfrm>
          <a:prstGeom prst="rect">
            <a:avLst/>
          </a:prstGeom>
          <a:solidFill>
            <a:srgbClr val="0D2E7A"/>
          </a:solidFill>
          <a:ln w="12700">
            <a:solidFill>
              <a:srgbClr val="0D2E7A"/>
            </a:solidFill>
            <a:prstDash val="solid"/>
          </a:ln>
        </p:spPr>
      </p:sp>
      <p:sp>
        <p:nvSpPr>
          <p:cNvPr id="52" name="Shape 50"/>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53" name="Text 51"/>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54" name="Shape 52"/>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55" name="Text 53"/>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56" name="Shape 54"/>
          <p:cNvSpPr/>
          <p:nvPr/>
        </p:nvSpPr>
        <p:spPr>
          <a:xfrm>
            <a:off x="6272784" y="4608576"/>
            <a:ext cx="2523744" cy="256032"/>
          </a:xfrm>
          <a:prstGeom prst="rect">
            <a:avLst/>
          </a:prstGeom>
          <a:solidFill>
            <a:srgbClr val="073FA8"/>
          </a:solidFill>
          <a:ln w="12700">
            <a:solidFill>
              <a:srgbClr val="073FA8"/>
            </a:solidFill>
            <a:prstDash val="solid"/>
          </a:ln>
        </p:spPr>
      </p:sp>
      <p:sp>
        <p:nvSpPr>
          <p:cNvPr id="57" name="Shape 55"/>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59" name="Shape 57"/>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0" name="Text 58"/>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2026-04-02T02:25:17Z</dcterms:created>
  <dcterms:modified xsi:type="dcterms:W3CDTF">2026-04-02T02:25:17Z</dcterms:modified>
</cp:coreProperties>
</file>