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85CE5"/>
          </a:solidFill>
          <a:ln w="12700">
            <a:solidFill>
              <a:srgbClr val="085CE5"/>
            </a:solidFill>
            <a:prstDash val="solid"/>
          </a:ln>
        </p:spPr>
      </p:sp>
      <p:sp>
        <p:nvSpPr>
          <p:cNvPr id="3" name="Shape 1"/>
          <p:cNvSpPr/>
          <p:nvPr/>
        </p:nvSpPr>
        <p:spPr>
          <a:xfrm>
            <a:off x="6400800" y="2103120"/>
            <a:ext cx="4114800" cy="4114800"/>
          </a:xfrm>
          <a:prstGeom prst="ellipse">
            <a:avLst/>
          </a:prstGeom>
          <a:solidFill>
            <a:srgbClr val="085CE5">
              <a:alpha val="15000"/>
            </a:srgbClr>
          </a:solidFill>
          <a:ln w="12700">
            <a:solidFill>
              <a:srgbClr val="085CE5">
                <a:alpha val="25000"/>
              </a:srgbClr>
            </a:solidFill>
            <a:prstDash val="solid"/>
          </a:ln>
        </p:spPr>
      </p:sp>
      <p:sp>
        <p:nvSpPr>
          <p:cNvPr id="4" name="Shape 2"/>
          <p:cNvSpPr/>
          <p:nvPr/>
        </p:nvSpPr>
        <p:spPr>
          <a:xfrm>
            <a:off x="7315200" y="2834640"/>
            <a:ext cx="2560320" cy="2560320"/>
          </a:xfrm>
          <a:prstGeom prst="ellipse">
            <a:avLst/>
          </a:prstGeom>
          <a:solidFill>
            <a:srgbClr val="76DCFD">
              <a:alpha val="25000"/>
            </a:srgbClr>
          </a:solidFill>
          <a:ln w="12700">
            <a:solidFill>
              <a:srgbClr val="76DCFD">
                <a:alpha val="35000"/>
              </a:srgbClr>
            </a:solidFill>
            <a:prstDash val="solid"/>
          </a:ln>
        </p:spPr>
      </p:sp>
      <p:sp>
        <p:nvSpPr>
          <p:cNvPr id="5" name="Text 3"/>
          <p:cNvSpPr/>
          <p:nvPr/>
        </p:nvSpPr>
        <p:spPr>
          <a:xfrm>
            <a:off x="365760" y="502920"/>
            <a:ext cx="8412480" cy="320040"/>
          </a:xfrm>
          <a:prstGeom prst="rect">
            <a:avLst/>
          </a:prstGeom>
          <a:noFill/>
          <a:ln/>
        </p:spPr>
        <p:txBody>
          <a:bodyPr wrap="square" lIns="0" tIns="0" rIns="0" bIns="0" rtlCol="0" anchor="ctr"/>
          <a:lstStyle/>
          <a:p>
            <a:pPr indent="0" marL="0">
              <a:buNone/>
            </a:pPr>
            <a:r>
              <a:rPr lang="en-US" sz="1100" spc="100" kern="0" dirty="0">
                <a:solidFill>
                  <a:srgbClr val="76DCFD"/>
                </a:solidFill>
                <a:latin typeface="Calibri" pitchFamily="34" charset="0"/>
                <a:ea typeface="Calibri" pitchFamily="34" charset="-122"/>
                <a:cs typeface="Calibri" pitchFamily="34" charset="-120"/>
              </a:rPr>
              <a:t>JHBI  ·  Data Science Platform Investment Brief</a:t>
            </a:r>
            <a:endParaRPr lang="en-US" sz="1100" dirty="0"/>
          </a:p>
        </p:txBody>
      </p:sp>
      <p:sp>
        <p:nvSpPr>
          <p:cNvPr id="6" name="Text 4"/>
          <p:cNvSpPr/>
          <p:nvPr/>
        </p:nvSpPr>
        <p:spPr>
          <a:xfrm>
            <a:off x="365760" y="960120"/>
            <a:ext cx="7315200" cy="19202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Data Science</a:t>
            </a:r>
            <a:endParaRPr lang="en-US" sz="4800" dirty="0"/>
          </a:p>
          <a:p>
            <a:pPr indent="0" marL="0">
              <a:buNone/>
            </a:pPr>
            <a:r>
              <a:rPr lang="en-US" sz="4800" b="1" dirty="0">
                <a:solidFill>
                  <a:srgbClr val="FFFFFF"/>
                </a:solidFill>
                <a:latin typeface="Calibri" pitchFamily="34" charset="0"/>
                <a:ea typeface="Calibri" pitchFamily="34" charset="-122"/>
                <a:cs typeface="Calibri" pitchFamily="34" charset="-120"/>
              </a:rPr>
              <a:t>Platform Strategy</a:t>
            </a:r>
            <a:endParaRPr lang="en-US" sz="4800" dirty="0"/>
          </a:p>
        </p:txBody>
      </p:sp>
      <p:sp>
        <p:nvSpPr>
          <p:cNvPr id="7" name="Text 5"/>
          <p:cNvSpPr/>
          <p:nvPr/>
        </p:nvSpPr>
        <p:spPr>
          <a:xfrm>
            <a:off x="365760" y="2971800"/>
            <a:ext cx="7680960" cy="457200"/>
          </a:xfrm>
          <a:prstGeom prst="rect">
            <a:avLst/>
          </a:prstGeom>
          <a:noFill/>
          <a:ln/>
        </p:spPr>
        <p:txBody>
          <a:bodyPr wrap="square" lIns="0" tIns="0" rIns="0" bIns="0" rtlCol="0" anchor="ctr"/>
          <a:lstStyle/>
          <a:p>
            <a:pPr indent="0" marL="0">
              <a:buNone/>
            </a:pPr>
            <a:r>
              <a:rPr lang="en-US" sz="1600" i="1" dirty="0">
                <a:solidFill>
                  <a:srgbClr val="76DCFD"/>
                </a:solidFill>
                <a:latin typeface="Calibri" pitchFamily="34" charset="0"/>
                <a:ea typeface="Calibri" pitchFamily="34" charset="-122"/>
                <a:cs typeface="Calibri" pitchFamily="34" charset="-120"/>
              </a:rPr>
              <a:t>Building AI-Powered Applications for Jack Henry's Financial Institution Clients</a:t>
            </a:r>
            <a:endParaRPr lang="en-US" sz="1600" dirty="0"/>
          </a:p>
        </p:txBody>
      </p:sp>
      <p:sp>
        <p:nvSpPr>
          <p:cNvPr id="8" name="Shape 6"/>
          <p:cNvSpPr/>
          <p:nvPr/>
        </p:nvSpPr>
        <p:spPr>
          <a:xfrm>
            <a:off x="365760" y="3547872"/>
            <a:ext cx="2286000" cy="45720"/>
          </a:xfrm>
          <a:prstGeom prst="rect">
            <a:avLst/>
          </a:prstGeom>
          <a:solidFill>
            <a:srgbClr val="085CE5"/>
          </a:solidFill>
          <a:ln w="12700">
            <a:solidFill>
              <a:srgbClr val="085CE5"/>
            </a:solidFill>
            <a:prstDash val="solid"/>
          </a:ln>
        </p:spPr>
      </p:sp>
      <p:sp>
        <p:nvSpPr>
          <p:cNvPr id="9" name="Text 7"/>
          <p:cNvSpPr/>
          <p:nvPr/>
        </p:nvSpPr>
        <p:spPr>
          <a:xfrm>
            <a:off x="365760" y="3703320"/>
            <a:ext cx="5486400" cy="320040"/>
          </a:xfrm>
          <a:prstGeom prst="rect">
            <a:avLst/>
          </a:prstGeom>
          <a:noFill/>
          <a:ln/>
        </p:spPr>
        <p:txBody>
          <a:bodyPr wrap="square" lIns="0" tIns="0" rIns="0" bIns="0" rtlCol="0" anchor="ctr"/>
          <a:lstStyle/>
          <a:p>
            <a:pPr indent="0" marL="0">
              <a:buNone/>
            </a:pPr>
            <a:r>
              <a:rPr lang="en-US" sz="1200" dirty="0">
                <a:solidFill>
                  <a:srgbClr val="B6BBC0"/>
                </a:solidFill>
                <a:latin typeface="Calibri" pitchFamily="34" charset="0"/>
                <a:ea typeface="Calibri" pitchFamily="34" charset="-122"/>
                <a:cs typeface="Calibri" pitchFamily="34" charset="-120"/>
              </a:rPr>
              <a:t>Data &amp; Analytics Team  |  March 2026</a:t>
            </a:r>
            <a:endParaRPr lang="en-US" sz="1200" dirty="0"/>
          </a:p>
        </p:txBody>
      </p:sp>
      <p:sp>
        <p:nvSpPr>
          <p:cNvPr id="10" name="Text 8"/>
          <p:cNvSpPr/>
          <p:nvPr/>
        </p:nvSpPr>
        <p:spPr>
          <a:xfrm>
            <a:off x="365760" y="4800600"/>
            <a:ext cx="3657600" cy="237744"/>
          </a:xfrm>
          <a:prstGeom prst="rect">
            <a:avLst/>
          </a:prstGeom>
          <a:noFill/>
          <a:ln/>
        </p:spPr>
        <p:txBody>
          <a:bodyPr wrap="square" lIns="0" tIns="0" rIns="0" bIns="0" rtlCol="0" anchor="ctr"/>
          <a:lstStyle/>
          <a:p>
            <a:pPr indent="0" marL="0">
              <a:buNone/>
            </a:pPr>
            <a:r>
              <a:rPr lang="en-US" sz="900" i="1" dirty="0">
                <a:solidFill>
                  <a:srgbClr val="B6BBC0"/>
                </a:solidFill>
                <a:latin typeface="Calibri" pitchFamily="34" charset="0"/>
                <a:ea typeface="Calibri" pitchFamily="34" charset="-122"/>
                <a:cs typeface="Calibri" pitchFamily="34" charset="-120"/>
              </a:rPr>
              <a:t>Powering the Financial World™</a:t>
            </a:r>
            <a:endParaRPr lang="en-US" sz="900" dirty="0"/>
          </a:p>
        </p:txBody>
      </p:sp>
      <p:sp>
        <p:nvSpPr>
          <p:cNvPr id="11" name="Text 9"/>
          <p:cNvSpPr/>
          <p:nvPr/>
        </p:nvSpPr>
        <p:spPr>
          <a:xfrm>
            <a:off x="7132320" y="4828032"/>
            <a:ext cx="1828800" cy="228600"/>
          </a:xfrm>
          <a:prstGeom prst="rect">
            <a:avLst/>
          </a:prstGeom>
          <a:noFill/>
          <a:ln/>
        </p:spPr>
        <p:txBody>
          <a:bodyPr wrap="square" lIns="0" tIns="0" rIns="0" bIns="0" rtlCol="0" anchor="ctr"/>
          <a:lstStyle/>
          <a:p>
            <a:pPr algn="r" indent="0" marL="0">
              <a:buNone/>
            </a:pPr>
            <a:r>
              <a:rPr lang="en-US" sz="900" spc="100" kern="0" dirty="0">
                <a:solidFill>
                  <a:srgbClr val="B6BBC0"/>
                </a:solidFill>
                <a:latin typeface="Calibri" pitchFamily="34" charset="0"/>
                <a:ea typeface="Calibri" pitchFamily="34" charset="-122"/>
                <a:cs typeface="Calibri" pitchFamily="34" charset="-120"/>
              </a:rPr>
              <a:t>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Market Opportunity for Jack Henry</a:t>
            </a:r>
            <a:endParaRPr lang="en-US" sz="2200" dirty="0"/>
          </a:p>
        </p:txBody>
      </p:sp>
      <p:sp>
        <p:nvSpPr>
          <p:cNvPr id="4" name="Text 2"/>
          <p:cNvSpPr/>
          <p:nvPr/>
        </p:nvSpPr>
        <p:spPr>
          <a:xfrm>
            <a:off x="365760" y="777240"/>
            <a:ext cx="8412480" cy="566928"/>
          </a:xfrm>
          <a:prstGeom prst="rect">
            <a:avLst/>
          </a:prstGeom>
          <a:noFill/>
          <a:ln/>
        </p:spPr>
        <p:txBody>
          <a:bodyPr wrap="square" lIns="0" tIns="0" rIns="0" bIns="0" rtlCol="0" anchor="ctr"/>
          <a:lstStyle/>
          <a:p>
            <a:pPr indent="0" marL="0">
              <a:buNone/>
            </a:pPr>
            <a:r>
              <a:rPr lang="en-US" sz="1250" dirty="0">
                <a:solidFill>
                  <a:srgbClr val="575A5D"/>
                </a:solidFill>
                <a:latin typeface="Calibri" pitchFamily="34" charset="0"/>
                <a:ea typeface="Calibri" pitchFamily="34" charset="-122"/>
                <a:cs typeface="Calibri" pitchFamily="34" charset="-120"/>
              </a:rPr>
              <a:t>Jack Henry serves 1,660 financial institutions on core platforms and 7,500+ across its full ecosystem — institutions that collectively manage trillions in assets. By embedding AI-driven analytics directly into our platform, we can transform how every FI client makes decisions on retention, risk, compliance, and growth.</a:t>
            </a:r>
            <a:endParaRPr lang="en-US" sz="1250" dirty="0"/>
          </a:p>
        </p:txBody>
      </p:sp>
      <p:sp>
        <p:nvSpPr>
          <p:cNvPr id="5" name="Shape 3"/>
          <p:cNvSpPr/>
          <p:nvPr/>
        </p:nvSpPr>
        <p:spPr>
          <a:xfrm>
            <a:off x="365760" y="1463040"/>
            <a:ext cx="2651760" cy="246888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365760" y="1463040"/>
            <a:ext cx="2651760" cy="91440"/>
          </a:xfrm>
          <a:prstGeom prst="rect">
            <a:avLst/>
          </a:prstGeom>
          <a:solidFill>
            <a:srgbClr val="085CE5"/>
          </a:solidFill>
          <a:ln w="12700">
            <a:solidFill>
              <a:srgbClr val="085CE5"/>
            </a:solidFill>
            <a:prstDash val="solid"/>
          </a:ln>
        </p:spPr>
      </p:sp>
      <p:pic>
        <p:nvPicPr>
          <p:cNvPr id="7" name="Image 0" descr="preencoded.png">    </p:cNvPr>
          <p:cNvPicPr>
            <a:picLocks noChangeAspect="1"/>
          </p:cNvPicPr>
          <p:nvPr/>
        </p:nvPicPr>
        <p:blipFill>
          <a:blip r:embed="rId1"/>
          <a:stretch>
            <a:fillRect/>
          </a:stretch>
        </p:blipFill>
        <p:spPr>
          <a:xfrm>
            <a:off x="1444752" y="1618488"/>
            <a:ext cx="475488" cy="475488"/>
          </a:xfrm>
          <a:prstGeom prst="rect">
            <a:avLst/>
          </a:prstGeom>
        </p:spPr>
      </p:pic>
      <p:sp>
        <p:nvSpPr>
          <p:cNvPr id="8" name="Text 5"/>
          <p:cNvSpPr/>
          <p:nvPr/>
        </p:nvSpPr>
        <p:spPr>
          <a:xfrm>
            <a:off x="457200" y="2139696"/>
            <a:ext cx="2468880" cy="804672"/>
          </a:xfrm>
          <a:prstGeom prst="rect">
            <a:avLst/>
          </a:prstGeom>
          <a:noFill/>
          <a:ln/>
        </p:spPr>
        <p:txBody>
          <a:bodyPr wrap="square" lIns="0" tIns="0" rIns="0" bIns="0" rtlCol="0" anchor="ctr"/>
          <a:lstStyle/>
          <a:p>
            <a:pPr algn="ctr" indent="0" marL="0">
              <a:buNone/>
            </a:pPr>
            <a:r>
              <a:rPr lang="en-US" sz="4200" b="1" dirty="0">
                <a:solidFill>
                  <a:srgbClr val="085CE5"/>
                </a:solidFill>
                <a:latin typeface="Calibri" pitchFamily="34" charset="0"/>
                <a:ea typeface="Calibri" pitchFamily="34" charset="-122"/>
                <a:cs typeface="Calibri" pitchFamily="34" charset="-120"/>
              </a:rPr>
              <a:t>1,660</a:t>
            </a:r>
            <a:endParaRPr lang="en-US" sz="4200" dirty="0"/>
          </a:p>
        </p:txBody>
      </p:sp>
      <p:sp>
        <p:nvSpPr>
          <p:cNvPr id="9" name="Text 6"/>
          <p:cNvSpPr/>
          <p:nvPr/>
        </p:nvSpPr>
        <p:spPr>
          <a:xfrm>
            <a:off x="457200" y="2962656"/>
            <a:ext cx="2468880" cy="685800"/>
          </a:xfrm>
          <a:prstGeom prst="rect">
            <a:avLst/>
          </a:prstGeom>
          <a:noFill/>
          <a:ln/>
        </p:spPr>
        <p:txBody>
          <a:bodyPr wrap="square" lIns="0" tIns="0" rIns="0" bIns="0" rtlCol="0" anchor="ctr"/>
          <a:lstStyle/>
          <a:p>
            <a:pPr algn="ctr" indent="0" marL="0">
              <a:buNone/>
            </a:pPr>
            <a:r>
              <a:rPr lang="en-US" sz="1150" dirty="0">
                <a:solidFill>
                  <a:srgbClr val="575A5D"/>
                </a:solidFill>
                <a:latin typeface="Calibri" pitchFamily="34" charset="0"/>
                <a:ea typeface="Calibri" pitchFamily="34" charset="-122"/>
                <a:cs typeface="Calibri" pitchFamily="34" charset="-120"/>
              </a:rPr>
              <a:t>Core FI clients — banks &amp; CUs</a:t>
            </a:r>
            <a:endParaRPr lang="en-US" sz="1150" dirty="0"/>
          </a:p>
          <a:p>
            <a:pPr algn="ctr" indent="0" marL="0">
              <a:buNone/>
            </a:pPr>
            <a:r>
              <a:rPr lang="en-US" sz="1150" dirty="0">
                <a:solidFill>
                  <a:srgbClr val="575A5D"/>
                </a:solidFill>
                <a:latin typeface="Calibri" pitchFamily="34" charset="0"/>
                <a:ea typeface="Calibri" pitchFamily="34" charset="-122"/>
                <a:cs typeface="Calibri" pitchFamily="34" charset="-120"/>
              </a:rPr>
              <a:t>with deepest JH data access</a:t>
            </a:r>
            <a:endParaRPr lang="en-US" sz="1150" dirty="0"/>
          </a:p>
        </p:txBody>
      </p:sp>
      <p:sp>
        <p:nvSpPr>
          <p:cNvPr id="10" name="Shape 7"/>
          <p:cNvSpPr/>
          <p:nvPr/>
        </p:nvSpPr>
        <p:spPr>
          <a:xfrm>
            <a:off x="3182112" y="1463040"/>
            <a:ext cx="2651760" cy="246888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3182112" y="1463040"/>
            <a:ext cx="2651760" cy="91440"/>
          </a:xfrm>
          <a:prstGeom prst="rect">
            <a:avLst/>
          </a:prstGeom>
          <a:solidFill>
            <a:srgbClr val="06185F"/>
          </a:solidFill>
          <a:ln w="12700">
            <a:solidFill>
              <a:srgbClr val="06185F"/>
            </a:solidFill>
            <a:prstDash val="solid"/>
          </a:ln>
        </p:spPr>
      </p:sp>
      <p:pic>
        <p:nvPicPr>
          <p:cNvPr id="12" name="Image 1" descr="preencoded.png">    </p:cNvPr>
          <p:cNvPicPr>
            <a:picLocks noChangeAspect="1"/>
          </p:cNvPicPr>
          <p:nvPr/>
        </p:nvPicPr>
        <p:blipFill>
          <a:blip r:embed="rId2"/>
          <a:stretch>
            <a:fillRect/>
          </a:stretch>
        </p:blipFill>
        <p:spPr>
          <a:xfrm>
            <a:off x="4261104" y="1618488"/>
            <a:ext cx="475488" cy="475488"/>
          </a:xfrm>
          <a:prstGeom prst="rect">
            <a:avLst/>
          </a:prstGeom>
        </p:spPr>
      </p:pic>
      <p:sp>
        <p:nvSpPr>
          <p:cNvPr id="13" name="Text 9"/>
          <p:cNvSpPr/>
          <p:nvPr/>
        </p:nvSpPr>
        <p:spPr>
          <a:xfrm>
            <a:off x="3273552" y="2139696"/>
            <a:ext cx="2468880" cy="804672"/>
          </a:xfrm>
          <a:prstGeom prst="rect">
            <a:avLst/>
          </a:prstGeom>
          <a:noFill/>
          <a:ln/>
        </p:spPr>
        <p:txBody>
          <a:bodyPr wrap="square" lIns="0" tIns="0" rIns="0" bIns="0" rtlCol="0" anchor="ctr"/>
          <a:lstStyle/>
          <a:p>
            <a:pPr algn="ctr" indent="0" marL="0">
              <a:buNone/>
            </a:pPr>
            <a:r>
              <a:rPr lang="en-US" sz="4200" b="1" dirty="0">
                <a:solidFill>
                  <a:srgbClr val="06185F"/>
                </a:solidFill>
                <a:latin typeface="Calibri" pitchFamily="34" charset="0"/>
                <a:ea typeface="Calibri" pitchFamily="34" charset="-122"/>
                <a:cs typeface="Calibri" pitchFamily="34" charset="-120"/>
              </a:rPr>
              <a:t>$6.2B</a:t>
            </a:r>
            <a:endParaRPr lang="en-US" sz="4200" dirty="0"/>
          </a:p>
        </p:txBody>
      </p:sp>
      <p:sp>
        <p:nvSpPr>
          <p:cNvPr id="14" name="Text 10"/>
          <p:cNvSpPr/>
          <p:nvPr/>
        </p:nvSpPr>
        <p:spPr>
          <a:xfrm>
            <a:off x="3273552" y="2962656"/>
            <a:ext cx="2468880" cy="685800"/>
          </a:xfrm>
          <a:prstGeom prst="rect">
            <a:avLst/>
          </a:prstGeom>
          <a:noFill/>
          <a:ln/>
        </p:spPr>
        <p:txBody>
          <a:bodyPr wrap="square" lIns="0" tIns="0" rIns="0" bIns="0" rtlCol="0" anchor="ctr"/>
          <a:lstStyle/>
          <a:p>
            <a:pPr algn="ctr" indent="0" marL="0">
              <a:buNone/>
            </a:pPr>
            <a:r>
              <a:rPr lang="en-US" sz="1150" dirty="0">
                <a:solidFill>
                  <a:srgbClr val="575A5D"/>
                </a:solidFill>
                <a:latin typeface="Calibri" pitchFamily="34" charset="0"/>
                <a:ea typeface="Calibri" pitchFamily="34" charset="-122"/>
                <a:cs typeface="Calibri" pitchFamily="34" charset="-120"/>
              </a:rPr>
              <a:t>projected AI banking analytics</a:t>
            </a:r>
            <a:endParaRPr lang="en-US" sz="1150" dirty="0"/>
          </a:p>
          <a:p>
            <a:pPr algn="ctr" indent="0" marL="0">
              <a:buNone/>
            </a:pPr>
            <a:r>
              <a:rPr lang="en-US" sz="1150" dirty="0">
                <a:solidFill>
                  <a:srgbClr val="575A5D"/>
                </a:solidFill>
                <a:latin typeface="Calibri" pitchFamily="34" charset="0"/>
                <a:ea typeface="Calibri" pitchFamily="34" charset="-122"/>
                <a:cs typeface="Calibri" pitchFamily="34" charset="-120"/>
              </a:rPr>
              <a:t>market by 2028 (Mordor Intel.)</a:t>
            </a:r>
            <a:endParaRPr lang="en-US" sz="1150" dirty="0"/>
          </a:p>
        </p:txBody>
      </p:sp>
      <p:sp>
        <p:nvSpPr>
          <p:cNvPr id="15" name="Shape 11"/>
          <p:cNvSpPr/>
          <p:nvPr/>
        </p:nvSpPr>
        <p:spPr>
          <a:xfrm>
            <a:off x="5998464" y="1463040"/>
            <a:ext cx="2651760" cy="246888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6" name="Shape 12"/>
          <p:cNvSpPr/>
          <p:nvPr/>
        </p:nvSpPr>
        <p:spPr>
          <a:xfrm>
            <a:off x="5998464" y="1463040"/>
            <a:ext cx="2651760" cy="91440"/>
          </a:xfrm>
          <a:prstGeom prst="rect">
            <a:avLst/>
          </a:prstGeom>
          <a:solidFill>
            <a:srgbClr val="073FA8"/>
          </a:solidFill>
          <a:ln w="12700">
            <a:solidFill>
              <a:srgbClr val="073FA8"/>
            </a:solidFill>
            <a:prstDash val="solid"/>
          </a:ln>
        </p:spPr>
      </p:sp>
      <p:pic>
        <p:nvPicPr>
          <p:cNvPr id="17" name="Image 2" descr="preencoded.png">    </p:cNvPr>
          <p:cNvPicPr>
            <a:picLocks noChangeAspect="1"/>
          </p:cNvPicPr>
          <p:nvPr/>
        </p:nvPicPr>
        <p:blipFill>
          <a:blip r:embed="rId3"/>
          <a:stretch>
            <a:fillRect/>
          </a:stretch>
        </p:blipFill>
        <p:spPr>
          <a:xfrm>
            <a:off x="7077456" y="1618488"/>
            <a:ext cx="475488" cy="475488"/>
          </a:xfrm>
          <a:prstGeom prst="rect">
            <a:avLst/>
          </a:prstGeom>
        </p:spPr>
      </p:pic>
      <p:sp>
        <p:nvSpPr>
          <p:cNvPr id="18" name="Text 13"/>
          <p:cNvSpPr/>
          <p:nvPr/>
        </p:nvSpPr>
        <p:spPr>
          <a:xfrm>
            <a:off x="6089904" y="2139696"/>
            <a:ext cx="2468880" cy="804672"/>
          </a:xfrm>
          <a:prstGeom prst="rect">
            <a:avLst/>
          </a:prstGeom>
          <a:noFill/>
          <a:ln/>
        </p:spPr>
        <p:txBody>
          <a:bodyPr wrap="square" lIns="0" tIns="0" rIns="0" bIns="0" rtlCol="0" anchor="ctr"/>
          <a:lstStyle/>
          <a:p>
            <a:pPr algn="ctr" indent="0" marL="0">
              <a:buNone/>
            </a:pPr>
            <a:r>
              <a:rPr lang="en-US" sz="4200" b="1" dirty="0">
                <a:solidFill>
                  <a:srgbClr val="073FA8"/>
                </a:solidFill>
                <a:latin typeface="Calibri" pitchFamily="34" charset="0"/>
                <a:ea typeface="Calibri" pitchFamily="34" charset="-122"/>
                <a:cs typeface="Calibri" pitchFamily="34" charset="-120"/>
              </a:rPr>
              <a:t>74%</a:t>
            </a:r>
            <a:endParaRPr lang="en-US" sz="4200" dirty="0"/>
          </a:p>
        </p:txBody>
      </p:sp>
      <p:sp>
        <p:nvSpPr>
          <p:cNvPr id="19" name="Text 14"/>
          <p:cNvSpPr/>
          <p:nvPr/>
        </p:nvSpPr>
        <p:spPr>
          <a:xfrm>
            <a:off x="6089904" y="2962656"/>
            <a:ext cx="2468880" cy="685800"/>
          </a:xfrm>
          <a:prstGeom prst="rect">
            <a:avLst/>
          </a:prstGeom>
          <a:noFill/>
          <a:ln/>
        </p:spPr>
        <p:txBody>
          <a:bodyPr wrap="square" lIns="0" tIns="0" rIns="0" bIns="0" rtlCol="0" anchor="ctr"/>
          <a:lstStyle/>
          <a:p>
            <a:pPr algn="ctr" indent="0" marL="0">
              <a:buNone/>
            </a:pPr>
            <a:r>
              <a:rPr lang="en-US" sz="1150" dirty="0">
                <a:solidFill>
                  <a:srgbClr val="575A5D"/>
                </a:solidFill>
                <a:latin typeface="Calibri" pitchFamily="34" charset="0"/>
                <a:ea typeface="Calibri" pitchFamily="34" charset="-122"/>
                <a:cs typeface="Calibri" pitchFamily="34" charset="-120"/>
              </a:rPr>
              <a:t>of FIs cite AI/ML tools as a</a:t>
            </a:r>
            <a:endParaRPr lang="en-US" sz="1150" dirty="0"/>
          </a:p>
          <a:p>
            <a:pPr algn="ctr" indent="0" marL="0">
              <a:buNone/>
            </a:pPr>
            <a:r>
              <a:rPr lang="en-US" sz="1150" dirty="0">
                <a:solidFill>
                  <a:srgbClr val="575A5D"/>
                </a:solidFill>
                <a:latin typeface="Calibri" pitchFamily="34" charset="0"/>
                <a:ea typeface="Calibri" pitchFamily="34" charset="-122"/>
                <a:cs typeface="Calibri" pitchFamily="34" charset="-120"/>
              </a:rPr>
              <a:t>top 3 technology priority*</a:t>
            </a:r>
            <a:endParaRPr lang="en-US" sz="1150" dirty="0"/>
          </a:p>
        </p:txBody>
      </p:sp>
      <p:sp>
        <p:nvSpPr>
          <p:cNvPr id="20" name="Text 15"/>
          <p:cNvSpPr/>
          <p:nvPr/>
        </p:nvSpPr>
        <p:spPr>
          <a:xfrm>
            <a:off x="365760" y="4005072"/>
            <a:ext cx="8412480" cy="256032"/>
          </a:xfrm>
          <a:prstGeom prst="rect">
            <a:avLst/>
          </a:prstGeom>
          <a:noFill/>
          <a:ln/>
        </p:spPr>
        <p:txBody>
          <a:bodyPr wrap="square" lIns="0" tIns="0" rIns="0" bIns="0" rtlCol="0" anchor="ctr"/>
          <a:lstStyle/>
          <a:p>
            <a:pPr indent="0" marL="0">
              <a:buNone/>
            </a:pPr>
            <a:r>
              <a:rPr lang="en-US" sz="900" i="1" dirty="0">
                <a:solidFill>
                  <a:srgbClr val="B6BBC0"/>
                </a:solidFill>
                <a:latin typeface="Calibri" pitchFamily="34" charset="0"/>
                <a:ea typeface="Calibri" pitchFamily="34" charset="-122"/>
                <a:cs typeface="Calibri" pitchFamily="34" charset="-120"/>
              </a:rPr>
              <a:t>* ICBA / Cornerstone Advisors 2025 What's Going On In Banking survey</a:t>
            </a:r>
            <a:endParaRPr lang="en-US" sz="900" dirty="0"/>
          </a:p>
        </p:txBody>
      </p:sp>
      <p:sp>
        <p:nvSpPr>
          <p:cNvPr id="21" name="Shape 16"/>
          <p:cNvSpPr/>
          <p:nvPr/>
        </p:nvSpPr>
        <p:spPr>
          <a:xfrm>
            <a:off x="365760" y="4315968"/>
            <a:ext cx="8412480" cy="658368"/>
          </a:xfrm>
          <a:prstGeom prst="rect">
            <a:avLst/>
          </a:prstGeom>
          <a:solidFill>
            <a:srgbClr val="06185F"/>
          </a:solidFill>
          <a:ln w="12700">
            <a:solidFill>
              <a:srgbClr val="06185F"/>
            </a:solidFill>
            <a:prstDash val="solid"/>
          </a:ln>
        </p:spPr>
      </p:sp>
      <p:sp>
        <p:nvSpPr>
          <p:cNvPr id="22" name="Text 17"/>
          <p:cNvSpPr/>
          <p:nvPr/>
        </p:nvSpPr>
        <p:spPr>
          <a:xfrm>
            <a:off x="548640" y="4352544"/>
            <a:ext cx="8046720" cy="58521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We are requesting budget and headcount to build the team and platform to deliver this value — starting with our 1,660 core FI clients, expanding across the full JH ecosystem.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D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The Real Market Opportunity — Grounded in JH's Actual Footprint</a:t>
            </a:r>
            <a:endParaRPr lang="en-US" sz="2000" dirty="0"/>
          </a:p>
        </p:txBody>
      </p:sp>
      <p:sp>
        <p:nvSpPr>
          <p:cNvPr id="4" name="Text 2"/>
          <p:cNvSpPr/>
          <p:nvPr/>
        </p:nvSpPr>
        <p:spPr>
          <a:xfrm>
            <a:off x="365760" y="749808"/>
            <a:ext cx="8412480" cy="365760"/>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Jack Henry's FY2024 10-K reports 1,660 FIs on core processing — 940 banks and 720 credit unions. The remaining ~5,870 clients use payment and complementary products only. This is the true addressable base for the AI platform.</a:t>
            </a:r>
            <a:endParaRPr lang="en-US" sz="1000" dirty="0"/>
          </a:p>
        </p:txBody>
      </p:sp>
      <p:sp>
        <p:nvSpPr>
          <p:cNvPr id="5" name="Shape 3"/>
          <p:cNvSpPr/>
          <p:nvPr/>
        </p:nvSpPr>
        <p:spPr>
          <a:xfrm>
            <a:off x="274320" y="1188720"/>
            <a:ext cx="2834640" cy="33101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188720"/>
            <a:ext cx="2834640" cy="54864"/>
          </a:xfrm>
          <a:prstGeom prst="rect">
            <a:avLst/>
          </a:prstGeom>
          <a:solidFill>
            <a:srgbClr val="085CE5"/>
          </a:solidFill>
          <a:ln w="12700">
            <a:solidFill>
              <a:srgbClr val="085CE5"/>
            </a:solidFill>
            <a:prstDash val="solid"/>
          </a:ln>
        </p:spPr>
      </p:sp>
      <p:sp>
        <p:nvSpPr>
          <p:cNvPr id="7" name="Shape 5"/>
          <p:cNvSpPr/>
          <p:nvPr/>
        </p:nvSpPr>
        <p:spPr>
          <a:xfrm>
            <a:off x="420624" y="1298448"/>
            <a:ext cx="1005840" cy="201168"/>
          </a:xfrm>
          <a:prstGeom prst="rect">
            <a:avLst/>
          </a:prstGeom>
          <a:solidFill>
            <a:srgbClr val="085CE5"/>
          </a:solidFill>
          <a:ln w="12700">
            <a:solidFill>
              <a:srgbClr val="085CE5"/>
            </a:solidFill>
            <a:prstDash val="solid"/>
          </a:ln>
        </p:spPr>
      </p:sp>
      <p:sp>
        <p:nvSpPr>
          <p:cNvPr id="8" name="Text 6"/>
          <p:cNvSpPr/>
          <p:nvPr/>
        </p:nvSpPr>
        <p:spPr>
          <a:xfrm>
            <a:off x="420624" y="1298448"/>
            <a:ext cx="10058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PRIMARY</a:t>
            </a:r>
            <a:endParaRPr lang="en-US" sz="750" dirty="0"/>
          </a:p>
        </p:txBody>
      </p:sp>
      <p:sp>
        <p:nvSpPr>
          <p:cNvPr id="9" name="Text 7"/>
          <p:cNvSpPr/>
          <p:nvPr/>
        </p:nvSpPr>
        <p:spPr>
          <a:xfrm>
            <a:off x="420624" y="1554480"/>
            <a:ext cx="2542032" cy="256032"/>
          </a:xfrm>
          <a:prstGeom prst="rect">
            <a:avLst/>
          </a:prstGeom>
          <a:noFill/>
          <a:ln/>
        </p:spPr>
        <p:txBody>
          <a:bodyPr wrap="square" lIns="0" tIns="0" rIns="0" bIns="0" rtlCol="0" anchor="ctr"/>
          <a:lstStyle/>
          <a:p>
            <a:pPr indent="0" marL="0">
              <a:buNone/>
            </a:pPr>
            <a:r>
              <a:rPr lang="en-US" sz="1200" b="1" dirty="0">
                <a:solidFill>
                  <a:srgbClr val="06185F"/>
                </a:solidFill>
                <a:latin typeface="Calibri" pitchFamily="34" charset="0"/>
                <a:ea typeface="Calibri" pitchFamily="34" charset="-122"/>
                <a:cs typeface="Calibri" pitchFamily="34" charset="-120"/>
              </a:rPr>
              <a:t>Core Platform FIs</a:t>
            </a:r>
            <a:endParaRPr lang="en-US" sz="1200" dirty="0"/>
          </a:p>
        </p:txBody>
      </p:sp>
      <p:sp>
        <p:nvSpPr>
          <p:cNvPr id="10" name="Text 8"/>
          <p:cNvSpPr/>
          <p:nvPr/>
        </p:nvSpPr>
        <p:spPr>
          <a:xfrm>
            <a:off x="420624" y="1828800"/>
            <a:ext cx="2542032" cy="694944"/>
          </a:xfrm>
          <a:prstGeom prst="rect">
            <a:avLst/>
          </a:prstGeom>
          <a:noFill/>
          <a:ln/>
        </p:spPr>
        <p:txBody>
          <a:bodyPr wrap="square" lIns="0" tIns="0" rIns="0" bIns="0" rtlCol="0" anchor="ctr"/>
          <a:lstStyle/>
          <a:p>
            <a:pPr indent="0" marL="0">
              <a:buNone/>
            </a:pPr>
            <a:r>
              <a:rPr lang="en-US" sz="4600" b="1" dirty="0">
                <a:solidFill>
                  <a:srgbClr val="085CE5"/>
                </a:solidFill>
                <a:latin typeface="Calibri" pitchFamily="34" charset="0"/>
                <a:ea typeface="Calibri" pitchFamily="34" charset="-122"/>
                <a:cs typeface="Calibri" pitchFamily="34" charset="-120"/>
              </a:rPr>
              <a:t>1,660</a:t>
            </a:r>
            <a:endParaRPr lang="en-US" sz="4600" dirty="0"/>
          </a:p>
        </p:txBody>
      </p:sp>
      <p:sp>
        <p:nvSpPr>
          <p:cNvPr id="11" name="Text 9"/>
          <p:cNvSpPr/>
          <p:nvPr/>
        </p:nvSpPr>
        <p:spPr>
          <a:xfrm>
            <a:off x="420624" y="2523744"/>
            <a:ext cx="2542032" cy="219456"/>
          </a:xfrm>
          <a:prstGeom prst="rect">
            <a:avLst/>
          </a:prstGeom>
          <a:noFill/>
          <a:ln/>
        </p:spPr>
        <p:txBody>
          <a:bodyPr wrap="square" lIns="0" tIns="0" rIns="0" bIns="0" rtlCol="0" anchor="ctr"/>
          <a:lstStyle/>
          <a:p>
            <a:pPr indent="0" marL="0">
              <a:buNone/>
            </a:pPr>
            <a:r>
              <a:rPr lang="en-US" sz="900" i="1" dirty="0">
                <a:solidFill>
                  <a:srgbClr val="B6BBC0"/>
                </a:solidFill>
                <a:latin typeface="Calibri" pitchFamily="34" charset="0"/>
                <a:ea typeface="Calibri" pitchFamily="34" charset="-122"/>
                <a:cs typeface="Calibri" pitchFamily="34" charset="-120"/>
              </a:rPr>
              <a:t>940 banks  ·  720 credit unions</a:t>
            </a:r>
            <a:endParaRPr lang="en-US" sz="900" dirty="0"/>
          </a:p>
        </p:txBody>
      </p:sp>
      <p:sp>
        <p:nvSpPr>
          <p:cNvPr id="12" name="Shape 10"/>
          <p:cNvSpPr/>
          <p:nvPr/>
        </p:nvSpPr>
        <p:spPr>
          <a:xfrm>
            <a:off x="420624" y="2798064"/>
            <a:ext cx="2542032" cy="18288"/>
          </a:xfrm>
          <a:prstGeom prst="rect">
            <a:avLst/>
          </a:prstGeom>
          <a:solidFill>
            <a:srgbClr val="E7ECF0"/>
          </a:solidFill>
          <a:ln w="12700">
            <a:solidFill>
              <a:srgbClr val="E7ECF0"/>
            </a:solidFill>
            <a:prstDash val="solid"/>
          </a:ln>
        </p:spPr>
      </p:sp>
      <p:sp>
        <p:nvSpPr>
          <p:cNvPr id="13" name="Text 11"/>
          <p:cNvSpPr/>
          <p:nvPr/>
        </p:nvSpPr>
        <p:spPr>
          <a:xfrm>
            <a:off x="420624" y="2871216"/>
            <a:ext cx="2542032" cy="1463040"/>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Full data access: core transactions, deposits, lending, digital. Highest AI value — all 5 Phase 1 apps apply. JH has 25% of target bank market and ~17% of US CU market on core.</a:t>
            </a:r>
            <a:endParaRPr lang="en-US" sz="950" dirty="0"/>
          </a:p>
        </p:txBody>
      </p:sp>
      <p:sp>
        <p:nvSpPr>
          <p:cNvPr id="14" name="Shape 12"/>
          <p:cNvSpPr/>
          <p:nvPr/>
        </p:nvSpPr>
        <p:spPr>
          <a:xfrm>
            <a:off x="3218688" y="1188720"/>
            <a:ext cx="2834640" cy="33101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3218688" y="1188720"/>
            <a:ext cx="2834640" cy="54864"/>
          </a:xfrm>
          <a:prstGeom prst="rect">
            <a:avLst/>
          </a:prstGeom>
          <a:solidFill>
            <a:srgbClr val="073FA8"/>
          </a:solidFill>
          <a:ln w="12700">
            <a:solidFill>
              <a:srgbClr val="073FA8"/>
            </a:solidFill>
            <a:prstDash val="solid"/>
          </a:ln>
        </p:spPr>
      </p:sp>
      <p:sp>
        <p:nvSpPr>
          <p:cNvPr id="16" name="Shape 14"/>
          <p:cNvSpPr/>
          <p:nvPr/>
        </p:nvSpPr>
        <p:spPr>
          <a:xfrm>
            <a:off x="3364992" y="1298448"/>
            <a:ext cx="1005840" cy="201168"/>
          </a:xfrm>
          <a:prstGeom prst="rect">
            <a:avLst/>
          </a:prstGeom>
          <a:solidFill>
            <a:srgbClr val="073FA8"/>
          </a:solidFill>
          <a:ln w="12700">
            <a:solidFill>
              <a:srgbClr val="073FA8"/>
            </a:solidFill>
            <a:prstDash val="solid"/>
          </a:ln>
        </p:spPr>
      </p:sp>
      <p:sp>
        <p:nvSpPr>
          <p:cNvPr id="17" name="Text 15"/>
          <p:cNvSpPr/>
          <p:nvPr/>
        </p:nvSpPr>
        <p:spPr>
          <a:xfrm>
            <a:off x="3364992" y="1298448"/>
            <a:ext cx="10058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SECONDARY</a:t>
            </a:r>
            <a:endParaRPr lang="en-US" sz="750" dirty="0"/>
          </a:p>
        </p:txBody>
      </p:sp>
      <p:sp>
        <p:nvSpPr>
          <p:cNvPr id="18" name="Text 16"/>
          <p:cNvSpPr/>
          <p:nvPr/>
        </p:nvSpPr>
        <p:spPr>
          <a:xfrm>
            <a:off x="3364992" y="1554480"/>
            <a:ext cx="2542032" cy="256032"/>
          </a:xfrm>
          <a:prstGeom prst="rect">
            <a:avLst/>
          </a:prstGeom>
          <a:noFill/>
          <a:ln/>
        </p:spPr>
        <p:txBody>
          <a:bodyPr wrap="square" lIns="0" tIns="0" rIns="0" bIns="0" rtlCol="0" anchor="ctr"/>
          <a:lstStyle/>
          <a:p>
            <a:pPr indent="0" marL="0">
              <a:buNone/>
            </a:pPr>
            <a:r>
              <a:rPr lang="en-US" sz="1200" b="1" dirty="0">
                <a:solidFill>
                  <a:srgbClr val="06185F"/>
                </a:solidFill>
                <a:latin typeface="Calibri" pitchFamily="34" charset="0"/>
                <a:ea typeface="Calibri" pitchFamily="34" charset="-122"/>
                <a:cs typeface="Calibri" pitchFamily="34" charset="-120"/>
              </a:rPr>
              <a:t>Payment / Complementary FIs</a:t>
            </a:r>
            <a:endParaRPr lang="en-US" sz="1200" dirty="0"/>
          </a:p>
        </p:txBody>
      </p:sp>
      <p:sp>
        <p:nvSpPr>
          <p:cNvPr id="19" name="Text 17"/>
          <p:cNvSpPr/>
          <p:nvPr/>
        </p:nvSpPr>
        <p:spPr>
          <a:xfrm>
            <a:off x="3364992" y="1828800"/>
            <a:ext cx="2542032" cy="694944"/>
          </a:xfrm>
          <a:prstGeom prst="rect">
            <a:avLst/>
          </a:prstGeom>
          <a:noFill/>
          <a:ln/>
        </p:spPr>
        <p:txBody>
          <a:bodyPr wrap="square" lIns="0" tIns="0" rIns="0" bIns="0" rtlCol="0" anchor="ctr"/>
          <a:lstStyle/>
          <a:p>
            <a:pPr indent="0" marL="0">
              <a:buNone/>
            </a:pPr>
            <a:r>
              <a:rPr lang="en-US" sz="4600" b="1" dirty="0">
                <a:solidFill>
                  <a:srgbClr val="073FA8"/>
                </a:solidFill>
                <a:latin typeface="Calibri" pitchFamily="34" charset="0"/>
                <a:ea typeface="Calibri" pitchFamily="34" charset="-122"/>
                <a:cs typeface="Calibri" pitchFamily="34" charset="-120"/>
              </a:rPr>
              <a:t>5,870</a:t>
            </a:r>
            <a:endParaRPr lang="en-US" sz="4600" dirty="0"/>
          </a:p>
        </p:txBody>
      </p:sp>
      <p:sp>
        <p:nvSpPr>
          <p:cNvPr id="20" name="Text 18"/>
          <p:cNvSpPr/>
          <p:nvPr/>
        </p:nvSpPr>
        <p:spPr>
          <a:xfrm>
            <a:off x="3364992" y="2523744"/>
            <a:ext cx="2542032" cy="219456"/>
          </a:xfrm>
          <a:prstGeom prst="rect">
            <a:avLst/>
          </a:prstGeom>
          <a:noFill/>
          <a:ln/>
        </p:spPr>
        <p:txBody>
          <a:bodyPr wrap="square" lIns="0" tIns="0" rIns="0" bIns="0" rtlCol="0" anchor="ctr"/>
          <a:lstStyle/>
          <a:p>
            <a:pPr indent="0" marL="0">
              <a:buNone/>
            </a:pPr>
            <a:r>
              <a:rPr lang="en-US" sz="900" i="1" dirty="0">
                <a:solidFill>
                  <a:srgbClr val="B6BBC0"/>
                </a:solidFill>
                <a:latin typeface="Calibri" pitchFamily="34" charset="0"/>
                <a:ea typeface="Calibri" pitchFamily="34" charset="-122"/>
                <a:cs typeface="Calibri" pitchFamily="34" charset="-120"/>
              </a:rPr>
              <a:t>Payments, digital, card, bill pay</a:t>
            </a:r>
            <a:endParaRPr lang="en-US" sz="900" dirty="0"/>
          </a:p>
        </p:txBody>
      </p:sp>
      <p:sp>
        <p:nvSpPr>
          <p:cNvPr id="21" name="Shape 19"/>
          <p:cNvSpPr/>
          <p:nvPr/>
        </p:nvSpPr>
        <p:spPr>
          <a:xfrm>
            <a:off x="3364992" y="2798064"/>
            <a:ext cx="2542032" cy="18288"/>
          </a:xfrm>
          <a:prstGeom prst="rect">
            <a:avLst/>
          </a:prstGeom>
          <a:solidFill>
            <a:srgbClr val="E7ECF0"/>
          </a:solidFill>
          <a:ln w="12700">
            <a:solidFill>
              <a:srgbClr val="E7ECF0"/>
            </a:solidFill>
            <a:prstDash val="solid"/>
          </a:ln>
        </p:spPr>
      </p:sp>
      <p:sp>
        <p:nvSpPr>
          <p:cNvPr id="22" name="Text 20"/>
          <p:cNvSpPr/>
          <p:nvPr/>
        </p:nvSpPr>
        <p:spPr>
          <a:xfrm>
            <a:off x="3364992" y="2871216"/>
            <a:ext cx="2542032" cy="1463040"/>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Payment data only — no core relationship. Zelle Memo Intelligence and Anomaly Detection apply directly. Broader sales motion; lighter data integration per FI.</a:t>
            </a:r>
            <a:endParaRPr lang="en-US" sz="950" dirty="0"/>
          </a:p>
        </p:txBody>
      </p:sp>
      <p:sp>
        <p:nvSpPr>
          <p:cNvPr id="23" name="Shape 21"/>
          <p:cNvSpPr/>
          <p:nvPr/>
        </p:nvSpPr>
        <p:spPr>
          <a:xfrm>
            <a:off x="6163056" y="1188720"/>
            <a:ext cx="2834640" cy="33101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6163056" y="1188720"/>
            <a:ext cx="2834640" cy="54864"/>
          </a:xfrm>
          <a:prstGeom prst="rect">
            <a:avLst/>
          </a:prstGeom>
          <a:solidFill>
            <a:srgbClr val="575A5D"/>
          </a:solidFill>
          <a:ln w="12700">
            <a:solidFill>
              <a:srgbClr val="575A5D"/>
            </a:solidFill>
            <a:prstDash val="solid"/>
          </a:ln>
        </p:spPr>
      </p:sp>
      <p:sp>
        <p:nvSpPr>
          <p:cNvPr id="25" name="Shape 23"/>
          <p:cNvSpPr/>
          <p:nvPr/>
        </p:nvSpPr>
        <p:spPr>
          <a:xfrm>
            <a:off x="6309360" y="1298448"/>
            <a:ext cx="1005840" cy="201168"/>
          </a:xfrm>
          <a:prstGeom prst="rect">
            <a:avLst/>
          </a:prstGeom>
          <a:solidFill>
            <a:srgbClr val="575A5D"/>
          </a:solidFill>
          <a:ln w="12700">
            <a:solidFill>
              <a:srgbClr val="575A5D"/>
            </a:solidFill>
            <a:prstDash val="solid"/>
          </a:ln>
        </p:spPr>
      </p:sp>
      <p:sp>
        <p:nvSpPr>
          <p:cNvPr id="26" name="Text 24"/>
          <p:cNvSpPr/>
          <p:nvPr/>
        </p:nvSpPr>
        <p:spPr>
          <a:xfrm>
            <a:off x="6309360" y="1298448"/>
            <a:ext cx="1005840"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CALLRPT AI</a:t>
            </a:r>
            <a:endParaRPr lang="en-US" sz="750" dirty="0"/>
          </a:p>
        </p:txBody>
      </p:sp>
      <p:sp>
        <p:nvSpPr>
          <p:cNvPr id="27" name="Text 25"/>
          <p:cNvSpPr/>
          <p:nvPr/>
        </p:nvSpPr>
        <p:spPr>
          <a:xfrm>
            <a:off x="6309360" y="1554480"/>
            <a:ext cx="2542032" cy="256032"/>
          </a:xfrm>
          <a:prstGeom prst="rect">
            <a:avLst/>
          </a:prstGeom>
          <a:noFill/>
          <a:ln/>
        </p:spPr>
        <p:txBody>
          <a:bodyPr wrap="square" lIns="0" tIns="0" rIns="0" bIns="0" rtlCol="0" anchor="ctr"/>
          <a:lstStyle/>
          <a:p>
            <a:pPr indent="0" marL="0">
              <a:buNone/>
            </a:pPr>
            <a:r>
              <a:rPr lang="en-US" sz="1200" b="1" dirty="0">
                <a:solidFill>
                  <a:srgbClr val="06185F"/>
                </a:solidFill>
                <a:latin typeface="Calibri" pitchFamily="34" charset="0"/>
                <a:ea typeface="Calibri" pitchFamily="34" charset="-122"/>
                <a:cs typeface="Calibri" pitchFamily="34" charset="-120"/>
              </a:rPr>
              <a:t>All U.S. Credit Unions</a:t>
            </a:r>
            <a:endParaRPr lang="en-US" sz="1200" dirty="0"/>
          </a:p>
        </p:txBody>
      </p:sp>
      <p:sp>
        <p:nvSpPr>
          <p:cNvPr id="28" name="Text 26"/>
          <p:cNvSpPr/>
          <p:nvPr/>
        </p:nvSpPr>
        <p:spPr>
          <a:xfrm>
            <a:off x="6309360" y="1828800"/>
            <a:ext cx="2542032" cy="694944"/>
          </a:xfrm>
          <a:prstGeom prst="rect">
            <a:avLst/>
          </a:prstGeom>
          <a:noFill/>
          <a:ln/>
        </p:spPr>
        <p:txBody>
          <a:bodyPr wrap="square" lIns="0" tIns="0" rIns="0" bIns="0" rtlCol="0" anchor="ctr"/>
          <a:lstStyle/>
          <a:p>
            <a:pPr indent="0" marL="0">
              <a:buNone/>
            </a:pPr>
            <a:r>
              <a:rPr lang="en-US" sz="4600" b="1" dirty="0">
                <a:solidFill>
                  <a:srgbClr val="575A5D"/>
                </a:solidFill>
                <a:latin typeface="Calibri" pitchFamily="34" charset="0"/>
                <a:ea typeface="Calibri" pitchFamily="34" charset="-122"/>
                <a:cs typeface="Calibri" pitchFamily="34" charset="-120"/>
              </a:rPr>
              <a:t>4,374</a:t>
            </a:r>
            <a:endParaRPr lang="en-US" sz="4600" dirty="0"/>
          </a:p>
        </p:txBody>
      </p:sp>
      <p:sp>
        <p:nvSpPr>
          <p:cNvPr id="29" name="Text 27"/>
          <p:cNvSpPr/>
          <p:nvPr/>
        </p:nvSpPr>
        <p:spPr>
          <a:xfrm>
            <a:off x="6309360" y="2523744"/>
            <a:ext cx="2542032" cy="219456"/>
          </a:xfrm>
          <a:prstGeom prst="rect">
            <a:avLst/>
          </a:prstGeom>
          <a:noFill/>
          <a:ln/>
        </p:spPr>
        <p:txBody>
          <a:bodyPr wrap="square" lIns="0" tIns="0" rIns="0" bIns="0" rtlCol="0" anchor="ctr"/>
          <a:lstStyle/>
          <a:p>
            <a:pPr indent="0" marL="0">
              <a:buNone/>
            </a:pPr>
            <a:r>
              <a:rPr lang="en-US" sz="900" i="1" dirty="0">
                <a:solidFill>
                  <a:srgbClr val="B6BBC0"/>
                </a:solidFill>
                <a:latin typeface="Calibri" pitchFamily="34" charset="0"/>
                <a:ea typeface="Calibri" pitchFamily="34" charset="-122"/>
                <a:cs typeface="Calibri" pitchFamily="34" charset="-120"/>
              </a:rPr>
              <a:t>NCUA 5300 — public regulatory data</a:t>
            </a:r>
            <a:endParaRPr lang="en-US" sz="900" dirty="0"/>
          </a:p>
        </p:txBody>
      </p:sp>
      <p:sp>
        <p:nvSpPr>
          <p:cNvPr id="30" name="Shape 28"/>
          <p:cNvSpPr/>
          <p:nvPr/>
        </p:nvSpPr>
        <p:spPr>
          <a:xfrm>
            <a:off x="6309360" y="2798064"/>
            <a:ext cx="2542032" cy="18288"/>
          </a:xfrm>
          <a:prstGeom prst="rect">
            <a:avLst/>
          </a:prstGeom>
          <a:solidFill>
            <a:srgbClr val="E7ECF0"/>
          </a:solidFill>
          <a:ln w="12700">
            <a:solidFill>
              <a:srgbClr val="E7ECF0"/>
            </a:solidFill>
            <a:prstDash val="solid"/>
          </a:ln>
        </p:spPr>
      </p:sp>
      <p:sp>
        <p:nvSpPr>
          <p:cNvPr id="31" name="Text 29"/>
          <p:cNvSpPr/>
          <p:nvPr/>
        </p:nvSpPr>
        <p:spPr>
          <a:xfrm>
            <a:off x="6309360" y="2871216"/>
            <a:ext cx="2542032" cy="1463040"/>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Call Report AI has no JH relationship requirement. Any of the 4,374 US credit unions with $2.5T in assets is addressable — JH relationship accelerates but doesn't gate distribution.</a:t>
            </a:r>
            <a:endParaRPr lang="en-US" sz="950" dirty="0"/>
          </a:p>
        </p:txBody>
      </p:sp>
      <p:sp>
        <p:nvSpPr>
          <p:cNvPr id="32" name="Shape 30"/>
          <p:cNvSpPr/>
          <p:nvPr/>
        </p:nvSpPr>
        <p:spPr>
          <a:xfrm>
            <a:off x="274320" y="4572000"/>
            <a:ext cx="8595360" cy="457200"/>
          </a:xfrm>
          <a:prstGeom prst="rect">
            <a:avLst/>
          </a:prstGeom>
          <a:solidFill>
            <a:srgbClr val="06185F"/>
          </a:solidFill>
          <a:ln w="12700">
            <a:solidFill>
              <a:srgbClr val="06185F"/>
            </a:solidFill>
            <a:prstDash val="solid"/>
          </a:ln>
        </p:spPr>
      </p:sp>
      <p:sp>
        <p:nvSpPr>
          <p:cNvPr id="33" name="Text 31"/>
          <p:cNvSpPr/>
          <p:nvPr/>
        </p:nvSpPr>
        <p:spPr>
          <a:xfrm>
            <a:off x="457200" y="4599432"/>
            <a:ext cx="8229600"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Phase 1 targets the 1,660 core FIs first — then expands payment apps to the 5,870 complementary clients and Call Report AI to all 4,374 U.S. CUs.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5303520" y="-1828800"/>
            <a:ext cx="6400800" cy="6400800"/>
          </a:xfrm>
          <a:prstGeom prst="ellipse">
            <a:avLst/>
          </a:prstGeom>
          <a:solidFill>
            <a:srgbClr val="085CE5">
              <a:alpha val="10000"/>
            </a:srgbClr>
          </a:solidFill>
          <a:ln w="12700">
            <a:solidFill>
              <a:srgbClr val="085CE5">
                <a:alpha val="18000"/>
              </a:srgbClr>
            </a:solidFill>
            <a:prstDash val="solid"/>
          </a:ln>
        </p:spPr>
      </p:sp>
      <p:sp>
        <p:nvSpPr>
          <p:cNvPr id="3" name="Shape 1"/>
          <p:cNvSpPr/>
          <p:nvPr/>
        </p:nvSpPr>
        <p:spPr>
          <a:xfrm>
            <a:off x="6583680" y="914400"/>
            <a:ext cx="3200400" cy="3200400"/>
          </a:xfrm>
          <a:prstGeom prst="ellipse">
            <a:avLst/>
          </a:prstGeom>
          <a:solidFill>
            <a:srgbClr val="76DCFD">
              <a:alpha val="12000"/>
            </a:srgbClr>
          </a:solidFill>
          <a:ln w="12700">
            <a:solidFill>
              <a:srgbClr val="76DCFD">
                <a:alpha val="20000"/>
              </a:srgbClr>
            </a:solidFill>
            <a:prstDash val="solid"/>
          </a:ln>
        </p:spPr>
      </p:sp>
      <p:sp>
        <p:nvSpPr>
          <p:cNvPr id="4" name="Shape 2"/>
          <p:cNvSpPr/>
          <p:nvPr/>
        </p:nvSpPr>
        <p:spPr>
          <a:xfrm>
            <a:off x="0" y="0"/>
            <a:ext cx="137160" cy="5143500"/>
          </a:xfrm>
          <a:prstGeom prst="rect">
            <a:avLst/>
          </a:prstGeom>
          <a:solidFill>
            <a:srgbClr val="085CE5"/>
          </a:solidFill>
          <a:ln w="12700">
            <a:solidFill>
              <a:srgbClr val="085CE5"/>
            </a:solidFill>
            <a:prstDash val="solid"/>
          </a:ln>
        </p:spPr>
      </p:sp>
      <p:sp>
        <p:nvSpPr>
          <p:cNvPr id="5" name="Text 3"/>
          <p:cNvSpPr/>
          <p:nvPr/>
        </p:nvSpPr>
        <p:spPr>
          <a:xfrm>
            <a:off x="365760" y="457200"/>
            <a:ext cx="5486400" cy="347472"/>
          </a:xfrm>
          <a:prstGeom prst="rect">
            <a:avLst/>
          </a:prstGeom>
          <a:noFill/>
          <a:ln/>
        </p:spPr>
        <p:txBody>
          <a:bodyPr wrap="square" lIns="0" tIns="0" rIns="0" bIns="0" rtlCol="0" anchor="ctr"/>
          <a:lstStyle/>
          <a:p>
            <a:pPr indent="0" marL="0">
              <a:buNone/>
            </a:pPr>
            <a:r>
              <a:rPr lang="en-US" sz="1100" b="1" spc="400" kern="0" dirty="0">
                <a:solidFill>
                  <a:srgbClr val="76DCFD"/>
                </a:solidFill>
                <a:latin typeface="Calibri" pitchFamily="34" charset="0"/>
                <a:ea typeface="Calibri" pitchFamily="34" charset="-122"/>
                <a:cs typeface="Calibri" pitchFamily="34" charset="-120"/>
              </a:rPr>
              <a:t>OUR VISION</a:t>
            </a:r>
            <a:endParaRPr lang="en-US" sz="1100" dirty="0"/>
          </a:p>
        </p:txBody>
      </p:sp>
      <p:sp>
        <p:nvSpPr>
          <p:cNvPr id="6" name="Text 4"/>
          <p:cNvSpPr/>
          <p:nvPr/>
        </p:nvSpPr>
        <p:spPr>
          <a:xfrm>
            <a:off x="365760" y="868680"/>
            <a:ext cx="6400800" cy="16916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Make Jack Henry the AI-First</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Platform Partner for Every</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Community FI in America</a:t>
            </a:r>
            <a:endParaRPr lang="en-US" sz="3400" dirty="0"/>
          </a:p>
        </p:txBody>
      </p:sp>
      <p:sp>
        <p:nvSpPr>
          <p:cNvPr id="7" name="Text 5"/>
          <p:cNvSpPr/>
          <p:nvPr/>
        </p:nvSpPr>
        <p:spPr>
          <a:xfrm>
            <a:off x="365760" y="2651760"/>
            <a:ext cx="5852160" cy="960120"/>
          </a:xfrm>
          <a:prstGeom prst="rect">
            <a:avLst/>
          </a:prstGeom>
          <a:noFill/>
          <a:ln/>
        </p:spPr>
        <p:txBody>
          <a:bodyPr wrap="square" lIns="0" tIns="0" rIns="0" bIns="0" rtlCol="0" anchor="ctr"/>
          <a:lstStyle/>
          <a:p>
            <a:pPr indent="0" marL="0">
              <a:buNone/>
            </a:pPr>
            <a:r>
              <a:rPr lang="en-US" sz="1300" dirty="0">
                <a:solidFill>
                  <a:srgbClr val="E7ECF0"/>
                </a:solidFill>
                <a:latin typeface="Calibri" pitchFamily="34" charset="0"/>
                <a:ea typeface="Calibri" pitchFamily="34" charset="-122"/>
                <a:cs typeface="Calibri" pitchFamily="34" charset="-120"/>
              </a:rPr>
              <a:t>By embedding AI-powered analytics and decision intelligence directly into the JH platform ecosystem, we deepen client stickiness, create new revenue streams, and establish an insurmountable competitive moat versus FIS, Fiserv, and niche challengers.</a:t>
            </a:r>
            <a:endParaRPr lang="en-US" sz="1300" dirty="0"/>
          </a:p>
        </p:txBody>
      </p:sp>
      <p:sp>
        <p:nvSpPr>
          <p:cNvPr id="8" name="Text 6"/>
          <p:cNvSpPr/>
          <p:nvPr/>
        </p:nvSpPr>
        <p:spPr>
          <a:xfrm>
            <a:off x="365760" y="3730752"/>
            <a:ext cx="5486400" cy="256032"/>
          </a:xfrm>
          <a:prstGeom prst="rect">
            <a:avLst/>
          </a:prstGeom>
          <a:noFill/>
          <a:ln/>
        </p:spPr>
        <p:txBody>
          <a:bodyPr wrap="square" lIns="0" tIns="0" rIns="0" bIns="0" rtlCol="0" anchor="ctr"/>
          <a:lstStyle/>
          <a:p>
            <a:pPr indent="0" marL="0">
              <a:buNone/>
            </a:pPr>
            <a:r>
              <a:rPr lang="en-US" sz="900" b="1" spc="150" kern="0" dirty="0">
                <a:solidFill>
                  <a:srgbClr val="B6BBC0"/>
                </a:solidFill>
                <a:latin typeface="Calibri" pitchFamily="34" charset="0"/>
                <a:ea typeface="Calibri" pitchFamily="34" charset="-122"/>
                <a:cs typeface="Calibri" pitchFamily="34" charset="-120"/>
              </a:rPr>
              <a:t>FOUR INVESTMENT PILLARS</a:t>
            </a:r>
            <a:endParaRPr lang="en-US" sz="900" dirty="0"/>
          </a:p>
        </p:txBody>
      </p:sp>
      <p:sp>
        <p:nvSpPr>
          <p:cNvPr id="9" name="Shape 7"/>
          <p:cNvSpPr/>
          <p:nvPr/>
        </p:nvSpPr>
        <p:spPr>
          <a:xfrm>
            <a:off x="365760" y="4041648"/>
            <a:ext cx="1993392" cy="457200"/>
          </a:xfrm>
          <a:prstGeom prst="rect">
            <a:avLst/>
          </a:prstGeom>
          <a:solidFill>
            <a:srgbClr val="085CE5">
              <a:alpha val="35000"/>
            </a:srgbClr>
          </a:solidFill>
          <a:ln w="12700">
            <a:solidFill>
              <a:srgbClr val="085CE5"/>
            </a:solidFill>
            <a:prstDash val="solid"/>
          </a:ln>
        </p:spPr>
      </p:sp>
      <p:sp>
        <p:nvSpPr>
          <p:cNvPr id="10" name="Text 8"/>
          <p:cNvSpPr/>
          <p:nvPr/>
        </p:nvSpPr>
        <p:spPr>
          <a:xfrm>
            <a:off x="411480" y="4041648"/>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Data Acquisition</a:t>
            </a:r>
            <a:endParaRPr lang="en-US" sz="1150" dirty="0"/>
          </a:p>
        </p:txBody>
      </p:sp>
      <p:sp>
        <p:nvSpPr>
          <p:cNvPr id="11" name="Shape 9"/>
          <p:cNvSpPr/>
          <p:nvPr/>
        </p:nvSpPr>
        <p:spPr>
          <a:xfrm>
            <a:off x="2487168" y="4041648"/>
            <a:ext cx="1993392" cy="457200"/>
          </a:xfrm>
          <a:prstGeom prst="rect">
            <a:avLst/>
          </a:prstGeom>
          <a:solidFill>
            <a:srgbClr val="0D2E7A">
              <a:alpha val="35000"/>
            </a:srgbClr>
          </a:solidFill>
          <a:ln w="12700">
            <a:solidFill>
              <a:srgbClr val="0D2E7A"/>
            </a:solidFill>
            <a:prstDash val="solid"/>
          </a:ln>
        </p:spPr>
      </p:sp>
      <p:sp>
        <p:nvSpPr>
          <p:cNvPr id="12" name="Text 10"/>
          <p:cNvSpPr/>
          <p:nvPr/>
        </p:nvSpPr>
        <p:spPr>
          <a:xfrm>
            <a:off x="2532888" y="4041648"/>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DS Buildout</a:t>
            </a:r>
            <a:endParaRPr lang="en-US" sz="1150" dirty="0"/>
          </a:p>
        </p:txBody>
      </p:sp>
      <p:sp>
        <p:nvSpPr>
          <p:cNvPr id="13" name="Shape 11"/>
          <p:cNvSpPr/>
          <p:nvPr/>
        </p:nvSpPr>
        <p:spPr>
          <a:xfrm>
            <a:off x="4608576" y="4041648"/>
            <a:ext cx="1993392" cy="457200"/>
          </a:xfrm>
          <a:prstGeom prst="rect">
            <a:avLst/>
          </a:prstGeom>
          <a:solidFill>
            <a:srgbClr val="073FA8">
              <a:alpha val="35000"/>
            </a:srgbClr>
          </a:solidFill>
          <a:ln w="12700">
            <a:solidFill>
              <a:srgbClr val="073FA8"/>
            </a:solidFill>
            <a:prstDash val="solid"/>
          </a:ln>
        </p:spPr>
      </p:sp>
      <p:sp>
        <p:nvSpPr>
          <p:cNvPr id="14" name="Text 12"/>
          <p:cNvSpPr/>
          <p:nvPr/>
        </p:nvSpPr>
        <p:spPr>
          <a:xfrm>
            <a:off x="4654296" y="4041648"/>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Visualizations</a:t>
            </a:r>
            <a:endParaRPr lang="en-US" sz="1150" dirty="0"/>
          </a:p>
        </p:txBody>
      </p:sp>
      <p:sp>
        <p:nvSpPr>
          <p:cNvPr id="15" name="Shape 13"/>
          <p:cNvSpPr/>
          <p:nvPr/>
        </p:nvSpPr>
        <p:spPr>
          <a:xfrm>
            <a:off x="6729984" y="4041648"/>
            <a:ext cx="1993392" cy="457200"/>
          </a:xfrm>
          <a:prstGeom prst="rect">
            <a:avLst/>
          </a:prstGeom>
          <a:solidFill>
            <a:srgbClr val="575A5D">
              <a:alpha val="35000"/>
            </a:srgbClr>
          </a:solidFill>
          <a:ln w="12700">
            <a:solidFill>
              <a:srgbClr val="575A5D"/>
            </a:solidFill>
            <a:prstDash val="solid"/>
          </a:ln>
        </p:spPr>
      </p:sp>
      <p:sp>
        <p:nvSpPr>
          <p:cNvPr id="16" name="Text 14"/>
          <p:cNvSpPr/>
          <p:nvPr/>
        </p:nvSpPr>
        <p:spPr>
          <a:xfrm>
            <a:off x="6775704" y="4041648"/>
            <a:ext cx="1901952"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App / API Dev</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JH Platform AI Application Suite — Six Strategic Products</a:t>
            </a:r>
            <a:endParaRPr lang="en-US" sz="2200" dirty="0"/>
          </a:p>
        </p:txBody>
      </p:sp>
      <p:sp>
        <p:nvSpPr>
          <p:cNvPr id="4" name="Shape 2"/>
          <p:cNvSpPr/>
          <p:nvPr/>
        </p:nvSpPr>
        <p:spPr>
          <a:xfrm>
            <a:off x="320040" y="777240"/>
            <a:ext cx="2706624" cy="19659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320040" y="777240"/>
            <a:ext cx="2706624" cy="658368"/>
          </a:xfrm>
          <a:prstGeom prst="rect">
            <a:avLst/>
          </a:prstGeom>
          <a:solidFill>
            <a:srgbClr val="085CE5"/>
          </a:solidFill>
          <a:ln w="12700">
            <a:solidFill>
              <a:srgbClr val="085CE5"/>
            </a:solidFill>
            <a:prstDash val="solid"/>
          </a:ln>
        </p:spPr>
      </p:sp>
      <p:pic>
        <p:nvPicPr>
          <p:cNvPr id="6" name="Image 0" descr="preencoded.png">    </p:cNvPr>
          <p:cNvPicPr>
            <a:picLocks noChangeAspect="1"/>
          </p:cNvPicPr>
          <p:nvPr/>
        </p:nvPicPr>
        <p:blipFill>
          <a:blip r:embed="rId1"/>
          <a:stretch>
            <a:fillRect/>
          </a:stretch>
        </p:blipFill>
        <p:spPr>
          <a:xfrm>
            <a:off x="457200" y="905256"/>
            <a:ext cx="384048" cy="384048"/>
          </a:xfrm>
          <a:prstGeom prst="rect">
            <a:avLst/>
          </a:prstGeom>
        </p:spPr>
      </p:pic>
      <p:sp>
        <p:nvSpPr>
          <p:cNvPr id="7" name="Text 4"/>
          <p:cNvSpPr/>
          <p:nvPr/>
        </p:nvSpPr>
        <p:spPr>
          <a:xfrm>
            <a:off x="914400" y="850392"/>
            <a:ext cx="2020824"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Attrition /</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Churn Mediation</a:t>
            </a:r>
            <a:endParaRPr lang="en-US" sz="1150" dirty="0"/>
          </a:p>
        </p:txBody>
      </p:sp>
      <p:sp>
        <p:nvSpPr>
          <p:cNvPr id="8" name="Text 5"/>
          <p:cNvSpPr/>
          <p:nvPr/>
        </p:nvSpPr>
        <p:spPr>
          <a:xfrm>
            <a:off x="429768" y="1508760"/>
            <a:ext cx="2487168" cy="1097280"/>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ML scoring to identify at-risk FI customers weekly and power proactive retention workflows before churn occurs.</a:t>
            </a:r>
            <a:endParaRPr lang="en-US" sz="1050" dirty="0"/>
          </a:p>
        </p:txBody>
      </p:sp>
      <p:sp>
        <p:nvSpPr>
          <p:cNvPr id="9" name="Shape 6"/>
          <p:cNvSpPr/>
          <p:nvPr/>
        </p:nvSpPr>
        <p:spPr>
          <a:xfrm>
            <a:off x="3172968" y="777240"/>
            <a:ext cx="2706624" cy="19659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0" name="Shape 7"/>
          <p:cNvSpPr/>
          <p:nvPr/>
        </p:nvSpPr>
        <p:spPr>
          <a:xfrm>
            <a:off x="3172968" y="777240"/>
            <a:ext cx="2706624" cy="658368"/>
          </a:xfrm>
          <a:prstGeom prst="rect">
            <a:avLst/>
          </a:prstGeom>
          <a:solidFill>
            <a:srgbClr val="06185F"/>
          </a:solidFill>
          <a:ln w="12700">
            <a:solidFill>
              <a:srgbClr val="06185F"/>
            </a:solidFill>
            <a:prstDash val="solid"/>
          </a:ln>
        </p:spPr>
      </p:sp>
      <p:pic>
        <p:nvPicPr>
          <p:cNvPr id="11" name="Image 1" descr="preencoded.png">    </p:cNvPr>
          <p:cNvPicPr>
            <a:picLocks noChangeAspect="1"/>
          </p:cNvPicPr>
          <p:nvPr/>
        </p:nvPicPr>
        <p:blipFill>
          <a:blip r:embed="rId2"/>
          <a:stretch>
            <a:fillRect/>
          </a:stretch>
        </p:blipFill>
        <p:spPr>
          <a:xfrm>
            <a:off x="3310128" y="905256"/>
            <a:ext cx="384048" cy="384048"/>
          </a:xfrm>
          <a:prstGeom prst="rect">
            <a:avLst/>
          </a:prstGeom>
        </p:spPr>
      </p:pic>
      <p:sp>
        <p:nvSpPr>
          <p:cNvPr id="12" name="Text 8"/>
          <p:cNvSpPr/>
          <p:nvPr/>
        </p:nvSpPr>
        <p:spPr>
          <a:xfrm>
            <a:off x="3767328" y="850392"/>
            <a:ext cx="2020824"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Zelle Memo</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Intelligence</a:t>
            </a:r>
            <a:endParaRPr lang="en-US" sz="1150" dirty="0"/>
          </a:p>
        </p:txBody>
      </p:sp>
      <p:sp>
        <p:nvSpPr>
          <p:cNvPr id="13" name="Text 9"/>
          <p:cNvSpPr/>
          <p:nvPr/>
        </p:nvSpPr>
        <p:spPr>
          <a:xfrm>
            <a:off x="3282696" y="1508760"/>
            <a:ext cx="2487168" cy="1097280"/>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NLP pipeline to classify Zelle memos for fraud patterns, elder abuse, and compliance flags — automatically.</a:t>
            </a:r>
            <a:endParaRPr lang="en-US" sz="1050" dirty="0"/>
          </a:p>
        </p:txBody>
      </p:sp>
      <p:sp>
        <p:nvSpPr>
          <p:cNvPr id="14" name="Shape 10"/>
          <p:cNvSpPr/>
          <p:nvPr/>
        </p:nvSpPr>
        <p:spPr>
          <a:xfrm>
            <a:off x="6025896" y="777240"/>
            <a:ext cx="2706624" cy="19659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5" name="Shape 11"/>
          <p:cNvSpPr/>
          <p:nvPr/>
        </p:nvSpPr>
        <p:spPr>
          <a:xfrm>
            <a:off x="6025896" y="777240"/>
            <a:ext cx="2706624" cy="658368"/>
          </a:xfrm>
          <a:prstGeom prst="rect">
            <a:avLst/>
          </a:prstGeom>
          <a:solidFill>
            <a:srgbClr val="073FA8"/>
          </a:solidFill>
          <a:ln w="12700">
            <a:solidFill>
              <a:srgbClr val="073FA8"/>
            </a:solidFill>
            <a:prstDash val="solid"/>
          </a:ln>
        </p:spPr>
      </p:sp>
      <p:pic>
        <p:nvPicPr>
          <p:cNvPr id="16" name="Image 2" descr="preencoded.png">    </p:cNvPr>
          <p:cNvPicPr>
            <a:picLocks noChangeAspect="1"/>
          </p:cNvPicPr>
          <p:nvPr/>
        </p:nvPicPr>
        <p:blipFill>
          <a:blip r:embed="rId3"/>
          <a:stretch>
            <a:fillRect/>
          </a:stretch>
        </p:blipFill>
        <p:spPr>
          <a:xfrm>
            <a:off x="6163056" y="905256"/>
            <a:ext cx="384048" cy="384048"/>
          </a:xfrm>
          <a:prstGeom prst="rect">
            <a:avLst/>
          </a:prstGeom>
        </p:spPr>
      </p:pic>
      <p:sp>
        <p:nvSpPr>
          <p:cNvPr id="17" name="Text 12"/>
          <p:cNvSpPr/>
          <p:nvPr/>
        </p:nvSpPr>
        <p:spPr>
          <a:xfrm>
            <a:off x="6620256" y="850392"/>
            <a:ext cx="2020824"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Anomaly</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Detection</a:t>
            </a:r>
            <a:endParaRPr lang="en-US" sz="1150" dirty="0"/>
          </a:p>
        </p:txBody>
      </p:sp>
      <p:sp>
        <p:nvSpPr>
          <p:cNvPr id="18" name="Text 13"/>
          <p:cNvSpPr/>
          <p:nvPr/>
        </p:nvSpPr>
        <p:spPr>
          <a:xfrm>
            <a:off x="6135624" y="1508760"/>
            <a:ext cx="2487168" cy="1097280"/>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Real-time ML detection of unusual account behavior and transaction patterns across JH-powered institutions.</a:t>
            </a:r>
            <a:endParaRPr lang="en-US" sz="1050" dirty="0"/>
          </a:p>
        </p:txBody>
      </p:sp>
      <p:sp>
        <p:nvSpPr>
          <p:cNvPr id="19" name="Shape 14"/>
          <p:cNvSpPr/>
          <p:nvPr/>
        </p:nvSpPr>
        <p:spPr>
          <a:xfrm>
            <a:off x="320040" y="2953512"/>
            <a:ext cx="2706624" cy="19659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0" name="Shape 15"/>
          <p:cNvSpPr/>
          <p:nvPr/>
        </p:nvSpPr>
        <p:spPr>
          <a:xfrm>
            <a:off x="320040" y="2953512"/>
            <a:ext cx="2706624" cy="658368"/>
          </a:xfrm>
          <a:prstGeom prst="rect">
            <a:avLst/>
          </a:prstGeom>
          <a:solidFill>
            <a:srgbClr val="575A5D"/>
          </a:solidFill>
          <a:ln w="12700">
            <a:solidFill>
              <a:srgbClr val="575A5D"/>
            </a:solidFill>
            <a:prstDash val="solid"/>
          </a:ln>
        </p:spPr>
      </p:sp>
      <p:pic>
        <p:nvPicPr>
          <p:cNvPr id="21" name="Image 3" descr="preencoded.png">    </p:cNvPr>
          <p:cNvPicPr>
            <a:picLocks noChangeAspect="1"/>
          </p:cNvPicPr>
          <p:nvPr/>
        </p:nvPicPr>
        <p:blipFill>
          <a:blip r:embed="rId4"/>
          <a:stretch>
            <a:fillRect/>
          </a:stretch>
        </p:blipFill>
        <p:spPr>
          <a:xfrm>
            <a:off x="457200" y="3081528"/>
            <a:ext cx="384048" cy="384048"/>
          </a:xfrm>
          <a:prstGeom prst="rect">
            <a:avLst/>
          </a:prstGeom>
        </p:spPr>
      </p:pic>
      <p:sp>
        <p:nvSpPr>
          <p:cNvPr id="22" name="Text 16"/>
          <p:cNvSpPr/>
          <p:nvPr/>
        </p:nvSpPr>
        <p:spPr>
          <a:xfrm>
            <a:off x="914400" y="3026664"/>
            <a:ext cx="2020824"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Call Report AI</a:t>
            </a:r>
            <a:endParaRPr lang="en-US" sz="1150" dirty="0"/>
          </a:p>
        </p:txBody>
      </p:sp>
      <p:sp>
        <p:nvSpPr>
          <p:cNvPr id="23" name="Text 17"/>
          <p:cNvSpPr/>
          <p:nvPr/>
        </p:nvSpPr>
        <p:spPr>
          <a:xfrm>
            <a:off x="429768" y="3685032"/>
            <a:ext cx="2487168" cy="1097280"/>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Claude-powered NCUA 5300 intelligence: market pulse, NL Q&amp;A, and peer benchmarking for CU executives. In development — Aug/Sept 2026 launch.</a:t>
            </a:r>
            <a:endParaRPr lang="en-US" sz="1050" dirty="0"/>
          </a:p>
        </p:txBody>
      </p:sp>
      <p:sp>
        <p:nvSpPr>
          <p:cNvPr id="24" name="Shape 18"/>
          <p:cNvSpPr/>
          <p:nvPr/>
        </p:nvSpPr>
        <p:spPr>
          <a:xfrm>
            <a:off x="3172968" y="2953512"/>
            <a:ext cx="2706624" cy="19659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5" name="Shape 19"/>
          <p:cNvSpPr/>
          <p:nvPr/>
        </p:nvSpPr>
        <p:spPr>
          <a:xfrm>
            <a:off x="3172968" y="2953512"/>
            <a:ext cx="2706624" cy="658368"/>
          </a:xfrm>
          <a:prstGeom prst="rect">
            <a:avLst/>
          </a:prstGeom>
          <a:solidFill>
            <a:srgbClr val="0B68D4"/>
          </a:solidFill>
          <a:ln w="12700">
            <a:solidFill>
              <a:srgbClr val="0B68D4"/>
            </a:solidFill>
            <a:prstDash val="solid"/>
          </a:ln>
        </p:spPr>
      </p:sp>
      <p:pic>
        <p:nvPicPr>
          <p:cNvPr id="26" name="Image 4" descr="preencoded.png">    </p:cNvPr>
          <p:cNvPicPr>
            <a:picLocks noChangeAspect="1"/>
          </p:cNvPicPr>
          <p:nvPr/>
        </p:nvPicPr>
        <p:blipFill>
          <a:blip r:embed="rId5"/>
          <a:stretch>
            <a:fillRect/>
          </a:stretch>
        </p:blipFill>
        <p:spPr>
          <a:xfrm>
            <a:off x="3310128" y="3081528"/>
            <a:ext cx="384048" cy="384048"/>
          </a:xfrm>
          <a:prstGeom prst="rect">
            <a:avLst/>
          </a:prstGeom>
        </p:spPr>
      </p:pic>
      <p:sp>
        <p:nvSpPr>
          <p:cNvPr id="27" name="Text 20"/>
          <p:cNvSpPr/>
          <p:nvPr/>
        </p:nvSpPr>
        <p:spPr>
          <a:xfrm>
            <a:off x="3767328" y="3026664"/>
            <a:ext cx="2020824"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Account Opening</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Lifetime Value</a:t>
            </a:r>
            <a:endParaRPr lang="en-US" sz="1150" dirty="0"/>
          </a:p>
        </p:txBody>
      </p:sp>
      <p:sp>
        <p:nvSpPr>
          <p:cNvPr id="28" name="Text 21"/>
          <p:cNvSpPr/>
          <p:nvPr/>
        </p:nvSpPr>
        <p:spPr>
          <a:xfrm>
            <a:off x="3282696" y="3685032"/>
            <a:ext cx="2487168" cy="1097280"/>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Score new accounts by predicted LTV at opening to optimize onboarding resources and cross-sell sequencing.</a:t>
            </a:r>
            <a:endParaRPr lang="en-US" sz="1050" dirty="0"/>
          </a:p>
        </p:txBody>
      </p:sp>
      <p:sp>
        <p:nvSpPr>
          <p:cNvPr id="29" name="Shape 22"/>
          <p:cNvSpPr/>
          <p:nvPr/>
        </p:nvSpPr>
        <p:spPr>
          <a:xfrm>
            <a:off x="6025896" y="2953512"/>
            <a:ext cx="2706624" cy="19659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30" name="Shape 23"/>
          <p:cNvSpPr/>
          <p:nvPr/>
        </p:nvSpPr>
        <p:spPr>
          <a:xfrm>
            <a:off x="6025896" y="2953512"/>
            <a:ext cx="2706624" cy="658368"/>
          </a:xfrm>
          <a:prstGeom prst="rect">
            <a:avLst/>
          </a:prstGeom>
          <a:solidFill>
            <a:srgbClr val="0D2E7A"/>
          </a:solidFill>
          <a:ln w="12700">
            <a:solidFill>
              <a:srgbClr val="0D2E7A"/>
            </a:solidFill>
            <a:prstDash val="solid"/>
          </a:ln>
        </p:spPr>
      </p:sp>
      <p:pic>
        <p:nvPicPr>
          <p:cNvPr id="31" name="Image 5" descr="preencoded.png">    </p:cNvPr>
          <p:cNvPicPr>
            <a:picLocks noChangeAspect="1"/>
          </p:cNvPicPr>
          <p:nvPr/>
        </p:nvPicPr>
        <p:blipFill>
          <a:blip r:embed="rId6"/>
          <a:stretch>
            <a:fillRect/>
          </a:stretch>
        </p:blipFill>
        <p:spPr>
          <a:xfrm>
            <a:off x="6163056" y="3081528"/>
            <a:ext cx="384048" cy="384048"/>
          </a:xfrm>
          <a:prstGeom prst="rect">
            <a:avLst/>
          </a:prstGeom>
        </p:spPr>
      </p:pic>
      <p:sp>
        <p:nvSpPr>
          <p:cNvPr id="32" name="Text 24"/>
          <p:cNvSpPr/>
          <p:nvPr/>
        </p:nvSpPr>
        <p:spPr>
          <a:xfrm>
            <a:off x="6620256" y="3026664"/>
            <a:ext cx="2020824"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 Decision</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Studio</a:t>
            </a:r>
            <a:endParaRPr lang="en-US" sz="1150" dirty="0"/>
          </a:p>
        </p:txBody>
      </p:sp>
      <p:sp>
        <p:nvSpPr>
          <p:cNvPr id="33" name="Text 25"/>
          <p:cNvSpPr/>
          <p:nvPr/>
        </p:nvSpPr>
        <p:spPr>
          <a:xfrm>
            <a:off x="6135624" y="3685032"/>
            <a:ext cx="2487168" cy="1097280"/>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No-code AutoML for FIs: upload data, train custom anomaly or supervised models, explain with SHAP, author rules, deploy as API, monitor drift.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85CE5"/>
          </a:solidFill>
          <a:ln w="12700">
            <a:solidFill>
              <a:srgbClr val="085CE5"/>
            </a:solidFill>
            <a:prstDash val="solid"/>
          </a:ln>
        </p:spPr>
      </p:sp>
      <p:pic>
        <p:nvPicPr>
          <p:cNvPr id="3" name="Image 0" descr="preencoded.png">    </p:cNvPr>
          <p:cNvPicPr>
            <a:picLocks noChangeAspect="1"/>
          </p:cNvPicPr>
          <p:nvPr/>
        </p:nvPicPr>
        <p:blipFill>
          <a:blip r:embed="rId1"/>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Attrition / Churn Mediation</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256032" y="822960"/>
            <a:ext cx="73152" cy="2761488"/>
          </a:xfrm>
          <a:prstGeom prst="rect">
            <a:avLst/>
          </a:prstGeom>
          <a:solidFill>
            <a:srgbClr val="085CE5"/>
          </a:solidFill>
          <a:ln w="12700">
            <a:solidFill>
              <a:srgbClr val="085CE5"/>
            </a:solidFill>
            <a:prstDash val="solid"/>
          </a:ln>
        </p:spPr>
      </p:sp>
      <p:sp>
        <p:nvSpPr>
          <p:cNvPr id="8" name="Text 5"/>
          <p:cNvSpPr/>
          <p:nvPr/>
        </p:nvSpPr>
        <p:spPr>
          <a:xfrm>
            <a:off x="438912" y="886968"/>
            <a:ext cx="3877056" cy="256032"/>
          </a:xfrm>
          <a:prstGeom prst="rect">
            <a:avLst/>
          </a:prstGeom>
          <a:noFill/>
          <a:ln/>
        </p:spPr>
        <p:txBody>
          <a:bodyPr wrap="square" lIns="0" tIns="0" rIns="0" bIns="0" rtlCol="0" anchor="ctr"/>
          <a:lstStyle/>
          <a:p>
            <a:pPr indent="0" marL="0">
              <a:buNone/>
            </a:pPr>
            <a:r>
              <a:rPr lang="en-US" sz="850" b="1" spc="200" kern="0" dirty="0">
                <a:solidFill>
                  <a:srgbClr val="085CE5"/>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Community banks and credit unions lose 8–12% of their customer/member base annually to attrition. Without predictive capability embedded in their platform, FI staff can only react after the account is already closing — when outreach success rates drop below 20%.</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early warning system for at-risk customers/members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Relationship managers lack behavioral risk scoring</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Reactive outreach is expensive with low conversion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High cost-to-retain vs. cost-to-acquire imbalance</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sp>
      <p:sp>
        <p:nvSpPr>
          <p:cNvPr id="14" name="Text 11"/>
          <p:cNvSpPr/>
          <p:nvPr/>
        </p:nvSpPr>
        <p:spPr>
          <a:xfrm>
            <a:off x="4882896" y="886968"/>
            <a:ext cx="3877056" cy="256032"/>
          </a:xfrm>
          <a:prstGeom prst="rect">
            <a:avLst/>
          </a:prstGeom>
          <a:noFill/>
          <a:ln/>
        </p:spPr>
        <p:txBody>
          <a:bodyPr wrap="square" lIns="0" tIns="0" rIns="0" bIns="0" rtlCol="0" anchor="ctr"/>
          <a:lstStyle/>
          <a:p>
            <a:pPr indent="0" marL="0">
              <a:buNone/>
            </a:pPr>
            <a:r>
              <a:rPr lang="en-US" sz="850" b="1" spc="200" kern="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A survival analysis + gradient boosted model (AutoGluon / CatBoost) embedded in the JH platform — scoring every customer and member weekly on churn probability using behavioral signals from transaction, login, product, and call data.</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AutoGluon ensemble + CatBoost scoring pipeline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SHAP values for banker-facing explainability</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Automated trigger → JH CRM / outreach workflows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Weekly model refresh with drift monitoring alerts</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19" name="Text 16"/>
          <p:cNvSpPr/>
          <p:nvPr/>
        </p:nvSpPr>
        <p:spPr>
          <a:xfrm>
            <a:off x="43891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$1–3M</a:t>
            </a:r>
            <a:endParaRPr lang="en-US" sz="3000" dirty="0"/>
          </a:p>
        </p:txBody>
      </p:sp>
      <p:sp>
        <p:nvSpPr>
          <p:cNvPr id="20" name="Text 17"/>
          <p:cNvSpPr/>
          <p:nvPr/>
        </p:nvSpPr>
        <p:spPr>
          <a:xfrm>
            <a:off x="43891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Annual revenue protected</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per FI ($1B deposits)</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2" name="Text 19"/>
          <p:cNvSpPr/>
          <p:nvPr/>
        </p:nvSpPr>
        <p:spPr>
          <a:xfrm>
            <a:off x="336499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15–25%</a:t>
            </a:r>
            <a:endParaRPr lang="en-US" sz="3000" dirty="0"/>
          </a:p>
        </p:txBody>
      </p:sp>
      <p:sp>
        <p:nvSpPr>
          <p:cNvPr id="23" name="Text 20"/>
          <p:cNvSpPr/>
          <p:nvPr/>
        </p:nvSpPr>
        <p:spPr>
          <a:xfrm>
            <a:off x="336499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Reduction in churn</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rate for FI clients</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5" name="Text 22"/>
          <p:cNvSpPr/>
          <p:nvPr/>
        </p:nvSpPr>
        <p:spPr>
          <a:xfrm>
            <a:off x="629107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Q3 2026</a:t>
            </a:r>
            <a:endParaRPr lang="en-US" sz="3000" dirty="0"/>
          </a:p>
        </p:txBody>
      </p:sp>
      <p:sp>
        <p:nvSpPr>
          <p:cNvPr id="26" name="Text 23"/>
          <p:cNvSpPr/>
          <p:nvPr/>
        </p:nvSpPr>
        <p:spPr>
          <a:xfrm>
            <a:off x="629107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6185F"/>
          </a:solidFill>
          <a:ln w="12700">
            <a:solidFill>
              <a:srgbClr val="06185F"/>
            </a:solidFill>
            <a:prstDash val="solid"/>
          </a:ln>
        </p:spPr>
      </p:sp>
      <p:pic>
        <p:nvPicPr>
          <p:cNvPr id="3" name="Image 0" descr="preencoded.png">    </p:cNvPr>
          <p:cNvPicPr>
            <a:picLocks noChangeAspect="1"/>
          </p:cNvPicPr>
          <p:nvPr/>
        </p:nvPicPr>
        <p:blipFill>
          <a:blip r:embed="rId1"/>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Zelle Memo Intelligence</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256032" y="822960"/>
            <a:ext cx="73152" cy="2761488"/>
          </a:xfrm>
          <a:prstGeom prst="rect">
            <a:avLst/>
          </a:prstGeom>
          <a:solidFill>
            <a:srgbClr val="06185F"/>
          </a:solidFill>
          <a:ln w="12700">
            <a:solidFill>
              <a:srgbClr val="06185F"/>
            </a:solidFill>
            <a:prstDash val="solid"/>
          </a:ln>
        </p:spPr>
      </p:sp>
      <p:sp>
        <p:nvSpPr>
          <p:cNvPr id="8" name="Text 5"/>
          <p:cNvSpPr/>
          <p:nvPr/>
        </p:nvSpPr>
        <p:spPr>
          <a:xfrm>
            <a:off x="438912" y="886968"/>
            <a:ext cx="3877056" cy="256032"/>
          </a:xfrm>
          <a:prstGeom prst="rect">
            <a:avLst/>
          </a:prstGeom>
          <a:noFill/>
          <a:ln/>
        </p:spPr>
        <p:txBody>
          <a:bodyPr wrap="square" lIns="0" tIns="0" rIns="0" bIns="0" rtlCol="0" anchor="ctr"/>
          <a:lstStyle/>
          <a:p>
            <a:pPr indent="0" marL="0">
              <a:buNone/>
            </a:pPr>
            <a:r>
              <a:rPr lang="en-US" sz="850" b="1" spc="200" kern="0" dirty="0">
                <a:solidFill>
                  <a:srgbClr val="06185F"/>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Zelle transaction volumes across JH-powered institutions have grown 40%+ year-over-year. Free-text memos contain fraud signals, elder abuse patterns, and compliance triggers — but manual review at scale is impossible and static rules miss adaptive language.</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Manual memo review is expensive and impossible to scale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Pattern-based rules miss novel language and obfuscation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systemic link between memo text and SAR filings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Compliance exposure growing with every Zelle transaction</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sp>
      <p:sp>
        <p:nvSpPr>
          <p:cNvPr id="14" name="Text 11"/>
          <p:cNvSpPr/>
          <p:nvPr/>
        </p:nvSpPr>
        <p:spPr>
          <a:xfrm>
            <a:off x="4882896" y="886968"/>
            <a:ext cx="3877056" cy="256032"/>
          </a:xfrm>
          <a:prstGeom prst="rect">
            <a:avLst/>
          </a:prstGeom>
          <a:noFill/>
          <a:ln/>
        </p:spPr>
        <p:txBody>
          <a:bodyPr wrap="square" lIns="0" tIns="0" rIns="0" bIns="0" rtlCol="0" anchor="ctr"/>
          <a:lstStyle/>
          <a:p>
            <a:pPr indent="0" marL="0">
              <a:buNone/>
            </a:pPr>
            <a:r>
              <a:rPr lang="en-US" sz="850" b="1" spc="200" kern="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An NLP classification and entity-extraction pipeline using fine-tuned transformer models — deployed within JH's compliance infrastructure to classify Zelle memos in near-real-time and surface risk-ranked alerts for examiner review.</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Fine-tuned DistilBERT / RoBERTa on labeled memo corpus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Entity extraction: amounts, counterparties, intent signals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Risk score → automated alert queue integration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Attention visualization for compliance examiner review</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19" name="Text 16"/>
          <p:cNvSpPr/>
          <p:nvPr/>
        </p:nvSpPr>
        <p:spPr>
          <a:xfrm>
            <a:off x="43891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60%</a:t>
            </a:r>
            <a:endParaRPr lang="en-US" sz="3000" dirty="0"/>
          </a:p>
        </p:txBody>
      </p:sp>
      <p:sp>
        <p:nvSpPr>
          <p:cNvPr id="20" name="Text 17"/>
          <p:cNvSpPr/>
          <p:nvPr/>
        </p:nvSpPr>
        <p:spPr>
          <a:xfrm>
            <a:off x="43891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Reduction in manual</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memo review hours per FI</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2" name="Text 19"/>
          <p:cNvSpPr/>
          <p:nvPr/>
        </p:nvSpPr>
        <p:spPr>
          <a:xfrm>
            <a:off x="336499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$250K+</a:t>
            </a:r>
            <a:endParaRPr lang="en-US" sz="3000" dirty="0"/>
          </a:p>
        </p:txBody>
      </p:sp>
      <p:sp>
        <p:nvSpPr>
          <p:cNvPr id="23" name="Text 20"/>
          <p:cNvSpPr/>
          <p:nvPr/>
        </p:nvSpPr>
        <p:spPr>
          <a:xfrm>
            <a:off x="336499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Annual compliance cost</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savings per FI (est.)</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5" name="Text 22"/>
          <p:cNvSpPr/>
          <p:nvPr/>
        </p:nvSpPr>
        <p:spPr>
          <a:xfrm>
            <a:off x="629107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Q4 2026</a:t>
            </a:r>
            <a:endParaRPr lang="en-US" sz="3000" dirty="0"/>
          </a:p>
        </p:txBody>
      </p:sp>
      <p:sp>
        <p:nvSpPr>
          <p:cNvPr id="26" name="Text 23"/>
          <p:cNvSpPr/>
          <p:nvPr/>
        </p:nvSpPr>
        <p:spPr>
          <a:xfrm>
            <a:off x="629107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73FA8"/>
          </a:solidFill>
          <a:ln w="12700">
            <a:solidFill>
              <a:srgbClr val="073FA8"/>
            </a:solidFill>
            <a:prstDash val="solid"/>
          </a:ln>
        </p:spPr>
      </p:sp>
      <p:pic>
        <p:nvPicPr>
          <p:cNvPr id="3" name="Image 0" descr="preencoded.png">    </p:cNvPr>
          <p:cNvPicPr>
            <a:picLocks noChangeAspect="1"/>
          </p:cNvPicPr>
          <p:nvPr/>
        </p:nvPicPr>
        <p:blipFill>
          <a:blip r:embed="rId1"/>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Anomaly Detection</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256032" y="822960"/>
            <a:ext cx="73152" cy="2761488"/>
          </a:xfrm>
          <a:prstGeom prst="rect">
            <a:avLst/>
          </a:prstGeom>
          <a:solidFill>
            <a:srgbClr val="073FA8"/>
          </a:solidFill>
          <a:ln w="12700">
            <a:solidFill>
              <a:srgbClr val="073FA8"/>
            </a:solidFill>
            <a:prstDash val="solid"/>
          </a:ln>
        </p:spPr>
      </p:sp>
      <p:sp>
        <p:nvSpPr>
          <p:cNvPr id="8" name="Text 5"/>
          <p:cNvSpPr/>
          <p:nvPr/>
        </p:nvSpPr>
        <p:spPr>
          <a:xfrm>
            <a:off x="438912" y="886968"/>
            <a:ext cx="3877056" cy="256032"/>
          </a:xfrm>
          <a:prstGeom prst="rect">
            <a:avLst/>
          </a:prstGeom>
          <a:noFill/>
          <a:ln/>
        </p:spPr>
        <p:txBody>
          <a:bodyPr wrap="square" lIns="0" tIns="0" rIns="0" bIns="0" rtlCol="0" anchor="ctr"/>
          <a:lstStyle/>
          <a:p>
            <a:pPr indent="0" marL="0">
              <a:buNone/>
            </a:pPr>
            <a:r>
              <a:rPr lang="en-US" sz="850" b="1" spc="200" kern="0" dirty="0">
                <a:solidFill>
                  <a:srgbClr val="073FA8"/>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Fraud and operational anomalies across JH-powered FIs are caught only by static rules — generating massive false positive rates that exhaust alert teams, while sophisticated multi-account patterns, account takeover signals, and operational errors slip through undetected.</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Static rules generate excessive false positive alert volume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Novel fraud patterns evade threshold-based logic</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unsupervised learning across multi-account behavior</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Operational anomalies (data gaps, system errors) undetected</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sp>
      <p:sp>
        <p:nvSpPr>
          <p:cNvPr id="14" name="Text 11"/>
          <p:cNvSpPr/>
          <p:nvPr/>
        </p:nvSpPr>
        <p:spPr>
          <a:xfrm>
            <a:off x="4882896" y="886968"/>
            <a:ext cx="3877056" cy="256032"/>
          </a:xfrm>
          <a:prstGeom prst="rect">
            <a:avLst/>
          </a:prstGeom>
          <a:noFill/>
          <a:ln/>
        </p:spPr>
        <p:txBody>
          <a:bodyPr wrap="square" lIns="0" tIns="0" rIns="0" bIns="0" rtlCol="0" anchor="ctr"/>
          <a:lstStyle/>
          <a:p>
            <a:pPr indent="0" marL="0">
              <a:buNone/>
            </a:pPr>
            <a:r>
              <a:rPr lang="en-US" sz="850" b="1" spc="200" kern="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An unsupervised anomaly detection platform using Isolation Forest, DBSCAN, and autoencoder neural networks — deployed as a JH platform service scoring transactions and behavioral signals across all connected FI institutions in near real-time.</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Isolation Forest + autoencoder ensemble architecture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Streaming Kafka pipeline for near-real-time scoring</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Multi-entity context: account, customer, branch, channel</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SHAP anomaly scores surfaced in JH analyst dashboard</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19" name="Text 16"/>
          <p:cNvSpPr/>
          <p:nvPr/>
        </p:nvSpPr>
        <p:spPr>
          <a:xfrm>
            <a:off x="43891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$1–2M</a:t>
            </a:r>
            <a:endParaRPr lang="en-US" sz="3000" dirty="0"/>
          </a:p>
        </p:txBody>
      </p:sp>
      <p:sp>
        <p:nvSpPr>
          <p:cNvPr id="20" name="Text 17"/>
          <p:cNvSpPr/>
          <p:nvPr/>
        </p:nvSpPr>
        <p:spPr>
          <a:xfrm>
            <a:off x="43891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Annual fraud loss saved</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per FI (est.)</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2" name="Text 19"/>
          <p:cNvSpPr/>
          <p:nvPr/>
        </p:nvSpPr>
        <p:spPr>
          <a:xfrm>
            <a:off x="336499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70%</a:t>
            </a:r>
            <a:endParaRPr lang="en-US" sz="3000" dirty="0"/>
          </a:p>
        </p:txBody>
      </p:sp>
      <p:sp>
        <p:nvSpPr>
          <p:cNvPr id="23" name="Text 20"/>
          <p:cNvSpPr/>
          <p:nvPr/>
        </p:nvSpPr>
        <p:spPr>
          <a:xfrm>
            <a:off x="336499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False positive</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reduction target</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5" name="Text 22"/>
          <p:cNvSpPr/>
          <p:nvPr/>
        </p:nvSpPr>
        <p:spPr>
          <a:xfrm>
            <a:off x="629107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Q3 2026</a:t>
            </a:r>
            <a:endParaRPr lang="en-US" sz="3000" dirty="0"/>
          </a:p>
        </p:txBody>
      </p:sp>
      <p:sp>
        <p:nvSpPr>
          <p:cNvPr id="26" name="Text 23"/>
          <p:cNvSpPr/>
          <p:nvPr/>
        </p:nvSpPr>
        <p:spPr>
          <a:xfrm>
            <a:off x="629107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575A5D"/>
          </a:solidFill>
          <a:ln w="12700">
            <a:solidFill>
              <a:srgbClr val="575A5D"/>
            </a:solidFill>
            <a:prstDash val="solid"/>
          </a:ln>
        </p:spPr>
      </p:sp>
      <p:pic>
        <p:nvPicPr>
          <p:cNvPr id="3" name="Image 0" descr="preencoded.png">    </p:cNvPr>
          <p:cNvPicPr>
            <a:picLocks noChangeAspect="1"/>
          </p:cNvPicPr>
          <p:nvPr/>
        </p:nvPicPr>
        <p:blipFill>
          <a:blip r:embed="rId1"/>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Call Report AI</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256032" y="822960"/>
            <a:ext cx="73152" cy="2761488"/>
          </a:xfrm>
          <a:prstGeom prst="rect">
            <a:avLst/>
          </a:prstGeom>
          <a:solidFill>
            <a:srgbClr val="575A5D"/>
          </a:solidFill>
          <a:ln w="12700">
            <a:solidFill>
              <a:srgbClr val="575A5D"/>
            </a:solidFill>
            <a:prstDash val="solid"/>
          </a:ln>
        </p:spPr>
      </p:sp>
      <p:sp>
        <p:nvSpPr>
          <p:cNvPr id="8" name="Text 5"/>
          <p:cNvSpPr/>
          <p:nvPr/>
        </p:nvSpPr>
        <p:spPr>
          <a:xfrm>
            <a:off x="438912" y="886968"/>
            <a:ext cx="3877056" cy="256032"/>
          </a:xfrm>
          <a:prstGeom prst="rect">
            <a:avLst/>
          </a:prstGeom>
          <a:noFill/>
          <a:ln/>
        </p:spPr>
        <p:txBody>
          <a:bodyPr wrap="square" lIns="0" tIns="0" rIns="0" bIns="0" rtlCol="0" anchor="ctr"/>
          <a:lstStyle/>
          <a:p>
            <a:pPr indent="0" marL="0">
              <a:buNone/>
            </a:pPr>
            <a:r>
              <a:rPr lang="en-US" sz="850" b="1" spc="200" kern="0" dirty="0">
                <a:solidFill>
                  <a:srgbClr val="575A5D"/>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Credit union executives lack real-time, actionable intelligence from NCUA 5300 call report data. Extracting peer benchmarks, spotting risk trends, and generating board-ready summaries requires manual data pulls, Excel gymnastics, and hours of analyst time every quarter.</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NCUA 5300 data is public but difficult to query at scale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Peer benchmarking requires manual multi-institution comparison</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Board and exec briefs take hours to prepare from raw data</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early warning system for emerging credit quality or capital risk</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sp>
      <p:sp>
        <p:nvSpPr>
          <p:cNvPr id="14" name="Text 11"/>
          <p:cNvSpPr/>
          <p:nvPr/>
        </p:nvSpPr>
        <p:spPr>
          <a:xfrm>
            <a:off x="4882896" y="886968"/>
            <a:ext cx="3877056" cy="256032"/>
          </a:xfrm>
          <a:prstGeom prst="rect">
            <a:avLst/>
          </a:prstGeom>
          <a:noFill/>
          <a:ln/>
        </p:spPr>
        <p:txBody>
          <a:bodyPr wrap="square" lIns="0" tIns="0" rIns="0" bIns="0" rtlCol="0" anchor="ctr"/>
          <a:lstStyle/>
          <a:p>
            <a:pPr indent="0" marL="0">
              <a:buNone/>
            </a:pPr>
            <a:r>
              <a:rPr lang="en-US" sz="850" b="1" spc="200" kern="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CallRpt AI — in active development, targeting Aug/Sept 2026 as a fast follow to JHBI approval — is a Claude-powered executive intelligence platform ingesting NCUA 5300 data for all 4,374 U.S. credit unions, with Payments and Core data modules to follow.</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Market Pulse: industry health score, KPIs, 8-quarter trend charts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Ask: Claude-powered NL Q&amp;A on full NCUA 5300 dataset</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Compare: percentile benchmarking + similar CU discovery</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AI Executive Brief: one-click Claude summary per institution</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19" name="Text 16"/>
          <p:cNvSpPr/>
          <p:nvPr/>
        </p:nvSpPr>
        <p:spPr>
          <a:xfrm>
            <a:off x="43891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Aug '26</a:t>
            </a:r>
            <a:endParaRPr lang="en-US" sz="3000" dirty="0"/>
          </a:p>
        </p:txBody>
      </p:sp>
      <p:sp>
        <p:nvSpPr>
          <p:cNvPr id="20" name="Text 17"/>
          <p:cNvSpPr/>
          <p:nvPr/>
        </p:nvSpPr>
        <p:spPr>
          <a:xfrm>
            <a:off x="43891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Target launch — fast</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follow to JHBI approval</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2" name="Text 19"/>
          <p:cNvSpPr/>
          <p:nvPr/>
        </p:nvSpPr>
        <p:spPr>
          <a:xfrm>
            <a:off x="336499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4,374</a:t>
            </a:r>
            <a:endParaRPr lang="en-US" sz="3000" dirty="0"/>
          </a:p>
        </p:txBody>
      </p:sp>
      <p:sp>
        <p:nvSpPr>
          <p:cNvPr id="23" name="Text 20"/>
          <p:cNvSpPr/>
          <p:nvPr/>
        </p:nvSpPr>
        <p:spPr>
          <a:xfrm>
            <a:off x="336499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U.S. credit unions</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indexed in the platform</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5" name="Text 22"/>
          <p:cNvSpPr/>
          <p:nvPr/>
        </p:nvSpPr>
        <p:spPr>
          <a:xfrm>
            <a:off x="629107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$2.5T</a:t>
            </a:r>
            <a:endParaRPr lang="en-US" sz="3000" dirty="0"/>
          </a:p>
        </p:txBody>
      </p:sp>
      <p:sp>
        <p:nvSpPr>
          <p:cNvPr id="26" name="Text 23"/>
          <p:cNvSpPr/>
          <p:nvPr/>
        </p:nvSpPr>
        <p:spPr>
          <a:xfrm>
            <a:off x="629107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Total assets covered</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across all institutions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94944"/>
          </a:xfrm>
          <a:prstGeom prst="rect">
            <a:avLst/>
          </a:prstGeom>
          <a:solidFill>
            <a:srgbClr val="0B68D4"/>
          </a:solidFill>
          <a:ln w="12700">
            <a:solidFill>
              <a:srgbClr val="0B68D4"/>
            </a:solidFill>
            <a:prstDash val="solid"/>
          </a:ln>
        </p:spPr>
      </p:sp>
      <p:pic>
        <p:nvPicPr>
          <p:cNvPr id="3" name="Image 0" descr="preencoded.png">    </p:cNvPr>
          <p:cNvPicPr>
            <a:picLocks noChangeAspect="1"/>
          </p:cNvPicPr>
          <p:nvPr/>
        </p:nvPicPr>
        <p:blipFill>
          <a:blip r:embed="rId1"/>
          <a:stretch>
            <a:fillRect/>
          </a:stretch>
        </p:blipFill>
        <p:spPr>
          <a:xfrm>
            <a:off x="182880" y="146304"/>
            <a:ext cx="384048" cy="384048"/>
          </a:xfrm>
          <a:prstGeom prst="rect">
            <a:avLst/>
          </a:prstGeom>
        </p:spPr>
      </p:pic>
      <p:sp>
        <p:nvSpPr>
          <p:cNvPr id="4" name="Text 1"/>
          <p:cNvSpPr/>
          <p:nvPr/>
        </p:nvSpPr>
        <p:spPr>
          <a:xfrm>
            <a:off x="658368" y="91440"/>
            <a:ext cx="6583680" cy="53035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Account Opening Lifetime Value</a:t>
            </a:r>
            <a:endParaRPr lang="en-US" sz="2000" dirty="0"/>
          </a:p>
        </p:txBody>
      </p:sp>
      <p:sp>
        <p:nvSpPr>
          <p:cNvPr id="5" name="Text 2"/>
          <p:cNvSpPr/>
          <p:nvPr/>
        </p:nvSpPr>
        <p:spPr>
          <a:xfrm>
            <a:off x="7315200" y="164592"/>
            <a:ext cx="1691640" cy="365760"/>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JH Platform  |  AI Application</a:t>
            </a:r>
            <a:endParaRPr lang="en-US" sz="1000" dirty="0"/>
          </a:p>
        </p:txBody>
      </p:sp>
      <p:sp>
        <p:nvSpPr>
          <p:cNvPr id="6" name="Shape 3"/>
          <p:cNvSpPr/>
          <p:nvPr/>
        </p:nvSpPr>
        <p:spPr>
          <a:xfrm>
            <a:off x="256032"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7" name="Shape 4"/>
          <p:cNvSpPr/>
          <p:nvPr/>
        </p:nvSpPr>
        <p:spPr>
          <a:xfrm>
            <a:off x="256032" y="822960"/>
            <a:ext cx="73152" cy="2761488"/>
          </a:xfrm>
          <a:prstGeom prst="rect">
            <a:avLst/>
          </a:prstGeom>
          <a:solidFill>
            <a:srgbClr val="0B68D4"/>
          </a:solidFill>
          <a:ln w="12700">
            <a:solidFill>
              <a:srgbClr val="0B68D4"/>
            </a:solidFill>
            <a:prstDash val="solid"/>
          </a:ln>
        </p:spPr>
      </p:sp>
      <p:sp>
        <p:nvSpPr>
          <p:cNvPr id="8" name="Text 5"/>
          <p:cNvSpPr/>
          <p:nvPr/>
        </p:nvSpPr>
        <p:spPr>
          <a:xfrm>
            <a:off x="438912" y="886968"/>
            <a:ext cx="3877056" cy="256032"/>
          </a:xfrm>
          <a:prstGeom prst="rect">
            <a:avLst/>
          </a:prstGeom>
          <a:noFill/>
          <a:ln/>
        </p:spPr>
        <p:txBody>
          <a:bodyPr wrap="square" lIns="0" tIns="0" rIns="0" bIns="0" rtlCol="0" anchor="ctr"/>
          <a:lstStyle/>
          <a:p>
            <a:pPr indent="0" marL="0">
              <a:buNone/>
            </a:pPr>
            <a:r>
              <a:rPr lang="en-US" sz="850" b="1" spc="200" kern="0" dirty="0">
                <a:solidFill>
                  <a:srgbClr val="0B68D4"/>
                </a:solidFill>
                <a:latin typeface="Calibri" pitchFamily="34" charset="0"/>
                <a:ea typeface="Calibri" pitchFamily="34" charset="-122"/>
                <a:cs typeface="Calibri" pitchFamily="34" charset="-120"/>
              </a:rPr>
              <a:t>THE CHALLENGE FOR FI CLIENTS</a:t>
            </a:r>
            <a:endParaRPr lang="en-US" sz="850" dirty="0"/>
          </a:p>
        </p:txBody>
      </p:sp>
      <p:sp>
        <p:nvSpPr>
          <p:cNvPr id="9" name="Text 6"/>
          <p:cNvSpPr/>
          <p:nvPr/>
        </p:nvSpPr>
        <p:spPr>
          <a:xfrm>
            <a:off x="438912"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FI clients using JH's account opening platform treat every new applicant identically — the same onboarding experience, the same cross-sell timing, regardless of predicted value. High-LTV customers are underinvested; resources are wasted on low-value accounts.</a:t>
            </a:r>
            <a:endParaRPr lang="en-US" sz="1100" dirty="0"/>
          </a:p>
        </p:txBody>
      </p:sp>
      <p:sp>
        <p:nvSpPr>
          <p:cNvPr id="10" name="Text 7"/>
          <p:cNvSpPr/>
          <p:nvPr/>
        </p:nvSpPr>
        <p:spPr>
          <a:xfrm>
            <a:off x="438912" y="2029968"/>
            <a:ext cx="3657600"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Key Pain Points</a:t>
            </a:r>
            <a:endParaRPr lang="en-US" sz="1000" dirty="0"/>
          </a:p>
        </p:txBody>
      </p:sp>
      <p:sp>
        <p:nvSpPr>
          <p:cNvPr id="11" name="Text 8"/>
          <p:cNvSpPr/>
          <p:nvPr/>
        </p:nvSpPr>
        <p:spPr>
          <a:xfrm>
            <a:off x="438912"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No LTV signal available at the account opening stage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Cross-sell sequencing is time-based, not value-informed</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Acquisition ROI unmeasured by customer cohort value</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Onboarding resources undifferentiated across channels</a:t>
            </a:r>
            <a:endParaRPr lang="en-US" sz="1050" dirty="0"/>
          </a:p>
        </p:txBody>
      </p:sp>
      <p:sp>
        <p:nvSpPr>
          <p:cNvPr id="12" name="Shape 9"/>
          <p:cNvSpPr/>
          <p:nvPr/>
        </p:nvSpPr>
        <p:spPr>
          <a:xfrm>
            <a:off x="4700016" y="822960"/>
            <a:ext cx="4187952" cy="27614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3" name="Shape 10"/>
          <p:cNvSpPr/>
          <p:nvPr/>
        </p:nvSpPr>
        <p:spPr>
          <a:xfrm>
            <a:off x="4700016" y="822960"/>
            <a:ext cx="73152" cy="2761488"/>
          </a:xfrm>
          <a:prstGeom prst="rect">
            <a:avLst/>
          </a:prstGeom>
          <a:solidFill>
            <a:srgbClr val="085CE5"/>
          </a:solidFill>
          <a:ln w="12700">
            <a:solidFill>
              <a:srgbClr val="085CE5"/>
            </a:solidFill>
            <a:prstDash val="solid"/>
          </a:ln>
        </p:spPr>
      </p:sp>
      <p:sp>
        <p:nvSpPr>
          <p:cNvPr id="14" name="Text 11"/>
          <p:cNvSpPr/>
          <p:nvPr/>
        </p:nvSpPr>
        <p:spPr>
          <a:xfrm>
            <a:off x="4882896" y="886968"/>
            <a:ext cx="3877056" cy="256032"/>
          </a:xfrm>
          <a:prstGeom prst="rect">
            <a:avLst/>
          </a:prstGeom>
          <a:noFill/>
          <a:ln/>
        </p:spPr>
        <p:txBody>
          <a:bodyPr wrap="square" lIns="0" tIns="0" rIns="0" bIns="0" rtlCol="0" anchor="ctr"/>
          <a:lstStyle/>
          <a:p>
            <a:pPr indent="0" marL="0">
              <a:buNone/>
            </a:pPr>
            <a:r>
              <a:rPr lang="en-US" sz="850" b="1" spc="200" kern="0" dirty="0">
                <a:solidFill>
                  <a:srgbClr val="085CE5"/>
                </a:solidFill>
                <a:latin typeface="Calibri" pitchFamily="34" charset="0"/>
                <a:ea typeface="Calibri" pitchFamily="34" charset="-122"/>
                <a:cs typeface="Calibri" pitchFamily="34" charset="-120"/>
              </a:rPr>
              <a:t>WHAT JACK HENRY DELIVERS</a:t>
            </a:r>
            <a:endParaRPr lang="en-US" sz="850" dirty="0"/>
          </a:p>
        </p:txBody>
      </p:sp>
      <p:sp>
        <p:nvSpPr>
          <p:cNvPr id="15" name="Text 12"/>
          <p:cNvSpPr/>
          <p:nvPr/>
        </p:nvSpPr>
        <p:spPr>
          <a:xfrm>
            <a:off x="4882896" y="1170432"/>
            <a:ext cx="3858768" cy="804672"/>
          </a:xfrm>
          <a:prstGeom prst="rect">
            <a:avLst/>
          </a:prstGeom>
          <a:noFill/>
          <a:ln/>
        </p:spPr>
        <p:txBody>
          <a:bodyPr wrap="square" lIns="0" tIns="0" rIns="0" bIns="0" rtlCol="0" anchor="ctr"/>
          <a:lstStyle/>
          <a:p>
            <a:pPr indent="0" marL="0">
              <a:buNone/>
            </a:pPr>
            <a:r>
              <a:rPr lang="en-US" sz="1100" dirty="0">
                <a:solidFill>
                  <a:srgbClr val="575A5D"/>
                </a:solidFill>
                <a:latin typeface="Calibri" pitchFamily="34" charset="0"/>
                <a:ea typeface="Calibri" pitchFamily="34" charset="-122"/>
                <a:cs typeface="Calibri" pitchFamily="34" charset="-120"/>
              </a:rPr>
              <a:t>A CatBoost + AutoGluon LTV regression model scoring new accounts at opening — using behavioral archetypes, product signals, and demographic proxies to route applicants to differentiated service tiers and trigger ML-guided cross-sell sequencing.</a:t>
            </a:r>
            <a:endParaRPr lang="en-US" sz="1100" dirty="0"/>
          </a:p>
        </p:txBody>
      </p:sp>
      <p:sp>
        <p:nvSpPr>
          <p:cNvPr id="16" name="Text 13"/>
          <p:cNvSpPr/>
          <p:nvPr/>
        </p:nvSpPr>
        <p:spPr>
          <a:xfrm>
            <a:off x="4882896" y="2029968"/>
            <a:ext cx="3858768" cy="256032"/>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Technical Implementation</a:t>
            </a:r>
            <a:endParaRPr lang="en-US" sz="1000" dirty="0"/>
          </a:p>
        </p:txBody>
      </p:sp>
      <p:sp>
        <p:nvSpPr>
          <p:cNvPr id="17" name="Text 14"/>
          <p:cNvSpPr/>
          <p:nvPr/>
        </p:nvSpPr>
        <p:spPr>
          <a:xfrm>
            <a:off x="4882896" y="2304288"/>
            <a:ext cx="3858768" cy="1170432"/>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CatBoost regression + AutoGluon ensemble LTV scoring</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SHAP feature attribution for banker-facing explanations</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Integration with JH CRM for tiered onboarding routing</a:t>
            </a:r>
            <a:endParaRPr lang="en-US" sz="1050" dirty="0"/>
          </a:p>
          <a:p>
            <a:pPr marL="342900" indent="-342900">
              <a:spcAft>
                <a:spcPts val="500"/>
              </a:spcAft>
              <a:buSzPct val="100000"/>
              <a:buChar char="•"/>
            </a:pPr>
            <a:r>
              <a:rPr lang="en-US" sz="1050" dirty="0">
                <a:solidFill>
                  <a:srgbClr val="575A5D"/>
                </a:solidFill>
                <a:latin typeface="Calibri" pitchFamily="34" charset="0"/>
                <a:ea typeface="Calibri" pitchFamily="34" charset="-122"/>
                <a:cs typeface="Calibri" pitchFamily="34" charset="-120"/>
              </a:rPr>
              <a:t>Cohort tracking dashboard to validate model accuracy over time</a:t>
            </a:r>
            <a:endParaRPr lang="en-US" sz="1050" dirty="0"/>
          </a:p>
        </p:txBody>
      </p:sp>
      <p:sp>
        <p:nvSpPr>
          <p:cNvPr id="18" name="Shape 15"/>
          <p:cNvSpPr/>
          <p:nvPr/>
        </p:nvSpPr>
        <p:spPr>
          <a:xfrm>
            <a:off x="36576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19" name="Text 16"/>
          <p:cNvSpPr/>
          <p:nvPr/>
        </p:nvSpPr>
        <p:spPr>
          <a:xfrm>
            <a:off x="43891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$800K+</a:t>
            </a:r>
            <a:endParaRPr lang="en-US" sz="3000" dirty="0"/>
          </a:p>
        </p:txBody>
      </p:sp>
      <p:sp>
        <p:nvSpPr>
          <p:cNvPr id="20" name="Text 17"/>
          <p:cNvSpPr/>
          <p:nvPr/>
        </p:nvSpPr>
        <p:spPr>
          <a:xfrm>
            <a:off x="43891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Incremental revenue</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per FI in Year 1 (est.)</a:t>
            </a:r>
            <a:endParaRPr lang="en-US" sz="1050" dirty="0"/>
          </a:p>
        </p:txBody>
      </p:sp>
      <p:sp>
        <p:nvSpPr>
          <p:cNvPr id="21" name="Shape 18"/>
          <p:cNvSpPr/>
          <p:nvPr/>
        </p:nvSpPr>
        <p:spPr>
          <a:xfrm>
            <a:off x="329184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2" name="Text 19"/>
          <p:cNvSpPr/>
          <p:nvPr/>
        </p:nvSpPr>
        <p:spPr>
          <a:xfrm>
            <a:off x="336499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3–5×</a:t>
            </a:r>
            <a:endParaRPr lang="en-US" sz="3000" dirty="0"/>
          </a:p>
        </p:txBody>
      </p:sp>
      <p:sp>
        <p:nvSpPr>
          <p:cNvPr id="23" name="Text 20"/>
          <p:cNvSpPr/>
          <p:nvPr/>
        </p:nvSpPr>
        <p:spPr>
          <a:xfrm>
            <a:off x="336499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Cross-sell conversion</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improvement</a:t>
            </a:r>
            <a:endParaRPr lang="en-US" sz="1050" dirty="0"/>
          </a:p>
        </p:txBody>
      </p:sp>
      <p:sp>
        <p:nvSpPr>
          <p:cNvPr id="24" name="Shape 21"/>
          <p:cNvSpPr/>
          <p:nvPr/>
        </p:nvSpPr>
        <p:spPr>
          <a:xfrm>
            <a:off x="6217920" y="3739896"/>
            <a:ext cx="2560320" cy="1207008"/>
          </a:xfrm>
          <a:prstGeom prst="rect">
            <a:avLst/>
          </a:prstGeom>
          <a:solidFill>
            <a:srgbClr val="06185F"/>
          </a:solidFill>
          <a:ln w="12700">
            <a:solidFill>
              <a:srgbClr val="06185F"/>
            </a:solidFill>
            <a:prstDash val="solid"/>
          </a:ln>
          <a:effectLst>
            <a:outerShdw sx="100000" sy="100000" kx="0" ky="0" algn="bl" rotWithShape="0" blurRad="101600" dist="38100" dir="8100000">
              <a:srgbClr val="000000">
                <a:alpha val="10000"/>
              </a:srgbClr>
            </a:outerShdw>
          </a:effectLst>
        </p:spPr>
      </p:sp>
      <p:sp>
        <p:nvSpPr>
          <p:cNvPr id="25" name="Text 22"/>
          <p:cNvSpPr/>
          <p:nvPr/>
        </p:nvSpPr>
        <p:spPr>
          <a:xfrm>
            <a:off x="6291072" y="3785616"/>
            <a:ext cx="2414016" cy="585216"/>
          </a:xfrm>
          <a:prstGeom prst="rect">
            <a:avLst/>
          </a:prstGeom>
          <a:noFill/>
          <a:ln/>
        </p:spPr>
        <p:txBody>
          <a:bodyPr wrap="square" lIns="0" tIns="0" rIns="0" bIns="0" rtlCol="0" anchor="ctr"/>
          <a:lstStyle/>
          <a:p>
            <a:pPr algn="ctr" indent="0" marL="0">
              <a:buNone/>
            </a:pPr>
            <a:r>
              <a:rPr lang="en-US" sz="3000" b="1" dirty="0">
                <a:solidFill>
                  <a:srgbClr val="76DCFD"/>
                </a:solidFill>
                <a:latin typeface="Calibri" pitchFamily="34" charset="0"/>
                <a:ea typeface="Calibri" pitchFamily="34" charset="-122"/>
                <a:cs typeface="Calibri" pitchFamily="34" charset="-120"/>
              </a:rPr>
              <a:t>Q2 2027</a:t>
            </a:r>
            <a:endParaRPr lang="en-US" sz="3000" dirty="0"/>
          </a:p>
        </p:txBody>
      </p:sp>
      <p:sp>
        <p:nvSpPr>
          <p:cNvPr id="26" name="Text 23"/>
          <p:cNvSpPr/>
          <p:nvPr/>
        </p:nvSpPr>
        <p:spPr>
          <a:xfrm>
            <a:off x="6291072" y="4389120"/>
            <a:ext cx="2414016" cy="475488"/>
          </a:xfrm>
          <a:prstGeom prst="rect">
            <a:avLst/>
          </a:prstGeom>
          <a:noFill/>
          <a:ln/>
        </p:spPr>
        <p:txBody>
          <a:bodyPr wrap="square" lIns="0" tIns="0" rIns="0" bIns="0" rtlCol="0" anchor="ctr"/>
          <a:lstStyle/>
          <a:p>
            <a:pPr algn="ctr" indent="0" marL="0">
              <a:buNone/>
            </a:pPr>
            <a:r>
              <a:rPr lang="en-US" sz="1050" dirty="0">
                <a:solidFill>
                  <a:srgbClr val="E7ECF0"/>
                </a:solidFill>
                <a:latin typeface="Calibri" pitchFamily="34" charset="0"/>
                <a:ea typeface="Calibri" pitchFamily="34" charset="-122"/>
                <a:cs typeface="Calibri" pitchFamily="34" charset="-120"/>
              </a:rPr>
              <a:t>Target JH platform</a:t>
            </a:r>
            <a:endParaRPr lang="en-US" sz="1050" dirty="0"/>
          </a:p>
          <a:p>
            <a:pPr algn="ctr" indent="0" marL="0">
              <a:buNone/>
            </a:pPr>
            <a:r>
              <a:rPr lang="en-US" sz="1050" dirty="0">
                <a:solidFill>
                  <a:srgbClr val="E7ECF0"/>
                </a:solidFill>
                <a:latin typeface="Calibri" pitchFamily="34" charset="0"/>
                <a:ea typeface="Calibri" pitchFamily="34" charset="-122"/>
                <a:cs typeface="Calibri" pitchFamily="34" charset="-120"/>
              </a:rPr>
              <a:t>delivery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EFDF8"/>
        </a:solidFill>
      </p:bgPr>
    </p:bg>
    <p:spTree>
      <p:nvGrpSpPr>
        <p:cNvPr id="1" name=""/>
        <p:cNvGrpSpPr/>
        <p:nvPr/>
      </p:nvGrpSpPr>
      <p:grpSpPr>
        <a:xfrm>
          <a:off x="0" y="0"/>
          <a:ext cx="0" cy="0"/>
          <a:chOff x="0" y="0"/>
          <a:chExt cx="0" cy="0"/>
        </a:xfrm>
      </p:grpSpPr>
      <p:sp>
        <p:nvSpPr>
          <p:cNvPr id="2" name="Shape 0"/>
          <p:cNvSpPr/>
          <p:nvPr/>
        </p:nvSpPr>
        <p:spPr>
          <a:xfrm>
            <a:off x="0" y="0"/>
            <a:ext cx="9144000" cy="969264"/>
          </a:xfrm>
          <a:prstGeom prst="rect">
            <a:avLst/>
          </a:prstGeom>
          <a:solidFill>
            <a:srgbClr val="0D2E7A"/>
          </a:solidFill>
          <a:ln w="12700">
            <a:solidFill>
              <a:srgbClr val="0D2E7A"/>
            </a:solidFill>
            <a:prstDash val="solid"/>
          </a:ln>
        </p:spPr>
      </p:sp>
      <p:pic>
        <p:nvPicPr>
          <p:cNvPr id="3" name="Image 0" descr="preencoded.png">    </p:cNvPr>
          <p:cNvPicPr>
            <a:picLocks noChangeAspect="1"/>
          </p:cNvPicPr>
          <p:nvPr/>
        </p:nvPicPr>
        <p:blipFill>
          <a:blip r:embed="rId1"/>
          <a:stretch>
            <a:fillRect/>
          </a:stretch>
        </p:blipFill>
        <p:spPr>
          <a:xfrm>
            <a:off x="347472" y="146304"/>
            <a:ext cx="621792" cy="621792"/>
          </a:xfrm>
          <a:prstGeom prst="rect">
            <a:avLst/>
          </a:prstGeom>
        </p:spPr>
      </p:pic>
      <p:sp>
        <p:nvSpPr>
          <p:cNvPr id="4" name="Text 1"/>
          <p:cNvSpPr/>
          <p:nvPr/>
        </p:nvSpPr>
        <p:spPr>
          <a:xfrm>
            <a:off x="1078992" y="73152"/>
            <a:ext cx="685800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FI Decision Studio</a:t>
            </a:r>
            <a:endParaRPr lang="en-US" sz="2800" dirty="0"/>
          </a:p>
        </p:txBody>
      </p:sp>
      <p:sp>
        <p:nvSpPr>
          <p:cNvPr id="5" name="Text 2"/>
          <p:cNvSpPr/>
          <p:nvPr/>
        </p:nvSpPr>
        <p:spPr>
          <a:xfrm>
            <a:off x="1078992" y="576072"/>
            <a:ext cx="7772400" cy="29260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AutoML · SHAP Explainability · Rule Authoring · API Hosting · Drift Monitoring</a:t>
            </a:r>
            <a:endParaRPr lang="en-US" sz="1050" dirty="0"/>
          </a:p>
        </p:txBody>
      </p:sp>
      <p:sp>
        <p:nvSpPr>
          <p:cNvPr id="6" name="Shape 3"/>
          <p:cNvSpPr/>
          <p:nvPr/>
        </p:nvSpPr>
        <p:spPr>
          <a:xfrm>
            <a:off x="320040" y="1078992"/>
            <a:ext cx="54864" cy="256032"/>
          </a:xfrm>
          <a:prstGeom prst="rect">
            <a:avLst/>
          </a:prstGeom>
          <a:solidFill>
            <a:srgbClr val="0D2E7A"/>
          </a:solidFill>
          <a:ln w="12700">
            <a:solidFill>
              <a:srgbClr val="0D2E7A"/>
            </a:solidFill>
            <a:prstDash val="solid"/>
          </a:ln>
        </p:spPr>
      </p:sp>
      <p:sp>
        <p:nvSpPr>
          <p:cNvPr id="7" name="Text 4"/>
          <p:cNvSpPr/>
          <p:nvPr/>
        </p:nvSpPr>
        <p:spPr>
          <a:xfrm>
            <a:off x="438912" y="1078992"/>
            <a:ext cx="2286000" cy="256032"/>
          </a:xfrm>
          <a:prstGeom prst="rect">
            <a:avLst/>
          </a:prstGeom>
          <a:noFill/>
          <a:ln/>
        </p:spPr>
        <p:txBody>
          <a:bodyPr wrap="square" lIns="0" tIns="0" rIns="0" bIns="0" rtlCol="0" anchor="ctr"/>
          <a:lstStyle/>
          <a:p>
            <a:pPr indent="0" marL="0">
              <a:buNone/>
            </a:pPr>
            <a:r>
              <a:rPr lang="en-US" sz="900" b="1" spc="100" kern="0" dirty="0">
                <a:solidFill>
                  <a:srgbClr val="0D2E7A"/>
                </a:solidFill>
                <a:latin typeface="Calibri" pitchFamily="34" charset="0"/>
                <a:ea typeface="Calibri" pitchFamily="34" charset="-122"/>
                <a:cs typeface="Calibri" pitchFamily="34" charset="-120"/>
              </a:rPr>
              <a:t>THE PROBLEM</a:t>
            </a:r>
            <a:endParaRPr lang="en-US" sz="900" dirty="0"/>
          </a:p>
        </p:txBody>
      </p:sp>
      <p:sp>
        <p:nvSpPr>
          <p:cNvPr id="8" name="Text 5"/>
          <p:cNvSpPr/>
          <p:nvPr/>
        </p:nvSpPr>
        <p:spPr>
          <a:xfrm>
            <a:off x="320040" y="1353312"/>
            <a:ext cx="4160520" cy="1078992"/>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Community FIs have transaction data, behavioral signals, and fraud intuition built up over decades — but no way to turn it into models. Vendor AI is a black box that doesn't reflect local market dynamics and can't be explained to regulators under SR 11-7 model risk management guidelines. Building custom ML requires data science talent most FIs can't hire or afford.</a:t>
            </a:r>
            <a:endParaRPr lang="en-US" sz="1050" dirty="0"/>
          </a:p>
        </p:txBody>
      </p:sp>
      <p:sp>
        <p:nvSpPr>
          <p:cNvPr id="9" name="Shape 6"/>
          <p:cNvSpPr/>
          <p:nvPr/>
        </p:nvSpPr>
        <p:spPr>
          <a:xfrm>
            <a:off x="347472" y="2523744"/>
            <a:ext cx="146304" cy="146304"/>
          </a:xfrm>
          <a:prstGeom prst="ellipse">
            <a:avLst/>
          </a:prstGeom>
          <a:solidFill>
            <a:srgbClr val="0D2E7A"/>
          </a:solidFill>
          <a:ln w="12700">
            <a:solidFill>
              <a:srgbClr val="0D2E7A"/>
            </a:solidFill>
            <a:prstDash val="solid"/>
          </a:ln>
        </p:spPr>
      </p:sp>
      <p:sp>
        <p:nvSpPr>
          <p:cNvPr id="10" name="Text 7"/>
          <p:cNvSpPr/>
          <p:nvPr/>
        </p:nvSpPr>
        <p:spPr>
          <a:xfrm>
            <a:off x="566928" y="2468880"/>
            <a:ext cx="3886200" cy="310896"/>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No labeled data to train supervised models — FIs can't even start</a:t>
            </a:r>
            <a:endParaRPr lang="en-US" sz="1000" dirty="0"/>
          </a:p>
        </p:txBody>
      </p:sp>
      <p:sp>
        <p:nvSpPr>
          <p:cNvPr id="11" name="Shape 8"/>
          <p:cNvSpPr/>
          <p:nvPr/>
        </p:nvSpPr>
        <p:spPr>
          <a:xfrm>
            <a:off x="347472" y="2852928"/>
            <a:ext cx="146304" cy="146304"/>
          </a:xfrm>
          <a:prstGeom prst="ellipse">
            <a:avLst/>
          </a:prstGeom>
          <a:solidFill>
            <a:srgbClr val="0D2E7A"/>
          </a:solidFill>
          <a:ln w="12700">
            <a:solidFill>
              <a:srgbClr val="0D2E7A"/>
            </a:solidFill>
            <a:prstDash val="solid"/>
          </a:ln>
        </p:spPr>
      </p:sp>
      <p:sp>
        <p:nvSpPr>
          <p:cNvPr id="12" name="Text 9"/>
          <p:cNvSpPr/>
          <p:nvPr/>
        </p:nvSpPr>
        <p:spPr>
          <a:xfrm>
            <a:off x="566928" y="2798064"/>
            <a:ext cx="3886200" cy="310896"/>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Vendor scores can't be explained to the board or examiners</a:t>
            </a:r>
            <a:endParaRPr lang="en-US" sz="1000" dirty="0"/>
          </a:p>
        </p:txBody>
      </p:sp>
      <p:sp>
        <p:nvSpPr>
          <p:cNvPr id="13" name="Shape 10"/>
          <p:cNvSpPr/>
          <p:nvPr/>
        </p:nvSpPr>
        <p:spPr>
          <a:xfrm>
            <a:off x="347472" y="3182112"/>
            <a:ext cx="146304" cy="146304"/>
          </a:xfrm>
          <a:prstGeom prst="ellipse">
            <a:avLst/>
          </a:prstGeom>
          <a:solidFill>
            <a:srgbClr val="0D2E7A"/>
          </a:solidFill>
          <a:ln w="12700">
            <a:solidFill>
              <a:srgbClr val="0D2E7A"/>
            </a:solidFill>
            <a:prstDash val="solid"/>
          </a:ln>
        </p:spPr>
      </p:sp>
      <p:sp>
        <p:nvSpPr>
          <p:cNvPr id="14" name="Text 11"/>
          <p:cNvSpPr/>
          <p:nvPr/>
        </p:nvSpPr>
        <p:spPr>
          <a:xfrm>
            <a:off x="566928" y="3127248"/>
            <a:ext cx="3886200" cy="310896"/>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No rule authoring — compliance teams can't tune or override ML output</a:t>
            </a:r>
            <a:endParaRPr lang="en-US" sz="1000" dirty="0"/>
          </a:p>
        </p:txBody>
      </p:sp>
      <p:sp>
        <p:nvSpPr>
          <p:cNvPr id="15" name="Shape 12"/>
          <p:cNvSpPr/>
          <p:nvPr/>
        </p:nvSpPr>
        <p:spPr>
          <a:xfrm>
            <a:off x="347472" y="3511296"/>
            <a:ext cx="146304" cy="146304"/>
          </a:xfrm>
          <a:prstGeom prst="ellipse">
            <a:avLst/>
          </a:prstGeom>
          <a:solidFill>
            <a:srgbClr val="0D2E7A"/>
          </a:solidFill>
          <a:ln w="12700">
            <a:solidFill>
              <a:srgbClr val="0D2E7A"/>
            </a:solidFill>
            <a:prstDash val="solid"/>
          </a:ln>
        </p:spPr>
      </p:sp>
      <p:sp>
        <p:nvSpPr>
          <p:cNvPr id="16" name="Text 13"/>
          <p:cNvSpPr/>
          <p:nvPr/>
        </p:nvSpPr>
        <p:spPr>
          <a:xfrm>
            <a:off x="566928" y="3456432"/>
            <a:ext cx="3886200" cy="310896"/>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Model deployment requires engineering resources FIs don't have</a:t>
            </a:r>
            <a:endParaRPr lang="en-US" sz="1000" dirty="0"/>
          </a:p>
        </p:txBody>
      </p:sp>
      <p:sp>
        <p:nvSpPr>
          <p:cNvPr id="17" name="Shape 14"/>
          <p:cNvSpPr/>
          <p:nvPr/>
        </p:nvSpPr>
        <p:spPr>
          <a:xfrm>
            <a:off x="4663440" y="1078992"/>
            <a:ext cx="36576" cy="3273552"/>
          </a:xfrm>
          <a:prstGeom prst="rect">
            <a:avLst/>
          </a:prstGeom>
          <a:solidFill>
            <a:srgbClr val="E7ECF0"/>
          </a:solidFill>
          <a:ln w="12700">
            <a:solidFill>
              <a:srgbClr val="E7ECF0"/>
            </a:solidFill>
            <a:prstDash val="solid"/>
          </a:ln>
        </p:spPr>
      </p:sp>
      <p:sp>
        <p:nvSpPr>
          <p:cNvPr id="18" name="Shape 15"/>
          <p:cNvSpPr/>
          <p:nvPr/>
        </p:nvSpPr>
        <p:spPr>
          <a:xfrm>
            <a:off x="4828032" y="1078992"/>
            <a:ext cx="54864" cy="256032"/>
          </a:xfrm>
          <a:prstGeom prst="rect">
            <a:avLst/>
          </a:prstGeom>
          <a:solidFill>
            <a:srgbClr val="0D2E7A"/>
          </a:solidFill>
          <a:ln w="12700">
            <a:solidFill>
              <a:srgbClr val="0D2E7A"/>
            </a:solidFill>
            <a:prstDash val="solid"/>
          </a:ln>
        </p:spPr>
      </p:sp>
      <p:sp>
        <p:nvSpPr>
          <p:cNvPr id="19" name="Text 16"/>
          <p:cNvSpPr/>
          <p:nvPr/>
        </p:nvSpPr>
        <p:spPr>
          <a:xfrm>
            <a:off x="4956048" y="1078992"/>
            <a:ext cx="2286000" cy="256032"/>
          </a:xfrm>
          <a:prstGeom prst="rect">
            <a:avLst/>
          </a:prstGeom>
          <a:noFill/>
          <a:ln/>
        </p:spPr>
        <p:txBody>
          <a:bodyPr wrap="square" lIns="0" tIns="0" rIns="0" bIns="0" rtlCol="0" anchor="ctr"/>
          <a:lstStyle/>
          <a:p>
            <a:pPr indent="0" marL="0">
              <a:buNone/>
            </a:pPr>
            <a:r>
              <a:rPr lang="en-US" sz="900" b="1" spc="100" kern="0" dirty="0">
                <a:solidFill>
                  <a:srgbClr val="0D2E7A"/>
                </a:solidFill>
                <a:latin typeface="Calibri" pitchFamily="34" charset="0"/>
                <a:ea typeface="Calibri" pitchFamily="34" charset="-122"/>
                <a:cs typeface="Calibri" pitchFamily="34" charset="-120"/>
              </a:rPr>
              <a:t>THE SOLUTION</a:t>
            </a:r>
            <a:endParaRPr lang="en-US" sz="900" dirty="0"/>
          </a:p>
        </p:txBody>
      </p:sp>
      <p:sp>
        <p:nvSpPr>
          <p:cNvPr id="20" name="Text 17"/>
          <p:cNvSpPr/>
          <p:nvPr/>
        </p:nvSpPr>
        <p:spPr>
          <a:xfrm>
            <a:off x="4828032" y="1353312"/>
            <a:ext cx="3977640" cy="1170432"/>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FI Decision Studio meets every FI at their label maturity. Start with zero labels — the platform detects anomalies with unsupervised ML. As analysts review and tag cases, it tracks label maturity and offers a one-click upgrade to a full AutoGluon supervised ensemble. Tree SHAP explains every prediction, a rule authoring layer converts model insights into editable human decisions, and one-click API deployment puts models into production without engineering support.</a:t>
            </a:r>
            <a:endParaRPr lang="en-US" sz="1050" dirty="0"/>
          </a:p>
        </p:txBody>
      </p:sp>
      <p:sp>
        <p:nvSpPr>
          <p:cNvPr id="21" name="Shape 18"/>
          <p:cNvSpPr/>
          <p:nvPr/>
        </p:nvSpPr>
        <p:spPr>
          <a:xfrm>
            <a:off x="4828032" y="2596896"/>
            <a:ext cx="54864" cy="256032"/>
          </a:xfrm>
          <a:prstGeom prst="rect">
            <a:avLst/>
          </a:prstGeom>
          <a:solidFill>
            <a:srgbClr val="0D2E7A"/>
          </a:solidFill>
          <a:ln w="12700">
            <a:solidFill>
              <a:srgbClr val="0D2E7A"/>
            </a:solidFill>
            <a:prstDash val="solid"/>
          </a:ln>
        </p:spPr>
      </p:sp>
      <p:sp>
        <p:nvSpPr>
          <p:cNvPr id="22" name="Text 19"/>
          <p:cNvSpPr/>
          <p:nvPr/>
        </p:nvSpPr>
        <p:spPr>
          <a:xfrm>
            <a:off x="4956048" y="2596896"/>
            <a:ext cx="3200400" cy="256032"/>
          </a:xfrm>
          <a:prstGeom prst="rect">
            <a:avLst/>
          </a:prstGeom>
          <a:noFill/>
          <a:ln/>
        </p:spPr>
        <p:txBody>
          <a:bodyPr wrap="square" lIns="0" tIns="0" rIns="0" bIns="0" rtlCol="0" anchor="ctr"/>
          <a:lstStyle/>
          <a:p>
            <a:pPr indent="0" marL="0">
              <a:buNone/>
            </a:pPr>
            <a:r>
              <a:rPr lang="en-US" sz="900" b="1" spc="100" kern="0" dirty="0">
                <a:solidFill>
                  <a:srgbClr val="0D2E7A"/>
                </a:solidFill>
                <a:latin typeface="Calibri" pitchFamily="34" charset="0"/>
                <a:ea typeface="Calibri" pitchFamily="34" charset="-122"/>
                <a:cs typeface="Calibri" pitchFamily="34" charset="-120"/>
              </a:rPr>
              <a:t>PLATFORM PILLARS</a:t>
            </a:r>
            <a:endParaRPr lang="en-US" sz="900" dirty="0"/>
          </a:p>
        </p:txBody>
      </p:sp>
      <p:sp>
        <p:nvSpPr>
          <p:cNvPr id="23" name="Text 20"/>
          <p:cNvSpPr/>
          <p:nvPr/>
        </p:nvSpPr>
        <p:spPr>
          <a:xfrm>
            <a:off x="4828032" y="2907792"/>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Unsupervised → Supervised: Isolation Forest until labels mature; AutoGluon (CatBoost + XGBoost) ensemble when ready</a:t>
            </a:r>
            <a:endParaRPr lang="en-US" sz="950" dirty="0"/>
          </a:p>
        </p:txBody>
      </p:sp>
      <p:sp>
        <p:nvSpPr>
          <p:cNvPr id="24" name="Text 21"/>
          <p:cNvSpPr/>
          <p:nvPr/>
        </p:nvSpPr>
        <p:spPr>
          <a:xfrm>
            <a:off x="4828032" y="3255264"/>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Tree SHAP on every prediction: top feature drivers, directional impact, plain-English output — SR 11-7 defensible</a:t>
            </a:r>
            <a:endParaRPr lang="en-US" sz="950" dirty="0"/>
          </a:p>
        </p:txBody>
      </p:sp>
      <p:sp>
        <p:nvSpPr>
          <p:cNvPr id="25" name="Text 22"/>
          <p:cNvSpPr/>
          <p:nvPr/>
        </p:nvSpPr>
        <p:spPr>
          <a:xfrm>
            <a:off x="4828032" y="3602736"/>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Rule Authoring: model insights → editable decision rules with visual threshold sliders and backtest on historical data</a:t>
            </a:r>
            <a:endParaRPr lang="en-US" sz="950" dirty="0"/>
          </a:p>
        </p:txBody>
      </p:sp>
      <p:sp>
        <p:nvSpPr>
          <p:cNvPr id="26" name="Text 23"/>
          <p:cNvSpPr/>
          <p:nvPr/>
        </p:nvSpPr>
        <p:spPr>
          <a:xfrm>
            <a:off x="4828032" y="3950208"/>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One-click API: versioned REST endpoint deployment; JH hosts, manages, and monitors — no FI engineering required</a:t>
            </a:r>
            <a:endParaRPr lang="en-US" sz="950" dirty="0"/>
          </a:p>
        </p:txBody>
      </p:sp>
      <p:sp>
        <p:nvSpPr>
          <p:cNvPr id="27" name="Text 24"/>
          <p:cNvSpPr/>
          <p:nvPr/>
        </p:nvSpPr>
        <p:spPr>
          <a:xfrm>
            <a:off x="4828032" y="4297680"/>
            <a:ext cx="3977640" cy="329184"/>
          </a:xfrm>
          <a:prstGeom prst="rect">
            <a:avLst/>
          </a:prstGeom>
          <a:noFill/>
          <a:ln/>
        </p:spPr>
        <p:txBody>
          <a:bodyPr wrap="square" lIns="0" tIns="0" rIns="0" bIns="0" rtlCol="0" anchor="ctr"/>
          <a:lstStyle/>
          <a:p>
            <a:pPr marL="342900" indent="-342900">
              <a:buSzPct val="100000"/>
              <a:buChar char="•"/>
            </a:pPr>
            <a:r>
              <a:rPr lang="en-US" sz="950" dirty="0">
                <a:solidFill>
                  <a:srgbClr val="575A5D"/>
                </a:solidFill>
                <a:latin typeface="Calibri" pitchFamily="34" charset="0"/>
                <a:ea typeface="Calibri" pitchFamily="34" charset="-122"/>
                <a:cs typeface="Calibri" pitchFamily="34" charset="-120"/>
              </a:rPr>
              <a:t>Drift Monitoring: PSI on feature distributions weekly; prediction drift alerts; automated retraining recommendations</a:t>
            </a:r>
            <a:endParaRPr lang="en-US" sz="950" dirty="0"/>
          </a:p>
        </p:txBody>
      </p:sp>
      <p:sp>
        <p:nvSpPr>
          <p:cNvPr id="28" name="Shape 25"/>
          <p:cNvSpPr/>
          <p:nvPr/>
        </p:nvSpPr>
        <p:spPr>
          <a:xfrm>
            <a:off x="365760" y="4224528"/>
            <a:ext cx="2560320" cy="877824"/>
          </a:xfrm>
          <a:prstGeom prst="rect">
            <a:avLst/>
          </a:prstGeom>
          <a:solidFill>
            <a:srgbClr val="0D2E7A"/>
          </a:solidFill>
          <a:ln w="12700">
            <a:solidFill>
              <a:srgbClr val="0D2E7A"/>
            </a:solidFill>
            <a:prstDash val="solid"/>
          </a:ln>
        </p:spPr>
      </p:sp>
      <p:sp>
        <p:nvSpPr>
          <p:cNvPr id="29" name="Text 26"/>
          <p:cNvSpPr/>
          <p:nvPr/>
        </p:nvSpPr>
        <p:spPr>
          <a:xfrm>
            <a:off x="365760" y="4242816"/>
            <a:ext cx="256032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&lt; 2 hrs</a:t>
            </a:r>
            <a:endParaRPr lang="en-US" sz="2400" dirty="0"/>
          </a:p>
        </p:txBody>
      </p:sp>
      <p:sp>
        <p:nvSpPr>
          <p:cNvPr id="30" name="Text 27"/>
          <p:cNvSpPr/>
          <p:nvPr/>
        </p:nvSpPr>
        <p:spPr>
          <a:xfrm>
            <a:off x="365760" y="4663440"/>
            <a:ext cx="25603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Data upload → first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trained model deployed</a:t>
            </a:r>
            <a:endParaRPr lang="en-US" sz="950" dirty="0"/>
          </a:p>
        </p:txBody>
      </p:sp>
      <p:sp>
        <p:nvSpPr>
          <p:cNvPr id="31" name="Shape 28"/>
          <p:cNvSpPr/>
          <p:nvPr/>
        </p:nvSpPr>
        <p:spPr>
          <a:xfrm>
            <a:off x="3291840" y="4224528"/>
            <a:ext cx="2560320" cy="877824"/>
          </a:xfrm>
          <a:prstGeom prst="rect">
            <a:avLst/>
          </a:prstGeom>
          <a:solidFill>
            <a:srgbClr val="0D2E7A"/>
          </a:solidFill>
          <a:ln w="12700">
            <a:solidFill>
              <a:srgbClr val="0D2E7A"/>
            </a:solidFill>
            <a:prstDash val="solid"/>
          </a:ln>
        </p:spPr>
      </p:sp>
      <p:sp>
        <p:nvSpPr>
          <p:cNvPr id="32" name="Text 29"/>
          <p:cNvSpPr/>
          <p:nvPr/>
        </p:nvSpPr>
        <p:spPr>
          <a:xfrm>
            <a:off x="3291840" y="4242816"/>
            <a:ext cx="256032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SR 11-7</a:t>
            </a:r>
            <a:endParaRPr lang="en-US" sz="2400" dirty="0"/>
          </a:p>
        </p:txBody>
      </p:sp>
      <p:sp>
        <p:nvSpPr>
          <p:cNvPr id="33" name="Text 30"/>
          <p:cNvSpPr/>
          <p:nvPr/>
        </p:nvSpPr>
        <p:spPr>
          <a:xfrm>
            <a:off x="3291840" y="4663440"/>
            <a:ext cx="25603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Model risk compliance</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out of the box with SHAP</a:t>
            </a:r>
            <a:endParaRPr lang="en-US" sz="950" dirty="0"/>
          </a:p>
        </p:txBody>
      </p:sp>
      <p:sp>
        <p:nvSpPr>
          <p:cNvPr id="34" name="Shape 31"/>
          <p:cNvSpPr/>
          <p:nvPr/>
        </p:nvSpPr>
        <p:spPr>
          <a:xfrm>
            <a:off x="6217920" y="4224528"/>
            <a:ext cx="2560320" cy="877824"/>
          </a:xfrm>
          <a:prstGeom prst="rect">
            <a:avLst/>
          </a:prstGeom>
          <a:solidFill>
            <a:srgbClr val="0D2E7A"/>
          </a:solidFill>
          <a:ln w="12700">
            <a:solidFill>
              <a:srgbClr val="0D2E7A"/>
            </a:solidFill>
            <a:prstDash val="solid"/>
          </a:ln>
        </p:spPr>
      </p:sp>
      <p:sp>
        <p:nvSpPr>
          <p:cNvPr id="35" name="Text 32"/>
          <p:cNvSpPr/>
          <p:nvPr/>
        </p:nvSpPr>
        <p:spPr>
          <a:xfrm>
            <a:off x="6217920" y="4242816"/>
            <a:ext cx="2560320"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 paths</a:t>
            </a:r>
            <a:endParaRPr lang="en-US" sz="2400" dirty="0"/>
          </a:p>
        </p:txBody>
      </p:sp>
      <p:sp>
        <p:nvSpPr>
          <p:cNvPr id="36" name="Text 33"/>
          <p:cNvSpPr/>
          <p:nvPr/>
        </p:nvSpPr>
        <p:spPr>
          <a:xfrm>
            <a:off x="6217920" y="4663440"/>
            <a:ext cx="2560320" cy="420624"/>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Unsupervised · supervised</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 hybrid label progression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Financial Impact for FI Clients — Across the JH Platform</a:t>
            </a:r>
            <a:endParaRPr lang="en-US" sz="2200" dirty="0"/>
          </a:p>
        </p:txBody>
      </p:sp>
      <p:sp>
        <p:nvSpPr>
          <p:cNvPr id="4" name="Text 2"/>
          <p:cNvSpPr/>
          <p:nvPr/>
        </p:nvSpPr>
        <p:spPr>
          <a:xfrm>
            <a:off x="365760" y="768096"/>
            <a:ext cx="8412480" cy="411480"/>
          </a:xfrm>
          <a:prstGeom prst="rect">
            <a:avLst/>
          </a:prstGeom>
          <a:noFill/>
          <a:ln/>
        </p:spPr>
        <p:txBody>
          <a:bodyPr wrap="square" lIns="0" tIns="0" rIns="0" bIns="0" rtlCol="0" anchor="ctr"/>
          <a:lstStyle/>
          <a:p>
            <a:pPr indent="0" marL="0">
              <a:buNone/>
            </a:pPr>
            <a:r>
              <a:rPr lang="en-US" sz="1200" dirty="0">
                <a:solidFill>
                  <a:srgbClr val="575A5D"/>
                </a:solidFill>
                <a:latin typeface="Calibri" pitchFamily="34" charset="0"/>
                <a:ea typeface="Calibri" pitchFamily="34" charset="-122"/>
                <a:cs typeface="Calibri" pitchFamily="34" charset="-120"/>
              </a:rPr>
              <a:t>Conservative estimates for a mid-size community bank ($1B deposits / $800M assets). Across 1,660 core FI clients — and 7,500+ across the broader JH ecosystem — these represent transformative market value.</a:t>
            </a:r>
            <a:endParaRPr lang="en-US" sz="1200" dirty="0"/>
          </a:p>
        </p:txBody>
      </p:sp>
      <p:sp>
        <p:nvSpPr>
          <p:cNvPr id="5" name="Shape 3"/>
          <p:cNvSpPr/>
          <p:nvPr/>
        </p:nvSpPr>
        <p:spPr>
          <a:xfrm>
            <a:off x="365760" y="1243584"/>
            <a:ext cx="8412480" cy="347472"/>
          </a:xfrm>
          <a:prstGeom prst="rect">
            <a:avLst/>
          </a:prstGeom>
          <a:solidFill>
            <a:srgbClr val="06185F"/>
          </a:solidFill>
          <a:ln w="12700">
            <a:solidFill>
              <a:srgbClr val="06185F"/>
            </a:solidFill>
            <a:prstDash val="solid"/>
          </a:ln>
        </p:spPr>
      </p:sp>
      <p:sp>
        <p:nvSpPr>
          <p:cNvPr id="6" name="Text 4"/>
          <p:cNvSpPr/>
          <p:nvPr/>
        </p:nvSpPr>
        <p:spPr>
          <a:xfrm>
            <a:off x="457200" y="1280160"/>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Application</a:t>
            </a:r>
            <a:endParaRPr lang="en-US" sz="1100" dirty="0"/>
          </a:p>
        </p:txBody>
      </p:sp>
      <p:sp>
        <p:nvSpPr>
          <p:cNvPr id="7" name="Text 5"/>
          <p:cNvSpPr/>
          <p:nvPr/>
        </p:nvSpPr>
        <p:spPr>
          <a:xfrm>
            <a:off x="3108960" y="1280160"/>
            <a:ext cx="1828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Est. Annual FI Value</a:t>
            </a:r>
            <a:endParaRPr lang="en-US" sz="1100" dirty="0"/>
          </a:p>
        </p:txBody>
      </p:sp>
      <p:sp>
        <p:nvSpPr>
          <p:cNvPr id="8" name="Text 6"/>
          <p:cNvSpPr/>
          <p:nvPr/>
        </p:nvSpPr>
        <p:spPr>
          <a:xfrm>
            <a:off x="5029200" y="1280160"/>
            <a:ext cx="36576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Value Driver</a:t>
            </a:r>
            <a:endParaRPr lang="en-US" sz="1100" dirty="0"/>
          </a:p>
        </p:txBody>
      </p:sp>
      <p:sp>
        <p:nvSpPr>
          <p:cNvPr id="9" name="Shape 7"/>
          <p:cNvSpPr/>
          <p:nvPr/>
        </p:nvSpPr>
        <p:spPr>
          <a:xfrm>
            <a:off x="365760" y="1627632"/>
            <a:ext cx="8412480" cy="475488"/>
          </a:xfrm>
          <a:prstGeom prst="rect">
            <a:avLst/>
          </a:prstGeom>
          <a:solidFill>
            <a:srgbClr val="FFFFFF"/>
          </a:solidFill>
          <a:ln w="12700">
            <a:solidFill>
              <a:srgbClr val="E7ECF0"/>
            </a:solidFill>
            <a:prstDash val="solid"/>
          </a:ln>
        </p:spPr>
      </p:sp>
      <p:sp>
        <p:nvSpPr>
          <p:cNvPr id="10" name="Shape 8"/>
          <p:cNvSpPr/>
          <p:nvPr/>
        </p:nvSpPr>
        <p:spPr>
          <a:xfrm>
            <a:off x="365760" y="1627632"/>
            <a:ext cx="91440" cy="475488"/>
          </a:xfrm>
          <a:prstGeom prst="rect">
            <a:avLst/>
          </a:prstGeom>
          <a:solidFill>
            <a:srgbClr val="085CE5"/>
          </a:solidFill>
          <a:ln w="12700">
            <a:solidFill>
              <a:srgbClr val="085CE5"/>
            </a:solidFill>
            <a:prstDash val="solid"/>
          </a:ln>
        </p:spPr>
      </p:sp>
      <p:sp>
        <p:nvSpPr>
          <p:cNvPr id="11" name="Text 9"/>
          <p:cNvSpPr/>
          <p:nvPr/>
        </p:nvSpPr>
        <p:spPr>
          <a:xfrm>
            <a:off x="502920" y="1664208"/>
            <a:ext cx="2514600" cy="402336"/>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Attrition / Churn Mediation</a:t>
            </a:r>
            <a:endParaRPr lang="en-US" sz="1050" dirty="0"/>
          </a:p>
        </p:txBody>
      </p:sp>
      <p:sp>
        <p:nvSpPr>
          <p:cNvPr id="12" name="Text 10"/>
          <p:cNvSpPr/>
          <p:nvPr/>
        </p:nvSpPr>
        <p:spPr>
          <a:xfrm>
            <a:off x="3108960" y="1664208"/>
            <a:ext cx="1783080" cy="402336"/>
          </a:xfrm>
          <a:prstGeom prst="rect">
            <a:avLst/>
          </a:prstGeom>
          <a:noFill/>
          <a:ln/>
        </p:spPr>
        <p:txBody>
          <a:bodyPr wrap="square" lIns="0" tIns="0" rIns="0" bIns="0" rtlCol="0" anchor="ctr"/>
          <a:lstStyle/>
          <a:p>
            <a:pPr indent="0" marL="0">
              <a:buNone/>
            </a:pPr>
            <a:r>
              <a:rPr lang="en-US" sz="1050" b="1" dirty="0">
                <a:solidFill>
                  <a:srgbClr val="085CE5"/>
                </a:solidFill>
                <a:latin typeface="Calibri" pitchFamily="34" charset="0"/>
                <a:ea typeface="Calibri" pitchFamily="34" charset="-122"/>
                <a:cs typeface="Calibri" pitchFamily="34" charset="-120"/>
              </a:rPr>
              <a:t>$1–3M / year</a:t>
            </a:r>
            <a:endParaRPr lang="en-US" sz="1050" dirty="0"/>
          </a:p>
        </p:txBody>
      </p:sp>
      <p:sp>
        <p:nvSpPr>
          <p:cNvPr id="13" name="Text 11"/>
          <p:cNvSpPr/>
          <p:nvPr/>
        </p:nvSpPr>
        <p:spPr>
          <a:xfrm>
            <a:off x="5029200" y="1664208"/>
            <a:ext cx="3657600" cy="402336"/>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15–25% churn reduction × avg. customer revenue of $400–$600/yr</a:t>
            </a:r>
            <a:endParaRPr lang="en-US" sz="950" dirty="0"/>
          </a:p>
        </p:txBody>
      </p:sp>
      <p:sp>
        <p:nvSpPr>
          <p:cNvPr id="14" name="Shape 12"/>
          <p:cNvSpPr/>
          <p:nvPr/>
        </p:nvSpPr>
        <p:spPr>
          <a:xfrm>
            <a:off x="365760" y="2130552"/>
            <a:ext cx="8412480" cy="475488"/>
          </a:xfrm>
          <a:prstGeom prst="rect">
            <a:avLst/>
          </a:prstGeom>
          <a:solidFill>
            <a:srgbClr val="E7ECF0"/>
          </a:solidFill>
          <a:ln w="12700">
            <a:solidFill>
              <a:srgbClr val="E7ECF0"/>
            </a:solidFill>
            <a:prstDash val="solid"/>
          </a:ln>
        </p:spPr>
      </p:sp>
      <p:sp>
        <p:nvSpPr>
          <p:cNvPr id="15" name="Shape 13"/>
          <p:cNvSpPr/>
          <p:nvPr/>
        </p:nvSpPr>
        <p:spPr>
          <a:xfrm>
            <a:off x="365760" y="2130552"/>
            <a:ext cx="91440" cy="475488"/>
          </a:xfrm>
          <a:prstGeom prst="rect">
            <a:avLst/>
          </a:prstGeom>
          <a:solidFill>
            <a:srgbClr val="06185F"/>
          </a:solidFill>
          <a:ln w="12700">
            <a:solidFill>
              <a:srgbClr val="06185F"/>
            </a:solidFill>
            <a:prstDash val="solid"/>
          </a:ln>
        </p:spPr>
      </p:sp>
      <p:sp>
        <p:nvSpPr>
          <p:cNvPr id="16" name="Text 14"/>
          <p:cNvSpPr/>
          <p:nvPr/>
        </p:nvSpPr>
        <p:spPr>
          <a:xfrm>
            <a:off x="502920" y="2167128"/>
            <a:ext cx="2514600" cy="402336"/>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Zelle Memo Intelligence</a:t>
            </a:r>
            <a:endParaRPr lang="en-US" sz="1050" dirty="0"/>
          </a:p>
        </p:txBody>
      </p:sp>
      <p:sp>
        <p:nvSpPr>
          <p:cNvPr id="17" name="Text 15"/>
          <p:cNvSpPr/>
          <p:nvPr/>
        </p:nvSpPr>
        <p:spPr>
          <a:xfrm>
            <a:off x="3108960" y="2167128"/>
            <a:ext cx="1783080" cy="402336"/>
          </a:xfrm>
          <a:prstGeom prst="rect">
            <a:avLst/>
          </a:prstGeom>
          <a:noFill/>
          <a:ln/>
        </p:spPr>
        <p:txBody>
          <a:bodyPr wrap="square" lIns="0" tIns="0" rIns="0" bIns="0" rtlCol="0" anchor="ctr"/>
          <a:lstStyle/>
          <a:p>
            <a:pPr indent="0" marL="0">
              <a:buNone/>
            </a:pPr>
            <a:r>
              <a:rPr lang="en-US" sz="1050" b="1" dirty="0">
                <a:solidFill>
                  <a:srgbClr val="085CE5"/>
                </a:solidFill>
                <a:latin typeface="Calibri" pitchFamily="34" charset="0"/>
                <a:ea typeface="Calibri" pitchFamily="34" charset="-122"/>
                <a:cs typeface="Calibri" pitchFamily="34" charset="-120"/>
              </a:rPr>
              <a:t>$250K–$600K / year</a:t>
            </a:r>
            <a:endParaRPr lang="en-US" sz="1050" dirty="0"/>
          </a:p>
        </p:txBody>
      </p:sp>
      <p:sp>
        <p:nvSpPr>
          <p:cNvPr id="18" name="Text 16"/>
          <p:cNvSpPr/>
          <p:nvPr/>
        </p:nvSpPr>
        <p:spPr>
          <a:xfrm>
            <a:off x="5029200" y="2167128"/>
            <a:ext cx="3657600" cy="402336"/>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60% reduction in manual review hours + SAR accuracy / regulatory risk avoidance</a:t>
            </a:r>
            <a:endParaRPr lang="en-US" sz="950" dirty="0"/>
          </a:p>
        </p:txBody>
      </p:sp>
      <p:sp>
        <p:nvSpPr>
          <p:cNvPr id="19" name="Shape 17"/>
          <p:cNvSpPr/>
          <p:nvPr/>
        </p:nvSpPr>
        <p:spPr>
          <a:xfrm>
            <a:off x="365760" y="2633472"/>
            <a:ext cx="8412480" cy="475488"/>
          </a:xfrm>
          <a:prstGeom prst="rect">
            <a:avLst/>
          </a:prstGeom>
          <a:solidFill>
            <a:srgbClr val="FFFFFF"/>
          </a:solidFill>
          <a:ln w="12700">
            <a:solidFill>
              <a:srgbClr val="E7ECF0"/>
            </a:solidFill>
            <a:prstDash val="solid"/>
          </a:ln>
        </p:spPr>
      </p:sp>
      <p:sp>
        <p:nvSpPr>
          <p:cNvPr id="20" name="Shape 18"/>
          <p:cNvSpPr/>
          <p:nvPr/>
        </p:nvSpPr>
        <p:spPr>
          <a:xfrm>
            <a:off x="365760" y="2633472"/>
            <a:ext cx="91440" cy="475488"/>
          </a:xfrm>
          <a:prstGeom prst="rect">
            <a:avLst/>
          </a:prstGeom>
          <a:solidFill>
            <a:srgbClr val="073FA8"/>
          </a:solidFill>
          <a:ln w="12700">
            <a:solidFill>
              <a:srgbClr val="073FA8"/>
            </a:solidFill>
            <a:prstDash val="solid"/>
          </a:ln>
        </p:spPr>
      </p:sp>
      <p:sp>
        <p:nvSpPr>
          <p:cNvPr id="21" name="Text 19"/>
          <p:cNvSpPr/>
          <p:nvPr/>
        </p:nvSpPr>
        <p:spPr>
          <a:xfrm>
            <a:off x="502920" y="2670048"/>
            <a:ext cx="2514600" cy="402336"/>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Anomaly Detection</a:t>
            </a:r>
            <a:endParaRPr lang="en-US" sz="1050" dirty="0"/>
          </a:p>
        </p:txBody>
      </p:sp>
      <p:sp>
        <p:nvSpPr>
          <p:cNvPr id="22" name="Text 20"/>
          <p:cNvSpPr/>
          <p:nvPr/>
        </p:nvSpPr>
        <p:spPr>
          <a:xfrm>
            <a:off x="3108960" y="2670048"/>
            <a:ext cx="1783080" cy="402336"/>
          </a:xfrm>
          <a:prstGeom prst="rect">
            <a:avLst/>
          </a:prstGeom>
          <a:noFill/>
          <a:ln/>
        </p:spPr>
        <p:txBody>
          <a:bodyPr wrap="square" lIns="0" tIns="0" rIns="0" bIns="0" rtlCol="0" anchor="ctr"/>
          <a:lstStyle/>
          <a:p>
            <a:pPr indent="0" marL="0">
              <a:buNone/>
            </a:pPr>
            <a:r>
              <a:rPr lang="en-US" sz="1050" b="1" dirty="0">
                <a:solidFill>
                  <a:srgbClr val="085CE5"/>
                </a:solidFill>
                <a:latin typeface="Calibri" pitchFamily="34" charset="0"/>
                <a:ea typeface="Calibri" pitchFamily="34" charset="-122"/>
                <a:cs typeface="Calibri" pitchFamily="34" charset="-120"/>
              </a:rPr>
              <a:t>$1–2M / year</a:t>
            </a:r>
            <a:endParaRPr lang="en-US" sz="1050" dirty="0"/>
          </a:p>
        </p:txBody>
      </p:sp>
      <p:sp>
        <p:nvSpPr>
          <p:cNvPr id="23" name="Text 21"/>
          <p:cNvSpPr/>
          <p:nvPr/>
        </p:nvSpPr>
        <p:spPr>
          <a:xfrm>
            <a:off x="5029200" y="2670048"/>
            <a:ext cx="3657600" cy="402336"/>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Fraud loss prevention + 70% false positive reduction (analyst labor saved)</a:t>
            </a:r>
            <a:endParaRPr lang="en-US" sz="950" dirty="0"/>
          </a:p>
        </p:txBody>
      </p:sp>
      <p:sp>
        <p:nvSpPr>
          <p:cNvPr id="24" name="Shape 22"/>
          <p:cNvSpPr/>
          <p:nvPr/>
        </p:nvSpPr>
        <p:spPr>
          <a:xfrm>
            <a:off x="365760" y="3136392"/>
            <a:ext cx="8412480" cy="475488"/>
          </a:xfrm>
          <a:prstGeom prst="rect">
            <a:avLst/>
          </a:prstGeom>
          <a:solidFill>
            <a:srgbClr val="E7ECF0"/>
          </a:solidFill>
          <a:ln w="12700">
            <a:solidFill>
              <a:srgbClr val="E7ECF0"/>
            </a:solidFill>
            <a:prstDash val="solid"/>
          </a:ln>
        </p:spPr>
      </p:sp>
      <p:sp>
        <p:nvSpPr>
          <p:cNvPr id="25" name="Shape 23"/>
          <p:cNvSpPr/>
          <p:nvPr/>
        </p:nvSpPr>
        <p:spPr>
          <a:xfrm>
            <a:off x="365760" y="3136392"/>
            <a:ext cx="91440" cy="475488"/>
          </a:xfrm>
          <a:prstGeom prst="rect">
            <a:avLst/>
          </a:prstGeom>
          <a:solidFill>
            <a:srgbClr val="575A5D"/>
          </a:solidFill>
          <a:ln w="12700">
            <a:solidFill>
              <a:srgbClr val="575A5D"/>
            </a:solidFill>
            <a:prstDash val="solid"/>
          </a:ln>
        </p:spPr>
      </p:sp>
      <p:sp>
        <p:nvSpPr>
          <p:cNvPr id="26" name="Text 24"/>
          <p:cNvSpPr/>
          <p:nvPr/>
        </p:nvSpPr>
        <p:spPr>
          <a:xfrm>
            <a:off x="502920" y="3172968"/>
            <a:ext cx="2514600" cy="402336"/>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Call Report AI</a:t>
            </a:r>
            <a:endParaRPr lang="en-US" sz="1050" dirty="0"/>
          </a:p>
        </p:txBody>
      </p:sp>
      <p:sp>
        <p:nvSpPr>
          <p:cNvPr id="27" name="Text 25"/>
          <p:cNvSpPr/>
          <p:nvPr/>
        </p:nvSpPr>
        <p:spPr>
          <a:xfrm>
            <a:off x="3108960" y="3172968"/>
            <a:ext cx="1783080" cy="402336"/>
          </a:xfrm>
          <a:prstGeom prst="rect">
            <a:avLst/>
          </a:prstGeom>
          <a:noFill/>
          <a:ln/>
        </p:spPr>
        <p:txBody>
          <a:bodyPr wrap="square" lIns="0" tIns="0" rIns="0" bIns="0" rtlCol="0" anchor="ctr"/>
          <a:lstStyle/>
          <a:p>
            <a:pPr indent="0" marL="0">
              <a:buNone/>
            </a:pPr>
            <a:r>
              <a:rPr lang="en-US" sz="1050" b="1" dirty="0">
                <a:solidFill>
                  <a:srgbClr val="085CE5"/>
                </a:solidFill>
                <a:latin typeface="Calibri" pitchFamily="34" charset="0"/>
                <a:ea typeface="Calibri" pitchFamily="34" charset="-122"/>
                <a:cs typeface="Calibri" pitchFamily="34" charset="-120"/>
              </a:rPr>
              <a:t>$100–$300K / year</a:t>
            </a:r>
            <a:endParaRPr lang="en-US" sz="1050" dirty="0"/>
          </a:p>
        </p:txBody>
      </p:sp>
      <p:sp>
        <p:nvSpPr>
          <p:cNvPr id="28" name="Text 26"/>
          <p:cNvSpPr/>
          <p:nvPr/>
        </p:nvSpPr>
        <p:spPr>
          <a:xfrm>
            <a:off x="5029200" y="3172968"/>
            <a:ext cx="3657600" cy="402336"/>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Analyst hours eliminated for peer benchmarking, board prep, and quarterly NCUA 5300 review; Aug/Sept 2026 launch</a:t>
            </a:r>
            <a:endParaRPr lang="en-US" sz="950" dirty="0"/>
          </a:p>
        </p:txBody>
      </p:sp>
      <p:sp>
        <p:nvSpPr>
          <p:cNvPr id="29" name="Shape 27"/>
          <p:cNvSpPr/>
          <p:nvPr/>
        </p:nvSpPr>
        <p:spPr>
          <a:xfrm>
            <a:off x="365760" y="3639312"/>
            <a:ext cx="8412480" cy="475488"/>
          </a:xfrm>
          <a:prstGeom prst="rect">
            <a:avLst/>
          </a:prstGeom>
          <a:solidFill>
            <a:srgbClr val="FFFFFF"/>
          </a:solidFill>
          <a:ln w="12700">
            <a:solidFill>
              <a:srgbClr val="E7ECF0"/>
            </a:solidFill>
            <a:prstDash val="solid"/>
          </a:ln>
        </p:spPr>
      </p:sp>
      <p:sp>
        <p:nvSpPr>
          <p:cNvPr id="30" name="Shape 28"/>
          <p:cNvSpPr/>
          <p:nvPr/>
        </p:nvSpPr>
        <p:spPr>
          <a:xfrm>
            <a:off x="365760" y="3639312"/>
            <a:ext cx="91440" cy="475488"/>
          </a:xfrm>
          <a:prstGeom prst="rect">
            <a:avLst/>
          </a:prstGeom>
          <a:solidFill>
            <a:srgbClr val="0B68D4"/>
          </a:solidFill>
          <a:ln w="12700">
            <a:solidFill>
              <a:srgbClr val="0B68D4"/>
            </a:solidFill>
            <a:prstDash val="solid"/>
          </a:ln>
        </p:spPr>
      </p:sp>
      <p:sp>
        <p:nvSpPr>
          <p:cNvPr id="31" name="Text 29"/>
          <p:cNvSpPr/>
          <p:nvPr/>
        </p:nvSpPr>
        <p:spPr>
          <a:xfrm>
            <a:off x="502920" y="3675888"/>
            <a:ext cx="2514600" cy="402336"/>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Account Opening LTV</a:t>
            </a:r>
            <a:endParaRPr lang="en-US" sz="1050" dirty="0"/>
          </a:p>
        </p:txBody>
      </p:sp>
      <p:sp>
        <p:nvSpPr>
          <p:cNvPr id="32" name="Text 30"/>
          <p:cNvSpPr/>
          <p:nvPr/>
        </p:nvSpPr>
        <p:spPr>
          <a:xfrm>
            <a:off x="3108960" y="3675888"/>
            <a:ext cx="1783080" cy="402336"/>
          </a:xfrm>
          <a:prstGeom prst="rect">
            <a:avLst/>
          </a:prstGeom>
          <a:noFill/>
          <a:ln/>
        </p:spPr>
        <p:txBody>
          <a:bodyPr wrap="square" lIns="0" tIns="0" rIns="0" bIns="0" rtlCol="0" anchor="ctr"/>
          <a:lstStyle/>
          <a:p>
            <a:pPr indent="0" marL="0">
              <a:buNone/>
            </a:pPr>
            <a:r>
              <a:rPr lang="en-US" sz="1050" b="1" dirty="0">
                <a:solidFill>
                  <a:srgbClr val="085CE5"/>
                </a:solidFill>
                <a:latin typeface="Calibri" pitchFamily="34" charset="0"/>
                <a:ea typeface="Calibri" pitchFamily="34" charset="-122"/>
                <a:cs typeface="Calibri" pitchFamily="34" charset="-120"/>
              </a:rPr>
              <a:t>$500K–$1.5M / year</a:t>
            </a:r>
            <a:endParaRPr lang="en-US" sz="1050" dirty="0"/>
          </a:p>
        </p:txBody>
      </p:sp>
      <p:sp>
        <p:nvSpPr>
          <p:cNvPr id="33" name="Text 31"/>
          <p:cNvSpPr/>
          <p:nvPr/>
        </p:nvSpPr>
        <p:spPr>
          <a:xfrm>
            <a:off x="5029200" y="3675888"/>
            <a:ext cx="3657600" cy="402336"/>
          </a:xfrm>
          <a:prstGeom prst="rect">
            <a:avLst/>
          </a:prstGeom>
          <a:noFill/>
          <a:ln/>
        </p:spPr>
        <p:txBody>
          <a:bodyPr wrap="square" lIns="0" tIns="0" rIns="0" bIns="0" rtlCol="0" anchor="ctr"/>
          <a:lstStyle/>
          <a:p>
            <a:pPr indent="0" marL="0">
              <a:buNone/>
            </a:pPr>
            <a:r>
              <a:rPr lang="en-US" sz="950" dirty="0">
                <a:solidFill>
                  <a:srgbClr val="575A5D"/>
                </a:solidFill>
                <a:latin typeface="Calibri" pitchFamily="34" charset="0"/>
                <a:ea typeface="Calibri" pitchFamily="34" charset="-122"/>
                <a:cs typeface="Calibri" pitchFamily="34" charset="-120"/>
              </a:rPr>
              <a:t>Tiered onboarding + 3–5× cross-sell improvement across 5,000–10,000 new accounts</a:t>
            </a:r>
            <a:endParaRPr lang="en-US" sz="950" dirty="0"/>
          </a:p>
        </p:txBody>
      </p:sp>
      <p:sp>
        <p:nvSpPr>
          <p:cNvPr id="34" name="Shape 32"/>
          <p:cNvSpPr/>
          <p:nvPr/>
        </p:nvSpPr>
        <p:spPr>
          <a:xfrm>
            <a:off x="365760" y="4142232"/>
            <a:ext cx="8412480" cy="475488"/>
          </a:xfrm>
          <a:prstGeom prst="rect">
            <a:avLst/>
          </a:prstGeom>
          <a:solidFill>
            <a:srgbClr val="06185F"/>
          </a:solidFill>
          <a:ln w="12700">
            <a:solidFill>
              <a:srgbClr val="06185F"/>
            </a:solidFill>
            <a:prstDash val="solid"/>
          </a:ln>
        </p:spPr>
      </p:sp>
      <p:sp>
        <p:nvSpPr>
          <p:cNvPr id="35" name="Text 33"/>
          <p:cNvSpPr/>
          <p:nvPr/>
        </p:nvSpPr>
        <p:spPr>
          <a:xfrm>
            <a:off x="502920" y="4178808"/>
            <a:ext cx="2514600" cy="40233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COMBINED POTENTIAL VALUE PER FI</a:t>
            </a:r>
            <a:endParaRPr lang="en-US" sz="1050" dirty="0"/>
          </a:p>
        </p:txBody>
      </p:sp>
      <p:sp>
        <p:nvSpPr>
          <p:cNvPr id="36" name="Text 34"/>
          <p:cNvSpPr/>
          <p:nvPr/>
        </p:nvSpPr>
        <p:spPr>
          <a:xfrm>
            <a:off x="3108960" y="4178808"/>
            <a:ext cx="1783080" cy="402336"/>
          </a:xfrm>
          <a:prstGeom prst="rect">
            <a:avLst/>
          </a:prstGeom>
          <a:noFill/>
          <a:ln/>
        </p:spPr>
        <p:txBody>
          <a:bodyPr wrap="square" lIns="0" tIns="0" rIns="0" bIns="0" rtlCol="0" anchor="ctr"/>
          <a:lstStyle/>
          <a:p>
            <a:pPr indent="0" marL="0">
              <a:buNone/>
            </a:pPr>
            <a:r>
              <a:rPr lang="en-US" sz="1100" b="1" dirty="0">
                <a:solidFill>
                  <a:srgbClr val="76DCFD"/>
                </a:solidFill>
                <a:latin typeface="Calibri" pitchFamily="34" charset="0"/>
                <a:ea typeface="Calibri" pitchFamily="34" charset="-122"/>
                <a:cs typeface="Calibri" pitchFamily="34" charset="-120"/>
              </a:rPr>
              <a:t>$3–7.5M / year</a:t>
            </a:r>
            <a:endParaRPr lang="en-US" sz="1100" dirty="0"/>
          </a:p>
        </p:txBody>
      </p:sp>
      <p:sp>
        <p:nvSpPr>
          <p:cNvPr id="37" name="Text 35"/>
          <p:cNvSpPr/>
          <p:nvPr/>
        </p:nvSpPr>
        <p:spPr>
          <a:xfrm>
            <a:off x="5029200" y="4178808"/>
            <a:ext cx="3657600" cy="402336"/>
          </a:xfrm>
          <a:prstGeom prst="rect">
            <a:avLst/>
          </a:prstGeom>
          <a:noFill/>
          <a:ln/>
        </p:spPr>
        <p:txBody>
          <a:bodyPr wrap="square" lIns="0" tIns="0" rIns="0" bIns="0" rtlCol="0" anchor="ctr"/>
          <a:lstStyle/>
          <a:p>
            <a:pPr indent="0" marL="0">
              <a:buNone/>
            </a:pPr>
            <a:r>
              <a:rPr lang="en-US" sz="950" dirty="0">
                <a:solidFill>
                  <a:srgbClr val="E7ECF0"/>
                </a:solidFill>
                <a:latin typeface="Calibri" pitchFamily="34" charset="0"/>
                <a:ea typeface="Calibri" pitchFamily="34" charset="-122"/>
                <a:cs typeface="Calibri" pitchFamily="34" charset="-120"/>
              </a:rPr>
              <a:t>Conservative aggregate across all 5 Phase 1 applications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JH Intelligence Platform — Pricing Architecture</a:t>
            </a:r>
            <a:endParaRPr lang="en-US" sz="2200" dirty="0"/>
          </a:p>
        </p:txBody>
      </p:sp>
      <p:sp>
        <p:nvSpPr>
          <p:cNvPr id="4" name="Text 2"/>
          <p:cNvSpPr/>
          <p:nvPr/>
        </p:nvSpPr>
        <p:spPr>
          <a:xfrm>
            <a:off x="365760" y="768096"/>
            <a:ext cx="8412480" cy="347472"/>
          </a:xfrm>
          <a:prstGeom prst="rect">
            <a:avLst/>
          </a:prstGeom>
          <a:noFill/>
          <a:ln/>
        </p:spPr>
        <p:txBody>
          <a:bodyPr wrap="square" lIns="0" tIns="0" rIns="0" bIns="0" rtlCol="0" anchor="ctr"/>
          <a:lstStyle/>
          <a:p>
            <a:pPr indent="0" marL="0">
              <a:buNone/>
            </a:pPr>
            <a:r>
              <a:rPr lang="en-US" sz="1200" dirty="0">
                <a:solidFill>
                  <a:srgbClr val="575A5D"/>
                </a:solidFill>
                <a:latin typeface="Calibri" pitchFamily="34" charset="0"/>
                <a:ea typeface="Calibri" pitchFamily="34" charset="-122"/>
                <a:cs typeface="Calibri" pitchFamily="34" charset="-120"/>
              </a:rPr>
              <a:t>Asset-tiered SaaS subscription — priced to fit every institution from $50M community CUs to $200B+ tier-1 FIs, with modules that expand as JH adds data sources.</a:t>
            </a:r>
            <a:endParaRPr lang="en-US" sz="1200" dirty="0"/>
          </a:p>
        </p:txBody>
      </p:sp>
      <p:sp>
        <p:nvSpPr>
          <p:cNvPr id="5" name="Shape 3"/>
          <p:cNvSpPr/>
          <p:nvPr/>
        </p:nvSpPr>
        <p:spPr>
          <a:xfrm>
            <a:off x="274320" y="1207008"/>
            <a:ext cx="2788920" cy="37947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274320" y="1207008"/>
            <a:ext cx="2788920" cy="475488"/>
          </a:xfrm>
          <a:prstGeom prst="rect">
            <a:avLst/>
          </a:prstGeom>
          <a:solidFill>
            <a:srgbClr val="0B68D4"/>
          </a:solidFill>
          <a:ln w="12700">
            <a:solidFill>
              <a:srgbClr val="0B68D4"/>
            </a:solidFill>
            <a:prstDash val="solid"/>
          </a:ln>
        </p:spPr>
      </p:sp>
      <p:sp>
        <p:nvSpPr>
          <p:cNvPr id="7" name="Text 5"/>
          <p:cNvSpPr/>
          <p:nvPr/>
        </p:nvSpPr>
        <p:spPr>
          <a:xfrm>
            <a:off x="411480" y="1252728"/>
            <a:ext cx="2514600" cy="384048"/>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INSIGHT</a:t>
            </a:r>
            <a:endParaRPr lang="en-US" sz="1400" dirty="0"/>
          </a:p>
        </p:txBody>
      </p:sp>
      <p:sp>
        <p:nvSpPr>
          <p:cNvPr id="8" name="Text 6"/>
          <p:cNvSpPr/>
          <p:nvPr/>
        </p:nvSpPr>
        <p:spPr>
          <a:xfrm>
            <a:off x="384048" y="1737360"/>
            <a:ext cx="2578608" cy="256032"/>
          </a:xfrm>
          <a:prstGeom prst="rect">
            <a:avLst/>
          </a:prstGeom>
          <a:noFill/>
          <a:ln/>
        </p:spPr>
        <p:txBody>
          <a:bodyPr wrap="square" lIns="0" tIns="0" rIns="0" bIns="0" rtlCol="0" anchor="ctr"/>
          <a:lstStyle/>
          <a:p>
            <a:pPr indent="0" marL="0">
              <a:buNone/>
            </a:pPr>
            <a:r>
              <a:rPr lang="en-US" sz="950" b="1" dirty="0">
                <a:solidFill>
                  <a:srgbClr val="0B68D4"/>
                </a:solidFill>
                <a:latin typeface="Calibri" pitchFamily="34" charset="0"/>
                <a:ea typeface="Calibri" pitchFamily="34" charset="-122"/>
                <a:cs typeface="Calibri" pitchFamily="34" charset="-120"/>
              </a:rPr>
              <a:t>Institutions &lt; $500M assets</a:t>
            </a:r>
            <a:endParaRPr lang="en-US" sz="950" dirty="0"/>
          </a:p>
        </p:txBody>
      </p:sp>
      <p:sp>
        <p:nvSpPr>
          <p:cNvPr id="9" name="Text 7"/>
          <p:cNvSpPr/>
          <p:nvPr/>
        </p:nvSpPr>
        <p:spPr>
          <a:xfrm>
            <a:off x="384048" y="2011680"/>
            <a:ext cx="2578608" cy="502920"/>
          </a:xfrm>
          <a:prstGeom prst="rect">
            <a:avLst/>
          </a:prstGeom>
          <a:noFill/>
          <a:ln/>
        </p:spPr>
        <p:txBody>
          <a:bodyPr wrap="square" lIns="0" tIns="0" rIns="0" bIns="0" rtlCol="0" anchor="ctr"/>
          <a:lstStyle/>
          <a:p>
            <a:pPr indent="0" marL="0">
              <a:buNone/>
            </a:pPr>
            <a:r>
              <a:rPr lang="en-US" sz="2600" b="1" dirty="0">
                <a:solidFill>
                  <a:srgbClr val="085CE5"/>
                </a:solidFill>
                <a:latin typeface="Calibri" pitchFamily="34" charset="0"/>
                <a:ea typeface="Calibri" pitchFamily="34" charset="-122"/>
                <a:cs typeface="Calibri" pitchFamily="34" charset="-120"/>
              </a:rPr>
              <a:t>$750 – $2,500</a:t>
            </a:r>
            <a:endParaRPr lang="en-US" sz="2600" dirty="0"/>
          </a:p>
        </p:txBody>
      </p:sp>
      <p:sp>
        <p:nvSpPr>
          <p:cNvPr id="10" name="Text 8"/>
          <p:cNvSpPr/>
          <p:nvPr/>
        </p:nvSpPr>
        <p:spPr>
          <a:xfrm>
            <a:off x="384048" y="2523744"/>
            <a:ext cx="2578608" cy="228600"/>
          </a:xfrm>
          <a:prstGeom prst="rect">
            <a:avLst/>
          </a:prstGeom>
          <a:noFill/>
          <a:ln/>
        </p:spPr>
        <p:txBody>
          <a:bodyPr wrap="square" lIns="0" tIns="0" rIns="0" bIns="0" rtlCol="0" anchor="ctr"/>
          <a:lstStyle/>
          <a:p>
            <a:pPr indent="0" marL="0">
              <a:buNone/>
            </a:pPr>
            <a:r>
              <a:rPr lang="en-US" sz="950" dirty="0">
                <a:solidFill>
                  <a:srgbClr val="B6BBC0"/>
                </a:solidFill>
                <a:latin typeface="Calibri" pitchFamily="34" charset="0"/>
                <a:ea typeface="Calibri" pitchFamily="34" charset="-122"/>
                <a:cs typeface="Calibri" pitchFamily="34" charset="-120"/>
              </a:rPr>
              <a:t>/ month per institution</a:t>
            </a:r>
            <a:endParaRPr lang="en-US" sz="950" dirty="0"/>
          </a:p>
        </p:txBody>
      </p:sp>
      <p:sp>
        <p:nvSpPr>
          <p:cNvPr id="11" name="Shape 9"/>
          <p:cNvSpPr/>
          <p:nvPr/>
        </p:nvSpPr>
        <p:spPr>
          <a:xfrm>
            <a:off x="384048" y="2798064"/>
            <a:ext cx="2578608" cy="36576"/>
          </a:xfrm>
          <a:prstGeom prst="rect">
            <a:avLst/>
          </a:prstGeom>
          <a:solidFill>
            <a:srgbClr val="E7ECF0"/>
          </a:solidFill>
          <a:ln w="12700">
            <a:solidFill>
              <a:srgbClr val="E7ECF0"/>
            </a:solidFill>
            <a:prstDash val="solid"/>
          </a:ln>
        </p:spPr>
      </p:sp>
      <p:sp>
        <p:nvSpPr>
          <p:cNvPr id="12" name="Text 10"/>
          <p:cNvSpPr/>
          <p:nvPr/>
        </p:nvSpPr>
        <p:spPr>
          <a:xfrm>
            <a:off x="384048" y="2871216"/>
            <a:ext cx="2578608"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CallRpt AI — NCUA 5300 intelligence</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Market Pulse dashboard (industry KPIs)</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Peer benchmarking (10 comparisons / mo)</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AI Q&amp;A — 100 queries / month</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Standard executive brief templates</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Email support</a:t>
            </a:r>
            <a:endParaRPr lang="en-US" sz="950" dirty="0"/>
          </a:p>
        </p:txBody>
      </p:sp>
      <p:sp>
        <p:nvSpPr>
          <p:cNvPr id="13" name="Shape 11"/>
          <p:cNvSpPr/>
          <p:nvPr/>
        </p:nvSpPr>
        <p:spPr>
          <a:xfrm>
            <a:off x="3182112" y="1207008"/>
            <a:ext cx="2788920" cy="3794760"/>
          </a:xfrm>
          <a:prstGeom prst="rect">
            <a:avLst/>
          </a:prstGeom>
          <a:solidFill>
            <a:srgbClr val="06185F"/>
          </a:solidFill>
          <a:ln w="12700">
            <a:solidFill>
              <a:srgbClr val="085CE5"/>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182112" y="1207008"/>
            <a:ext cx="2788920" cy="475488"/>
          </a:xfrm>
          <a:prstGeom prst="rect">
            <a:avLst/>
          </a:prstGeom>
          <a:solidFill>
            <a:srgbClr val="085CE5"/>
          </a:solidFill>
          <a:ln w="12700">
            <a:solidFill>
              <a:srgbClr val="085CE5"/>
            </a:solidFill>
            <a:prstDash val="solid"/>
          </a:ln>
        </p:spPr>
      </p:sp>
      <p:sp>
        <p:nvSpPr>
          <p:cNvPr id="15" name="Text 13"/>
          <p:cNvSpPr/>
          <p:nvPr/>
        </p:nvSpPr>
        <p:spPr>
          <a:xfrm>
            <a:off x="3319272" y="1252728"/>
            <a:ext cx="1645920" cy="384048"/>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INTELLIGENCE</a:t>
            </a:r>
            <a:endParaRPr lang="en-US" sz="1400" dirty="0"/>
          </a:p>
        </p:txBody>
      </p:sp>
      <p:sp>
        <p:nvSpPr>
          <p:cNvPr id="16" name="Shape 14"/>
          <p:cNvSpPr/>
          <p:nvPr/>
        </p:nvSpPr>
        <p:spPr>
          <a:xfrm>
            <a:off x="4992624" y="1298448"/>
            <a:ext cx="914400" cy="274320"/>
          </a:xfrm>
          <a:prstGeom prst="rect">
            <a:avLst/>
          </a:prstGeom>
          <a:solidFill>
            <a:srgbClr val="76DCFD"/>
          </a:solidFill>
          <a:ln w="12700">
            <a:solidFill>
              <a:srgbClr val="76DCFD"/>
            </a:solidFill>
            <a:prstDash val="solid"/>
          </a:ln>
        </p:spPr>
      </p:sp>
      <p:sp>
        <p:nvSpPr>
          <p:cNvPr id="17" name="Text 15"/>
          <p:cNvSpPr/>
          <p:nvPr/>
        </p:nvSpPr>
        <p:spPr>
          <a:xfrm>
            <a:off x="4992624" y="1298448"/>
            <a:ext cx="914400" cy="274320"/>
          </a:xfrm>
          <a:prstGeom prst="rect">
            <a:avLst/>
          </a:prstGeom>
          <a:noFill/>
          <a:ln/>
        </p:spPr>
        <p:txBody>
          <a:bodyPr wrap="square" lIns="0" tIns="0" rIns="0" bIns="0" rtlCol="0" anchor="ctr"/>
          <a:lstStyle/>
          <a:p>
            <a:pPr algn="ctr" indent="0" marL="0">
              <a:buNone/>
            </a:pPr>
            <a:r>
              <a:rPr lang="en-US" sz="700" b="1" spc="50" kern="0" dirty="0">
                <a:solidFill>
                  <a:srgbClr val="06185F"/>
                </a:solidFill>
                <a:latin typeface="Calibri" pitchFamily="34" charset="0"/>
                <a:ea typeface="Calibri" pitchFamily="34" charset="-122"/>
                <a:cs typeface="Calibri" pitchFamily="34" charset="-120"/>
              </a:rPr>
              <a:t>RECOMMENDED</a:t>
            </a:r>
            <a:endParaRPr lang="en-US" sz="700" dirty="0"/>
          </a:p>
        </p:txBody>
      </p:sp>
      <p:sp>
        <p:nvSpPr>
          <p:cNvPr id="18" name="Text 16"/>
          <p:cNvSpPr/>
          <p:nvPr/>
        </p:nvSpPr>
        <p:spPr>
          <a:xfrm>
            <a:off x="3291840" y="1737360"/>
            <a:ext cx="2578608" cy="256032"/>
          </a:xfrm>
          <a:prstGeom prst="rect">
            <a:avLst/>
          </a:prstGeom>
          <a:noFill/>
          <a:ln/>
        </p:spPr>
        <p:txBody>
          <a:bodyPr wrap="square" lIns="0" tIns="0" rIns="0" bIns="0" rtlCol="0" anchor="ctr"/>
          <a:lstStyle/>
          <a:p>
            <a:pPr indent="0" marL="0">
              <a:buNone/>
            </a:pPr>
            <a:r>
              <a:rPr lang="en-US" sz="950" b="1" dirty="0">
                <a:solidFill>
                  <a:srgbClr val="085CE5"/>
                </a:solidFill>
                <a:latin typeface="Calibri" pitchFamily="34" charset="0"/>
                <a:ea typeface="Calibri" pitchFamily="34" charset="-122"/>
                <a:cs typeface="Calibri" pitchFamily="34" charset="-120"/>
              </a:rPr>
              <a:t>$500M – $5B assets</a:t>
            </a:r>
            <a:endParaRPr lang="en-US" sz="950" dirty="0"/>
          </a:p>
        </p:txBody>
      </p:sp>
      <p:sp>
        <p:nvSpPr>
          <p:cNvPr id="19" name="Text 17"/>
          <p:cNvSpPr/>
          <p:nvPr/>
        </p:nvSpPr>
        <p:spPr>
          <a:xfrm>
            <a:off x="3291840" y="2011680"/>
            <a:ext cx="2578608" cy="502920"/>
          </a:xfrm>
          <a:prstGeom prst="rect">
            <a:avLst/>
          </a:prstGeom>
          <a:noFill/>
          <a:ln/>
        </p:spPr>
        <p:txBody>
          <a:bodyPr wrap="square" lIns="0" tIns="0" rIns="0" bIns="0" rtlCol="0" anchor="ctr"/>
          <a:lstStyle/>
          <a:p>
            <a:pPr indent="0" marL="0">
              <a:buNone/>
            </a:pPr>
            <a:r>
              <a:rPr lang="en-US" sz="2600" b="1" dirty="0">
                <a:solidFill>
                  <a:srgbClr val="76DCFD"/>
                </a:solidFill>
                <a:latin typeface="Calibri" pitchFamily="34" charset="0"/>
                <a:ea typeface="Calibri" pitchFamily="34" charset="-122"/>
                <a:cs typeface="Calibri" pitchFamily="34" charset="-120"/>
              </a:rPr>
              <a:t>$2,500 – $8,000</a:t>
            </a:r>
            <a:endParaRPr lang="en-US" sz="2600" dirty="0"/>
          </a:p>
        </p:txBody>
      </p:sp>
      <p:sp>
        <p:nvSpPr>
          <p:cNvPr id="20" name="Text 18"/>
          <p:cNvSpPr/>
          <p:nvPr/>
        </p:nvSpPr>
        <p:spPr>
          <a:xfrm>
            <a:off x="3291840" y="2523744"/>
            <a:ext cx="2578608" cy="228600"/>
          </a:xfrm>
          <a:prstGeom prst="rect">
            <a:avLst/>
          </a:prstGeom>
          <a:noFill/>
          <a:ln/>
        </p:spPr>
        <p:txBody>
          <a:bodyPr wrap="square" lIns="0" tIns="0" rIns="0" bIns="0" rtlCol="0" anchor="ctr"/>
          <a:lstStyle/>
          <a:p>
            <a:pPr indent="0" marL="0">
              <a:buNone/>
            </a:pPr>
            <a:r>
              <a:rPr lang="en-US" sz="950" dirty="0">
                <a:solidFill>
                  <a:srgbClr val="E7ECF0"/>
                </a:solidFill>
                <a:latin typeface="Calibri" pitchFamily="34" charset="0"/>
                <a:ea typeface="Calibri" pitchFamily="34" charset="-122"/>
                <a:cs typeface="Calibri" pitchFamily="34" charset="-120"/>
              </a:rPr>
              <a:t>/ month per institution</a:t>
            </a:r>
            <a:endParaRPr lang="en-US" sz="950" dirty="0"/>
          </a:p>
        </p:txBody>
      </p:sp>
      <p:sp>
        <p:nvSpPr>
          <p:cNvPr id="21" name="Shape 19"/>
          <p:cNvSpPr/>
          <p:nvPr/>
        </p:nvSpPr>
        <p:spPr>
          <a:xfrm>
            <a:off x="3291840" y="2798064"/>
            <a:ext cx="2578608" cy="36576"/>
          </a:xfrm>
          <a:prstGeom prst="rect">
            <a:avLst/>
          </a:prstGeom>
          <a:solidFill>
            <a:srgbClr val="0B68D4"/>
          </a:solidFill>
          <a:ln w="12700">
            <a:solidFill>
              <a:srgbClr val="0B68D4"/>
            </a:solidFill>
            <a:prstDash val="solid"/>
          </a:ln>
        </p:spPr>
      </p:sp>
      <p:sp>
        <p:nvSpPr>
          <p:cNvPr id="22" name="Text 20"/>
          <p:cNvSpPr/>
          <p:nvPr/>
        </p:nvSpPr>
        <p:spPr>
          <a:xfrm>
            <a:off x="3291840" y="2871216"/>
            <a:ext cx="2578608"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Everything in Insight</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Churn / Attrition Mediation scores</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Account Opening Lifetime Value model</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Unlimited peer benchmarking + API</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AI Q&amp;A — unlimited queries</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CRM integration + outreach triggers</a:t>
            </a:r>
            <a:endParaRPr lang="en-US" sz="950" dirty="0"/>
          </a:p>
          <a:p>
            <a:pPr marL="342900" indent="-342900">
              <a:spcAft>
                <a:spcPts val="400"/>
              </a:spcAft>
              <a:buSzPct val="100000"/>
              <a:buChar char="•"/>
            </a:pPr>
            <a:r>
              <a:rPr lang="en-US" sz="950" dirty="0">
                <a:solidFill>
                  <a:srgbClr val="FFFFFF"/>
                </a:solidFill>
                <a:latin typeface="Calibri" pitchFamily="34" charset="0"/>
                <a:ea typeface="Calibri" pitchFamily="34" charset="-122"/>
                <a:cs typeface="Calibri" pitchFamily="34" charset="-120"/>
              </a:rPr>
              <a:t>Dedicated onboarding support</a:t>
            </a:r>
            <a:endParaRPr lang="en-US" sz="950" dirty="0"/>
          </a:p>
        </p:txBody>
      </p:sp>
      <p:sp>
        <p:nvSpPr>
          <p:cNvPr id="23" name="Shape 21"/>
          <p:cNvSpPr/>
          <p:nvPr/>
        </p:nvSpPr>
        <p:spPr>
          <a:xfrm>
            <a:off x="6089904" y="1207008"/>
            <a:ext cx="2788920" cy="3794760"/>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6089904" y="1207008"/>
            <a:ext cx="2788920" cy="475488"/>
          </a:xfrm>
          <a:prstGeom prst="rect">
            <a:avLst/>
          </a:prstGeom>
          <a:solidFill>
            <a:srgbClr val="06185F"/>
          </a:solidFill>
          <a:ln w="12700">
            <a:solidFill>
              <a:srgbClr val="06185F"/>
            </a:solidFill>
            <a:prstDash val="solid"/>
          </a:ln>
        </p:spPr>
      </p:sp>
      <p:sp>
        <p:nvSpPr>
          <p:cNvPr id="25" name="Text 23"/>
          <p:cNvSpPr/>
          <p:nvPr/>
        </p:nvSpPr>
        <p:spPr>
          <a:xfrm>
            <a:off x="6227064" y="1252728"/>
            <a:ext cx="2514600" cy="384048"/>
          </a:xfrm>
          <a:prstGeom prst="rect">
            <a:avLst/>
          </a:prstGeom>
          <a:noFill/>
          <a:ln/>
        </p:spPr>
        <p:txBody>
          <a:bodyPr wrap="square" lIns="0" tIns="0" rIns="0" bIns="0" rtlCol="0" anchor="ctr"/>
          <a:lstStyle/>
          <a:p>
            <a:pPr indent="0" marL="0">
              <a:buNone/>
            </a:pPr>
            <a:r>
              <a:rPr lang="en-US" sz="1400" b="1" spc="100" kern="0" dirty="0">
                <a:solidFill>
                  <a:srgbClr val="FFFFFF"/>
                </a:solidFill>
                <a:latin typeface="Calibri" pitchFamily="34" charset="0"/>
                <a:ea typeface="Calibri" pitchFamily="34" charset="-122"/>
                <a:cs typeface="Calibri" pitchFamily="34" charset="-120"/>
              </a:rPr>
              <a:t>ENTERPRISE</a:t>
            </a:r>
            <a:endParaRPr lang="en-US" sz="1400" dirty="0"/>
          </a:p>
        </p:txBody>
      </p:sp>
      <p:sp>
        <p:nvSpPr>
          <p:cNvPr id="26" name="Text 24"/>
          <p:cNvSpPr/>
          <p:nvPr/>
        </p:nvSpPr>
        <p:spPr>
          <a:xfrm>
            <a:off x="6199632" y="1737360"/>
            <a:ext cx="2578608" cy="256032"/>
          </a:xfrm>
          <a:prstGeom prst="rect">
            <a:avLst/>
          </a:prstGeom>
          <a:noFill/>
          <a:ln/>
        </p:spPr>
        <p:txBody>
          <a:bodyPr wrap="square" lIns="0" tIns="0" rIns="0" bIns="0" rtlCol="0" anchor="ctr"/>
          <a:lstStyle/>
          <a:p>
            <a:pPr indent="0" marL="0">
              <a:buNone/>
            </a:pPr>
            <a:r>
              <a:rPr lang="en-US" sz="950" b="1" dirty="0">
                <a:solidFill>
                  <a:srgbClr val="06185F"/>
                </a:solidFill>
                <a:latin typeface="Calibri" pitchFamily="34" charset="0"/>
                <a:ea typeface="Calibri" pitchFamily="34" charset="-122"/>
                <a:cs typeface="Calibri" pitchFamily="34" charset="-120"/>
              </a:rPr>
              <a:t>$5B+ assets</a:t>
            </a:r>
            <a:endParaRPr lang="en-US" sz="950" dirty="0"/>
          </a:p>
        </p:txBody>
      </p:sp>
      <p:sp>
        <p:nvSpPr>
          <p:cNvPr id="27" name="Text 25"/>
          <p:cNvSpPr/>
          <p:nvPr/>
        </p:nvSpPr>
        <p:spPr>
          <a:xfrm>
            <a:off x="6199632" y="2011680"/>
            <a:ext cx="2578608" cy="502920"/>
          </a:xfrm>
          <a:prstGeom prst="rect">
            <a:avLst/>
          </a:prstGeom>
          <a:noFill/>
          <a:ln/>
        </p:spPr>
        <p:txBody>
          <a:bodyPr wrap="square" lIns="0" tIns="0" rIns="0" bIns="0" rtlCol="0" anchor="ctr"/>
          <a:lstStyle/>
          <a:p>
            <a:pPr indent="0" marL="0">
              <a:buNone/>
            </a:pPr>
            <a:r>
              <a:rPr lang="en-US" sz="2600" b="1" dirty="0">
                <a:solidFill>
                  <a:srgbClr val="085CE5"/>
                </a:solidFill>
                <a:latin typeface="Calibri" pitchFamily="34" charset="0"/>
                <a:ea typeface="Calibri" pitchFamily="34" charset="-122"/>
                <a:cs typeface="Calibri" pitchFamily="34" charset="-120"/>
              </a:rPr>
              <a:t>$10,000+</a:t>
            </a:r>
            <a:endParaRPr lang="en-US" sz="2600" dirty="0"/>
          </a:p>
        </p:txBody>
      </p:sp>
      <p:sp>
        <p:nvSpPr>
          <p:cNvPr id="28" name="Text 26"/>
          <p:cNvSpPr/>
          <p:nvPr/>
        </p:nvSpPr>
        <p:spPr>
          <a:xfrm>
            <a:off x="6199632" y="2523744"/>
            <a:ext cx="2578608" cy="228600"/>
          </a:xfrm>
          <a:prstGeom prst="rect">
            <a:avLst/>
          </a:prstGeom>
          <a:noFill/>
          <a:ln/>
        </p:spPr>
        <p:txBody>
          <a:bodyPr wrap="square" lIns="0" tIns="0" rIns="0" bIns="0" rtlCol="0" anchor="ctr"/>
          <a:lstStyle/>
          <a:p>
            <a:pPr indent="0" marL="0">
              <a:buNone/>
            </a:pPr>
            <a:r>
              <a:rPr lang="en-US" sz="950" dirty="0">
                <a:solidFill>
                  <a:srgbClr val="B6BBC0"/>
                </a:solidFill>
                <a:latin typeface="Calibri" pitchFamily="34" charset="0"/>
                <a:ea typeface="Calibri" pitchFamily="34" charset="-122"/>
                <a:cs typeface="Calibri" pitchFamily="34" charset="-120"/>
              </a:rPr>
              <a:t>/ month — custom scoped</a:t>
            </a:r>
            <a:endParaRPr lang="en-US" sz="950" dirty="0"/>
          </a:p>
        </p:txBody>
      </p:sp>
      <p:sp>
        <p:nvSpPr>
          <p:cNvPr id="29" name="Shape 27"/>
          <p:cNvSpPr/>
          <p:nvPr/>
        </p:nvSpPr>
        <p:spPr>
          <a:xfrm>
            <a:off x="6199632" y="2798064"/>
            <a:ext cx="2578608" cy="36576"/>
          </a:xfrm>
          <a:prstGeom prst="rect">
            <a:avLst/>
          </a:prstGeom>
          <a:solidFill>
            <a:srgbClr val="E7ECF0"/>
          </a:solidFill>
          <a:ln w="12700">
            <a:solidFill>
              <a:srgbClr val="E7ECF0"/>
            </a:solidFill>
            <a:prstDash val="solid"/>
          </a:ln>
        </p:spPr>
      </p:sp>
      <p:sp>
        <p:nvSpPr>
          <p:cNvPr id="30" name="Text 28"/>
          <p:cNvSpPr/>
          <p:nvPr/>
        </p:nvSpPr>
        <p:spPr>
          <a:xfrm>
            <a:off x="6199632" y="2871216"/>
            <a:ext cx="2578608" cy="2029968"/>
          </a:xfrm>
          <a:prstGeom prst="rect">
            <a:avLst/>
          </a:prstGeom>
          <a:noFill/>
          <a:ln/>
        </p:spPr>
        <p:txBody>
          <a:bodyPr wrap="square" lIns="0" tIns="0" rIns="0" bIns="0" rtlCol="0" anchor="ctr"/>
          <a:lstStyle/>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Everything in Intelligence</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Zelle Memo Intelligence pipeline</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Anomaly Detection (real-time streaming)</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White-labeled client-facing portal</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Full REST API suite + webhooks</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Custom model training on FI data</a:t>
            </a:r>
            <a:endParaRPr lang="en-US" sz="950" dirty="0"/>
          </a:p>
          <a:p>
            <a:pPr marL="342900" indent="-342900">
              <a:spcAft>
                <a:spcPts val="400"/>
              </a:spcAft>
              <a:buSzPct val="100000"/>
              <a:buChar char="•"/>
            </a:pPr>
            <a:r>
              <a:rPr lang="en-US" sz="950" dirty="0">
                <a:solidFill>
                  <a:srgbClr val="575A5D"/>
                </a:solidFill>
                <a:latin typeface="Calibri" pitchFamily="34" charset="0"/>
                <a:ea typeface="Calibri" pitchFamily="34" charset="-122"/>
                <a:cs typeface="Calibri" pitchFamily="34" charset="-120"/>
              </a:rPr>
              <a:t>Dedicated success manager</a:t>
            </a:r>
            <a:endParaRPr lang="en-US" sz="950" dirty="0"/>
          </a:p>
        </p:txBody>
      </p:sp>
      <p:sp>
        <p:nvSpPr>
          <p:cNvPr id="31" name="Text 29"/>
          <p:cNvSpPr/>
          <p:nvPr/>
        </p:nvSpPr>
        <p:spPr>
          <a:xfrm>
            <a:off x="365760" y="4992624"/>
            <a:ext cx="8412480" cy="201168"/>
          </a:xfrm>
          <a:prstGeom prst="rect">
            <a:avLst/>
          </a:prstGeom>
          <a:noFill/>
          <a:ln/>
        </p:spPr>
        <p:txBody>
          <a:bodyPr wrap="square" lIns="0" tIns="0" rIns="0" bIns="0" rtlCol="0" anchor="ctr"/>
          <a:lstStyle/>
          <a:p>
            <a:pPr algn="ctr" indent="0" marL="0">
              <a:buNone/>
            </a:pPr>
            <a:r>
              <a:rPr lang="en-US" sz="850" i="1" dirty="0">
                <a:solidFill>
                  <a:srgbClr val="B6BBC0"/>
                </a:solidFill>
                <a:latin typeface="Calibri" pitchFamily="34" charset="0"/>
                <a:ea typeface="Calibri" pitchFamily="34" charset="-122"/>
                <a:cs typeface="Calibri" pitchFamily="34" charset="-120"/>
              </a:rPr>
              <a:t>All tiers include: SOC 2 compliant data handling · NCUA 5300 + FFIEC base dataset · 99.9% SLA · Quarterly model updates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EFD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Application Pricing — Phase 1 Suite</a:t>
            </a:r>
            <a:endParaRPr lang="en-US" sz="2200" dirty="0"/>
          </a:p>
        </p:txBody>
      </p:sp>
      <p:sp>
        <p:nvSpPr>
          <p:cNvPr id="4" name="Text 2"/>
          <p:cNvSpPr/>
          <p:nvPr/>
        </p:nvSpPr>
        <p:spPr>
          <a:xfrm>
            <a:off x="365760" y="749808"/>
            <a:ext cx="8412480" cy="256032"/>
          </a:xfrm>
          <a:prstGeom prst="rect">
            <a:avLst/>
          </a:prstGeom>
          <a:noFill/>
          <a:ln/>
        </p:spPr>
        <p:txBody>
          <a:bodyPr wrap="square" lIns="0" tIns="0" rIns="0" bIns="0" rtlCol="0" anchor="ctr"/>
          <a:lstStyle/>
          <a:p>
            <a:pPr indent="0" marL="0">
              <a:buNone/>
            </a:pPr>
            <a:r>
              <a:rPr lang="en-US" sz="1050" dirty="0">
                <a:solidFill>
                  <a:srgbClr val="575A5D"/>
                </a:solidFill>
                <a:latin typeface="Calibri" pitchFamily="34" charset="0"/>
                <a:ea typeface="Calibri" pitchFamily="34" charset="-122"/>
                <a:cs typeface="Calibri" pitchFamily="34" charset="-120"/>
              </a:rPr>
              <a:t>Each application can be licensed standalone or bundled. Bundle pricing reflects the Intelligence tier — 20–30% below standalone sum.</a:t>
            </a:r>
            <a:endParaRPr lang="en-US" sz="1050" dirty="0"/>
          </a:p>
        </p:txBody>
      </p:sp>
      <p:sp>
        <p:nvSpPr>
          <p:cNvPr id="5" name="Text 3"/>
          <p:cNvSpPr/>
          <p:nvPr/>
        </p:nvSpPr>
        <p:spPr>
          <a:xfrm>
            <a:off x="320040" y="1078992"/>
            <a:ext cx="3108960" cy="219456"/>
          </a:xfrm>
          <a:prstGeom prst="rect">
            <a:avLst/>
          </a:prstGeom>
          <a:noFill/>
          <a:ln/>
        </p:spPr>
        <p:txBody>
          <a:bodyPr wrap="square" lIns="0" tIns="0" rIns="0" bIns="0" rtlCol="0" anchor="ctr"/>
          <a:lstStyle/>
          <a:p>
            <a:pPr indent="0" marL="0">
              <a:buNone/>
            </a:pPr>
            <a:r>
              <a:rPr lang="en-US" sz="850" b="1" spc="50" kern="0" dirty="0">
                <a:solidFill>
                  <a:srgbClr val="B6BBC0"/>
                </a:solidFill>
                <a:latin typeface="Calibri" pitchFamily="34" charset="0"/>
                <a:ea typeface="Calibri" pitchFamily="34" charset="-122"/>
                <a:cs typeface="Calibri" pitchFamily="34" charset="-120"/>
              </a:rPr>
              <a:t>APPLICATION</a:t>
            </a:r>
            <a:endParaRPr lang="en-US" sz="850" dirty="0"/>
          </a:p>
        </p:txBody>
      </p:sp>
      <p:sp>
        <p:nvSpPr>
          <p:cNvPr id="6" name="Text 4"/>
          <p:cNvSpPr/>
          <p:nvPr/>
        </p:nvSpPr>
        <p:spPr>
          <a:xfrm>
            <a:off x="3520440" y="1078992"/>
            <a:ext cx="2743200" cy="219456"/>
          </a:xfrm>
          <a:prstGeom prst="rect">
            <a:avLst/>
          </a:prstGeom>
          <a:noFill/>
          <a:ln/>
        </p:spPr>
        <p:txBody>
          <a:bodyPr wrap="square" lIns="0" tIns="0" rIns="0" bIns="0" rtlCol="0" anchor="ctr"/>
          <a:lstStyle/>
          <a:p>
            <a:pPr indent="0" marL="0">
              <a:buNone/>
            </a:pPr>
            <a:r>
              <a:rPr lang="en-US" sz="850" b="1" spc="50" kern="0" dirty="0">
                <a:solidFill>
                  <a:srgbClr val="B6BBC0"/>
                </a:solidFill>
                <a:latin typeface="Calibri" pitchFamily="34" charset="0"/>
                <a:ea typeface="Calibri" pitchFamily="34" charset="-122"/>
                <a:cs typeface="Calibri" pitchFamily="34" charset="-120"/>
              </a:rPr>
              <a:t>VALUE DRIVER</a:t>
            </a:r>
            <a:endParaRPr lang="en-US" sz="850" dirty="0"/>
          </a:p>
        </p:txBody>
      </p:sp>
      <p:sp>
        <p:nvSpPr>
          <p:cNvPr id="7" name="Text 5"/>
          <p:cNvSpPr/>
          <p:nvPr/>
        </p:nvSpPr>
        <p:spPr>
          <a:xfrm>
            <a:off x="6355080" y="1078992"/>
            <a:ext cx="1417320" cy="219456"/>
          </a:xfrm>
          <a:prstGeom prst="rect">
            <a:avLst/>
          </a:prstGeom>
          <a:noFill/>
          <a:ln/>
        </p:spPr>
        <p:txBody>
          <a:bodyPr wrap="square" lIns="0" tIns="0" rIns="0" bIns="0" rtlCol="0" anchor="ctr"/>
          <a:lstStyle/>
          <a:p>
            <a:pPr indent="0" marL="0">
              <a:buNone/>
            </a:pPr>
            <a:r>
              <a:rPr lang="en-US" sz="850" b="1" spc="50" kern="0" dirty="0">
                <a:solidFill>
                  <a:srgbClr val="B6BBC0"/>
                </a:solidFill>
                <a:latin typeface="Calibri" pitchFamily="34" charset="0"/>
                <a:ea typeface="Calibri" pitchFamily="34" charset="-122"/>
                <a:cs typeface="Calibri" pitchFamily="34" charset="-120"/>
              </a:rPr>
              <a:t>STANDALONE / MO</a:t>
            </a:r>
            <a:endParaRPr lang="en-US" sz="850" dirty="0"/>
          </a:p>
        </p:txBody>
      </p:sp>
      <p:sp>
        <p:nvSpPr>
          <p:cNvPr id="8" name="Text 6"/>
          <p:cNvSpPr/>
          <p:nvPr/>
        </p:nvSpPr>
        <p:spPr>
          <a:xfrm>
            <a:off x="7818120" y="1078992"/>
            <a:ext cx="1234440" cy="219456"/>
          </a:xfrm>
          <a:prstGeom prst="rect">
            <a:avLst/>
          </a:prstGeom>
          <a:noFill/>
          <a:ln/>
        </p:spPr>
        <p:txBody>
          <a:bodyPr wrap="square" lIns="0" tIns="0" rIns="0" bIns="0" rtlCol="0" anchor="ctr"/>
          <a:lstStyle/>
          <a:p>
            <a:pPr indent="0" marL="0">
              <a:buNone/>
            </a:pPr>
            <a:r>
              <a:rPr lang="en-US" sz="850" b="1" spc="50" kern="0" dirty="0">
                <a:solidFill>
                  <a:srgbClr val="B6BBC0"/>
                </a:solidFill>
                <a:latin typeface="Calibri" pitchFamily="34" charset="0"/>
                <a:ea typeface="Calibri" pitchFamily="34" charset="-122"/>
                <a:cs typeface="Calibri" pitchFamily="34" charset="-120"/>
              </a:rPr>
              <a:t>BUNDLE CREDIT</a:t>
            </a:r>
            <a:endParaRPr lang="en-US" sz="850" dirty="0"/>
          </a:p>
        </p:txBody>
      </p:sp>
      <p:sp>
        <p:nvSpPr>
          <p:cNvPr id="9" name="Shape 7"/>
          <p:cNvSpPr/>
          <p:nvPr/>
        </p:nvSpPr>
        <p:spPr>
          <a:xfrm>
            <a:off x="320040" y="1307592"/>
            <a:ext cx="8732520" cy="18288"/>
          </a:xfrm>
          <a:prstGeom prst="rect">
            <a:avLst/>
          </a:prstGeom>
          <a:solidFill>
            <a:srgbClr val="E7ECF0"/>
          </a:solidFill>
          <a:ln w="12700">
            <a:solidFill>
              <a:srgbClr val="E7ECF0"/>
            </a:solidFill>
            <a:prstDash val="solid"/>
          </a:ln>
        </p:spPr>
      </p:sp>
      <p:sp>
        <p:nvSpPr>
          <p:cNvPr id="10" name="Shape 8"/>
          <p:cNvSpPr/>
          <p:nvPr/>
        </p:nvSpPr>
        <p:spPr>
          <a:xfrm>
            <a:off x="320040" y="1371600"/>
            <a:ext cx="8732520" cy="530352"/>
          </a:xfrm>
          <a:prstGeom prst="rect">
            <a:avLst/>
          </a:prstGeom>
          <a:solidFill>
            <a:srgbClr val="FFFFFF"/>
          </a:solidFill>
          <a:ln w="12700">
            <a:solidFill>
              <a:srgbClr val="E7ECF0"/>
            </a:solidFill>
            <a:prstDash val="solid"/>
          </a:ln>
        </p:spPr>
      </p:sp>
      <p:sp>
        <p:nvSpPr>
          <p:cNvPr id="11" name="Shape 9"/>
          <p:cNvSpPr/>
          <p:nvPr/>
        </p:nvSpPr>
        <p:spPr>
          <a:xfrm>
            <a:off x="320040" y="1371600"/>
            <a:ext cx="73152" cy="530352"/>
          </a:xfrm>
          <a:prstGeom prst="rect">
            <a:avLst/>
          </a:prstGeom>
          <a:solidFill>
            <a:srgbClr val="085CE5"/>
          </a:solidFill>
          <a:ln w="12700">
            <a:solidFill>
              <a:srgbClr val="085CE5"/>
            </a:solidFill>
            <a:prstDash val="solid"/>
          </a:ln>
        </p:spPr>
      </p:sp>
      <p:sp>
        <p:nvSpPr>
          <p:cNvPr id="12" name="Text 10"/>
          <p:cNvSpPr/>
          <p:nvPr/>
        </p:nvSpPr>
        <p:spPr>
          <a:xfrm>
            <a:off x="475488" y="1417320"/>
            <a:ext cx="2971800" cy="201168"/>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Attrition / Churn Mediation</a:t>
            </a:r>
            <a:endParaRPr lang="en-US" sz="1000" dirty="0"/>
          </a:p>
        </p:txBody>
      </p:sp>
      <p:sp>
        <p:nvSpPr>
          <p:cNvPr id="13" name="Text 11"/>
          <p:cNvSpPr/>
          <p:nvPr/>
        </p:nvSpPr>
        <p:spPr>
          <a:xfrm>
            <a:off x="475488" y="1636776"/>
            <a:ext cx="2971800" cy="219456"/>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ML churn scores + proactive retention triggers per member</a:t>
            </a:r>
            <a:endParaRPr lang="en-US" sz="800" dirty="0"/>
          </a:p>
        </p:txBody>
      </p:sp>
      <p:sp>
        <p:nvSpPr>
          <p:cNvPr id="14" name="Text 12"/>
          <p:cNvSpPr/>
          <p:nvPr/>
        </p:nvSpPr>
        <p:spPr>
          <a:xfrm>
            <a:off x="3520440" y="1426464"/>
            <a:ext cx="2743200" cy="420624"/>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15–25% reduction in member attrition · avg. $400–$600 LTV saved per retained account</a:t>
            </a:r>
            <a:endParaRPr lang="en-US" sz="800" dirty="0"/>
          </a:p>
        </p:txBody>
      </p:sp>
      <p:sp>
        <p:nvSpPr>
          <p:cNvPr id="15" name="Text 13"/>
          <p:cNvSpPr/>
          <p:nvPr/>
        </p:nvSpPr>
        <p:spPr>
          <a:xfrm>
            <a:off x="6355080" y="1435608"/>
            <a:ext cx="1417320" cy="274320"/>
          </a:xfrm>
          <a:prstGeom prst="rect">
            <a:avLst/>
          </a:prstGeom>
          <a:noFill/>
          <a:ln/>
        </p:spPr>
        <p:txBody>
          <a:bodyPr wrap="square" lIns="0" tIns="0" rIns="0" bIns="0" rtlCol="0" anchor="ctr"/>
          <a:lstStyle/>
          <a:p>
            <a:pPr algn="ctr" indent="0" marL="0">
              <a:buNone/>
            </a:pPr>
            <a:r>
              <a:rPr lang="en-US" sz="1200" b="1" dirty="0">
                <a:solidFill>
                  <a:srgbClr val="085CE5"/>
                </a:solidFill>
                <a:latin typeface="Calibri" pitchFamily="34" charset="0"/>
                <a:ea typeface="Calibri" pitchFamily="34" charset="-122"/>
                <a:cs typeface="Calibri" pitchFamily="34" charset="-120"/>
              </a:rPr>
              <a:t>$800 – $2,500</a:t>
            </a:r>
            <a:endParaRPr lang="en-US" sz="1200" dirty="0"/>
          </a:p>
        </p:txBody>
      </p:sp>
      <p:sp>
        <p:nvSpPr>
          <p:cNvPr id="16" name="Text 14"/>
          <p:cNvSpPr/>
          <p:nvPr/>
        </p:nvSpPr>
        <p:spPr>
          <a:xfrm>
            <a:off x="6355080" y="1719072"/>
            <a:ext cx="1417320" cy="146304"/>
          </a:xfrm>
          <a:prstGeom prst="rect">
            <a:avLst/>
          </a:prstGeom>
          <a:noFill/>
          <a:ln/>
        </p:spPr>
        <p:txBody>
          <a:bodyPr wrap="square" lIns="0" tIns="0" rIns="0" bIns="0" rtlCol="0" anchor="ctr"/>
          <a:lstStyle/>
          <a:p>
            <a:pPr algn="ctr" indent="0" marL="0">
              <a:buNone/>
            </a:pPr>
            <a:r>
              <a:rPr lang="en-US" sz="700" dirty="0">
                <a:solidFill>
                  <a:srgbClr val="B6BBC0"/>
                </a:solidFill>
                <a:latin typeface="Calibri" pitchFamily="34" charset="0"/>
                <a:ea typeface="Calibri" pitchFamily="34" charset="-122"/>
                <a:cs typeface="Calibri" pitchFamily="34" charset="-120"/>
              </a:rPr>
              <a:t>/ month per FI</a:t>
            </a:r>
            <a:endParaRPr lang="en-US" sz="700" dirty="0"/>
          </a:p>
        </p:txBody>
      </p:sp>
      <p:sp>
        <p:nvSpPr>
          <p:cNvPr id="17" name="Shape 15"/>
          <p:cNvSpPr/>
          <p:nvPr/>
        </p:nvSpPr>
        <p:spPr>
          <a:xfrm>
            <a:off x="7845552" y="1517904"/>
            <a:ext cx="1170432" cy="237744"/>
          </a:xfrm>
          <a:prstGeom prst="roundRect">
            <a:avLst>
              <a:gd name="adj" fmla="val 15385"/>
            </a:avLst>
          </a:prstGeom>
          <a:solidFill>
            <a:srgbClr val="E8F7F7"/>
          </a:solidFill>
          <a:ln w="12700">
            <a:solidFill>
              <a:srgbClr val="085CE5"/>
            </a:solidFill>
            <a:prstDash val="solid"/>
          </a:ln>
        </p:spPr>
      </p:sp>
      <p:sp>
        <p:nvSpPr>
          <p:cNvPr id="18" name="Text 16"/>
          <p:cNvSpPr/>
          <p:nvPr/>
        </p:nvSpPr>
        <p:spPr>
          <a:xfrm>
            <a:off x="7845552" y="1517904"/>
            <a:ext cx="1170432" cy="237744"/>
          </a:xfrm>
          <a:prstGeom prst="rect">
            <a:avLst/>
          </a:prstGeom>
          <a:noFill/>
          <a:ln/>
        </p:spPr>
        <p:txBody>
          <a:bodyPr wrap="square" lIns="0" tIns="0" rIns="0" bIns="0" rtlCol="0" anchor="ctr"/>
          <a:lstStyle/>
          <a:p>
            <a:pPr algn="ctr" indent="0" marL="0">
              <a:buNone/>
            </a:pPr>
            <a:r>
              <a:rPr lang="en-US" sz="700" dirty="0">
                <a:solidFill>
                  <a:srgbClr val="085CE5"/>
                </a:solidFill>
                <a:latin typeface="Calibri" pitchFamily="34" charset="0"/>
                <a:ea typeface="Calibri" pitchFamily="34" charset="-122"/>
                <a:cs typeface="Calibri" pitchFamily="34" charset="-120"/>
              </a:rPr>
              <a:t>Included in Intelligence+</a:t>
            </a:r>
            <a:endParaRPr lang="en-US" sz="700" dirty="0"/>
          </a:p>
        </p:txBody>
      </p:sp>
      <p:sp>
        <p:nvSpPr>
          <p:cNvPr id="19" name="Shape 17"/>
          <p:cNvSpPr/>
          <p:nvPr/>
        </p:nvSpPr>
        <p:spPr>
          <a:xfrm>
            <a:off x="320040" y="1938528"/>
            <a:ext cx="8732520" cy="530352"/>
          </a:xfrm>
          <a:prstGeom prst="rect">
            <a:avLst/>
          </a:prstGeom>
          <a:solidFill>
            <a:srgbClr val="E7ECF0"/>
          </a:solidFill>
          <a:ln w="12700">
            <a:solidFill>
              <a:srgbClr val="E7ECF0"/>
            </a:solidFill>
            <a:prstDash val="solid"/>
          </a:ln>
        </p:spPr>
      </p:sp>
      <p:sp>
        <p:nvSpPr>
          <p:cNvPr id="20" name="Shape 18"/>
          <p:cNvSpPr/>
          <p:nvPr/>
        </p:nvSpPr>
        <p:spPr>
          <a:xfrm>
            <a:off x="320040" y="1938528"/>
            <a:ext cx="73152" cy="530352"/>
          </a:xfrm>
          <a:prstGeom prst="rect">
            <a:avLst/>
          </a:prstGeom>
          <a:solidFill>
            <a:srgbClr val="073FA8"/>
          </a:solidFill>
          <a:ln w="12700">
            <a:solidFill>
              <a:srgbClr val="073FA8"/>
            </a:solidFill>
            <a:prstDash val="solid"/>
          </a:ln>
        </p:spPr>
      </p:sp>
      <p:sp>
        <p:nvSpPr>
          <p:cNvPr id="21" name="Text 19"/>
          <p:cNvSpPr/>
          <p:nvPr/>
        </p:nvSpPr>
        <p:spPr>
          <a:xfrm>
            <a:off x="475488" y="1984248"/>
            <a:ext cx="2971800" cy="201168"/>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Zelle Memo Intelligence</a:t>
            </a:r>
            <a:endParaRPr lang="en-US" sz="1000" dirty="0"/>
          </a:p>
        </p:txBody>
      </p:sp>
      <p:sp>
        <p:nvSpPr>
          <p:cNvPr id="22" name="Text 20"/>
          <p:cNvSpPr/>
          <p:nvPr/>
        </p:nvSpPr>
        <p:spPr>
          <a:xfrm>
            <a:off x="475488" y="2203704"/>
            <a:ext cx="2971800" cy="219456"/>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NLP + compliance risk scoring on every Zelle transaction</a:t>
            </a:r>
            <a:endParaRPr lang="en-US" sz="800" dirty="0"/>
          </a:p>
        </p:txBody>
      </p:sp>
      <p:sp>
        <p:nvSpPr>
          <p:cNvPr id="23" name="Text 21"/>
          <p:cNvSpPr/>
          <p:nvPr/>
        </p:nvSpPr>
        <p:spPr>
          <a:xfrm>
            <a:off x="3520440" y="1993392"/>
            <a:ext cx="2743200" cy="420624"/>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60% reduction in manual SAR review hours · improved FinCEN defensibility</a:t>
            </a:r>
            <a:endParaRPr lang="en-US" sz="800" dirty="0"/>
          </a:p>
        </p:txBody>
      </p:sp>
      <p:sp>
        <p:nvSpPr>
          <p:cNvPr id="24" name="Text 22"/>
          <p:cNvSpPr/>
          <p:nvPr/>
        </p:nvSpPr>
        <p:spPr>
          <a:xfrm>
            <a:off x="6355080" y="2002536"/>
            <a:ext cx="1417320" cy="274320"/>
          </a:xfrm>
          <a:prstGeom prst="rect">
            <a:avLst/>
          </a:prstGeom>
          <a:noFill/>
          <a:ln/>
        </p:spPr>
        <p:txBody>
          <a:bodyPr wrap="square" lIns="0" tIns="0" rIns="0" bIns="0" rtlCol="0" anchor="ctr"/>
          <a:lstStyle/>
          <a:p>
            <a:pPr algn="ctr" indent="0" marL="0">
              <a:buNone/>
            </a:pPr>
            <a:r>
              <a:rPr lang="en-US" sz="1200" b="1" dirty="0">
                <a:solidFill>
                  <a:srgbClr val="085CE5"/>
                </a:solidFill>
                <a:latin typeface="Calibri" pitchFamily="34" charset="0"/>
                <a:ea typeface="Calibri" pitchFamily="34" charset="-122"/>
                <a:cs typeface="Calibri" pitchFamily="34" charset="-120"/>
              </a:rPr>
              <a:t>$400 – $1,200</a:t>
            </a:r>
            <a:endParaRPr lang="en-US" sz="1200" dirty="0"/>
          </a:p>
        </p:txBody>
      </p:sp>
      <p:sp>
        <p:nvSpPr>
          <p:cNvPr id="25" name="Text 23"/>
          <p:cNvSpPr/>
          <p:nvPr/>
        </p:nvSpPr>
        <p:spPr>
          <a:xfrm>
            <a:off x="6355080" y="2286000"/>
            <a:ext cx="1417320" cy="146304"/>
          </a:xfrm>
          <a:prstGeom prst="rect">
            <a:avLst/>
          </a:prstGeom>
          <a:noFill/>
          <a:ln/>
        </p:spPr>
        <p:txBody>
          <a:bodyPr wrap="square" lIns="0" tIns="0" rIns="0" bIns="0" rtlCol="0" anchor="ctr"/>
          <a:lstStyle/>
          <a:p>
            <a:pPr algn="ctr" indent="0" marL="0">
              <a:buNone/>
            </a:pPr>
            <a:r>
              <a:rPr lang="en-US" sz="700" dirty="0">
                <a:solidFill>
                  <a:srgbClr val="B6BBC0"/>
                </a:solidFill>
                <a:latin typeface="Calibri" pitchFamily="34" charset="0"/>
                <a:ea typeface="Calibri" pitchFamily="34" charset="-122"/>
                <a:cs typeface="Calibri" pitchFamily="34" charset="-120"/>
              </a:rPr>
              <a:t>/ month per FI</a:t>
            </a:r>
            <a:endParaRPr lang="en-US" sz="700" dirty="0"/>
          </a:p>
        </p:txBody>
      </p:sp>
      <p:sp>
        <p:nvSpPr>
          <p:cNvPr id="26" name="Shape 24"/>
          <p:cNvSpPr/>
          <p:nvPr/>
        </p:nvSpPr>
        <p:spPr>
          <a:xfrm>
            <a:off x="7845552" y="2084832"/>
            <a:ext cx="1170432" cy="237744"/>
          </a:xfrm>
          <a:prstGeom prst="roundRect">
            <a:avLst>
              <a:gd name="adj" fmla="val 15385"/>
            </a:avLst>
          </a:prstGeom>
          <a:solidFill>
            <a:srgbClr val="FFFFFF"/>
          </a:solidFill>
          <a:ln w="12700">
            <a:solidFill>
              <a:srgbClr val="085CE5"/>
            </a:solidFill>
            <a:prstDash val="solid"/>
          </a:ln>
        </p:spPr>
      </p:sp>
      <p:sp>
        <p:nvSpPr>
          <p:cNvPr id="27" name="Text 25"/>
          <p:cNvSpPr/>
          <p:nvPr/>
        </p:nvSpPr>
        <p:spPr>
          <a:xfrm>
            <a:off x="7845552" y="2084832"/>
            <a:ext cx="1170432" cy="237744"/>
          </a:xfrm>
          <a:prstGeom prst="rect">
            <a:avLst/>
          </a:prstGeom>
          <a:noFill/>
          <a:ln/>
        </p:spPr>
        <p:txBody>
          <a:bodyPr wrap="square" lIns="0" tIns="0" rIns="0" bIns="0" rtlCol="0" anchor="ctr"/>
          <a:lstStyle/>
          <a:p>
            <a:pPr algn="ctr" indent="0" marL="0">
              <a:buNone/>
            </a:pPr>
            <a:r>
              <a:rPr lang="en-US" sz="700" dirty="0">
                <a:solidFill>
                  <a:srgbClr val="085CE5"/>
                </a:solidFill>
                <a:latin typeface="Calibri" pitchFamily="34" charset="0"/>
                <a:ea typeface="Calibri" pitchFamily="34" charset="-122"/>
                <a:cs typeface="Calibri" pitchFamily="34" charset="-120"/>
              </a:rPr>
              <a:t>Included in Intelligence+</a:t>
            </a:r>
            <a:endParaRPr lang="en-US" sz="700" dirty="0"/>
          </a:p>
        </p:txBody>
      </p:sp>
      <p:sp>
        <p:nvSpPr>
          <p:cNvPr id="28" name="Shape 26"/>
          <p:cNvSpPr/>
          <p:nvPr/>
        </p:nvSpPr>
        <p:spPr>
          <a:xfrm>
            <a:off x="320040" y="2505456"/>
            <a:ext cx="8732520" cy="530352"/>
          </a:xfrm>
          <a:prstGeom prst="rect">
            <a:avLst/>
          </a:prstGeom>
          <a:solidFill>
            <a:srgbClr val="FFFFFF"/>
          </a:solidFill>
          <a:ln w="12700">
            <a:solidFill>
              <a:srgbClr val="E7ECF0"/>
            </a:solidFill>
            <a:prstDash val="solid"/>
          </a:ln>
        </p:spPr>
      </p:sp>
      <p:sp>
        <p:nvSpPr>
          <p:cNvPr id="29" name="Shape 27"/>
          <p:cNvSpPr/>
          <p:nvPr/>
        </p:nvSpPr>
        <p:spPr>
          <a:xfrm>
            <a:off x="320040" y="2505456"/>
            <a:ext cx="73152" cy="530352"/>
          </a:xfrm>
          <a:prstGeom prst="rect">
            <a:avLst/>
          </a:prstGeom>
          <a:solidFill>
            <a:srgbClr val="0D2E7A"/>
          </a:solidFill>
          <a:ln w="12700">
            <a:solidFill>
              <a:srgbClr val="0D2E7A"/>
            </a:solidFill>
            <a:prstDash val="solid"/>
          </a:ln>
        </p:spPr>
      </p:sp>
      <p:sp>
        <p:nvSpPr>
          <p:cNvPr id="30" name="Text 28"/>
          <p:cNvSpPr/>
          <p:nvPr/>
        </p:nvSpPr>
        <p:spPr>
          <a:xfrm>
            <a:off x="475488" y="2551176"/>
            <a:ext cx="2971800" cy="201168"/>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Anomaly Detection</a:t>
            </a:r>
            <a:endParaRPr lang="en-US" sz="1000" dirty="0"/>
          </a:p>
        </p:txBody>
      </p:sp>
      <p:sp>
        <p:nvSpPr>
          <p:cNvPr id="31" name="Text 29"/>
          <p:cNvSpPr/>
          <p:nvPr/>
        </p:nvSpPr>
        <p:spPr>
          <a:xfrm>
            <a:off x="475488" y="2770632"/>
            <a:ext cx="2971800" cy="219456"/>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Real-time fraud + operational anomaly alerting across channels</a:t>
            </a:r>
            <a:endParaRPr lang="en-US" sz="800" dirty="0"/>
          </a:p>
        </p:txBody>
      </p:sp>
      <p:sp>
        <p:nvSpPr>
          <p:cNvPr id="32" name="Text 30"/>
          <p:cNvSpPr/>
          <p:nvPr/>
        </p:nvSpPr>
        <p:spPr>
          <a:xfrm>
            <a:off x="3520440" y="2560320"/>
            <a:ext cx="2743200" cy="420624"/>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70%+ false-positive reduction · analyst hours recaptured from alert triage</a:t>
            </a:r>
            <a:endParaRPr lang="en-US" sz="800" dirty="0"/>
          </a:p>
        </p:txBody>
      </p:sp>
      <p:sp>
        <p:nvSpPr>
          <p:cNvPr id="33" name="Text 31"/>
          <p:cNvSpPr/>
          <p:nvPr/>
        </p:nvSpPr>
        <p:spPr>
          <a:xfrm>
            <a:off x="6355080" y="2569464"/>
            <a:ext cx="1417320" cy="274320"/>
          </a:xfrm>
          <a:prstGeom prst="rect">
            <a:avLst/>
          </a:prstGeom>
          <a:noFill/>
          <a:ln/>
        </p:spPr>
        <p:txBody>
          <a:bodyPr wrap="square" lIns="0" tIns="0" rIns="0" bIns="0" rtlCol="0" anchor="ctr"/>
          <a:lstStyle/>
          <a:p>
            <a:pPr algn="ctr" indent="0" marL="0">
              <a:buNone/>
            </a:pPr>
            <a:r>
              <a:rPr lang="en-US" sz="1200" b="1" dirty="0">
                <a:solidFill>
                  <a:srgbClr val="085CE5"/>
                </a:solidFill>
                <a:latin typeface="Calibri" pitchFamily="34" charset="0"/>
                <a:ea typeface="Calibri" pitchFamily="34" charset="-122"/>
                <a:cs typeface="Calibri" pitchFamily="34" charset="-120"/>
              </a:rPr>
              <a:t>$600 – $2,000</a:t>
            </a:r>
            <a:endParaRPr lang="en-US" sz="1200" dirty="0"/>
          </a:p>
        </p:txBody>
      </p:sp>
      <p:sp>
        <p:nvSpPr>
          <p:cNvPr id="34" name="Text 32"/>
          <p:cNvSpPr/>
          <p:nvPr/>
        </p:nvSpPr>
        <p:spPr>
          <a:xfrm>
            <a:off x="6355080" y="2852928"/>
            <a:ext cx="1417320" cy="146304"/>
          </a:xfrm>
          <a:prstGeom prst="rect">
            <a:avLst/>
          </a:prstGeom>
          <a:noFill/>
          <a:ln/>
        </p:spPr>
        <p:txBody>
          <a:bodyPr wrap="square" lIns="0" tIns="0" rIns="0" bIns="0" rtlCol="0" anchor="ctr"/>
          <a:lstStyle/>
          <a:p>
            <a:pPr algn="ctr" indent="0" marL="0">
              <a:buNone/>
            </a:pPr>
            <a:r>
              <a:rPr lang="en-US" sz="700" dirty="0">
                <a:solidFill>
                  <a:srgbClr val="B6BBC0"/>
                </a:solidFill>
                <a:latin typeface="Calibri" pitchFamily="34" charset="0"/>
                <a:ea typeface="Calibri" pitchFamily="34" charset="-122"/>
                <a:cs typeface="Calibri" pitchFamily="34" charset="-120"/>
              </a:rPr>
              <a:t>/ month per FI</a:t>
            </a:r>
            <a:endParaRPr lang="en-US" sz="700" dirty="0"/>
          </a:p>
        </p:txBody>
      </p:sp>
      <p:sp>
        <p:nvSpPr>
          <p:cNvPr id="35" name="Shape 33"/>
          <p:cNvSpPr/>
          <p:nvPr/>
        </p:nvSpPr>
        <p:spPr>
          <a:xfrm>
            <a:off x="7845552" y="2651760"/>
            <a:ext cx="1170432" cy="237744"/>
          </a:xfrm>
          <a:prstGeom prst="roundRect">
            <a:avLst>
              <a:gd name="adj" fmla="val 15385"/>
            </a:avLst>
          </a:prstGeom>
          <a:solidFill>
            <a:srgbClr val="E8F7F7"/>
          </a:solidFill>
          <a:ln w="12700">
            <a:solidFill>
              <a:srgbClr val="085CE5"/>
            </a:solidFill>
            <a:prstDash val="solid"/>
          </a:ln>
        </p:spPr>
      </p:sp>
      <p:sp>
        <p:nvSpPr>
          <p:cNvPr id="36" name="Text 34"/>
          <p:cNvSpPr/>
          <p:nvPr/>
        </p:nvSpPr>
        <p:spPr>
          <a:xfrm>
            <a:off x="7845552" y="2651760"/>
            <a:ext cx="1170432" cy="237744"/>
          </a:xfrm>
          <a:prstGeom prst="rect">
            <a:avLst/>
          </a:prstGeom>
          <a:noFill/>
          <a:ln/>
        </p:spPr>
        <p:txBody>
          <a:bodyPr wrap="square" lIns="0" tIns="0" rIns="0" bIns="0" rtlCol="0" anchor="ctr"/>
          <a:lstStyle/>
          <a:p>
            <a:pPr algn="ctr" indent="0" marL="0">
              <a:buNone/>
            </a:pPr>
            <a:r>
              <a:rPr lang="en-US" sz="700" dirty="0">
                <a:solidFill>
                  <a:srgbClr val="085CE5"/>
                </a:solidFill>
                <a:latin typeface="Calibri" pitchFamily="34" charset="0"/>
                <a:ea typeface="Calibri" pitchFamily="34" charset="-122"/>
                <a:cs typeface="Calibri" pitchFamily="34" charset="-120"/>
              </a:rPr>
              <a:t>Included in Intelligence+</a:t>
            </a:r>
            <a:endParaRPr lang="en-US" sz="700" dirty="0"/>
          </a:p>
        </p:txBody>
      </p:sp>
      <p:sp>
        <p:nvSpPr>
          <p:cNvPr id="37" name="Shape 35"/>
          <p:cNvSpPr/>
          <p:nvPr/>
        </p:nvSpPr>
        <p:spPr>
          <a:xfrm>
            <a:off x="320040" y="3072384"/>
            <a:ext cx="8732520" cy="530352"/>
          </a:xfrm>
          <a:prstGeom prst="rect">
            <a:avLst/>
          </a:prstGeom>
          <a:solidFill>
            <a:srgbClr val="E7ECF0"/>
          </a:solidFill>
          <a:ln w="12700">
            <a:solidFill>
              <a:srgbClr val="E7ECF0"/>
            </a:solidFill>
            <a:prstDash val="solid"/>
          </a:ln>
        </p:spPr>
      </p:sp>
      <p:sp>
        <p:nvSpPr>
          <p:cNvPr id="38" name="Shape 36"/>
          <p:cNvSpPr/>
          <p:nvPr/>
        </p:nvSpPr>
        <p:spPr>
          <a:xfrm>
            <a:off x="320040" y="3072384"/>
            <a:ext cx="73152" cy="530352"/>
          </a:xfrm>
          <a:prstGeom prst="rect">
            <a:avLst/>
          </a:prstGeom>
          <a:solidFill>
            <a:srgbClr val="0B68D4"/>
          </a:solidFill>
          <a:ln w="12700">
            <a:solidFill>
              <a:srgbClr val="0B68D4"/>
            </a:solidFill>
            <a:prstDash val="solid"/>
          </a:ln>
        </p:spPr>
      </p:sp>
      <p:sp>
        <p:nvSpPr>
          <p:cNvPr id="39" name="Text 37"/>
          <p:cNvSpPr/>
          <p:nvPr/>
        </p:nvSpPr>
        <p:spPr>
          <a:xfrm>
            <a:off x="475488" y="3118104"/>
            <a:ext cx="2971800" cy="201168"/>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Call Report AI (CallRpt AI)</a:t>
            </a:r>
            <a:endParaRPr lang="en-US" sz="1000" dirty="0"/>
          </a:p>
        </p:txBody>
      </p:sp>
      <p:sp>
        <p:nvSpPr>
          <p:cNvPr id="40" name="Text 38"/>
          <p:cNvSpPr/>
          <p:nvPr/>
        </p:nvSpPr>
        <p:spPr>
          <a:xfrm>
            <a:off x="475488" y="3337560"/>
            <a:ext cx="2971800" cy="219456"/>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NCUA 5300 intelligence — Pulse, Ask, Compare + AI briefs</a:t>
            </a:r>
            <a:endParaRPr lang="en-US" sz="800" dirty="0"/>
          </a:p>
        </p:txBody>
      </p:sp>
      <p:sp>
        <p:nvSpPr>
          <p:cNvPr id="41" name="Text 39"/>
          <p:cNvSpPr/>
          <p:nvPr/>
        </p:nvSpPr>
        <p:spPr>
          <a:xfrm>
            <a:off x="3520440" y="3127248"/>
            <a:ext cx="2743200" cy="420624"/>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Eliminates hours of peer benchmarking &amp; board prep per quarter · Aug/Sept 2026</a:t>
            </a:r>
            <a:endParaRPr lang="en-US" sz="800" dirty="0"/>
          </a:p>
        </p:txBody>
      </p:sp>
      <p:sp>
        <p:nvSpPr>
          <p:cNvPr id="42" name="Text 40"/>
          <p:cNvSpPr/>
          <p:nvPr/>
        </p:nvSpPr>
        <p:spPr>
          <a:xfrm>
            <a:off x="6355080" y="3136392"/>
            <a:ext cx="1417320" cy="274320"/>
          </a:xfrm>
          <a:prstGeom prst="rect">
            <a:avLst/>
          </a:prstGeom>
          <a:noFill/>
          <a:ln/>
        </p:spPr>
        <p:txBody>
          <a:bodyPr wrap="square" lIns="0" tIns="0" rIns="0" bIns="0" rtlCol="0" anchor="ctr"/>
          <a:lstStyle/>
          <a:p>
            <a:pPr algn="ctr" indent="0" marL="0">
              <a:buNone/>
            </a:pPr>
            <a:r>
              <a:rPr lang="en-US" sz="1200" b="1" dirty="0">
                <a:solidFill>
                  <a:srgbClr val="085CE5"/>
                </a:solidFill>
                <a:latin typeface="Calibri" pitchFamily="34" charset="0"/>
                <a:ea typeface="Calibri" pitchFamily="34" charset="-122"/>
                <a:cs typeface="Calibri" pitchFamily="34" charset="-120"/>
              </a:rPr>
              <a:t>$300 – $1,000</a:t>
            </a:r>
            <a:endParaRPr lang="en-US" sz="1200" dirty="0"/>
          </a:p>
        </p:txBody>
      </p:sp>
      <p:sp>
        <p:nvSpPr>
          <p:cNvPr id="43" name="Text 41"/>
          <p:cNvSpPr/>
          <p:nvPr/>
        </p:nvSpPr>
        <p:spPr>
          <a:xfrm>
            <a:off x="6355080" y="3419856"/>
            <a:ext cx="1417320" cy="146304"/>
          </a:xfrm>
          <a:prstGeom prst="rect">
            <a:avLst/>
          </a:prstGeom>
          <a:noFill/>
          <a:ln/>
        </p:spPr>
        <p:txBody>
          <a:bodyPr wrap="square" lIns="0" tIns="0" rIns="0" bIns="0" rtlCol="0" anchor="ctr"/>
          <a:lstStyle/>
          <a:p>
            <a:pPr algn="ctr" indent="0" marL="0">
              <a:buNone/>
            </a:pPr>
            <a:r>
              <a:rPr lang="en-US" sz="700" dirty="0">
                <a:solidFill>
                  <a:srgbClr val="B6BBC0"/>
                </a:solidFill>
                <a:latin typeface="Calibri" pitchFamily="34" charset="0"/>
                <a:ea typeface="Calibri" pitchFamily="34" charset="-122"/>
                <a:cs typeface="Calibri" pitchFamily="34" charset="-120"/>
              </a:rPr>
              <a:t>/ month per FI</a:t>
            </a:r>
            <a:endParaRPr lang="en-US" sz="700" dirty="0"/>
          </a:p>
        </p:txBody>
      </p:sp>
      <p:sp>
        <p:nvSpPr>
          <p:cNvPr id="44" name="Shape 42"/>
          <p:cNvSpPr/>
          <p:nvPr/>
        </p:nvSpPr>
        <p:spPr>
          <a:xfrm>
            <a:off x="7845552" y="3218688"/>
            <a:ext cx="1170432" cy="237744"/>
          </a:xfrm>
          <a:prstGeom prst="roundRect">
            <a:avLst>
              <a:gd name="adj" fmla="val 15385"/>
            </a:avLst>
          </a:prstGeom>
          <a:solidFill>
            <a:srgbClr val="FFFFFF"/>
          </a:solidFill>
          <a:ln w="12700">
            <a:solidFill>
              <a:srgbClr val="085CE5"/>
            </a:solidFill>
            <a:prstDash val="solid"/>
          </a:ln>
        </p:spPr>
      </p:sp>
      <p:sp>
        <p:nvSpPr>
          <p:cNvPr id="45" name="Text 43"/>
          <p:cNvSpPr/>
          <p:nvPr/>
        </p:nvSpPr>
        <p:spPr>
          <a:xfrm>
            <a:off x="7845552" y="3218688"/>
            <a:ext cx="1170432" cy="237744"/>
          </a:xfrm>
          <a:prstGeom prst="rect">
            <a:avLst/>
          </a:prstGeom>
          <a:noFill/>
          <a:ln/>
        </p:spPr>
        <p:txBody>
          <a:bodyPr wrap="square" lIns="0" tIns="0" rIns="0" bIns="0" rtlCol="0" anchor="ctr"/>
          <a:lstStyle/>
          <a:p>
            <a:pPr algn="ctr" indent="0" marL="0">
              <a:buNone/>
            </a:pPr>
            <a:r>
              <a:rPr lang="en-US" sz="700" dirty="0">
                <a:solidFill>
                  <a:srgbClr val="085CE5"/>
                </a:solidFill>
                <a:latin typeface="Calibri" pitchFamily="34" charset="0"/>
                <a:ea typeface="Calibri" pitchFamily="34" charset="-122"/>
                <a:cs typeface="Calibri" pitchFamily="34" charset="-120"/>
              </a:rPr>
              <a:t>Included in all tiers</a:t>
            </a:r>
            <a:endParaRPr lang="en-US" sz="700" dirty="0"/>
          </a:p>
        </p:txBody>
      </p:sp>
      <p:sp>
        <p:nvSpPr>
          <p:cNvPr id="46" name="Shape 44"/>
          <p:cNvSpPr/>
          <p:nvPr/>
        </p:nvSpPr>
        <p:spPr>
          <a:xfrm>
            <a:off x="320040" y="3639312"/>
            <a:ext cx="8732520" cy="530352"/>
          </a:xfrm>
          <a:prstGeom prst="rect">
            <a:avLst/>
          </a:prstGeom>
          <a:solidFill>
            <a:srgbClr val="FFFFFF"/>
          </a:solidFill>
          <a:ln w="12700">
            <a:solidFill>
              <a:srgbClr val="E7ECF0"/>
            </a:solidFill>
            <a:prstDash val="solid"/>
          </a:ln>
        </p:spPr>
      </p:sp>
      <p:sp>
        <p:nvSpPr>
          <p:cNvPr id="47" name="Shape 45"/>
          <p:cNvSpPr/>
          <p:nvPr/>
        </p:nvSpPr>
        <p:spPr>
          <a:xfrm>
            <a:off x="320040" y="3639312"/>
            <a:ext cx="73152" cy="530352"/>
          </a:xfrm>
          <a:prstGeom prst="rect">
            <a:avLst/>
          </a:prstGeom>
          <a:solidFill>
            <a:srgbClr val="0B68D4"/>
          </a:solidFill>
          <a:ln w="12700">
            <a:solidFill>
              <a:srgbClr val="0B68D4"/>
            </a:solidFill>
            <a:prstDash val="solid"/>
          </a:ln>
        </p:spPr>
      </p:sp>
      <p:sp>
        <p:nvSpPr>
          <p:cNvPr id="48" name="Text 46"/>
          <p:cNvSpPr/>
          <p:nvPr/>
        </p:nvSpPr>
        <p:spPr>
          <a:xfrm>
            <a:off x="475488" y="3685032"/>
            <a:ext cx="2971800" cy="201168"/>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Account Opening LTV Model</a:t>
            </a:r>
            <a:endParaRPr lang="en-US" sz="1000" dirty="0"/>
          </a:p>
        </p:txBody>
      </p:sp>
      <p:sp>
        <p:nvSpPr>
          <p:cNvPr id="49" name="Text 47"/>
          <p:cNvSpPr/>
          <p:nvPr/>
        </p:nvSpPr>
        <p:spPr>
          <a:xfrm>
            <a:off x="475488" y="3904488"/>
            <a:ext cx="2971800" cy="219456"/>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Lifetime value scoring at account open · tiered onboarding triggers</a:t>
            </a:r>
            <a:endParaRPr lang="en-US" sz="800" dirty="0"/>
          </a:p>
        </p:txBody>
      </p:sp>
      <p:sp>
        <p:nvSpPr>
          <p:cNvPr id="50" name="Text 48"/>
          <p:cNvSpPr/>
          <p:nvPr/>
        </p:nvSpPr>
        <p:spPr>
          <a:xfrm>
            <a:off x="3520440" y="3694176"/>
            <a:ext cx="2743200" cy="420624"/>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3–5× cross-sell lift · 20–30% improvement in 90-day product adoption</a:t>
            </a:r>
            <a:endParaRPr lang="en-US" sz="800" dirty="0"/>
          </a:p>
        </p:txBody>
      </p:sp>
      <p:sp>
        <p:nvSpPr>
          <p:cNvPr id="51" name="Text 49"/>
          <p:cNvSpPr/>
          <p:nvPr/>
        </p:nvSpPr>
        <p:spPr>
          <a:xfrm>
            <a:off x="6355080" y="3703320"/>
            <a:ext cx="1417320" cy="274320"/>
          </a:xfrm>
          <a:prstGeom prst="rect">
            <a:avLst/>
          </a:prstGeom>
          <a:noFill/>
          <a:ln/>
        </p:spPr>
        <p:txBody>
          <a:bodyPr wrap="square" lIns="0" tIns="0" rIns="0" bIns="0" rtlCol="0" anchor="ctr"/>
          <a:lstStyle/>
          <a:p>
            <a:pPr algn="ctr" indent="0" marL="0">
              <a:buNone/>
            </a:pPr>
            <a:r>
              <a:rPr lang="en-US" sz="1200" b="1" dirty="0">
                <a:solidFill>
                  <a:srgbClr val="085CE5"/>
                </a:solidFill>
                <a:latin typeface="Calibri" pitchFamily="34" charset="0"/>
                <a:ea typeface="Calibri" pitchFamily="34" charset="-122"/>
                <a:cs typeface="Calibri" pitchFamily="34" charset="-120"/>
              </a:rPr>
              <a:t>$500 – $1,500</a:t>
            </a:r>
            <a:endParaRPr lang="en-US" sz="1200" dirty="0"/>
          </a:p>
        </p:txBody>
      </p:sp>
      <p:sp>
        <p:nvSpPr>
          <p:cNvPr id="52" name="Text 50"/>
          <p:cNvSpPr/>
          <p:nvPr/>
        </p:nvSpPr>
        <p:spPr>
          <a:xfrm>
            <a:off x="6355080" y="3986784"/>
            <a:ext cx="1417320" cy="146304"/>
          </a:xfrm>
          <a:prstGeom prst="rect">
            <a:avLst/>
          </a:prstGeom>
          <a:noFill/>
          <a:ln/>
        </p:spPr>
        <p:txBody>
          <a:bodyPr wrap="square" lIns="0" tIns="0" rIns="0" bIns="0" rtlCol="0" anchor="ctr"/>
          <a:lstStyle/>
          <a:p>
            <a:pPr algn="ctr" indent="0" marL="0">
              <a:buNone/>
            </a:pPr>
            <a:r>
              <a:rPr lang="en-US" sz="700" dirty="0">
                <a:solidFill>
                  <a:srgbClr val="B6BBC0"/>
                </a:solidFill>
                <a:latin typeface="Calibri" pitchFamily="34" charset="0"/>
                <a:ea typeface="Calibri" pitchFamily="34" charset="-122"/>
                <a:cs typeface="Calibri" pitchFamily="34" charset="-120"/>
              </a:rPr>
              <a:t>/ month per FI</a:t>
            </a:r>
            <a:endParaRPr lang="en-US" sz="700" dirty="0"/>
          </a:p>
        </p:txBody>
      </p:sp>
      <p:sp>
        <p:nvSpPr>
          <p:cNvPr id="53" name="Shape 51"/>
          <p:cNvSpPr/>
          <p:nvPr/>
        </p:nvSpPr>
        <p:spPr>
          <a:xfrm>
            <a:off x="7845552" y="3785616"/>
            <a:ext cx="1170432" cy="237744"/>
          </a:xfrm>
          <a:prstGeom prst="roundRect">
            <a:avLst>
              <a:gd name="adj" fmla="val 15385"/>
            </a:avLst>
          </a:prstGeom>
          <a:solidFill>
            <a:srgbClr val="E8F7F7"/>
          </a:solidFill>
          <a:ln w="12700">
            <a:solidFill>
              <a:srgbClr val="085CE5"/>
            </a:solidFill>
            <a:prstDash val="solid"/>
          </a:ln>
        </p:spPr>
      </p:sp>
      <p:sp>
        <p:nvSpPr>
          <p:cNvPr id="54" name="Text 52"/>
          <p:cNvSpPr/>
          <p:nvPr/>
        </p:nvSpPr>
        <p:spPr>
          <a:xfrm>
            <a:off x="7845552" y="3785616"/>
            <a:ext cx="1170432" cy="237744"/>
          </a:xfrm>
          <a:prstGeom prst="rect">
            <a:avLst/>
          </a:prstGeom>
          <a:noFill/>
          <a:ln/>
        </p:spPr>
        <p:txBody>
          <a:bodyPr wrap="square" lIns="0" tIns="0" rIns="0" bIns="0" rtlCol="0" anchor="ctr"/>
          <a:lstStyle/>
          <a:p>
            <a:pPr algn="ctr" indent="0" marL="0">
              <a:buNone/>
            </a:pPr>
            <a:r>
              <a:rPr lang="en-US" sz="700" dirty="0">
                <a:solidFill>
                  <a:srgbClr val="085CE5"/>
                </a:solidFill>
                <a:latin typeface="Calibri" pitchFamily="34" charset="0"/>
                <a:ea typeface="Calibri" pitchFamily="34" charset="-122"/>
                <a:cs typeface="Calibri" pitchFamily="34" charset="-120"/>
              </a:rPr>
              <a:t>Included in Intelligence+</a:t>
            </a:r>
            <a:endParaRPr lang="en-US" sz="700" dirty="0"/>
          </a:p>
        </p:txBody>
      </p:sp>
      <p:sp>
        <p:nvSpPr>
          <p:cNvPr id="55" name="Shape 53"/>
          <p:cNvSpPr/>
          <p:nvPr/>
        </p:nvSpPr>
        <p:spPr>
          <a:xfrm>
            <a:off x="320040" y="4206240"/>
            <a:ext cx="8732520" cy="530352"/>
          </a:xfrm>
          <a:prstGeom prst="rect">
            <a:avLst/>
          </a:prstGeom>
          <a:solidFill>
            <a:srgbClr val="E7ECF0"/>
          </a:solidFill>
          <a:ln w="12700">
            <a:solidFill>
              <a:srgbClr val="E7ECF0"/>
            </a:solidFill>
            <a:prstDash val="solid"/>
          </a:ln>
        </p:spPr>
      </p:sp>
      <p:sp>
        <p:nvSpPr>
          <p:cNvPr id="56" name="Shape 54"/>
          <p:cNvSpPr/>
          <p:nvPr/>
        </p:nvSpPr>
        <p:spPr>
          <a:xfrm>
            <a:off x="320040" y="4206240"/>
            <a:ext cx="73152" cy="530352"/>
          </a:xfrm>
          <a:prstGeom prst="rect">
            <a:avLst/>
          </a:prstGeom>
          <a:solidFill>
            <a:srgbClr val="0D2E7A"/>
          </a:solidFill>
          <a:ln w="12700">
            <a:solidFill>
              <a:srgbClr val="0D2E7A"/>
            </a:solidFill>
            <a:prstDash val="solid"/>
          </a:ln>
        </p:spPr>
      </p:sp>
      <p:sp>
        <p:nvSpPr>
          <p:cNvPr id="57" name="Text 55"/>
          <p:cNvSpPr/>
          <p:nvPr/>
        </p:nvSpPr>
        <p:spPr>
          <a:xfrm>
            <a:off x="475488" y="4251960"/>
            <a:ext cx="2971800" cy="201168"/>
          </a:xfrm>
          <a:prstGeom prst="rect">
            <a:avLst/>
          </a:prstGeom>
          <a:noFill/>
          <a:ln/>
        </p:spPr>
        <p:txBody>
          <a:bodyPr wrap="square" lIns="0" tIns="0" rIns="0" bIns="0" rtlCol="0" anchor="ctr"/>
          <a:lstStyle/>
          <a:p>
            <a:pPr indent="0" marL="0">
              <a:buNone/>
            </a:pPr>
            <a:r>
              <a:rPr lang="en-US" sz="1000" b="1" dirty="0">
                <a:solidFill>
                  <a:srgbClr val="06185F"/>
                </a:solidFill>
                <a:latin typeface="Calibri" pitchFamily="34" charset="0"/>
                <a:ea typeface="Calibri" pitchFamily="34" charset="-122"/>
                <a:cs typeface="Calibri" pitchFamily="34" charset="-120"/>
              </a:rPr>
              <a:t>FI Decision Studio</a:t>
            </a:r>
            <a:endParaRPr lang="en-US" sz="1000" dirty="0"/>
          </a:p>
        </p:txBody>
      </p:sp>
      <p:sp>
        <p:nvSpPr>
          <p:cNvPr id="58" name="Text 56"/>
          <p:cNvSpPr/>
          <p:nvPr/>
        </p:nvSpPr>
        <p:spPr>
          <a:xfrm>
            <a:off x="475488" y="4471416"/>
            <a:ext cx="2971800" cy="219456"/>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No-code AutoML — unsupervised → supervised + rule authoring + API deploy</a:t>
            </a:r>
            <a:endParaRPr lang="en-US" sz="800" dirty="0"/>
          </a:p>
        </p:txBody>
      </p:sp>
      <p:sp>
        <p:nvSpPr>
          <p:cNvPr id="59" name="Text 57"/>
          <p:cNvSpPr/>
          <p:nvPr/>
        </p:nvSpPr>
        <p:spPr>
          <a:xfrm>
            <a:off x="3520440" y="4261104"/>
            <a:ext cx="2743200" cy="420624"/>
          </a:xfrm>
          <a:prstGeom prst="rect">
            <a:avLst/>
          </a:prstGeom>
          <a:noFill/>
          <a:ln/>
        </p:spPr>
        <p:txBody>
          <a:bodyPr wrap="square" lIns="0" tIns="0" rIns="0" bIns="0" rtlCol="0" anchor="ctr"/>
          <a:lstStyle/>
          <a:p>
            <a:pPr indent="0" marL="0">
              <a:buNone/>
            </a:pPr>
            <a:r>
              <a:rPr lang="en-US" sz="800" dirty="0">
                <a:solidFill>
                  <a:srgbClr val="575A5D"/>
                </a:solidFill>
                <a:latin typeface="Calibri" pitchFamily="34" charset="0"/>
                <a:ea typeface="Calibri" pitchFamily="34" charset="-122"/>
                <a:cs typeface="Calibri" pitchFamily="34" charset="-120"/>
              </a:rPr>
              <a:t>SR 11-7 defensible SHAP explainability · custom models on FI's own data · no ML team required</a:t>
            </a:r>
            <a:endParaRPr lang="en-US" sz="800" dirty="0"/>
          </a:p>
        </p:txBody>
      </p:sp>
      <p:sp>
        <p:nvSpPr>
          <p:cNvPr id="60" name="Text 58"/>
          <p:cNvSpPr/>
          <p:nvPr/>
        </p:nvSpPr>
        <p:spPr>
          <a:xfrm>
            <a:off x="6355080" y="4270248"/>
            <a:ext cx="1417320" cy="274320"/>
          </a:xfrm>
          <a:prstGeom prst="rect">
            <a:avLst/>
          </a:prstGeom>
          <a:noFill/>
          <a:ln/>
        </p:spPr>
        <p:txBody>
          <a:bodyPr wrap="square" lIns="0" tIns="0" rIns="0" bIns="0" rtlCol="0" anchor="ctr"/>
          <a:lstStyle/>
          <a:p>
            <a:pPr algn="ctr" indent="0" marL="0">
              <a:buNone/>
            </a:pPr>
            <a:r>
              <a:rPr lang="en-US" sz="1200" b="1" dirty="0">
                <a:solidFill>
                  <a:srgbClr val="085CE5"/>
                </a:solidFill>
                <a:latin typeface="Calibri" pitchFamily="34" charset="0"/>
                <a:ea typeface="Calibri" pitchFamily="34" charset="-122"/>
                <a:cs typeface="Calibri" pitchFamily="34" charset="-120"/>
              </a:rPr>
              <a:t>$1,000 – $3,500</a:t>
            </a:r>
            <a:endParaRPr lang="en-US" sz="1200" dirty="0"/>
          </a:p>
        </p:txBody>
      </p:sp>
      <p:sp>
        <p:nvSpPr>
          <p:cNvPr id="61" name="Text 59"/>
          <p:cNvSpPr/>
          <p:nvPr/>
        </p:nvSpPr>
        <p:spPr>
          <a:xfrm>
            <a:off x="6355080" y="4553712"/>
            <a:ext cx="1417320" cy="146304"/>
          </a:xfrm>
          <a:prstGeom prst="rect">
            <a:avLst/>
          </a:prstGeom>
          <a:noFill/>
          <a:ln/>
        </p:spPr>
        <p:txBody>
          <a:bodyPr wrap="square" lIns="0" tIns="0" rIns="0" bIns="0" rtlCol="0" anchor="ctr"/>
          <a:lstStyle/>
          <a:p>
            <a:pPr algn="ctr" indent="0" marL="0">
              <a:buNone/>
            </a:pPr>
            <a:r>
              <a:rPr lang="en-US" sz="700" dirty="0">
                <a:solidFill>
                  <a:srgbClr val="B6BBC0"/>
                </a:solidFill>
                <a:latin typeface="Calibri" pitchFamily="34" charset="0"/>
                <a:ea typeface="Calibri" pitchFamily="34" charset="-122"/>
                <a:cs typeface="Calibri" pitchFamily="34" charset="-120"/>
              </a:rPr>
              <a:t>/ month per FI</a:t>
            </a:r>
            <a:endParaRPr lang="en-US" sz="700" dirty="0"/>
          </a:p>
        </p:txBody>
      </p:sp>
      <p:sp>
        <p:nvSpPr>
          <p:cNvPr id="62" name="Shape 60"/>
          <p:cNvSpPr/>
          <p:nvPr/>
        </p:nvSpPr>
        <p:spPr>
          <a:xfrm>
            <a:off x="7845552" y="4352544"/>
            <a:ext cx="1170432" cy="237744"/>
          </a:xfrm>
          <a:prstGeom prst="roundRect">
            <a:avLst>
              <a:gd name="adj" fmla="val 15385"/>
            </a:avLst>
          </a:prstGeom>
          <a:solidFill>
            <a:srgbClr val="FFFFFF"/>
          </a:solidFill>
          <a:ln w="12700">
            <a:solidFill>
              <a:srgbClr val="085CE5"/>
            </a:solidFill>
            <a:prstDash val="solid"/>
          </a:ln>
        </p:spPr>
      </p:sp>
      <p:sp>
        <p:nvSpPr>
          <p:cNvPr id="63" name="Text 61"/>
          <p:cNvSpPr/>
          <p:nvPr/>
        </p:nvSpPr>
        <p:spPr>
          <a:xfrm>
            <a:off x="7845552" y="4352544"/>
            <a:ext cx="1170432" cy="237744"/>
          </a:xfrm>
          <a:prstGeom prst="rect">
            <a:avLst/>
          </a:prstGeom>
          <a:noFill/>
          <a:ln/>
        </p:spPr>
        <p:txBody>
          <a:bodyPr wrap="square" lIns="0" tIns="0" rIns="0" bIns="0" rtlCol="0" anchor="ctr"/>
          <a:lstStyle/>
          <a:p>
            <a:pPr algn="ctr" indent="0" marL="0">
              <a:buNone/>
            </a:pPr>
            <a:r>
              <a:rPr lang="en-US" sz="700" dirty="0">
                <a:solidFill>
                  <a:srgbClr val="085CE5"/>
                </a:solidFill>
                <a:latin typeface="Calibri" pitchFamily="34" charset="0"/>
                <a:ea typeface="Calibri" pitchFamily="34" charset="-122"/>
                <a:cs typeface="Calibri" pitchFamily="34" charset="-120"/>
              </a:rPr>
              <a:t>Enterprise tier only</a:t>
            </a:r>
            <a:endParaRPr lang="en-US" sz="700" dirty="0"/>
          </a:p>
        </p:txBody>
      </p:sp>
      <p:sp>
        <p:nvSpPr>
          <p:cNvPr id="64" name="Shape 62"/>
          <p:cNvSpPr/>
          <p:nvPr/>
        </p:nvSpPr>
        <p:spPr>
          <a:xfrm>
            <a:off x="320040" y="4773168"/>
            <a:ext cx="8732520" cy="329184"/>
          </a:xfrm>
          <a:prstGeom prst="rect">
            <a:avLst/>
          </a:prstGeom>
          <a:solidFill>
            <a:srgbClr val="06185F"/>
          </a:solidFill>
          <a:ln w="12700">
            <a:solidFill>
              <a:srgbClr val="06185F"/>
            </a:solidFill>
            <a:prstDash val="solid"/>
          </a:ln>
        </p:spPr>
      </p:sp>
      <p:sp>
        <p:nvSpPr>
          <p:cNvPr id="65" name="Text 63"/>
          <p:cNvSpPr/>
          <p:nvPr/>
        </p:nvSpPr>
        <p:spPr>
          <a:xfrm>
            <a:off x="475488" y="4809744"/>
            <a:ext cx="4114800" cy="25603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STANDALONE TOTAL — ALL SIX APPS (MID-MARKET FI)</a:t>
            </a:r>
            <a:endParaRPr lang="en-US" sz="950" dirty="0"/>
          </a:p>
        </p:txBody>
      </p:sp>
      <p:sp>
        <p:nvSpPr>
          <p:cNvPr id="66" name="Text 64"/>
          <p:cNvSpPr/>
          <p:nvPr/>
        </p:nvSpPr>
        <p:spPr>
          <a:xfrm>
            <a:off x="6355080" y="4809744"/>
            <a:ext cx="1417320" cy="256032"/>
          </a:xfrm>
          <a:prstGeom prst="rect">
            <a:avLst/>
          </a:prstGeom>
          <a:noFill/>
          <a:ln/>
        </p:spPr>
        <p:txBody>
          <a:bodyPr wrap="square" lIns="0" tIns="0" rIns="0" bIns="0" rtlCol="0" anchor="ctr"/>
          <a:lstStyle/>
          <a:p>
            <a:pPr algn="ctr" indent="0" marL="0">
              <a:buNone/>
            </a:pPr>
            <a:r>
              <a:rPr lang="en-US" sz="1300" b="1" dirty="0">
                <a:solidFill>
                  <a:srgbClr val="76DCFD"/>
                </a:solidFill>
                <a:latin typeface="Calibri" pitchFamily="34" charset="0"/>
                <a:ea typeface="Calibri" pitchFamily="34" charset="-122"/>
                <a:cs typeface="Calibri" pitchFamily="34" charset="-120"/>
              </a:rPr>
              <a:t>~$6,500 / mo</a:t>
            </a:r>
            <a:endParaRPr lang="en-US" sz="1300" dirty="0"/>
          </a:p>
        </p:txBody>
      </p:sp>
      <p:sp>
        <p:nvSpPr>
          <p:cNvPr id="67" name="Text 65"/>
          <p:cNvSpPr/>
          <p:nvPr/>
        </p:nvSpPr>
        <p:spPr>
          <a:xfrm>
            <a:off x="7635240" y="4828032"/>
            <a:ext cx="1389888" cy="219456"/>
          </a:xfrm>
          <a:prstGeom prst="rect">
            <a:avLst/>
          </a:prstGeom>
          <a:noFill/>
          <a:ln/>
        </p:spPr>
        <p:txBody>
          <a:bodyPr wrap="square" lIns="0" tIns="0" rIns="0" bIns="0" rtlCol="0" anchor="ctr"/>
          <a:lstStyle/>
          <a:p>
            <a:pPr algn="ctr" indent="0" marL="0">
              <a:buNone/>
            </a:pPr>
            <a:r>
              <a:rPr lang="en-US" sz="900" dirty="0">
                <a:solidFill>
                  <a:srgbClr val="76DCFD"/>
                </a:solidFill>
                <a:latin typeface="Calibri" pitchFamily="34" charset="0"/>
                <a:ea typeface="Calibri" pitchFamily="34" charset="-122"/>
                <a:cs typeface="Calibri" pitchFamily="34" charset="-120"/>
              </a:rPr>
              <a:t>vs. ~$4,800 bundled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Revenue Scales With Every Data Source We Add</a:t>
            </a:r>
            <a:endParaRPr lang="en-US" sz="2200" dirty="0"/>
          </a:p>
        </p:txBody>
      </p:sp>
      <p:sp>
        <p:nvSpPr>
          <p:cNvPr id="4" name="Text 2"/>
          <p:cNvSpPr/>
          <p:nvPr/>
        </p:nvSpPr>
        <p:spPr>
          <a:xfrm>
            <a:off x="365760" y="768096"/>
            <a:ext cx="8412480" cy="347472"/>
          </a:xfrm>
          <a:prstGeom prst="rect">
            <a:avLst/>
          </a:prstGeom>
          <a:noFill/>
          <a:ln/>
        </p:spPr>
        <p:txBody>
          <a:bodyPr wrap="square" lIns="0" tIns="0" rIns="0" bIns="0" rtlCol="0" anchor="ctr"/>
          <a:lstStyle/>
          <a:p>
            <a:pPr indent="0" marL="0">
              <a:buNone/>
            </a:pPr>
            <a:r>
              <a:rPr lang="en-US" sz="1200" dirty="0">
                <a:solidFill>
                  <a:srgbClr val="575A5D"/>
                </a:solidFill>
                <a:latin typeface="Calibri" pitchFamily="34" charset="0"/>
                <a:ea typeface="Calibri" pitchFamily="34" charset="-122"/>
                <a:cs typeface="Calibri" pitchFamily="34" charset="-120"/>
              </a:rPr>
              <a:t>The JH Intelligence Platform is a modular expansion engine. Each new data source (Core, Payments, Digital) unlocks new applications and deepens revenue per FI client.</a:t>
            </a:r>
            <a:endParaRPr lang="en-US" sz="1200" dirty="0"/>
          </a:p>
        </p:txBody>
      </p:sp>
      <p:sp>
        <p:nvSpPr>
          <p:cNvPr id="5" name="Text 3"/>
          <p:cNvSpPr/>
          <p:nvPr/>
        </p:nvSpPr>
        <p:spPr>
          <a:xfrm>
            <a:off x="320040" y="1188720"/>
            <a:ext cx="4480560" cy="256032"/>
          </a:xfrm>
          <a:prstGeom prst="rect">
            <a:avLst/>
          </a:prstGeom>
          <a:noFill/>
          <a:ln/>
        </p:spPr>
        <p:txBody>
          <a:bodyPr wrap="square" lIns="0" tIns="0" rIns="0" bIns="0" rtlCol="0" anchor="ctr"/>
          <a:lstStyle/>
          <a:p>
            <a:pPr indent="0" marL="0">
              <a:buNone/>
            </a:pPr>
            <a:r>
              <a:rPr lang="en-US" sz="900" b="1" spc="100" kern="0" dirty="0">
                <a:solidFill>
                  <a:srgbClr val="B6BBC0"/>
                </a:solidFill>
                <a:latin typeface="Calibri" pitchFamily="34" charset="0"/>
                <a:ea typeface="Calibri" pitchFamily="34" charset="-122"/>
                <a:cs typeface="Calibri" pitchFamily="34" charset="-120"/>
              </a:rPr>
              <a:t>MODULE</a:t>
            </a:r>
            <a:endParaRPr lang="en-US" sz="900" dirty="0"/>
          </a:p>
        </p:txBody>
      </p:sp>
      <p:sp>
        <p:nvSpPr>
          <p:cNvPr id="6" name="Text 4"/>
          <p:cNvSpPr/>
          <p:nvPr/>
        </p:nvSpPr>
        <p:spPr>
          <a:xfrm>
            <a:off x="4919472" y="1188720"/>
            <a:ext cx="1298448" cy="256032"/>
          </a:xfrm>
          <a:prstGeom prst="rect">
            <a:avLst/>
          </a:prstGeom>
          <a:noFill/>
          <a:ln/>
        </p:spPr>
        <p:txBody>
          <a:bodyPr wrap="square" lIns="0" tIns="0" rIns="0" bIns="0" rtlCol="0" anchor="ctr"/>
          <a:lstStyle/>
          <a:p>
            <a:pPr algn="ctr" indent="0" marL="0">
              <a:buNone/>
            </a:pPr>
            <a:r>
              <a:rPr lang="en-US" sz="900" b="1" spc="50" kern="0" dirty="0">
                <a:solidFill>
                  <a:srgbClr val="B6BBC0"/>
                </a:solidFill>
                <a:latin typeface="Calibri" pitchFamily="34" charset="0"/>
                <a:ea typeface="Calibri" pitchFamily="34" charset="-122"/>
                <a:cs typeface="Calibri" pitchFamily="34" charset="-120"/>
              </a:rPr>
              <a:t>ARR @ 500 FIs</a:t>
            </a:r>
            <a:endParaRPr lang="en-US" sz="900" dirty="0"/>
          </a:p>
        </p:txBody>
      </p:sp>
      <p:sp>
        <p:nvSpPr>
          <p:cNvPr id="7" name="Text 5"/>
          <p:cNvSpPr/>
          <p:nvPr/>
        </p:nvSpPr>
        <p:spPr>
          <a:xfrm>
            <a:off x="6291072" y="1188720"/>
            <a:ext cx="1371600" cy="256032"/>
          </a:xfrm>
          <a:prstGeom prst="rect">
            <a:avLst/>
          </a:prstGeom>
          <a:noFill/>
          <a:ln/>
        </p:spPr>
        <p:txBody>
          <a:bodyPr wrap="square" lIns="0" tIns="0" rIns="0" bIns="0" rtlCol="0" anchor="ctr"/>
          <a:lstStyle/>
          <a:p>
            <a:pPr algn="ctr" indent="0" marL="0">
              <a:buNone/>
            </a:pPr>
            <a:r>
              <a:rPr lang="en-US" sz="900" b="1" spc="50" kern="0" dirty="0">
                <a:solidFill>
                  <a:srgbClr val="B6BBC0"/>
                </a:solidFill>
                <a:latin typeface="Calibri" pitchFamily="34" charset="0"/>
                <a:ea typeface="Calibri" pitchFamily="34" charset="-122"/>
                <a:cs typeface="Calibri" pitchFamily="34" charset="-120"/>
              </a:rPr>
              <a:t>ARR @ 1,000 FIs</a:t>
            </a:r>
            <a:endParaRPr lang="en-US" sz="900" dirty="0"/>
          </a:p>
        </p:txBody>
      </p:sp>
      <p:sp>
        <p:nvSpPr>
          <p:cNvPr id="8" name="Text 6"/>
          <p:cNvSpPr/>
          <p:nvPr/>
        </p:nvSpPr>
        <p:spPr>
          <a:xfrm>
            <a:off x="7726680" y="1188720"/>
            <a:ext cx="1325880" cy="256032"/>
          </a:xfrm>
          <a:prstGeom prst="rect">
            <a:avLst/>
          </a:prstGeom>
          <a:noFill/>
          <a:ln/>
        </p:spPr>
        <p:txBody>
          <a:bodyPr wrap="square" lIns="0" tIns="0" rIns="0" bIns="0" rtlCol="0" anchor="ctr"/>
          <a:lstStyle/>
          <a:p>
            <a:pPr algn="ctr" indent="0" marL="0">
              <a:buNone/>
            </a:pPr>
            <a:r>
              <a:rPr lang="en-US" sz="900" b="1" spc="50" kern="0" dirty="0">
                <a:solidFill>
                  <a:srgbClr val="B6BBC0"/>
                </a:solidFill>
                <a:latin typeface="Calibri" pitchFamily="34" charset="0"/>
                <a:ea typeface="Calibri" pitchFamily="34" charset="-122"/>
                <a:cs typeface="Calibri" pitchFamily="34" charset="-120"/>
              </a:rPr>
              <a:t>ARR @ 1,660 FIs</a:t>
            </a:r>
            <a:endParaRPr lang="en-US" sz="900" dirty="0"/>
          </a:p>
        </p:txBody>
      </p:sp>
      <p:sp>
        <p:nvSpPr>
          <p:cNvPr id="9" name="Shape 7"/>
          <p:cNvSpPr/>
          <p:nvPr/>
        </p:nvSpPr>
        <p:spPr>
          <a:xfrm>
            <a:off x="320040" y="1463040"/>
            <a:ext cx="8732520" cy="713232"/>
          </a:xfrm>
          <a:prstGeom prst="rect">
            <a:avLst/>
          </a:prstGeom>
          <a:solidFill>
            <a:srgbClr val="FFFFFF"/>
          </a:solidFill>
          <a:ln w="12700">
            <a:solidFill>
              <a:srgbClr val="E7ECF0"/>
            </a:solidFill>
            <a:prstDash val="solid"/>
          </a:ln>
        </p:spPr>
      </p:sp>
      <p:sp>
        <p:nvSpPr>
          <p:cNvPr id="10" name="Shape 8"/>
          <p:cNvSpPr/>
          <p:nvPr/>
        </p:nvSpPr>
        <p:spPr>
          <a:xfrm>
            <a:off x="320040" y="1463040"/>
            <a:ext cx="91440" cy="713232"/>
          </a:xfrm>
          <a:prstGeom prst="rect">
            <a:avLst/>
          </a:prstGeom>
          <a:solidFill>
            <a:srgbClr val="085CE5"/>
          </a:solidFill>
          <a:ln w="12700">
            <a:solidFill>
              <a:srgbClr val="085CE5"/>
            </a:solidFill>
            <a:prstDash val="solid"/>
          </a:ln>
        </p:spPr>
      </p:sp>
      <p:sp>
        <p:nvSpPr>
          <p:cNvPr id="11" name="Shape 9"/>
          <p:cNvSpPr/>
          <p:nvPr/>
        </p:nvSpPr>
        <p:spPr>
          <a:xfrm>
            <a:off x="475488" y="1572768"/>
            <a:ext cx="475488" cy="182880"/>
          </a:xfrm>
          <a:prstGeom prst="rect">
            <a:avLst/>
          </a:prstGeom>
          <a:solidFill>
            <a:srgbClr val="085CE5"/>
          </a:solidFill>
          <a:ln w="12700">
            <a:solidFill>
              <a:srgbClr val="085CE5"/>
            </a:solidFill>
            <a:prstDash val="solid"/>
          </a:ln>
        </p:spPr>
      </p:sp>
      <p:sp>
        <p:nvSpPr>
          <p:cNvPr id="12" name="Text 10"/>
          <p:cNvSpPr/>
          <p:nvPr/>
        </p:nvSpPr>
        <p:spPr>
          <a:xfrm>
            <a:off x="475488" y="1572768"/>
            <a:ext cx="47548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NOW</a:t>
            </a:r>
            <a:endParaRPr lang="en-US" sz="750" dirty="0"/>
          </a:p>
        </p:txBody>
      </p:sp>
      <p:sp>
        <p:nvSpPr>
          <p:cNvPr id="13" name="Text 11"/>
          <p:cNvSpPr/>
          <p:nvPr/>
        </p:nvSpPr>
        <p:spPr>
          <a:xfrm>
            <a:off x="1024128" y="1517904"/>
            <a:ext cx="3749040" cy="237744"/>
          </a:xfrm>
          <a:prstGeom prst="rect">
            <a:avLst/>
          </a:prstGeom>
          <a:noFill/>
          <a:ln/>
        </p:spPr>
        <p:txBody>
          <a:bodyPr wrap="square" lIns="0" tIns="0" rIns="0" bIns="0" rtlCol="0" anchor="ctr"/>
          <a:lstStyle/>
          <a:p>
            <a:pPr indent="0" marL="0">
              <a:buNone/>
            </a:pPr>
            <a:r>
              <a:rPr lang="en-US" sz="1100" b="1" dirty="0">
                <a:solidFill>
                  <a:srgbClr val="06185F"/>
                </a:solidFill>
                <a:latin typeface="Calibri" pitchFamily="34" charset="0"/>
                <a:ea typeface="Calibri" pitchFamily="34" charset="-122"/>
                <a:cs typeface="Calibri" pitchFamily="34" charset="-120"/>
              </a:rPr>
              <a:t>Regulatory Intelligence</a:t>
            </a:r>
            <a:endParaRPr lang="en-US" sz="1100" dirty="0"/>
          </a:p>
        </p:txBody>
      </p:sp>
      <p:sp>
        <p:nvSpPr>
          <p:cNvPr id="14" name="Text 12"/>
          <p:cNvSpPr/>
          <p:nvPr/>
        </p:nvSpPr>
        <p:spPr>
          <a:xfrm>
            <a:off x="1024128" y="1746504"/>
            <a:ext cx="3749040" cy="182880"/>
          </a:xfrm>
          <a:prstGeom prst="rect">
            <a:avLst/>
          </a:prstGeom>
          <a:noFill/>
          <a:ln/>
        </p:spPr>
        <p:txBody>
          <a:bodyPr wrap="square" lIns="0" tIns="0" rIns="0" bIns="0" rtlCol="0" anchor="ctr"/>
          <a:lstStyle/>
          <a:p>
            <a:pPr indent="0" marL="0">
              <a:buNone/>
            </a:pPr>
            <a:r>
              <a:rPr lang="en-US" sz="850" dirty="0">
                <a:solidFill>
                  <a:srgbClr val="575A5D"/>
                </a:solidFill>
                <a:latin typeface="Calibri" pitchFamily="34" charset="0"/>
                <a:ea typeface="Calibri" pitchFamily="34" charset="-122"/>
                <a:cs typeface="Calibri" pitchFamily="34" charset="-120"/>
              </a:rPr>
              <a:t>NCUA 5300  ·  FFIEC Call Reports</a:t>
            </a:r>
            <a:endParaRPr lang="en-US" sz="850" dirty="0"/>
          </a:p>
        </p:txBody>
      </p:sp>
      <p:sp>
        <p:nvSpPr>
          <p:cNvPr id="15" name="Text 13"/>
          <p:cNvSpPr/>
          <p:nvPr/>
        </p:nvSpPr>
        <p:spPr>
          <a:xfrm>
            <a:off x="1024128" y="1920240"/>
            <a:ext cx="3749040" cy="182880"/>
          </a:xfrm>
          <a:prstGeom prst="rect">
            <a:avLst/>
          </a:prstGeom>
          <a:noFill/>
          <a:ln/>
        </p:spPr>
        <p:txBody>
          <a:bodyPr wrap="square" lIns="0" tIns="0" rIns="0" bIns="0" rtlCol="0" anchor="ctr"/>
          <a:lstStyle/>
          <a:p>
            <a:pPr indent="0" marL="0">
              <a:buNone/>
            </a:pPr>
            <a:r>
              <a:rPr lang="en-US" sz="850" i="1" dirty="0">
                <a:solidFill>
                  <a:srgbClr val="085CE5"/>
                </a:solidFill>
                <a:latin typeface="Calibri" pitchFamily="34" charset="0"/>
                <a:ea typeface="Calibri" pitchFamily="34" charset="-122"/>
                <a:cs typeface="Calibri" pitchFamily="34" charset="-120"/>
              </a:rPr>
              <a:t>CallRpt AI  ·  Compliance Monitoring</a:t>
            </a:r>
            <a:endParaRPr lang="en-US" sz="850" dirty="0"/>
          </a:p>
        </p:txBody>
      </p:sp>
      <p:sp>
        <p:nvSpPr>
          <p:cNvPr id="16" name="Text 14"/>
          <p:cNvSpPr/>
          <p:nvPr/>
        </p:nvSpPr>
        <p:spPr>
          <a:xfrm>
            <a:off x="4919472" y="1627632"/>
            <a:ext cx="1298448" cy="347472"/>
          </a:xfrm>
          <a:prstGeom prst="rect">
            <a:avLst/>
          </a:prstGeom>
          <a:noFill/>
          <a:ln/>
        </p:spPr>
        <p:txBody>
          <a:bodyPr wrap="square" lIns="0" tIns="0" rIns="0" bIns="0" rtlCol="0" anchor="ctr"/>
          <a:lstStyle/>
          <a:p>
            <a:pPr algn="ctr" indent="0" marL="0">
              <a:buNone/>
            </a:pPr>
            <a:r>
              <a:rPr lang="en-US" sz="1700" b="1" dirty="0">
                <a:solidFill>
                  <a:srgbClr val="085CE5"/>
                </a:solidFill>
                <a:latin typeface="Calibri" pitchFamily="34" charset="0"/>
                <a:ea typeface="Calibri" pitchFamily="34" charset="-122"/>
                <a:cs typeface="Calibri" pitchFamily="34" charset="-120"/>
              </a:rPr>
              <a:t>$4.5M</a:t>
            </a:r>
            <a:endParaRPr lang="en-US" sz="1700" dirty="0"/>
          </a:p>
        </p:txBody>
      </p:sp>
      <p:sp>
        <p:nvSpPr>
          <p:cNvPr id="17" name="Text 15"/>
          <p:cNvSpPr/>
          <p:nvPr/>
        </p:nvSpPr>
        <p:spPr>
          <a:xfrm>
            <a:off x="6291072" y="1627632"/>
            <a:ext cx="1371600" cy="347472"/>
          </a:xfrm>
          <a:prstGeom prst="rect">
            <a:avLst/>
          </a:prstGeom>
          <a:noFill/>
          <a:ln/>
        </p:spPr>
        <p:txBody>
          <a:bodyPr wrap="square" lIns="0" tIns="0" rIns="0" bIns="0" rtlCol="0" anchor="ctr"/>
          <a:lstStyle/>
          <a:p>
            <a:pPr algn="ctr" indent="0" marL="0">
              <a:buNone/>
            </a:pPr>
            <a:r>
              <a:rPr lang="en-US" sz="1700" b="1" dirty="0">
                <a:solidFill>
                  <a:srgbClr val="085CE5"/>
                </a:solidFill>
                <a:latin typeface="Calibri" pitchFamily="34" charset="0"/>
                <a:ea typeface="Calibri" pitchFamily="34" charset="-122"/>
                <a:cs typeface="Calibri" pitchFamily="34" charset="-120"/>
              </a:rPr>
              <a:t>$9M</a:t>
            </a:r>
            <a:endParaRPr lang="en-US" sz="1700" dirty="0"/>
          </a:p>
        </p:txBody>
      </p:sp>
      <p:sp>
        <p:nvSpPr>
          <p:cNvPr id="18" name="Text 16"/>
          <p:cNvSpPr/>
          <p:nvPr/>
        </p:nvSpPr>
        <p:spPr>
          <a:xfrm>
            <a:off x="7726680" y="1627632"/>
            <a:ext cx="1325880" cy="347472"/>
          </a:xfrm>
          <a:prstGeom prst="rect">
            <a:avLst/>
          </a:prstGeom>
          <a:noFill/>
          <a:ln/>
        </p:spPr>
        <p:txBody>
          <a:bodyPr wrap="square" lIns="0" tIns="0" rIns="0" bIns="0" rtlCol="0" anchor="ctr"/>
          <a:lstStyle/>
          <a:p>
            <a:pPr algn="ctr" indent="0" marL="0">
              <a:buNone/>
            </a:pPr>
            <a:r>
              <a:rPr lang="en-US" sz="1700" b="1" dirty="0">
                <a:solidFill>
                  <a:srgbClr val="085CE5"/>
                </a:solidFill>
                <a:latin typeface="Calibri" pitchFamily="34" charset="0"/>
                <a:ea typeface="Calibri" pitchFamily="34" charset="-122"/>
                <a:cs typeface="Calibri" pitchFamily="34" charset="-120"/>
              </a:rPr>
              <a:t>$15M</a:t>
            </a:r>
            <a:endParaRPr lang="en-US" sz="1700" dirty="0"/>
          </a:p>
        </p:txBody>
      </p:sp>
      <p:sp>
        <p:nvSpPr>
          <p:cNvPr id="19" name="Shape 17"/>
          <p:cNvSpPr/>
          <p:nvPr/>
        </p:nvSpPr>
        <p:spPr>
          <a:xfrm>
            <a:off x="320040" y="2231136"/>
            <a:ext cx="8732520" cy="713232"/>
          </a:xfrm>
          <a:prstGeom prst="rect">
            <a:avLst/>
          </a:prstGeom>
          <a:solidFill>
            <a:srgbClr val="E7ECF0"/>
          </a:solidFill>
          <a:ln w="12700">
            <a:solidFill>
              <a:srgbClr val="E7ECF0"/>
            </a:solidFill>
            <a:prstDash val="solid"/>
          </a:ln>
        </p:spPr>
      </p:sp>
      <p:sp>
        <p:nvSpPr>
          <p:cNvPr id="20" name="Shape 18"/>
          <p:cNvSpPr/>
          <p:nvPr/>
        </p:nvSpPr>
        <p:spPr>
          <a:xfrm>
            <a:off x="320040" y="2231136"/>
            <a:ext cx="91440" cy="713232"/>
          </a:xfrm>
          <a:prstGeom prst="rect">
            <a:avLst/>
          </a:prstGeom>
          <a:solidFill>
            <a:srgbClr val="073FA8"/>
          </a:solidFill>
          <a:ln w="12700">
            <a:solidFill>
              <a:srgbClr val="073FA8"/>
            </a:solidFill>
            <a:prstDash val="solid"/>
          </a:ln>
        </p:spPr>
      </p:sp>
      <p:sp>
        <p:nvSpPr>
          <p:cNvPr id="21" name="Shape 19"/>
          <p:cNvSpPr/>
          <p:nvPr/>
        </p:nvSpPr>
        <p:spPr>
          <a:xfrm>
            <a:off x="475488" y="2340864"/>
            <a:ext cx="475488" cy="182880"/>
          </a:xfrm>
          <a:prstGeom prst="rect">
            <a:avLst/>
          </a:prstGeom>
          <a:solidFill>
            <a:srgbClr val="073FA8"/>
          </a:solidFill>
          <a:ln w="12700">
            <a:solidFill>
              <a:srgbClr val="073FA8"/>
            </a:solidFill>
            <a:prstDash val="solid"/>
          </a:ln>
        </p:spPr>
      </p:sp>
      <p:sp>
        <p:nvSpPr>
          <p:cNvPr id="22" name="Text 20"/>
          <p:cNvSpPr/>
          <p:nvPr/>
        </p:nvSpPr>
        <p:spPr>
          <a:xfrm>
            <a:off x="475488" y="2340864"/>
            <a:ext cx="47548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NEXT</a:t>
            </a:r>
            <a:endParaRPr lang="en-US" sz="750" dirty="0"/>
          </a:p>
        </p:txBody>
      </p:sp>
      <p:sp>
        <p:nvSpPr>
          <p:cNvPr id="23" name="Text 21"/>
          <p:cNvSpPr/>
          <p:nvPr/>
        </p:nvSpPr>
        <p:spPr>
          <a:xfrm>
            <a:off x="1024128" y="2286000"/>
            <a:ext cx="3749040" cy="237744"/>
          </a:xfrm>
          <a:prstGeom prst="rect">
            <a:avLst/>
          </a:prstGeom>
          <a:noFill/>
          <a:ln/>
        </p:spPr>
        <p:txBody>
          <a:bodyPr wrap="square" lIns="0" tIns="0" rIns="0" bIns="0" rtlCol="0" anchor="ctr"/>
          <a:lstStyle/>
          <a:p>
            <a:pPr indent="0" marL="0">
              <a:buNone/>
            </a:pPr>
            <a:r>
              <a:rPr lang="en-US" sz="1100" b="1" dirty="0">
                <a:solidFill>
                  <a:srgbClr val="06185F"/>
                </a:solidFill>
                <a:latin typeface="Calibri" pitchFamily="34" charset="0"/>
                <a:ea typeface="Calibri" pitchFamily="34" charset="-122"/>
                <a:cs typeface="Calibri" pitchFamily="34" charset="-120"/>
              </a:rPr>
              <a:t>+ Core Banking Intelligence</a:t>
            </a:r>
            <a:endParaRPr lang="en-US" sz="1100" dirty="0"/>
          </a:p>
        </p:txBody>
      </p:sp>
      <p:sp>
        <p:nvSpPr>
          <p:cNvPr id="24" name="Text 22"/>
          <p:cNvSpPr/>
          <p:nvPr/>
        </p:nvSpPr>
        <p:spPr>
          <a:xfrm>
            <a:off x="1024128" y="2514600"/>
            <a:ext cx="3749040" cy="182880"/>
          </a:xfrm>
          <a:prstGeom prst="rect">
            <a:avLst/>
          </a:prstGeom>
          <a:noFill/>
          <a:ln/>
        </p:spPr>
        <p:txBody>
          <a:bodyPr wrap="square" lIns="0" tIns="0" rIns="0" bIns="0" rtlCol="0" anchor="ctr"/>
          <a:lstStyle/>
          <a:p>
            <a:pPr indent="0" marL="0">
              <a:buNone/>
            </a:pPr>
            <a:r>
              <a:rPr lang="en-US" sz="850" dirty="0">
                <a:solidFill>
                  <a:srgbClr val="575A5D"/>
                </a:solidFill>
                <a:latin typeface="Calibri" pitchFamily="34" charset="0"/>
                <a:ea typeface="Calibri" pitchFamily="34" charset="-122"/>
                <a:cs typeface="Calibri" pitchFamily="34" charset="-120"/>
              </a:rPr>
              <a:t>jhaEnterprise  ·  Symitar  ·  Core Transactions</a:t>
            </a:r>
            <a:endParaRPr lang="en-US" sz="850" dirty="0"/>
          </a:p>
        </p:txBody>
      </p:sp>
      <p:sp>
        <p:nvSpPr>
          <p:cNvPr id="25" name="Text 23"/>
          <p:cNvSpPr/>
          <p:nvPr/>
        </p:nvSpPr>
        <p:spPr>
          <a:xfrm>
            <a:off x="1024128" y="2688336"/>
            <a:ext cx="3749040" cy="182880"/>
          </a:xfrm>
          <a:prstGeom prst="rect">
            <a:avLst/>
          </a:prstGeom>
          <a:noFill/>
          <a:ln/>
        </p:spPr>
        <p:txBody>
          <a:bodyPr wrap="square" lIns="0" tIns="0" rIns="0" bIns="0" rtlCol="0" anchor="ctr"/>
          <a:lstStyle/>
          <a:p>
            <a:pPr indent="0" marL="0">
              <a:buNone/>
            </a:pPr>
            <a:r>
              <a:rPr lang="en-US" sz="850" i="1" dirty="0">
                <a:solidFill>
                  <a:srgbClr val="073FA8"/>
                </a:solidFill>
                <a:latin typeface="Calibri" pitchFamily="34" charset="0"/>
                <a:ea typeface="Calibri" pitchFamily="34" charset="-122"/>
                <a:cs typeface="Calibri" pitchFamily="34" charset="-120"/>
              </a:rPr>
              <a:t>Churn Mediation  ·  Account Opening LTV  ·  Cross-Sell Propensity</a:t>
            </a:r>
            <a:endParaRPr lang="en-US" sz="850" dirty="0"/>
          </a:p>
        </p:txBody>
      </p:sp>
      <p:sp>
        <p:nvSpPr>
          <p:cNvPr id="26" name="Text 24"/>
          <p:cNvSpPr/>
          <p:nvPr/>
        </p:nvSpPr>
        <p:spPr>
          <a:xfrm>
            <a:off x="4919472" y="2395728"/>
            <a:ext cx="1298448"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+$6M</a:t>
            </a:r>
            <a:endParaRPr lang="en-US" sz="1700" dirty="0"/>
          </a:p>
        </p:txBody>
      </p:sp>
      <p:sp>
        <p:nvSpPr>
          <p:cNvPr id="27" name="Text 25"/>
          <p:cNvSpPr/>
          <p:nvPr/>
        </p:nvSpPr>
        <p:spPr>
          <a:xfrm>
            <a:off x="6291072" y="2395728"/>
            <a:ext cx="1371600"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+$12M</a:t>
            </a:r>
            <a:endParaRPr lang="en-US" sz="1700" dirty="0"/>
          </a:p>
        </p:txBody>
      </p:sp>
      <p:sp>
        <p:nvSpPr>
          <p:cNvPr id="28" name="Text 26"/>
          <p:cNvSpPr/>
          <p:nvPr/>
        </p:nvSpPr>
        <p:spPr>
          <a:xfrm>
            <a:off x="7726680" y="2395728"/>
            <a:ext cx="1325880"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+$20M</a:t>
            </a:r>
            <a:endParaRPr lang="en-US" sz="1700" dirty="0"/>
          </a:p>
        </p:txBody>
      </p:sp>
      <p:sp>
        <p:nvSpPr>
          <p:cNvPr id="29" name="Shape 27"/>
          <p:cNvSpPr/>
          <p:nvPr/>
        </p:nvSpPr>
        <p:spPr>
          <a:xfrm>
            <a:off x="320040" y="2999232"/>
            <a:ext cx="8732520" cy="713232"/>
          </a:xfrm>
          <a:prstGeom prst="rect">
            <a:avLst/>
          </a:prstGeom>
          <a:solidFill>
            <a:srgbClr val="FFFFFF"/>
          </a:solidFill>
          <a:ln w="12700">
            <a:solidFill>
              <a:srgbClr val="E7ECF0"/>
            </a:solidFill>
            <a:prstDash val="solid"/>
          </a:ln>
        </p:spPr>
      </p:sp>
      <p:sp>
        <p:nvSpPr>
          <p:cNvPr id="30" name="Shape 28"/>
          <p:cNvSpPr/>
          <p:nvPr/>
        </p:nvSpPr>
        <p:spPr>
          <a:xfrm>
            <a:off x="320040" y="2999232"/>
            <a:ext cx="91440" cy="713232"/>
          </a:xfrm>
          <a:prstGeom prst="rect">
            <a:avLst/>
          </a:prstGeom>
          <a:solidFill>
            <a:srgbClr val="575A5D"/>
          </a:solidFill>
          <a:ln w="12700">
            <a:solidFill>
              <a:srgbClr val="575A5D"/>
            </a:solidFill>
            <a:prstDash val="solid"/>
          </a:ln>
        </p:spPr>
      </p:sp>
      <p:sp>
        <p:nvSpPr>
          <p:cNvPr id="31" name="Shape 29"/>
          <p:cNvSpPr/>
          <p:nvPr/>
        </p:nvSpPr>
        <p:spPr>
          <a:xfrm>
            <a:off x="475488" y="3108960"/>
            <a:ext cx="475488" cy="182880"/>
          </a:xfrm>
          <a:prstGeom prst="rect">
            <a:avLst/>
          </a:prstGeom>
          <a:solidFill>
            <a:srgbClr val="073FA8"/>
          </a:solidFill>
          <a:ln w="12700">
            <a:solidFill>
              <a:srgbClr val="073FA8"/>
            </a:solidFill>
            <a:prstDash val="solid"/>
          </a:ln>
        </p:spPr>
      </p:sp>
      <p:sp>
        <p:nvSpPr>
          <p:cNvPr id="32" name="Text 30"/>
          <p:cNvSpPr/>
          <p:nvPr/>
        </p:nvSpPr>
        <p:spPr>
          <a:xfrm>
            <a:off x="475488" y="3108960"/>
            <a:ext cx="47548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NEXT</a:t>
            </a:r>
            <a:endParaRPr lang="en-US" sz="750" dirty="0"/>
          </a:p>
        </p:txBody>
      </p:sp>
      <p:sp>
        <p:nvSpPr>
          <p:cNvPr id="33" name="Text 31"/>
          <p:cNvSpPr/>
          <p:nvPr/>
        </p:nvSpPr>
        <p:spPr>
          <a:xfrm>
            <a:off x="1024128" y="3054096"/>
            <a:ext cx="3749040" cy="237744"/>
          </a:xfrm>
          <a:prstGeom prst="rect">
            <a:avLst/>
          </a:prstGeom>
          <a:noFill/>
          <a:ln/>
        </p:spPr>
        <p:txBody>
          <a:bodyPr wrap="square" lIns="0" tIns="0" rIns="0" bIns="0" rtlCol="0" anchor="ctr"/>
          <a:lstStyle/>
          <a:p>
            <a:pPr indent="0" marL="0">
              <a:buNone/>
            </a:pPr>
            <a:r>
              <a:rPr lang="en-US" sz="1100" b="1" dirty="0">
                <a:solidFill>
                  <a:srgbClr val="06185F"/>
                </a:solidFill>
                <a:latin typeface="Calibri" pitchFamily="34" charset="0"/>
                <a:ea typeface="Calibri" pitchFamily="34" charset="-122"/>
                <a:cs typeface="Calibri" pitchFamily="34" charset="-120"/>
              </a:rPr>
              <a:t>+ Payments Intelligence</a:t>
            </a:r>
            <a:endParaRPr lang="en-US" sz="1100" dirty="0"/>
          </a:p>
        </p:txBody>
      </p:sp>
      <p:sp>
        <p:nvSpPr>
          <p:cNvPr id="34" name="Text 32"/>
          <p:cNvSpPr/>
          <p:nvPr/>
        </p:nvSpPr>
        <p:spPr>
          <a:xfrm>
            <a:off x="1024128" y="3282696"/>
            <a:ext cx="3749040" cy="182880"/>
          </a:xfrm>
          <a:prstGeom prst="rect">
            <a:avLst/>
          </a:prstGeom>
          <a:noFill/>
          <a:ln/>
        </p:spPr>
        <p:txBody>
          <a:bodyPr wrap="square" lIns="0" tIns="0" rIns="0" bIns="0" rtlCol="0" anchor="ctr"/>
          <a:lstStyle/>
          <a:p>
            <a:pPr indent="0" marL="0">
              <a:buNone/>
            </a:pPr>
            <a:r>
              <a:rPr lang="en-US" sz="850" dirty="0">
                <a:solidFill>
                  <a:srgbClr val="575A5D"/>
                </a:solidFill>
                <a:latin typeface="Calibri" pitchFamily="34" charset="0"/>
                <a:ea typeface="Calibri" pitchFamily="34" charset="-122"/>
                <a:cs typeface="Calibri" pitchFamily="34" charset="-120"/>
              </a:rPr>
              <a:t>Zelle  ·  ACH  ·  Card  ·  Wire</a:t>
            </a:r>
            <a:endParaRPr lang="en-US" sz="850" dirty="0"/>
          </a:p>
        </p:txBody>
      </p:sp>
      <p:sp>
        <p:nvSpPr>
          <p:cNvPr id="35" name="Text 33"/>
          <p:cNvSpPr/>
          <p:nvPr/>
        </p:nvSpPr>
        <p:spPr>
          <a:xfrm>
            <a:off x="1024128" y="3456432"/>
            <a:ext cx="3749040" cy="182880"/>
          </a:xfrm>
          <a:prstGeom prst="rect">
            <a:avLst/>
          </a:prstGeom>
          <a:noFill/>
          <a:ln/>
        </p:spPr>
        <p:txBody>
          <a:bodyPr wrap="square" lIns="0" tIns="0" rIns="0" bIns="0" rtlCol="0" anchor="ctr"/>
          <a:lstStyle/>
          <a:p>
            <a:pPr indent="0" marL="0">
              <a:buNone/>
            </a:pPr>
            <a:r>
              <a:rPr lang="en-US" sz="850" i="1" dirty="0">
                <a:solidFill>
                  <a:srgbClr val="575A5D"/>
                </a:solidFill>
                <a:latin typeface="Calibri" pitchFamily="34" charset="0"/>
                <a:ea typeface="Calibri" pitchFamily="34" charset="-122"/>
                <a:cs typeface="Calibri" pitchFamily="34" charset="-120"/>
              </a:rPr>
              <a:t>Zelle Memo Intelligence  ·  Anomaly Detection  ·  Fraud Ring Detection</a:t>
            </a:r>
            <a:endParaRPr lang="en-US" sz="850" dirty="0"/>
          </a:p>
        </p:txBody>
      </p:sp>
      <p:sp>
        <p:nvSpPr>
          <p:cNvPr id="36" name="Text 34"/>
          <p:cNvSpPr/>
          <p:nvPr/>
        </p:nvSpPr>
        <p:spPr>
          <a:xfrm>
            <a:off x="4919472" y="3163824"/>
            <a:ext cx="1298448"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+$5M</a:t>
            </a:r>
            <a:endParaRPr lang="en-US" sz="1700" dirty="0"/>
          </a:p>
        </p:txBody>
      </p:sp>
      <p:sp>
        <p:nvSpPr>
          <p:cNvPr id="37" name="Text 35"/>
          <p:cNvSpPr/>
          <p:nvPr/>
        </p:nvSpPr>
        <p:spPr>
          <a:xfrm>
            <a:off x="6291072" y="3163824"/>
            <a:ext cx="1371600"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+$10M</a:t>
            </a:r>
            <a:endParaRPr lang="en-US" sz="1700" dirty="0"/>
          </a:p>
        </p:txBody>
      </p:sp>
      <p:sp>
        <p:nvSpPr>
          <p:cNvPr id="38" name="Text 36"/>
          <p:cNvSpPr/>
          <p:nvPr/>
        </p:nvSpPr>
        <p:spPr>
          <a:xfrm>
            <a:off x="7726680" y="3163824"/>
            <a:ext cx="1325880"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+$17M</a:t>
            </a:r>
            <a:endParaRPr lang="en-US" sz="1700" dirty="0"/>
          </a:p>
        </p:txBody>
      </p:sp>
      <p:sp>
        <p:nvSpPr>
          <p:cNvPr id="39" name="Shape 37"/>
          <p:cNvSpPr/>
          <p:nvPr/>
        </p:nvSpPr>
        <p:spPr>
          <a:xfrm>
            <a:off x="320040" y="3767328"/>
            <a:ext cx="8732520" cy="713232"/>
          </a:xfrm>
          <a:prstGeom prst="rect">
            <a:avLst/>
          </a:prstGeom>
          <a:solidFill>
            <a:srgbClr val="E7ECF0"/>
          </a:solidFill>
          <a:ln w="12700">
            <a:solidFill>
              <a:srgbClr val="E7ECF0"/>
            </a:solidFill>
            <a:prstDash val="solid"/>
          </a:ln>
        </p:spPr>
      </p:sp>
      <p:sp>
        <p:nvSpPr>
          <p:cNvPr id="40" name="Shape 38"/>
          <p:cNvSpPr/>
          <p:nvPr/>
        </p:nvSpPr>
        <p:spPr>
          <a:xfrm>
            <a:off x="320040" y="3767328"/>
            <a:ext cx="91440" cy="713232"/>
          </a:xfrm>
          <a:prstGeom prst="rect">
            <a:avLst/>
          </a:prstGeom>
          <a:solidFill>
            <a:srgbClr val="0B68D4"/>
          </a:solidFill>
          <a:ln w="12700">
            <a:solidFill>
              <a:srgbClr val="0B68D4"/>
            </a:solidFill>
            <a:prstDash val="solid"/>
          </a:ln>
        </p:spPr>
      </p:sp>
      <p:sp>
        <p:nvSpPr>
          <p:cNvPr id="41" name="Shape 39"/>
          <p:cNvSpPr/>
          <p:nvPr/>
        </p:nvSpPr>
        <p:spPr>
          <a:xfrm>
            <a:off x="475488" y="3877056"/>
            <a:ext cx="475488" cy="182880"/>
          </a:xfrm>
          <a:prstGeom prst="rect">
            <a:avLst/>
          </a:prstGeom>
          <a:solidFill>
            <a:srgbClr val="B6BBC0"/>
          </a:solidFill>
          <a:ln w="12700">
            <a:solidFill>
              <a:srgbClr val="B6BBC0"/>
            </a:solidFill>
            <a:prstDash val="solid"/>
          </a:ln>
        </p:spPr>
      </p:sp>
      <p:sp>
        <p:nvSpPr>
          <p:cNvPr id="42" name="Text 40"/>
          <p:cNvSpPr/>
          <p:nvPr/>
        </p:nvSpPr>
        <p:spPr>
          <a:xfrm>
            <a:off x="475488" y="3877056"/>
            <a:ext cx="47548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FUTURE</a:t>
            </a:r>
            <a:endParaRPr lang="en-US" sz="750" dirty="0"/>
          </a:p>
        </p:txBody>
      </p:sp>
      <p:sp>
        <p:nvSpPr>
          <p:cNvPr id="43" name="Text 41"/>
          <p:cNvSpPr/>
          <p:nvPr/>
        </p:nvSpPr>
        <p:spPr>
          <a:xfrm>
            <a:off x="1024128" y="3822192"/>
            <a:ext cx="3749040" cy="237744"/>
          </a:xfrm>
          <a:prstGeom prst="rect">
            <a:avLst/>
          </a:prstGeom>
          <a:noFill/>
          <a:ln/>
        </p:spPr>
        <p:txBody>
          <a:bodyPr wrap="square" lIns="0" tIns="0" rIns="0" bIns="0" rtlCol="0" anchor="ctr"/>
          <a:lstStyle/>
          <a:p>
            <a:pPr indent="0" marL="0">
              <a:buNone/>
            </a:pPr>
            <a:r>
              <a:rPr lang="en-US" sz="1100" b="1" dirty="0">
                <a:solidFill>
                  <a:srgbClr val="06185F"/>
                </a:solidFill>
                <a:latin typeface="Calibri" pitchFamily="34" charset="0"/>
                <a:ea typeface="Calibri" pitchFamily="34" charset="-122"/>
                <a:cs typeface="Calibri" pitchFamily="34" charset="-120"/>
              </a:rPr>
              <a:t>+ Digital / Banno Intelligence</a:t>
            </a:r>
            <a:endParaRPr lang="en-US" sz="1100" dirty="0"/>
          </a:p>
        </p:txBody>
      </p:sp>
      <p:sp>
        <p:nvSpPr>
          <p:cNvPr id="44" name="Text 42"/>
          <p:cNvSpPr/>
          <p:nvPr/>
        </p:nvSpPr>
        <p:spPr>
          <a:xfrm>
            <a:off x="1024128" y="4050792"/>
            <a:ext cx="3749040" cy="182880"/>
          </a:xfrm>
          <a:prstGeom prst="rect">
            <a:avLst/>
          </a:prstGeom>
          <a:noFill/>
          <a:ln/>
        </p:spPr>
        <p:txBody>
          <a:bodyPr wrap="square" lIns="0" tIns="0" rIns="0" bIns="0" rtlCol="0" anchor="ctr"/>
          <a:lstStyle/>
          <a:p>
            <a:pPr indent="0" marL="0">
              <a:buNone/>
            </a:pPr>
            <a:r>
              <a:rPr lang="en-US" sz="850" dirty="0">
                <a:solidFill>
                  <a:srgbClr val="575A5D"/>
                </a:solidFill>
                <a:latin typeface="Calibri" pitchFamily="34" charset="0"/>
                <a:ea typeface="Calibri" pitchFamily="34" charset="-122"/>
                <a:cs typeface="Calibri" pitchFamily="34" charset="-120"/>
              </a:rPr>
              <a:t>Banno  ·  Digital Engagement  ·  Session Behavior</a:t>
            </a:r>
            <a:endParaRPr lang="en-US" sz="850" dirty="0"/>
          </a:p>
        </p:txBody>
      </p:sp>
      <p:sp>
        <p:nvSpPr>
          <p:cNvPr id="45" name="Text 43"/>
          <p:cNvSpPr/>
          <p:nvPr/>
        </p:nvSpPr>
        <p:spPr>
          <a:xfrm>
            <a:off x="1024128" y="4224528"/>
            <a:ext cx="3749040" cy="182880"/>
          </a:xfrm>
          <a:prstGeom prst="rect">
            <a:avLst/>
          </a:prstGeom>
          <a:noFill/>
          <a:ln/>
        </p:spPr>
        <p:txBody>
          <a:bodyPr wrap="square" lIns="0" tIns="0" rIns="0" bIns="0" rtlCol="0" anchor="ctr"/>
          <a:lstStyle/>
          <a:p>
            <a:pPr indent="0" marL="0">
              <a:buNone/>
            </a:pPr>
            <a:r>
              <a:rPr lang="en-US" sz="850" i="1" dirty="0">
                <a:solidFill>
                  <a:srgbClr val="0B68D4"/>
                </a:solidFill>
                <a:latin typeface="Calibri" pitchFamily="34" charset="0"/>
                <a:ea typeface="Calibri" pitchFamily="34" charset="-122"/>
                <a:cs typeface="Calibri" pitchFamily="34" charset="-120"/>
              </a:rPr>
              <a:t>Sentiment Engine  ·  Next Best Action  ·  Overdraft Prediction</a:t>
            </a:r>
            <a:endParaRPr lang="en-US" sz="850" dirty="0"/>
          </a:p>
        </p:txBody>
      </p:sp>
      <p:sp>
        <p:nvSpPr>
          <p:cNvPr id="46" name="Text 44"/>
          <p:cNvSpPr/>
          <p:nvPr/>
        </p:nvSpPr>
        <p:spPr>
          <a:xfrm>
            <a:off x="4919472" y="3931920"/>
            <a:ext cx="1298448"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+$4M</a:t>
            </a:r>
            <a:endParaRPr lang="en-US" sz="1700" dirty="0"/>
          </a:p>
        </p:txBody>
      </p:sp>
      <p:sp>
        <p:nvSpPr>
          <p:cNvPr id="47" name="Text 45"/>
          <p:cNvSpPr/>
          <p:nvPr/>
        </p:nvSpPr>
        <p:spPr>
          <a:xfrm>
            <a:off x="6291072" y="3931920"/>
            <a:ext cx="1371600"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+$8M</a:t>
            </a:r>
            <a:endParaRPr lang="en-US" sz="1700" dirty="0"/>
          </a:p>
        </p:txBody>
      </p:sp>
      <p:sp>
        <p:nvSpPr>
          <p:cNvPr id="48" name="Text 46"/>
          <p:cNvSpPr/>
          <p:nvPr/>
        </p:nvSpPr>
        <p:spPr>
          <a:xfrm>
            <a:off x="7726680" y="3931920"/>
            <a:ext cx="1325880" cy="347472"/>
          </a:xfrm>
          <a:prstGeom prst="rect">
            <a:avLst/>
          </a:prstGeom>
          <a:noFill/>
          <a:ln/>
        </p:spPr>
        <p:txBody>
          <a:bodyPr wrap="square" lIns="0" tIns="0" rIns="0" bIns="0" rtlCol="0" anchor="ctr"/>
          <a:lstStyle/>
          <a:p>
            <a:pPr algn="ctr" indent="0" marL="0">
              <a:buNone/>
            </a:pPr>
            <a:r>
              <a:rPr lang="en-US" sz="1700" b="1" dirty="0">
                <a:solidFill>
                  <a:srgbClr val="073FA8"/>
                </a:solidFill>
                <a:latin typeface="Calibri" pitchFamily="34" charset="0"/>
                <a:ea typeface="Calibri" pitchFamily="34" charset="-122"/>
                <a:cs typeface="Calibri" pitchFamily="34" charset="-120"/>
              </a:rPr>
              <a:t>+$13M</a:t>
            </a:r>
            <a:endParaRPr lang="en-US" sz="1700" dirty="0"/>
          </a:p>
        </p:txBody>
      </p:sp>
      <p:sp>
        <p:nvSpPr>
          <p:cNvPr id="49" name="Shape 47"/>
          <p:cNvSpPr/>
          <p:nvPr/>
        </p:nvSpPr>
        <p:spPr>
          <a:xfrm>
            <a:off x="320040" y="4535424"/>
            <a:ext cx="8732520" cy="402336"/>
          </a:xfrm>
          <a:prstGeom prst="rect">
            <a:avLst/>
          </a:prstGeom>
          <a:solidFill>
            <a:srgbClr val="06185F"/>
          </a:solidFill>
          <a:ln w="12700">
            <a:solidFill>
              <a:srgbClr val="06185F"/>
            </a:solidFill>
            <a:prstDash val="solid"/>
          </a:ln>
        </p:spPr>
      </p:sp>
      <p:sp>
        <p:nvSpPr>
          <p:cNvPr id="50" name="Text 48"/>
          <p:cNvSpPr/>
          <p:nvPr/>
        </p:nvSpPr>
        <p:spPr>
          <a:xfrm>
            <a:off x="475488" y="4562856"/>
            <a:ext cx="4297680" cy="34747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FULL PLATFORM ARR POTENTIAL</a:t>
            </a:r>
            <a:endParaRPr lang="en-US" sz="1100" dirty="0"/>
          </a:p>
        </p:txBody>
      </p:sp>
      <p:sp>
        <p:nvSpPr>
          <p:cNvPr id="51" name="Text 49"/>
          <p:cNvSpPr/>
          <p:nvPr/>
        </p:nvSpPr>
        <p:spPr>
          <a:xfrm>
            <a:off x="4919472" y="4562856"/>
            <a:ext cx="1298448" cy="347472"/>
          </a:xfrm>
          <a:prstGeom prst="rect">
            <a:avLst/>
          </a:prstGeom>
          <a:noFill/>
          <a:ln/>
        </p:spPr>
        <p:txBody>
          <a:bodyPr wrap="square" lIns="0" tIns="0" rIns="0" bIns="0" rtlCol="0" anchor="ctr"/>
          <a:lstStyle/>
          <a:p>
            <a:pPr algn="ctr" indent="0" marL="0">
              <a:buNone/>
            </a:pPr>
            <a:r>
              <a:rPr lang="en-US" sz="1400" b="1" dirty="0">
                <a:solidFill>
                  <a:srgbClr val="76DCFD"/>
                </a:solidFill>
                <a:latin typeface="Calibri" pitchFamily="34" charset="0"/>
                <a:ea typeface="Calibri" pitchFamily="34" charset="-122"/>
                <a:cs typeface="Calibri" pitchFamily="34" charset="-120"/>
              </a:rPr>
              <a:t>$19.5M</a:t>
            </a:r>
            <a:endParaRPr lang="en-US" sz="1400" dirty="0"/>
          </a:p>
        </p:txBody>
      </p:sp>
      <p:sp>
        <p:nvSpPr>
          <p:cNvPr id="52" name="Text 50"/>
          <p:cNvSpPr/>
          <p:nvPr/>
        </p:nvSpPr>
        <p:spPr>
          <a:xfrm>
            <a:off x="6291072" y="4562856"/>
            <a:ext cx="1371600" cy="347472"/>
          </a:xfrm>
          <a:prstGeom prst="rect">
            <a:avLst/>
          </a:prstGeom>
          <a:noFill/>
          <a:ln/>
        </p:spPr>
        <p:txBody>
          <a:bodyPr wrap="square" lIns="0" tIns="0" rIns="0" bIns="0" rtlCol="0" anchor="ctr"/>
          <a:lstStyle/>
          <a:p>
            <a:pPr algn="ctr" indent="0" marL="0">
              <a:buNone/>
            </a:pPr>
            <a:r>
              <a:rPr lang="en-US" sz="1400" b="1" dirty="0">
                <a:solidFill>
                  <a:srgbClr val="76DCFD"/>
                </a:solidFill>
                <a:latin typeface="Calibri" pitchFamily="34" charset="0"/>
                <a:ea typeface="Calibri" pitchFamily="34" charset="-122"/>
                <a:cs typeface="Calibri" pitchFamily="34" charset="-120"/>
              </a:rPr>
              <a:t>$39M</a:t>
            </a:r>
            <a:endParaRPr lang="en-US" sz="1400" dirty="0"/>
          </a:p>
        </p:txBody>
      </p:sp>
      <p:sp>
        <p:nvSpPr>
          <p:cNvPr id="53" name="Text 51"/>
          <p:cNvSpPr/>
          <p:nvPr/>
        </p:nvSpPr>
        <p:spPr>
          <a:xfrm>
            <a:off x="7726680" y="4562856"/>
            <a:ext cx="1325880" cy="347472"/>
          </a:xfrm>
          <a:prstGeom prst="rect">
            <a:avLst/>
          </a:prstGeom>
          <a:noFill/>
          <a:ln/>
        </p:spPr>
        <p:txBody>
          <a:bodyPr wrap="square" lIns="0" tIns="0" rIns="0" bIns="0" rtlCol="0" anchor="ctr"/>
          <a:lstStyle/>
          <a:p>
            <a:pPr algn="ctr" indent="0" marL="0">
              <a:buNone/>
            </a:pPr>
            <a:r>
              <a:rPr lang="en-US" sz="1400" b="1" dirty="0">
                <a:solidFill>
                  <a:srgbClr val="76DCFD"/>
                </a:solidFill>
                <a:latin typeface="Calibri" pitchFamily="34" charset="0"/>
                <a:ea typeface="Calibri" pitchFamily="34" charset="-122"/>
                <a:cs typeface="Calibri" pitchFamily="34" charset="-120"/>
              </a:rPr>
              <a:t>$65M+</a:t>
            </a:r>
            <a:endParaRPr lang="en-US" sz="1400" dirty="0"/>
          </a:p>
        </p:txBody>
      </p:sp>
      <p:sp>
        <p:nvSpPr>
          <p:cNvPr id="54" name="Text 52"/>
          <p:cNvSpPr/>
          <p:nvPr/>
        </p:nvSpPr>
        <p:spPr>
          <a:xfrm>
            <a:off x="365760" y="4974336"/>
            <a:ext cx="8412480" cy="164592"/>
          </a:xfrm>
          <a:prstGeom prst="rect">
            <a:avLst/>
          </a:prstGeom>
          <a:noFill/>
          <a:ln/>
        </p:spPr>
        <p:txBody>
          <a:bodyPr wrap="square" lIns="0" tIns="0" rIns="0" bIns="0" rtlCol="0" anchor="ctr"/>
          <a:lstStyle/>
          <a:p>
            <a:pPr indent="0" marL="0">
              <a:buNone/>
            </a:pPr>
            <a:r>
              <a:rPr lang="en-US" sz="800" i="1" dirty="0">
                <a:solidFill>
                  <a:srgbClr val="B6BBC0"/>
                </a:solidFill>
                <a:latin typeface="Calibri" pitchFamily="34" charset="0"/>
                <a:ea typeface="Calibri" pitchFamily="34" charset="-122"/>
                <a:cs typeface="Calibri" pitchFamily="34" charset="-120"/>
              </a:rPr>
              <a:t>ARR estimates based on avg. subscription value across tiers. Columns reflect 30%, 60%, and 100% penetration of JH's 1,660 core FI clients (940 banks + 720 CUs). Source: JH 10-K FY2024.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Horizon Pipeline: Year 2 Platform Opportunities</a:t>
            </a:r>
            <a:endParaRPr lang="en-US" sz="2200" dirty="0"/>
          </a:p>
        </p:txBody>
      </p:sp>
      <p:sp>
        <p:nvSpPr>
          <p:cNvPr id="4" name="Shape 2"/>
          <p:cNvSpPr/>
          <p:nvPr/>
        </p:nvSpPr>
        <p:spPr>
          <a:xfrm>
            <a:off x="274320" y="786384"/>
            <a:ext cx="2743200" cy="1901952"/>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274320" y="786384"/>
            <a:ext cx="2743200" cy="73152"/>
          </a:xfrm>
          <a:prstGeom prst="rect">
            <a:avLst/>
          </a:prstGeom>
          <a:solidFill>
            <a:srgbClr val="085CE5"/>
          </a:solidFill>
          <a:ln w="12700">
            <a:solidFill>
              <a:srgbClr val="085CE5"/>
            </a:solidFill>
            <a:prstDash val="solid"/>
          </a:ln>
        </p:spPr>
      </p:sp>
      <p:pic>
        <p:nvPicPr>
          <p:cNvPr id="6" name="Image 0" descr="preencoded.png">    </p:cNvPr>
          <p:cNvPicPr>
            <a:picLocks noChangeAspect="1"/>
          </p:cNvPicPr>
          <p:nvPr/>
        </p:nvPicPr>
        <p:blipFill>
          <a:blip r:embed="rId1"/>
          <a:stretch>
            <a:fillRect/>
          </a:stretch>
        </p:blipFill>
        <p:spPr>
          <a:xfrm>
            <a:off x="429768" y="969264"/>
            <a:ext cx="347472" cy="347472"/>
          </a:xfrm>
          <a:prstGeom prst="rect">
            <a:avLst/>
          </a:prstGeom>
        </p:spPr>
      </p:pic>
      <p:sp>
        <p:nvSpPr>
          <p:cNvPr id="7" name="Text 4"/>
          <p:cNvSpPr/>
          <p:nvPr/>
        </p:nvSpPr>
        <p:spPr>
          <a:xfrm>
            <a:off x="868680" y="914400"/>
            <a:ext cx="2057400" cy="457200"/>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Cross-Sell Propensity Engine</a:t>
            </a:r>
            <a:endParaRPr lang="en-US" sz="1050" dirty="0"/>
          </a:p>
        </p:txBody>
      </p:sp>
      <p:sp>
        <p:nvSpPr>
          <p:cNvPr id="8" name="Text 5"/>
          <p:cNvSpPr/>
          <p:nvPr/>
        </p:nvSpPr>
        <p:spPr>
          <a:xfrm>
            <a:off x="411480" y="1444752"/>
            <a:ext cx="2487168" cy="1115568"/>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ML model scoring each FI customer's likelihood to open savings, CDs, credit cards, or mortgage — enabling timed, personalized offers embedded in Banno.</a:t>
            </a:r>
            <a:endParaRPr lang="en-US" sz="1000" dirty="0"/>
          </a:p>
        </p:txBody>
      </p:sp>
      <p:sp>
        <p:nvSpPr>
          <p:cNvPr id="9" name="Shape 6"/>
          <p:cNvSpPr/>
          <p:nvPr/>
        </p:nvSpPr>
        <p:spPr>
          <a:xfrm>
            <a:off x="3154680" y="786384"/>
            <a:ext cx="2743200" cy="1901952"/>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0" name="Shape 7"/>
          <p:cNvSpPr/>
          <p:nvPr/>
        </p:nvSpPr>
        <p:spPr>
          <a:xfrm>
            <a:off x="3154680" y="786384"/>
            <a:ext cx="2743200" cy="73152"/>
          </a:xfrm>
          <a:prstGeom prst="rect">
            <a:avLst/>
          </a:prstGeom>
          <a:solidFill>
            <a:srgbClr val="06185F"/>
          </a:solidFill>
          <a:ln w="12700">
            <a:solidFill>
              <a:srgbClr val="06185F"/>
            </a:solidFill>
            <a:prstDash val="solid"/>
          </a:ln>
        </p:spPr>
      </p:sp>
      <p:pic>
        <p:nvPicPr>
          <p:cNvPr id="11" name="Image 1" descr="preencoded.png">    </p:cNvPr>
          <p:cNvPicPr>
            <a:picLocks noChangeAspect="1"/>
          </p:cNvPicPr>
          <p:nvPr/>
        </p:nvPicPr>
        <p:blipFill>
          <a:blip r:embed="rId2"/>
          <a:stretch>
            <a:fillRect/>
          </a:stretch>
        </p:blipFill>
        <p:spPr>
          <a:xfrm>
            <a:off x="3310128" y="969264"/>
            <a:ext cx="347472" cy="347472"/>
          </a:xfrm>
          <a:prstGeom prst="rect">
            <a:avLst/>
          </a:prstGeom>
        </p:spPr>
      </p:pic>
      <p:sp>
        <p:nvSpPr>
          <p:cNvPr id="12" name="Text 8"/>
          <p:cNvSpPr/>
          <p:nvPr/>
        </p:nvSpPr>
        <p:spPr>
          <a:xfrm>
            <a:off x="3749040" y="914400"/>
            <a:ext cx="2057400" cy="457200"/>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Fraud Ring Detection</a:t>
            </a:r>
            <a:endParaRPr lang="en-US" sz="1050" dirty="0"/>
          </a:p>
        </p:txBody>
      </p:sp>
      <p:sp>
        <p:nvSpPr>
          <p:cNvPr id="13" name="Text 9"/>
          <p:cNvSpPr/>
          <p:nvPr/>
        </p:nvSpPr>
        <p:spPr>
          <a:xfrm>
            <a:off x="3291840" y="1444752"/>
            <a:ext cx="2487168" cy="1115568"/>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Graph-based ML to identify coordinated fraud across linked accounts, shared devices, and IP clusters — across the entire JH network for cross-institution signals.</a:t>
            </a:r>
            <a:endParaRPr lang="en-US" sz="1000" dirty="0"/>
          </a:p>
        </p:txBody>
      </p:sp>
      <p:sp>
        <p:nvSpPr>
          <p:cNvPr id="14" name="Shape 10"/>
          <p:cNvSpPr/>
          <p:nvPr/>
        </p:nvSpPr>
        <p:spPr>
          <a:xfrm>
            <a:off x="6035040" y="786384"/>
            <a:ext cx="2743200" cy="1901952"/>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5" name="Shape 11"/>
          <p:cNvSpPr/>
          <p:nvPr/>
        </p:nvSpPr>
        <p:spPr>
          <a:xfrm>
            <a:off x="6035040" y="786384"/>
            <a:ext cx="2743200" cy="73152"/>
          </a:xfrm>
          <a:prstGeom prst="rect">
            <a:avLst/>
          </a:prstGeom>
          <a:solidFill>
            <a:srgbClr val="073FA8"/>
          </a:solidFill>
          <a:ln w="12700">
            <a:solidFill>
              <a:srgbClr val="073FA8"/>
            </a:solidFill>
            <a:prstDash val="solid"/>
          </a:ln>
        </p:spPr>
      </p:sp>
      <p:pic>
        <p:nvPicPr>
          <p:cNvPr id="16" name="Image 2" descr="preencoded.png">    </p:cNvPr>
          <p:cNvPicPr>
            <a:picLocks noChangeAspect="1"/>
          </p:cNvPicPr>
          <p:nvPr/>
        </p:nvPicPr>
        <p:blipFill>
          <a:blip r:embed="rId3"/>
          <a:stretch>
            <a:fillRect/>
          </a:stretch>
        </p:blipFill>
        <p:spPr>
          <a:xfrm>
            <a:off x="6190488" y="969264"/>
            <a:ext cx="347472" cy="347472"/>
          </a:xfrm>
          <a:prstGeom prst="rect">
            <a:avLst/>
          </a:prstGeom>
        </p:spPr>
      </p:pic>
      <p:sp>
        <p:nvSpPr>
          <p:cNvPr id="17" name="Text 12"/>
          <p:cNvSpPr/>
          <p:nvPr/>
        </p:nvSpPr>
        <p:spPr>
          <a:xfrm>
            <a:off x="6629400" y="914400"/>
            <a:ext cx="2057400" cy="457200"/>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Deposit Runoff Forecasting</a:t>
            </a:r>
            <a:endParaRPr lang="en-US" sz="1050" dirty="0"/>
          </a:p>
        </p:txBody>
      </p:sp>
      <p:sp>
        <p:nvSpPr>
          <p:cNvPr id="18" name="Text 13"/>
          <p:cNvSpPr/>
          <p:nvPr/>
        </p:nvSpPr>
        <p:spPr>
          <a:xfrm>
            <a:off x="6172200" y="1444752"/>
            <a:ext cx="2487168" cy="1115568"/>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Portfolio-level deposit attrition prediction to support FI clients' ALM, liquidity stress testing, and treasury planning with 90-day forward visibility.</a:t>
            </a:r>
            <a:endParaRPr lang="en-US" sz="1000" dirty="0"/>
          </a:p>
        </p:txBody>
      </p:sp>
      <p:sp>
        <p:nvSpPr>
          <p:cNvPr id="19" name="Shape 14"/>
          <p:cNvSpPr/>
          <p:nvPr/>
        </p:nvSpPr>
        <p:spPr>
          <a:xfrm>
            <a:off x="274320" y="2871216"/>
            <a:ext cx="2743200" cy="1901952"/>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0" name="Shape 15"/>
          <p:cNvSpPr/>
          <p:nvPr/>
        </p:nvSpPr>
        <p:spPr>
          <a:xfrm>
            <a:off x="274320" y="2871216"/>
            <a:ext cx="2743200" cy="73152"/>
          </a:xfrm>
          <a:prstGeom prst="rect">
            <a:avLst/>
          </a:prstGeom>
          <a:solidFill>
            <a:srgbClr val="575A5D"/>
          </a:solidFill>
          <a:ln w="12700">
            <a:solidFill>
              <a:srgbClr val="575A5D"/>
            </a:solidFill>
            <a:prstDash val="solid"/>
          </a:ln>
        </p:spPr>
      </p:sp>
      <p:pic>
        <p:nvPicPr>
          <p:cNvPr id="21" name="Image 3" descr="preencoded.png">    </p:cNvPr>
          <p:cNvPicPr>
            <a:picLocks noChangeAspect="1"/>
          </p:cNvPicPr>
          <p:nvPr/>
        </p:nvPicPr>
        <p:blipFill>
          <a:blip r:embed="rId4"/>
          <a:stretch>
            <a:fillRect/>
          </a:stretch>
        </p:blipFill>
        <p:spPr>
          <a:xfrm>
            <a:off x="429768" y="3054096"/>
            <a:ext cx="347472" cy="347472"/>
          </a:xfrm>
          <a:prstGeom prst="rect">
            <a:avLst/>
          </a:prstGeom>
        </p:spPr>
      </p:pic>
      <p:sp>
        <p:nvSpPr>
          <p:cNvPr id="22" name="Text 16"/>
          <p:cNvSpPr/>
          <p:nvPr/>
        </p:nvSpPr>
        <p:spPr>
          <a:xfrm>
            <a:off x="868680" y="2999232"/>
            <a:ext cx="2057400" cy="457200"/>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Overdraft Prediction &amp; Mediation</a:t>
            </a:r>
            <a:endParaRPr lang="en-US" sz="1050" dirty="0"/>
          </a:p>
        </p:txBody>
      </p:sp>
      <p:sp>
        <p:nvSpPr>
          <p:cNvPr id="23" name="Text 17"/>
          <p:cNvSpPr/>
          <p:nvPr/>
        </p:nvSpPr>
        <p:spPr>
          <a:xfrm>
            <a:off x="411480" y="3529584"/>
            <a:ext cx="2487168" cy="1115568"/>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Anticipate overdraft events before they occur and surface proactive micro-loan offers or alerts in Banno — improving CX while reducing NSF fee risk for FIs.</a:t>
            </a:r>
            <a:endParaRPr lang="en-US" sz="1000" dirty="0"/>
          </a:p>
        </p:txBody>
      </p:sp>
      <p:sp>
        <p:nvSpPr>
          <p:cNvPr id="24" name="Shape 18"/>
          <p:cNvSpPr/>
          <p:nvPr/>
        </p:nvSpPr>
        <p:spPr>
          <a:xfrm>
            <a:off x="3154680" y="2871216"/>
            <a:ext cx="2743200" cy="1901952"/>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5" name="Shape 19"/>
          <p:cNvSpPr/>
          <p:nvPr/>
        </p:nvSpPr>
        <p:spPr>
          <a:xfrm>
            <a:off x="3154680" y="2871216"/>
            <a:ext cx="2743200" cy="73152"/>
          </a:xfrm>
          <a:prstGeom prst="rect">
            <a:avLst/>
          </a:prstGeom>
          <a:solidFill>
            <a:srgbClr val="0B68D4"/>
          </a:solidFill>
          <a:ln w="12700">
            <a:solidFill>
              <a:srgbClr val="0B68D4"/>
            </a:solidFill>
            <a:prstDash val="solid"/>
          </a:ln>
        </p:spPr>
      </p:sp>
      <p:pic>
        <p:nvPicPr>
          <p:cNvPr id="26" name="Image 4" descr="preencoded.png">    </p:cNvPr>
          <p:cNvPicPr>
            <a:picLocks noChangeAspect="1"/>
          </p:cNvPicPr>
          <p:nvPr/>
        </p:nvPicPr>
        <p:blipFill>
          <a:blip r:embed="rId5"/>
          <a:stretch>
            <a:fillRect/>
          </a:stretch>
        </p:blipFill>
        <p:spPr>
          <a:xfrm>
            <a:off x="3310128" y="3054096"/>
            <a:ext cx="347472" cy="347472"/>
          </a:xfrm>
          <a:prstGeom prst="rect">
            <a:avLst/>
          </a:prstGeom>
        </p:spPr>
      </p:pic>
      <p:sp>
        <p:nvSpPr>
          <p:cNvPr id="27" name="Text 20"/>
          <p:cNvSpPr/>
          <p:nvPr/>
        </p:nvSpPr>
        <p:spPr>
          <a:xfrm>
            <a:off x="3749040" y="2999232"/>
            <a:ext cx="2057400" cy="457200"/>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Customer Sentiment Engine</a:t>
            </a:r>
            <a:endParaRPr lang="en-US" sz="1050" dirty="0"/>
          </a:p>
        </p:txBody>
      </p:sp>
      <p:sp>
        <p:nvSpPr>
          <p:cNvPr id="28" name="Text 21"/>
          <p:cNvSpPr/>
          <p:nvPr/>
        </p:nvSpPr>
        <p:spPr>
          <a:xfrm>
            <a:off x="3291840" y="3529584"/>
            <a:ext cx="2487168" cy="1115568"/>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NLP analysis of call transcripts and CFPB complaints to generate real-time CX health scores — helping FIs identify and route at-risk relationships before escalation.</a:t>
            </a:r>
            <a:endParaRPr lang="en-US" sz="1000" dirty="0"/>
          </a:p>
        </p:txBody>
      </p:sp>
      <p:sp>
        <p:nvSpPr>
          <p:cNvPr id="29" name="Shape 22"/>
          <p:cNvSpPr/>
          <p:nvPr/>
        </p:nvSpPr>
        <p:spPr>
          <a:xfrm>
            <a:off x="6035040" y="2871216"/>
            <a:ext cx="2743200" cy="1901952"/>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30" name="Shape 23"/>
          <p:cNvSpPr/>
          <p:nvPr/>
        </p:nvSpPr>
        <p:spPr>
          <a:xfrm>
            <a:off x="6035040" y="2871216"/>
            <a:ext cx="2743200" cy="73152"/>
          </a:xfrm>
          <a:prstGeom prst="rect">
            <a:avLst/>
          </a:prstGeom>
          <a:solidFill>
            <a:srgbClr val="0D2E7A"/>
          </a:solidFill>
          <a:ln w="12700">
            <a:solidFill>
              <a:srgbClr val="0D2E7A"/>
            </a:solidFill>
            <a:prstDash val="solid"/>
          </a:ln>
        </p:spPr>
      </p:sp>
      <p:pic>
        <p:nvPicPr>
          <p:cNvPr id="31" name="Image 5" descr="preencoded.png">    </p:cNvPr>
          <p:cNvPicPr>
            <a:picLocks noChangeAspect="1"/>
          </p:cNvPicPr>
          <p:nvPr/>
        </p:nvPicPr>
        <p:blipFill>
          <a:blip r:embed="rId6"/>
          <a:stretch>
            <a:fillRect/>
          </a:stretch>
        </p:blipFill>
        <p:spPr>
          <a:xfrm>
            <a:off x="6190488" y="3054096"/>
            <a:ext cx="347472" cy="347472"/>
          </a:xfrm>
          <a:prstGeom prst="rect">
            <a:avLst/>
          </a:prstGeom>
        </p:spPr>
      </p:pic>
      <p:sp>
        <p:nvSpPr>
          <p:cNvPr id="32" name="Text 24"/>
          <p:cNvSpPr/>
          <p:nvPr/>
        </p:nvSpPr>
        <p:spPr>
          <a:xfrm>
            <a:off x="6629400" y="2999232"/>
            <a:ext cx="2057400" cy="457200"/>
          </a:xfrm>
          <a:prstGeom prst="rect">
            <a:avLst/>
          </a:prstGeom>
          <a:noFill/>
          <a:ln/>
        </p:spPr>
        <p:txBody>
          <a:bodyPr wrap="square" lIns="0" tIns="0" rIns="0" bIns="0" rtlCol="0" anchor="ctr"/>
          <a:lstStyle/>
          <a:p>
            <a:pPr indent="0" marL="0">
              <a:buNone/>
            </a:pPr>
            <a:r>
              <a:rPr lang="en-US" sz="1050" b="1" dirty="0">
                <a:solidFill>
                  <a:srgbClr val="06185F"/>
                </a:solidFill>
                <a:latin typeface="Calibri" pitchFamily="34" charset="0"/>
                <a:ea typeface="Calibri" pitchFamily="34" charset="-122"/>
                <a:cs typeface="Calibri" pitchFamily="34" charset="-120"/>
              </a:rPr>
              <a:t>Next Best Action Platform</a:t>
            </a:r>
            <a:endParaRPr lang="en-US" sz="1050" dirty="0"/>
          </a:p>
        </p:txBody>
      </p:sp>
      <p:sp>
        <p:nvSpPr>
          <p:cNvPr id="33" name="Text 25"/>
          <p:cNvSpPr/>
          <p:nvPr/>
        </p:nvSpPr>
        <p:spPr>
          <a:xfrm>
            <a:off x="6172200" y="3529584"/>
            <a:ext cx="2487168" cy="1115568"/>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Unified orchestration engine synthesizing all model outputs — churn score, LTV, propensity, sentiment — into a single ranked recommendation per customer per channel.</a:t>
            </a:r>
            <a:endParaRPr lang="en-US" sz="1000" dirty="0"/>
          </a:p>
        </p:txBody>
      </p:sp>
      <p:sp>
        <p:nvSpPr>
          <p:cNvPr id="34" name="Text 26"/>
          <p:cNvSpPr/>
          <p:nvPr/>
        </p:nvSpPr>
        <p:spPr>
          <a:xfrm>
            <a:off x="365760" y="4846320"/>
            <a:ext cx="8412480" cy="256032"/>
          </a:xfrm>
          <a:prstGeom prst="rect">
            <a:avLst/>
          </a:prstGeom>
          <a:noFill/>
          <a:ln/>
        </p:spPr>
        <p:txBody>
          <a:bodyPr wrap="square" lIns="0" tIns="0" rIns="0" bIns="0" rtlCol="0" anchor="ctr"/>
          <a:lstStyle/>
          <a:p>
            <a:pPr indent="0" marL="0">
              <a:buNone/>
            </a:pPr>
            <a:r>
              <a:rPr lang="en-US" sz="950" i="1" dirty="0">
                <a:solidFill>
                  <a:srgbClr val="B6BBC0"/>
                </a:solidFill>
                <a:latin typeface="Calibri" pitchFamily="34" charset="0"/>
                <a:ea typeface="Calibri" pitchFamily="34" charset="-122"/>
                <a:cs typeface="Calibri" pitchFamily="34" charset="-120"/>
              </a:rPr>
              <a:t>These opportunities are sequenced for Year 2, contingent on successful Phase 1 delivery and continued investment approval.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Four Investment Pillars — What We Are Building</a:t>
            </a:r>
            <a:endParaRPr lang="en-US" sz="2200" dirty="0"/>
          </a:p>
        </p:txBody>
      </p:sp>
      <p:sp>
        <p:nvSpPr>
          <p:cNvPr id="4" name="Shape 2"/>
          <p:cNvSpPr/>
          <p:nvPr/>
        </p:nvSpPr>
        <p:spPr>
          <a:xfrm>
            <a:off x="256032" y="749808"/>
            <a:ext cx="2048256" cy="42245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256032" y="749808"/>
            <a:ext cx="2048256" cy="475488"/>
          </a:xfrm>
          <a:prstGeom prst="rect">
            <a:avLst/>
          </a:prstGeom>
          <a:solidFill>
            <a:srgbClr val="085CE5"/>
          </a:solidFill>
          <a:ln w="12700">
            <a:solidFill>
              <a:srgbClr val="085CE5"/>
            </a:solidFill>
            <a:prstDash val="solid"/>
          </a:ln>
        </p:spPr>
      </p:sp>
      <p:pic>
        <p:nvPicPr>
          <p:cNvPr id="6" name="Image 0" descr="preencoded.png">    </p:cNvPr>
          <p:cNvPicPr>
            <a:picLocks noChangeAspect="1"/>
          </p:cNvPicPr>
          <p:nvPr/>
        </p:nvPicPr>
        <p:blipFill>
          <a:blip r:embed="rId1"/>
          <a:stretch>
            <a:fillRect/>
          </a:stretch>
        </p:blipFill>
        <p:spPr>
          <a:xfrm>
            <a:off x="1078992" y="795528"/>
            <a:ext cx="384048" cy="384048"/>
          </a:xfrm>
          <a:prstGeom prst="rect">
            <a:avLst/>
          </a:prstGeom>
        </p:spPr>
      </p:pic>
      <p:sp>
        <p:nvSpPr>
          <p:cNvPr id="7" name="Text 4"/>
          <p:cNvSpPr/>
          <p:nvPr/>
        </p:nvSpPr>
        <p:spPr>
          <a:xfrm>
            <a:off x="310896" y="1280160"/>
            <a:ext cx="1938528" cy="256032"/>
          </a:xfrm>
          <a:prstGeom prst="rect">
            <a:avLst/>
          </a:prstGeom>
          <a:noFill/>
          <a:ln/>
        </p:spPr>
        <p:txBody>
          <a:bodyPr wrap="square" lIns="0" tIns="0" rIns="0" bIns="0" rtlCol="0" anchor="ctr"/>
          <a:lstStyle/>
          <a:p>
            <a:pPr algn="ctr" indent="0" marL="0">
              <a:buNone/>
            </a:pPr>
            <a:r>
              <a:rPr lang="en-US" sz="750" b="1" spc="120" kern="0" dirty="0">
                <a:solidFill>
                  <a:srgbClr val="085CE5"/>
                </a:solidFill>
                <a:latin typeface="Calibri" pitchFamily="34" charset="0"/>
                <a:ea typeface="Calibri" pitchFamily="34" charset="-122"/>
                <a:cs typeface="Calibri" pitchFamily="34" charset="-120"/>
              </a:rPr>
              <a:t>THE FOUNDATION</a:t>
            </a:r>
            <a:endParaRPr lang="en-US" sz="750" dirty="0"/>
          </a:p>
        </p:txBody>
      </p:sp>
      <p:sp>
        <p:nvSpPr>
          <p:cNvPr id="8" name="Text 5"/>
          <p:cNvSpPr/>
          <p:nvPr/>
        </p:nvSpPr>
        <p:spPr>
          <a:xfrm>
            <a:off x="310896" y="1554480"/>
            <a:ext cx="1938528" cy="384048"/>
          </a:xfrm>
          <a:prstGeom prst="rect">
            <a:avLst/>
          </a:prstGeom>
          <a:noFill/>
          <a:ln/>
        </p:spPr>
        <p:txBody>
          <a:bodyPr wrap="square" lIns="0" tIns="0" rIns="0" bIns="0" rtlCol="0" anchor="ctr"/>
          <a:lstStyle/>
          <a:p>
            <a:pPr algn="ctr" indent="0" marL="0">
              <a:buNone/>
            </a:pPr>
            <a:r>
              <a:rPr lang="en-US" sz="1350" b="1" dirty="0">
                <a:solidFill>
                  <a:srgbClr val="06185F"/>
                </a:solidFill>
                <a:latin typeface="Calibri" pitchFamily="34" charset="0"/>
                <a:ea typeface="Calibri" pitchFamily="34" charset="-122"/>
                <a:cs typeface="Calibri" pitchFamily="34" charset="-120"/>
              </a:rPr>
              <a:t>Data Acquisition</a:t>
            </a:r>
            <a:endParaRPr lang="en-US" sz="1350" dirty="0"/>
          </a:p>
        </p:txBody>
      </p:sp>
      <p:sp>
        <p:nvSpPr>
          <p:cNvPr id="9" name="Shape 6"/>
          <p:cNvSpPr/>
          <p:nvPr/>
        </p:nvSpPr>
        <p:spPr>
          <a:xfrm>
            <a:off x="758952" y="1975104"/>
            <a:ext cx="1024128" cy="36576"/>
          </a:xfrm>
          <a:prstGeom prst="rect">
            <a:avLst/>
          </a:prstGeom>
          <a:solidFill>
            <a:srgbClr val="E7ECF0"/>
          </a:solidFill>
          <a:ln w="12700">
            <a:solidFill>
              <a:srgbClr val="E7ECF0"/>
            </a:solidFill>
            <a:prstDash val="solid"/>
          </a:ln>
        </p:spPr>
      </p:sp>
      <p:sp>
        <p:nvSpPr>
          <p:cNvPr id="10" name="Text 7"/>
          <p:cNvSpPr/>
          <p:nvPr/>
        </p:nvSpPr>
        <p:spPr>
          <a:xfrm>
            <a:off x="347472"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FI behavioral data pipelines from JH core systems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Real-time streaming infrastructure (Kafka / event bus)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Data quality monitoring &amp; lineage tracking</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Enterprise data catalog and governance framework</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Aggregated cross-FI benchmarking data (anonymized)</a:t>
            </a:r>
            <a:endParaRPr lang="en-US" sz="950" dirty="0"/>
          </a:p>
        </p:txBody>
      </p:sp>
      <p:sp>
        <p:nvSpPr>
          <p:cNvPr id="11" name="Shape 8"/>
          <p:cNvSpPr/>
          <p:nvPr/>
        </p:nvSpPr>
        <p:spPr>
          <a:xfrm>
            <a:off x="2432304" y="749808"/>
            <a:ext cx="2048256" cy="42245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2" name="Shape 9"/>
          <p:cNvSpPr/>
          <p:nvPr/>
        </p:nvSpPr>
        <p:spPr>
          <a:xfrm>
            <a:off x="2432304" y="749808"/>
            <a:ext cx="2048256" cy="475488"/>
          </a:xfrm>
          <a:prstGeom prst="rect">
            <a:avLst/>
          </a:prstGeom>
          <a:solidFill>
            <a:srgbClr val="073FA8"/>
          </a:solidFill>
          <a:ln w="12700">
            <a:solidFill>
              <a:srgbClr val="073FA8"/>
            </a:solidFill>
            <a:prstDash val="solid"/>
          </a:ln>
        </p:spPr>
      </p:sp>
      <p:pic>
        <p:nvPicPr>
          <p:cNvPr id="13" name="Image 1" descr="preencoded.png">    </p:cNvPr>
          <p:cNvPicPr>
            <a:picLocks noChangeAspect="1"/>
          </p:cNvPicPr>
          <p:nvPr/>
        </p:nvPicPr>
        <p:blipFill>
          <a:blip r:embed="rId2"/>
          <a:stretch>
            <a:fillRect/>
          </a:stretch>
        </p:blipFill>
        <p:spPr>
          <a:xfrm>
            <a:off x="3255264" y="795528"/>
            <a:ext cx="384048" cy="384048"/>
          </a:xfrm>
          <a:prstGeom prst="rect">
            <a:avLst/>
          </a:prstGeom>
        </p:spPr>
      </p:pic>
      <p:sp>
        <p:nvSpPr>
          <p:cNvPr id="14" name="Text 10"/>
          <p:cNvSpPr/>
          <p:nvPr/>
        </p:nvSpPr>
        <p:spPr>
          <a:xfrm>
            <a:off x="2487168" y="1280160"/>
            <a:ext cx="1938528" cy="256032"/>
          </a:xfrm>
          <a:prstGeom prst="rect">
            <a:avLst/>
          </a:prstGeom>
          <a:noFill/>
          <a:ln/>
        </p:spPr>
        <p:txBody>
          <a:bodyPr wrap="square" lIns="0" tIns="0" rIns="0" bIns="0" rtlCol="0" anchor="ctr"/>
          <a:lstStyle/>
          <a:p>
            <a:pPr algn="ctr" indent="0" marL="0">
              <a:buNone/>
            </a:pPr>
            <a:r>
              <a:rPr lang="en-US" sz="750" b="1" spc="120" kern="0" dirty="0">
                <a:solidFill>
                  <a:srgbClr val="073FA8"/>
                </a:solidFill>
                <a:latin typeface="Calibri" pitchFamily="34" charset="0"/>
                <a:ea typeface="Calibri" pitchFamily="34" charset="-122"/>
                <a:cs typeface="Calibri" pitchFamily="34" charset="-120"/>
              </a:rPr>
              <a:t>THE ENGINE</a:t>
            </a:r>
            <a:endParaRPr lang="en-US" sz="750" dirty="0"/>
          </a:p>
        </p:txBody>
      </p:sp>
      <p:sp>
        <p:nvSpPr>
          <p:cNvPr id="15" name="Text 11"/>
          <p:cNvSpPr/>
          <p:nvPr/>
        </p:nvSpPr>
        <p:spPr>
          <a:xfrm>
            <a:off x="2487168" y="1554480"/>
            <a:ext cx="1938528" cy="384048"/>
          </a:xfrm>
          <a:prstGeom prst="rect">
            <a:avLst/>
          </a:prstGeom>
          <a:noFill/>
          <a:ln/>
        </p:spPr>
        <p:txBody>
          <a:bodyPr wrap="square" lIns="0" tIns="0" rIns="0" bIns="0" rtlCol="0" anchor="ctr"/>
          <a:lstStyle/>
          <a:p>
            <a:pPr algn="ctr" indent="0" marL="0">
              <a:buNone/>
            </a:pPr>
            <a:r>
              <a:rPr lang="en-US" sz="1350" b="1" dirty="0">
                <a:solidFill>
                  <a:srgbClr val="06185F"/>
                </a:solidFill>
                <a:latin typeface="Calibri" pitchFamily="34" charset="0"/>
                <a:ea typeface="Calibri" pitchFamily="34" charset="-122"/>
                <a:cs typeface="Calibri" pitchFamily="34" charset="-120"/>
              </a:rPr>
              <a:t>DS Buildout</a:t>
            </a:r>
            <a:endParaRPr lang="en-US" sz="1350" dirty="0"/>
          </a:p>
        </p:txBody>
      </p:sp>
      <p:sp>
        <p:nvSpPr>
          <p:cNvPr id="16" name="Shape 12"/>
          <p:cNvSpPr/>
          <p:nvPr/>
        </p:nvSpPr>
        <p:spPr>
          <a:xfrm>
            <a:off x="2935224" y="1975104"/>
            <a:ext cx="1024128" cy="36576"/>
          </a:xfrm>
          <a:prstGeom prst="rect">
            <a:avLst/>
          </a:prstGeom>
          <a:solidFill>
            <a:srgbClr val="E7ECF0"/>
          </a:solidFill>
          <a:ln w="12700">
            <a:solidFill>
              <a:srgbClr val="E7ECF0"/>
            </a:solidFill>
            <a:prstDash val="solid"/>
          </a:ln>
        </p:spPr>
      </p:sp>
      <p:sp>
        <p:nvSpPr>
          <p:cNvPr id="17" name="Text 13"/>
          <p:cNvSpPr/>
          <p:nvPr/>
        </p:nvSpPr>
        <p:spPr>
          <a:xfrm>
            <a:off x="2523744"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ML platform: feature store + experiment tracking</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AutoGluon, CatBoost, XGBoost model training at scale</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SHAP explainability layer across all deployed models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MLOps: CI/CD, model registry, drift monitoring</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Model governance, bias review, and model card process</a:t>
            </a:r>
            <a:endParaRPr lang="en-US" sz="950" dirty="0"/>
          </a:p>
        </p:txBody>
      </p:sp>
      <p:sp>
        <p:nvSpPr>
          <p:cNvPr id="18" name="Shape 14"/>
          <p:cNvSpPr/>
          <p:nvPr/>
        </p:nvSpPr>
        <p:spPr>
          <a:xfrm>
            <a:off x="4608576" y="749808"/>
            <a:ext cx="2048256" cy="42245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19" name="Shape 15"/>
          <p:cNvSpPr/>
          <p:nvPr/>
        </p:nvSpPr>
        <p:spPr>
          <a:xfrm>
            <a:off x="4608576" y="749808"/>
            <a:ext cx="2048256" cy="475488"/>
          </a:xfrm>
          <a:prstGeom prst="rect">
            <a:avLst/>
          </a:prstGeom>
          <a:solidFill>
            <a:srgbClr val="0D2E7A"/>
          </a:solidFill>
          <a:ln w="12700">
            <a:solidFill>
              <a:srgbClr val="0D2E7A"/>
            </a:solidFill>
            <a:prstDash val="solid"/>
          </a:ln>
        </p:spPr>
      </p:sp>
      <p:pic>
        <p:nvPicPr>
          <p:cNvPr id="20" name="Image 2" descr="preencoded.png">    </p:cNvPr>
          <p:cNvPicPr>
            <a:picLocks noChangeAspect="1"/>
          </p:cNvPicPr>
          <p:nvPr/>
        </p:nvPicPr>
        <p:blipFill>
          <a:blip r:embed="rId3"/>
          <a:stretch>
            <a:fillRect/>
          </a:stretch>
        </p:blipFill>
        <p:spPr>
          <a:xfrm>
            <a:off x="5431536" y="795528"/>
            <a:ext cx="384048" cy="384048"/>
          </a:xfrm>
          <a:prstGeom prst="rect">
            <a:avLst/>
          </a:prstGeom>
        </p:spPr>
      </p:pic>
      <p:sp>
        <p:nvSpPr>
          <p:cNvPr id="21" name="Text 16"/>
          <p:cNvSpPr/>
          <p:nvPr/>
        </p:nvSpPr>
        <p:spPr>
          <a:xfrm>
            <a:off x="4663440" y="1280160"/>
            <a:ext cx="1938528" cy="256032"/>
          </a:xfrm>
          <a:prstGeom prst="rect">
            <a:avLst/>
          </a:prstGeom>
          <a:noFill/>
          <a:ln/>
        </p:spPr>
        <p:txBody>
          <a:bodyPr wrap="square" lIns="0" tIns="0" rIns="0" bIns="0" rtlCol="0" anchor="ctr"/>
          <a:lstStyle/>
          <a:p>
            <a:pPr algn="ctr" indent="0" marL="0">
              <a:buNone/>
            </a:pPr>
            <a:r>
              <a:rPr lang="en-US" sz="750" b="1" spc="120" kern="0" dirty="0">
                <a:solidFill>
                  <a:srgbClr val="0D2E7A"/>
                </a:solidFill>
                <a:latin typeface="Calibri" pitchFamily="34" charset="0"/>
                <a:ea typeface="Calibri" pitchFamily="34" charset="-122"/>
                <a:cs typeface="Calibri" pitchFamily="34" charset="-120"/>
              </a:rPr>
              <a:t>THE LENS</a:t>
            </a:r>
            <a:endParaRPr lang="en-US" sz="750" dirty="0"/>
          </a:p>
        </p:txBody>
      </p:sp>
      <p:sp>
        <p:nvSpPr>
          <p:cNvPr id="22" name="Text 17"/>
          <p:cNvSpPr/>
          <p:nvPr/>
        </p:nvSpPr>
        <p:spPr>
          <a:xfrm>
            <a:off x="4663440" y="1554480"/>
            <a:ext cx="1938528" cy="384048"/>
          </a:xfrm>
          <a:prstGeom prst="rect">
            <a:avLst/>
          </a:prstGeom>
          <a:noFill/>
          <a:ln/>
        </p:spPr>
        <p:txBody>
          <a:bodyPr wrap="square" lIns="0" tIns="0" rIns="0" bIns="0" rtlCol="0" anchor="ctr"/>
          <a:lstStyle/>
          <a:p>
            <a:pPr algn="ctr" indent="0" marL="0">
              <a:buNone/>
            </a:pPr>
            <a:r>
              <a:rPr lang="en-US" sz="1350" b="1" dirty="0">
                <a:solidFill>
                  <a:srgbClr val="06185F"/>
                </a:solidFill>
                <a:latin typeface="Calibri" pitchFamily="34" charset="0"/>
                <a:ea typeface="Calibri" pitchFamily="34" charset="-122"/>
                <a:cs typeface="Calibri" pitchFamily="34" charset="-120"/>
              </a:rPr>
              <a:t>Visualizations</a:t>
            </a:r>
            <a:endParaRPr lang="en-US" sz="1350" dirty="0"/>
          </a:p>
        </p:txBody>
      </p:sp>
      <p:sp>
        <p:nvSpPr>
          <p:cNvPr id="23" name="Shape 18"/>
          <p:cNvSpPr/>
          <p:nvPr/>
        </p:nvSpPr>
        <p:spPr>
          <a:xfrm>
            <a:off x="5111496" y="1975104"/>
            <a:ext cx="1024128" cy="36576"/>
          </a:xfrm>
          <a:prstGeom prst="rect">
            <a:avLst/>
          </a:prstGeom>
          <a:solidFill>
            <a:srgbClr val="E7ECF0"/>
          </a:solidFill>
          <a:ln w="12700">
            <a:solidFill>
              <a:srgbClr val="E7ECF0"/>
            </a:solidFill>
            <a:prstDash val="solid"/>
          </a:ln>
        </p:spPr>
      </p:sp>
      <p:sp>
        <p:nvSpPr>
          <p:cNvPr id="24" name="Text 19"/>
          <p:cNvSpPr/>
          <p:nvPr/>
        </p:nvSpPr>
        <p:spPr>
          <a:xfrm>
            <a:off x="4700016"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Executive KPI dashboards embedded in JH platform</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Model performance and drift monitoring views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FI client-facing risk score explorer (banker tool)</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Anomaly alert investigation and triage interface</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Self-serve analytics surface for business stakeholders</a:t>
            </a:r>
            <a:endParaRPr lang="en-US" sz="950" dirty="0"/>
          </a:p>
        </p:txBody>
      </p:sp>
      <p:sp>
        <p:nvSpPr>
          <p:cNvPr id="25" name="Shape 20"/>
          <p:cNvSpPr/>
          <p:nvPr/>
        </p:nvSpPr>
        <p:spPr>
          <a:xfrm>
            <a:off x="6784848" y="749808"/>
            <a:ext cx="2048256" cy="422452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6" name="Shape 21"/>
          <p:cNvSpPr/>
          <p:nvPr/>
        </p:nvSpPr>
        <p:spPr>
          <a:xfrm>
            <a:off x="6784848" y="749808"/>
            <a:ext cx="2048256" cy="475488"/>
          </a:xfrm>
          <a:prstGeom prst="rect">
            <a:avLst/>
          </a:prstGeom>
          <a:solidFill>
            <a:srgbClr val="575A5D"/>
          </a:solidFill>
          <a:ln w="12700">
            <a:solidFill>
              <a:srgbClr val="575A5D"/>
            </a:solidFill>
            <a:prstDash val="solid"/>
          </a:ln>
        </p:spPr>
      </p:sp>
      <p:pic>
        <p:nvPicPr>
          <p:cNvPr id="27" name="Image 3" descr="preencoded.png">    </p:cNvPr>
          <p:cNvPicPr>
            <a:picLocks noChangeAspect="1"/>
          </p:cNvPicPr>
          <p:nvPr/>
        </p:nvPicPr>
        <p:blipFill>
          <a:blip r:embed="rId4"/>
          <a:stretch>
            <a:fillRect/>
          </a:stretch>
        </p:blipFill>
        <p:spPr>
          <a:xfrm>
            <a:off x="7607808" y="795528"/>
            <a:ext cx="384048" cy="384048"/>
          </a:xfrm>
          <a:prstGeom prst="rect">
            <a:avLst/>
          </a:prstGeom>
        </p:spPr>
      </p:pic>
      <p:sp>
        <p:nvSpPr>
          <p:cNvPr id="28" name="Text 22"/>
          <p:cNvSpPr/>
          <p:nvPr/>
        </p:nvSpPr>
        <p:spPr>
          <a:xfrm>
            <a:off x="6839712" y="1280160"/>
            <a:ext cx="1938528" cy="256032"/>
          </a:xfrm>
          <a:prstGeom prst="rect">
            <a:avLst/>
          </a:prstGeom>
          <a:noFill/>
          <a:ln/>
        </p:spPr>
        <p:txBody>
          <a:bodyPr wrap="square" lIns="0" tIns="0" rIns="0" bIns="0" rtlCol="0" anchor="ctr"/>
          <a:lstStyle/>
          <a:p>
            <a:pPr algn="ctr" indent="0" marL="0">
              <a:buNone/>
            </a:pPr>
            <a:r>
              <a:rPr lang="en-US" sz="750" b="1" spc="120" kern="0" dirty="0">
                <a:solidFill>
                  <a:srgbClr val="575A5D"/>
                </a:solidFill>
                <a:latin typeface="Calibri" pitchFamily="34" charset="0"/>
                <a:ea typeface="Calibri" pitchFamily="34" charset="-122"/>
                <a:cs typeface="Calibri" pitchFamily="34" charset="-120"/>
              </a:rPr>
              <a:t>THE INTERFACE</a:t>
            </a:r>
            <a:endParaRPr lang="en-US" sz="750" dirty="0"/>
          </a:p>
        </p:txBody>
      </p:sp>
      <p:sp>
        <p:nvSpPr>
          <p:cNvPr id="29" name="Text 23"/>
          <p:cNvSpPr/>
          <p:nvPr/>
        </p:nvSpPr>
        <p:spPr>
          <a:xfrm>
            <a:off x="6839712" y="1554480"/>
            <a:ext cx="1938528" cy="384048"/>
          </a:xfrm>
          <a:prstGeom prst="rect">
            <a:avLst/>
          </a:prstGeom>
          <a:noFill/>
          <a:ln/>
        </p:spPr>
        <p:txBody>
          <a:bodyPr wrap="square" lIns="0" tIns="0" rIns="0" bIns="0" rtlCol="0" anchor="ctr"/>
          <a:lstStyle/>
          <a:p>
            <a:pPr algn="ctr" indent="0" marL="0">
              <a:buNone/>
            </a:pPr>
            <a:r>
              <a:rPr lang="en-US" sz="1350" b="1" dirty="0">
                <a:solidFill>
                  <a:srgbClr val="06185F"/>
                </a:solidFill>
                <a:latin typeface="Calibri" pitchFamily="34" charset="0"/>
                <a:ea typeface="Calibri" pitchFamily="34" charset="-122"/>
                <a:cs typeface="Calibri" pitchFamily="34" charset="-120"/>
              </a:rPr>
              <a:t>App / API Development</a:t>
            </a:r>
            <a:endParaRPr lang="en-US" sz="1350" dirty="0"/>
          </a:p>
        </p:txBody>
      </p:sp>
      <p:sp>
        <p:nvSpPr>
          <p:cNvPr id="30" name="Shape 24"/>
          <p:cNvSpPr/>
          <p:nvPr/>
        </p:nvSpPr>
        <p:spPr>
          <a:xfrm>
            <a:off x="7287768" y="1975104"/>
            <a:ext cx="1024128" cy="36576"/>
          </a:xfrm>
          <a:prstGeom prst="rect">
            <a:avLst/>
          </a:prstGeom>
          <a:solidFill>
            <a:srgbClr val="E7ECF0"/>
          </a:solidFill>
          <a:ln w="12700">
            <a:solidFill>
              <a:srgbClr val="E7ECF0"/>
            </a:solidFill>
            <a:prstDash val="solid"/>
          </a:ln>
        </p:spPr>
      </p:sp>
      <p:sp>
        <p:nvSpPr>
          <p:cNvPr id="31" name="Text 25"/>
          <p:cNvSpPr/>
          <p:nvPr/>
        </p:nvSpPr>
        <p:spPr>
          <a:xfrm>
            <a:off x="6876288" y="2057400"/>
            <a:ext cx="1901952" cy="283464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Lightweight internal AI apps embedded in JH ecosystem</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REST APIs distributing model scores to JH products</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Banno + JH Enterprise integration for score consumption</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Alerting and workflow orchestration service layer</a:t>
            </a:r>
            <a:endParaRPr lang="en-US" sz="950" dirty="0"/>
          </a:p>
          <a:p>
            <a:pPr marL="342900" indent="-342900">
              <a:spcAft>
                <a:spcPts val="600"/>
              </a:spcAft>
              <a:buSzPct val="100000"/>
              <a:buChar char="•"/>
            </a:pPr>
            <a:r>
              <a:rPr lang="en-US" sz="950" dirty="0">
                <a:solidFill>
                  <a:srgbClr val="575A5D"/>
                </a:solidFill>
                <a:latin typeface="Calibri" pitchFamily="34" charset="0"/>
                <a:ea typeface="Calibri" pitchFamily="34" charset="-122"/>
                <a:cs typeface="Calibri" pitchFamily="34" charset="-120"/>
              </a:rPr>
              <a:t>Role-based access control and full audit logging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We're Asking For: JHBI Investment</a:t>
            </a:r>
            <a:endParaRPr lang="en-US" sz="2200" dirty="0"/>
          </a:p>
        </p:txBody>
      </p:sp>
      <p:sp>
        <p:nvSpPr>
          <p:cNvPr id="4" name="Text 2"/>
          <p:cNvSpPr/>
          <p:nvPr/>
        </p:nvSpPr>
        <p:spPr>
          <a:xfrm>
            <a:off x="365760" y="768096"/>
            <a:ext cx="8412480" cy="347472"/>
          </a:xfrm>
          <a:prstGeom prst="rect">
            <a:avLst/>
          </a:prstGeom>
          <a:noFill/>
          <a:ln/>
        </p:spPr>
        <p:txBody>
          <a:bodyPr wrap="square" lIns="0" tIns="0" rIns="0" bIns="0" rtlCol="0" anchor="ctr"/>
          <a:lstStyle/>
          <a:p>
            <a:pPr indent="0" marL="0">
              <a:buNone/>
            </a:pPr>
            <a:r>
              <a:rPr lang="en-US" sz="1250" dirty="0">
                <a:solidFill>
                  <a:srgbClr val="575A5D"/>
                </a:solidFill>
                <a:latin typeface="Calibri" pitchFamily="34" charset="0"/>
                <a:ea typeface="Calibri" pitchFamily="34" charset="-122"/>
                <a:cs typeface="Calibri" pitchFamily="34" charset="-120"/>
              </a:rPr>
              <a:t>To execute this roadmap and embed AI capabilities across the JH platform, we are requesting the following headcount and infrastructure investment: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914400"/>
        </p:xfrm>
        <a:graphic>
          <a:graphicData uri="http://schemas.openxmlformats.org/drawingml/2006/table">
            <a:tbl>
              <a:tblPr/>
              <a:tblGrid>
                <a:gridCol w="2148840"/>
                <a:gridCol w="841248"/>
                <a:gridCol w="1627632"/>
                <a:gridCol w="3794760"/>
              </a:tblGrid>
              <a:tr h="37490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Role</a:t>
                      </a:r>
                      <a:endParaRPr lang="en-US" sz="115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FTEs</a:t>
                      </a:r>
                      <a:endParaRPr lang="en-US" sz="115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Pillar</a:t>
                      </a:r>
                      <a:endParaRPr lang="en-US" sz="115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Rationale</a:t>
                      </a:r>
                      <a:endParaRPr lang="en-US" sz="115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06185F"/>
                    </a:solidFill>
                  </a:tcPr>
                </a:tc>
              </a:tr>
              <a:tr h="374904">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Data Engineer</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algn="ctr" indent="0" marL="0">
                        <a:buNone/>
                      </a:pPr>
                      <a:r>
                        <a:rPr lang="en-US" sz="1100" dirty="0">
                          <a:solidFill>
                            <a:srgbClr val="575A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Data Acquisition</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Build and maintain FI data pipelines from JH core banking systems</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r>
              <a:tr h="374904">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ML Engineer</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algn="ctr" indent="0" marL="0">
                        <a:buNone/>
                      </a:pPr>
                      <a:r>
                        <a:rPr lang="en-US" sz="1100" dirty="0">
                          <a:solidFill>
                            <a:srgbClr val="575A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DS Buildout</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Model training, MLOps pipeline, feature store, drift monitoring</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r>
              <a:tr h="374904">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Applied Data Scientist</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algn="ctr" indent="0" marL="0">
                        <a:buNone/>
                      </a:pPr>
                      <a:r>
                        <a:rPr lang="en-US" sz="1100" dirty="0">
                          <a:solidFill>
                            <a:srgbClr val="575A5D"/>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DS Buildout</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Feature engineering, SHAP explainability, model research and validation</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r>
              <a:tr h="374904">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Full-Stack / API Developer</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algn="ctr" indent="0" marL="0">
                        <a:buNone/>
                      </a:pPr>
                      <a:r>
                        <a:rPr lang="en-US" sz="1100" dirty="0">
                          <a:solidFill>
                            <a:srgbClr val="575A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App / API Dev</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JH platform AI app development and model API integration layer</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r>
              <a:tr h="374904">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BI / Viz Developer</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algn="ctr" indent="0" marL="0">
                        <a:buNone/>
                      </a:pPr>
                      <a:r>
                        <a:rPr lang="en-US" sz="1100" dirty="0">
                          <a:solidFill>
                            <a:srgbClr val="575A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Visualizations</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Embedded analytics surfaces in JH platform and client-facing dashboards</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r>
              <a:tr h="374904">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DS Product Manager</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algn="ctr" indent="0" marL="0">
                        <a:buNone/>
                      </a:pPr>
                      <a:r>
                        <a:rPr lang="en-US" sz="1100" dirty="0">
                          <a:solidFill>
                            <a:srgbClr val="575A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All Pillars</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c>
                  <a:txBody>
                    <a:bodyPr/>
                    <a:lstStyle/>
                    <a:p>
                      <a:pPr indent="0" marL="0">
                        <a:buNone/>
                      </a:pPr>
                      <a:r>
                        <a:rPr lang="en-US" sz="1100" dirty="0">
                          <a:solidFill>
                            <a:srgbClr val="575A5D"/>
                          </a:solidFill>
                          <a:latin typeface="Calibri" pitchFamily="34" charset="0"/>
                          <a:ea typeface="Calibri" pitchFamily="34" charset="-122"/>
                          <a:cs typeface="Calibri" pitchFamily="34" charset="-120"/>
                        </a:rPr>
                        <a:t>Roadmap ownership, FI client discovery, stakeholder alignment</a:t>
                      </a: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tcPr>
                </a:tc>
              </a:tr>
              <a:tr h="374904">
                <a:tc>
                  <a:txBody>
                    <a:bodyPr/>
                    <a:lstStyle/>
                    <a:p>
                      <a:pPr indent="0" marL="0">
                        <a:buNone/>
                      </a:pPr>
                      <a:r>
                        <a:rPr lang="en-US" sz="1150" b="1" dirty="0">
                          <a:solidFill>
                            <a:srgbClr val="575A5D"/>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c>
                  <a:txBody>
                    <a:bodyPr/>
                    <a:lstStyle/>
                    <a:p>
                      <a:pPr algn="ctr" indent="0" marL="0">
                        <a:buNone/>
                      </a:pPr>
                      <a:r>
                        <a:rPr lang="en-US" sz="1200" b="1" dirty="0">
                          <a:solidFill>
                            <a:srgbClr val="06185F"/>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c>
                  <a:txBody>
                    <a:bodyPr/>
                    <a:lstStyle/>
                    <a:p>
                      <a:pPr indent="0" marL="0">
                        <a:buNone/>
                      </a:pPr>
                      <a:r>
                        <a:rPr lang="en-US" sz="1050" i="1" dirty="0">
                          <a:solidFill>
                            <a:srgbClr val="B6BBC0"/>
                          </a:solidFill>
                          <a:latin typeface="Calibri" pitchFamily="34" charset="0"/>
                          <a:ea typeface="Calibri" pitchFamily="34" charset="-122"/>
                          <a:cs typeface="Calibri" pitchFamily="34" charset="-120"/>
                        </a:rPr>
                        <a:t>Full-time equivalents across all four investment pillars</a:t>
                      </a:r>
                      <a:endParaRPr lang="en-US" sz="1050" dirty="0">
                        <a:latin typeface="Calibri" charset="0"/>
                        <a:ea typeface="Calibri" charset="0"/>
                        <a:cs typeface="Calibri" charset="0"/>
                      </a:endParaRPr>
                    </a:p>
                  </a:txBody>
                  <a:tcPr marL="91440" marR="91440" marT="45720" marB="45720">
                    <a:lnL w="6350" cap="flat" cmpd="sng" algn="ctr">
                      <a:solidFill>
                        <a:srgbClr val="E7ECF0"/>
                      </a:solidFill>
                      <a:prstDash val="solid"/>
                      <a:round/>
                      <a:headEnd type="none" w="med" len="med"/>
                      <a:tailEnd type="none" w="med" len="med"/>
                    </a:lnL>
                    <a:lnR w="6350" cap="flat" cmpd="sng" algn="ctr">
                      <a:solidFill>
                        <a:srgbClr val="E7ECF0"/>
                      </a:solidFill>
                      <a:prstDash val="solid"/>
                      <a:round/>
                      <a:headEnd type="none" w="med" len="med"/>
                      <a:tailEnd type="none" w="med" len="med"/>
                    </a:lnR>
                    <a:lnT w="6350" cap="flat" cmpd="sng" algn="ctr">
                      <a:solidFill>
                        <a:srgbClr val="E7ECF0"/>
                      </a:solidFill>
                      <a:prstDash val="solid"/>
                      <a:round/>
                      <a:headEnd type="none" w="med" len="med"/>
                      <a:tailEnd type="none" w="med" len="med"/>
                    </a:lnT>
                    <a:lnB w="6350" cap="flat" cmpd="sng" algn="ctr">
                      <a:solidFill>
                        <a:srgbClr val="E7ECF0"/>
                      </a:solidFill>
                      <a:prstDash val="solid"/>
                      <a:round/>
                      <a:headEnd type="none" w="med" len="med"/>
                      <a:tailEnd type="none" w="med" len="med"/>
                    </a:lnB>
                    <a:solidFill>
                      <a:srgbClr val="E7ECF0"/>
                    </a:solidFill>
                  </a:tcPr>
                </a:tc>
              </a:tr>
            </a:tbl>
          </a:graphicData>
        </a:graphic>
      </p:graphicFrame>
      <p:sp>
        <p:nvSpPr>
          <p:cNvPr id="6" name="Shape 3"/>
          <p:cNvSpPr/>
          <p:nvPr/>
        </p:nvSpPr>
        <p:spPr>
          <a:xfrm>
            <a:off x="365760" y="4617720"/>
            <a:ext cx="8412480" cy="402336"/>
          </a:xfrm>
          <a:prstGeom prst="rect">
            <a:avLst/>
          </a:prstGeom>
          <a:solidFill>
            <a:srgbClr val="E8F7F7"/>
          </a:solidFill>
          <a:ln w="12700">
            <a:solidFill>
              <a:srgbClr val="085CE5"/>
            </a:solidFill>
            <a:prstDash val="solid"/>
          </a:ln>
        </p:spPr>
      </p:sp>
      <p:sp>
        <p:nvSpPr>
          <p:cNvPr id="7" name="Text 4"/>
          <p:cNvSpPr/>
          <p:nvPr/>
        </p:nvSpPr>
        <p:spPr>
          <a:xfrm>
            <a:off x="502920" y="4645152"/>
            <a:ext cx="8138160" cy="347472"/>
          </a:xfrm>
          <a:prstGeom prst="rect">
            <a:avLst/>
          </a:prstGeom>
          <a:noFill/>
          <a:ln/>
        </p:spPr>
        <p:txBody>
          <a:bodyPr wrap="square" lIns="0" tIns="0" rIns="0" bIns="0" rtlCol="0" anchor="ctr"/>
          <a:lstStyle/>
          <a:p>
            <a:pPr indent="0" marL="0">
              <a:buNone/>
            </a:pPr>
            <a:r>
              <a:rPr lang="en-US" sz="1050" dirty="0">
                <a:solidFill>
                  <a:srgbClr val="06185F"/>
                </a:solidFill>
                <a:latin typeface="Calibri" pitchFamily="34" charset="0"/>
                <a:ea typeface="Calibri" pitchFamily="34" charset="-122"/>
                <a:cs typeface="Calibri" pitchFamily="34" charset="-120"/>
              </a:rPr>
              <a:t>Infrastructure ask (separate from headcount): Cloud data platform (Snowflake / Databricks), ML tooling (MLflow / SageMaker), BI licensing (Tableau / Power BI), DevOps / CI-CD environment.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EFD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Payment Data Source Ingestion Roadmap</a:t>
            </a:r>
            <a:endParaRPr lang="en-US" sz="2200" dirty="0"/>
          </a:p>
        </p:txBody>
      </p:sp>
      <p:sp>
        <p:nvSpPr>
          <p:cNvPr id="4" name="Text 2"/>
          <p:cNvSpPr/>
          <p:nvPr/>
        </p:nvSpPr>
        <p:spPr>
          <a:xfrm>
            <a:off x="365760" y="713232"/>
            <a:ext cx="8412480" cy="256032"/>
          </a:xfrm>
          <a:prstGeom prst="rect">
            <a:avLst/>
          </a:prstGeom>
          <a:noFill/>
          <a:ln/>
        </p:spPr>
        <p:txBody>
          <a:bodyPr wrap="square" lIns="0" tIns="0" rIns="0" bIns="0" rtlCol="0" anchor="ctr"/>
          <a:lstStyle/>
          <a:p>
            <a:pPr indent="0" marL="0">
              <a:buNone/>
            </a:pPr>
            <a:r>
              <a:rPr lang="en-US" sz="1000" dirty="0">
                <a:solidFill>
                  <a:srgbClr val="575A5D"/>
                </a:solidFill>
                <a:latin typeface="Calibri" pitchFamily="34" charset="0"/>
                <a:ea typeface="Calibri" pitchFamily="34" charset="-122"/>
                <a:cs typeface="Calibri" pitchFamily="34" charset="-120"/>
              </a:rPr>
              <a:t>Sequenced onboarding of JH payment data sources into the AI platform — Card Processing Solutions (CPS) excluded from initial scope.</a:t>
            </a:r>
            <a:endParaRPr lang="en-US" sz="1000" dirty="0"/>
          </a:p>
        </p:txBody>
      </p:sp>
      <p:sp>
        <p:nvSpPr>
          <p:cNvPr id="5" name="Shape 3"/>
          <p:cNvSpPr/>
          <p:nvPr/>
        </p:nvSpPr>
        <p:spPr>
          <a:xfrm>
            <a:off x="2468880" y="1115568"/>
            <a:ext cx="6309360" cy="274320"/>
          </a:xfrm>
          <a:prstGeom prst="rect">
            <a:avLst/>
          </a:prstGeom>
          <a:solidFill>
            <a:srgbClr val="E7ECF0"/>
          </a:solidFill>
          <a:ln w="12700">
            <a:solidFill>
              <a:srgbClr val="E7ECF0"/>
            </a:solidFill>
            <a:prstDash val="solid"/>
          </a:ln>
        </p:spPr>
      </p:sp>
      <p:sp>
        <p:nvSpPr>
          <p:cNvPr id="6" name="Shape 4"/>
          <p:cNvSpPr/>
          <p:nvPr/>
        </p:nvSpPr>
        <p:spPr>
          <a:xfrm>
            <a:off x="2468880" y="1408176"/>
            <a:ext cx="788670" cy="3840480"/>
          </a:xfrm>
          <a:prstGeom prst="rect">
            <a:avLst/>
          </a:prstGeom>
          <a:solidFill>
            <a:srgbClr val="F4F6F8"/>
          </a:solidFill>
          <a:ln w="12700">
            <a:solidFill>
              <a:srgbClr val="F4F6F8"/>
            </a:solidFill>
            <a:prstDash val="solid"/>
          </a:ln>
        </p:spPr>
      </p:sp>
      <p:sp>
        <p:nvSpPr>
          <p:cNvPr id="7" name="Text 5"/>
          <p:cNvSpPr/>
          <p:nvPr/>
        </p:nvSpPr>
        <p:spPr>
          <a:xfrm>
            <a:off x="246888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Q1'26</a:t>
            </a:r>
            <a:endParaRPr lang="en-US" sz="800" dirty="0"/>
          </a:p>
        </p:txBody>
      </p:sp>
      <p:sp>
        <p:nvSpPr>
          <p:cNvPr id="8" name="Shape 6"/>
          <p:cNvSpPr/>
          <p:nvPr/>
        </p:nvSpPr>
        <p:spPr>
          <a:xfrm>
            <a:off x="2468880" y="1115568"/>
            <a:ext cx="13716" cy="4133088"/>
          </a:xfrm>
          <a:prstGeom prst="rect">
            <a:avLst/>
          </a:prstGeom>
          <a:solidFill>
            <a:srgbClr val="B6BBC0"/>
          </a:solidFill>
          <a:ln w="12700">
            <a:solidFill>
              <a:srgbClr val="B6BBC0"/>
            </a:solidFill>
            <a:prstDash val="solid"/>
          </a:ln>
        </p:spPr>
      </p:sp>
      <p:sp>
        <p:nvSpPr>
          <p:cNvPr id="9" name="Text 7"/>
          <p:cNvSpPr/>
          <p:nvPr/>
        </p:nvSpPr>
        <p:spPr>
          <a:xfrm>
            <a:off x="325755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Q2'26</a:t>
            </a:r>
            <a:endParaRPr lang="en-US" sz="800" dirty="0"/>
          </a:p>
        </p:txBody>
      </p:sp>
      <p:sp>
        <p:nvSpPr>
          <p:cNvPr id="10" name="Shape 8"/>
          <p:cNvSpPr/>
          <p:nvPr/>
        </p:nvSpPr>
        <p:spPr>
          <a:xfrm>
            <a:off x="3257550" y="1115568"/>
            <a:ext cx="13716" cy="4133088"/>
          </a:xfrm>
          <a:prstGeom prst="rect">
            <a:avLst/>
          </a:prstGeom>
          <a:solidFill>
            <a:srgbClr val="B6BBC0"/>
          </a:solidFill>
          <a:ln w="12700">
            <a:solidFill>
              <a:srgbClr val="B6BBC0"/>
            </a:solidFill>
            <a:prstDash val="solid"/>
          </a:ln>
        </p:spPr>
      </p:sp>
      <p:sp>
        <p:nvSpPr>
          <p:cNvPr id="11" name="Shape 9"/>
          <p:cNvSpPr/>
          <p:nvPr/>
        </p:nvSpPr>
        <p:spPr>
          <a:xfrm>
            <a:off x="4046220" y="1408176"/>
            <a:ext cx="788670" cy="3840480"/>
          </a:xfrm>
          <a:prstGeom prst="rect">
            <a:avLst/>
          </a:prstGeom>
          <a:solidFill>
            <a:srgbClr val="F4F6F8"/>
          </a:solidFill>
          <a:ln w="12700">
            <a:solidFill>
              <a:srgbClr val="F4F6F8"/>
            </a:solidFill>
            <a:prstDash val="solid"/>
          </a:ln>
        </p:spPr>
      </p:sp>
      <p:sp>
        <p:nvSpPr>
          <p:cNvPr id="12" name="Text 10"/>
          <p:cNvSpPr/>
          <p:nvPr/>
        </p:nvSpPr>
        <p:spPr>
          <a:xfrm>
            <a:off x="404622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Q3'26</a:t>
            </a:r>
            <a:endParaRPr lang="en-US" sz="800" dirty="0"/>
          </a:p>
        </p:txBody>
      </p:sp>
      <p:sp>
        <p:nvSpPr>
          <p:cNvPr id="13" name="Shape 11"/>
          <p:cNvSpPr/>
          <p:nvPr/>
        </p:nvSpPr>
        <p:spPr>
          <a:xfrm>
            <a:off x="4046220" y="1115568"/>
            <a:ext cx="13716" cy="4133088"/>
          </a:xfrm>
          <a:prstGeom prst="rect">
            <a:avLst/>
          </a:prstGeom>
          <a:solidFill>
            <a:srgbClr val="B6BBC0"/>
          </a:solidFill>
          <a:ln w="12700">
            <a:solidFill>
              <a:srgbClr val="B6BBC0"/>
            </a:solidFill>
            <a:prstDash val="solid"/>
          </a:ln>
        </p:spPr>
      </p:sp>
      <p:sp>
        <p:nvSpPr>
          <p:cNvPr id="14" name="Text 12"/>
          <p:cNvSpPr/>
          <p:nvPr/>
        </p:nvSpPr>
        <p:spPr>
          <a:xfrm>
            <a:off x="483489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Q4'26</a:t>
            </a:r>
            <a:endParaRPr lang="en-US" sz="800" dirty="0"/>
          </a:p>
        </p:txBody>
      </p:sp>
      <p:sp>
        <p:nvSpPr>
          <p:cNvPr id="15" name="Shape 13"/>
          <p:cNvSpPr/>
          <p:nvPr/>
        </p:nvSpPr>
        <p:spPr>
          <a:xfrm>
            <a:off x="4834890" y="1115568"/>
            <a:ext cx="13716" cy="4133088"/>
          </a:xfrm>
          <a:prstGeom prst="rect">
            <a:avLst/>
          </a:prstGeom>
          <a:solidFill>
            <a:srgbClr val="B6BBC0"/>
          </a:solidFill>
          <a:ln w="12700">
            <a:solidFill>
              <a:srgbClr val="B6BBC0"/>
            </a:solidFill>
            <a:prstDash val="solid"/>
          </a:ln>
        </p:spPr>
      </p:sp>
      <p:sp>
        <p:nvSpPr>
          <p:cNvPr id="16" name="Shape 14"/>
          <p:cNvSpPr/>
          <p:nvPr/>
        </p:nvSpPr>
        <p:spPr>
          <a:xfrm>
            <a:off x="5623560" y="1408176"/>
            <a:ext cx="788670" cy="3840480"/>
          </a:xfrm>
          <a:prstGeom prst="rect">
            <a:avLst/>
          </a:prstGeom>
          <a:solidFill>
            <a:srgbClr val="F4F6F8"/>
          </a:solidFill>
          <a:ln w="12700">
            <a:solidFill>
              <a:srgbClr val="F4F6F8"/>
            </a:solidFill>
            <a:prstDash val="solid"/>
          </a:ln>
        </p:spPr>
      </p:sp>
      <p:sp>
        <p:nvSpPr>
          <p:cNvPr id="17" name="Text 15"/>
          <p:cNvSpPr/>
          <p:nvPr/>
        </p:nvSpPr>
        <p:spPr>
          <a:xfrm>
            <a:off x="562356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Q1'27</a:t>
            </a:r>
            <a:endParaRPr lang="en-US" sz="800" dirty="0"/>
          </a:p>
        </p:txBody>
      </p:sp>
      <p:sp>
        <p:nvSpPr>
          <p:cNvPr id="18" name="Shape 16"/>
          <p:cNvSpPr/>
          <p:nvPr/>
        </p:nvSpPr>
        <p:spPr>
          <a:xfrm>
            <a:off x="5623560" y="1115568"/>
            <a:ext cx="13716" cy="4133088"/>
          </a:xfrm>
          <a:prstGeom prst="rect">
            <a:avLst/>
          </a:prstGeom>
          <a:solidFill>
            <a:srgbClr val="B6BBC0"/>
          </a:solidFill>
          <a:ln w="12700">
            <a:solidFill>
              <a:srgbClr val="B6BBC0"/>
            </a:solidFill>
            <a:prstDash val="solid"/>
          </a:ln>
        </p:spPr>
      </p:sp>
      <p:sp>
        <p:nvSpPr>
          <p:cNvPr id="19" name="Text 17"/>
          <p:cNvSpPr/>
          <p:nvPr/>
        </p:nvSpPr>
        <p:spPr>
          <a:xfrm>
            <a:off x="641223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Q2'27</a:t>
            </a:r>
            <a:endParaRPr lang="en-US" sz="800" dirty="0"/>
          </a:p>
        </p:txBody>
      </p:sp>
      <p:sp>
        <p:nvSpPr>
          <p:cNvPr id="20" name="Shape 18"/>
          <p:cNvSpPr/>
          <p:nvPr/>
        </p:nvSpPr>
        <p:spPr>
          <a:xfrm>
            <a:off x="6412230" y="1115568"/>
            <a:ext cx="13716" cy="4133088"/>
          </a:xfrm>
          <a:prstGeom prst="rect">
            <a:avLst/>
          </a:prstGeom>
          <a:solidFill>
            <a:srgbClr val="B6BBC0"/>
          </a:solidFill>
          <a:ln w="12700">
            <a:solidFill>
              <a:srgbClr val="B6BBC0"/>
            </a:solidFill>
            <a:prstDash val="solid"/>
          </a:ln>
        </p:spPr>
      </p:sp>
      <p:sp>
        <p:nvSpPr>
          <p:cNvPr id="21" name="Shape 19"/>
          <p:cNvSpPr/>
          <p:nvPr/>
        </p:nvSpPr>
        <p:spPr>
          <a:xfrm>
            <a:off x="7200900" y="1408176"/>
            <a:ext cx="788670" cy="3840480"/>
          </a:xfrm>
          <a:prstGeom prst="rect">
            <a:avLst/>
          </a:prstGeom>
          <a:solidFill>
            <a:srgbClr val="F4F6F8"/>
          </a:solidFill>
          <a:ln w="12700">
            <a:solidFill>
              <a:srgbClr val="F4F6F8"/>
            </a:solidFill>
            <a:prstDash val="solid"/>
          </a:ln>
        </p:spPr>
      </p:sp>
      <p:sp>
        <p:nvSpPr>
          <p:cNvPr id="22" name="Text 20"/>
          <p:cNvSpPr/>
          <p:nvPr/>
        </p:nvSpPr>
        <p:spPr>
          <a:xfrm>
            <a:off x="720090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Q3'27</a:t>
            </a:r>
            <a:endParaRPr lang="en-US" sz="800" dirty="0"/>
          </a:p>
        </p:txBody>
      </p:sp>
      <p:sp>
        <p:nvSpPr>
          <p:cNvPr id="23" name="Shape 21"/>
          <p:cNvSpPr/>
          <p:nvPr/>
        </p:nvSpPr>
        <p:spPr>
          <a:xfrm>
            <a:off x="7200900" y="1115568"/>
            <a:ext cx="13716" cy="4133088"/>
          </a:xfrm>
          <a:prstGeom prst="rect">
            <a:avLst/>
          </a:prstGeom>
          <a:solidFill>
            <a:srgbClr val="B6BBC0"/>
          </a:solidFill>
          <a:ln w="12700">
            <a:solidFill>
              <a:srgbClr val="B6BBC0"/>
            </a:solidFill>
            <a:prstDash val="solid"/>
          </a:ln>
        </p:spPr>
      </p:sp>
      <p:sp>
        <p:nvSpPr>
          <p:cNvPr id="24" name="Text 22"/>
          <p:cNvSpPr/>
          <p:nvPr/>
        </p:nvSpPr>
        <p:spPr>
          <a:xfrm>
            <a:off x="7989570" y="1115568"/>
            <a:ext cx="788670" cy="256032"/>
          </a:xfrm>
          <a:prstGeom prst="rect">
            <a:avLst/>
          </a:prstGeom>
          <a:noFill/>
          <a:ln/>
        </p:spPr>
        <p:txBody>
          <a:bodyPr wrap="square" lIns="0" tIns="0" rIns="0" bIns="0" rtlCol="0" anchor="ctr"/>
          <a:lstStyle/>
          <a:p>
            <a:pPr algn="ctr" indent="0" marL="0">
              <a:buNone/>
            </a:pPr>
            <a:r>
              <a:rPr lang="en-US" sz="800" b="1" dirty="0">
                <a:solidFill>
                  <a:srgbClr val="575A5D"/>
                </a:solidFill>
                <a:latin typeface="Calibri" pitchFamily="34" charset="0"/>
                <a:ea typeface="Calibri" pitchFamily="34" charset="-122"/>
                <a:cs typeface="Calibri" pitchFamily="34" charset="-120"/>
              </a:rPr>
              <a:t>Q4'27</a:t>
            </a:r>
            <a:endParaRPr lang="en-US" sz="800" dirty="0"/>
          </a:p>
        </p:txBody>
      </p:sp>
      <p:sp>
        <p:nvSpPr>
          <p:cNvPr id="25" name="Shape 23"/>
          <p:cNvSpPr/>
          <p:nvPr/>
        </p:nvSpPr>
        <p:spPr>
          <a:xfrm>
            <a:off x="7989570" y="1115568"/>
            <a:ext cx="13716" cy="4133088"/>
          </a:xfrm>
          <a:prstGeom prst="rect">
            <a:avLst/>
          </a:prstGeom>
          <a:solidFill>
            <a:srgbClr val="B6BBC0"/>
          </a:solidFill>
          <a:ln w="12700">
            <a:solidFill>
              <a:srgbClr val="B6BBC0"/>
            </a:solidFill>
            <a:prstDash val="solid"/>
          </a:ln>
        </p:spPr>
      </p:sp>
      <p:sp>
        <p:nvSpPr>
          <p:cNvPr id="26" name="Shape 24"/>
          <p:cNvSpPr/>
          <p:nvPr/>
        </p:nvSpPr>
        <p:spPr>
          <a:xfrm>
            <a:off x="2468880" y="859536"/>
            <a:ext cx="1577340" cy="237744"/>
          </a:xfrm>
          <a:prstGeom prst="rect">
            <a:avLst/>
          </a:prstGeom>
          <a:solidFill>
            <a:srgbClr val="085CE5"/>
          </a:solidFill>
          <a:ln w="12700">
            <a:solidFill>
              <a:srgbClr val="085CE5"/>
            </a:solidFill>
            <a:prstDash val="solid"/>
          </a:ln>
        </p:spPr>
      </p:sp>
      <p:sp>
        <p:nvSpPr>
          <p:cNvPr id="27" name="Text 25"/>
          <p:cNvSpPr/>
          <p:nvPr/>
        </p:nvSpPr>
        <p:spPr>
          <a:xfrm>
            <a:off x="2514600" y="859536"/>
            <a:ext cx="1485900" cy="2377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PHASE 1 — Foundation</a:t>
            </a:r>
            <a:endParaRPr lang="en-US" sz="750" dirty="0"/>
          </a:p>
        </p:txBody>
      </p:sp>
      <p:sp>
        <p:nvSpPr>
          <p:cNvPr id="28" name="Shape 26"/>
          <p:cNvSpPr/>
          <p:nvPr/>
        </p:nvSpPr>
        <p:spPr>
          <a:xfrm>
            <a:off x="4046220" y="859536"/>
            <a:ext cx="1577340" cy="237744"/>
          </a:xfrm>
          <a:prstGeom prst="rect">
            <a:avLst/>
          </a:prstGeom>
          <a:solidFill>
            <a:srgbClr val="073FA8"/>
          </a:solidFill>
          <a:ln w="12700">
            <a:solidFill>
              <a:srgbClr val="073FA8"/>
            </a:solidFill>
            <a:prstDash val="solid"/>
          </a:ln>
        </p:spPr>
      </p:sp>
      <p:sp>
        <p:nvSpPr>
          <p:cNvPr id="29" name="Text 27"/>
          <p:cNvSpPr/>
          <p:nvPr/>
        </p:nvSpPr>
        <p:spPr>
          <a:xfrm>
            <a:off x="4091940" y="859536"/>
            <a:ext cx="1485900" cy="2377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PHASE 2 — Core Apps</a:t>
            </a:r>
            <a:endParaRPr lang="en-US" sz="750" dirty="0"/>
          </a:p>
        </p:txBody>
      </p:sp>
      <p:sp>
        <p:nvSpPr>
          <p:cNvPr id="30" name="Shape 28"/>
          <p:cNvSpPr/>
          <p:nvPr/>
        </p:nvSpPr>
        <p:spPr>
          <a:xfrm>
            <a:off x="5623560" y="859536"/>
            <a:ext cx="3154680" cy="237744"/>
          </a:xfrm>
          <a:prstGeom prst="rect">
            <a:avLst/>
          </a:prstGeom>
          <a:solidFill>
            <a:srgbClr val="575A5D"/>
          </a:solidFill>
          <a:ln w="12700">
            <a:solidFill>
              <a:srgbClr val="575A5D"/>
            </a:solidFill>
            <a:prstDash val="solid"/>
          </a:ln>
        </p:spPr>
      </p:sp>
      <p:sp>
        <p:nvSpPr>
          <p:cNvPr id="31" name="Text 29"/>
          <p:cNvSpPr/>
          <p:nvPr/>
        </p:nvSpPr>
        <p:spPr>
          <a:xfrm>
            <a:off x="5669280" y="859536"/>
            <a:ext cx="3063240" cy="237744"/>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PHASE 3 — Scale &amp; Expand</a:t>
            </a:r>
            <a:endParaRPr lang="en-US" sz="750" dirty="0"/>
          </a:p>
        </p:txBody>
      </p:sp>
      <p:sp>
        <p:nvSpPr>
          <p:cNvPr id="32" name="Shape 30"/>
          <p:cNvSpPr/>
          <p:nvPr/>
        </p:nvSpPr>
        <p:spPr>
          <a:xfrm>
            <a:off x="274320" y="1408176"/>
            <a:ext cx="8503920" cy="356616"/>
          </a:xfrm>
          <a:prstGeom prst="rect">
            <a:avLst/>
          </a:prstGeom>
          <a:solidFill>
            <a:srgbClr val="FFFFFF"/>
          </a:solidFill>
          <a:ln w="12700">
            <a:solidFill>
              <a:srgbClr val="E7ECF0"/>
            </a:solidFill>
            <a:prstDash val="solid"/>
          </a:ln>
        </p:spPr>
      </p:sp>
      <p:sp>
        <p:nvSpPr>
          <p:cNvPr id="33" name="Shape 31"/>
          <p:cNvSpPr/>
          <p:nvPr/>
        </p:nvSpPr>
        <p:spPr>
          <a:xfrm>
            <a:off x="274320" y="1408176"/>
            <a:ext cx="54864" cy="356616"/>
          </a:xfrm>
          <a:prstGeom prst="rect">
            <a:avLst/>
          </a:prstGeom>
          <a:solidFill>
            <a:srgbClr val="085CE5"/>
          </a:solidFill>
          <a:ln w="12700">
            <a:solidFill>
              <a:srgbClr val="085CE5"/>
            </a:solidFill>
            <a:prstDash val="solid"/>
          </a:ln>
        </p:spPr>
      </p:sp>
      <p:sp>
        <p:nvSpPr>
          <p:cNvPr id="34" name="Text 32"/>
          <p:cNvSpPr/>
          <p:nvPr/>
        </p:nvSpPr>
        <p:spPr>
          <a:xfrm>
            <a:off x="384048" y="1435608"/>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NCUA 5300 Call Reports</a:t>
            </a:r>
            <a:endParaRPr lang="en-US" sz="850" dirty="0"/>
          </a:p>
        </p:txBody>
      </p:sp>
      <p:sp>
        <p:nvSpPr>
          <p:cNvPr id="35" name="Text 33"/>
          <p:cNvSpPr/>
          <p:nvPr/>
        </p:nvSpPr>
        <p:spPr>
          <a:xfrm>
            <a:off x="384048" y="1627632"/>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Public regulatory</a:t>
            </a:r>
            <a:endParaRPr lang="en-US" sz="750" dirty="0"/>
          </a:p>
        </p:txBody>
      </p:sp>
      <p:sp>
        <p:nvSpPr>
          <p:cNvPr id="36" name="Shape 34"/>
          <p:cNvSpPr/>
          <p:nvPr/>
        </p:nvSpPr>
        <p:spPr>
          <a:xfrm>
            <a:off x="2505456" y="1481328"/>
            <a:ext cx="715518" cy="182880"/>
          </a:xfrm>
          <a:prstGeom prst="rect">
            <a:avLst/>
          </a:prstGeom>
          <a:solidFill>
            <a:srgbClr val="085CE5"/>
          </a:solidFill>
          <a:ln w="12700">
            <a:solidFill>
              <a:srgbClr val="085CE5"/>
            </a:solidFill>
            <a:prstDash val="solid"/>
          </a:ln>
        </p:spPr>
      </p:sp>
      <p:sp>
        <p:nvSpPr>
          <p:cNvPr id="37" name="Text 35"/>
          <p:cNvSpPr/>
          <p:nvPr/>
        </p:nvSpPr>
        <p:spPr>
          <a:xfrm>
            <a:off x="3275838" y="1481328"/>
            <a:ext cx="2194560" cy="182880"/>
          </a:xfrm>
          <a:prstGeom prst="rect">
            <a:avLst/>
          </a:prstGeom>
          <a:noFill/>
          <a:ln/>
        </p:spPr>
        <p:txBody>
          <a:bodyPr wrap="square" lIns="0" tIns="0" rIns="0" bIns="0" rtlCol="0" anchor="ctr"/>
          <a:lstStyle/>
          <a:p>
            <a:pPr indent="0" marL="0">
              <a:buNone/>
            </a:pPr>
            <a:r>
              <a:rPr lang="en-US" sz="750" i="1" dirty="0">
                <a:solidFill>
                  <a:srgbClr val="085CE5"/>
                </a:solidFill>
                <a:latin typeface="Calibri" pitchFamily="34" charset="0"/>
                <a:ea typeface="Calibri" pitchFamily="34" charset="-122"/>
                <a:cs typeface="Calibri" pitchFamily="34" charset="-120"/>
              </a:rPr>
              <a:t>Call Report AI</a:t>
            </a:r>
            <a:endParaRPr lang="en-US" sz="750" dirty="0"/>
          </a:p>
        </p:txBody>
      </p:sp>
      <p:sp>
        <p:nvSpPr>
          <p:cNvPr id="38" name="Shape 36"/>
          <p:cNvSpPr/>
          <p:nvPr/>
        </p:nvSpPr>
        <p:spPr>
          <a:xfrm>
            <a:off x="274320" y="1792224"/>
            <a:ext cx="8503920" cy="356616"/>
          </a:xfrm>
          <a:prstGeom prst="rect">
            <a:avLst/>
          </a:prstGeom>
          <a:solidFill>
            <a:srgbClr val="F8F9FA"/>
          </a:solidFill>
          <a:ln w="12700">
            <a:solidFill>
              <a:srgbClr val="E7ECF0"/>
            </a:solidFill>
            <a:prstDash val="solid"/>
          </a:ln>
        </p:spPr>
      </p:sp>
      <p:sp>
        <p:nvSpPr>
          <p:cNvPr id="39" name="Shape 37"/>
          <p:cNvSpPr/>
          <p:nvPr/>
        </p:nvSpPr>
        <p:spPr>
          <a:xfrm>
            <a:off x="274320" y="1792224"/>
            <a:ext cx="54864" cy="356616"/>
          </a:xfrm>
          <a:prstGeom prst="rect">
            <a:avLst/>
          </a:prstGeom>
          <a:solidFill>
            <a:srgbClr val="085CE5"/>
          </a:solidFill>
          <a:ln w="12700">
            <a:solidFill>
              <a:srgbClr val="085CE5"/>
            </a:solidFill>
            <a:prstDash val="solid"/>
          </a:ln>
        </p:spPr>
      </p:sp>
      <p:sp>
        <p:nvSpPr>
          <p:cNvPr id="40" name="Text 38"/>
          <p:cNvSpPr/>
          <p:nvPr/>
        </p:nvSpPr>
        <p:spPr>
          <a:xfrm>
            <a:off x="384048" y="1819656"/>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Core Banking (jhaEnterprise / Symitar)</a:t>
            </a:r>
            <a:endParaRPr lang="en-US" sz="850" dirty="0"/>
          </a:p>
        </p:txBody>
      </p:sp>
      <p:sp>
        <p:nvSpPr>
          <p:cNvPr id="41" name="Text 39"/>
          <p:cNvSpPr/>
          <p:nvPr/>
        </p:nvSpPr>
        <p:spPr>
          <a:xfrm>
            <a:off x="384048" y="2011680"/>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Core transactions, deposits, loans</a:t>
            </a:r>
            <a:endParaRPr lang="en-US" sz="750" dirty="0"/>
          </a:p>
        </p:txBody>
      </p:sp>
      <p:sp>
        <p:nvSpPr>
          <p:cNvPr id="42" name="Shape 40"/>
          <p:cNvSpPr/>
          <p:nvPr/>
        </p:nvSpPr>
        <p:spPr>
          <a:xfrm>
            <a:off x="2505456" y="1865376"/>
            <a:ext cx="1504188" cy="182880"/>
          </a:xfrm>
          <a:prstGeom prst="rect">
            <a:avLst/>
          </a:prstGeom>
          <a:solidFill>
            <a:srgbClr val="085CE5"/>
          </a:solidFill>
          <a:ln w="12700">
            <a:solidFill>
              <a:srgbClr val="085CE5"/>
            </a:solidFill>
            <a:prstDash val="solid"/>
          </a:ln>
        </p:spPr>
      </p:sp>
      <p:sp>
        <p:nvSpPr>
          <p:cNvPr id="43" name="Text 41"/>
          <p:cNvSpPr/>
          <p:nvPr/>
        </p:nvSpPr>
        <p:spPr>
          <a:xfrm>
            <a:off x="2569464" y="1865376"/>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Churn Mediation · Acct Opening LTV</a:t>
            </a:r>
            <a:endParaRPr lang="en-US" sz="750" dirty="0"/>
          </a:p>
        </p:txBody>
      </p:sp>
      <p:sp>
        <p:nvSpPr>
          <p:cNvPr id="44" name="Shape 42"/>
          <p:cNvSpPr/>
          <p:nvPr/>
        </p:nvSpPr>
        <p:spPr>
          <a:xfrm>
            <a:off x="274320" y="2176272"/>
            <a:ext cx="8503920" cy="356616"/>
          </a:xfrm>
          <a:prstGeom prst="rect">
            <a:avLst/>
          </a:prstGeom>
          <a:solidFill>
            <a:srgbClr val="FFFFFF"/>
          </a:solidFill>
          <a:ln w="12700">
            <a:solidFill>
              <a:srgbClr val="E7ECF0"/>
            </a:solidFill>
            <a:prstDash val="solid"/>
          </a:ln>
        </p:spPr>
      </p:sp>
      <p:sp>
        <p:nvSpPr>
          <p:cNvPr id="45" name="Shape 43"/>
          <p:cNvSpPr/>
          <p:nvPr/>
        </p:nvSpPr>
        <p:spPr>
          <a:xfrm>
            <a:off x="274320" y="2176272"/>
            <a:ext cx="54864" cy="356616"/>
          </a:xfrm>
          <a:prstGeom prst="rect">
            <a:avLst/>
          </a:prstGeom>
          <a:solidFill>
            <a:srgbClr val="073FA8"/>
          </a:solidFill>
          <a:ln w="12700">
            <a:solidFill>
              <a:srgbClr val="073FA8"/>
            </a:solidFill>
            <a:prstDash val="solid"/>
          </a:ln>
        </p:spPr>
      </p:sp>
      <p:sp>
        <p:nvSpPr>
          <p:cNvPr id="46" name="Text 44"/>
          <p:cNvSpPr/>
          <p:nvPr/>
        </p:nvSpPr>
        <p:spPr>
          <a:xfrm>
            <a:off x="384048" y="2203704"/>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ACH / EPS</a:t>
            </a:r>
            <a:endParaRPr lang="en-US" sz="850" dirty="0"/>
          </a:p>
        </p:txBody>
      </p:sp>
      <p:sp>
        <p:nvSpPr>
          <p:cNvPr id="47" name="Text 45"/>
          <p:cNvSpPr/>
          <p:nvPr/>
        </p:nvSpPr>
        <p:spPr>
          <a:xfrm>
            <a:off x="384048" y="2395728"/>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ACH credits, debits, RDC</a:t>
            </a:r>
            <a:endParaRPr lang="en-US" sz="750" dirty="0"/>
          </a:p>
        </p:txBody>
      </p:sp>
      <p:sp>
        <p:nvSpPr>
          <p:cNvPr id="48" name="Shape 46"/>
          <p:cNvSpPr/>
          <p:nvPr/>
        </p:nvSpPr>
        <p:spPr>
          <a:xfrm>
            <a:off x="2505456" y="2249424"/>
            <a:ext cx="1504188" cy="182880"/>
          </a:xfrm>
          <a:prstGeom prst="rect">
            <a:avLst/>
          </a:prstGeom>
          <a:solidFill>
            <a:srgbClr val="073FA8"/>
          </a:solidFill>
          <a:ln w="12700">
            <a:solidFill>
              <a:srgbClr val="073FA8"/>
            </a:solidFill>
            <a:prstDash val="solid"/>
          </a:ln>
        </p:spPr>
      </p:sp>
      <p:sp>
        <p:nvSpPr>
          <p:cNvPr id="49" name="Text 47"/>
          <p:cNvSpPr/>
          <p:nvPr/>
        </p:nvSpPr>
        <p:spPr>
          <a:xfrm>
            <a:off x="2569464" y="2249424"/>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Anomaly Detection</a:t>
            </a:r>
            <a:endParaRPr lang="en-US" sz="750" dirty="0"/>
          </a:p>
        </p:txBody>
      </p:sp>
      <p:sp>
        <p:nvSpPr>
          <p:cNvPr id="50" name="Shape 48"/>
          <p:cNvSpPr/>
          <p:nvPr/>
        </p:nvSpPr>
        <p:spPr>
          <a:xfrm>
            <a:off x="274320" y="2560320"/>
            <a:ext cx="8503920" cy="356616"/>
          </a:xfrm>
          <a:prstGeom prst="rect">
            <a:avLst/>
          </a:prstGeom>
          <a:solidFill>
            <a:srgbClr val="F8F9FA"/>
          </a:solidFill>
          <a:ln w="12700">
            <a:solidFill>
              <a:srgbClr val="E7ECF0"/>
            </a:solidFill>
            <a:prstDash val="solid"/>
          </a:ln>
        </p:spPr>
      </p:sp>
      <p:sp>
        <p:nvSpPr>
          <p:cNvPr id="51" name="Shape 49"/>
          <p:cNvSpPr/>
          <p:nvPr/>
        </p:nvSpPr>
        <p:spPr>
          <a:xfrm>
            <a:off x="274320" y="2560320"/>
            <a:ext cx="54864" cy="356616"/>
          </a:xfrm>
          <a:prstGeom prst="rect">
            <a:avLst/>
          </a:prstGeom>
          <a:solidFill>
            <a:srgbClr val="073FA8"/>
          </a:solidFill>
          <a:ln w="12700">
            <a:solidFill>
              <a:srgbClr val="073FA8"/>
            </a:solidFill>
            <a:prstDash val="solid"/>
          </a:ln>
        </p:spPr>
      </p:sp>
      <p:sp>
        <p:nvSpPr>
          <p:cNvPr id="52" name="Text 50"/>
          <p:cNvSpPr/>
          <p:nvPr/>
        </p:nvSpPr>
        <p:spPr>
          <a:xfrm>
            <a:off x="384048" y="2587752"/>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Zelle / JHA PayCenter</a:t>
            </a:r>
            <a:endParaRPr lang="en-US" sz="850" dirty="0"/>
          </a:p>
        </p:txBody>
      </p:sp>
      <p:sp>
        <p:nvSpPr>
          <p:cNvPr id="53" name="Text 51"/>
          <p:cNvSpPr/>
          <p:nvPr/>
        </p:nvSpPr>
        <p:spPr>
          <a:xfrm>
            <a:off x="384048" y="2779776"/>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P2P, RTP, FedNow</a:t>
            </a:r>
            <a:endParaRPr lang="en-US" sz="750" dirty="0"/>
          </a:p>
        </p:txBody>
      </p:sp>
      <p:sp>
        <p:nvSpPr>
          <p:cNvPr id="54" name="Shape 52"/>
          <p:cNvSpPr/>
          <p:nvPr/>
        </p:nvSpPr>
        <p:spPr>
          <a:xfrm>
            <a:off x="3294126" y="2633472"/>
            <a:ext cx="1504188" cy="182880"/>
          </a:xfrm>
          <a:prstGeom prst="rect">
            <a:avLst/>
          </a:prstGeom>
          <a:solidFill>
            <a:srgbClr val="073FA8"/>
          </a:solidFill>
          <a:ln w="12700">
            <a:solidFill>
              <a:srgbClr val="073FA8"/>
            </a:solidFill>
            <a:prstDash val="solid"/>
          </a:ln>
        </p:spPr>
      </p:sp>
      <p:sp>
        <p:nvSpPr>
          <p:cNvPr id="55" name="Text 53"/>
          <p:cNvSpPr/>
          <p:nvPr/>
        </p:nvSpPr>
        <p:spPr>
          <a:xfrm>
            <a:off x="3358134" y="2633472"/>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Zelle Memo Intelligence · Anomaly</a:t>
            </a:r>
            <a:endParaRPr lang="en-US" sz="750" dirty="0"/>
          </a:p>
        </p:txBody>
      </p:sp>
      <p:sp>
        <p:nvSpPr>
          <p:cNvPr id="56" name="Shape 54"/>
          <p:cNvSpPr/>
          <p:nvPr/>
        </p:nvSpPr>
        <p:spPr>
          <a:xfrm>
            <a:off x="274320" y="2944368"/>
            <a:ext cx="8503920" cy="356616"/>
          </a:xfrm>
          <a:prstGeom prst="rect">
            <a:avLst/>
          </a:prstGeom>
          <a:solidFill>
            <a:srgbClr val="FFFFFF"/>
          </a:solidFill>
          <a:ln w="12700">
            <a:solidFill>
              <a:srgbClr val="E7ECF0"/>
            </a:solidFill>
            <a:prstDash val="solid"/>
          </a:ln>
        </p:spPr>
      </p:sp>
      <p:sp>
        <p:nvSpPr>
          <p:cNvPr id="57" name="Shape 55"/>
          <p:cNvSpPr/>
          <p:nvPr/>
        </p:nvSpPr>
        <p:spPr>
          <a:xfrm>
            <a:off x="274320" y="2944368"/>
            <a:ext cx="54864" cy="356616"/>
          </a:xfrm>
          <a:prstGeom prst="rect">
            <a:avLst/>
          </a:prstGeom>
          <a:solidFill>
            <a:srgbClr val="073FA8"/>
          </a:solidFill>
          <a:ln w="12700">
            <a:solidFill>
              <a:srgbClr val="073FA8"/>
            </a:solidFill>
            <a:prstDash val="solid"/>
          </a:ln>
        </p:spPr>
      </p:sp>
      <p:sp>
        <p:nvSpPr>
          <p:cNvPr id="58" name="Text 56"/>
          <p:cNvSpPr/>
          <p:nvPr/>
        </p:nvSpPr>
        <p:spPr>
          <a:xfrm>
            <a:off x="384048" y="2971800"/>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Jack Henry Wires</a:t>
            </a:r>
            <a:endParaRPr lang="en-US" sz="850" dirty="0"/>
          </a:p>
        </p:txBody>
      </p:sp>
      <p:sp>
        <p:nvSpPr>
          <p:cNvPr id="59" name="Text 57"/>
          <p:cNvSpPr/>
          <p:nvPr/>
        </p:nvSpPr>
        <p:spPr>
          <a:xfrm>
            <a:off x="384048" y="3163824"/>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Domestic FedWire + Intl</a:t>
            </a:r>
            <a:endParaRPr lang="en-US" sz="750" dirty="0"/>
          </a:p>
        </p:txBody>
      </p:sp>
      <p:sp>
        <p:nvSpPr>
          <p:cNvPr id="60" name="Shape 58"/>
          <p:cNvSpPr/>
          <p:nvPr/>
        </p:nvSpPr>
        <p:spPr>
          <a:xfrm>
            <a:off x="3294126" y="3017520"/>
            <a:ext cx="1504188" cy="182880"/>
          </a:xfrm>
          <a:prstGeom prst="rect">
            <a:avLst/>
          </a:prstGeom>
          <a:solidFill>
            <a:srgbClr val="073FA8"/>
          </a:solidFill>
          <a:ln w="12700">
            <a:solidFill>
              <a:srgbClr val="073FA8"/>
            </a:solidFill>
            <a:prstDash val="solid"/>
          </a:ln>
        </p:spPr>
      </p:sp>
      <p:sp>
        <p:nvSpPr>
          <p:cNvPr id="61" name="Text 59"/>
          <p:cNvSpPr/>
          <p:nvPr/>
        </p:nvSpPr>
        <p:spPr>
          <a:xfrm>
            <a:off x="3358134" y="3017520"/>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Anomaly Detection (wire fraud)</a:t>
            </a:r>
            <a:endParaRPr lang="en-US" sz="750" dirty="0"/>
          </a:p>
        </p:txBody>
      </p:sp>
      <p:sp>
        <p:nvSpPr>
          <p:cNvPr id="62" name="Shape 60"/>
          <p:cNvSpPr/>
          <p:nvPr/>
        </p:nvSpPr>
        <p:spPr>
          <a:xfrm>
            <a:off x="274320" y="3328416"/>
            <a:ext cx="8503920" cy="356616"/>
          </a:xfrm>
          <a:prstGeom prst="rect">
            <a:avLst/>
          </a:prstGeom>
          <a:solidFill>
            <a:srgbClr val="F8F9FA"/>
          </a:solidFill>
          <a:ln w="12700">
            <a:solidFill>
              <a:srgbClr val="E7ECF0"/>
            </a:solidFill>
            <a:prstDash val="solid"/>
          </a:ln>
        </p:spPr>
      </p:sp>
      <p:sp>
        <p:nvSpPr>
          <p:cNvPr id="63" name="Shape 61"/>
          <p:cNvSpPr/>
          <p:nvPr/>
        </p:nvSpPr>
        <p:spPr>
          <a:xfrm>
            <a:off x="274320" y="3328416"/>
            <a:ext cx="54864" cy="356616"/>
          </a:xfrm>
          <a:prstGeom prst="rect">
            <a:avLst/>
          </a:prstGeom>
          <a:solidFill>
            <a:srgbClr val="0B68D4"/>
          </a:solidFill>
          <a:ln w="12700">
            <a:solidFill>
              <a:srgbClr val="0B68D4"/>
            </a:solidFill>
            <a:prstDash val="solid"/>
          </a:ln>
        </p:spPr>
      </p:sp>
      <p:sp>
        <p:nvSpPr>
          <p:cNvPr id="64" name="Text 62"/>
          <p:cNvSpPr/>
          <p:nvPr/>
        </p:nvSpPr>
        <p:spPr>
          <a:xfrm>
            <a:off x="384048" y="3355848"/>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iPay Bill Pay</a:t>
            </a:r>
            <a:endParaRPr lang="en-US" sz="850" dirty="0"/>
          </a:p>
        </p:txBody>
      </p:sp>
      <p:sp>
        <p:nvSpPr>
          <p:cNvPr id="65" name="Text 63"/>
          <p:cNvSpPr/>
          <p:nvPr/>
        </p:nvSpPr>
        <p:spPr>
          <a:xfrm>
            <a:off x="384048" y="3547872"/>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Consumer + Business bill pay</a:t>
            </a:r>
            <a:endParaRPr lang="en-US" sz="750" dirty="0"/>
          </a:p>
        </p:txBody>
      </p:sp>
      <p:sp>
        <p:nvSpPr>
          <p:cNvPr id="66" name="Shape 64"/>
          <p:cNvSpPr/>
          <p:nvPr/>
        </p:nvSpPr>
        <p:spPr>
          <a:xfrm>
            <a:off x="4082796" y="3401568"/>
            <a:ext cx="1504188" cy="182880"/>
          </a:xfrm>
          <a:prstGeom prst="rect">
            <a:avLst/>
          </a:prstGeom>
          <a:solidFill>
            <a:srgbClr val="0B68D4"/>
          </a:solidFill>
          <a:ln w="12700">
            <a:solidFill>
              <a:srgbClr val="0B68D4"/>
            </a:solidFill>
            <a:prstDash val="solid"/>
          </a:ln>
        </p:spPr>
      </p:sp>
      <p:sp>
        <p:nvSpPr>
          <p:cNvPr id="67" name="Text 65"/>
          <p:cNvSpPr/>
          <p:nvPr/>
        </p:nvSpPr>
        <p:spPr>
          <a:xfrm>
            <a:off x="4146804" y="3401568"/>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Cross-Sell Propensity</a:t>
            </a:r>
            <a:endParaRPr lang="en-US" sz="750" dirty="0"/>
          </a:p>
        </p:txBody>
      </p:sp>
      <p:sp>
        <p:nvSpPr>
          <p:cNvPr id="68" name="Shape 66"/>
          <p:cNvSpPr/>
          <p:nvPr/>
        </p:nvSpPr>
        <p:spPr>
          <a:xfrm>
            <a:off x="274320" y="3712464"/>
            <a:ext cx="8503920" cy="356616"/>
          </a:xfrm>
          <a:prstGeom prst="rect">
            <a:avLst/>
          </a:prstGeom>
          <a:solidFill>
            <a:srgbClr val="FFFFFF"/>
          </a:solidFill>
          <a:ln w="12700">
            <a:solidFill>
              <a:srgbClr val="E7ECF0"/>
            </a:solidFill>
            <a:prstDash val="solid"/>
          </a:ln>
        </p:spPr>
      </p:sp>
      <p:sp>
        <p:nvSpPr>
          <p:cNvPr id="69" name="Shape 67"/>
          <p:cNvSpPr/>
          <p:nvPr/>
        </p:nvSpPr>
        <p:spPr>
          <a:xfrm>
            <a:off x="274320" y="3712464"/>
            <a:ext cx="54864" cy="356616"/>
          </a:xfrm>
          <a:prstGeom prst="rect">
            <a:avLst/>
          </a:prstGeom>
          <a:solidFill>
            <a:srgbClr val="0B68D4"/>
          </a:solidFill>
          <a:ln w="12700">
            <a:solidFill>
              <a:srgbClr val="0B68D4"/>
            </a:solidFill>
            <a:prstDash val="solid"/>
          </a:ln>
        </p:spPr>
      </p:sp>
      <p:sp>
        <p:nvSpPr>
          <p:cNvPr id="70" name="Text 68"/>
          <p:cNvSpPr/>
          <p:nvPr/>
        </p:nvSpPr>
        <p:spPr>
          <a:xfrm>
            <a:off x="384048" y="3739896"/>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Payrailz (P2P / A2A)</a:t>
            </a:r>
            <a:endParaRPr lang="en-US" sz="850" dirty="0"/>
          </a:p>
        </p:txBody>
      </p:sp>
      <p:sp>
        <p:nvSpPr>
          <p:cNvPr id="71" name="Text 69"/>
          <p:cNvSpPr/>
          <p:nvPr/>
        </p:nvSpPr>
        <p:spPr>
          <a:xfrm>
            <a:off x="384048" y="3931920"/>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Pay a Person, Transfer Money</a:t>
            </a:r>
            <a:endParaRPr lang="en-US" sz="750" dirty="0"/>
          </a:p>
        </p:txBody>
      </p:sp>
      <p:sp>
        <p:nvSpPr>
          <p:cNvPr id="72" name="Shape 70"/>
          <p:cNvSpPr/>
          <p:nvPr/>
        </p:nvSpPr>
        <p:spPr>
          <a:xfrm>
            <a:off x="4082796" y="3785616"/>
            <a:ext cx="1504188" cy="182880"/>
          </a:xfrm>
          <a:prstGeom prst="rect">
            <a:avLst/>
          </a:prstGeom>
          <a:solidFill>
            <a:srgbClr val="0B68D4"/>
          </a:solidFill>
          <a:ln w="12700">
            <a:solidFill>
              <a:srgbClr val="0B68D4"/>
            </a:solidFill>
            <a:prstDash val="solid"/>
          </a:ln>
        </p:spPr>
      </p:sp>
      <p:sp>
        <p:nvSpPr>
          <p:cNvPr id="73" name="Text 71"/>
          <p:cNvSpPr/>
          <p:nvPr/>
        </p:nvSpPr>
        <p:spPr>
          <a:xfrm>
            <a:off x="4146804" y="3785616"/>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Fraud Ring Detection</a:t>
            </a:r>
            <a:endParaRPr lang="en-US" sz="750" dirty="0"/>
          </a:p>
        </p:txBody>
      </p:sp>
      <p:sp>
        <p:nvSpPr>
          <p:cNvPr id="74" name="Shape 72"/>
          <p:cNvSpPr/>
          <p:nvPr/>
        </p:nvSpPr>
        <p:spPr>
          <a:xfrm>
            <a:off x="274320" y="4096512"/>
            <a:ext cx="8503920" cy="356616"/>
          </a:xfrm>
          <a:prstGeom prst="rect">
            <a:avLst/>
          </a:prstGeom>
          <a:solidFill>
            <a:srgbClr val="F8F9FA"/>
          </a:solidFill>
          <a:ln w="12700">
            <a:solidFill>
              <a:srgbClr val="E7ECF0"/>
            </a:solidFill>
            <a:prstDash val="solid"/>
          </a:ln>
        </p:spPr>
      </p:sp>
      <p:sp>
        <p:nvSpPr>
          <p:cNvPr id="75" name="Shape 73"/>
          <p:cNvSpPr/>
          <p:nvPr/>
        </p:nvSpPr>
        <p:spPr>
          <a:xfrm>
            <a:off x="274320" y="4096512"/>
            <a:ext cx="54864" cy="356616"/>
          </a:xfrm>
          <a:prstGeom prst="rect">
            <a:avLst/>
          </a:prstGeom>
          <a:solidFill>
            <a:srgbClr val="575A5D"/>
          </a:solidFill>
          <a:ln w="12700">
            <a:solidFill>
              <a:srgbClr val="575A5D"/>
            </a:solidFill>
            <a:prstDash val="solid"/>
          </a:ln>
        </p:spPr>
      </p:sp>
      <p:sp>
        <p:nvSpPr>
          <p:cNvPr id="76" name="Text 74"/>
          <p:cNvSpPr/>
          <p:nvPr/>
        </p:nvSpPr>
        <p:spPr>
          <a:xfrm>
            <a:off x="384048" y="4123944"/>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Banno Digital Platform</a:t>
            </a:r>
            <a:endParaRPr lang="en-US" sz="850" dirty="0"/>
          </a:p>
        </p:txBody>
      </p:sp>
      <p:sp>
        <p:nvSpPr>
          <p:cNvPr id="77" name="Text 75"/>
          <p:cNvSpPr/>
          <p:nvPr/>
        </p:nvSpPr>
        <p:spPr>
          <a:xfrm>
            <a:off x="384048" y="4315968"/>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Session, engagement, clicks</a:t>
            </a:r>
            <a:endParaRPr lang="en-US" sz="750" dirty="0"/>
          </a:p>
        </p:txBody>
      </p:sp>
      <p:sp>
        <p:nvSpPr>
          <p:cNvPr id="78" name="Shape 76"/>
          <p:cNvSpPr/>
          <p:nvPr/>
        </p:nvSpPr>
        <p:spPr>
          <a:xfrm>
            <a:off x="4871466" y="4169664"/>
            <a:ext cx="1504188" cy="182880"/>
          </a:xfrm>
          <a:prstGeom prst="rect">
            <a:avLst/>
          </a:prstGeom>
          <a:solidFill>
            <a:srgbClr val="575A5D"/>
          </a:solidFill>
          <a:ln w="12700">
            <a:solidFill>
              <a:srgbClr val="575A5D"/>
            </a:solidFill>
            <a:prstDash val="solid"/>
          </a:ln>
        </p:spPr>
      </p:sp>
      <p:sp>
        <p:nvSpPr>
          <p:cNvPr id="79" name="Text 77"/>
          <p:cNvSpPr/>
          <p:nvPr/>
        </p:nvSpPr>
        <p:spPr>
          <a:xfrm>
            <a:off x="4935474" y="4169664"/>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Sentiment Engine · Next Best Action</a:t>
            </a:r>
            <a:endParaRPr lang="en-US" sz="750" dirty="0"/>
          </a:p>
        </p:txBody>
      </p:sp>
      <p:sp>
        <p:nvSpPr>
          <p:cNvPr id="80" name="Shape 78"/>
          <p:cNvSpPr/>
          <p:nvPr/>
        </p:nvSpPr>
        <p:spPr>
          <a:xfrm>
            <a:off x="274320" y="4480560"/>
            <a:ext cx="8503920" cy="356616"/>
          </a:xfrm>
          <a:prstGeom prst="rect">
            <a:avLst/>
          </a:prstGeom>
          <a:solidFill>
            <a:srgbClr val="FFFFFF"/>
          </a:solidFill>
          <a:ln w="12700">
            <a:solidFill>
              <a:srgbClr val="E7ECF0"/>
            </a:solidFill>
            <a:prstDash val="solid"/>
          </a:ln>
        </p:spPr>
      </p:sp>
      <p:sp>
        <p:nvSpPr>
          <p:cNvPr id="81" name="Shape 79"/>
          <p:cNvSpPr/>
          <p:nvPr/>
        </p:nvSpPr>
        <p:spPr>
          <a:xfrm>
            <a:off x="274320" y="4480560"/>
            <a:ext cx="54864" cy="356616"/>
          </a:xfrm>
          <a:prstGeom prst="rect">
            <a:avLst/>
          </a:prstGeom>
          <a:solidFill>
            <a:srgbClr val="575A5D"/>
          </a:solidFill>
          <a:ln w="12700">
            <a:solidFill>
              <a:srgbClr val="575A5D"/>
            </a:solidFill>
            <a:prstDash val="solid"/>
          </a:ln>
        </p:spPr>
      </p:sp>
      <p:sp>
        <p:nvSpPr>
          <p:cNvPr id="82" name="Text 80"/>
          <p:cNvSpPr/>
          <p:nvPr/>
        </p:nvSpPr>
        <p:spPr>
          <a:xfrm>
            <a:off x="384048" y="4507992"/>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Business Pmts / SmartPay</a:t>
            </a:r>
            <a:endParaRPr lang="en-US" sz="850" dirty="0"/>
          </a:p>
        </p:txBody>
      </p:sp>
      <p:sp>
        <p:nvSpPr>
          <p:cNvPr id="83" name="Text 81"/>
          <p:cNvSpPr/>
          <p:nvPr/>
        </p:nvSpPr>
        <p:spPr>
          <a:xfrm>
            <a:off x="384048" y="4700016"/>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B2B, ACH vendor, remittance</a:t>
            </a:r>
            <a:endParaRPr lang="en-US" sz="750" dirty="0"/>
          </a:p>
        </p:txBody>
      </p:sp>
      <p:sp>
        <p:nvSpPr>
          <p:cNvPr id="84" name="Shape 82"/>
          <p:cNvSpPr/>
          <p:nvPr/>
        </p:nvSpPr>
        <p:spPr>
          <a:xfrm>
            <a:off x="5660136" y="4553712"/>
            <a:ext cx="1504188" cy="182880"/>
          </a:xfrm>
          <a:prstGeom prst="rect">
            <a:avLst/>
          </a:prstGeom>
          <a:solidFill>
            <a:srgbClr val="575A5D"/>
          </a:solidFill>
          <a:ln w="12700">
            <a:solidFill>
              <a:srgbClr val="575A5D"/>
            </a:solidFill>
            <a:prstDash val="solid"/>
          </a:ln>
        </p:spPr>
      </p:sp>
      <p:sp>
        <p:nvSpPr>
          <p:cNvPr id="85" name="Text 83"/>
          <p:cNvSpPr/>
          <p:nvPr/>
        </p:nvSpPr>
        <p:spPr>
          <a:xfrm>
            <a:off x="5724144" y="4553712"/>
            <a:ext cx="139446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Overdraft Prediction</a:t>
            </a:r>
            <a:endParaRPr lang="en-US" sz="750" dirty="0"/>
          </a:p>
        </p:txBody>
      </p:sp>
      <p:sp>
        <p:nvSpPr>
          <p:cNvPr id="86" name="Shape 84"/>
          <p:cNvSpPr/>
          <p:nvPr/>
        </p:nvSpPr>
        <p:spPr>
          <a:xfrm>
            <a:off x="274320" y="4864608"/>
            <a:ext cx="8503920" cy="356616"/>
          </a:xfrm>
          <a:prstGeom prst="rect">
            <a:avLst/>
          </a:prstGeom>
          <a:solidFill>
            <a:srgbClr val="F8F9FA"/>
          </a:solidFill>
          <a:ln w="12700">
            <a:solidFill>
              <a:srgbClr val="E7ECF0"/>
            </a:solidFill>
            <a:prstDash val="solid"/>
          </a:ln>
        </p:spPr>
      </p:sp>
      <p:sp>
        <p:nvSpPr>
          <p:cNvPr id="87" name="Shape 85"/>
          <p:cNvSpPr/>
          <p:nvPr/>
        </p:nvSpPr>
        <p:spPr>
          <a:xfrm>
            <a:off x="274320" y="4864608"/>
            <a:ext cx="54864" cy="356616"/>
          </a:xfrm>
          <a:prstGeom prst="rect">
            <a:avLst/>
          </a:prstGeom>
          <a:solidFill>
            <a:srgbClr val="0D2E7A"/>
          </a:solidFill>
          <a:ln w="12700">
            <a:solidFill>
              <a:srgbClr val="0D2E7A"/>
            </a:solidFill>
            <a:prstDash val="solid"/>
          </a:ln>
        </p:spPr>
      </p:sp>
      <p:sp>
        <p:nvSpPr>
          <p:cNvPr id="88" name="Text 86"/>
          <p:cNvSpPr/>
          <p:nvPr/>
        </p:nvSpPr>
        <p:spPr>
          <a:xfrm>
            <a:off x="384048" y="4892040"/>
            <a:ext cx="1892808" cy="201168"/>
          </a:xfrm>
          <a:prstGeom prst="rect">
            <a:avLst/>
          </a:prstGeom>
          <a:noFill/>
          <a:ln/>
        </p:spPr>
        <p:txBody>
          <a:bodyPr wrap="square" lIns="0" tIns="0" rIns="0" bIns="0" rtlCol="0" anchor="ctr"/>
          <a:lstStyle/>
          <a:p>
            <a:pPr indent="0" marL="0">
              <a:buNone/>
            </a:pPr>
            <a:r>
              <a:rPr lang="en-US" sz="850" b="1" dirty="0">
                <a:solidFill>
                  <a:srgbClr val="06185F"/>
                </a:solidFill>
                <a:latin typeface="Calibri" pitchFamily="34" charset="0"/>
                <a:ea typeface="Calibri" pitchFamily="34" charset="-122"/>
                <a:cs typeface="Calibri" pitchFamily="34" charset="-120"/>
              </a:rPr>
              <a:t>FI Decision Studio</a:t>
            </a:r>
            <a:endParaRPr lang="en-US" sz="850" dirty="0"/>
          </a:p>
        </p:txBody>
      </p:sp>
      <p:sp>
        <p:nvSpPr>
          <p:cNvPr id="89" name="Text 87"/>
          <p:cNvSpPr/>
          <p:nvPr/>
        </p:nvSpPr>
        <p:spPr>
          <a:xfrm>
            <a:off x="384048" y="5084064"/>
            <a:ext cx="1892808" cy="137160"/>
          </a:xfrm>
          <a:prstGeom prst="rect">
            <a:avLst/>
          </a:prstGeom>
          <a:noFill/>
          <a:ln/>
        </p:spPr>
        <p:txBody>
          <a:bodyPr wrap="square" lIns="0" tIns="0" rIns="0" bIns="0" rtlCol="0" anchor="ctr"/>
          <a:lstStyle/>
          <a:p>
            <a:pPr indent="0" marL="0">
              <a:buNone/>
            </a:pPr>
            <a:r>
              <a:rPr lang="en-US" sz="750" i="1" dirty="0">
                <a:solidFill>
                  <a:srgbClr val="B6BBC0"/>
                </a:solidFill>
                <a:latin typeface="Calibri" pitchFamily="34" charset="0"/>
                <a:ea typeface="Calibri" pitchFamily="34" charset="-122"/>
                <a:cs typeface="Calibri" pitchFamily="34" charset="-120"/>
              </a:rPr>
              <a:t>AutoML · SHAP · Rules · API</a:t>
            </a:r>
            <a:endParaRPr lang="en-US" sz="750" dirty="0"/>
          </a:p>
        </p:txBody>
      </p:sp>
      <p:sp>
        <p:nvSpPr>
          <p:cNvPr id="90" name="Shape 88"/>
          <p:cNvSpPr/>
          <p:nvPr/>
        </p:nvSpPr>
        <p:spPr>
          <a:xfrm>
            <a:off x="5660136" y="4937760"/>
            <a:ext cx="3081528" cy="182880"/>
          </a:xfrm>
          <a:prstGeom prst="rect">
            <a:avLst/>
          </a:prstGeom>
          <a:solidFill>
            <a:srgbClr val="0D2E7A"/>
          </a:solidFill>
          <a:ln w="12700">
            <a:solidFill>
              <a:srgbClr val="0D2E7A"/>
            </a:solidFill>
            <a:prstDash val="solid"/>
          </a:ln>
        </p:spPr>
      </p:sp>
      <p:sp>
        <p:nvSpPr>
          <p:cNvPr id="91" name="Text 89"/>
          <p:cNvSpPr/>
          <p:nvPr/>
        </p:nvSpPr>
        <p:spPr>
          <a:xfrm>
            <a:off x="5724144" y="4937760"/>
            <a:ext cx="2971800" cy="182880"/>
          </a:xfrm>
          <a:prstGeom prst="rect">
            <a:avLst/>
          </a:prstGeom>
          <a:noFill/>
          <a:ln/>
        </p:spPr>
        <p:txBody>
          <a:bodyPr wrap="square" lIns="0" tIns="0" rIns="0" bIns="0" rtlCol="0" anchor="ctr"/>
          <a:lstStyle/>
          <a:p>
            <a:pPr indent="0" marL="0">
              <a:buNone/>
            </a:pPr>
            <a:r>
              <a:rPr lang="en-US" sz="750" dirty="0">
                <a:solidFill>
                  <a:srgbClr val="FFFFFF"/>
                </a:solidFill>
                <a:latin typeface="Calibri" pitchFamily="34" charset="0"/>
                <a:ea typeface="Calibri" pitchFamily="34" charset="-122"/>
                <a:cs typeface="Calibri" pitchFamily="34" charset="-120"/>
              </a:rPr>
              <a:t>Custom FI Models (all data sources)</a:t>
            </a:r>
            <a:endParaRPr lang="en-US" sz="750" dirty="0"/>
          </a:p>
        </p:txBody>
      </p:sp>
      <p:sp>
        <p:nvSpPr>
          <p:cNvPr id="92" name="Shape 90"/>
          <p:cNvSpPr/>
          <p:nvPr/>
        </p:nvSpPr>
        <p:spPr>
          <a:xfrm>
            <a:off x="2482596" y="859536"/>
            <a:ext cx="36576" cy="4005072"/>
          </a:xfrm>
          <a:prstGeom prst="rect">
            <a:avLst/>
          </a:prstGeom>
          <a:solidFill>
            <a:srgbClr val="76DCFD"/>
          </a:solidFill>
          <a:ln w="12700">
            <a:solidFill>
              <a:srgbClr val="76DCFD"/>
            </a:solidFill>
            <a:prstDash val="solid"/>
          </a:ln>
        </p:spPr>
      </p:sp>
      <p:sp>
        <p:nvSpPr>
          <p:cNvPr id="93" name="Text 91"/>
          <p:cNvSpPr/>
          <p:nvPr/>
        </p:nvSpPr>
        <p:spPr>
          <a:xfrm>
            <a:off x="2359152" y="841248"/>
            <a:ext cx="502920" cy="219456"/>
          </a:xfrm>
          <a:prstGeom prst="rect">
            <a:avLst/>
          </a:prstGeom>
          <a:noFill/>
          <a:ln/>
        </p:spPr>
        <p:txBody>
          <a:bodyPr wrap="square" lIns="0" tIns="0" rIns="0" bIns="0" rtlCol="0" anchor="ctr"/>
          <a:lstStyle/>
          <a:p>
            <a:pPr algn="ctr" indent="0" marL="0">
              <a:buNone/>
            </a:pPr>
            <a:r>
              <a:rPr lang="en-US" sz="700" b="1" dirty="0">
                <a:solidFill>
                  <a:srgbClr val="76DCFD"/>
                </a:solidFill>
                <a:latin typeface="Calibri" pitchFamily="34" charset="0"/>
                <a:ea typeface="Calibri" pitchFamily="34" charset="-122"/>
                <a:cs typeface="Calibri" pitchFamily="34" charset="-120"/>
              </a:rPr>
              <a:t>NOW</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8F7F7"/>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6185F"/>
          </a:solidFill>
          <a:ln w="12700">
            <a:solidFill>
              <a:srgbClr val="06185F"/>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Phased Delivery Roadmap — 18 Months to Scale</a:t>
            </a:r>
            <a:endParaRPr lang="en-US" sz="2200" dirty="0"/>
          </a:p>
        </p:txBody>
      </p:sp>
      <p:sp>
        <p:nvSpPr>
          <p:cNvPr id="4" name="Shape 2"/>
          <p:cNvSpPr/>
          <p:nvPr/>
        </p:nvSpPr>
        <p:spPr>
          <a:xfrm>
            <a:off x="256032" y="749808"/>
            <a:ext cx="2816352" cy="41330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256032" y="749808"/>
            <a:ext cx="2816352" cy="804672"/>
          </a:xfrm>
          <a:prstGeom prst="rect">
            <a:avLst/>
          </a:prstGeom>
          <a:solidFill>
            <a:srgbClr val="085CE5"/>
          </a:solidFill>
          <a:ln w="12700">
            <a:solidFill>
              <a:srgbClr val="085CE5"/>
            </a:solidFill>
            <a:prstDash val="solid"/>
          </a:ln>
        </p:spPr>
      </p:sp>
      <p:sp>
        <p:nvSpPr>
          <p:cNvPr id="6" name="Text 4"/>
          <p:cNvSpPr/>
          <p:nvPr/>
        </p:nvSpPr>
        <p:spPr>
          <a:xfrm>
            <a:off x="365760" y="804672"/>
            <a:ext cx="621792" cy="658368"/>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01</a:t>
            </a:r>
            <a:endParaRPr lang="en-US" sz="3600" dirty="0"/>
          </a:p>
        </p:txBody>
      </p:sp>
      <p:sp>
        <p:nvSpPr>
          <p:cNvPr id="7" name="Shape 5"/>
          <p:cNvSpPr/>
          <p:nvPr/>
        </p:nvSpPr>
        <p:spPr>
          <a:xfrm>
            <a:off x="1024128" y="896112"/>
            <a:ext cx="36576" cy="475488"/>
          </a:xfrm>
          <a:prstGeom prst="rect">
            <a:avLst/>
          </a:prstGeom>
          <a:solidFill>
            <a:srgbClr val="FFFFFF">
              <a:alpha val="60000"/>
            </a:srgbClr>
          </a:solidFill>
          <a:ln w="12700">
            <a:solidFill>
              <a:srgbClr val="FFFFFF">
                <a:alpha val="60000"/>
              </a:srgbClr>
            </a:solidFill>
            <a:prstDash val="solid"/>
          </a:ln>
        </p:spPr>
      </p:sp>
      <p:sp>
        <p:nvSpPr>
          <p:cNvPr id="8" name="Text 6"/>
          <p:cNvSpPr/>
          <p:nvPr/>
        </p:nvSpPr>
        <p:spPr>
          <a:xfrm>
            <a:off x="1133856" y="822960"/>
            <a:ext cx="1828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Foundation</a:t>
            </a:r>
            <a:endParaRPr lang="en-US" sz="1500" dirty="0"/>
          </a:p>
        </p:txBody>
      </p:sp>
      <p:sp>
        <p:nvSpPr>
          <p:cNvPr id="9" name="Text 7"/>
          <p:cNvSpPr/>
          <p:nvPr/>
        </p:nvSpPr>
        <p:spPr>
          <a:xfrm>
            <a:off x="1133856" y="1188720"/>
            <a:ext cx="1828800" cy="256032"/>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Q1 – Q2 2026</a:t>
            </a:r>
            <a:endParaRPr lang="en-US" sz="1000" dirty="0"/>
          </a:p>
        </p:txBody>
      </p:sp>
      <p:sp>
        <p:nvSpPr>
          <p:cNvPr id="10" name="Text 8"/>
          <p:cNvSpPr/>
          <p:nvPr/>
        </p:nvSpPr>
        <p:spPr>
          <a:xfrm>
            <a:off x="420624" y="1664208"/>
            <a:ext cx="2542032" cy="1938528"/>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Hire core team: Data Engineers + ML Engineers</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Stand up cloud data platform and ML infrastructure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Build FI data pipelines from JH core banking systems</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Establish data governance and model review process</a:t>
            </a:r>
            <a:endParaRPr lang="en-US" sz="1000" dirty="0"/>
          </a:p>
        </p:txBody>
      </p:sp>
      <p:sp>
        <p:nvSpPr>
          <p:cNvPr id="11" name="Shape 9"/>
          <p:cNvSpPr/>
          <p:nvPr/>
        </p:nvSpPr>
        <p:spPr>
          <a:xfrm>
            <a:off x="256032" y="3675888"/>
            <a:ext cx="2816352" cy="237744"/>
          </a:xfrm>
          <a:prstGeom prst="rect">
            <a:avLst/>
          </a:prstGeom>
          <a:solidFill>
            <a:srgbClr val="085CE5">
              <a:alpha val="12000"/>
            </a:srgbClr>
          </a:solidFill>
          <a:ln w="12700">
            <a:solidFill>
              <a:srgbClr val="085CE5">
                <a:alpha val="30000"/>
              </a:srgbClr>
            </a:solidFill>
            <a:prstDash val="solid"/>
          </a:ln>
        </p:spPr>
      </p:sp>
      <p:sp>
        <p:nvSpPr>
          <p:cNvPr id="12" name="Shape 10"/>
          <p:cNvSpPr/>
          <p:nvPr/>
        </p:nvSpPr>
        <p:spPr>
          <a:xfrm>
            <a:off x="256032" y="3675888"/>
            <a:ext cx="54864" cy="237744"/>
          </a:xfrm>
          <a:prstGeom prst="rect">
            <a:avLst/>
          </a:prstGeom>
          <a:solidFill>
            <a:srgbClr val="085CE5"/>
          </a:solidFill>
          <a:ln w="12700">
            <a:solidFill>
              <a:srgbClr val="085CE5"/>
            </a:solidFill>
            <a:prstDash val="solid"/>
          </a:ln>
        </p:spPr>
      </p:sp>
      <p:sp>
        <p:nvSpPr>
          <p:cNvPr id="13" name="Text 11"/>
          <p:cNvSpPr/>
          <p:nvPr/>
        </p:nvSpPr>
        <p:spPr>
          <a:xfrm>
            <a:off x="384048" y="3675888"/>
            <a:ext cx="2651760" cy="237744"/>
          </a:xfrm>
          <a:prstGeom prst="rect">
            <a:avLst/>
          </a:prstGeom>
          <a:noFill/>
          <a:ln/>
        </p:spPr>
        <p:txBody>
          <a:bodyPr wrap="square" lIns="0" tIns="0" rIns="0" bIns="0" rtlCol="0" anchor="ctr"/>
          <a:lstStyle/>
          <a:p>
            <a:pPr indent="0" marL="0">
              <a:buNone/>
            </a:pPr>
            <a:r>
              <a:rPr lang="en-US" sz="750" b="1" spc="50" kern="0" dirty="0">
                <a:solidFill>
                  <a:srgbClr val="085CE5"/>
                </a:solidFill>
                <a:latin typeface="Calibri" pitchFamily="34" charset="0"/>
                <a:ea typeface="Calibri" pitchFamily="34" charset="-122"/>
                <a:cs typeface="Calibri" pitchFamily="34" charset="-120"/>
              </a:rPr>
              <a:t>APPS DELIVERING THIS PHASE</a:t>
            </a:r>
            <a:endParaRPr lang="en-US" sz="750" dirty="0"/>
          </a:p>
        </p:txBody>
      </p:sp>
      <p:sp>
        <p:nvSpPr>
          <p:cNvPr id="14" name="Shape 12"/>
          <p:cNvSpPr/>
          <p:nvPr/>
        </p:nvSpPr>
        <p:spPr>
          <a:xfrm>
            <a:off x="384048" y="3968496"/>
            <a:ext cx="2523744" cy="256032"/>
          </a:xfrm>
          <a:prstGeom prst="rect">
            <a:avLst/>
          </a:prstGeom>
          <a:solidFill>
            <a:srgbClr val="085CE5"/>
          </a:solidFill>
          <a:ln w="12700">
            <a:solidFill>
              <a:srgbClr val="085CE5"/>
            </a:solidFill>
            <a:prstDash val="solid"/>
          </a:ln>
        </p:spPr>
      </p:sp>
      <p:sp>
        <p:nvSpPr>
          <p:cNvPr id="15" name="Shape 13"/>
          <p:cNvSpPr/>
          <p:nvPr/>
        </p:nvSpPr>
        <p:spPr>
          <a:xfrm>
            <a:off x="438912" y="4032504"/>
            <a:ext cx="128016" cy="128016"/>
          </a:xfrm>
          <a:prstGeom prst="ellipse">
            <a:avLst/>
          </a:prstGeom>
          <a:solidFill>
            <a:srgbClr val="FFFFFF">
              <a:alpha val="70000"/>
            </a:srgbClr>
          </a:solidFill>
          <a:ln w="12700">
            <a:solidFill>
              <a:srgbClr val="FFFFFF">
                <a:alpha val="70000"/>
              </a:srgbClr>
            </a:solidFill>
            <a:prstDash val="solid"/>
          </a:ln>
        </p:spPr>
      </p:sp>
      <p:sp>
        <p:nvSpPr>
          <p:cNvPr id="16" name="Text 14"/>
          <p:cNvSpPr/>
          <p:nvPr/>
        </p:nvSpPr>
        <p:spPr>
          <a:xfrm>
            <a:off x="621792" y="3968496"/>
            <a:ext cx="16916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Attrition / Churn Mediation</a:t>
            </a:r>
            <a:endParaRPr lang="en-US" sz="900" dirty="0"/>
          </a:p>
        </p:txBody>
      </p:sp>
      <p:sp>
        <p:nvSpPr>
          <p:cNvPr id="17" name="Shape 15"/>
          <p:cNvSpPr/>
          <p:nvPr/>
        </p:nvSpPr>
        <p:spPr>
          <a:xfrm>
            <a:off x="2167128" y="4005072"/>
            <a:ext cx="749808" cy="182880"/>
          </a:xfrm>
          <a:prstGeom prst="rect">
            <a:avLst/>
          </a:prstGeom>
          <a:solidFill>
            <a:srgbClr val="FFFFFF">
              <a:alpha val="80000"/>
            </a:srgbClr>
          </a:solidFill>
          <a:ln w="12700">
            <a:solidFill>
              <a:srgbClr val="FFFFFF">
                <a:alpha val="60000"/>
              </a:srgbClr>
            </a:solidFill>
            <a:prstDash val="solid"/>
          </a:ln>
        </p:spPr>
      </p:sp>
      <p:sp>
        <p:nvSpPr>
          <p:cNvPr id="18" name="Text 16"/>
          <p:cNvSpPr/>
          <p:nvPr/>
        </p:nvSpPr>
        <p:spPr>
          <a:xfrm>
            <a:off x="2167128" y="4005072"/>
            <a:ext cx="74980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MVP</a:t>
            </a:r>
            <a:endParaRPr lang="en-US" sz="750" dirty="0"/>
          </a:p>
        </p:txBody>
      </p:sp>
      <p:sp>
        <p:nvSpPr>
          <p:cNvPr id="19" name="Shape 17"/>
          <p:cNvSpPr/>
          <p:nvPr/>
        </p:nvSpPr>
        <p:spPr>
          <a:xfrm>
            <a:off x="3200400" y="749808"/>
            <a:ext cx="2816352" cy="41330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20" name="Shape 18"/>
          <p:cNvSpPr/>
          <p:nvPr/>
        </p:nvSpPr>
        <p:spPr>
          <a:xfrm>
            <a:off x="3200400" y="749808"/>
            <a:ext cx="2816352" cy="804672"/>
          </a:xfrm>
          <a:prstGeom prst="rect">
            <a:avLst/>
          </a:prstGeom>
          <a:solidFill>
            <a:srgbClr val="073FA8"/>
          </a:solidFill>
          <a:ln w="12700">
            <a:solidFill>
              <a:srgbClr val="073FA8"/>
            </a:solidFill>
            <a:prstDash val="solid"/>
          </a:ln>
        </p:spPr>
      </p:sp>
      <p:sp>
        <p:nvSpPr>
          <p:cNvPr id="21" name="Text 19"/>
          <p:cNvSpPr/>
          <p:nvPr/>
        </p:nvSpPr>
        <p:spPr>
          <a:xfrm>
            <a:off x="3310128" y="804672"/>
            <a:ext cx="621792" cy="658368"/>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02</a:t>
            </a:r>
            <a:endParaRPr lang="en-US" sz="3600" dirty="0"/>
          </a:p>
        </p:txBody>
      </p:sp>
      <p:sp>
        <p:nvSpPr>
          <p:cNvPr id="22" name="Shape 20"/>
          <p:cNvSpPr/>
          <p:nvPr/>
        </p:nvSpPr>
        <p:spPr>
          <a:xfrm>
            <a:off x="3968496" y="896112"/>
            <a:ext cx="36576" cy="475488"/>
          </a:xfrm>
          <a:prstGeom prst="rect">
            <a:avLst/>
          </a:prstGeom>
          <a:solidFill>
            <a:srgbClr val="FFFFFF">
              <a:alpha val="60000"/>
            </a:srgbClr>
          </a:solidFill>
          <a:ln w="12700">
            <a:solidFill>
              <a:srgbClr val="FFFFFF">
                <a:alpha val="60000"/>
              </a:srgbClr>
            </a:solidFill>
            <a:prstDash val="solid"/>
          </a:ln>
        </p:spPr>
      </p:sp>
      <p:sp>
        <p:nvSpPr>
          <p:cNvPr id="23" name="Text 21"/>
          <p:cNvSpPr/>
          <p:nvPr/>
        </p:nvSpPr>
        <p:spPr>
          <a:xfrm>
            <a:off x="4078224" y="822960"/>
            <a:ext cx="1828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Core Applications</a:t>
            </a:r>
            <a:endParaRPr lang="en-US" sz="1500" dirty="0"/>
          </a:p>
        </p:txBody>
      </p:sp>
      <p:sp>
        <p:nvSpPr>
          <p:cNvPr id="24" name="Text 22"/>
          <p:cNvSpPr/>
          <p:nvPr/>
        </p:nvSpPr>
        <p:spPr>
          <a:xfrm>
            <a:off x="4078224" y="1188720"/>
            <a:ext cx="1828800" cy="256032"/>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Q2 – Q4 2026</a:t>
            </a:r>
            <a:endParaRPr lang="en-US" sz="1000" dirty="0"/>
          </a:p>
        </p:txBody>
      </p:sp>
      <p:sp>
        <p:nvSpPr>
          <p:cNvPr id="25" name="Text 23"/>
          <p:cNvSpPr/>
          <p:nvPr/>
        </p:nvSpPr>
        <p:spPr>
          <a:xfrm>
            <a:off x="3364992" y="1664208"/>
            <a:ext cx="2542032" cy="1938528"/>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MLOps pipeline + streaming anomaly engine live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Payments data integration (Zelle / ACH / Card)</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Exec dashboards + FI banker score explorer</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Call Report AI full CU client base rollout</a:t>
            </a:r>
            <a:endParaRPr lang="en-US" sz="1000" dirty="0"/>
          </a:p>
        </p:txBody>
      </p:sp>
      <p:sp>
        <p:nvSpPr>
          <p:cNvPr id="26" name="Shape 24"/>
          <p:cNvSpPr/>
          <p:nvPr/>
        </p:nvSpPr>
        <p:spPr>
          <a:xfrm>
            <a:off x="3200400" y="3675888"/>
            <a:ext cx="2816352" cy="237744"/>
          </a:xfrm>
          <a:prstGeom prst="rect">
            <a:avLst/>
          </a:prstGeom>
          <a:solidFill>
            <a:srgbClr val="073FA8">
              <a:alpha val="12000"/>
            </a:srgbClr>
          </a:solidFill>
          <a:ln w="12700">
            <a:solidFill>
              <a:srgbClr val="073FA8">
                <a:alpha val="30000"/>
              </a:srgbClr>
            </a:solidFill>
            <a:prstDash val="solid"/>
          </a:ln>
        </p:spPr>
      </p:sp>
      <p:sp>
        <p:nvSpPr>
          <p:cNvPr id="27" name="Shape 25"/>
          <p:cNvSpPr/>
          <p:nvPr/>
        </p:nvSpPr>
        <p:spPr>
          <a:xfrm>
            <a:off x="3200400" y="3675888"/>
            <a:ext cx="54864" cy="237744"/>
          </a:xfrm>
          <a:prstGeom prst="rect">
            <a:avLst/>
          </a:prstGeom>
          <a:solidFill>
            <a:srgbClr val="073FA8"/>
          </a:solidFill>
          <a:ln w="12700">
            <a:solidFill>
              <a:srgbClr val="073FA8"/>
            </a:solidFill>
            <a:prstDash val="solid"/>
          </a:ln>
        </p:spPr>
      </p:sp>
      <p:sp>
        <p:nvSpPr>
          <p:cNvPr id="28" name="Text 26"/>
          <p:cNvSpPr/>
          <p:nvPr/>
        </p:nvSpPr>
        <p:spPr>
          <a:xfrm>
            <a:off x="3328416" y="3675888"/>
            <a:ext cx="2651760" cy="237744"/>
          </a:xfrm>
          <a:prstGeom prst="rect">
            <a:avLst/>
          </a:prstGeom>
          <a:noFill/>
          <a:ln/>
        </p:spPr>
        <p:txBody>
          <a:bodyPr wrap="square" lIns="0" tIns="0" rIns="0" bIns="0" rtlCol="0" anchor="ctr"/>
          <a:lstStyle/>
          <a:p>
            <a:pPr indent="0" marL="0">
              <a:buNone/>
            </a:pPr>
            <a:r>
              <a:rPr lang="en-US" sz="750" b="1" spc="50" kern="0" dirty="0">
                <a:solidFill>
                  <a:srgbClr val="073FA8"/>
                </a:solidFill>
                <a:latin typeface="Calibri" pitchFamily="34" charset="0"/>
                <a:ea typeface="Calibri" pitchFamily="34" charset="-122"/>
                <a:cs typeface="Calibri" pitchFamily="34" charset="-120"/>
              </a:rPr>
              <a:t>APPS DELIVERING THIS PHASE</a:t>
            </a:r>
            <a:endParaRPr lang="en-US" sz="750" dirty="0"/>
          </a:p>
        </p:txBody>
      </p:sp>
      <p:sp>
        <p:nvSpPr>
          <p:cNvPr id="29" name="Shape 27"/>
          <p:cNvSpPr/>
          <p:nvPr/>
        </p:nvSpPr>
        <p:spPr>
          <a:xfrm>
            <a:off x="3328416" y="3968496"/>
            <a:ext cx="2523744" cy="256032"/>
          </a:xfrm>
          <a:prstGeom prst="rect">
            <a:avLst/>
          </a:prstGeom>
          <a:solidFill>
            <a:srgbClr val="073FA8"/>
          </a:solidFill>
          <a:ln w="12700">
            <a:solidFill>
              <a:srgbClr val="073FA8"/>
            </a:solidFill>
            <a:prstDash val="solid"/>
          </a:ln>
        </p:spPr>
      </p:sp>
      <p:sp>
        <p:nvSpPr>
          <p:cNvPr id="30" name="Shape 28"/>
          <p:cNvSpPr/>
          <p:nvPr/>
        </p:nvSpPr>
        <p:spPr>
          <a:xfrm>
            <a:off x="3383280" y="4032504"/>
            <a:ext cx="128016" cy="128016"/>
          </a:xfrm>
          <a:prstGeom prst="ellipse">
            <a:avLst/>
          </a:prstGeom>
          <a:solidFill>
            <a:srgbClr val="FFFFFF">
              <a:alpha val="70000"/>
            </a:srgbClr>
          </a:solidFill>
          <a:ln w="12700">
            <a:solidFill>
              <a:srgbClr val="FFFFFF">
                <a:alpha val="70000"/>
              </a:srgbClr>
            </a:solidFill>
            <a:prstDash val="solid"/>
          </a:ln>
        </p:spPr>
      </p:sp>
      <p:sp>
        <p:nvSpPr>
          <p:cNvPr id="31" name="Text 29"/>
          <p:cNvSpPr/>
          <p:nvPr/>
        </p:nvSpPr>
        <p:spPr>
          <a:xfrm>
            <a:off x="3566160" y="3968496"/>
            <a:ext cx="223113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Anomaly Detection</a:t>
            </a:r>
            <a:endParaRPr lang="en-US" sz="900" dirty="0"/>
          </a:p>
        </p:txBody>
      </p:sp>
      <p:sp>
        <p:nvSpPr>
          <p:cNvPr id="32" name="Shape 30"/>
          <p:cNvSpPr/>
          <p:nvPr/>
        </p:nvSpPr>
        <p:spPr>
          <a:xfrm>
            <a:off x="3328416" y="4297680"/>
            <a:ext cx="2523744" cy="256032"/>
          </a:xfrm>
          <a:prstGeom prst="rect">
            <a:avLst/>
          </a:prstGeom>
          <a:solidFill>
            <a:srgbClr val="06185F"/>
          </a:solidFill>
          <a:ln w="12700">
            <a:solidFill>
              <a:srgbClr val="06185F"/>
            </a:solidFill>
            <a:prstDash val="solid"/>
          </a:ln>
        </p:spPr>
      </p:sp>
      <p:sp>
        <p:nvSpPr>
          <p:cNvPr id="33" name="Shape 31"/>
          <p:cNvSpPr/>
          <p:nvPr/>
        </p:nvSpPr>
        <p:spPr>
          <a:xfrm>
            <a:off x="3383280" y="4361688"/>
            <a:ext cx="128016" cy="128016"/>
          </a:xfrm>
          <a:prstGeom prst="ellipse">
            <a:avLst/>
          </a:prstGeom>
          <a:solidFill>
            <a:srgbClr val="FFFFFF">
              <a:alpha val="70000"/>
            </a:srgbClr>
          </a:solidFill>
          <a:ln w="12700">
            <a:solidFill>
              <a:srgbClr val="FFFFFF">
                <a:alpha val="70000"/>
              </a:srgbClr>
            </a:solidFill>
            <a:prstDash val="solid"/>
          </a:ln>
        </p:spPr>
      </p:sp>
      <p:sp>
        <p:nvSpPr>
          <p:cNvPr id="34" name="Text 32"/>
          <p:cNvSpPr/>
          <p:nvPr/>
        </p:nvSpPr>
        <p:spPr>
          <a:xfrm>
            <a:off x="3566160" y="4297680"/>
            <a:ext cx="223113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Zelle Memo Intelligence</a:t>
            </a:r>
            <a:endParaRPr lang="en-US" sz="900" dirty="0"/>
          </a:p>
        </p:txBody>
      </p:sp>
      <p:sp>
        <p:nvSpPr>
          <p:cNvPr id="35" name="Shape 33"/>
          <p:cNvSpPr/>
          <p:nvPr/>
        </p:nvSpPr>
        <p:spPr>
          <a:xfrm>
            <a:off x="3328416" y="4626864"/>
            <a:ext cx="2523744" cy="256032"/>
          </a:xfrm>
          <a:prstGeom prst="rect">
            <a:avLst/>
          </a:prstGeom>
          <a:solidFill>
            <a:srgbClr val="575A5D"/>
          </a:solidFill>
          <a:ln w="12700">
            <a:solidFill>
              <a:srgbClr val="575A5D"/>
            </a:solidFill>
            <a:prstDash val="solid"/>
          </a:ln>
        </p:spPr>
      </p:sp>
      <p:sp>
        <p:nvSpPr>
          <p:cNvPr id="36" name="Shape 34"/>
          <p:cNvSpPr/>
          <p:nvPr/>
        </p:nvSpPr>
        <p:spPr>
          <a:xfrm>
            <a:off x="3383280" y="4690872"/>
            <a:ext cx="128016" cy="128016"/>
          </a:xfrm>
          <a:prstGeom prst="ellipse">
            <a:avLst/>
          </a:prstGeom>
          <a:solidFill>
            <a:srgbClr val="FFFFFF">
              <a:alpha val="70000"/>
            </a:srgbClr>
          </a:solidFill>
          <a:ln w="12700">
            <a:solidFill>
              <a:srgbClr val="FFFFFF">
                <a:alpha val="70000"/>
              </a:srgbClr>
            </a:solidFill>
            <a:prstDash val="solid"/>
          </a:ln>
        </p:spPr>
      </p:sp>
      <p:sp>
        <p:nvSpPr>
          <p:cNvPr id="37" name="Text 35"/>
          <p:cNvSpPr/>
          <p:nvPr/>
        </p:nvSpPr>
        <p:spPr>
          <a:xfrm>
            <a:off x="3566160" y="4626864"/>
            <a:ext cx="16916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Call Report AI</a:t>
            </a:r>
            <a:endParaRPr lang="en-US" sz="900" dirty="0"/>
          </a:p>
        </p:txBody>
      </p:sp>
      <p:sp>
        <p:nvSpPr>
          <p:cNvPr id="38" name="Shape 36"/>
          <p:cNvSpPr/>
          <p:nvPr/>
        </p:nvSpPr>
        <p:spPr>
          <a:xfrm>
            <a:off x="5111496" y="4663440"/>
            <a:ext cx="749808" cy="182880"/>
          </a:xfrm>
          <a:prstGeom prst="rect">
            <a:avLst/>
          </a:prstGeom>
          <a:solidFill>
            <a:srgbClr val="FFFFFF">
              <a:alpha val="80000"/>
            </a:srgbClr>
          </a:solidFill>
          <a:ln w="12700">
            <a:solidFill>
              <a:srgbClr val="FFFFFF">
                <a:alpha val="60000"/>
              </a:srgbClr>
            </a:solidFill>
            <a:prstDash val="solid"/>
          </a:ln>
        </p:spPr>
      </p:sp>
      <p:sp>
        <p:nvSpPr>
          <p:cNvPr id="39" name="Text 37"/>
          <p:cNvSpPr/>
          <p:nvPr/>
        </p:nvSpPr>
        <p:spPr>
          <a:xfrm>
            <a:off x="5111496" y="4663440"/>
            <a:ext cx="74980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Aug/Sept '26</a:t>
            </a:r>
            <a:endParaRPr lang="en-US" sz="750" dirty="0"/>
          </a:p>
        </p:txBody>
      </p:sp>
      <p:sp>
        <p:nvSpPr>
          <p:cNvPr id="40" name="Shape 38"/>
          <p:cNvSpPr/>
          <p:nvPr/>
        </p:nvSpPr>
        <p:spPr>
          <a:xfrm>
            <a:off x="6144768" y="749808"/>
            <a:ext cx="2816352" cy="4133088"/>
          </a:xfrm>
          <a:prstGeom prst="rect">
            <a:avLst/>
          </a:prstGeom>
          <a:solidFill>
            <a:srgbClr val="FFFFFF"/>
          </a:solidFill>
          <a:ln w="12700">
            <a:solidFill>
              <a:srgbClr val="E7ECF0"/>
            </a:solidFill>
            <a:prstDash val="solid"/>
          </a:ln>
          <a:effectLst>
            <a:outerShdw sx="100000" sy="100000" kx="0" ky="0" algn="bl" rotWithShape="0" blurRad="101600" dist="38100" dir="8100000">
              <a:srgbClr val="000000">
                <a:alpha val="10000"/>
              </a:srgbClr>
            </a:outerShdw>
          </a:effectLst>
        </p:spPr>
      </p:sp>
      <p:sp>
        <p:nvSpPr>
          <p:cNvPr id="41" name="Shape 39"/>
          <p:cNvSpPr/>
          <p:nvPr/>
        </p:nvSpPr>
        <p:spPr>
          <a:xfrm>
            <a:off x="6144768" y="749808"/>
            <a:ext cx="2816352" cy="804672"/>
          </a:xfrm>
          <a:prstGeom prst="rect">
            <a:avLst/>
          </a:prstGeom>
          <a:solidFill>
            <a:srgbClr val="575A5D"/>
          </a:solidFill>
          <a:ln w="12700">
            <a:solidFill>
              <a:srgbClr val="575A5D"/>
            </a:solidFill>
            <a:prstDash val="solid"/>
          </a:ln>
        </p:spPr>
      </p:sp>
      <p:sp>
        <p:nvSpPr>
          <p:cNvPr id="42" name="Text 40"/>
          <p:cNvSpPr/>
          <p:nvPr/>
        </p:nvSpPr>
        <p:spPr>
          <a:xfrm>
            <a:off x="6254496" y="804672"/>
            <a:ext cx="621792" cy="658368"/>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03</a:t>
            </a:r>
            <a:endParaRPr lang="en-US" sz="3600" dirty="0"/>
          </a:p>
        </p:txBody>
      </p:sp>
      <p:sp>
        <p:nvSpPr>
          <p:cNvPr id="43" name="Shape 41"/>
          <p:cNvSpPr/>
          <p:nvPr/>
        </p:nvSpPr>
        <p:spPr>
          <a:xfrm>
            <a:off x="6912864" y="896112"/>
            <a:ext cx="36576" cy="475488"/>
          </a:xfrm>
          <a:prstGeom prst="rect">
            <a:avLst/>
          </a:prstGeom>
          <a:solidFill>
            <a:srgbClr val="FFFFFF">
              <a:alpha val="60000"/>
            </a:srgbClr>
          </a:solidFill>
          <a:ln w="12700">
            <a:solidFill>
              <a:srgbClr val="FFFFFF">
                <a:alpha val="60000"/>
              </a:srgbClr>
            </a:solidFill>
            <a:prstDash val="solid"/>
          </a:ln>
        </p:spPr>
      </p:sp>
      <p:sp>
        <p:nvSpPr>
          <p:cNvPr id="44" name="Text 42"/>
          <p:cNvSpPr/>
          <p:nvPr/>
        </p:nvSpPr>
        <p:spPr>
          <a:xfrm>
            <a:off x="7022592" y="822960"/>
            <a:ext cx="1828800" cy="3474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Scale &amp; Expand</a:t>
            </a:r>
            <a:endParaRPr lang="en-US" sz="1500" dirty="0"/>
          </a:p>
        </p:txBody>
      </p:sp>
      <p:sp>
        <p:nvSpPr>
          <p:cNvPr id="45" name="Text 43"/>
          <p:cNvSpPr/>
          <p:nvPr/>
        </p:nvSpPr>
        <p:spPr>
          <a:xfrm>
            <a:off x="7022592" y="1188720"/>
            <a:ext cx="1828800" cy="256032"/>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Q1 – Q4 2027</a:t>
            </a:r>
            <a:endParaRPr lang="en-US" sz="1000" dirty="0"/>
          </a:p>
        </p:txBody>
      </p:sp>
      <p:sp>
        <p:nvSpPr>
          <p:cNvPr id="46" name="Text 44"/>
          <p:cNvSpPr/>
          <p:nvPr/>
        </p:nvSpPr>
        <p:spPr>
          <a:xfrm>
            <a:off x="6309360" y="1664208"/>
            <a:ext cx="2542032" cy="1938528"/>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Account Opening LTV into JH onboarding flow</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FI Decision Studio: AutoML platform GA release</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Core + Payments data modules activated</a:t>
            </a:r>
            <a:endParaRPr lang="en-US" sz="1000" dirty="0"/>
          </a:p>
          <a:p>
            <a:pPr marL="342900" indent="-342900">
              <a:spcAft>
                <a:spcPts val="800"/>
              </a:spcAft>
              <a:buSzPct val="100000"/>
              <a:buChar char="•"/>
            </a:pPr>
            <a:r>
              <a:rPr lang="en-US" sz="1000" dirty="0">
                <a:solidFill>
                  <a:srgbClr val="575A5D"/>
                </a:solidFill>
                <a:latin typeface="Calibri" pitchFamily="34" charset="0"/>
                <a:ea typeface="Calibri" pitchFamily="34" charset="-122"/>
                <a:cs typeface="Calibri" pitchFamily="34" charset="-120"/>
              </a:rPr>
              <a:t>Horizon apps: Cross-Sell, Overdraft, Sentiment (pilot)</a:t>
            </a:r>
            <a:endParaRPr lang="en-US" sz="1000" dirty="0"/>
          </a:p>
        </p:txBody>
      </p:sp>
      <p:sp>
        <p:nvSpPr>
          <p:cNvPr id="47" name="Shape 45"/>
          <p:cNvSpPr/>
          <p:nvPr/>
        </p:nvSpPr>
        <p:spPr>
          <a:xfrm>
            <a:off x="6144768" y="3675888"/>
            <a:ext cx="2816352" cy="237744"/>
          </a:xfrm>
          <a:prstGeom prst="rect">
            <a:avLst/>
          </a:prstGeom>
          <a:solidFill>
            <a:srgbClr val="575A5D">
              <a:alpha val="12000"/>
            </a:srgbClr>
          </a:solidFill>
          <a:ln w="12700">
            <a:solidFill>
              <a:srgbClr val="575A5D">
                <a:alpha val="30000"/>
              </a:srgbClr>
            </a:solidFill>
            <a:prstDash val="solid"/>
          </a:ln>
        </p:spPr>
      </p:sp>
      <p:sp>
        <p:nvSpPr>
          <p:cNvPr id="48" name="Shape 46"/>
          <p:cNvSpPr/>
          <p:nvPr/>
        </p:nvSpPr>
        <p:spPr>
          <a:xfrm>
            <a:off x="6144768" y="3675888"/>
            <a:ext cx="54864" cy="237744"/>
          </a:xfrm>
          <a:prstGeom prst="rect">
            <a:avLst/>
          </a:prstGeom>
          <a:solidFill>
            <a:srgbClr val="575A5D"/>
          </a:solidFill>
          <a:ln w="12700">
            <a:solidFill>
              <a:srgbClr val="575A5D"/>
            </a:solidFill>
            <a:prstDash val="solid"/>
          </a:ln>
        </p:spPr>
      </p:sp>
      <p:sp>
        <p:nvSpPr>
          <p:cNvPr id="49" name="Text 47"/>
          <p:cNvSpPr/>
          <p:nvPr/>
        </p:nvSpPr>
        <p:spPr>
          <a:xfrm>
            <a:off x="6272784" y="3675888"/>
            <a:ext cx="2651760" cy="237744"/>
          </a:xfrm>
          <a:prstGeom prst="rect">
            <a:avLst/>
          </a:prstGeom>
          <a:noFill/>
          <a:ln/>
        </p:spPr>
        <p:txBody>
          <a:bodyPr wrap="square" lIns="0" tIns="0" rIns="0" bIns="0" rtlCol="0" anchor="ctr"/>
          <a:lstStyle/>
          <a:p>
            <a:pPr indent="0" marL="0">
              <a:buNone/>
            </a:pPr>
            <a:r>
              <a:rPr lang="en-US" sz="750" b="1" spc="50" kern="0" dirty="0">
                <a:solidFill>
                  <a:srgbClr val="575A5D"/>
                </a:solidFill>
                <a:latin typeface="Calibri" pitchFamily="34" charset="0"/>
                <a:ea typeface="Calibri" pitchFamily="34" charset="-122"/>
                <a:cs typeface="Calibri" pitchFamily="34" charset="-120"/>
              </a:rPr>
              <a:t>APPS DELIVERING THIS PHASE</a:t>
            </a:r>
            <a:endParaRPr lang="en-US" sz="750" dirty="0"/>
          </a:p>
        </p:txBody>
      </p:sp>
      <p:sp>
        <p:nvSpPr>
          <p:cNvPr id="50" name="Shape 48"/>
          <p:cNvSpPr/>
          <p:nvPr/>
        </p:nvSpPr>
        <p:spPr>
          <a:xfrm>
            <a:off x="6272784" y="3968496"/>
            <a:ext cx="2523744" cy="256032"/>
          </a:xfrm>
          <a:prstGeom prst="rect">
            <a:avLst/>
          </a:prstGeom>
          <a:solidFill>
            <a:srgbClr val="0B68D4"/>
          </a:solidFill>
          <a:ln w="12700">
            <a:solidFill>
              <a:srgbClr val="0B68D4"/>
            </a:solidFill>
            <a:prstDash val="solid"/>
          </a:ln>
        </p:spPr>
      </p:sp>
      <p:sp>
        <p:nvSpPr>
          <p:cNvPr id="51" name="Shape 49"/>
          <p:cNvSpPr/>
          <p:nvPr/>
        </p:nvSpPr>
        <p:spPr>
          <a:xfrm>
            <a:off x="6327648" y="4032504"/>
            <a:ext cx="128016" cy="128016"/>
          </a:xfrm>
          <a:prstGeom prst="ellipse">
            <a:avLst/>
          </a:prstGeom>
          <a:solidFill>
            <a:srgbClr val="FFFFFF">
              <a:alpha val="70000"/>
            </a:srgbClr>
          </a:solidFill>
          <a:ln w="12700">
            <a:solidFill>
              <a:srgbClr val="FFFFFF">
                <a:alpha val="70000"/>
              </a:srgbClr>
            </a:solidFill>
            <a:prstDash val="solid"/>
          </a:ln>
        </p:spPr>
      </p:sp>
      <p:sp>
        <p:nvSpPr>
          <p:cNvPr id="52" name="Text 50"/>
          <p:cNvSpPr/>
          <p:nvPr/>
        </p:nvSpPr>
        <p:spPr>
          <a:xfrm>
            <a:off x="6510528" y="3968496"/>
            <a:ext cx="2231136"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Account Opening LTV</a:t>
            </a:r>
            <a:endParaRPr lang="en-US" sz="900" dirty="0"/>
          </a:p>
        </p:txBody>
      </p:sp>
      <p:sp>
        <p:nvSpPr>
          <p:cNvPr id="53" name="Shape 51"/>
          <p:cNvSpPr/>
          <p:nvPr/>
        </p:nvSpPr>
        <p:spPr>
          <a:xfrm>
            <a:off x="6272784" y="4297680"/>
            <a:ext cx="2523744" cy="256032"/>
          </a:xfrm>
          <a:prstGeom prst="rect">
            <a:avLst/>
          </a:prstGeom>
          <a:solidFill>
            <a:srgbClr val="0D2E7A"/>
          </a:solidFill>
          <a:ln w="12700">
            <a:solidFill>
              <a:srgbClr val="0D2E7A"/>
            </a:solidFill>
            <a:prstDash val="solid"/>
          </a:ln>
        </p:spPr>
      </p:sp>
      <p:sp>
        <p:nvSpPr>
          <p:cNvPr id="54" name="Shape 52"/>
          <p:cNvSpPr/>
          <p:nvPr/>
        </p:nvSpPr>
        <p:spPr>
          <a:xfrm>
            <a:off x="6327648" y="4361688"/>
            <a:ext cx="128016" cy="128016"/>
          </a:xfrm>
          <a:prstGeom prst="ellipse">
            <a:avLst/>
          </a:prstGeom>
          <a:solidFill>
            <a:srgbClr val="FFFFFF">
              <a:alpha val="70000"/>
            </a:srgbClr>
          </a:solidFill>
          <a:ln w="12700">
            <a:solidFill>
              <a:srgbClr val="FFFFFF">
                <a:alpha val="70000"/>
              </a:srgbClr>
            </a:solidFill>
            <a:prstDash val="solid"/>
          </a:ln>
        </p:spPr>
      </p:sp>
      <p:sp>
        <p:nvSpPr>
          <p:cNvPr id="55" name="Text 53"/>
          <p:cNvSpPr/>
          <p:nvPr/>
        </p:nvSpPr>
        <p:spPr>
          <a:xfrm>
            <a:off x="6510528" y="4297680"/>
            <a:ext cx="16916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FI Decision Studio</a:t>
            </a:r>
            <a:endParaRPr lang="en-US" sz="900" dirty="0"/>
          </a:p>
        </p:txBody>
      </p:sp>
      <p:sp>
        <p:nvSpPr>
          <p:cNvPr id="56" name="Shape 54"/>
          <p:cNvSpPr/>
          <p:nvPr/>
        </p:nvSpPr>
        <p:spPr>
          <a:xfrm>
            <a:off x="8055864" y="4334256"/>
            <a:ext cx="749808" cy="182880"/>
          </a:xfrm>
          <a:prstGeom prst="rect">
            <a:avLst/>
          </a:prstGeom>
          <a:solidFill>
            <a:srgbClr val="FFFFFF">
              <a:alpha val="80000"/>
            </a:srgbClr>
          </a:solidFill>
          <a:ln w="12700">
            <a:solidFill>
              <a:srgbClr val="FFFFFF">
                <a:alpha val="60000"/>
              </a:srgbClr>
            </a:solidFill>
            <a:prstDash val="solid"/>
          </a:ln>
        </p:spPr>
      </p:sp>
      <p:sp>
        <p:nvSpPr>
          <p:cNvPr id="57" name="Text 55"/>
          <p:cNvSpPr/>
          <p:nvPr/>
        </p:nvSpPr>
        <p:spPr>
          <a:xfrm>
            <a:off x="8055864" y="4334256"/>
            <a:ext cx="74980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Platform</a:t>
            </a:r>
            <a:endParaRPr lang="en-US" sz="750" dirty="0"/>
          </a:p>
        </p:txBody>
      </p:sp>
      <p:sp>
        <p:nvSpPr>
          <p:cNvPr id="58" name="Shape 56"/>
          <p:cNvSpPr/>
          <p:nvPr/>
        </p:nvSpPr>
        <p:spPr>
          <a:xfrm>
            <a:off x="6272784" y="4626864"/>
            <a:ext cx="2523744" cy="256032"/>
          </a:xfrm>
          <a:prstGeom prst="rect">
            <a:avLst/>
          </a:prstGeom>
          <a:solidFill>
            <a:srgbClr val="073FA8"/>
          </a:solidFill>
          <a:ln w="12700">
            <a:solidFill>
              <a:srgbClr val="073FA8"/>
            </a:solidFill>
            <a:prstDash val="solid"/>
          </a:ln>
        </p:spPr>
      </p:sp>
      <p:sp>
        <p:nvSpPr>
          <p:cNvPr id="59" name="Shape 57"/>
          <p:cNvSpPr/>
          <p:nvPr/>
        </p:nvSpPr>
        <p:spPr>
          <a:xfrm>
            <a:off x="6327648" y="4690872"/>
            <a:ext cx="128016" cy="128016"/>
          </a:xfrm>
          <a:prstGeom prst="ellipse">
            <a:avLst/>
          </a:prstGeom>
          <a:solidFill>
            <a:srgbClr val="FFFFFF">
              <a:alpha val="70000"/>
            </a:srgbClr>
          </a:solidFill>
          <a:ln w="12700">
            <a:solidFill>
              <a:srgbClr val="FFFFFF">
                <a:alpha val="70000"/>
              </a:srgbClr>
            </a:solidFill>
            <a:prstDash val="solid"/>
          </a:ln>
        </p:spPr>
      </p:sp>
      <p:sp>
        <p:nvSpPr>
          <p:cNvPr id="60" name="Text 58"/>
          <p:cNvSpPr/>
          <p:nvPr/>
        </p:nvSpPr>
        <p:spPr>
          <a:xfrm>
            <a:off x="6510528" y="4626864"/>
            <a:ext cx="1691640" cy="25603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 Horizon Pipeline</a:t>
            </a:r>
            <a:endParaRPr lang="en-US" sz="900" dirty="0"/>
          </a:p>
        </p:txBody>
      </p:sp>
      <p:sp>
        <p:nvSpPr>
          <p:cNvPr id="61" name="Shape 59"/>
          <p:cNvSpPr/>
          <p:nvPr/>
        </p:nvSpPr>
        <p:spPr>
          <a:xfrm>
            <a:off x="8055864" y="4663440"/>
            <a:ext cx="749808" cy="182880"/>
          </a:xfrm>
          <a:prstGeom prst="rect">
            <a:avLst/>
          </a:prstGeom>
          <a:solidFill>
            <a:srgbClr val="FFFFFF">
              <a:alpha val="80000"/>
            </a:srgbClr>
          </a:solidFill>
          <a:ln w="12700">
            <a:solidFill>
              <a:srgbClr val="FFFFFF">
                <a:alpha val="60000"/>
              </a:srgbClr>
            </a:solidFill>
            <a:prstDash val="solid"/>
          </a:ln>
        </p:spPr>
      </p:sp>
      <p:sp>
        <p:nvSpPr>
          <p:cNvPr id="62" name="Text 60"/>
          <p:cNvSpPr/>
          <p:nvPr/>
        </p:nvSpPr>
        <p:spPr>
          <a:xfrm>
            <a:off x="8055864" y="4663440"/>
            <a:ext cx="749808"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Pilot</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185F"/>
        </a:solidFill>
      </p:bgPr>
    </p:bg>
    <p:spTree>
      <p:nvGrpSpPr>
        <p:cNvPr id="1" name=""/>
        <p:cNvGrpSpPr/>
        <p:nvPr/>
      </p:nvGrpSpPr>
      <p:grpSpPr>
        <a:xfrm>
          <a:off x="0" y="0"/>
          <a:ext cx="0" cy="0"/>
          <a:chOff x="0" y="0"/>
          <a:chExt cx="0" cy="0"/>
        </a:xfrm>
      </p:grpSpPr>
      <p:sp>
        <p:nvSpPr>
          <p:cNvPr id="2" name="Shape 0"/>
          <p:cNvSpPr/>
          <p:nvPr/>
        </p:nvSpPr>
        <p:spPr>
          <a:xfrm>
            <a:off x="5029200" y="-1828800"/>
            <a:ext cx="6858000" cy="6858000"/>
          </a:xfrm>
          <a:prstGeom prst="ellipse">
            <a:avLst/>
          </a:prstGeom>
          <a:solidFill>
            <a:srgbClr val="085CE5">
              <a:alpha val="10000"/>
            </a:srgbClr>
          </a:solidFill>
          <a:ln w="12700">
            <a:solidFill>
              <a:srgbClr val="085CE5">
                <a:alpha val="18000"/>
              </a:srgbClr>
            </a:solidFill>
            <a:prstDash val="solid"/>
          </a:ln>
        </p:spPr>
      </p:sp>
      <p:sp>
        <p:nvSpPr>
          <p:cNvPr id="3" name="Shape 1"/>
          <p:cNvSpPr/>
          <p:nvPr/>
        </p:nvSpPr>
        <p:spPr>
          <a:xfrm>
            <a:off x="6400800" y="1097280"/>
            <a:ext cx="3657600" cy="3657600"/>
          </a:xfrm>
          <a:prstGeom prst="ellipse">
            <a:avLst/>
          </a:prstGeom>
          <a:solidFill>
            <a:srgbClr val="76DCFD">
              <a:alpha val="10000"/>
            </a:srgbClr>
          </a:solidFill>
          <a:ln w="12700">
            <a:solidFill>
              <a:srgbClr val="76DCFD">
                <a:alpha val="18000"/>
              </a:srgbClr>
            </a:solidFill>
            <a:prstDash val="solid"/>
          </a:ln>
        </p:spPr>
      </p:sp>
      <p:sp>
        <p:nvSpPr>
          <p:cNvPr id="4" name="Shape 2"/>
          <p:cNvSpPr/>
          <p:nvPr/>
        </p:nvSpPr>
        <p:spPr>
          <a:xfrm>
            <a:off x="0" y="0"/>
            <a:ext cx="137160" cy="5143500"/>
          </a:xfrm>
          <a:prstGeom prst="rect">
            <a:avLst/>
          </a:prstGeom>
          <a:solidFill>
            <a:srgbClr val="085CE5"/>
          </a:solidFill>
          <a:ln w="12700">
            <a:solidFill>
              <a:srgbClr val="085CE5"/>
            </a:solidFill>
            <a:prstDash val="solid"/>
          </a:ln>
        </p:spPr>
      </p:sp>
      <p:sp>
        <p:nvSpPr>
          <p:cNvPr id="5" name="Text 3"/>
          <p:cNvSpPr/>
          <p:nvPr/>
        </p:nvSpPr>
        <p:spPr>
          <a:xfrm>
            <a:off x="365760" y="438912"/>
            <a:ext cx="5486400" cy="347472"/>
          </a:xfrm>
          <a:prstGeom prst="rect">
            <a:avLst/>
          </a:prstGeom>
          <a:noFill/>
          <a:ln/>
        </p:spPr>
        <p:txBody>
          <a:bodyPr wrap="square" lIns="0" tIns="0" rIns="0" bIns="0" rtlCol="0" anchor="ctr"/>
          <a:lstStyle/>
          <a:p>
            <a:pPr indent="0" marL="0">
              <a:buNone/>
            </a:pPr>
            <a:r>
              <a:rPr lang="en-US" sz="1100" b="1" spc="400" kern="0" dirty="0">
                <a:solidFill>
                  <a:srgbClr val="76DCFD"/>
                </a:solidFill>
                <a:latin typeface="Calibri" pitchFamily="34" charset="0"/>
                <a:ea typeface="Calibri" pitchFamily="34" charset="-122"/>
                <a:cs typeface="Calibri" pitchFamily="34" charset="-120"/>
              </a:rPr>
              <a:t>NEXT STEPS</a:t>
            </a:r>
            <a:endParaRPr lang="en-US" sz="1100" dirty="0"/>
          </a:p>
        </p:txBody>
      </p:sp>
      <p:sp>
        <p:nvSpPr>
          <p:cNvPr id="6" name="Text 4"/>
          <p:cNvSpPr/>
          <p:nvPr/>
        </p:nvSpPr>
        <p:spPr>
          <a:xfrm>
            <a:off x="365760" y="868680"/>
            <a:ext cx="6583680" cy="13716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Approve the Roadmap.</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Fund the Team.</a:t>
            </a:r>
            <a:endParaRPr lang="en-US" sz="4000" dirty="0"/>
          </a:p>
        </p:txBody>
      </p:sp>
      <p:sp>
        <p:nvSpPr>
          <p:cNvPr id="7" name="Shape 5"/>
          <p:cNvSpPr/>
          <p:nvPr/>
        </p:nvSpPr>
        <p:spPr>
          <a:xfrm>
            <a:off x="365760" y="2386584"/>
            <a:ext cx="329184" cy="329184"/>
          </a:xfrm>
          <a:prstGeom prst="ellipse">
            <a:avLst/>
          </a:prstGeom>
          <a:solidFill>
            <a:srgbClr val="085CE5"/>
          </a:solidFill>
          <a:ln w="12700">
            <a:solidFill>
              <a:srgbClr val="085CE5"/>
            </a:solidFill>
            <a:prstDash val="solid"/>
          </a:ln>
        </p:spPr>
      </p:sp>
      <p:sp>
        <p:nvSpPr>
          <p:cNvPr id="8" name="Text 6"/>
          <p:cNvSpPr/>
          <p:nvPr/>
        </p:nvSpPr>
        <p:spPr>
          <a:xfrm>
            <a:off x="365760" y="23865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04672" y="2432304"/>
            <a:ext cx="5943600" cy="274320"/>
          </a:xfrm>
          <a:prstGeom prst="rect">
            <a:avLst/>
          </a:prstGeom>
          <a:noFill/>
          <a:ln/>
        </p:spPr>
        <p:txBody>
          <a:bodyPr wrap="square" lIns="0" tIns="0" rIns="0" bIns="0" rtlCol="0" anchor="ctr"/>
          <a:lstStyle/>
          <a:p>
            <a:pPr indent="0" marL="0">
              <a:buNone/>
            </a:pPr>
            <a:r>
              <a:rPr lang="en-US" sz="1200" dirty="0">
                <a:solidFill>
                  <a:srgbClr val="E7ECF0"/>
                </a:solidFill>
                <a:latin typeface="Calibri" pitchFamily="34" charset="0"/>
                <a:ea typeface="Calibri" pitchFamily="34" charset="-122"/>
                <a:cs typeface="Calibri" pitchFamily="34" charset="-120"/>
              </a:rPr>
              <a:t>JHBI approves headcount budget and infrastructure allocation for Phase 1</a:t>
            </a:r>
            <a:endParaRPr lang="en-US" sz="1200" dirty="0"/>
          </a:p>
        </p:txBody>
      </p:sp>
      <p:sp>
        <p:nvSpPr>
          <p:cNvPr id="10" name="Shape 8"/>
          <p:cNvSpPr/>
          <p:nvPr/>
        </p:nvSpPr>
        <p:spPr>
          <a:xfrm>
            <a:off x="365760" y="2862072"/>
            <a:ext cx="329184" cy="329184"/>
          </a:xfrm>
          <a:prstGeom prst="ellipse">
            <a:avLst/>
          </a:prstGeom>
          <a:solidFill>
            <a:srgbClr val="085CE5"/>
          </a:solidFill>
          <a:ln w="12700">
            <a:solidFill>
              <a:srgbClr val="085CE5"/>
            </a:solidFill>
            <a:prstDash val="solid"/>
          </a:ln>
        </p:spPr>
      </p:sp>
      <p:sp>
        <p:nvSpPr>
          <p:cNvPr id="11" name="Text 9"/>
          <p:cNvSpPr/>
          <p:nvPr/>
        </p:nvSpPr>
        <p:spPr>
          <a:xfrm>
            <a:off x="365760" y="286207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804672" y="2907792"/>
            <a:ext cx="5943600" cy="274320"/>
          </a:xfrm>
          <a:prstGeom prst="rect">
            <a:avLst/>
          </a:prstGeom>
          <a:noFill/>
          <a:ln/>
        </p:spPr>
        <p:txBody>
          <a:bodyPr wrap="square" lIns="0" tIns="0" rIns="0" bIns="0" rtlCol="0" anchor="ctr"/>
          <a:lstStyle/>
          <a:p>
            <a:pPr indent="0" marL="0">
              <a:buNone/>
            </a:pPr>
            <a:r>
              <a:rPr lang="en-US" sz="1200" dirty="0">
                <a:solidFill>
                  <a:srgbClr val="E7ECF0"/>
                </a:solidFill>
                <a:latin typeface="Calibri" pitchFamily="34" charset="0"/>
                <a:ea typeface="Calibri" pitchFamily="34" charset="-122"/>
                <a:cs typeface="Calibri" pitchFamily="34" charset="-120"/>
              </a:rPr>
              <a:t>DS team begins recruiting: Data Engineers + ML Engineers (Month 1)</a:t>
            </a:r>
            <a:endParaRPr lang="en-US" sz="1200" dirty="0"/>
          </a:p>
        </p:txBody>
      </p:sp>
      <p:sp>
        <p:nvSpPr>
          <p:cNvPr id="13" name="Shape 11"/>
          <p:cNvSpPr/>
          <p:nvPr/>
        </p:nvSpPr>
        <p:spPr>
          <a:xfrm>
            <a:off x="365760" y="3337560"/>
            <a:ext cx="329184" cy="329184"/>
          </a:xfrm>
          <a:prstGeom prst="ellipse">
            <a:avLst/>
          </a:prstGeom>
          <a:solidFill>
            <a:srgbClr val="085CE5"/>
          </a:solidFill>
          <a:ln w="12700">
            <a:solidFill>
              <a:srgbClr val="085CE5"/>
            </a:solidFill>
            <a:prstDash val="solid"/>
          </a:ln>
        </p:spPr>
      </p:sp>
      <p:sp>
        <p:nvSpPr>
          <p:cNvPr id="14" name="Text 12"/>
          <p:cNvSpPr/>
          <p:nvPr/>
        </p:nvSpPr>
        <p:spPr>
          <a:xfrm>
            <a:off x="365760" y="33375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804672" y="3383280"/>
            <a:ext cx="5943600" cy="274320"/>
          </a:xfrm>
          <a:prstGeom prst="rect">
            <a:avLst/>
          </a:prstGeom>
          <a:noFill/>
          <a:ln/>
        </p:spPr>
        <p:txBody>
          <a:bodyPr wrap="square" lIns="0" tIns="0" rIns="0" bIns="0" rtlCol="0" anchor="ctr"/>
          <a:lstStyle/>
          <a:p>
            <a:pPr indent="0" marL="0">
              <a:buNone/>
            </a:pPr>
            <a:r>
              <a:rPr lang="en-US" sz="1200" dirty="0">
                <a:solidFill>
                  <a:srgbClr val="E7ECF0"/>
                </a:solidFill>
                <a:latin typeface="Calibri" pitchFamily="34" charset="0"/>
                <a:ea typeface="Calibri" pitchFamily="34" charset="-122"/>
                <a:cs typeface="Calibri" pitchFamily="34" charset="-120"/>
              </a:rPr>
              <a:t>Cloud platform procurement and ML environment setup (Months 1–2)</a:t>
            </a:r>
            <a:endParaRPr lang="en-US" sz="1200" dirty="0"/>
          </a:p>
        </p:txBody>
      </p:sp>
      <p:sp>
        <p:nvSpPr>
          <p:cNvPr id="16" name="Shape 14"/>
          <p:cNvSpPr/>
          <p:nvPr/>
        </p:nvSpPr>
        <p:spPr>
          <a:xfrm>
            <a:off x="365760" y="3813048"/>
            <a:ext cx="329184" cy="329184"/>
          </a:xfrm>
          <a:prstGeom prst="ellipse">
            <a:avLst/>
          </a:prstGeom>
          <a:solidFill>
            <a:srgbClr val="085CE5"/>
          </a:solidFill>
          <a:ln w="12700">
            <a:solidFill>
              <a:srgbClr val="085CE5"/>
            </a:solidFill>
            <a:prstDash val="solid"/>
          </a:ln>
        </p:spPr>
      </p:sp>
      <p:sp>
        <p:nvSpPr>
          <p:cNvPr id="17" name="Text 15"/>
          <p:cNvSpPr/>
          <p:nvPr/>
        </p:nvSpPr>
        <p:spPr>
          <a:xfrm>
            <a:off x="365760" y="38130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p:nvPr/>
        </p:nvSpPr>
        <p:spPr>
          <a:xfrm>
            <a:off x="804672" y="3858768"/>
            <a:ext cx="5943600" cy="274320"/>
          </a:xfrm>
          <a:prstGeom prst="rect">
            <a:avLst/>
          </a:prstGeom>
          <a:noFill/>
          <a:ln/>
        </p:spPr>
        <p:txBody>
          <a:bodyPr wrap="square" lIns="0" tIns="0" rIns="0" bIns="0" rtlCol="0" anchor="ctr"/>
          <a:lstStyle/>
          <a:p>
            <a:pPr indent="0" marL="0">
              <a:buNone/>
            </a:pPr>
            <a:r>
              <a:rPr lang="en-US" sz="1200" dirty="0">
                <a:solidFill>
                  <a:srgbClr val="E7ECF0"/>
                </a:solidFill>
                <a:latin typeface="Calibri" pitchFamily="34" charset="0"/>
                <a:ea typeface="Calibri" pitchFamily="34" charset="-122"/>
                <a:cs typeface="Calibri" pitchFamily="34" charset="-120"/>
              </a:rPr>
              <a:t>Churn Mediation MVP scoping session + FI data access agreements (Month 2)</a:t>
            </a:r>
            <a:endParaRPr lang="en-US" sz="1200" dirty="0"/>
          </a:p>
        </p:txBody>
      </p:sp>
      <p:sp>
        <p:nvSpPr>
          <p:cNvPr id="19" name="Shape 17"/>
          <p:cNvSpPr/>
          <p:nvPr/>
        </p:nvSpPr>
        <p:spPr>
          <a:xfrm>
            <a:off x="365760" y="4288536"/>
            <a:ext cx="329184" cy="329184"/>
          </a:xfrm>
          <a:prstGeom prst="ellipse">
            <a:avLst/>
          </a:prstGeom>
          <a:solidFill>
            <a:srgbClr val="085CE5"/>
          </a:solidFill>
          <a:ln w="12700">
            <a:solidFill>
              <a:srgbClr val="085CE5"/>
            </a:solidFill>
            <a:prstDash val="solid"/>
          </a:ln>
        </p:spPr>
      </p:sp>
      <p:sp>
        <p:nvSpPr>
          <p:cNvPr id="20" name="Text 18"/>
          <p:cNvSpPr/>
          <p:nvPr/>
        </p:nvSpPr>
        <p:spPr>
          <a:xfrm>
            <a:off x="365760" y="42885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9"/>
          <p:cNvSpPr/>
          <p:nvPr/>
        </p:nvSpPr>
        <p:spPr>
          <a:xfrm>
            <a:off x="804672" y="4334256"/>
            <a:ext cx="5943600" cy="274320"/>
          </a:xfrm>
          <a:prstGeom prst="rect">
            <a:avLst/>
          </a:prstGeom>
          <a:noFill/>
          <a:ln/>
        </p:spPr>
        <p:txBody>
          <a:bodyPr wrap="square" lIns="0" tIns="0" rIns="0" bIns="0" rtlCol="0" anchor="ctr"/>
          <a:lstStyle/>
          <a:p>
            <a:pPr indent="0" marL="0">
              <a:buNone/>
            </a:pPr>
            <a:r>
              <a:rPr lang="en-US" sz="1200" dirty="0">
                <a:solidFill>
                  <a:srgbClr val="E7ECF0"/>
                </a:solidFill>
                <a:latin typeface="Calibri" pitchFamily="34" charset="0"/>
                <a:ea typeface="Calibri" pitchFamily="34" charset="-122"/>
                <a:cs typeface="Calibri" pitchFamily="34" charset="-120"/>
              </a:rPr>
              <a:t>Bi-weekly DS steering committee established for roadmap governance</a:t>
            </a:r>
            <a:endParaRPr lang="en-US" sz="1200" dirty="0"/>
          </a:p>
        </p:txBody>
      </p:sp>
      <p:sp>
        <p:nvSpPr>
          <p:cNvPr id="22" name="Text 20"/>
          <p:cNvSpPr/>
          <p:nvPr/>
        </p:nvSpPr>
        <p:spPr>
          <a:xfrm>
            <a:off x="365760" y="4828032"/>
            <a:ext cx="8229600" cy="237744"/>
          </a:xfrm>
          <a:prstGeom prst="rect">
            <a:avLst/>
          </a:prstGeom>
          <a:noFill/>
          <a:ln/>
        </p:spPr>
        <p:txBody>
          <a:bodyPr wrap="square" lIns="0" tIns="0" rIns="0" bIns="0" rtlCol="0" anchor="ctr"/>
          <a:lstStyle/>
          <a:p>
            <a:pPr indent="0" marL="0">
              <a:buNone/>
            </a:pPr>
            <a:r>
              <a:rPr lang="en-US" sz="950" dirty="0">
                <a:solidFill>
                  <a:srgbClr val="B6BBC0"/>
                </a:solidFill>
                <a:latin typeface="Calibri" pitchFamily="34" charset="0"/>
                <a:ea typeface="Calibri" pitchFamily="34" charset="-122"/>
                <a:cs typeface="Calibri" pitchFamily="34" charset="-120"/>
              </a:rPr>
              <a:t>Powering the Financial World™  |  Jack Henry Data &amp; Analytics Team  |  March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2026-03-31T00:02:59Z</dcterms:created>
  <dcterms:modified xsi:type="dcterms:W3CDTF">2026-03-31T00:02:59Z</dcterms:modified>
</cp:coreProperties>
</file>