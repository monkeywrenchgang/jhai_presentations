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Zelle Memo Intelligence</c:v>
                </c:pt>
              </c:strCache>
            </c:strRef>
          </c:tx>
          <c:spPr>
            <a:solidFill>
              <a:srgbClr val="085CE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Q3 FY26</c:v>
                  </c:pt>
                  <c:pt idx="1">
                    <c:v>Q4 FY26</c:v>
                  </c:pt>
                  <c:pt idx="2">
                    <c:v>Q1 FY27</c:v>
                  </c:pt>
                  <c:pt idx="3">
                    <c:v>Q2 FY27</c:v>
                  </c:pt>
                  <c:pt idx="4">
                    <c:v>Q3 FY27</c:v>
                  </c:pt>
                  <c:pt idx="5">
                    <c:v>Q4 FY27 ★</c:v>
                  </c:pt>
                  <c:pt idx="6">
                    <c:v>Q1 FY28</c:v>
                  </c:pt>
                  <c:pt idx="7">
                    <c:v>Q2 FY28</c:v>
                  </c:pt>
                </c:lvl>
              </c:multiLvlStrCache>
            </c:multiLvlStrRef>
          </c:cat>
          <c:val>
            <c:numRef>
              <c:f>Sheet1!$B$2:$B$9</c:f>
              <c:numCache>
                <c:formatCode>General</c:formatCode>
                <c:ptCount val="8"/>
                <c:pt idx="0">
                  <c:v>0</c:v>
                </c:pt>
                <c:pt idx="1">
                  <c:v>0</c:v>
                </c:pt>
                <c:pt idx="2">
                  <c:v>116.4</c:v>
                </c:pt>
                <c:pt idx="3">
                  <c:v>203.7</c:v>
                </c:pt>
                <c:pt idx="4">
                  <c:v>281.3</c:v>
                </c:pt>
                <c:pt idx="5">
                  <c:v>329.8</c:v>
                </c:pt>
                <c:pt idx="6">
                  <c:v>368.6</c:v>
                </c:pt>
                <c:pt idx="7">
                  <c:v>397.7</c:v>
                </c:pt>
              </c:numCache>
            </c:numRef>
          </c:val>
        </c:ser>
        <c:ser>
          <c:idx val="1"/>
          <c:order val="1"/>
          <c:tx>
            <c:strRef>
              <c:f>Sheet1!$C$1</c:f>
              <c:strCache>
                <c:ptCount val="1"/>
                <c:pt idx="0">
                  <c:v>Churn Sentinel</c:v>
                </c:pt>
              </c:strCache>
            </c:strRef>
          </c:tx>
          <c:spPr>
            <a:solidFill>
              <a:srgbClr val="0618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Q3 FY26</c:v>
                  </c:pt>
                  <c:pt idx="1">
                    <c:v>Q4 FY26</c:v>
                  </c:pt>
                  <c:pt idx="2">
                    <c:v>Q1 FY27</c:v>
                  </c:pt>
                  <c:pt idx="3">
                    <c:v>Q2 FY27</c:v>
                  </c:pt>
                  <c:pt idx="4">
                    <c:v>Q3 FY27</c:v>
                  </c:pt>
                  <c:pt idx="5">
                    <c:v>Q4 FY27 ★</c:v>
                  </c:pt>
                  <c:pt idx="6">
                    <c:v>Q1 FY28</c:v>
                  </c:pt>
                  <c:pt idx="7">
                    <c:v>Q2 FY28</c:v>
                  </c:pt>
                </c:lvl>
              </c:multiLvlStrCache>
            </c:multiLvlStrRef>
          </c:cat>
          <c:val>
            <c:numRef>
              <c:f>Sheet1!$C$2:$C$9</c:f>
              <c:numCache>
                <c:formatCode>General</c:formatCode>
                <c:ptCount val="8"/>
                <c:pt idx="0">
                  <c:v>0</c:v>
                </c:pt>
                <c:pt idx="1">
                  <c:v>0</c:v>
                </c:pt>
                <c:pt idx="2">
                  <c:v>0</c:v>
                </c:pt>
                <c:pt idx="3">
                  <c:v>205.5</c:v>
                </c:pt>
                <c:pt idx="4">
                  <c:v>369.9</c:v>
                </c:pt>
                <c:pt idx="5">
                  <c:v>506.9</c:v>
                </c:pt>
                <c:pt idx="6">
                  <c:v>602.8</c:v>
                </c:pt>
                <c:pt idx="7">
                  <c:v>657.6</c:v>
                </c:pt>
              </c:numCache>
            </c:numRef>
          </c:val>
        </c:ser>
        <c:ser>
          <c:idx val="2"/>
          <c:order val="2"/>
          <c:tx>
            <c:strRef>
              <c:f>Sheet1!$D$1</c:f>
              <c:strCache>
                <c:ptCount val="1"/>
                <c:pt idx="0">
                  <c:v>CommercialSignal</c:v>
                </c:pt>
              </c:strCache>
            </c:strRef>
          </c:tx>
          <c:spPr>
            <a:solidFill>
              <a:srgbClr val="0A52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Q3 FY26</c:v>
                  </c:pt>
                  <c:pt idx="1">
                    <c:v>Q4 FY26</c:v>
                  </c:pt>
                  <c:pt idx="2">
                    <c:v>Q1 FY27</c:v>
                  </c:pt>
                  <c:pt idx="3">
                    <c:v>Q2 FY27</c:v>
                  </c:pt>
                  <c:pt idx="4">
                    <c:v>Q3 FY27</c:v>
                  </c:pt>
                  <c:pt idx="5">
                    <c:v>Q4 FY27 ★</c:v>
                  </c:pt>
                  <c:pt idx="6">
                    <c:v>Q1 FY28</c:v>
                  </c:pt>
                  <c:pt idx="7">
                    <c:v>Q2 FY28</c:v>
                  </c:pt>
                </c:lvl>
              </c:multiLvlStrCache>
            </c:multiLvlStrRef>
          </c:cat>
          <c:val>
            <c:numRef>
              <c:f>Sheet1!$D$2:$D$9</c:f>
              <c:numCache>
                <c:formatCode>General</c:formatCode>
                <c:ptCount val="8"/>
                <c:pt idx="0">
                  <c:v>0</c:v>
                </c:pt>
                <c:pt idx="1">
                  <c:v>0</c:v>
                </c:pt>
                <c:pt idx="2">
                  <c:v>0</c:v>
                </c:pt>
                <c:pt idx="3">
                  <c:v>0</c:v>
                </c:pt>
                <c:pt idx="4">
                  <c:v>111</c:v>
                </c:pt>
                <c:pt idx="5">
                  <c:v>199.8</c:v>
                </c:pt>
                <c:pt idx="6">
                  <c:v>266.4</c:v>
                </c:pt>
                <c:pt idx="7">
                  <c:v>321.9</c:v>
                </c:pt>
              </c:numCache>
            </c:numRef>
          </c:val>
        </c:ser>
        <c:ser>
          <c:idx val="3"/>
          <c:order val="3"/>
          <c:tx>
            <c:strRef>
              <c:f>Sheet1!$E$1</c:f>
              <c:strCache>
                <c:ptCount val="1"/>
                <c:pt idx="0">
                  <c:v>Gen. Wealth Deflection</c:v>
                </c:pt>
              </c:strCache>
            </c:strRef>
          </c:tx>
          <c:spPr>
            <a:solidFill>
              <a:srgbClr val="0F3D8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Q3 FY26</c:v>
                  </c:pt>
                  <c:pt idx="1">
                    <c:v>Q4 FY26</c:v>
                  </c:pt>
                  <c:pt idx="2">
                    <c:v>Q1 FY27</c:v>
                  </c:pt>
                  <c:pt idx="3">
                    <c:v>Q2 FY27</c:v>
                  </c:pt>
                  <c:pt idx="4">
                    <c:v>Q3 FY27</c:v>
                  </c:pt>
                  <c:pt idx="5">
                    <c:v>Q4 FY27 ★</c:v>
                  </c:pt>
                  <c:pt idx="6">
                    <c:v>Q1 FY28</c:v>
                  </c:pt>
                  <c:pt idx="7">
                    <c:v>Q2 FY28</c:v>
                  </c:pt>
                </c:lvl>
              </c:multiLvlStrCache>
            </c:multiLvlStrRef>
          </c:cat>
          <c:val>
            <c:numRef>
              <c:f>Sheet1!$E$2:$E$9</c:f>
              <c:numCache>
                <c:formatCode>General</c:formatCode>
                <c:ptCount val="8"/>
                <c:pt idx="0">
                  <c:v>0</c:v>
                </c:pt>
                <c:pt idx="1">
                  <c:v>0</c:v>
                </c:pt>
                <c:pt idx="2">
                  <c:v>0</c:v>
                </c:pt>
                <c:pt idx="3">
                  <c:v>0</c:v>
                </c:pt>
                <c:pt idx="4">
                  <c:v>0</c:v>
                </c:pt>
                <c:pt idx="5">
                  <c:v>0</c:v>
                </c:pt>
                <c:pt idx="6">
                  <c:v>95.2</c:v>
                </c:pt>
                <c:pt idx="7">
                  <c:v>163.2</c:v>
                </c:pt>
              </c:numCache>
            </c:numRef>
          </c:val>
        </c:ser>
        <c:ser>
          <c:idx val="4"/>
          <c:order val="4"/>
          <c:tx>
            <c:strRef>
              <c:f>Sheet1!$F$1</c:f>
              <c:strCache>
                <c:ptCount val="1"/>
                <c:pt idx="0">
                  <c:v>Anomaly Detection</c:v>
                </c:pt>
              </c:strCache>
            </c:strRef>
          </c:tx>
          <c:spPr>
            <a:solidFill>
              <a:srgbClr val="575A5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Q3 FY26</c:v>
                  </c:pt>
                  <c:pt idx="1">
                    <c:v>Q4 FY26</c:v>
                  </c:pt>
                  <c:pt idx="2">
                    <c:v>Q1 FY27</c:v>
                  </c:pt>
                  <c:pt idx="3">
                    <c:v>Q2 FY27</c:v>
                  </c:pt>
                  <c:pt idx="4">
                    <c:v>Q3 FY27</c:v>
                  </c:pt>
                  <c:pt idx="5">
                    <c:v>Q4 FY27 ★</c:v>
                  </c:pt>
                  <c:pt idx="6">
                    <c:v>Q1 FY28</c:v>
                  </c:pt>
                  <c:pt idx="7">
                    <c:v>Q2 FY28</c:v>
                  </c:pt>
                </c:lvl>
              </c:multiLvlStrCache>
            </c:multiLvlStrRef>
          </c:cat>
          <c:val>
            <c:numRef>
              <c:f>Sheet1!$F$2:$F$9</c:f>
              <c:numCache>
                <c:formatCode>General</c:formatCode>
                <c:ptCount val="8"/>
                <c:pt idx="0">
                  <c:v>0</c:v>
                </c:pt>
                <c:pt idx="1">
                  <c:v>0</c:v>
                </c:pt>
                <c:pt idx="2">
                  <c:v>0</c:v>
                </c:pt>
                <c:pt idx="3">
                  <c:v>0</c:v>
                </c:pt>
                <c:pt idx="4">
                  <c:v>0</c:v>
                </c:pt>
                <c:pt idx="5">
                  <c:v>0</c:v>
                </c:pt>
                <c:pt idx="6">
                  <c:v>0</c:v>
                </c:pt>
                <c:pt idx="7">
                  <c:v>117.6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75A5D"/>
                </a:solidFill>
                <a:latin typeface="Arial"/>
              </a:defRPr>
            </a:pPr>
            <a:endParaRPr lang="en-US"/>
          </a:p>
        </c:txPr>
        <c:crossAx val="2094734552"/>
        <c:crosses val="autoZero"/>
        <c:auto val="1"/>
        <c:lblAlgn val="ctr"/>
        <c:noMultiLvlLbl val="1"/>
      </c:catAx>
      <c:valAx>
        <c:axId val="2094734552"/>
        <c:scaling>
          <c:orientation val="minMax"/>
          <c:max val="18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75A5D"/>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TO $1M ARR — Presenter Talking Points
OPENING FRAME (30 seconds):
"This slide answers the question we always get from leadership: what's the return? The answer is $1M in ARR by Q4 FY27 — that's April through June of next year — driven by just three apps and less than five percent penetration of our existing FI base."
THE MODEL STRUCTURE:
• This is not a top-down market-sizing exercise. It's a bottoms-up, account-by-account model built on JH's actual 1,660 contracted FIs.
• We segmented those FIs by asset tier and CU/bank split (44% CU / 56% bank). CUs get a 12% pricing accommodation for cooperative budget structures.
• Each app has a blended average price — weighted across tiers — that we used to project ARR as FIs onboard quarterly.
• We applied an 8% annual subscription churn rate (2% per quarter) to model attrition realistically.
THE RAMP (walk the chart left to right):
• Q3–Q4 FY26: Build quarters — no revenue. The team is building Churn Sentinel ACH pipeline.
• Q1 FY27: Zelle Memo Intelligence launches. 12 FIs in first quarter → $116K ARR. Zelle-enabled FIs only (~580 addressable).
• Q2 FY27: Churn Sentinel launches. 15 new FIs added. Total ARR crosses $400K.
• Q3 FY27: CommercialSignal adds to the stack. Three apps running simultaneously → $762K.
• Q4 FY27 ★: The milestone quarter. $1.04M ARR. Three apps, ~81 active subscribers.
• Q1–Q2 FY28: Gen. Wealth Deflection and Anomaly Detection come online. Trajectory toward $1.7M.
WHAT MAKES THIS CREDIBLE:
• 4.9% penetration of our own customer base is extremely achievable — we already have the relationships, the contracts, and the data pipelines. This is not cold outreach. These are existing JHBI clients we upsell.
• Churn Sentinel has the broadest addressability (all 1,660 FIs), which is why it becomes the largest revenue line by Q2 FY28.
• The model is conservative: no bundle pricing, no cross-sell acceleration, no partner channel.
KEY RISK AND MITIGATION:
• Biggest risk is sales cycle length — community FIs can have 6-12 month procurement cycles. Mitigation: build the pilot program (3–5 anchor FIs) into the Phase 1 plan to generate reference customers quickly.
• "What if we miss the 12-FI launch target for Zelle Memo?" — model holds above $700K in Q3 FY27 even if launch numbers are 30% lower.
CLOSE:
"The Excel model behind this is available for review. Every assumption is documented, all formulas are live, and we built it so leadership can stress-test any variable — penetration rate, pricing, churn. The path to $1M is conservative and achievable within our existing FI base without adding a single new JH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DS APP PRICING — Presenter Talking Points
FRAMING (15 seconds):
"These are annual add-on subscriptions priced on top of the JHBI platform fee. We're not replacing JHBI revenue — we're extending it. Every existing JHBI client is a potential buyer. No new sales motion required, just a product upsell."
THE PRICING RATIONALE:
• Pricing scales with institution size — smaller FIs (&lt;$250M) pay entry-level rates; larger FIs ($5B+) pay rates commensurate with the value at scale (a 5B+ bank protecting even 0.5% churn = multi-million dollar impact).
• The blended average prices used in the revenue model account for our 44/56 CU/bank mix and the 12% cooperative discount for CUs.
• Why a 12% CU discount? Credit unions run on NCUA-regulated capital ratios and cooperative surplus rules — budget flexibility is genuinely lower. A modest discount maintains the relationship without giving away margin; we're still above SAAS rule-of-thumb economics.
TIER POSITIONING:
• &lt;$250M tier: Entry point. $5–9K is a rounding error relative to the potential churn or fraud loss at this asset size. Easy approval cycle.
• $250M–$1B tier: Core community bank/CU market — most of our base sits here. $8–14K annually is a 1–2 month subscriptions to a junior analyst. Model ROI is obvious.
• $1B–$5B: Larger regional. $15–24K. These FIs often have internal analytics teams; our angle is "complement your team with JH network intelligence you can't build yourself."
• $5B+: Strategic accounts. $25–40K. Require more complex sales cycle but anchor client wins drive brand credibility. Prioritize 1–2 pilot partners here early.
LAUNCH SEQUENCING (connect back to the roadmap):
• Zelle Memo launches first (Q1 FY27) because the payments pipeline is being built anyway — it's the lowest incremental lift.
• Churn Sentinel follows in Q2 FY27 and has the broadest addressability — all 1,660 FIs, no Zelle dependency.
• CommercialSignal Q3 FY27, Gen. Wealth and Anomaly Detection in FY28 as the model suite matures.
ON BUNDLING:
"We're not offering bundles at launch — we want clean per-app economics to understand what the market actually values. Once we have 4–5 apps live and 50+ FI subscribers, bundling becomes a natural conversation to drive expansion revenue. That option is built into the model as a future lever."
ANTICIPATED QUESTION: "Why not price per-account or per-user?"
Answer: Per-FI annual subscription is the dominant SaaS model in fintech B2B. It's predictable, easy for FI budget owners to approve (single line item), and doesn't require us to instrument usage metering in Year 1. We can layer consumption pricing in Year 2 once instrumentation is in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serves 1,660 financial institutions on core platforms and 7,500+ across its full ecosystem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1,660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Core FI clients — banks &amp; CUs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with deepest JH data access</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starting with our 1,660 core FI clients, expanding across the full JH ecosystem.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Real Market Opportunity — Grounded in JH's Actual Footprint</a:t>
            </a:r>
            <a:endParaRPr lang="en-US" sz="2000" dirty="0"/>
          </a:p>
        </p:txBody>
      </p:sp>
      <p:sp>
        <p:nvSpPr>
          <p:cNvPr id="4" name="Text 2"/>
          <p:cNvSpPr/>
          <p:nvPr/>
        </p:nvSpPr>
        <p:spPr>
          <a:xfrm>
            <a:off x="365760" y="749808"/>
            <a:ext cx="8412480" cy="365760"/>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Jack Henry's FY2024 10-K reports 1,660 FIs on core processing — 940 banks and 720 credit unions. The remaining ~5,870 clients use payment and complementary products only. This is the true addressable base for the AI platform.</a:t>
            </a:r>
            <a:endParaRPr lang="en-US" sz="1000" dirty="0"/>
          </a:p>
        </p:txBody>
      </p:sp>
      <p:sp>
        <p:nvSpPr>
          <p:cNvPr id="5" name="Shape 3"/>
          <p:cNvSpPr/>
          <p:nvPr/>
        </p:nvSpPr>
        <p:spPr>
          <a:xfrm>
            <a:off x="274320"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188720"/>
            <a:ext cx="2834640" cy="54864"/>
          </a:xfrm>
          <a:prstGeom prst="rect">
            <a:avLst/>
          </a:prstGeom>
          <a:solidFill>
            <a:srgbClr val="085CE5"/>
          </a:solidFill>
          <a:ln w="12700">
            <a:solidFill>
              <a:srgbClr val="085CE5"/>
            </a:solidFill>
            <a:prstDash val="solid"/>
          </a:ln>
        </p:spPr>
      </p:sp>
      <p:sp>
        <p:nvSpPr>
          <p:cNvPr id="7" name="Shape 5"/>
          <p:cNvSpPr/>
          <p:nvPr/>
        </p:nvSpPr>
        <p:spPr>
          <a:xfrm>
            <a:off x="420624" y="1298448"/>
            <a:ext cx="1005840" cy="201168"/>
          </a:xfrm>
          <a:prstGeom prst="rect">
            <a:avLst/>
          </a:prstGeom>
          <a:solidFill>
            <a:srgbClr val="085CE5"/>
          </a:solidFill>
          <a:ln w="12700">
            <a:solidFill>
              <a:srgbClr val="085CE5"/>
            </a:solidFill>
            <a:prstDash val="solid"/>
          </a:ln>
        </p:spPr>
      </p:sp>
      <p:sp>
        <p:nvSpPr>
          <p:cNvPr id="8" name="Text 6"/>
          <p:cNvSpPr/>
          <p:nvPr/>
        </p:nvSpPr>
        <p:spPr>
          <a:xfrm>
            <a:off x="420624"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PRIMARY</a:t>
            </a:r>
            <a:endParaRPr lang="en-US" sz="750" dirty="0"/>
          </a:p>
        </p:txBody>
      </p:sp>
      <p:sp>
        <p:nvSpPr>
          <p:cNvPr id="9" name="Text 7"/>
          <p:cNvSpPr/>
          <p:nvPr/>
        </p:nvSpPr>
        <p:spPr>
          <a:xfrm>
            <a:off x="420624"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Core Platform FIs</a:t>
            </a:r>
            <a:endParaRPr lang="en-US" sz="1200" dirty="0"/>
          </a:p>
        </p:txBody>
      </p:sp>
      <p:sp>
        <p:nvSpPr>
          <p:cNvPr id="10" name="Text 8"/>
          <p:cNvSpPr/>
          <p:nvPr/>
        </p:nvSpPr>
        <p:spPr>
          <a:xfrm>
            <a:off x="420624" y="1828800"/>
            <a:ext cx="2542032" cy="694944"/>
          </a:xfrm>
          <a:prstGeom prst="rect">
            <a:avLst/>
          </a:prstGeom>
          <a:noFill/>
          <a:ln/>
        </p:spPr>
        <p:txBody>
          <a:bodyPr wrap="square" lIns="0" tIns="0" rIns="0" bIns="0" rtlCol="0" anchor="ctr"/>
          <a:lstStyle/>
          <a:p>
            <a:pPr indent="0" marL="0">
              <a:buNone/>
            </a:pPr>
            <a:r>
              <a:rPr lang="en-US" sz="4600" b="1" dirty="0">
                <a:solidFill>
                  <a:srgbClr val="085CE5"/>
                </a:solidFill>
                <a:latin typeface="Calibri" pitchFamily="34" charset="0"/>
                <a:ea typeface="Calibri" pitchFamily="34" charset="-122"/>
                <a:cs typeface="Calibri" pitchFamily="34" charset="-120"/>
              </a:rPr>
              <a:t>1,660</a:t>
            </a:r>
            <a:endParaRPr lang="en-US" sz="4600" dirty="0"/>
          </a:p>
        </p:txBody>
      </p:sp>
      <p:sp>
        <p:nvSpPr>
          <p:cNvPr id="11" name="Text 9"/>
          <p:cNvSpPr/>
          <p:nvPr/>
        </p:nvSpPr>
        <p:spPr>
          <a:xfrm>
            <a:off x="420624"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940 banks  ·  720 credit unions</a:t>
            </a:r>
            <a:endParaRPr lang="en-US" sz="900" dirty="0"/>
          </a:p>
        </p:txBody>
      </p:sp>
      <p:sp>
        <p:nvSpPr>
          <p:cNvPr id="12" name="Shape 10"/>
          <p:cNvSpPr/>
          <p:nvPr/>
        </p:nvSpPr>
        <p:spPr>
          <a:xfrm>
            <a:off x="420624" y="2798064"/>
            <a:ext cx="2542032" cy="18288"/>
          </a:xfrm>
          <a:prstGeom prst="rect">
            <a:avLst/>
          </a:prstGeom>
          <a:solidFill>
            <a:srgbClr val="E7ECF0"/>
          </a:solidFill>
          <a:ln w="12700">
            <a:solidFill>
              <a:srgbClr val="E7ECF0"/>
            </a:solidFill>
            <a:prstDash val="solid"/>
          </a:ln>
        </p:spPr>
      </p:sp>
      <p:sp>
        <p:nvSpPr>
          <p:cNvPr id="13" name="Text 11"/>
          <p:cNvSpPr/>
          <p:nvPr/>
        </p:nvSpPr>
        <p:spPr>
          <a:xfrm>
            <a:off x="420624"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Full data access: core transactions, deposits, lending, digital. Highest AI value — all 5 Phase 1 apps apply. JH has 25% of target bank market and ~17% of US CU market on core.</a:t>
            </a:r>
            <a:endParaRPr lang="en-US" sz="950" dirty="0"/>
          </a:p>
        </p:txBody>
      </p:sp>
      <p:sp>
        <p:nvSpPr>
          <p:cNvPr id="14" name="Shape 12"/>
          <p:cNvSpPr/>
          <p:nvPr/>
        </p:nvSpPr>
        <p:spPr>
          <a:xfrm>
            <a:off x="3218688"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3218688" y="1188720"/>
            <a:ext cx="2834640" cy="54864"/>
          </a:xfrm>
          <a:prstGeom prst="rect">
            <a:avLst/>
          </a:prstGeom>
          <a:solidFill>
            <a:srgbClr val="073FA8"/>
          </a:solidFill>
          <a:ln w="12700">
            <a:solidFill>
              <a:srgbClr val="073FA8"/>
            </a:solidFill>
            <a:prstDash val="solid"/>
          </a:ln>
        </p:spPr>
      </p:sp>
      <p:sp>
        <p:nvSpPr>
          <p:cNvPr id="16" name="Shape 14"/>
          <p:cNvSpPr/>
          <p:nvPr/>
        </p:nvSpPr>
        <p:spPr>
          <a:xfrm>
            <a:off x="3364992" y="1298448"/>
            <a:ext cx="1005840" cy="201168"/>
          </a:xfrm>
          <a:prstGeom prst="rect">
            <a:avLst/>
          </a:prstGeom>
          <a:solidFill>
            <a:srgbClr val="073FA8"/>
          </a:solidFill>
          <a:ln w="12700">
            <a:solidFill>
              <a:srgbClr val="073FA8"/>
            </a:solidFill>
            <a:prstDash val="solid"/>
          </a:ln>
        </p:spPr>
      </p:sp>
      <p:sp>
        <p:nvSpPr>
          <p:cNvPr id="17" name="Text 15"/>
          <p:cNvSpPr/>
          <p:nvPr/>
        </p:nvSpPr>
        <p:spPr>
          <a:xfrm>
            <a:off x="3364992"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SECONDARY</a:t>
            </a:r>
            <a:endParaRPr lang="en-US" sz="750" dirty="0"/>
          </a:p>
        </p:txBody>
      </p:sp>
      <p:sp>
        <p:nvSpPr>
          <p:cNvPr id="18" name="Text 16"/>
          <p:cNvSpPr/>
          <p:nvPr/>
        </p:nvSpPr>
        <p:spPr>
          <a:xfrm>
            <a:off x="3364992"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Payment / Complementary FIs</a:t>
            </a:r>
            <a:endParaRPr lang="en-US" sz="1200" dirty="0"/>
          </a:p>
        </p:txBody>
      </p:sp>
      <p:sp>
        <p:nvSpPr>
          <p:cNvPr id="19" name="Text 17"/>
          <p:cNvSpPr/>
          <p:nvPr/>
        </p:nvSpPr>
        <p:spPr>
          <a:xfrm>
            <a:off x="3364992" y="1828800"/>
            <a:ext cx="2542032" cy="694944"/>
          </a:xfrm>
          <a:prstGeom prst="rect">
            <a:avLst/>
          </a:prstGeom>
          <a:noFill/>
          <a:ln/>
        </p:spPr>
        <p:txBody>
          <a:bodyPr wrap="square" lIns="0" tIns="0" rIns="0" bIns="0" rtlCol="0" anchor="ctr"/>
          <a:lstStyle/>
          <a:p>
            <a:pPr indent="0" marL="0">
              <a:buNone/>
            </a:pPr>
            <a:r>
              <a:rPr lang="en-US" sz="4600" b="1" dirty="0">
                <a:solidFill>
                  <a:srgbClr val="073FA8"/>
                </a:solidFill>
                <a:latin typeface="Calibri" pitchFamily="34" charset="0"/>
                <a:ea typeface="Calibri" pitchFamily="34" charset="-122"/>
                <a:cs typeface="Calibri" pitchFamily="34" charset="-120"/>
              </a:rPr>
              <a:t>5,870</a:t>
            </a:r>
            <a:endParaRPr lang="en-US" sz="4600" dirty="0"/>
          </a:p>
        </p:txBody>
      </p:sp>
      <p:sp>
        <p:nvSpPr>
          <p:cNvPr id="20" name="Text 18"/>
          <p:cNvSpPr/>
          <p:nvPr/>
        </p:nvSpPr>
        <p:spPr>
          <a:xfrm>
            <a:off x="3364992"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Payments, digital, card, bill pay</a:t>
            </a:r>
            <a:endParaRPr lang="en-US" sz="900" dirty="0"/>
          </a:p>
        </p:txBody>
      </p:sp>
      <p:sp>
        <p:nvSpPr>
          <p:cNvPr id="21" name="Shape 19"/>
          <p:cNvSpPr/>
          <p:nvPr/>
        </p:nvSpPr>
        <p:spPr>
          <a:xfrm>
            <a:off x="3364992" y="2798064"/>
            <a:ext cx="2542032" cy="18288"/>
          </a:xfrm>
          <a:prstGeom prst="rect">
            <a:avLst/>
          </a:prstGeom>
          <a:solidFill>
            <a:srgbClr val="E7ECF0"/>
          </a:solidFill>
          <a:ln w="12700">
            <a:solidFill>
              <a:srgbClr val="E7ECF0"/>
            </a:solidFill>
            <a:prstDash val="solid"/>
          </a:ln>
        </p:spPr>
      </p:sp>
      <p:sp>
        <p:nvSpPr>
          <p:cNvPr id="22" name="Text 20"/>
          <p:cNvSpPr/>
          <p:nvPr/>
        </p:nvSpPr>
        <p:spPr>
          <a:xfrm>
            <a:off x="3364992"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Payment data only — no core relationship. Zelle Memo Intelligence and Anomaly Detection apply directly. Broader sales motion; lighter data integration per FI.</a:t>
            </a:r>
            <a:endParaRPr lang="en-US" sz="950" dirty="0"/>
          </a:p>
        </p:txBody>
      </p:sp>
      <p:sp>
        <p:nvSpPr>
          <p:cNvPr id="23" name="Shape 21"/>
          <p:cNvSpPr/>
          <p:nvPr/>
        </p:nvSpPr>
        <p:spPr>
          <a:xfrm>
            <a:off x="6163056"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163056" y="1188720"/>
            <a:ext cx="2834640" cy="54864"/>
          </a:xfrm>
          <a:prstGeom prst="rect">
            <a:avLst/>
          </a:prstGeom>
          <a:solidFill>
            <a:srgbClr val="575A5D"/>
          </a:solidFill>
          <a:ln w="12700">
            <a:solidFill>
              <a:srgbClr val="575A5D"/>
            </a:solidFill>
            <a:prstDash val="solid"/>
          </a:ln>
        </p:spPr>
      </p:sp>
      <p:sp>
        <p:nvSpPr>
          <p:cNvPr id="25" name="Shape 23"/>
          <p:cNvSpPr/>
          <p:nvPr/>
        </p:nvSpPr>
        <p:spPr>
          <a:xfrm>
            <a:off x="6309360" y="1298448"/>
            <a:ext cx="1005840" cy="201168"/>
          </a:xfrm>
          <a:prstGeom prst="rect">
            <a:avLst/>
          </a:prstGeom>
          <a:solidFill>
            <a:srgbClr val="575A5D"/>
          </a:solidFill>
          <a:ln w="12700">
            <a:solidFill>
              <a:srgbClr val="575A5D"/>
            </a:solidFill>
            <a:prstDash val="solid"/>
          </a:ln>
        </p:spPr>
      </p:sp>
      <p:sp>
        <p:nvSpPr>
          <p:cNvPr id="26" name="Text 24"/>
          <p:cNvSpPr/>
          <p:nvPr/>
        </p:nvSpPr>
        <p:spPr>
          <a:xfrm>
            <a:off x="6309360"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CALLRPT AI</a:t>
            </a:r>
            <a:endParaRPr lang="en-US" sz="750" dirty="0"/>
          </a:p>
        </p:txBody>
      </p:sp>
      <p:sp>
        <p:nvSpPr>
          <p:cNvPr id="27" name="Text 25"/>
          <p:cNvSpPr/>
          <p:nvPr/>
        </p:nvSpPr>
        <p:spPr>
          <a:xfrm>
            <a:off x="6309360"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All U.S. Credit Unions</a:t>
            </a:r>
            <a:endParaRPr lang="en-US" sz="1200" dirty="0"/>
          </a:p>
        </p:txBody>
      </p:sp>
      <p:sp>
        <p:nvSpPr>
          <p:cNvPr id="28" name="Text 26"/>
          <p:cNvSpPr/>
          <p:nvPr/>
        </p:nvSpPr>
        <p:spPr>
          <a:xfrm>
            <a:off x="6309360" y="1828800"/>
            <a:ext cx="2542032" cy="694944"/>
          </a:xfrm>
          <a:prstGeom prst="rect">
            <a:avLst/>
          </a:prstGeom>
          <a:noFill/>
          <a:ln/>
        </p:spPr>
        <p:txBody>
          <a:bodyPr wrap="square" lIns="0" tIns="0" rIns="0" bIns="0" rtlCol="0" anchor="ctr"/>
          <a:lstStyle/>
          <a:p>
            <a:pPr indent="0" marL="0">
              <a:buNone/>
            </a:pPr>
            <a:r>
              <a:rPr lang="en-US" sz="4600" b="1" dirty="0">
                <a:solidFill>
                  <a:srgbClr val="575A5D"/>
                </a:solidFill>
                <a:latin typeface="Calibri" pitchFamily="34" charset="0"/>
                <a:ea typeface="Calibri" pitchFamily="34" charset="-122"/>
                <a:cs typeface="Calibri" pitchFamily="34" charset="-120"/>
              </a:rPr>
              <a:t>4,374</a:t>
            </a:r>
            <a:endParaRPr lang="en-US" sz="4600" dirty="0"/>
          </a:p>
        </p:txBody>
      </p:sp>
      <p:sp>
        <p:nvSpPr>
          <p:cNvPr id="29" name="Text 27"/>
          <p:cNvSpPr/>
          <p:nvPr/>
        </p:nvSpPr>
        <p:spPr>
          <a:xfrm>
            <a:off x="6309360"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NCUA 5300 — public regulatory data</a:t>
            </a:r>
            <a:endParaRPr lang="en-US" sz="900" dirty="0"/>
          </a:p>
        </p:txBody>
      </p:sp>
      <p:sp>
        <p:nvSpPr>
          <p:cNvPr id="30" name="Shape 28"/>
          <p:cNvSpPr/>
          <p:nvPr/>
        </p:nvSpPr>
        <p:spPr>
          <a:xfrm>
            <a:off x="6309360" y="2798064"/>
            <a:ext cx="2542032" cy="18288"/>
          </a:xfrm>
          <a:prstGeom prst="rect">
            <a:avLst/>
          </a:prstGeom>
          <a:solidFill>
            <a:srgbClr val="E7ECF0"/>
          </a:solidFill>
          <a:ln w="12700">
            <a:solidFill>
              <a:srgbClr val="E7ECF0"/>
            </a:solidFill>
            <a:prstDash val="solid"/>
          </a:ln>
        </p:spPr>
      </p:sp>
      <p:sp>
        <p:nvSpPr>
          <p:cNvPr id="31" name="Text 29"/>
          <p:cNvSpPr/>
          <p:nvPr/>
        </p:nvSpPr>
        <p:spPr>
          <a:xfrm>
            <a:off x="6309360"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Call Report AI has no JH relationship requirement. Any of the 4,374 US credit unions with $2.5T in assets is addressable — JH relationship accelerates but doesn't gate distribution.</a:t>
            </a:r>
            <a:endParaRPr lang="en-US" sz="950" dirty="0"/>
          </a:p>
        </p:txBody>
      </p:sp>
      <p:sp>
        <p:nvSpPr>
          <p:cNvPr id="32" name="Shape 30"/>
          <p:cNvSpPr/>
          <p:nvPr/>
        </p:nvSpPr>
        <p:spPr>
          <a:xfrm>
            <a:off x="274320" y="4572000"/>
            <a:ext cx="8595360" cy="457200"/>
          </a:xfrm>
          <a:prstGeom prst="rect">
            <a:avLst/>
          </a:prstGeom>
          <a:solidFill>
            <a:srgbClr val="06185F"/>
          </a:solidFill>
          <a:ln w="12700">
            <a:solidFill>
              <a:srgbClr val="06185F"/>
            </a:solidFill>
            <a:prstDash val="solid"/>
          </a:ln>
        </p:spPr>
      </p:sp>
      <p:sp>
        <p:nvSpPr>
          <p:cNvPr id="33" name="Text 31"/>
          <p:cNvSpPr/>
          <p:nvPr/>
        </p:nvSpPr>
        <p:spPr>
          <a:xfrm>
            <a:off x="457200" y="4599432"/>
            <a:ext cx="8229600"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Phase 1 targets the 1,660 core FIs first — then expands payment apps to the 5,870 complementary clients and Call Report AI to all 4,374 U.S. CUs.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 Six Core Applications</a:t>
            </a:r>
            <a:endParaRPr lang="en-US" sz="2200" dirty="0"/>
          </a:p>
        </p:txBody>
      </p:sp>
      <p:sp>
        <p:nvSpPr>
          <p:cNvPr id="4" name="Shape 2"/>
          <p:cNvSpPr/>
          <p:nvPr/>
        </p:nvSpPr>
        <p:spPr>
          <a:xfrm>
            <a:off x="320040"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320040" y="777240"/>
            <a:ext cx="2706624" cy="65836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57200" y="905256"/>
            <a:ext cx="384048" cy="384048"/>
          </a:xfrm>
          <a:prstGeom prst="rect">
            <a:avLst/>
          </a:prstGeom>
        </p:spPr>
      </p:pic>
      <p:sp>
        <p:nvSpPr>
          <p:cNvPr id="7" name="Text 4"/>
          <p:cNvSpPr/>
          <p:nvPr/>
        </p:nvSpPr>
        <p:spPr>
          <a:xfrm>
            <a:off x="914400"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Churn</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Sentinel</a:t>
            </a:r>
            <a:endParaRPr lang="en-US" sz="1150" dirty="0"/>
          </a:p>
        </p:txBody>
      </p:sp>
      <p:sp>
        <p:nvSpPr>
          <p:cNvPr id="8" name="Text 5"/>
          <p:cNvSpPr/>
          <p:nvPr/>
        </p:nvSpPr>
        <p:spPr>
          <a:xfrm>
            <a:off x="429768"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1050" dirty="0"/>
          </a:p>
        </p:txBody>
      </p:sp>
      <p:sp>
        <p:nvSpPr>
          <p:cNvPr id="9" name="Shape 6"/>
          <p:cNvSpPr/>
          <p:nvPr/>
        </p:nvSpPr>
        <p:spPr>
          <a:xfrm>
            <a:off x="3172968"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72968" y="777240"/>
            <a:ext cx="2706624" cy="658368"/>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05256"/>
            <a:ext cx="384048" cy="384048"/>
          </a:xfrm>
          <a:prstGeom prst="rect">
            <a:avLst/>
          </a:prstGeom>
        </p:spPr>
      </p:pic>
      <p:sp>
        <p:nvSpPr>
          <p:cNvPr id="12" name="Text 8"/>
          <p:cNvSpPr/>
          <p:nvPr/>
        </p:nvSpPr>
        <p:spPr>
          <a:xfrm>
            <a:off x="3767328"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Zelle Memo</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Intelligence</a:t>
            </a:r>
            <a:endParaRPr lang="en-US" sz="1150" dirty="0"/>
          </a:p>
        </p:txBody>
      </p:sp>
      <p:sp>
        <p:nvSpPr>
          <p:cNvPr id="13" name="Text 9"/>
          <p:cNvSpPr/>
          <p:nvPr/>
        </p:nvSpPr>
        <p:spPr>
          <a:xfrm>
            <a:off x="3282696"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1050" dirty="0"/>
          </a:p>
        </p:txBody>
      </p:sp>
      <p:sp>
        <p:nvSpPr>
          <p:cNvPr id="14" name="Shape 10"/>
          <p:cNvSpPr/>
          <p:nvPr/>
        </p:nvSpPr>
        <p:spPr>
          <a:xfrm>
            <a:off x="6025896"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25896" y="777240"/>
            <a:ext cx="2706624" cy="658368"/>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63056" y="905256"/>
            <a:ext cx="384048" cy="384048"/>
          </a:xfrm>
          <a:prstGeom prst="rect">
            <a:avLst/>
          </a:prstGeom>
        </p:spPr>
      </p:pic>
      <p:sp>
        <p:nvSpPr>
          <p:cNvPr id="17" name="Text 12"/>
          <p:cNvSpPr/>
          <p:nvPr/>
        </p:nvSpPr>
        <p:spPr>
          <a:xfrm>
            <a:off x="6620256"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Anomaly</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Detection</a:t>
            </a:r>
            <a:endParaRPr lang="en-US" sz="1150" dirty="0"/>
          </a:p>
        </p:txBody>
      </p:sp>
      <p:sp>
        <p:nvSpPr>
          <p:cNvPr id="18" name="Text 13"/>
          <p:cNvSpPr/>
          <p:nvPr/>
        </p:nvSpPr>
        <p:spPr>
          <a:xfrm>
            <a:off x="6135624"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1050" dirty="0"/>
          </a:p>
        </p:txBody>
      </p:sp>
      <p:sp>
        <p:nvSpPr>
          <p:cNvPr id="19" name="Shape 14"/>
          <p:cNvSpPr/>
          <p:nvPr/>
        </p:nvSpPr>
        <p:spPr>
          <a:xfrm>
            <a:off x="320040"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320040" y="2953512"/>
            <a:ext cx="2706624" cy="658368"/>
          </a:xfrm>
          <a:prstGeom prst="rect">
            <a:avLst/>
          </a:prstGeom>
          <a:solidFill>
            <a:srgbClr val="0D2E7A"/>
          </a:solidFill>
          <a:ln w="12700">
            <a:solidFill>
              <a:srgbClr val="0D2E7A"/>
            </a:solidFill>
            <a:prstDash val="solid"/>
          </a:ln>
        </p:spPr>
      </p:sp>
      <p:pic>
        <p:nvPicPr>
          <p:cNvPr id="21" name="Image 3" descr="preencoded.png">    </p:cNvPr>
          <p:cNvPicPr>
            <a:picLocks noChangeAspect="1"/>
          </p:cNvPicPr>
          <p:nvPr/>
        </p:nvPicPr>
        <p:blipFill>
          <a:blip r:embed="rId4"/>
          <a:stretch>
            <a:fillRect/>
          </a:stretch>
        </p:blipFill>
        <p:spPr>
          <a:xfrm>
            <a:off x="457200" y="3081528"/>
            <a:ext cx="384048" cy="384048"/>
          </a:xfrm>
          <a:prstGeom prst="rect">
            <a:avLst/>
          </a:prstGeom>
        </p:spPr>
      </p:pic>
      <p:sp>
        <p:nvSpPr>
          <p:cNvPr id="22" name="Text 16"/>
          <p:cNvSpPr/>
          <p:nvPr/>
        </p:nvSpPr>
        <p:spPr>
          <a:xfrm>
            <a:off x="914400"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 Decision</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Studio</a:t>
            </a:r>
            <a:endParaRPr lang="en-US" sz="1150" dirty="0"/>
          </a:p>
        </p:txBody>
      </p:sp>
      <p:sp>
        <p:nvSpPr>
          <p:cNvPr id="23" name="Text 17"/>
          <p:cNvSpPr/>
          <p:nvPr/>
        </p:nvSpPr>
        <p:spPr>
          <a:xfrm>
            <a:off x="429768"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No-code AutoML for FIs: upload data, train custom models, explain with SHAP, author rules, deploy as API, monitor drift.</a:t>
            </a:r>
            <a:endParaRPr lang="en-US" sz="1050" dirty="0"/>
          </a:p>
        </p:txBody>
      </p:sp>
      <p:sp>
        <p:nvSpPr>
          <p:cNvPr id="24" name="Shape 18"/>
          <p:cNvSpPr/>
          <p:nvPr/>
        </p:nvSpPr>
        <p:spPr>
          <a:xfrm>
            <a:off x="3172968"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72968" y="2953512"/>
            <a:ext cx="2706624" cy="658368"/>
          </a:xfrm>
          <a:prstGeom prst="rect">
            <a:avLst/>
          </a:prstGeom>
          <a:solidFill>
            <a:srgbClr val="0A52C4"/>
          </a:solidFill>
          <a:ln w="12700">
            <a:solidFill>
              <a:srgbClr val="0A52C4"/>
            </a:solidFill>
            <a:prstDash val="solid"/>
          </a:ln>
        </p:spPr>
      </p:sp>
      <p:pic>
        <p:nvPicPr>
          <p:cNvPr id="26" name="Image 4" descr="preencoded.png">    </p:cNvPr>
          <p:cNvPicPr>
            <a:picLocks noChangeAspect="1"/>
          </p:cNvPicPr>
          <p:nvPr/>
        </p:nvPicPr>
        <p:blipFill>
          <a:blip r:embed="rId5"/>
          <a:stretch>
            <a:fillRect/>
          </a:stretch>
        </p:blipFill>
        <p:spPr>
          <a:xfrm>
            <a:off x="3310128" y="3081528"/>
            <a:ext cx="384048" cy="384048"/>
          </a:xfrm>
          <a:prstGeom prst="rect">
            <a:avLst/>
          </a:prstGeom>
        </p:spPr>
      </p:pic>
      <p:sp>
        <p:nvSpPr>
          <p:cNvPr id="27" name="Text 20"/>
          <p:cNvSpPr/>
          <p:nvPr/>
        </p:nvSpPr>
        <p:spPr>
          <a:xfrm>
            <a:off x="3767328"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CommercialSignal</a:t>
            </a:r>
            <a:endParaRPr lang="en-US" sz="1150" dirty="0"/>
          </a:p>
        </p:txBody>
      </p:sp>
      <p:sp>
        <p:nvSpPr>
          <p:cNvPr id="28" name="Text 21"/>
          <p:cNvSpPr/>
          <p:nvPr/>
        </p:nvSpPr>
        <p:spPr>
          <a:xfrm>
            <a:off x="3282696"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classifier surfacing personal accounts with commercial transaction signatures — converting hidden SMB relationships to business banking.</a:t>
            </a:r>
            <a:endParaRPr lang="en-US" sz="1050" dirty="0"/>
          </a:p>
        </p:txBody>
      </p:sp>
      <p:sp>
        <p:nvSpPr>
          <p:cNvPr id="29" name="Shape 22"/>
          <p:cNvSpPr/>
          <p:nvPr/>
        </p:nvSpPr>
        <p:spPr>
          <a:xfrm>
            <a:off x="6025896"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25896" y="2953512"/>
            <a:ext cx="2706624" cy="658368"/>
          </a:xfrm>
          <a:prstGeom prst="rect">
            <a:avLst/>
          </a:prstGeom>
          <a:solidFill>
            <a:srgbClr val="0F3D8A"/>
          </a:solidFill>
          <a:ln w="12700">
            <a:solidFill>
              <a:srgbClr val="0F3D8A"/>
            </a:solidFill>
            <a:prstDash val="solid"/>
          </a:ln>
        </p:spPr>
      </p:sp>
      <p:pic>
        <p:nvPicPr>
          <p:cNvPr id="31" name="Image 5" descr="preencoded.png">    </p:cNvPr>
          <p:cNvPicPr>
            <a:picLocks noChangeAspect="1"/>
          </p:cNvPicPr>
          <p:nvPr/>
        </p:nvPicPr>
        <p:blipFill>
          <a:blip r:embed="rId6"/>
          <a:stretch>
            <a:fillRect/>
          </a:stretch>
        </p:blipFill>
        <p:spPr>
          <a:xfrm>
            <a:off x="6163056" y="3081528"/>
            <a:ext cx="384048" cy="384048"/>
          </a:xfrm>
          <a:prstGeom prst="rect">
            <a:avLst/>
          </a:prstGeom>
        </p:spPr>
      </p:pic>
      <p:sp>
        <p:nvSpPr>
          <p:cNvPr id="32" name="Text 24"/>
          <p:cNvSpPr/>
          <p:nvPr/>
        </p:nvSpPr>
        <p:spPr>
          <a:xfrm>
            <a:off x="6620256"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Generational</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Wealth Deflection</a:t>
            </a:r>
            <a:endParaRPr lang="en-US" sz="1150" dirty="0"/>
          </a:p>
        </p:txBody>
      </p:sp>
      <p:sp>
        <p:nvSpPr>
          <p:cNvPr id="33" name="Text 25"/>
          <p:cNvSpPr/>
          <p:nvPr/>
        </p:nvSpPr>
        <p:spPr>
          <a:xfrm>
            <a:off x="6135624"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Household coverage scoring to identify single-holder wealth concentration and expand FI relationships to next-generation family members.</a:t>
            </a:r>
            <a:endParaRPr lang="en-US" sz="1050" dirty="0"/>
          </a:p>
        </p:txBody>
      </p:sp>
      <p:sp>
        <p:nvSpPr>
          <p:cNvPr id="34" name="Shape 26"/>
          <p:cNvSpPr/>
          <p:nvPr/>
        </p:nvSpPr>
        <p:spPr>
          <a:xfrm>
            <a:off x="320040" y="4718304"/>
            <a:ext cx="8503920" cy="329184"/>
          </a:xfrm>
          <a:prstGeom prst="rect">
            <a:avLst/>
          </a:prstGeom>
          <a:solidFill>
            <a:srgbClr val="E8F7F7"/>
          </a:solidFill>
          <a:ln w="12700">
            <a:solidFill>
              <a:srgbClr val="085CE5"/>
            </a:solidFill>
            <a:prstDash val="solid"/>
          </a:ln>
        </p:spPr>
      </p:sp>
      <p:sp>
        <p:nvSpPr>
          <p:cNvPr id="35" name="Text 27"/>
          <p:cNvSpPr/>
          <p:nvPr/>
        </p:nvSpPr>
        <p:spPr>
          <a:xfrm>
            <a:off x="475488" y="4736592"/>
            <a:ext cx="8229600" cy="274320"/>
          </a:xfrm>
          <a:prstGeom prst="rect">
            <a:avLst/>
          </a:prstGeom>
          <a:noFill/>
          <a:ln/>
        </p:spPr>
        <p:txBody>
          <a:bodyPr wrap="square" lIns="0" tIns="0" rIns="0" bIns="0" rtlCol="0" anchor="ctr"/>
          <a:lstStyle/>
          <a:p>
            <a:pPr indent="0" marL="0">
              <a:buNone/>
            </a:pPr>
            <a:r>
              <a:rPr lang="en-US" sz="950" i="1" dirty="0">
                <a:solidFill>
                  <a:srgbClr val="085CE5"/>
                </a:solidFill>
                <a:latin typeface="Calibri" pitchFamily="34" charset="0"/>
                <a:ea typeface="Calibri" pitchFamily="34" charset="-122"/>
                <a:cs typeface="Calibri" pitchFamily="34" charset="-120"/>
              </a:rPr>
              <a:t>Horizon Pipeline includes Year 2 opportunities: Cross-Sell Propensity  ·  Fraud Ring Detection  ·  Deposit Runoff  ·  Overdraft Prediction  ·  and more →  see Horizon slide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Churn Sentinel</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 base annually — but the signal is hiding in plain sight. Direct deposit cadence changes, ACH originator shifts, and balance migration patterns in payments data telegraph defection weeks before an account closes. By the time staff react, the relationship is already gone.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Direct deposit moves are the #1 churn signal — caught only after the fact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ACH cadence breaks (frequency, amount, originator) go unmonitored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have no behavioral risk score to prioritize outreach</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retention is expensive — proactive saves cost a fraction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Churn Sentinel is a two-phase signal model built on JH's network data — Phase 1 launches on ACH payments signals (direct deposit monitoring, cadence anomalies, originator changes) and Phase 2 enriches with core banking and Banno digital signals as those pipelines come online. The model trains on JH's full FI network regardless of per-FI adoption.</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Phase 1 — ACH Sentinel: direct deposit cadence + originator change detection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Phase 2 — Core + Digital: balance trends, product thinning, Banno session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survival model · SHAP explainability for banker-facing scores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scores pushed to JH CRM → automated outreach workflow triggers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Q3 FY26</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Phase 1 ACH Sentinel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target launch</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575A5D"/>
          </a:solidFill>
          <a:ln w="12700">
            <a:solidFill>
              <a:srgbClr val="575A5D"/>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Call Report AI</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575A5D"/>
          </a:solidFill>
          <a:ln w="12700">
            <a:solidFill>
              <a:srgbClr val="575A5D"/>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575A5D"/>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Credit union executives lack real-time, actionable intelligence from NCUA 5300 call report data. Extracting peer benchmarks, spotting risk trends, and generating board-ready summaries requires manual data pulls, Excel gymnastics, and hours of analyst time every quarter.</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NCUA 5300 data is public but difficult to query at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Peer benchmarking requires manual multi-institution comparison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Board and exec briefs take hours to prepare from raw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emerging credit quality or capital risk</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CallRpt AI — in active development, targeting Aug/Sept 2026 as a fast follow to JHBI approval — is a Claude-powered executive intelligence platform ingesting NCUA 5300 data for all 4,374 U.S. credit unions, with Payments and Core data modules to follow.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Market Pulse: industry health score, KPIs, 8-quarter trend charts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Ask: Claude-powered NL Q&amp;A on full NCUA 5300 dataset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Compare: percentile benchmarking + similar CU discovery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AI Executive Brief: one-click Claude summary per institution</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Aug '26</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launch — fast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follow to JHBI approval</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4,374</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credit unions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indexed in the platform</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$2.5T</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Total assets covered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across all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B68D4"/>
          </a:solidFill>
          <a:ln w="12700">
            <a:solidFill>
              <a:srgbClr val="0B68D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Account Opening Lifetime Value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B68D4"/>
          </a:solidFill>
          <a:ln w="12700">
            <a:solidFill>
              <a:srgbClr val="0B68D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B68D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 clients using JH's account opening platform treat every new applicant identically — the same onboarding experience, the same cross-sell timing, regardless of predicted value. High-LTV customers are underinvested; resources are wasted on low-value accounts.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LTV signal available at the account opening stage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Cross-sell sequencing is time-based, not value-informed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Acquisition ROI unmeasured by customer cohort value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Onboarding resources undifferentiated across channels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CatBoost + AutoGluon LTV regression model scoring new accounts at opening — using behavioral archetypes, product signals, and demographic proxies to route applicants to differentiated service tiers and trigger ML-guided cross-sell sequencing.</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regression + AutoGluon ensemble LTV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banker-facing explanations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tiered onboarding routing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Cohort tracking dashboard to validate model accuracy over time</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$800K+</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Incremental revenue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in Year 1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Cross-sell conversion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improvement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A52C4"/>
          </a:solidFill>
          <a:ln w="12700">
            <a:solidFill>
              <a:srgbClr val="0A52C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CommercialSignal</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A52C4"/>
          </a:solidFill>
          <a:ln w="12700">
            <a:solidFill>
              <a:srgbClr val="0A52C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A52C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Business owners run commercial operations through personal accounts daily — creating BSA/AML blind spots, Reg E gaps, and hiding SMB relationships that belong in business banking generating fee income, treasury products, and SBA loan revenue.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Commercial cash flows in consumer accounts invisible to business banking teams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BSA/AML programs miss commercial-risk patterns governed by Reg E frameworks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FIs lose fee income, treasury products, and SBA loan opportunities from hidden SMBs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Sole proprietors remain in consumer tiers with no differentiated service or depth</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ML classification model analyzing transaction velocity, ACH vendor/payroll signatures, payee diversity, and cash flow patterns to score personal accounts for commercial usage probability — surfacing them for business banking outreach and revenue conversion.</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classifier: transaction velocity, ACH pattern, payee diversity, cash flow features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 review and Regulation E compliance documentation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segmented SMB conversion outreach campaigns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monitoring for commercial activity thresholds with alert triggers</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$22T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business payments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flowing through personal accounts</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30–40%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Small business owners use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personal accounts commercially</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A52C4"/>
          </a:solidFill>
          <a:ln w="12700">
            <a:solidFill>
              <a:srgbClr val="0A52C4"/>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Bank Director — 'The Untapped Market Hiding in Consumer Bank Accounts' (bankdirector.com/article/the-untapped-market-hiding-in-consumer-bank-accounts)  ·  Datos Insights — 'Bank Wealth Managers: Business Owner Client Opportunity' (datos-insights.com)</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F3D8A"/>
          </a:solidFill>
          <a:ln w="12700">
            <a:solidFill>
              <a:srgbClr val="0F3D8A"/>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Generational Wealth Deflection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F3D8A"/>
          </a:solidFill>
          <a:ln w="12700">
            <a:solidFill>
              <a:srgbClr val="0F3D8A"/>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F3D8A"/>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FIs manage individual accounts but have no household model — so when wealth concentrates in a single-holder account with no family ties at the FI, a life event sends those assets to a competitor who already has the relationship with the heirs.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 relationships are account-level, not household- or family-level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model for identifying households with single-point-of-relationship risk</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transfer triggers reactive outreach — typically too late to retain assets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Next-gen account holders are captured by digital-first competitors before FI engages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household coverage scoring model that identifies existing accounts with concentrated wealth and no generational relationship depth — scoring deflection risk and triggering proactive family outreach campaigns to build multi-generational FI relationships before wealth transitions.</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linkage model: address, name, and account relationship graph from core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concentration + relationship density scoring per household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Proactive outreach triggers: next-gen Banno digital invites, relationship banker introductions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coverage rate tracked as FI performance KPI in JH executive dashboard</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$84T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household wealth</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transferring by 2045 (Cerulli)</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Of transferred wealth changes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financial institutions</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F3D8A"/>
          </a:solidFill>
          <a:ln w="12700">
            <a:solidFill>
              <a:srgbClr val="0F3D8A"/>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Cerulli Associates — 'U.S. High-Net-Worth and Ultra-High-Net-Worth Markets 2023'  ·  McKinsey — 'The Great Wealth Transfer' (2023)  ·  LIMRA — Intergenerational Wealth Transfer Research</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969264"/>
          </a:xfrm>
          <a:prstGeom prst="rect">
            <a:avLst/>
          </a:prstGeom>
          <a:solidFill>
            <a:srgbClr val="0D2E7A"/>
          </a:solidFill>
          <a:ln w="12700">
            <a:solidFill>
              <a:srgbClr val="0D2E7A"/>
            </a:solidFill>
            <a:prstDash val="solid"/>
          </a:ln>
        </p:spPr>
      </p:sp>
      <p:pic>
        <p:nvPicPr>
          <p:cNvPr id="3" name="Image 0" descr="preencoded.png">    </p:cNvPr>
          <p:cNvPicPr>
            <a:picLocks noChangeAspect="1"/>
          </p:cNvPicPr>
          <p:nvPr/>
        </p:nvPicPr>
        <p:blipFill>
          <a:blip r:embed="rId1"/>
          <a:stretch>
            <a:fillRect/>
          </a:stretch>
        </p:blipFill>
        <p:spPr>
          <a:xfrm>
            <a:off x="347472" y="146304"/>
            <a:ext cx="621792" cy="621792"/>
          </a:xfrm>
          <a:prstGeom prst="rect">
            <a:avLst/>
          </a:prstGeom>
        </p:spPr>
      </p:pic>
      <p:sp>
        <p:nvSpPr>
          <p:cNvPr id="4" name="Text 1"/>
          <p:cNvSpPr/>
          <p:nvPr/>
        </p:nvSpPr>
        <p:spPr>
          <a:xfrm>
            <a:off x="1078992" y="73152"/>
            <a:ext cx="6858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FI Decision Studio</a:t>
            </a:r>
            <a:endParaRPr lang="en-US" sz="2800" dirty="0"/>
          </a:p>
        </p:txBody>
      </p:sp>
      <p:sp>
        <p:nvSpPr>
          <p:cNvPr id="5" name="Text 2"/>
          <p:cNvSpPr/>
          <p:nvPr/>
        </p:nvSpPr>
        <p:spPr>
          <a:xfrm>
            <a:off x="1078992" y="576072"/>
            <a:ext cx="777240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AutoML · SHAP Explainability · Rule Authoring · API Hosting · Drift Monitoring</a:t>
            </a:r>
            <a:endParaRPr lang="en-US" sz="1050" dirty="0"/>
          </a:p>
        </p:txBody>
      </p:sp>
      <p:sp>
        <p:nvSpPr>
          <p:cNvPr id="6" name="Shape 3"/>
          <p:cNvSpPr/>
          <p:nvPr/>
        </p:nvSpPr>
        <p:spPr>
          <a:xfrm>
            <a:off x="320040" y="1078992"/>
            <a:ext cx="54864" cy="256032"/>
          </a:xfrm>
          <a:prstGeom prst="rect">
            <a:avLst/>
          </a:prstGeom>
          <a:solidFill>
            <a:srgbClr val="0D2E7A"/>
          </a:solidFill>
          <a:ln w="12700">
            <a:solidFill>
              <a:srgbClr val="0D2E7A"/>
            </a:solidFill>
            <a:prstDash val="solid"/>
          </a:ln>
        </p:spPr>
      </p:sp>
      <p:sp>
        <p:nvSpPr>
          <p:cNvPr id="7" name="Text 4"/>
          <p:cNvSpPr/>
          <p:nvPr/>
        </p:nvSpPr>
        <p:spPr>
          <a:xfrm>
            <a:off x="438912"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PROBLEM</a:t>
            </a:r>
            <a:endParaRPr lang="en-US" sz="900" dirty="0"/>
          </a:p>
        </p:txBody>
      </p:sp>
      <p:sp>
        <p:nvSpPr>
          <p:cNvPr id="8" name="Text 5"/>
          <p:cNvSpPr/>
          <p:nvPr/>
        </p:nvSpPr>
        <p:spPr>
          <a:xfrm>
            <a:off x="320040" y="1353312"/>
            <a:ext cx="4160520" cy="107899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Community FIs have transaction data, behavioral signals, and fraud intuition built up over decades — but no way to turn it into models. Vendor AI is a black box that doesn't reflect local market dynamics and can't be explained to regulators under SR 11-7 model risk management guidelines. Building custom ML requires data science talent most FIs can't hire or afford.</a:t>
            </a:r>
            <a:endParaRPr lang="en-US" sz="1050" dirty="0"/>
          </a:p>
        </p:txBody>
      </p:sp>
      <p:sp>
        <p:nvSpPr>
          <p:cNvPr id="9" name="Shape 6"/>
          <p:cNvSpPr/>
          <p:nvPr/>
        </p:nvSpPr>
        <p:spPr>
          <a:xfrm>
            <a:off x="347472" y="2523744"/>
            <a:ext cx="146304" cy="146304"/>
          </a:xfrm>
          <a:prstGeom prst="ellipse">
            <a:avLst/>
          </a:prstGeom>
          <a:solidFill>
            <a:srgbClr val="0D2E7A"/>
          </a:solidFill>
          <a:ln w="12700">
            <a:solidFill>
              <a:srgbClr val="0D2E7A"/>
            </a:solidFill>
            <a:prstDash val="solid"/>
          </a:ln>
        </p:spPr>
      </p:sp>
      <p:sp>
        <p:nvSpPr>
          <p:cNvPr id="10" name="Text 7"/>
          <p:cNvSpPr/>
          <p:nvPr/>
        </p:nvSpPr>
        <p:spPr>
          <a:xfrm>
            <a:off x="566928" y="2468880"/>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labeled data to train supervised models — FIs can't even start</a:t>
            </a:r>
            <a:endParaRPr lang="en-US" sz="1000" dirty="0"/>
          </a:p>
        </p:txBody>
      </p:sp>
      <p:sp>
        <p:nvSpPr>
          <p:cNvPr id="11" name="Shape 8"/>
          <p:cNvSpPr/>
          <p:nvPr/>
        </p:nvSpPr>
        <p:spPr>
          <a:xfrm>
            <a:off x="347472" y="2852928"/>
            <a:ext cx="146304" cy="146304"/>
          </a:xfrm>
          <a:prstGeom prst="ellipse">
            <a:avLst/>
          </a:prstGeom>
          <a:solidFill>
            <a:srgbClr val="0D2E7A"/>
          </a:solidFill>
          <a:ln w="12700">
            <a:solidFill>
              <a:srgbClr val="0D2E7A"/>
            </a:solidFill>
            <a:prstDash val="solid"/>
          </a:ln>
        </p:spPr>
      </p:sp>
      <p:sp>
        <p:nvSpPr>
          <p:cNvPr id="12" name="Text 9"/>
          <p:cNvSpPr/>
          <p:nvPr/>
        </p:nvSpPr>
        <p:spPr>
          <a:xfrm>
            <a:off x="566928" y="2798064"/>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Vendor scores can't be explained to the board or examiners</a:t>
            </a:r>
            <a:endParaRPr lang="en-US" sz="1000" dirty="0"/>
          </a:p>
        </p:txBody>
      </p:sp>
      <p:sp>
        <p:nvSpPr>
          <p:cNvPr id="13" name="Shape 10"/>
          <p:cNvSpPr/>
          <p:nvPr/>
        </p:nvSpPr>
        <p:spPr>
          <a:xfrm>
            <a:off x="347472" y="3182112"/>
            <a:ext cx="146304" cy="146304"/>
          </a:xfrm>
          <a:prstGeom prst="ellipse">
            <a:avLst/>
          </a:prstGeom>
          <a:solidFill>
            <a:srgbClr val="0D2E7A"/>
          </a:solidFill>
          <a:ln w="12700">
            <a:solidFill>
              <a:srgbClr val="0D2E7A"/>
            </a:solidFill>
            <a:prstDash val="solid"/>
          </a:ln>
        </p:spPr>
      </p:sp>
      <p:sp>
        <p:nvSpPr>
          <p:cNvPr id="14" name="Text 11"/>
          <p:cNvSpPr/>
          <p:nvPr/>
        </p:nvSpPr>
        <p:spPr>
          <a:xfrm>
            <a:off x="566928" y="3127248"/>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rule authoring — compliance teams can't tune or override ML output</a:t>
            </a:r>
            <a:endParaRPr lang="en-US" sz="1000" dirty="0"/>
          </a:p>
        </p:txBody>
      </p:sp>
      <p:sp>
        <p:nvSpPr>
          <p:cNvPr id="15" name="Shape 12"/>
          <p:cNvSpPr/>
          <p:nvPr/>
        </p:nvSpPr>
        <p:spPr>
          <a:xfrm>
            <a:off x="347472" y="3511296"/>
            <a:ext cx="146304" cy="146304"/>
          </a:xfrm>
          <a:prstGeom prst="ellipse">
            <a:avLst/>
          </a:prstGeom>
          <a:solidFill>
            <a:srgbClr val="0D2E7A"/>
          </a:solidFill>
          <a:ln w="12700">
            <a:solidFill>
              <a:srgbClr val="0D2E7A"/>
            </a:solidFill>
            <a:prstDash val="solid"/>
          </a:ln>
        </p:spPr>
      </p:sp>
      <p:sp>
        <p:nvSpPr>
          <p:cNvPr id="16" name="Text 13"/>
          <p:cNvSpPr/>
          <p:nvPr/>
        </p:nvSpPr>
        <p:spPr>
          <a:xfrm>
            <a:off x="566928" y="3456432"/>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Model deployment requires engineering resources FIs don't have</a:t>
            </a:r>
            <a:endParaRPr lang="en-US" sz="1000" dirty="0"/>
          </a:p>
        </p:txBody>
      </p:sp>
      <p:sp>
        <p:nvSpPr>
          <p:cNvPr id="17" name="Shape 14"/>
          <p:cNvSpPr/>
          <p:nvPr/>
        </p:nvSpPr>
        <p:spPr>
          <a:xfrm>
            <a:off x="4663440" y="1078992"/>
            <a:ext cx="36576" cy="3273552"/>
          </a:xfrm>
          <a:prstGeom prst="rect">
            <a:avLst/>
          </a:prstGeom>
          <a:solidFill>
            <a:srgbClr val="E7ECF0"/>
          </a:solidFill>
          <a:ln w="12700">
            <a:solidFill>
              <a:srgbClr val="E7ECF0"/>
            </a:solidFill>
            <a:prstDash val="solid"/>
          </a:ln>
        </p:spPr>
      </p:sp>
      <p:sp>
        <p:nvSpPr>
          <p:cNvPr id="18" name="Shape 15"/>
          <p:cNvSpPr/>
          <p:nvPr/>
        </p:nvSpPr>
        <p:spPr>
          <a:xfrm>
            <a:off x="4828032" y="1078992"/>
            <a:ext cx="54864" cy="256032"/>
          </a:xfrm>
          <a:prstGeom prst="rect">
            <a:avLst/>
          </a:prstGeom>
          <a:solidFill>
            <a:srgbClr val="0D2E7A"/>
          </a:solidFill>
          <a:ln w="12700">
            <a:solidFill>
              <a:srgbClr val="0D2E7A"/>
            </a:solidFill>
            <a:prstDash val="solid"/>
          </a:ln>
        </p:spPr>
      </p:sp>
      <p:sp>
        <p:nvSpPr>
          <p:cNvPr id="19" name="Text 16"/>
          <p:cNvSpPr/>
          <p:nvPr/>
        </p:nvSpPr>
        <p:spPr>
          <a:xfrm>
            <a:off x="4956048"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SOLUTION</a:t>
            </a:r>
            <a:endParaRPr lang="en-US" sz="900" dirty="0"/>
          </a:p>
        </p:txBody>
      </p:sp>
      <p:sp>
        <p:nvSpPr>
          <p:cNvPr id="20" name="Text 17"/>
          <p:cNvSpPr/>
          <p:nvPr/>
        </p:nvSpPr>
        <p:spPr>
          <a:xfrm>
            <a:off x="4828032" y="1353312"/>
            <a:ext cx="3977640"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FI Decision Studio meets every FI at their label maturity. Start with zero labels — the platform detects anomalies with unsupervised ML. As analysts review and tag cases, it tracks label maturity and offers a one-click upgrade to a full AutoGluon supervised ensemble. Tree SHAP explains every prediction, a rule authoring layer converts model insights into editable human decisions, and one-click API deployment puts models into production without engineering support.</a:t>
            </a:r>
            <a:endParaRPr lang="en-US" sz="1050" dirty="0"/>
          </a:p>
        </p:txBody>
      </p:sp>
      <p:sp>
        <p:nvSpPr>
          <p:cNvPr id="21" name="Shape 18"/>
          <p:cNvSpPr/>
          <p:nvPr/>
        </p:nvSpPr>
        <p:spPr>
          <a:xfrm>
            <a:off x="4828032" y="2596896"/>
            <a:ext cx="54864" cy="256032"/>
          </a:xfrm>
          <a:prstGeom prst="rect">
            <a:avLst/>
          </a:prstGeom>
          <a:solidFill>
            <a:srgbClr val="0D2E7A"/>
          </a:solidFill>
          <a:ln w="12700">
            <a:solidFill>
              <a:srgbClr val="0D2E7A"/>
            </a:solidFill>
            <a:prstDash val="solid"/>
          </a:ln>
        </p:spPr>
      </p:sp>
      <p:sp>
        <p:nvSpPr>
          <p:cNvPr id="22" name="Text 19"/>
          <p:cNvSpPr/>
          <p:nvPr/>
        </p:nvSpPr>
        <p:spPr>
          <a:xfrm>
            <a:off x="4956048" y="2596896"/>
            <a:ext cx="32004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PLATFORM PILLARS</a:t>
            </a:r>
            <a:endParaRPr lang="en-US" sz="900" dirty="0"/>
          </a:p>
        </p:txBody>
      </p:sp>
      <p:sp>
        <p:nvSpPr>
          <p:cNvPr id="23" name="Text 20"/>
          <p:cNvSpPr/>
          <p:nvPr/>
        </p:nvSpPr>
        <p:spPr>
          <a:xfrm>
            <a:off x="4828032" y="2907792"/>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Unsupervised → Supervised: Isolation Forest until labels mature; AutoGluon (CatBoost + XGBoost) ensemble when ready</a:t>
            </a:r>
            <a:endParaRPr lang="en-US" sz="950" dirty="0"/>
          </a:p>
        </p:txBody>
      </p:sp>
      <p:sp>
        <p:nvSpPr>
          <p:cNvPr id="24" name="Text 21"/>
          <p:cNvSpPr/>
          <p:nvPr/>
        </p:nvSpPr>
        <p:spPr>
          <a:xfrm>
            <a:off x="4828032" y="3255264"/>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Tree SHAP on every prediction: top feature drivers, directional impact, plain-English output — SR 11-7 defensible</a:t>
            </a:r>
            <a:endParaRPr lang="en-US" sz="950" dirty="0"/>
          </a:p>
        </p:txBody>
      </p:sp>
      <p:sp>
        <p:nvSpPr>
          <p:cNvPr id="25" name="Text 22"/>
          <p:cNvSpPr/>
          <p:nvPr/>
        </p:nvSpPr>
        <p:spPr>
          <a:xfrm>
            <a:off x="4828032" y="3602736"/>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Rule Authoring: model insights → editable decision rules with visual threshold sliders and backtest on historical data</a:t>
            </a:r>
            <a:endParaRPr lang="en-US" sz="950" dirty="0"/>
          </a:p>
        </p:txBody>
      </p:sp>
      <p:sp>
        <p:nvSpPr>
          <p:cNvPr id="26" name="Text 23"/>
          <p:cNvSpPr/>
          <p:nvPr/>
        </p:nvSpPr>
        <p:spPr>
          <a:xfrm>
            <a:off x="4828032" y="3950208"/>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One-click API: versioned REST endpoint deployment; JH hosts, manages, and monitors — no FI engineering required</a:t>
            </a:r>
            <a:endParaRPr lang="en-US" sz="950" dirty="0"/>
          </a:p>
        </p:txBody>
      </p:sp>
      <p:sp>
        <p:nvSpPr>
          <p:cNvPr id="27" name="Text 24"/>
          <p:cNvSpPr/>
          <p:nvPr/>
        </p:nvSpPr>
        <p:spPr>
          <a:xfrm>
            <a:off x="4828032" y="4297680"/>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Drift Monitoring: PSI on feature distributions weekly; prediction drift alerts; automated retraining recommendations</a:t>
            </a:r>
            <a:endParaRPr lang="en-US" sz="950" dirty="0"/>
          </a:p>
        </p:txBody>
      </p:sp>
      <p:sp>
        <p:nvSpPr>
          <p:cNvPr id="28" name="Shape 25"/>
          <p:cNvSpPr/>
          <p:nvPr/>
        </p:nvSpPr>
        <p:spPr>
          <a:xfrm>
            <a:off x="365760" y="4224528"/>
            <a:ext cx="2560320" cy="877824"/>
          </a:xfrm>
          <a:prstGeom prst="rect">
            <a:avLst/>
          </a:prstGeom>
          <a:solidFill>
            <a:srgbClr val="0D2E7A"/>
          </a:solidFill>
          <a:ln w="12700">
            <a:solidFill>
              <a:srgbClr val="0D2E7A"/>
            </a:solidFill>
            <a:prstDash val="solid"/>
          </a:ln>
        </p:spPr>
      </p:sp>
      <p:sp>
        <p:nvSpPr>
          <p:cNvPr id="29" name="Text 26"/>
          <p:cNvSpPr/>
          <p:nvPr/>
        </p:nvSpPr>
        <p:spPr>
          <a:xfrm>
            <a:off x="36576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&lt; 2 hrs</a:t>
            </a:r>
            <a:endParaRPr lang="en-US" sz="2400" dirty="0"/>
          </a:p>
        </p:txBody>
      </p:sp>
      <p:sp>
        <p:nvSpPr>
          <p:cNvPr id="30" name="Text 27"/>
          <p:cNvSpPr/>
          <p:nvPr/>
        </p:nvSpPr>
        <p:spPr>
          <a:xfrm>
            <a:off x="36576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Data upload → first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trained model deployed</a:t>
            </a:r>
            <a:endParaRPr lang="en-US" sz="950" dirty="0"/>
          </a:p>
        </p:txBody>
      </p:sp>
      <p:sp>
        <p:nvSpPr>
          <p:cNvPr id="31" name="Shape 28"/>
          <p:cNvSpPr/>
          <p:nvPr/>
        </p:nvSpPr>
        <p:spPr>
          <a:xfrm>
            <a:off x="3291840" y="4224528"/>
            <a:ext cx="2560320" cy="877824"/>
          </a:xfrm>
          <a:prstGeom prst="rect">
            <a:avLst/>
          </a:prstGeom>
          <a:solidFill>
            <a:srgbClr val="0D2E7A"/>
          </a:solidFill>
          <a:ln w="12700">
            <a:solidFill>
              <a:srgbClr val="0D2E7A"/>
            </a:solidFill>
            <a:prstDash val="solid"/>
          </a:ln>
        </p:spPr>
      </p:sp>
      <p:sp>
        <p:nvSpPr>
          <p:cNvPr id="32" name="Text 29"/>
          <p:cNvSpPr/>
          <p:nvPr/>
        </p:nvSpPr>
        <p:spPr>
          <a:xfrm>
            <a:off x="329184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SR 11-7</a:t>
            </a:r>
            <a:endParaRPr lang="en-US" sz="2400" dirty="0"/>
          </a:p>
        </p:txBody>
      </p:sp>
      <p:sp>
        <p:nvSpPr>
          <p:cNvPr id="33" name="Text 30"/>
          <p:cNvSpPr/>
          <p:nvPr/>
        </p:nvSpPr>
        <p:spPr>
          <a:xfrm>
            <a:off x="329184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Model risk compliance</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out of the box with SHAP</a:t>
            </a:r>
            <a:endParaRPr lang="en-US" sz="950" dirty="0"/>
          </a:p>
        </p:txBody>
      </p:sp>
      <p:sp>
        <p:nvSpPr>
          <p:cNvPr id="34" name="Shape 31"/>
          <p:cNvSpPr/>
          <p:nvPr/>
        </p:nvSpPr>
        <p:spPr>
          <a:xfrm>
            <a:off x="6217920" y="4224528"/>
            <a:ext cx="2560320" cy="877824"/>
          </a:xfrm>
          <a:prstGeom prst="rect">
            <a:avLst/>
          </a:prstGeom>
          <a:solidFill>
            <a:srgbClr val="0D2E7A"/>
          </a:solidFill>
          <a:ln w="12700">
            <a:solidFill>
              <a:srgbClr val="0D2E7A"/>
            </a:solidFill>
            <a:prstDash val="solid"/>
          </a:ln>
        </p:spPr>
      </p:sp>
      <p:sp>
        <p:nvSpPr>
          <p:cNvPr id="35" name="Text 32"/>
          <p:cNvSpPr/>
          <p:nvPr/>
        </p:nvSpPr>
        <p:spPr>
          <a:xfrm>
            <a:off x="621792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 paths</a:t>
            </a:r>
            <a:endParaRPr lang="en-US" sz="2400" dirty="0"/>
          </a:p>
        </p:txBody>
      </p:sp>
      <p:sp>
        <p:nvSpPr>
          <p:cNvPr id="36" name="Text 33"/>
          <p:cNvSpPr/>
          <p:nvPr/>
        </p:nvSpPr>
        <p:spPr>
          <a:xfrm>
            <a:off x="621792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Unsupervised · supervised</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 hybrid label progression</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Across 1,660 core FI clients — and 7,500+ across the broader JH ecosystem —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374904"/>
          </a:xfrm>
          <a:prstGeom prst="rect">
            <a:avLst/>
          </a:prstGeom>
          <a:solidFill>
            <a:srgbClr val="FFFFFF"/>
          </a:solidFill>
          <a:ln w="12700">
            <a:solidFill>
              <a:srgbClr val="E7ECF0"/>
            </a:solidFill>
            <a:prstDash val="solid"/>
          </a:ln>
        </p:spPr>
      </p:sp>
      <p:sp>
        <p:nvSpPr>
          <p:cNvPr id="10" name="Shape 8"/>
          <p:cNvSpPr/>
          <p:nvPr/>
        </p:nvSpPr>
        <p:spPr>
          <a:xfrm>
            <a:off x="365760" y="1627632"/>
            <a:ext cx="91440" cy="374904"/>
          </a:xfrm>
          <a:prstGeom prst="rect">
            <a:avLst/>
          </a:prstGeom>
          <a:solidFill>
            <a:srgbClr val="085CE5"/>
          </a:solidFill>
          <a:ln w="12700">
            <a:solidFill>
              <a:srgbClr val="085CE5"/>
            </a:solidFill>
            <a:prstDash val="solid"/>
          </a:ln>
        </p:spPr>
      </p:sp>
      <p:sp>
        <p:nvSpPr>
          <p:cNvPr id="11" name="Text 9"/>
          <p:cNvSpPr/>
          <p:nvPr/>
        </p:nvSpPr>
        <p:spPr>
          <a:xfrm>
            <a:off x="502920" y="165506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Churn Sentinel</a:t>
            </a:r>
            <a:endParaRPr lang="en-US" sz="950" dirty="0"/>
          </a:p>
        </p:txBody>
      </p:sp>
      <p:sp>
        <p:nvSpPr>
          <p:cNvPr id="12" name="Text 10"/>
          <p:cNvSpPr/>
          <p:nvPr/>
        </p:nvSpPr>
        <p:spPr>
          <a:xfrm>
            <a:off x="3108960" y="165506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$1–3M / year</a:t>
            </a:r>
            <a:endParaRPr lang="en-US" sz="950" dirty="0"/>
          </a:p>
        </p:txBody>
      </p:sp>
      <p:sp>
        <p:nvSpPr>
          <p:cNvPr id="13" name="Text 11"/>
          <p:cNvSpPr/>
          <p:nvPr/>
        </p:nvSpPr>
        <p:spPr>
          <a:xfrm>
            <a:off x="5029200" y="165506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15–25% churn reduction × avg. customer revenue of $400–$600/yr</a:t>
            </a:r>
            <a:endParaRPr lang="en-US" sz="850" dirty="0"/>
          </a:p>
        </p:txBody>
      </p:sp>
      <p:sp>
        <p:nvSpPr>
          <p:cNvPr id="14" name="Shape 12"/>
          <p:cNvSpPr/>
          <p:nvPr/>
        </p:nvSpPr>
        <p:spPr>
          <a:xfrm>
            <a:off x="365760" y="2029968"/>
            <a:ext cx="8412480" cy="374904"/>
          </a:xfrm>
          <a:prstGeom prst="rect">
            <a:avLst/>
          </a:prstGeom>
          <a:solidFill>
            <a:srgbClr val="E7ECF0"/>
          </a:solidFill>
          <a:ln w="12700">
            <a:solidFill>
              <a:srgbClr val="E7ECF0"/>
            </a:solidFill>
            <a:prstDash val="solid"/>
          </a:ln>
        </p:spPr>
      </p:sp>
      <p:sp>
        <p:nvSpPr>
          <p:cNvPr id="15" name="Shape 13"/>
          <p:cNvSpPr/>
          <p:nvPr/>
        </p:nvSpPr>
        <p:spPr>
          <a:xfrm>
            <a:off x="365760" y="2029968"/>
            <a:ext cx="91440" cy="374904"/>
          </a:xfrm>
          <a:prstGeom prst="rect">
            <a:avLst/>
          </a:prstGeom>
          <a:solidFill>
            <a:srgbClr val="06185F"/>
          </a:solidFill>
          <a:ln w="12700">
            <a:solidFill>
              <a:srgbClr val="06185F"/>
            </a:solidFill>
            <a:prstDash val="solid"/>
          </a:ln>
        </p:spPr>
      </p:sp>
      <p:sp>
        <p:nvSpPr>
          <p:cNvPr id="16" name="Text 14"/>
          <p:cNvSpPr/>
          <p:nvPr/>
        </p:nvSpPr>
        <p:spPr>
          <a:xfrm>
            <a:off x="502920" y="205740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17" name="Text 15"/>
          <p:cNvSpPr/>
          <p:nvPr/>
        </p:nvSpPr>
        <p:spPr>
          <a:xfrm>
            <a:off x="3108960" y="205740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$250K–$600K / year</a:t>
            </a:r>
            <a:endParaRPr lang="en-US" sz="950" dirty="0"/>
          </a:p>
        </p:txBody>
      </p:sp>
      <p:sp>
        <p:nvSpPr>
          <p:cNvPr id="18" name="Text 16"/>
          <p:cNvSpPr/>
          <p:nvPr/>
        </p:nvSpPr>
        <p:spPr>
          <a:xfrm>
            <a:off x="5029200" y="205740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850" dirty="0"/>
          </a:p>
        </p:txBody>
      </p:sp>
      <p:sp>
        <p:nvSpPr>
          <p:cNvPr id="19" name="Shape 17"/>
          <p:cNvSpPr/>
          <p:nvPr/>
        </p:nvSpPr>
        <p:spPr>
          <a:xfrm>
            <a:off x="365760" y="2432304"/>
            <a:ext cx="8412480" cy="374904"/>
          </a:xfrm>
          <a:prstGeom prst="rect">
            <a:avLst/>
          </a:prstGeom>
          <a:solidFill>
            <a:srgbClr val="FFFFFF"/>
          </a:solidFill>
          <a:ln w="12700">
            <a:solidFill>
              <a:srgbClr val="E7ECF0"/>
            </a:solidFill>
            <a:prstDash val="solid"/>
          </a:ln>
        </p:spPr>
      </p:sp>
      <p:sp>
        <p:nvSpPr>
          <p:cNvPr id="20" name="Shape 18"/>
          <p:cNvSpPr/>
          <p:nvPr/>
        </p:nvSpPr>
        <p:spPr>
          <a:xfrm>
            <a:off x="365760" y="2432304"/>
            <a:ext cx="91440" cy="374904"/>
          </a:xfrm>
          <a:prstGeom prst="rect">
            <a:avLst/>
          </a:prstGeom>
          <a:solidFill>
            <a:srgbClr val="073FA8"/>
          </a:solidFill>
          <a:ln w="12700">
            <a:solidFill>
              <a:srgbClr val="073FA8"/>
            </a:solidFill>
            <a:prstDash val="solid"/>
          </a:ln>
        </p:spPr>
      </p:sp>
      <p:sp>
        <p:nvSpPr>
          <p:cNvPr id="21" name="Text 19"/>
          <p:cNvSpPr/>
          <p:nvPr/>
        </p:nvSpPr>
        <p:spPr>
          <a:xfrm>
            <a:off x="502920" y="2459736"/>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22" name="Text 20"/>
          <p:cNvSpPr/>
          <p:nvPr/>
        </p:nvSpPr>
        <p:spPr>
          <a:xfrm>
            <a:off x="3108960" y="2459736"/>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$1–2M / year</a:t>
            </a:r>
            <a:endParaRPr lang="en-US" sz="950" dirty="0"/>
          </a:p>
        </p:txBody>
      </p:sp>
      <p:sp>
        <p:nvSpPr>
          <p:cNvPr id="23" name="Text 21"/>
          <p:cNvSpPr/>
          <p:nvPr/>
        </p:nvSpPr>
        <p:spPr>
          <a:xfrm>
            <a:off x="5029200" y="2459736"/>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850" dirty="0"/>
          </a:p>
        </p:txBody>
      </p:sp>
      <p:sp>
        <p:nvSpPr>
          <p:cNvPr id="24" name="Shape 22"/>
          <p:cNvSpPr/>
          <p:nvPr/>
        </p:nvSpPr>
        <p:spPr>
          <a:xfrm>
            <a:off x="365760" y="2834640"/>
            <a:ext cx="8412480" cy="374904"/>
          </a:xfrm>
          <a:prstGeom prst="rect">
            <a:avLst/>
          </a:prstGeom>
          <a:solidFill>
            <a:srgbClr val="E7ECF0"/>
          </a:solidFill>
          <a:ln w="12700">
            <a:solidFill>
              <a:srgbClr val="E7ECF0"/>
            </a:solidFill>
            <a:prstDash val="solid"/>
          </a:ln>
        </p:spPr>
      </p:sp>
      <p:sp>
        <p:nvSpPr>
          <p:cNvPr id="25" name="Shape 23"/>
          <p:cNvSpPr/>
          <p:nvPr/>
        </p:nvSpPr>
        <p:spPr>
          <a:xfrm>
            <a:off x="365760" y="2834640"/>
            <a:ext cx="91440" cy="374904"/>
          </a:xfrm>
          <a:prstGeom prst="rect">
            <a:avLst/>
          </a:prstGeom>
          <a:solidFill>
            <a:srgbClr val="575A5D"/>
          </a:solidFill>
          <a:ln w="12700">
            <a:solidFill>
              <a:srgbClr val="575A5D"/>
            </a:solidFill>
            <a:prstDash val="solid"/>
          </a:ln>
        </p:spPr>
      </p:sp>
      <p:sp>
        <p:nvSpPr>
          <p:cNvPr id="26" name="Text 24"/>
          <p:cNvSpPr/>
          <p:nvPr/>
        </p:nvSpPr>
        <p:spPr>
          <a:xfrm>
            <a:off x="502920" y="2862072"/>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a:t>
            </a:r>
            <a:endParaRPr lang="en-US" sz="950" dirty="0"/>
          </a:p>
        </p:txBody>
      </p:sp>
      <p:sp>
        <p:nvSpPr>
          <p:cNvPr id="27" name="Text 25"/>
          <p:cNvSpPr/>
          <p:nvPr/>
        </p:nvSpPr>
        <p:spPr>
          <a:xfrm>
            <a:off x="3108960" y="2862072"/>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$100–$300K / year</a:t>
            </a:r>
            <a:endParaRPr lang="en-US" sz="950" dirty="0"/>
          </a:p>
        </p:txBody>
      </p:sp>
      <p:sp>
        <p:nvSpPr>
          <p:cNvPr id="28" name="Text 26"/>
          <p:cNvSpPr/>
          <p:nvPr/>
        </p:nvSpPr>
        <p:spPr>
          <a:xfrm>
            <a:off x="5029200" y="2862072"/>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Analyst hours eliminated for peer benchmarking, board prep, and quarterly NCUA 5300 review; Aug/Sept 2026 launch</a:t>
            </a:r>
            <a:endParaRPr lang="en-US" sz="850" dirty="0"/>
          </a:p>
        </p:txBody>
      </p:sp>
      <p:sp>
        <p:nvSpPr>
          <p:cNvPr id="29" name="Shape 27"/>
          <p:cNvSpPr/>
          <p:nvPr/>
        </p:nvSpPr>
        <p:spPr>
          <a:xfrm>
            <a:off x="365760" y="3236976"/>
            <a:ext cx="8412480" cy="374904"/>
          </a:xfrm>
          <a:prstGeom prst="rect">
            <a:avLst/>
          </a:prstGeom>
          <a:solidFill>
            <a:srgbClr val="FFFFFF"/>
          </a:solidFill>
          <a:ln w="12700">
            <a:solidFill>
              <a:srgbClr val="E7ECF0"/>
            </a:solidFill>
            <a:prstDash val="solid"/>
          </a:ln>
        </p:spPr>
      </p:sp>
      <p:sp>
        <p:nvSpPr>
          <p:cNvPr id="30" name="Shape 28"/>
          <p:cNvSpPr/>
          <p:nvPr/>
        </p:nvSpPr>
        <p:spPr>
          <a:xfrm>
            <a:off x="365760" y="3236976"/>
            <a:ext cx="91440" cy="374904"/>
          </a:xfrm>
          <a:prstGeom prst="rect">
            <a:avLst/>
          </a:prstGeom>
          <a:solidFill>
            <a:srgbClr val="0B68D4"/>
          </a:solidFill>
          <a:ln w="12700">
            <a:solidFill>
              <a:srgbClr val="0B68D4"/>
            </a:solidFill>
            <a:prstDash val="solid"/>
          </a:ln>
        </p:spPr>
      </p:sp>
      <p:sp>
        <p:nvSpPr>
          <p:cNvPr id="31" name="Text 29"/>
          <p:cNvSpPr/>
          <p:nvPr/>
        </p:nvSpPr>
        <p:spPr>
          <a:xfrm>
            <a:off x="502920" y="3264408"/>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a:t>
            </a:r>
            <a:endParaRPr lang="en-US" sz="950" dirty="0"/>
          </a:p>
        </p:txBody>
      </p:sp>
      <p:sp>
        <p:nvSpPr>
          <p:cNvPr id="32" name="Text 30"/>
          <p:cNvSpPr/>
          <p:nvPr/>
        </p:nvSpPr>
        <p:spPr>
          <a:xfrm>
            <a:off x="3108960" y="3264408"/>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$500K–$1.5M / year</a:t>
            </a:r>
            <a:endParaRPr lang="en-US" sz="950" dirty="0"/>
          </a:p>
        </p:txBody>
      </p:sp>
      <p:sp>
        <p:nvSpPr>
          <p:cNvPr id="33" name="Text 31"/>
          <p:cNvSpPr/>
          <p:nvPr/>
        </p:nvSpPr>
        <p:spPr>
          <a:xfrm>
            <a:off x="5029200" y="3264408"/>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Tiered onboarding + 3–5× cross-sell improvement across 5,000–10,000 new accounts</a:t>
            </a:r>
            <a:endParaRPr lang="en-US" sz="850" dirty="0"/>
          </a:p>
        </p:txBody>
      </p:sp>
      <p:sp>
        <p:nvSpPr>
          <p:cNvPr id="34" name="Shape 32"/>
          <p:cNvSpPr/>
          <p:nvPr/>
        </p:nvSpPr>
        <p:spPr>
          <a:xfrm>
            <a:off x="365760" y="3639312"/>
            <a:ext cx="8412480" cy="374904"/>
          </a:xfrm>
          <a:prstGeom prst="rect">
            <a:avLst/>
          </a:prstGeom>
          <a:solidFill>
            <a:srgbClr val="E7ECF0"/>
          </a:solidFill>
          <a:ln w="12700">
            <a:solidFill>
              <a:srgbClr val="E7ECF0"/>
            </a:solidFill>
            <a:prstDash val="solid"/>
          </a:ln>
        </p:spPr>
      </p:sp>
      <p:sp>
        <p:nvSpPr>
          <p:cNvPr id="35" name="Shape 33"/>
          <p:cNvSpPr/>
          <p:nvPr/>
        </p:nvSpPr>
        <p:spPr>
          <a:xfrm>
            <a:off x="365760" y="3639312"/>
            <a:ext cx="91440" cy="374904"/>
          </a:xfrm>
          <a:prstGeom prst="rect">
            <a:avLst/>
          </a:prstGeom>
          <a:solidFill>
            <a:srgbClr val="0A52C4"/>
          </a:solidFill>
          <a:ln w="12700">
            <a:solidFill>
              <a:srgbClr val="0A52C4"/>
            </a:solidFill>
            <a:prstDash val="solid"/>
          </a:ln>
        </p:spPr>
      </p:sp>
      <p:sp>
        <p:nvSpPr>
          <p:cNvPr id="36" name="Text 34"/>
          <p:cNvSpPr/>
          <p:nvPr/>
        </p:nvSpPr>
        <p:spPr>
          <a:xfrm>
            <a:off x="502920" y="366674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CommercialSignal</a:t>
            </a:r>
            <a:endParaRPr lang="en-US" sz="950" dirty="0"/>
          </a:p>
        </p:txBody>
      </p:sp>
      <p:sp>
        <p:nvSpPr>
          <p:cNvPr id="37" name="Text 35"/>
          <p:cNvSpPr/>
          <p:nvPr/>
        </p:nvSpPr>
        <p:spPr>
          <a:xfrm>
            <a:off x="3108960" y="366674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$400K–$1.2M / year</a:t>
            </a:r>
            <a:endParaRPr lang="en-US" sz="950" dirty="0"/>
          </a:p>
        </p:txBody>
      </p:sp>
      <p:sp>
        <p:nvSpPr>
          <p:cNvPr id="38" name="Text 36"/>
          <p:cNvSpPr/>
          <p:nvPr/>
        </p:nvSpPr>
        <p:spPr>
          <a:xfrm>
            <a:off x="5029200" y="366674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SMB conversion revenue from business checking, treasury, and SBA loans on identified commercial-use accounts</a:t>
            </a:r>
            <a:endParaRPr lang="en-US" sz="850" dirty="0"/>
          </a:p>
        </p:txBody>
      </p:sp>
      <p:sp>
        <p:nvSpPr>
          <p:cNvPr id="39" name="Shape 37"/>
          <p:cNvSpPr/>
          <p:nvPr/>
        </p:nvSpPr>
        <p:spPr>
          <a:xfrm>
            <a:off x="365760" y="4041648"/>
            <a:ext cx="8412480" cy="374904"/>
          </a:xfrm>
          <a:prstGeom prst="rect">
            <a:avLst/>
          </a:prstGeom>
          <a:solidFill>
            <a:srgbClr val="FFFFFF"/>
          </a:solidFill>
          <a:ln w="12700">
            <a:solidFill>
              <a:srgbClr val="E7ECF0"/>
            </a:solidFill>
            <a:prstDash val="solid"/>
          </a:ln>
        </p:spPr>
      </p:sp>
      <p:sp>
        <p:nvSpPr>
          <p:cNvPr id="40" name="Shape 38"/>
          <p:cNvSpPr/>
          <p:nvPr/>
        </p:nvSpPr>
        <p:spPr>
          <a:xfrm>
            <a:off x="365760" y="4041648"/>
            <a:ext cx="91440" cy="374904"/>
          </a:xfrm>
          <a:prstGeom prst="rect">
            <a:avLst/>
          </a:prstGeom>
          <a:solidFill>
            <a:srgbClr val="0F3D8A"/>
          </a:solidFill>
          <a:ln w="12700">
            <a:solidFill>
              <a:srgbClr val="0F3D8A"/>
            </a:solidFill>
            <a:prstDash val="solid"/>
          </a:ln>
        </p:spPr>
      </p:sp>
      <p:sp>
        <p:nvSpPr>
          <p:cNvPr id="41" name="Text 39"/>
          <p:cNvSpPr/>
          <p:nvPr/>
        </p:nvSpPr>
        <p:spPr>
          <a:xfrm>
            <a:off x="502920" y="406908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42" name="Text 40"/>
          <p:cNvSpPr/>
          <p:nvPr/>
        </p:nvSpPr>
        <p:spPr>
          <a:xfrm>
            <a:off x="3108960" y="406908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$500K–$2M+ / year</a:t>
            </a:r>
            <a:endParaRPr lang="en-US" sz="950" dirty="0"/>
          </a:p>
        </p:txBody>
      </p:sp>
      <p:sp>
        <p:nvSpPr>
          <p:cNvPr id="43" name="Text 41"/>
          <p:cNvSpPr/>
          <p:nvPr/>
        </p:nvSpPr>
        <p:spPr>
          <a:xfrm>
            <a:off x="5029200" y="406908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AUM retained at generational transition × avg. household deposit balance; one retained high-net-worth household can exceed full-year subscription cost</a:t>
            </a:r>
            <a:endParaRPr lang="en-US" sz="850" dirty="0"/>
          </a:p>
        </p:txBody>
      </p:sp>
      <p:sp>
        <p:nvSpPr>
          <p:cNvPr id="44" name="Shape 42"/>
          <p:cNvSpPr/>
          <p:nvPr/>
        </p:nvSpPr>
        <p:spPr>
          <a:xfrm>
            <a:off x="365760" y="4443984"/>
            <a:ext cx="8412480" cy="420624"/>
          </a:xfrm>
          <a:prstGeom prst="rect">
            <a:avLst/>
          </a:prstGeom>
          <a:solidFill>
            <a:srgbClr val="06185F"/>
          </a:solidFill>
          <a:ln w="12700">
            <a:solidFill>
              <a:srgbClr val="06185F"/>
            </a:solidFill>
            <a:prstDash val="solid"/>
          </a:ln>
        </p:spPr>
      </p:sp>
      <p:sp>
        <p:nvSpPr>
          <p:cNvPr id="45" name="Text 43"/>
          <p:cNvSpPr/>
          <p:nvPr/>
        </p:nvSpPr>
        <p:spPr>
          <a:xfrm>
            <a:off x="502920" y="4471416"/>
            <a:ext cx="2514600" cy="36576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COMBINED POTENTIAL VALUE PER FI</a:t>
            </a:r>
            <a:endParaRPr lang="en-US" sz="1000" dirty="0"/>
          </a:p>
        </p:txBody>
      </p:sp>
      <p:sp>
        <p:nvSpPr>
          <p:cNvPr id="46" name="Text 44"/>
          <p:cNvSpPr/>
          <p:nvPr/>
        </p:nvSpPr>
        <p:spPr>
          <a:xfrm>
            <a:off x="3108960" y="4471416"/>
            <a:ext cx="1783080" cy="365760"/>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$4–10M+ / year</a:t>
            </a:r>
            <a:endParaRPr lang="en-US" sz="1100" dirty="0"/>
          </a:p>
        </p:txBody>
      </p:sp>
      <p:sp>
        <p:nvSpPr>
          <p:cNvPr id="47" name="Text 45"/>
          <p:cNvSpPr/>
          <p:nvPr/>
        </p:nvSpPr>
        <p:spPr>
          <a:xfrm>
            <a:off x="5029200" y="4471416"/>
            <a:ext cx="3657600" cy="36576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7 Phase 1–2 applications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Full Platform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298448"/>
            <a:ext cx="8732520" cy="411480"/>
          </a:xfrm>
          <a:prstGeom prst="rect">
            <a:avLst/>
          </a:prstGeom>
          <a:solidFill>
            <a:srgbClr val="FFFFFF"/>
          </a:solidFill>
          <a:ln w="12700">
            <a:solidFill>
              <a:srgbClr val="E7ECF0"/>
            </a:solidFill>
            <a:prstDash val="solid"/>
          </a:ln>
        </p:spPr>
      </p:sp>
      <p:sp>
        <p:nvSpPr>
          <p:cNvPr id="11" name="Shape 9"/>
          <p:cNvSpPr/>
          <p:nvPr/>
        </p:nvSpPr>
        <p:spPr>
          <a:xfrm>
            <a:off x="320040" y="1298448"/>
            <a:ext cx="73152" cy="411480"/>
          </a:xfrm>
          <a:prstGeom prst="rect">
            <a:avLst/>
          </a:prstGeom>
          <a:solidFill>
            <a:srgbClr val="085CE5"/>
          </a:solidFill>
          <a:ln w="12700">
            <a:solidFill>
              <a:srgbClr val="085CE5"/>
            </a:solidFill>
            <a:prstDash val="solid"/>
          </a:ln>
        </p:spPr>
      </p:sp>
      <p:sp>
        <p:nvSpPr>
          <p:cNvPr id="12" name="Text 10"/>
          <p:cNvSpPr/>
          <p:nvPr/>
        </p:nvSpPr>
        <p:spPr>
          <a:xfrm>
            <a:off x="475488" y="132588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Churn Sentinel</a:t>
            </a:r>
            <a:endParaRPr lang="en-US" sz="950" dirty="0"/>
          </a:p>
        </p:txBody>
      </p:sp>
      <p:sp>
        <p:nvSpPr>
          <p:cNvPr id="13" name="Text 11"/>
          <p:cNvSpPr/>
          <p:nvPr/>
        </p:nvSpPr>
        <p:spPr>
          <a:xfrm>
            <a:off x="475488" y="151790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churn scores + proactive retention triggers per member</a:t>
            </a:r>
            <a:endParaRPr lang="en-US" sz="750" dirty="0"/>
          </a:p>
        </p:txBody>
      </p:sp>
      <p:sp>
        <p:nvSpPr>
          <p:cNvPr id="14" name="Text 12"/>
          <p:cNvSpPr/>
          <p:nvPr/>
        </p:nvSpPr>
        <p:spPr>
          <a:xfrm>
            <a:off x="3520440" y="133502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750" dirty="0"/>
          </a:p>
        </p:txBody>
      </p:sp>
      <p:sp>
        <p:nvSpPr>
          <p:cNvPr id="15" name="Text 13"/>
          <p:cNvSpPr/>
          <p:nvPr/>
        </p:nvSpPr>
        <p:spPr>
          <a:xfrm>
            <a:off x="6355080" y="132588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$800 – $2,500</a:t>
            </a:r>
            <a:endParaRPr lang="en-US" sz="1050" dirty="0"/>
          </a:p>
        </p:txBody>
      </p:sp>
      <p:sp>
        <p:nvSpPr>
          <p:cNvPr id="16" name="Text 14"/>
          <p:cNvSpPr/>
          <p:nvPr/>
        </p:nvSpPr>
        <p:spPr>
          <a:xfrm>
            <a:off x="6355080" y="157276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17" name="Shape 15"/>
          <p:cNvSpPr/>
          <p:nvPr/>
        </p:nvSpPr>
        <p:spPr>
          <a:xfrm>
            <a:off x="7845552" y="1408176"/>
            <a:ext cx="1170432" cy="192024"/>
          </a:xfrm>
          <a:prstGeom prst="roundRect">
            <a:avLst>
              <a:gd name="adj" fmla="val 19048"/>
            </a:avLst>
          </a:prstGeom>
          <a:solidFill>
            <a:srgbClr val="E8F7F7"/>
          </a:solidFill>
          <a:ln w="12700">
            <a:solidFill>
              <a:srgbClr val="085CE5"/>
            </a:solidFill>
            <a:prstDash val="solid"/>
          </a:ln>
        </p:spPr>
      </p:sp>
      <p:sp>
        <p:nvSpPr>
          <p:cNvPr id="18" name="Text 16"/>
          <p:cNvSpPr/>
          <p:nvPr/>
        </p:nvSpPr>
        <p:spPr>
          <a:xfrm>
            <a:off x="7845552" y="140817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19" name="Shape 17"/>
          <p:cNvSpPr/>
          <p:nvPr/>
        </p:nvSpPr>
        <p:spPr>
          <a:xfrm>
            <a:off x="320040" y="1737360"/>
            <a:ext cx="8732520" cy="411480"/>
          </a:xfrm>
          <a:prstGeom prst="rect">
            <a:avLst/>
          </a:prstGeom>
          <a:solidFill>
            <a:srgbClr val="E7ECF0"/>
          </a:solidFill>
          <a:ln w="12700">
            <a:solidFill>
              <a:srgbClr val="E7ECF0"/>
            </a:solidFill>
            <a:prstDash val="solid"/>
          </a:ln>
        </p:spPr>
      </p:sp>
      <p:sp>
        <p:nvSpPr>
          <p:cNvPr id="20" name="Shape 18"/>
          <p:cNvSpPr/>
          <p:nvPr/>
        </p:nvSpPr>
        <p:spPr>
          <a:xfrm>
            <a:off x="320040" y="1737360"/>
            <a:ext cx="73152" cy="411480"/>
          </a:xfrm>
          <a:prstGeom prst="rect">
            <a:avLst/>
          </a:prstGeom>
          <a:solidFill>
            <a:srgbClr val="073FA8"/>
          </a:solidFill>
          <a:ln w="12700">
            <a:solidFill>
              <a:srgbClr val="073FA8"/>
            </a:solidFill>
            <a:prstDash val="solid"/>
          </a:ln>
        </p:spPr>
      </p:sp>
      <p:sp>
        <p:nvSpPr>
          <p:cNvPr id="21" name="Text 19"/>
          <p:cNvSpPr/>
          <p:nvPr/>
        </p:nvSpPr>
        <p:spPr>
          <a:xfrm>
            <a:off x="475488" y="176479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22" name="Text 20"/>
          <p:cNvSpPr/>
          <p:nvPr/>
        </p:nvSpPr>
        <p:spPr>
          <a:xfrm>
            <a:off x="475488" y="195681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NLP + compliance risk scoring on every Zelle transaction</a:t>
            </a:r>
            <a:endParaRPr lang="en-US" sz="750" dirty="0"/>
          </a:p>
        </p:txBody>
      </p:sp>
      <p:sp>
        <p:nvSpPr>
          <p:cNvPr id="23" name="Text 21"/>
          <p:cNvSpPr/>
          <p:nvPr/>
        </p:nvSpPr>
        <p:spPr>
          <a:xfrm>
            <a:off x="3520440" y="177393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750" dirty="0"/>
          </a:p>
        </p:txBody>
      </p:sp>
      <p:sp>
        <p:nvSpPr>
          <p:cNvPr id="24" name="Text 22"/>
          <p:cNvSpPr/>
          <p:nvPr/>
        </p:nvSpPr>
        <p:spPr>
          <a:xfrm>
            <a:off x="6355080" y="176479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25" name="Text 23"/>
          <p:cNvSpPr/>
          <p:nvPr/>
        </p:nvSpPr>
        <p:spPr>
          <a:xfrm>
            <a:off x="6355080" y="201168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26" name="Shape 24"/>
          <p:cNvSpPr/>
          <p:nvPr/>
        </p:nvSpPr>
        <p:spPr>
          <a:xfrm>
            <a:off x="7845552" y="1847088"/>
            <a:ext cx="1170432" cy="192024"/>
          </a:xfrm>
          <a:prstGeom prst="roundRect">
            <a:avLst>
              <a:gd name="adj" fmla="val 19048"/>
            </a:avLst>
          </a:prstGeom>
          <a:solidFill>
            <a:srgbClr val="FFFFFF"/>
          </a:solidFill>
          <a:ln w="12700">
            <a:solidFill>
              <a:srgbClr val="085CE5"/>
            </a:solidFill>
            <a:prstDash val="solid"/>
          </a:ln>
        </p:spPr>
      </p:sp>
      <p:sp>
        <p:nvSpPr>
          <p:cNvPr id="27" name="Text 25"/>
          <p:cNvSpPr/>
          <p:nvPr/>
        </p:nvSpPr>
        <p:spPr>
          <a:xfrm>
            <a:off x="7845552" y="184708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28" name="Shape 26"/>
          <p:cNvSpPr/>
          <p:nvPr/>
        </p:nvSpPr>
        <p:spPr>
          <a:xfrm>
            <a:off x="320040" y="2176272"/>
            <a:ext cx="8732520" cy="411480"/>
          </a:xfrm>
          <a:prstGeom prst="rect">
            <a:avLst/>
          </a:prstGeom>
          <a:solidFill>
            <a:srgbClr val="FFFFFF"/>
          </a:solidFill>
          <a:ln w="12700">
            <a:solidFill>
              <a:srgbClr val="E7ECF0"/>
            </a:solidFill>
            <a:prstDash val="solid"/>
          </a:ln>
        </p:spPr>
      </p:sp>
      <p:sp>
        <p:nvSpPr>
          <p:cNvPr id="29" name="Shape 27"/>
          <p:cNvSpPr/>
          <p:nvPr/>
        </p:nvSpPr>
        <p:spPr>
          <a:xfrm>
            <a:off x="320040" y="2176272"/>
            <a:ext cx="73152" cy="411480"/>
          </a:xfrm>
          <a:prstGeom prst="rect">
            <a:avLst/>
          </a:prstGeom>
          <a:solidFill>
            <a:srgbClr val="0D2E7A"/>
          </a:solidFill>
          <a:ln w="12700">
            <a:solidFill>
              <a:srgbClr val="0D2E7A"/>
            </a:solidFill>
            <a:prstDash val="solid"/>
          </a:ln>
        </p:spPr>
      </p:sp>
      <p:sp>
        <p:nvSpPr>
          <p:cNvPr id="30" name="Text 28"/>
          <p:cNvSpPr/>
          <p:nvPr/>
        </p:nvSpPr>
        <p:spPr>
          <a:xfrm>
            <a:off x="475488" y="220370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31" name="Text 29"/>
          <p:cNvSpPr/>
          <p:nvPr/>
        </p:nvSpPr>
        <p:spPr>
          <a:xfrm>
            <a:off x="475488" y="239572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750" dirty="0"/>
          </a:p>
        </p:txBody>
      </p:sp>
      <p:sp>
        <p:nvSpPr>
          <p:cNvPr id="32" name="Text 30"/>
          <p:cNvSpPr/>
          <p:nvPr/>
        </p:nvSpPr>
        <p:spPr>
          <a:xfrm>
            <a:off x="3520440" y="221284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750" dirty="0"/>
          </a:p>
        </p:txBody>
      </p:sp>
      <p:sp>
        <p:nvSpPr>
          <p:cNvPr id="33" name="Text 31"/>
          <p:cNvSpPr/>
          <p:nvPr/>
        </p:nvSpPr>
        <p:spPr>
          <a:xfrm>
            <a:off x="6355080" y="220370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$600 – $2,000</a:t>
            </a:r>
            <a:endParaRPr lang="en-US" sz="1050" dirty="0"/>
          </a:p>
        </p:txBody>
      </p:sp>
      <p:sp>
        <p:nvSpPr>
          <p:cNvPr id="34" name="Text 32"/>
          <p:cNvSpPr/>
          <p:nvPr/>
        </p:nvSpPr>
        <p:spPr>
          <a:xfrm>
            <a:off x="6355080" y="245059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35" name="Shape 33"/>
          <p:cNvSpPr/>
          <p:nvPr/>
        </p:nvSpPr>
        <p:spPr>
          <a:xfrm>
            <a:off x="7845552" y="2286000"/>
            <a:ext cx="1170432" cy="192024"/>
          </a:xfrm>
          <a:prstGeom prst="roundRect">
            <a:avLst>
              <a:gd name="adj" fmla="val 19048"/>
            </a:avLst>
          </a:prstGeom>
          <a:solidFill>
            <a:srgbClr val="E8F7F7"/>
          </a:solidFill>
          <a:ln w="12700">
            <a:solidFill>
              <a:srgbClr val="085CE5"/>
            </a:solidFill>
            <a:prstDash val="solid"/>
          </a:ln>
        </p:spPr>
      </p:sp>
      <p:sp>
        <p:nvSpPr>
          <p:cNvPr id="36" name="Text 34"/>
          <p:cNvSpPr/>
          <p:nvPr/>
        </p:nvSpPr>
        <p:spPr>
          <a:xfrm>
            <a:off x="7845552" y="228600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37" name="Shape 35"/>
          <p:cNvSpPr/>
          <p:nvPr/>
        </p:nvSpPr>
        <p:spPr>
          <a:xfrm>
            <a:off x="320040" y="2615184"/>
            <a:ext cx="8732520" cy="411480"/>
          </a:xfrm>
          <a:prstGeom prst="rect">
            <a:avLst/>
          </a:prstGeom>
          <a:solidFill>
            <a:srgbClr val="E7ECF0"/>
          </a:solidFill>
          <a:ln w="12700">
            <a:solidFill>
              <a:srgbClr val="E7ECF0"/>
            </a:solidFill>
            <a:prstDash val="solid"/>
          </a:ln>
        </p:spPr>
      </p:sp>
      <p:sp>
        <p:nvSpPr>
          <p:cNvPr id="38" name="Shape 36"/>
          <p:cNvSpPr/>
          <p:nvPr/>
        </p:nvSpPr>
        <p:spPr>
          <a:xfrm>
            <a:off x="320040" y="2615184"/>
            <a:ext cx="73152" cy="411480"/>
          </a:xfrm>
          <a:prstGeom prst="rect">
            <a:avLst/>
          </a:prstGeom>
          <a:solidFill>
            <a:srgbClr val="0B68D4"/>
          </a:solidFill>
          <a:ln w="12700">
            <a:solidFill>
              <a:srgbClr val="0B68D4"/>
            </a:solidFill>
            <a:prstDash val="solid"/>
          </a:ln>
        </p:spPr>
      </p:sp>
      <p:sp>
        <p:nvSpPr>
          <p:cNvPr id="39" name="Text 37"/>
          <p:cNvSpPr/>
          <p:nvPr/>
        </p:nvSpPr>
        <p:spPr>
          <a:xfrm>
            <a:off x="475488" y="2642616"/>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 (CallRpt AI)</a:t>
            </a:r>
            <a:endParaRPr lang="en-US" sz="950" dirty="0"/>
          </a:p>
        </p:txBody>
      </p:sp>
      <p:sp>
        <p:nvSpPr>
          <p:cNvPr id="40" name="Text 38"/>
          <p:cNvSpPr/>
          <p:nvPr/>
        </p:nvSpPr>
        <p:spPr>
          <a:xfrm>
            <a:off x="475488" y="2834640"/>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NCUA 5300 intelligence — Pulse, Ask, Compare + AI briefs</a:t>
            </a:r>
            <a:endParaRPr lang="en-US" sz="750" dirty="0"/>
          </a:p>
        </p:txBody>
      </p:sp>
      <p:sp>
        <p:nvSpPr>
          <p:cNvPr id="41" name="Text 39"/>
          <p:cNvSpPr/>
          <p:nvPr/>
        </p:nvSpPr>
        <p:spPr>
          <a:xfrm>
            <a:off x="3520440" y="2651760"/>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Eliminates hours of peer benchmarking &amp; board prep per quarter · Aug/Sept 2026</a:t>
            </a:r>
            <a:endParaRPr lang="en-US" sz="750" dirty="0"/>
          </a:p>
        </p:txBody>
      </p:sp>
      <p:sp>
        <p:nvSpPr>
          <p:cNvPr id="42" name="Text 40"/>
          <p:cNvSpPr/>
          <p:nvPr/>
        </p:nvSpPr>
        <p:spPr>
          <a:xfrm>
            <a:off x="6355080" y="2642616"/>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$300 – $1,000</a:t>
            </a:r>
            <a:endParaRPr lang="en-US" sz="1050" dirty="0"/>
          </a:p>
        </p:txBody>
      </p:sp>
      <p:sp>
        <p:nvSpPr>
          <p:cNvPr id="43" name="Text 41"/>
          <p:cNvSpPr/>
          <p:nvPr/>
        </p:nvSpPr>
        <p:spPr>
          <a:xfrm>
            <a:off x="6355080" y="2889504"/>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44" name="Shape 42"/>
          <p:cNvSpPr/>
          <p:nvPr/>
        </p:nvSpPr>
        <p:spPr>
          <a:xfrm>
            <a:off x="7845552" y="2724912"/>
            <a:ext cx="1170432" cy="192024"/>
          </a:xfrm>
          <a:prstGeom prst="roundRect">
            <a:avLst>
              <a:gd name="adj" fmla="val 19048"/>
            </a:avLst>
          </a:prstGeom>
          <a:solidFill>
            <a:srgbClr val="FFFFFF"/>
          </a:solidFill>
          <a:ln w="12700">
            <a:solidFill>
              <a:srgbClr val="085CE5"/>
            </a:solidFill>
            <a:prstDash val="solid"/>
          </a:ln>
        </p:spPr>
      </p:sp>
      <p:sp>
        <p:nvSpPr>
          <p:cNvPr id="45" name="Text 43"/>
          <p:cNvSpPr/>
          <p:nvPr/>
        </p:nvSpPr>
        <p:spPr>
          <a:xfrm>
            <a:off x="7845552" y="2724912"/>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all tiers</a:t>
            </a:r>
            <a:endParaRPr lang="en-US" sz="650" dirty="0"/>
          </a:p>
        </p:txBody>
      </p:sp>
      <p:sp>
        <p:nvSpPr>
          <p:cNvPr id="46" name="Shape 44"/>
          <p:cNvSpPr/>
          <p:nvPr/>
        </p:nvSpPr>
        <p:spPr>
          <a:xfrm>
            <a:off x="320040" y="3054096"/>
            <a:ext cx="8732520" cy="411480"/>
          </a:xfrm>
          <a:prstGeom prst="rect">
            <a:avLst/>
          </a:prstGeom>
          <a:solidFill>
            <a:srgbClr val="FFFFFF"/>
          </a:solidFill>
          <a:ln w="12700">
            <a:solidFill>
              <a:srgbClr val="E7ECF0"/>
            </a:solidFill>
            <a:prstDash val="solid"/>
          </a:ln>
        </p:spPr>
      </p:sp>
      <p:sp>
        <p:nvSpPr>
          <p:cNvPr id="47" name="Shape 45"/>
          <p:cNvSpPr/>
          <p:nvPr/>
        </p:nvSpPr>
        <p:spPr>
          <a:xfrm>
            <a:off x="320040" y="3054096"/>
            <a:ext cx="73152" cy="411480"/>
          </a:xfrm>
          <a:prstGeom prst="rect">
            <a:avLst/>
          </a:prstGeom>
          <a:solidFill>
            <a:srgbClr val="0B68D4"/>
          </a:solidFill>
          <a:ln w="12700">
            <a:solidFill>
              <a:srgbClr val="0B68D4"/>
            </a:solidFill>
            <a:prstDash val="solid"/>
          </a:ln>
        </p:spPr>
      </p:sp>
      <p:sp>
        <p:nvSpPr>
          <p:cNvPr id="48" name="Text 46"/>
          <p:cNvSpPr/>
          <p:nvPr/>
        </p:nvSpPr>
        <p:spPr>
          <a:xfrm>
            <a:off x="475488" y="3081528"/>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 Model</a:t>
            </a:r>
            <a:endParaRPr lang="en-US" sz="950" dirty="0"/>
          </a:p>
        </p:txBody>
      </p:sp>
      <p:sp>
        <p:nvSpPr>
          <p:cNvPr id="49" name="Text 47"/>
          <p:cNvSpPr/>
          <p:nvPr/>
        </p:nvSpPr>
        <p:spPr>
          <a:xfrm>
            <a:off x="475488" y="3273552"/>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Lifetime value scoring at account open · tiered onboarding triggers</a:t>
            </a:r>
            <a:endParaRPr lang="en-US" sz="750" dirty="0"/>
          </a:p>
        </p:txBody>
      </p:sp>
      <p:sp>
        <p:nvSpPr>
          <p:cNvPr id="50" name="Text 48"/>
          <p:cNvSpPr/>
          <p:nvPr/>
        </p:nvSpPr>
        <p:spPr>
          <a:xfrm>
            <a:off x="3520440" y="3090672"/>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3–5× cross-sell lift · 20–30% improvement in 90-day product adoption</a:t>
            </a:r>
            <a:endParaRPr lang="en-US" sz="750" dirty="0"/>
          </a:p>
        </p:txBody>
      </p:sp>
      <p:sp>
        <p:nvSpPr>
          <p:cNvPr id="51" name="Text 49"/>
          <p:cNvSpPr/>
          <p:nvPr/>
        </p:nvSpPr>
        <p:spPr>
          <a:xfrm>
            <a:off x="6355080" y="3081528"/>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52" name="Text 50"/>
          <p:cNvSpPr/>
          <p:nvPr/>
        </p:nvSpPr>
        <p:spPr>
          <a:xfrm>
            <a:off x="6355080" y="3328416"/>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53" name="Shape 51"/>
          <p:cNvSpPr/>
          <p:nvPr/>
        </p:nvSpPr>
        <p:spPr>
          <a:xfrm>
            <a:off x="7845552" y="3163824"/>
            <a:ext cx="1170432" cy="192024"/>
          </a:xfrm>
          <a:prstGeom prst="roundRect">
            <a:avLst>
              <a:gd name="adj" fmla="val 19048"/>
            </a:avLst>
          </a:prstGeom>
          <a:solidFill>
            <a:srgbClr val="E8F7F7"/>
          </a:solidFill>
          <a:ln w="12700">
            <a:solidFill>
              <a:srgbClr val="085CE5"/>
            </a:solidFill>
            <a:prstDash val="solid"/>
          </a:ln>
        </p:spPr>
      </p:sp>
      <p:sp>
        <p:nvSpPr>
          <p:cNvPr id="54" name="Text 52"/>
          <p:cNvSpPr/>
          <p:nvPr/>
        </p:nvSpPr>
        <p:spPr>
          <a:xfrm>
            <a:off x="7845552" y="3163824"/>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55" name="Shape 53"/>
          <p:cNvSpPr/>
          <p:nvPr/>
        </p:nvSpPr>
        <p:spPr>
          <a:xfrm>
            <a:off x="320040" y="3493008"/>
            <a:ext cx="8732520" cy="411480"/>
          </a:xfrm>
          <a:prstGeom prst="rect">
            <a:avLst/>
          </a:prstGeom>
          <a:solidFill>
            <a:srgbClr val="E7ECF0"/>
          </a:solidFill>
          <a:ln w="12700">
            <a:solidFill>
              <a:srgbClr val="E7ECF0"/>
            </a:solidFill>
            <a:prstDash val="solid"/>
          </a:ln>
        </p:spPr>
      </p:sp>
      <p:sp>
        <p:nvSpPr>
          <p:cNvPr id="56" name="Shape 54"/>
          <p:cNvSpPr/>
          <p:nvPr/>
        </p:nvSpPr>
        <p:spPr>
          <a:xfrm>
            <a:off x="320040" y="3493008"/>
            <a:ext cx="73152" cy="411480"/>
          </a:xfrm>
          <a:prstGeom prst="rect">
            <a:avLst/>
          </a:prstGeom>
          <a:solidFill>
            <a:srgbClr val="0D2E7A"/>
          </a:solidFill>
          <a:ln w="12700">
            <a:solidFill>
              <a:srgbClr val="0D2E7A"/>
            </a:solidFill>
            <a:prstDash val="solid"/>
          </a:ln>
        </p:spPr>
      </p:sp>
      <p:sp>
        <p:nvSpPr>
          <p:cNvPr id="57" name="Text 55"/>
          <p:cNvSpPr/>
          <p:nvPr/>
        </p:nvSpPr>
        <p:spPr>
          <a:xfrm>
            <a:off x="475488" y="352044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FI Decision Studio</a:t>
            </a:r>
            <a:endParaRPr lang="en-US" sz="950" dirty="0"/>
          </a:p>
        </p:txBody>
      </p:sp>
      <p:sp>
        <p:nvSpPr>
          <p:cNvPr id="58" name="Text 56"/>
          <p:cNvSpPr/>
          <p:nvPr/>
        </p:nvSpPr>
        <p:spPr>
          <a:xfrm>
            <a:off x="475488" y="371246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No-code AutoML — unsupervised → supervised + rule authoring + API deploy</a:t>
            </a:r>
            <a:endParaRPr lang="en-US" sz="750" dirty="0"/>
          </a:p>
        </p:txBody>
      </p:sp>
      <p:sp>
        <p:nvSpPr>
          <p:cNvPr id="59" name="Text 57"/>
          <p:cNvSpPr/>
          <p:nvPr/>
        </p:nvSpPr>
        <p:spPr>
          <a:xfrm>
            <a:off x="3520440" y="352958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SR 11-7 defensible SHAP explainability · custom models on FI's own data · no ML team required</a:t>
            </a:r>
            <a:endParaRPr lang="en-US" sz="750" dirty="0"/>
          </a:p>
        </p:txBody>
      </p:sp>
      <p:sp>
        <p:nvSpPr>
          <p:cNvPr id="60" name="Text 58"/>
          <p:cNvSpPr/>
          <p:nvPr/>
        </p:nvSpPr>
        <p:spPr>
          <a:xfrm>
            <a:off x="6355080" y="352044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$1,000 – $3,500</a:t>
            </a:r>
            <a:endParaRPr lang="en-US" sz="1050" dirty="0"/>
          </a:p>
        </p:txBody>
      </p:sp>
      <p:sp>
        <p:nvSpPr>
          <p:cNvPr id="61" name="Text 59"/>
          <p:cNvSpPr/>
          <p:nvPr/>
        </p:nvSpPr>
        <p:spPr>
          <a:xfrm>
            <a:off x="6355080" y="376732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62" name="Shape 60"/>
          <p:cNvSpPr/>
          <p:nvPr/>
        </p:nvSpPr>
        <p:spPr>
          <a:xfrm>
            <a:off x="7845552" y="3602736"/>
            <a:ext cx="1170432" cy="192024"/>
          </a:xfrm>
          <a:prstGeom prst="roundRect">
            <a:avLst>
              <a:gd name="adj" fmla="val 19048"/>
            </a:avLst>
          </a:prstGeom>
          <a:solidFill>
            <a:srgbClr val="FFFFFF"/>
          </a:solidFill>
          <a:ln w="12700">
            <a:solidFill>
              <a:srgbClr val="085CE5"/>
            </a:solidFill>
            <a:prstDash val="solid"/>
          </a:ln>
        </p:spPr>
      </p:sp>
      <p:sp>
        <p:nvSpPr>
          <p:cNvPr id="63" name="Text 61"/>
          <p:cNvSpPr/>
          <p:nvPr/>
        </p:nvSpPr>
        <p:spPr>
          <a:xfrm>
            <a:off x="7845552" y="360273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Enterprise tier only</a:t>
            </a:r>
            <a:endParaRPr lang="en-US" sz="650" dirty="0"/>
          </a:p>
        </p:txBody>
      </p:sp>
      <p:sp>
        <p:nvSpPr>
          <p:cNvPr id="64" name="Shape 62"/>
          <p:cNvSpPr/>
          <p:nvPr/>
        </p:nvSpPr>
        <p:spPr>
          <a:xfrm>
            <a:off x="320040" y="3931920"/>
            <a:ext cx="8732520" cy="411480"/>
          </a:xfrm>
          <a:prstGeom prst="rect">
            <a:avLst/>
          </a:prstGeom>
          <a:solidFill>
            <a:srgbClr val="FFFFFF"/>
          </a:solidFill>
          <a:ln w="12700">
            <a:solidFill>
              <a:srgbClr val="E7ECF0"/>
            </a:solidFill>
            <a:prstDash val="solid"/>
          </a:ln>
        </p:spPr>
      </p:sp>
      <p:sp>
        <p:nvSpPr>
          <p:cNvPr id="65" name="Shape 63"/>
          <p:cNvSpPr/>
          <p:nvPr/>
        </p:nvSpPr>
        <p:spPr>
          <a:xfrm>
            <a:off x="320040" y="3931920"/>
            <a:ext cx="73152" cy="411480"/>
          </a:xfrm>
          <a:prstGeom prst="rect">
            <a:avLst/>
          </a:prstGeom>
          <a:solidFill>
            <a:srgbClr val="0A52C4"/>
          </a:solidFill>
          <a:ln w="12700">
            <a:solidFill>
              <a:srgbClr val="0A52C4"/>
            </a:solidFill>
            <a:prstDash val="solid"/>
          </a:ln>
        </p:spPr>
      </p:sp>
      <p:sp>
        <p:nvSpPr>
          <p:cNvPr id="66" name="Text 64"/>
          <p:cNvSpPr/>
          <p:nvPr/>
        </p:nvSpPr>
        <p:spPr>
          <a:xfrm>
            <a:off x="475488" y="395935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CommercialSignal</a:t>
            </a:r>
            <a:endParaRPr lang="en-US" sz="950" dirty="0"/>
          </a:p>
        </p:txBody>
      </p:sp>
      <p:sp>
        <p:nvSpPr>
          <p:cNvPr id="67" name="Text 65"/>
          <p:cNvSpPr/>
          <p:nvPr/>
        </p:nvSpPr>
        <p:spPr>
          <a:xfrm>
            <a:off x="475488" y="415137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scoring of personal accounts exhibiting commercial transaction signatures</a:t>
            </a:r>
            <a:endParaRPr lang="en-US" sz="750" dirty="0"/>
          </a:p>
        </p:txBody>
      </p:sp>
      <p:sp>
        <p:nvSpPr>
          <p:cNvPr id="68" name="Text 66"/>
          <p:cNvSpPr/>
          <p:nvPr/>
        </p:nvSpPr>
        <p:spPr>
          <a:xfrm>
            <a:off x="3520440" y="396849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Converts hidden SMB accounts to business banking — fee income, treasury products, SBA loans</a:t>
            </a:r>
            <a:endParaRPr lang="en-US" sz="750" dirty="0"/>
          </a:p>
        </p:txBody>
      </p:sp>
      <p:sp>
        <p:nvSpPr>
          <p:cNvPr id="69" name="Text 67"/>
          <p:cNvSpPr/>
          <p:nvPr/>
        </p:nvSpPr>
        <p:spPr>
          <a:xfrm>
            <a:off x="6355080" y="395935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70" name="Text 68"/>
          <p:cNvSpPr/>
          <p:nvPr/>
        </p:nvSpPr>
        <p:spPr>
          <a:xfrm>
            <a:off x="6355080" y="420624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71" name="Shape 69"/>
          <p:cNvSpPr/>
          <p:nvPr/>
        </p:nvSpPr>
        <p:spPr>
          <a:xfrm>
            <a:off x="7845552" y="4041648"/>
            <a:ext cx="1170432" cy="192024"/>
          </a:xfrm>
          <a:prstGeom prst="roundRect">
            <a:avLst>
              <a:gd name="adj" fmla="val 19048"/>
            </a:avLst>
          </a:prstGeom>
          <a:solidFill>
            <a:srgbClr val="E8F7F7"/>
          </a:solidFill>
          <a:ln w="12700">
            <a:solidFill>
              <a:srgbClr val="085CE5"/>
            </a:solidFill>
            <a:prstDash val="solid"/>
          </a:ln>
        </p:spPr>
      </p:sp>
      <p:sp>
        <p:nvSpPr>
          <p:cNvPr id="72" name="Text 70"/>
          <p:cNvSpPr/>
          <p:nvPr/>
        </p:nvSpPr>
        <p:spPr>
          <a:xfrm>
            <a:off x="7845552" y="404164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73" name="Shape 71"/>
          <p:cNvSpPr/>
          <p:nvPr/>
        </p:nvSpPr>
        <p:spPr>
          <a:xfrm>
            <a:off x="320040" y="4370832"/>
            <a:ext cx="8732520" cy="411480"/>
          </a:xfrm>
          <a:prstGeom prst="rect">
            <a:avLst/>
          </a:prstGeom>
          <a:solidFill>
            <a:srgbClr val="E7ECF0"/>
          </a:solidFill>
          <a:ln w="12700">
            <a:solidFill>
              <a:srgbClr val="E7ECF0"/>
            </a:solidFill>
            <a:prstDash val="solid"/>
          </a:ln>
        </p:spPr>
      </p:sp>
      <p:sp>
        <p:nvSpPr>
          <p:cNvPr id="74" name="Shape 72"/>
          <p:cNvSpPr/>
          <p:nvPr/>
        </p:nvSpPr>
        <p:spPr>
          <a:xfrm>
            <a:off x="320040" y="4370832"/>
            <a:ext cx="73152" cy="411480"/>
          </a:xfrm>
          <a:prstGeom prst="rect">
            <a:avLst/>
          </a:prstGeom>
          <a:solidFill>
            <a:srgbClr val="0F3D8A"/>
          </a:solidFill>
          <a:ln w="12700">
            <a:solidFill>
              <a:srgbClr val="0F3D8A"/>
            </a:solidFill>
            <a:prstDash val="solid"/>
          </a:ln>
        </p:spPr>
      </p:sp>
      <p:sp>
        <p:nvSpPr>
          <p:cNvPr id="75" name="Text 73"/>
          <p:cNvSpPr/>
          <p:nvPr/>
        </p:nvSpPr>
        <p:spPr>
          <a:xfrm>
            <a:off x="475488" y="439826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76" name="Text 74"/>
          <p:cNvSpPr/>
          <p:nvPr/>
        </p:nvSpPr>
        <p:spPr>
          <a:xfrm>
            <a:off x="475488" y="459028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Household coverage scoring · next-gen relationship expansion before wealth transfers</a:t>
            </a:r>
            <a:endParaRPr lang="en-US" sz="750" dirty="0"/>
          </a:p>
        </p:txBody>
      </p:sp>
      <p:sp>
        <p:nvSpPr>
          <p:cNvPr id="77" name="Text 75"/>
          <p:cNvSpPr/>
          <p:nvPr/>
        </p:nvSpPr>
        <p:spPr>
          <a:xfrm>
            <a:off x="3520440" y="440740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AUM retained at generational transition · multi-generational household relationships built proactively</a:t>
            </a:r>
            <a:endParaRPr lang="en-US" sz="750" dirty="0"/>
          </a:p>
        </p:txBody>
      </p:sp>
      <p:sp>
        <p:nvSpPr>
          <p:cNvPr id="78" name="Text 76"/>
          <p:cNvSpPr/>
          <p:nvPr/>
        </p:nvSpPr>
        <p:spPr>
          <a:xfrm>
            <a:off x="6355080" y="439826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79" name="Text 77"/>
          <p:cNvSpPr/>
          <p:nvPr/>
        </p:nvSpPr>
        <p:spPr>
          <a:xfrm>
            <a:off x="6355080" y="464515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80" name="Shape 78"/>
          <p:cNvSpPr/>
          <p:nvPr/>
        </p:nvSpPr>
        <p:spPr>
          <a:xfrm>
            <a:off x="7845552" y="4480560"/>
            <a:ext cx="1170432" cy="192024"/>
          </a:xfrm>
          <a:prstGeom prst="roundRect">
            <a:avLst>
              <a:gd name="adj" fmla="val 19048"/>
            </a:avLst>
          </a:prstGeom>
          <a:solidFill>
            <a:srgbClr val="FFFFFF"/>
          </a:solidFill>
          <a:ln w="12700">
            <a:solidFill>
              <a:srgbClr val="085CE5"/>
            </a:solidFill>
            <a:prstDash val="solid"/>
          </a:ln>
        </p:spPr>
      </p:sp>
      <p:sp>
        <p:nvSpPr>
          <p:cNvPr id="81" name="Text 79"/>
          <p:cNvSpPr/>
          <p:nvPr/>
        </p:nvSpPr>
        <p:spPr>
          <a:xfrm>
            <a:off x="7845552" y="448056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82" name="Shape 80"/>
          <p:cNvSpPr/>
          <p:nvPr/>
        </p:nvSpPr>
        <p:spPr>
          <a:xfrm>
            <a:off x="320040" y="4809744"/>
            <a:ext cx="8732520" cy="292608"/>
          </a:xfrm>
          <a:prstGeom prst="rect">
            <a:avLst/>
          </a:prstGeom>
          <a:solidFill>
            <a:srgbClr val="06185F"/>
          </a:solidFill>
          <a:ln w="12700">
            <a:solidFill>
              <a:srgbClr val="06185F"/>
            </a:solidFill>
            <a:prstDash val="solid"/>
          </a:ln>
        </p:spPr>
      </p:sp>
      <p:sp>
        <p:nvSpPr>
          <p:cNvPr id="83" name="Text 81"/>
          <p:cNvSpPr/>
          <p:nvPr/>
        </p:nvSpPr>
        <p:spPr>
          <a:xfrm>
            <a:off x="475488" y="4837176"/>
            <a:ext cx="4114800" cy="237744"/>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STANDALONE TOTAL — ALL EIGHT APPS (MID-MARKET FI)</a:t>
            </a:r>
            <a:endParaRPr lang="en-US" sz="900" dirty="0"/>
          </a:p>
        </p:txBody>
      </p:sp>
      <p:sp>
        <p:nvSpPr>
          <p:cNvPr id="84" name="Text 82"/>
          <p:cNvSpPr/>
          <p:nvPr/>
        </p:nvSpPr>
        <p:spPr>
          <a:xfrm>
            <a:off x="6355080" y="4837176"/>
            <a:ext cx="1417320" cy="237744"/>
          </a:xfrm>
          <a:prstGeom prst="rect">
            <a:avLst/>
          </a:prstGeom>
          <a:noFill/>
          <a:ln/>
        </p:spPr>
        <p:txBody>
          <a:bodyPr wrap="square" lIns="0" tIns="0" rIns="0" bIns="0" rtlCol="0" anchor="ctr"/>
          <a:lstStyle/>
          <a:p>
            <a:pPr algn="ctr" indent="0" marL="0">
              <a:buNone/>
            </a:pPr>
            <a:r>
              <a:rPr lang="en-US" sz="1200" b="1" dirty="0">
                <a:solidFill>
                  <a:srgbClr val="76DCFD"/>
                </a:solidFill>
                <a:latin typeface="Calibri" pitchFamily="34" charset="0"/>
                <a:ea typeface="Calibri" pitchFamily="34" charset="-122"/>
                <a:cs typeface="Calibri" pitchFamily="34" charset="-120"/>
              </a:rPr>
              <a:t>~$8,100 / mo</a:t>
            </a:r>
            <a:endParaRPr lang="en-US" sz="1200" dirty="0"/>
          </a:p>
        </p:txBody>
      </p:sp>
      <p:sp>
        <p:nvSpPr>
          <p:cNvPr id="85" name="Text 83"/>
          <p:cNvSpPr/>
          <p:nvPr/>
        </p:nvSpPr>
        <p:spPr>
          <a:xfrm>
            <a:off x="7635240" y="4846320"/>
            <a:ext cx="1389888" cy="201168"/>
          </a:xfrm>
          <a:prstGeom prst="rect">
            <a:avLst/>
          </a:prstGeom>
          <a:noFill/>
          <a:ln/>
        </p:spPr>
        <p:txBody>
          <a:bodyPr wrap="square" lIns="0" tIns="0" rIns="0" bIns="0" rtlCol="0" anchor="ctr"/>
          <a:lstStyle/>
          <a:p>
            <a:pPr algn="ctr" indent="0" marL="0">
              <a:buNone/>
            </a:pPr>
            <a:r>
              <a:rPr lang="en-US" sz="850" dirty="0">
                <a:solidFill>
                  <a:srgbClr val="76DCFD"/>
                </a:solidFill>
                <a:latin typeface="Calibri" pitchFamily="34" charset="0"/>
                <a:ea typeface="Calibri" pitchFamily="34" charset="-122"/>
                <a:cs typeface="Calibri" pitchFamily="34" charset="-120"/>
              </a:rPr>
              <a:t>vs. ~$6,000 bundled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1,660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  FFIEC Call Reports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CallRpt AI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$9M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$15M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Sentinel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+$12M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+$17M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+$13M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$39M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$65M+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Columns reflect 30%, 60%, and 100% penetration of JH's 1,660 core FI clients (940 banks + 720 CUs). Source: JH 10-K FY2024.</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Horizon Pipeline — Phase 2 &amp; Year 2 Platform Opportunities</a:t>
            </a:r>
            <a:endParaRPr lang="en-US" sz="2000" dirty="0"/>
          </a:p>
        </p:txBody>
      </p:sp>
      <p:sp>
        <p:nvSpPr>
          <p:cNvPr id="4" name="Shape 2"/>
          <p:cNvSpPr/>
          <p:nvPr/>
        </p:nvSpPr>
        <p:spPr>
          <a:xfrm>
            <a:off x="128016"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128016" y="786384"/>
            <a:ext cx="2798064" cy="73152"/>
          </a:xfrm>
          <a:prstGeom prst="rect">
            <a:avLst/>
          </a:prstGeom>
          <a:solidFill>
            <a:srgbClr val="085CE5"/>
          </a:solidFill>
          <a:ln w="12700">
            <a:solidFill>
              <a:srgbClr val="085CE5"/>
            </a:solidFill>
            <a:prstDash val="solid"/>
          </a:ln>
        </p:spPr>
      </p:sp>
      <p:sp>
        <p:nvSpPr>
          <p:cNvPr id="6" name="Shape 4"/>
          <p:cNvSpPr/>
          <p:nvPr/>
        </p:nvSpPr>
        <p:spPr>
          <a:xfrm>
            <a:off x="2322576" y="914400"/>
            <a:ext cx="548640" cy="182880"/>
          </a:xfrm>
          <a:prstGeom prst="rect">
            <a:avLst/>
          </a:prstGeom>
          <a:solidFill>
            <a:srgbClr val="085CE5"/>
          </a:solidFill>
          <a:ln w="12700">
            <a:solidFill>
              <a:srgbClr val="085CE5"/>
            </a:solidFill>
            <a:prstDash val="solid"/>
          </a:ln>
        </p:spPr>
      </p:sp>
      <p:sp>
        <p:nvSpPr>
          <p:cNvPr id="7" name="Text 5"/>
          <p:cNvSpPr/>
          <p:nvPr/>
        </p:nvSpPr>
        <p:spPr>
          <a:xfrm>
            <a:off x="2322576"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8" name="Image 0" descr="preencoded.png">    </p:cNvPr>
          <p:cNvPicPr>
            <a:picLocks noChangeAspect="1"/>
          </p:cNvPicPr>
          <p:nvPr/>
        </p:nvPicPr>
        <p:blipFill>
          <a:blip r:embed="rId1"/>
          <a:stretch>
            <a:fillRect/>
          </a:stretch>
        </p:blipFill>
        <p:spPr>
          <a:xfrm>
            <a:off x="256032" y="969264"/>
            <a:ext cx="310896" cy="310896"/>
          </a:xfrm>
          <a:prstGeom prst="rect">
            <a:avLst/>
          </a:prstGeom>
        </p:spPr>
      </p:pic>
      <p:sp>
        <p:nvSpPr>
          <p:cNvPr id="9" name="Text 6"/>
          <p:cNvSpPr/>
          <p:nvPr/>
        </p:nvSpPr>
        <p:spPr>
          <a:xfrm>
            <a:off x="621792"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Cross-Sell Propensity</a:t>
            </a:r>
            <a:endParaRPr lang="en-US" sz="950" dirty="0"/>
          </a:p>
        </p:txBody>
      </p:sp>
      <p:sp>
        <p:nvSpPr>
          <p:cNvPr id="10" name="Text 7"/>
          <p:cNvSpPr/>
          <p:nvPr/>
        </p:nvSpPr>
        <p:spPr>
          <a:xfrm>
            <a:off x="237744"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900" dirty="0"/>
          </a:p>
        </p:txBody>
      </p:sp>
      <p:sp>
        <p:nvSpPr>
          <p:cNvPr id="11" name="Shape 8"/>
          <p:cNvSpPr/>
          <p:nvPr/>
        </p:nvSpPr>
        <p:spPr>
          <a:xfrm>
            <a:off x="3072384"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3072384" y="786384"/>
            <a:ext cx="2798064" cy="73152"/>
          </a:xfrm>
          <a:prstGeom prst="rect">
            <a:avLst/>
          </a:prstGeom>
          <a:solidFill>
            <a:srgbClr val="06185F"/>
          </a:solidFill>
          <a:ln w="12700">
            <a:solidFill>
              <a:srgbClr val="06185F"/>
            </a:solidFill>
            <a:prstDash val="solid"/>
          </a:ln>
        </p:spPr>
      </p:sp>
      <p:sp>
        <p:nvSpPr>
          <p:cNvPr id="13" name="Shape 10"/>
          <p:cNvSpPr/>
          <p:nvPr/>
        </p:nvSpPr>
        <p:spPr>
          <a:xfrm>
            <a:off x="5266944" y="914400"/>
            <a:ext cx="548640" cy="182880"/>
          </a:xfrm>
          <a:prstGeom prst="rect">
            <a:avLst/>
          </a:prstGeom>
          <a:solidFill>
            <a:srgbClr val="06185F"/>
          </a:solidFill>
          <a:ln w="12700">
            <a:solidFill>
              <a:srgbClr val="06185F"/>
            </a:solidFill>
            <a:prstDash val="solid"/>
          </a:ln>
        </p:spPr>
      </p:sp>
      <p:sp>
        <p:nvSpPr>
          <p:cNvPr id="14" name="Text 11"/>
          <p:cNvSpPr/>
          <p:nvPr/>
        </p:nvSpPr>
        <p:spPr>
          <a:xfrm>
            <a:off x="5266944"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15" name="Image 1" descr="preencoded.png">    </p:cNvPr>
          <p:cNvPicPr>
            <a:picLocks noChangeAspect="1"/>
          </p:cNvPicPr>
          <p:nvPr/>
        </p:nvPicPr>
        <p:blipFill>
          <a:blip r:embed="rId2"/>
          <a:stretch>
            <a:fillRect/>
          </a:stretch>
        </p:blipFill>
        <p:spPr>
          <a:xfrm>
            <a:off x="3200400" y="969264"/>
            <a:ext cx="310896" cy="310896"/>
          </a:xfrm>
          <a:prstGeom prst="rect">
            <a:avLst/>
          </a:prstGeom>
        </p:spPr>
      </p:pic>
      <p:sp>
        <p:nvSpPr>
          <p:cNvPr id="16" name="Text 12"/>
          <p:cNvSpPr/>
          <p:nvPr/>
        </p:nvSpPr>
        <p:spPr>
          <a:xfrm>
            <a:off x="3566160"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Fraud Ring Detection</a:t>
            </a:r>
            <a:endParaRPr lang="en-US" sz="950" dirty="0"/>
          </a:p>
        </p:txBody>
      </p:sp>
      <p:sp>
        <p:nvSpPr>
          <p:cNvPr id="17" name="Text 13"/>
          <p:cNvSpPr/>
          <p:nvPr/>
        </p:nvSpPr>
        <p:spPr>
          <a:xfrm>
            <a:off x="3182112"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900" dirty="0"/>
          </a:p>
        </p:txBody>
      </p:sp>
      <p:sp>
        <p:nvSpPr>
          <p:cNvPr id="18" name="Shape 14"/>
          <p:cNvSpPr/>
          <p:nvPr/>
        </p:nvSpPr>
        <p:spPr>
          <a:xfrm>
            <a:off x="6016752"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6016752" y="786384"/>
            <a:ext cx="2798064" cy="73152"/>
          </a:xfrm>
          <a:prstGeom prst="rect">
            <a:avLst/>
          </a:prstGeom>
          <a:solidFill>
            <a:srgbClr val="073FA8"/>
          </a:solidFill>
          <a:ln w="12700">
            <a:solidFill>
              <a:srgbClr val="073FA8"/>
            </a:solidFill>
            <a:prstDash val="solid"/>
          </a:ln>
        </p:spPr>
      </p:sp>
      <p:sp>
        <p:nvSpPr>
          <p:cNvPr id="20" name="Shape 16"/>
          <p:cNvSpPr/>
          <p:nvPr/>
        </p:nvSpPr>
        <p:spPr>
          <a:xfrm>
            <a:off x="8211312" y="914400"/>
            <a:ext cx="548640" cy="182880"/>
          </a:xfrm>
          <a:prstGeom prst="rect">
            <a:avLst/>
          </a:prstGeom>
          <a:solidFill>
            <a:srgbClr val="073FA8"/>
          </a:solidFill>
          <a:ln w="12700">
            <a:solidFill>
              <a:srgbClr val="073FA8"/>
            </a:solidFill>
            <a:prstDash val="solid"/>
          </a:ln>
        </p:spPr>
      </p:sp>
      <p:sp>
        <p:nvSpPr>
          <p:cNvPr id="21" name="Text 17"/>
          <p:cNvSpPr/>
          <p:nvPr/>
        </p:nvSpPr>
        <p:spPr>
          <a:xfrm>
            <a:off x="8211312"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22" name="Image 2" descr="preencoded.png">    </p:cNvPr>
          <p:cNvPicPr>
            <a:picLocks noChangeAspect="1"/>
          </p:cNvPicPr>
          <p:nvPr/>
        </p:nvPicPr>
        <p:blipFill>
          <a:blip r:embed="rId3"/>
          <a:stretch>
            <a:fillRect/>
          </a:stretch>
        </p:blipFill>
        <p:spPr>
          <a:xfrm>
            <a:off x="6144768" y="969264"/>
            <a:ext cx="310896" cy="310896"/>
          </a:xfrm>
          <a:prstGeom prst="rect">
            <a:avLst/>
          </a:prstGeom>
        </p:spPr>
      </p:pic>
      <p:sp>
        <p:nvSpPr>
          <p:cNvPr id="23" name="Text 18"/>
          <p:cNvSpPr/>
          <p:nvPr/>
        </p:nvSpPr>
        <p:spPr>
          <a:xfrm>
            <a:off x="6510528"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Deposit Runoff Forecasting</a:t>
            </a:r>
            <a:endParaRPr lang="en-US" sz="950" dirty="0"/>
          </a:p>
        </p:txBody>
      </p:sp>
      <p:sp>
        <p:nvSpPr>
          <p:cNvPr id="24" name="Text 19"/>
          <p:cNvSpPr/>
          <p:nvPr/>
        </p:nvSpPr>
        <p:spPr>
          <a:xfrm>
            <a:off x="6126480"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900" dirty="0"/>
          </a:p>
        </p:txBody>
      </p:sp>
      <p:sp>
        <p:nvSpPr>
          <p:cNvPr id="25" name="Shape 20"/>
          <p:cNvSpPr/>
          <p:nvPr/>
        </p:nvSpPr>
        <p:spPr>
          <a:xfrm>
            <a:off x="128016"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128016" y="2889504"/>
            <a:ext cx="2798064" cy="73152"/>
          </a:xfrm>
          <a:prstGeom prst="rect">
            <a:avLst/>
          </a:prstGeom>
          <a:solidFill>
            <a:srgbClr val="575A5D"/>
          </a:solidFill>
          <a:ln w="12700">
            <a:solidFill>
              <a:srgbClr val="575A5D"/>
            </a:solidFill>
            <a:prstDash val="solid"/>
          </a:ln>
        </p:spPr>
      </p:sp>
      <p:sp>
        <p:nvSpPr>
          <p:cNvPr id="27" name="Shape 22"/>
          <p:cNvSpPr/>
          <p:nvPr/>
        </p:nvSpPr>
        <p:spPr>
          <a:xfrm>
            <a:off x="2322576" y="3017520"/>
            <a:ext cx="548640" cy="182880"/>
          </a:xfrm>
          <a:prstGeom prst="rect">
            <a:avLst/>
          </a:prstGeom>
          <a:solidFill>
            <a:srgbClr val="575A5D"/>
          </a:solidFill>
          <a:ln w="12700">
            <a:solidFill>
              <a:srgbClr val="575A5D"/>
            </a:solidFill>
            <a:prstDash val="solid"/>
          </a:ln>
        </p:spPr>
      </p:sp>
      <p:sp>
        <p:nvSpPr>
          <p:cNvPr id="28" name="Text 23"/>
          <p:cNvSpPr/>
          <p:nvPr/>
        </p:nvSpPr>
        <p:spPr>
          <a:xfrm>
            <a:off x="2322576"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29" name="Image 3" descr="preencoded.png">    </p:cNvPr>
          <p:cNvPicPr>
            <a:picLocks noChangeAspect="1"/>
          </p:cNvPicPr>
          <p:nvPr/>
        </p:nvPicPr>
        <p:blipFill>
          <a:blip r:embed="rId4"/>
          <a:stretch>
            <a:fillRect/>
          </a:stretch>
        </p:blipFill>
        <p:spPr>
          <a:xfrm>
            <a:off x="256032" y="3072384"/>
            <a:ext cx="310896" cy="310896"/>
          </a:xfrm>
          <a:prstGeom prst="rect">
            <a:avLst/>
          </a:prstGeom>
        </p:spPr>
      </p:pic>
      <p:sp>
        <p:nvSpPr>
          <p:cNvPr id="30" name="Text 24"/>
          <p:cNvSpPr/>
          <p:nvPr/>
        </p:nvSpPr>
        <p:spPr>
          <a:xfrm>
            <a:off x="621792"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Overdraft Prediction</a:t>
            </a:r>
            <a:endParaRPr lang="en-US" sz="950" dirty="0"/>
          </a:p>
        </p:txBody>
      </p:sp>
      <p:sp>
        <p:nvSpPr>
          <p:cNvPr id="31" name="Text 25"/>
          <p:cNvSpPr/>
          <p:nvPr/>
        </p:nvSpPr>
        <p:spPr>
          <a:xfrm>
            <a:off x="237744"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900" dirty="0"/>
          </a:p>
        </p:txBody>
      </p:sp>
      <p:sp>
        <p:nvSpPr>
          <p:cNvPr id="32" name="Shape 26"/>
          <p:cNvSpPr/>
          <p:nvPr/>
        </p:nvSpPr>
        <p:spPr>
          <a:xfrm>
            <a:off x="3072384"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3" name="Shape 27"/>
          <p:cNvSpPr/>
          <p:nvPr/>
        </p:nvSpPr>
        <p:spPr>
          <a:xfrm>
            <a:off x="3072384" y="2889504"/>
            <a:ext cx="2798064" cy="73152"/>
          </a:xfrm>
          <a:prstGeom prst="rect">
            <a:avLst/>
          </a:prstGeom>
          <a:solidFill>
            <a:srgbClr val="0B68D4"/>
          </a:solidFill>
          <a:ln w="12700">
            <a:solidFill>
              <a:srgbClr val="0B68D4"/>
            </a:solidFill>
            <a:prstDash val="solid"/>
          </a:ln>
        </p:spPr>
      </p:sp>
      <p:sp>
        <p:nvSpPr>
          <p:cNvPr id="34" name="Shape 28"/>
          <p:cNvSpPr/>
          <p:nvPr/>
        </p:nvSpPr>
        <p:spPr>
          <a:xfrm>
            <a:off x="5266944" y="3017520"/>
            <a:ext cx="548640" cy="182880"/>
          </a:xfrm>
          <a:prstGeom prst="rect">
            <a:avLst/>
          </a:prstGeom>
          <a:solidFill>
            <a:srgbClr val="0B68D4"/>
          </a:solidFill>
          <a:ln w="12700">
            <a:solidFill>
              <a:srgbClr val="0B68D4"/>
            </a:solidFill>
            <a:prstDash val="solid"/>
          </a:ln>
        </p:spPr>
      </p:sp>
      <p:sp>
        <p:nvSpPr>
          <p:cNvPr id="35" name="Text 29"/>
          <p:cNvSpPr/>
          <p:nvPr/>
        </p:nvSpPr>
        <p:spPr>
          <a:xfrm>
            <a:off x="5266944"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36" name="Image 4" descr="preencoded.png">    </p:cNvPr>
          <p:cNvPicPr>
            <a:picLocks noChangeAspect="1"/>
          </p:cNvPicPr>
          <p:nvPr/>
        </p:nvPicPr>
        <p:blipFill>
          <a:blip r:embed="rId5"/>
          <a:stretch>
            <a:fillRect/>
          </a:stretch>
        </p:blipFill>
        <p:spPr>
          <a:xfrm>
            <a:off x="3200400" y="3072384"/>
            <a:ext cx="310896" cy="310896"/>
          </a:xfrm>
          <a:prstGeom prst="rect">
            <a:avLst/>
          </a:prstGeom>
        </p:spPr>
      </p:pic>
      <p:sp>
        <p:nvSpPr>
          <p:cNvPr id="37" name="Text 30"/>
          <p:cNvSpPr/>
          <p:nvPr/>
        </p:nvSpPr>
        <p:spPr>
          <a:xfrm>
            <a:off x="3566160"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Customer Sentiment Engine</a:t>
            </a:r>
            <a:endParaRPr lang="en-US" sz="950" dirty="0"/>
          </a:p>
        </p:txBody>
      </p:sp>
      <p:sp>
        <p:nvSpPr>
          <p:cNvPr id="38" name="Text 31"/>
          <p:cNvSpPr/>
          <p:nvPr/>
        </p:nvSpPr>
        <p:spPr>
          <a:xfrm>
            <a:off x="3182112"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900" dirty="0"/>
          </a:p>
        </p:txBody>
      </p:sp>
      <p:sp>
        <p:nvSpPr>
          <p:cNvPr id="39" name="Shape 32"/>
          <p:cNvSpPr/>
          <p:nvPr/>
        </p:nvSpPr>
        <p:spPr>
          <a:xfrm>
            <a:off x="6016752"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0" name="Shape 33"/>
          <p:cNvSpPr/>
          <p:nvPr/>
        </p:nvSpPr>
        <p:spPr>
          <a:xfrm>
            <a:off x="6016752" y="2889504"/>
            <a:ext cx="2798064" cy="73152"/>
          </a:xfrm>
          <a:prstGeom prst="rect">
            <a:avLst/>
          </a:prstGeom>
          <a:solidFill>
            <a:srgbClr val="0D2E7A"/>
          </a:solidFill>
          <a:ln w="12700">
            <a:solidFill>
              <a:srgbClr val="0D2E7A"/>
            </a:solidFill>
            <a:prstDash val="solid"/>
          </a:ln>
        </p:spPr>
      </p:sp>
      <p:sp>
        <p:nvSpPr>
          <p:cNvPr id="41" name="Shape 34"/>
          <p:cNvSpPr/>
          <p:nvPr/>
        </p:nvSpPr>
        <p:spPr>
          <a:xfrm>
            <a:off x="8211312" y="3017520"/>
            <a:ext cx="548640" cy="182880"/>
          </a:xfrm>
          <a:prstGeom prst="rect">
            <a:avLst/>
          </a:prstGeom>
          <a:solidFill>
            <a:srgbClr val="0D2E7A"/>
          </a:solidFill>
          <a:ln w="12700">
            <a:solidFill>
              <a:srgbClr val="0D2E7A"/>
            </a:solidFill>
            <a:prstDash val="solid"/>
          </a:ln>
        </p:spPr>
      </p:sp>
      <p:sp>
        <p:nvSpPr>
          <p:cNvPr id="42" name="Text 35"/>
          <p:cNvSpPr/>
          <p:nvPr/>
        </p:nvSpPr>
        <p:spPr>
          <a:xfrm>
            <a:off x="8211312"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43" name="Image 5" descr="preencoded.png">    </p:cNvPr>
          <p:cNvPicPr>
            <a:picLocks noChangeAspect="1"/>
          </p:cNvPicPr>
          <p:nvPr/>
        </p:nvPicPr>
        <p:blipFill>
          <a:blip r:embed="rId6"/>
          <a:stretch>
            <a:fillRect/>
          </a:stretch>
        </p:blipFill>
        <p:spPr>
          <a:xfrm>
            <a:off x="6144768" y="3072384"/>
            <a:ext cx="310896" cy="310896"/>
          </a:xfrm>
          <a:prstGeom prst="rect">
            <a:avLst/>
          </a:prstGeom>
        </p:spPr>
      </p:pic>
      <p:sp>
        <p:nvSpPr>
          <p:cNvPr id="44" name="Text 36"/>
          <p:cNvSpPr/>
          <p:nvPr/>
        </p:nvSpPr>
        <p:spPr>
          <a:xfrm>
            <a:off x="6510528"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Next Best Action Platform</a:t>
            </a:r>
            <a:endParaRPr lang="en-US" sz="950" dirty="0"/>
          </a:p>
        </p:txBody>
      </p:sp>
      <p:sp>
        <p:nvSpPr>
          <p:cNvPr id="45" name="Text 37"/>
          <p:cNvSpPr/>
          <p:nvPr/>
        </p:nvSpPr>
        <p:spPr>
          <a:xfrm>
            <a:off x="6126480"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900" dirty="0"/>
          </a:p>
        </p:txBody>
      </p:sp>
      <p:sp>
        <p:nvSpPr>
          <p:cNvPr id="46" name="Text 38"/>
          <p:cNvSpPr/>
          <p:nvPr/>
        </p:nvSpPr>
        <p:spPr>
          <a:xfrm>
            <a:off x="365760" y="4773168"/>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Year 2 opportunities contingent on Phase 1 &amp; Phase 2 delivery and continued investment approval.</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Source Ingestion Roadmap — Payments First, Core &amp; Digital Next</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Phase 1 activates all JH payment rails (CPS excluded). Core banking, Banno digital, and lending data follow in Phase 2–3 once the pipeline is proven.</a:t>
            </a:r>
            <a:endParaRPr lang="en-US" sz="1000" dirty="0"/>
          </a:p>
        </p:txBody>
      </p:sp>
      <p:sp>
        <p:nvSpPr>
          <p:cNvPr id="5" name="Shape 3"/>
          <p:cNvSpPr/>
          <p:nvPr/>
        </p:nvSpPr>
        <p:spPr>
          <a:xfrm>
            <a:off x="2468880" y="1133856"/>
            <a:ext cx="1577340" cy="237744"/>
          </a:xfrm>
          <a:prstGeom prst="rect">
            <a:avLst/>
          </a:prstGeom>
          <a:solidFill>
            <a:srgbClr val="085CE5"/>
          </a:solidFill>
          <a:ln w="12700">
            <a:solidFill>
              <a:srgbClr val="085CE5"/>
            </a:solidFill>
            <a:prstDash val="solid"/>
          </a:ln>
        </p:spPr>
      </p:sp>
      <p:sp>
        <p:nvSpPr>
          <p:cNvPr id="6" name="Text 4"/>
          <p:cNvSpPr/>
          <p:nvPr/>
        </p:nvSpPr>
        <p:spPr>
          <a:xfrm>
            <a:off x="251460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All Payment Rails  (Q3–Q4 FY26)</a:t>
            </a:r>
            <a:endParaRPr lang="en-US" sz="750" dirty="0"/>
          </a:p>
        </p:txBody>
      </p:sp>
      <p:sp>
        <p:nvSpPr>
          <p:cNvPr id="7" name="Shape 5"/>
          <p:cNvSpPr/>
          <p:nvPr/>
        </p:nvSpPr>
        <p:spPr>
          <a:xfrm>
            <a:off x="4046220" y="1133856"/>
            <a:ext cx="1577340" cy="237744"/>
          </a:xfrm>
          <a:prstGeom prst="rect">
            <a:avLst/>
          </a:prstGeom>
          <a:solidFill>
            <a:srgbClr val="073FA8"/>
          </a:solidFill>
          <a:ln w="12700">
            <a:solidFill>
              <a:srgbClr val="073FA8"/>
            </a:solidFill>
            <a:prstDash val="solid"/>
          </a:ln>
        </p:spPr>
      </p:sp>
      <p:sp>
        <p:nvSpPr>
          <p:cNvPr id="8" name="Text 6"/>
          <p:cNvSpPr/>
          <p:nvPr/>
        </p:nvSpPr>
        <p:spPr>
          <a:xfrm>
            <a:off x="409194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Banking  (Q1–Q2 FY27)</a:t>
            </a:r>
            <a:endParaRPr lang="en-US" sz="750" dirty="0"/>
          </a:p>
        </p:txBody>
      </p:sp>
      <p:sp>
        <p:nvSpPr>
          <p:cNvPr id="9" name="Shape 7"/>
          <p:cNvSpPr/>
          <p:nvPr/>
        </p:nvSpPr>
        <p:spPr>
          <a:xfrm>
            <a:off x="5623560" y="1133856"/>
            <a:ext cx="3154680" cy="237744"/>
          </a:xfrm>
          <a:prstGeom prst="rect">
            <a:avLst/>
          </a:prstGeom>
          <a:solidFill>
            <a:srgbClr val="575A5D"/>
          </a:solidFill>
          <a:ln w="12700">
            <a:solidFill>
              <a:srgbClr val="575A5D"/>
            </a:solidFill>
            <a:prstDash val="solid"/>
          </a:ln>
        </p:spPr>
      </p:sp>
      <p:sp>
        <p:nvSpPr>
          <p:cNvPr id="10" name="Text 8"/>
          <p:cNvSpPr/>
          <p:nvPr/>
        </p:nvSpPr>
        <p:spPr>
          <a:xfrm>
            <a:off x="5669280" y="1133856"/>
            <a:ext cx="306324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Digital &amp; Lending  (Q3 FY27+)</a:t>
            </a:r>
            <a:endParaRPr lang="en-US" sz="750" dirty="0"/>
          </a:p>
        </p:txBody>
      </p:sp>
      <p:sp>
        <p:nvSpPr>
          <p:cNvPr id="11" name="Shape 9"/>
          <p:cNvSpPr/>
          <p:nvPr/>
        </p:nvSpPr>
        <p:spPr>
          <a:xfrm>
            <a:off x="2468880" y="1389888"/>
            <a:ext cx="6309360" cy="256032"/>
          </a:xfrm>
          <a:prstGeom prst="rect">
            <a:avLst/>
          </a:prstGeom>
          <a:solidFill>
            <a:srgbClr val="E7ECF0"/>
          </a:solidFill>
          <a:ln w="12700">
            <a:solidFill>
              <a:srgbClr val="E7ECF0"/>
            </a:solidFill>
            <a:prstDash val="solid"/>
          </a:ln>
        </p:spPr>
      </p:sp>
      <p:sp>
        <p:nvSpPr>
          <p:cNvPr id="12" name="Shape 10"/>
          <p:cNvSpPr/>
          <p:nvPr/>
        </p:nvSpPr>
        <p:spPr>
          <a:xfrm>
            <a:off x="2468880" y="1664208"/>
            <a:ext cx="788670" cy="3456432"/>
          </a:xfrm>
          <a:prstGeom prst="rect">
            <a:avLst/>
          </a:prstGeom>
          <a:solidFill>
            <a:srgbClr val="F4F6F8"/>
          </a:solidFill>
          <a:ln w="12700">
            <a:solidFill>
              <a:srgbClr val="F4F6F8"/>
            </a:solidFill>
            <a:prstDash val="solid"/>
          </a:ln>
        </p:spPr>
      </p:sp>
      <p:sp>
        <p:nvSpPr>
          <p:cNvPr id="13" name="Text 11"/>
          <p:cNvSpPr/>
          <p:nvPr/>
        </p:nvSpPr>
        <p:spPr>
          <a:xfrm>
            <a:off x="246888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468880" y="1133856"/>
            <a:ext cx="13716" cy="3986784"/>
          </a:xfrm>
          <a:prstGeom prst="rect">
            <a:avLst/>
          </a:prstGeom>
          <a:solidFill>
            <a:srgbClr val="B6BBC0"/>
          </a:solidFill>
          <a:ln w="12700">
            <a:solidFill>
              <a:srgbClr val="B6BBC0"/>
            </a:solidFill>
            <a:prstDash val="solid"/>
          </a:ln>
        </p:spPr>
      </p:sp>
      <p:sp>
        <p:nvSpPr>
          <p:cNvPr id="15" name="Text 13"/>
          <p:cNvSpPr/>
          <p:nvPr/>
        </p:nvSpPr>
        <p:spPr>
          <a:xfrm>
            <a:off x="325755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57550" y="1133856"/>
            <a:ext cx="13716" cy="3986784"/>
          </a:xfrm>
          <a:prstGeom prst="rect">
            <a:avLst/>
          </a:prstGeom>
          <a:solidFill>
            <a:srgbClr val="B6BBC0"/>
          </a:solidFill>
          <a:ln w="12700">
            <a:solidFill>
              <a:srgbClr val="B6BBC0"/>
            </a:solidFill>
            <a:prstDash val="solid"/>
          </a:ln>
        </p:spPr>
      </p:sp>
      <p:sp>
        <p:nvSpPr>
          <p:cNvPr id="17" name="Shape 15"/>
          <p:cNvSpPr/>
          <p:nvPr/>
        </p:nvSpPr>
        <p:spPr>
          <a:xfrm>
            <a:off x="4046220" y="1664208"/>
            <a:ext cx="788670" cy="3456432"/>
          </a:xfrm>
          <a:prstGeom prst="rect">
            <a:avLst/>
          </a:prstGeom>
          <a:solidFill>
            <a:srgbClr val="F4F6F8"/>
          </a:solidFill>
          <a:ln w="12700">
            <a:solidFill>
              <a:srgbClr val="F4F6F8"/>
            </a:solidFill>
            <a:prstDash val="solid"/>
          </a:ln>
        </p:spPr>
      </p:sp>
      <p:sp>
        <p:nvSpPr>
          <p:cNvPr id="18" name="Text 16"/>
          <p:cNvSpPr/>
          <p:nvPr/>
        </p:nvSpPr>
        <p:spPr>
          <a:xfrm>
            <a:off x="404622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46220" y="1133856"/>
            <a:ext cx="13716" cy="3986784"/>
          </a:xfrm>
          <a:prstGeom prst="rect">
            <a:avLst/>
          </a:prstGeom>
          <a:solidFill>
            <a:srgbClr val="B6BBC0"/>
          </a:solidFill>
          <a:ln w="12700">
            <a:solidFill>
              <a:srgbClr val="B6BBC0"/>
            </a:solidFill>
            <a:prstDash val="solid"/>
          </a:ln>
        </p:spPr>
      </p:sp>
      <p:sp>
        <p:nvSpPr>
          <p:cNvPr id="20" name="Text 18"/>
          <p:cNvSpPr/>
          <p:nvPr/>
        </p:nvSpPr>
        <p:spPr>
          <a:xfrm>
            <a:off x="483489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34890" y="1133856"/>
            <a:ext cx="13716" cy="3986784"/>
          </a:xfrm>
          <a:prstGeom prst="rect">
            <a:avLst/>
          </a:prstGeom>
          <a:solidFill>
            <a:srgbClr val="B6BBC0"/>
          </a:solidFill>
          <a:ln w="12700">
            <a:solidFill>
              <a:srgbClr val="B6BBC0"/>
            </a:solidFill>
            <a:prstDash val="solid"/>
          </a:ln>
        </p:spPr>
      </p:sp>
      <p:sp>
        <p:nvSpPr>
          <p:cNvPr id="22" name="Shape 20"/>
          <p:cNvSpPr/>
          <p:nvPr/>
        </p:nvSpPr>
        <p:spPr>
          <a:xfrm>
            <a:off x="5623560" y="1664208"/>
            <a:ext cx="788670" cy="3456432"/>
          </a:xfrm>
          <a:prstGeom prst="rect">
            <a:avLst/>
          </a:prstGeom>
          <a:solidFill>
            <a:srgbClr val="F4F6F8"/>
          </a:solidFill>
          <a:ln w="12700">
            <a:solidFill>
              <a:srgbClr val="F4F6F8"/>
            </a:solidFill>
            <a:prstDash val="solid"/>
          </a:ln>
        </p:spPr>
      </p:sp>
      <p:sp>
        <p:nvSpPr>
          <p:cNvPr id="23" name="Text 21"/>
          <p:cNvSpPr/>
          <p:nvPr/>
        </p:nvSpPr>
        <p:spPr>
          <a:xfrm>
            <a:off x="562356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23560" y="1133856"/>
            <a:ext cx="13716" cy="3986784"/>
          </a:xfrm>
          <a:prstGeom prst="rect">
            <a:avLst/>
          </a:prstGeom>
          <a:solidFill>
            <a:srgbClr val="B6BBC0"/>
          </a:solidFill>
          <a:ln w="12700">
            <a:solidFill>
              <a:srgbClr val="B6BBC0"/>
            </a:solidFill>
            <a:prstDash val="solid"/>
          </a:ln>
        </p:spPr>
      </p:sp>
      <p:sp>
        <p:nvSpPr>
          <p:cNvPr id="25" name="Text 23"/>
          <p:cNvSpPr/>
          <p:nvPr/>
        </p:nvSpPr>
        <p:spPr>
          <a:xfrm>
            <a:off x="641223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12230" y="1133856"/>
            <a:ext cx="13716" cy="3986784"/>
          </a:xfrm>
          <a:prstGeom prst="rect">
            <a:avLst/>
          </a:prstGeom>
          <a:solidFill>
            <a:srgbClr val="B6BBC0"/>
          </a:solidFill>
          <a:ln w="12700">
            <a:solidFill>
              <a:srgbClr val="B6BBC0"/>
            </a:solidFill>
            <a:prstDash val="solid"/>
          </a:ln>
        </p:spPr>
      </p:sp>
      <p:sp>
        <p:nvSpPr>
          <p:cNvPr id="27" name="Shape 25"/>
          <p:cNvSpPr/>
          <p:nvPr/>
        </p:nvSpPr>
        <p:spPr>
          <a:xfrm>
            <a:off x="7200900" y="1664208"/>
            <a:ext cx="788670" cy="3456432"/>
          </a:xfrm>
          <a:prstGeom prst="rect">
            <a:avLst/>
          </a:prstGeom>
          <a:solidFill>
            <a:srgbClr val="F4F6F8"/>
          </a:solidFill>
          <a:ln w="12700">
            <a:solidFill>
              <a:srgbClr val="F4F6F8"/>
            </a:solidFill>
            <a:prstDash val="solid"/>
          </a:ln>
        </p:spPr>
      </p:sp>
      <p:sp>
        <p:nvSpPr>
          <p:cNvPr id="28" name="Text 26"/>
          <p:cNvSpPr/>
          <p:nvPr/>
        </p:nvSpPr>
        <p:spPr>
          <a:xfrm>
            <a:off x="720090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00900" y="1133856"/>
            <a:ext cx="13716" cy="3986784"/>
          </a:xfrm>
          <a:prstGeom prst="rect">
            <a:avLst/>
          </a:prstGeom>
          <a:solidFill>
            <a:srgbClr val="B6BBC0"/>
          </a:solidFill>
          <a:ln w="12700">
            <a:solidFill>
              <a:srgbClr val="B6BBC0"/>
            </a:solidFill>
            <a:prstDash val="solid"/>
          </a:ln>
        </p:spPr>
      </p:sp>
      <p:sp>
        <p:nvSpPr>
          <p:cNvPr id="30" name="Text 28"/>
          <p:cNvSpPr/>
          <p:nvPr/>
        </p:nvSpPr>
        <p:spPr>
          <a:xfrm>
            <a:off x="798957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89570" y="1133856"/>
            <a:ext cx="13716" cy="3986784"/>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56616"/>
          </a:xfrm>
          <a:prstGeom prst="rect">
            <a:avLst/>
          </a:prstGeom>
          <a:solidFill>
            <a:srgbClr val="FFFFFF"/>
          </a:solidFill>
          <a:ln w="12700">
            <a:solidFill>
              <a:srgbClr val="E7ECF0"/>
            </a:solidFill>
            <a:prstDash val="solid"/>
          </a:ln>
        </p:spPr>
      </p:sp>
      <p:sp>
        <p:nvSpPr>
          <p:cNvPr id="33" name="Shape 31"/>
          <p:cNvSpPr/>
          <p:nvPr/>
        </p:nvSpPr>
        <p:spPr>
          <a:xfrm>
            <a:off x="274320" y="1664208"/>
            <a:ext cx="54864" cy="356616"/>
          </a:xfrm>
          <a:prstGeom prst="rect">
            <a:avLst/>
          </a:prstGeom>
          <a:solidFill>
            <a:srgbClr val="085CE5"/>
          </a:solidFill>
          <a:ln w="12700">
            <a:solidFill>
              <a:srgbClr val="085CE5"/>
            </a:solidFill>
            <a:prstDash val="solid"/>
          </a:ln>
        </p:spPr>
      </p:sp>
      <p:sp>
        <p:nvSpPr>
          <p:cNvPr id="34" name="Text 32"/>
          <p:cNvSpPr/>
          <p:nvPr/>
        </p:nvSpPr>
        <p:spPr>
          <a:xfrm>
            <a:off x="384048" y="169164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ACH / EPS</a:t>
            </a:r>
            <a:endParaRPr lang="en-US" sz="850" dirty="0"/>
          </a:p>
        </p:txBody>
      </p:sp>
      <p:sp>
        <p:nvSpPr>
          <p:cNvPr id="35" name="Text 33"/>
          <p:cNvSpPr/>
          <p:nvPr/>
        </p:nvSpPr>
        <p:spPr>
          <a:xfrm>
            <a:off x="384048" y="188366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credits, debits, RDC</a:t>
            </a:r>
            <a:endParaRPr lang="en-US" sz="750" dirty="0"/>
          </a:p>
        </p:txBody>
      </p:sp>
      <p:sp>
        <p:nvSpPr>
          <p:cNvPr id="36" name="Shape 34"/>
          <p:cNvSpPr/>
          <p:nvPr/>
        </p:nvSpPr>
        <p:spPr>
          <a:xfrm>
            <a:off x="2505456" y="1737360"/>
            <a:ext cx="1504188" cy="182880"/>
          </a:xfrm>
          <a:prstGeom prst="rect">
            <a:avLst/>
          </a:prstGeom>
          <a:solidFill>
            <a:srgbClr val="085CE5"/>
          </a:solidFill>
          <a:ln w="12700">
            <a:solidFill>
              <a:srgbClr val="085CE5"/>
            </a:solidFill>
            <a:prstDash val="solid"/>
          </a:ln>
        </p:spPr>
      </p:sp>
      <p:sp>
        <p:nvSpPr>
          <p:cNvPr id="37" name="Text 35"/>
          <p:cNvSpPr/>
          <p:nvPr/>
        </p:nvSpPr>
        <p:spPr>
          <a:xfrm>
            <a:off x="2569464" y="173736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a:t>
            </a:r>
            <a:endParaRPr lang="en-US" sz="750" dirty="0"/>
          </a:p>
        </p:txBody>
      </p:sp>
      <p:sp>
        <p:nvSpPr>
          <p:cNvPr id="38" name="Shape 36"/>
          <p:cNvSpPr/>
          <p:nvPr/>
        </p:nvSpPr>
        <p:spPr>
          <a:xfrm>
            <a:off x="274320" y="2048256"/>
            <a:ext cx="8503920" cy="356616"/>
          </a:xfrm>
          <a:prstGeom prst="rect">
            <a:avLst/>
          </a:prstGeom>
          <a:solidFill>
            <a:srgbClr val="F8F9FA"/>
          </a:solidFill>
          <a:ln w="12700">
            <a:solidFill>
              <a:srgbClr val="E7ECF0"/>
            </a:solidFill>
            <a:prstDash val="solid"/>
          </a:ln>
        </p:spPr>
      </p:sp>
      <p:sp>
        <p:nvSpPr>
          <p:cNvPr id="39" name="Shape 37"/>
          <p:cNvSpPr/>
          <p:nvPr/>
        </p:nvSpPr>
        <p:spPr>
          <a:xfrm>
            <a:off x="274320" y="2048256"/>
            <a:ext cx="54864" cy="356616"/>
          </a:xfrm>
          <a:prstGeom prst="rect">
            <a:avLst/>
          </a:prstGeom>
          <a:solidFill>
            <a:srgbClr val="085CE5"/>
          </a:solidFill>
          <a:ln w="12700">
            <a:solidFill>
              <a:srgbClr val="085CE5"/>
            </a:solidFill>
            <a:prstDash val="solid"/>
          </a:ln>
        </p:spPr>
      </p:sp>
      <p:sp>
        <p:nvSpPr>
          <p:cNvPr id="40" name="Text 38"/>
          <p:cNvSpPr/>
          <p:nvPr/>
        </p:nvSpPr>
        <p:spPr>
          <a:xfrm>
            <a:off x="384048" y="207568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 JHA PayCenter</a:t>
            </a:r>
            <a:endParaRPr lang="en-US" sz="850" dirty="0"/>
          </a:p>
        </p:txBody>
      </p:sp>
      <p:sp>
        <p:nvSpPr>
          <p:cNvPr id="41" name="Text 39"/>
          <p:cNvSpPr/>
          <p:nvPr/>
        </p:nvSpPr>
        <p:spPr>
          <a:xfrm>
            <a:off x="384048" y="226771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P2P, Zelle, RTP, FedNow</a:t>
            </a:r>
            <a:endParaRPr lang="en-US" sz="750" dirty="0"/>
          </a:p>
        </p:txBody>
      </p:sp>
      <p:sp>
        <p:nvSpPr>
          <p:cNvPr id="42" name="Shape 40"/>
          <p:cNvSpPr/>
          <p:nvPr/>
        </p:nvSpPr>
        <p:spPr>
          <a:xfrm>
            <a:off x="2505456" y="2121408"/>
            <a:ext cx="1504188" cy="182880"/>
          </a:xfrm>
          <a:prstGeom prst="rect">
            <a:avLst/>
          </a:prstGeom>
          <a:solidFill>
            <a:srgbClr val="085CE5"/>
          </a:solidFill>
          <a:ln w="12700">
            <a:solidFill>
              <a:srgbClr val="085CE5"/>
            </a:solidFill>
            <a:prstDash val="solid"/>
          </a:ln>
        </p:spPr>
      </p:sp>
      <p:sp>
        <p:nvSpPr>
          <p:cNvPr id="43" name="Text 41"/>
          <p:cNvSpPr/>
          <p:nvPr/>
        </p:nvSpPr>
        <p:spPr>
          <a:xfrm>
            <a:off x="2569464" y="212140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Zelle Memo Intelligence · Anomaly</a:t>
            </a:r>
            <a:endParaRPr lang="en-US" sz="750" dirty="0"/>
          </a:p>
        </p:txBody>
      </p:sp>
      <p:sp>
        <p:nvSpPr>
          <p:cNvPr id="44" name="Shape 42"/>
          <p:cNvSpPr/>
          <p:nvPr/>
        </p:nvSpPr>
        <p:spPr>
          <a:xfrm>
            <a:off x="274320" y="2432304"/>
            <a:ext cx="8503920" cy="356616"/>
          </a:xfrm>
          <a:prstGeom prst="rect">
            <a:avLst/>
          </a:prstGeom>
          <a:solidFill>
            <a:srgbClr val="FFFFFF"/>
          </a:solidFill>
          <a:ln w="12700">
            <a:solidFill>
              <a:srgbClr val="E7ECF0"/>
            </a:solidFill>
            <a:prstDash val="solid"/>
          </a:ln>
        </p:spPr>
      </p:sp>
      <p:sp>
        <p:nvSpPr>
          <p:cNvPr id="45" name="Shape 43"/>
          <p:cNvSpPr/>
          <p:nvPr/>
        </p:nvSpPr>
        <p:spPr>
          <a:xfrm>
            <a:off x="274320" y="2432304"/>
            <a:ext cx="54864" cy="356616"/>
          </a:xfrm>
          <a:prstGeom prst="rect">
            <a:avLst/>
          </a:prstGeom>
          <a:solidFill>
            <a:srgbClr val="085CE5"/>
          </a:solidFill>
          <a:ln w="12700">
            <a:solidFill>
              <a:srgbClr val="085CE5"/>
            </a:solidFill>
            <a:prstDash val="solid"/>
          </a:ln>
        </p:spPr>
      </p:sp>
      <p:sp>
        <p:nvSpPr>
          <p:cNvPr id="46" name="Text 44"/>
          <p:cNvSpPr/>
          <p:nvPr/>
        </p:nvSpPr>
        <p:spPr>
          <a:xfrm>
            <a:off x="384048" y="245973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Jack Henry Wires</a:t>
            </a:r>
            <a:endParaRPr lang="en-US" sz="850" dirty="0"/>
          </a:p>
        </p:txBody>
      </p:sp>
      <p:sp>
        <p:nvSpPr>
          <p:cNvPr id="47" name="Text 45"/>
          <p:cNvSpPr/>
          <p:nvPr/>
        </p:nvSpPr>
        <p:spPr>
          <a:xfrm>
            <a:off x="384048" y="265176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Domestic FedWire + Intl</a:t>
            </a:r>
            <a:endParaRPr lang="en-US" sz="750" dirty="0"/>
          </a:p>
        </p:txBody>
      </p:sp>
      <p:sp>
        <p:nvSpPr>
          <p:cNvPr id="48" name="Shape 46"/>
          <p:cNvSpPr/>
          <p:nvPr/>
        </p:nvSpPr>
        <p:spPr>
          <a:xfrm>
            <a:off x="2505456" y="2505456"/>
            <a:ext cx="1504188" cy="182880"/>
          </a:xfrm>
          <a:prstGeom prst="rect">
            <a:avLst/>
          </a:prstGeom>
          <a:solidFill>
            <a:srgbClr val="085CE5"/>
          </a:solidFill>
          <a:ln w="12700">
            <a:solidFill>
              <a:srgbClr val="085CE5"/>
            </a:solidFill>
            <a:prstDash val="solid"/>
          </a:ln>
        </p:spPr>
      </p:sp>
      <p:sp>
        <p:nvSpPr>
          <p:cNvPr id="49" name="Text 47"/>
          <p:cNvSpPr/>
          <p:nvPr/>
        </p:nvSpPr>
        <p:spPr>
          <a:xfrm>
            <a:off x="2569464" y="250545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 (wire fraud)</a:t>
            </a:r>
            <a:endParaRPr lang="en-US" sz="750" dirty="0"/>
          </a:p>
        </p:txBody>
      </p:sp>
      <p:sp>
        <p:nvSpPr>
          <p:cNvPr id="50" name="Shape 48"/>
          <p:cNvSpPr/>
          <p:nvPr/>
        </p:nvSpPr>
        <p:spPr>
          <a:xfrm>
            <a:off x="274320" y="2816352"/>
            <a:ext cx="8503920" cy="356616"/>
          </a:xfrm>
          <a:prstGeom prst="rect">
            <a:avLst/>
          </a:prstGeom>
          <a:solidFill>
            <a:srgbClr val="F8F9FA"/>
          </a:solidFill>
          <a:ln w="12700">
            <a:solidFill>
              <a:srgbClr val="E7ECF0"/>
            </a:solidFill>
            <a:prstDash val="solid"/>
          </a:ln>
        </p:spPr>
      </p:sp>
      <p:sp>
        <p:nvSpPr>
          <p:cNvPr id="51" name="Shape 49"/>
          <p:cNvSpPr/>
          <p:nvPr/>
        </p:nvSpPr>
        <p:spPr>
          <a:xfrm>
            <a:off x="274320" y="2816352"/>
            <a:ext cx="54864" cy="356616"/>
          </a:xfrm>
          <a:prstGeom prst="rect">
            <a:avLst/>
          </a:prstGeom>
          <a:solidFill>
            <a:srgbClr val="085CE5"/>
          </a:solidFill>
          <a:ln w="12700">
            <a:solidFill>
              <a:srgbClr val="085CE5"/>
            </a:solidFill>
            <a:prstDash val="solid"/>
          </a:ln>
        </p:spPr>
      </p:sp>
      <p:sp>
        <p:nvSpPr>
          <p:cNvPr id="52" name="Text 50"/>
          <p:cNvSpPr/>
          <p:nvPr/>
        </p:nvSpPr>
        <p:spPr>
          <a:xfrm>
            <a:off x="384048" y="284378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iPay Bill Pay</a:t>
            </a:r>
            <a:endParaRPr lang="en-US" sz="850" dirty="0"/>
          </a:p>
        </p:txBody>
      </p:sp>
      <p:sp>
        <p:nvSpPr>
          <p:cNvPr id="53" name="Text 51"/>
          <p:cNvSpPr/>
          <p:nvPr/>
        </p:nvSpPr>
        <p:spPr>
          <a:xfrm>
            <a:off x="384048" y="303580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Consumer + Business bill pay</a:t>
            </a:r>
            <a:endParaRPr lang="en-US" sz="750" dirty="0"/>
          </a:p>
        </p:txBody>
      </p:sp>
      <p:sp>
        <p:nvSpPr>
          <p:cNvPr id="54" name="Shape 52"/>
          <p:cNvSpPr/>
          <p:nvPr/>
        </p:nvSpPr>
        <p:spPr>
          <a:xfrm>
            <a:off x="2505456" y="2889504"/>
            <a:ext cx="1504188" cy="182880"/>
          </a:xfrm>
          <a:prstGeom prst="rect">
            <a:avLst/>
          </a:prstGeom>
          <a:solidFill>
            <a:srgbClr val="085CE5"/>
          </a:solidFill>
          <a:ln w="12700">
            <a:solidFill>
              <a:srgbClr val="085CE5"/>
            </a:solidFill>
            <a:prstDash val="solid"/>
          </a:ln>
        </p:spPr>
      </p:sp>
      <p:sp>
        <p:nvSpPr>
          <p:cNvPr id="55" name="Text 53"/>
          <p:cNvSpPr/>
          <p:nvPr/>
        </p:nvSpPr>
        <p:spPr>
          <a:xfrm>
            <a:off x="2569464" y="288950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Cross-Sell Propensity</a:t>
            </a:r>
            <a:endParaRPr lang="en-US" sz="750" dirty="0"/>
          </a:p>
        </p:txBody>
      </p:sp>
      <p:sp>
        <p:nvSpPr>
          <p:cNvPr id="56" name="Shape 54"/>
          <p:cNvSpPr/>
          <p:nvPr/>
        </p:nvSpPr>
        <p:spPr>
          <a:xfrm>
            <a:off x="274320" y="3200400"/>
            <a:ext cx="8503920" cy="356616"/>
          </a:xfrm>
          <a:prstGeom prst="rect">
            <a:avLst/>
          </a:prstGeom>
          <a:solidFill>
            <a:srgbClr val="FFFFFF"/>
          </a:solidFill>
          <a:ln w="12700">
            <a:solidFill>
              <a:srgbClr val="E7ECF0"/>
            </a:solidFill>
            <a:prstDash val="solid"/>
          </a:ln>
        </p:spPr>
      </p:sp>
      <p:sp>
        <p:nvSpPr>
          <p:cNvPr id="57" name="Shape 55"/>
          <p:cNvSpPr/>
          <p:nvPr/>
        </p:nvSpPr>
        <p:spPr>
          <a:xfrm>
            <a:off x="274320" y="3200400"/>
            <a:ext cx="54864" cy="356616"/>
          </a:xfrm>
          <a:prstGeom prst="rect">
            <a:avLst/>
          </a:prstGeom>
          <a:solidFill>
            <a:srgbClr val="085CE5"/>
          </a:solidFill>
          <a:ln w="12700">
            <a:solidFill>
              <a:srgbClr val="085CE5"/>
            </a:solidFill>
            <a:prstDash val="solid"/>
          </a:ln>
        </p:spPr>
      </p:sp>
      <p:sp>
        <p:nvSpPr>
          <p:cNvPr id="58" name="Text 56"/>
          <p:cNvSpPr/>
          <p:nvPr/>
        </p:nvSpPr>
        <p:spPr>
          <a:xfrm>
            <a:off x="384048" y="322783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JHA SmartPay / Biz Payments</a:t>
            </a:r>
            <a:endParaRPr lang="en-US" sz="850" dirty="0"/>
          </a:p>
        </p:txBody>
      </p:sp>
      <p:sp>
        <p:nvSpPr>
          <p:cNvPr id="59" name="Text 57"/>
          <p:cNvSpPr/>
          <p:nvPr/>
        </p:nvSpPr>
        <p:spPr>
          <a:xfrm>
            <a:off x="384048" y="341985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B2B ACH, vendor, remittance</a:t>
            </a:r>
            <a:endParaRPr lang="en-US" sz="750" dirty="0"/>
          </a:p>
        </p:txBody>
      </p:sp>
      <p:sp>
        <p:nvSpPr>
          <p:cNvPr id="60" name="Shape 58"/>
          <p:cNvSpPr/>
          <p:nvPr/>
        </p:nvSpPr>
        <p:spPr>
          <a:xfrm>
            <a:off x="2505456" y="3273552"/>
            <a:ext cx="1504188" cy="182880"/>
          </a:xfrm>
          <a:prstGeom prst="rect">
            <a:avLst/>
          </a:prstGeom>
          <a:solidFill>
            <a:srgbClr val="085CE5"/>
          </a:solidFill>
          <a:ln w="12700">
            <a:solidFill>
              <a:srgbClr val="085CE5"/>
            </a:solidFill>
            <a:prstDash val="solid"/>
          </a:ln>
        </p:spPr>
      </p:sp>
      <p:sp>
        <p:nvSpPr>
          <p:cNvPr id="61" name="Text 59"/>
          <p:cNvSpPr/>
          <p:nvPr/>
        </p:nvSpPr>
        <p:spPr>
          <a:xfrm>
            <a:off x="2569464" y="327355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Overdraft Prediction</a:t>
            </a:r>
            <a:endParaRPr lang="en-US" sz="750" dirty="0"/>
          </a:p>
        </p:txBody>
      </p:sp>
      <p:sp>
        <p:nvSpPr>
          <p:cNvPr id="62" name="Shape 60"/>
          <p:cNvSpPr/>
          <p:nvPr/>
        </p:nvSpPr>
        <p:spPr>
          <a:xfrm>
            <a:off x="274320" y="3584448"/>
            <a:ext cx="8503920" cy="356616"/>
          </a:xfrm>
          <a:prstGeom prst="rect">
            <a:avLst/>
          </a:prstGeom>
          <a:solidFill>
            <a:srgbClr val="F8F9FA"/>
          </a:solidFill>
          <a:ln w="12700">
            <a:solidFill>
              <a:srgbClr val="E7ECF0"/>
            </a:solidFill>
            <a:prstDash val="solid"/>
          </a:ln>
        </p:spPr>
      </p:sp>
      <p:sp>
        <p:nvSpPr>
          <p:cNvPr id="63" name="Shape 61"/>
          <p:cNvSpPr/>
          <p:nvPr/>
        </p:nvSpPr>
        <p:spPr>
          <a:xfrm>
            <a:off x="274320" y="3584448"/>
            <a:ext cx="54864" cy="356616"/>
          </a:xfrm>
          <a:prstGeom prst="rect">
            <a:avLst/>
          </a:prstGeom>
          <a:solidFill>
            <a:srgbClr val="085CE5"/>
          </a:solidFill>
          <a:ln w="12700">
            <a:solidFill>
              <a:srgbClr val="085CE5"/>
            </a:solidFill>
            <a:prstDash val="solid"/>
          </a:ln>
        </p:spPr>
      </p:sp>
      <p:sp>
        <p:nvSpPr>
          <p:cNvPr id="64" name="Text 62"/>
          <p:cNvSpPr/>
          <p:nvPr/>
        </p:nvSpPr>
        <p:spPr>
          <a:xfrm>
            <a:off x="384048" y="361188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Payrailz (P2P / A2A)</a:t>
            </a:r>
            <a:endParaRPr lang="en-US" sz="850" dirty="0"/>
          </a:p>
        </p:txBody>
      </p:sp>
      <p:sp>
        <p:nvSpPr>
          <p:cNvPr id="65" name="Text 63"/>
          <p:cNvSpPr/>
          <p:nvPr/>
        </p:nvSpPr>
        <p:spPr>
          <a:xfrm>
            <a:off x="384048" y="380390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Pay a Person, Transfer Money</a:t>
            </a:r>
            <a:endParaRPr lang="en-US" sz="750" dirty="0"/>
          </a:p>
        </p:txBody>
      </p:sp>
      <p:sp>
        <p:nvSpPr>
          <p:cNvPr id="66" name="Shape 64"/>
          <p:cNvSpPr/>
          <p:nvPr/>
        </p:nvSpPr>
        <p:spPr>
          <a:xfrm>
            <a:off x="2505456" y="3657600"/>
            <a:ext cx="1504188" cy="182880"/>
          </a:xfrm>
          <a:prstGeom prst="rect">
            <a:avLst/>
          </a:prstGeom>
          <a:solidFill>
            <a:srgbClr val="085CE5"/>
          </a:solidFill>
          <a:ln w="12700">
            <a:solidFill>
              <a:srgbClr val="085CE5"/>
            </a:solidFill>
            <a:prstDash val="solid"/>
          </a:ln>
        </p:spPr>
      </p:sp>
      <p:sp>
        <p:nvSpPr>
          <p:cNvPr id="67" name="Text 65"/>
          <p:cNvSpPr/>
          <p:nvPr/>
        </p:nvSpPr>
        <p:spPr>
          <a:xfrm>
            <a:off x="2569464" y="365760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Fraud Ring Detection</a:t>
            </a:r>
            <a:endParaRPr lang="en-US" sz="750" dirty="0"/>
          </a:p>
        </p:txBody>
      </p:sp>
      <p:sp>
        <p:nvSpPr>
          <p:cNvPr id="68" name="Shape 66"/>
          <p:cNvSpPr/>
          <p:nvPr/>
        </p:nvSpPr>
        <p:spPr>
          <a:xfrm>
            <a:off x="274320" y="3968496"/>
            <a:ext cx="8503920" cy="356616"/>
          </a:xfrm>
          <a:prstGeom prst="rect">
            <a:avLst/>
          </a:prstGeom>
          <a:solidFill>
            <a:srgbClr val="FFFFFF"/>
          </a:solidFill>
          <a:ln w="12700">
            <a:solidFill>
              <a:srgbClr val="E7ECF0"/>
            </a:solidFill>
            <a:prstDash val="solid"/>
          </a:ln>
        </p:spPr>
      </p:sp>
      <p:sp>
        <p:nvSpPr>
          <p:cNvPr id="69" name="Shape 67"/>
          <p:cNvSpPr/>
          <p:nvPr/>
        </p:nvSpPr>
        <p:spPr>
          <a:xfrm>
            <a:off x="274320" y="3968496"/>
            <a:ext cx="54864" cy="356616"/>
          </a:xfrm>
          <a:prstGeom prst="rect">
            <a:avLst/>
          </a:prstGeom>
          <a:solidFill>
            <a:srgbClr val="073FA8"/>
          </a:solidFill>
          <a:ln w="12700">
            <a:solidFill>
              <a:srgbClr val="073FA8"/>
            </a:solidFill>
            <a:prstDash val="solid"/>
          </a:ln>
        </p:spPr>
      </p:sp>
      <p:sp>
        <p:nvSpPr>
          <p:cNvPr id="70" name="Text 68"/>
          <p:cNvSpPr/>
          <p:nvPr/>
        </p:nvSpPr>
        <p:spPr>
          <a:xfrm>
            <a:off x="384048" y="399592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Core Banking (jhaEnterprise / Symitar)</a:t>
            </a:r>
            <a:endParaRPr lang="en-US" sz="850" dirty="0"/>
          </a:p>
        </p:txBody>
      </p:sp>
      <p:sp>
        <p:nvSpPr>
          <p:cNvPr id="71" name="Text 69"/>
          <p:cNvSpPr/>
          <p:nvPr/>
        </p:nvSpPr>
        <p:spPr>
          <a:xfrm>
            <a:off x="384048" y="418795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txns, deposits, loans</a:t>
            </a:r>
            <a:endParaRPr lang="en-US" sz="750" dirty="0"/>
          </a:p>
        </p:txBody>
      </p:sp>
      <p:sp>
        <p:nvSpPr>
          <p:cNvPr id="72" name="Shape 70"/>
          <p:cNvSpPr/>
          <p:nvPr/>
        </p:nvSpPr>
        <p:spPr>
          <a:xfrm>
            <a:off x="4082796" y="4041648"/>
            <a:ext cx="1504188" cy="182880"/>
          </a:xfrm>
          <a:prstGeom prst="rect">
            <a:avLst/>
          </a:prstGeom>
          <a:solidFill>
            <a:srgbClr val="073FA8"/>
          </a:solidFill>
          <a:ln w="12700">
            <a:solidFill>
              <a:srgbClr val="073FA8"/>
            </a:solidFill>
            <a:prstDash val="solid"/>
          </a:ln>
        </p:spPr>
      </p:sp>
      <p:sp>
        <p:nvSpPr>
          <p:cNvPr id="73" name="Text 71"/>
          <p:cNvSpPr/>
          <p:nvPr/>
        </p:nvSpPr>
        <p:spPr>
          <a:xfrm>
            <a:off x="4146804" y="404164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Churn Sentinel · Acct Opening LTV · CommercialSignal · Wealth Deflection</a:t>
            </a:r>
            <a:endParaRPr lang="en-US" sz="750" dirty="0"/>
          </a:p>
        </p:txBody>
      </p:sp>
      <p:sp>
        <p:nvSpPr>
          <p:cNvPr id="74" name="Shape 72"/>
          <p:cNvSpPr/>
          <p:nvPr/>
        </p:nvSpPr>
        <p:spPr>
          <a:xfrm>
            <a:off x="274320" y="4352544"/>
            <a:ext cx="8503920" cy="356616"/>
          </a:xfrm>
          <a:prstGeom prst="rect">
            <a:avLst/>
          </a:prstGeom>
          <a:solidFill>
            <a:srgbClr val="F8F9FA"/>
          </a:solidFill>
          <a:ln w="12700">
            <a:solidFill>
              <a:srgbClr val="E7ECF0"/>
            </a:solidFill>
            <a:prstDash val="solid"/>
          </a:ln>
        </p:spPr>
      </p:sp>
      <p:sp>
        <p:nvSpPr>
          <p:cNvPr id="75" name="Shape 73"/>
          <p:cNvSpPr/>
          <p:nvPr/>
        </p:nvSpPr>
        <p:spPr>
          <a:xfrm>
            <a:off x="274320" y="4352544"/>
            <a:ext cx="54864" cy="356616"/>
          </a:xfrm>
          <a:prstGeom prst="rect">
            <a:avLst/>
          </a:prstGeom>
          <a:solidFill>
            <a:srgbClr val="575A5D"/>
          </a:solidFill>
          <a:ln w="12700">
            <a:solidFill>
              <a:srgbClr val="575A5D"/>
            </a:solidFill>
            <a:prstDash val="solid"/>
          </a:ln>
        </p:spPr>
      </p:sp>
      <p:sp>
        <p:nvSpPr>
          <p:cNvPr id="76" name="Text 74"/>
          <p:cNvSpPr/>
          <p:nvPr/>
        </p:nvSpPr>
        <p:spPr>
          <a:xfrm>
            <a:off x="384048" y="437997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Banno Digital + Lending</a:t>
            </a:r>
            <a:endParaRPr lang="en-US" sz="850" dirty="0"/>
          </a:p>
        </p:txBody>
      </p:sp>
      <p:sp>
        <p:nvSpPr>
          <p:cNvPr id="77" name="Text 75"/>
          <p:cNvSpPr/>
          <p:nvPr/>
        </p:nvSpPr>
        <p:spPr>
          <a:xfrm>
            <a:off x="384048" y="457200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Session behavior, loan data</a:t>
            </a:r>
            <a:endParaRPr lang="en-US" sz="750" dirty="0"/>
          </a:p>
        </p:txBody>
      </p:sp>
      <p:sp>
        <p:nvSpPr>
          <p:cNvPr id="78" name="Shape 76"/>
          <p:cNvSpPr/>
          <p:nvPr/>
        </p:nvSpPr>
        <p:spPr>
          <a:xfrm>
            <a:off x="5660136" y="4425696"/>
            <a:ext cx="2292858" cy="182880"/>
          </a:xfrm>
          <a:prstGeom prst="rect">
            <a:avLst/>
          </a:prstGeom>
          <a:solidFill>
            <a:srgbClr val="575A5D"/>
          </a:solidFill>
          <a:ln w="12700">
            <a:solidFill>
              <a:srgbClr val="575A5D"/>
            </a:solidFill>
            <a:prstDash val="solid"/>
          </a:ln>
        </p:spPr>
      </p:sp>
      <p:sp>
        <p:nvSpPr>
          <p:cNvPr id="79" name="Text 77"/>
          <p:cNvSpPr/>
          <p:nvPr/>
        </p:nvSpPr>
        <p:spPr>
          <a:xfrm>
            <a:off x="5724144" y="4425696"/>
            <a:ext cx="218313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Sentiment · Next Best Action · FI Decision Studio</a:t>
            </a:r>
            <a:endParaRPr lang="en-US" sz="750" dirty="0"/>
          </a:p>
        </p:txBody>
      </p:sp>
      <p:sp>
        <p:nvSpPr>
          <p:cNvPr id="80" name="Shape 78"/>
          <p:cNvSpPr/>
          <p:nvPr/>
        </p:nvSpPr>
        <p:spPr>
          <a:xfrm>
            <a:off x="2482596" y="1115568"/>
            <a:ext cx="36576" cy="4005072"/>
          </a:xfrm>
          <a:prstGeom prst="rect">
            <a:avLst/>
          </a:prstGeom>
          <a:solidFill>
            <a:srgbClr val="76DCFD"/>
          </a:solidFill>
          <a:ln w="12700">
            <a:solidFill>
              <a:srgbClr val="76DCFD"/>
            </a:solidFill>
            <a:prstDash val="solid"/>
          </a:ln>
        </p:spPr>
      </p:sp>
      <p:sp>
        <p:nvSpPr>
          <p:cNvPr id="81" name="Text 79"/>
          <p:cNvSpPr/>
          <p:nvPr/>
        </p:nvSpPr>
        <p:spPr>
          <a:xfrm>
            <a:off x="2359152"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Application Delivery Roadmap — Build &amp; Launch Timeline</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Eight applications sequenced across three phases. Each bar spans the active build and validation window; wider bars reflect higher integration complexity.</a:t>
            </a:r>
            <a:endParaRPr lang="en-US" sz="1000" dirty="0"/>
          </a:p>
        </p:txBody>
      </p:sp>
      <p:sp>
        <p:nvSpPr>
          <p:cNvPr id="5" name="Shape 3"/>
          <p:cNvSpPr/>
          <p:nvPr/>
        </p:nvSpPr>
        <p:spPr>
          <a:xfrm>
            <a:off x="2505456" y="1133856"/>
            <a:ext cx="1568196" cy="237744"/>
          </a:xfrm>
          <a:prstGeom prst="rect">
            <a:avLst/>
          </a:prstGeom>
          <a:solidFill>
            <a:srgbClr val="085CE5"/>
          </a:solidFill>
          <a:ln w="12700">
            <a:solidFill>
              <a:srgbClr val="085CE5"/>
            </a:solidFill>
            <a:prstDash val="solid"/>
          </a:ln>
        </p:spPr>
      </p:sp>
      <p:sp>
        <p:nvSpPr>
          <p:cNvPr id="6" name="Text 4"/>
          <p:cNvSpPr/>
          <p:nvPr/>
        </p:nvSpPr>
        <p:spPr>
          <a:xfrm>
            <a:off x="2551176"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Foundation  (Q3–Q4 FY26)</a:t>
            </a:r>
            <a:endParaRPr lang="en-US" sz="750" dirty="0"/>
          </a:p>
        </p:txBody>
      </p:sp>
      <p:sp>
        <p:nvSpPr>
          <p:cNvPr id="7" name="Shape 5"/>
          <p:cNvSpPr/>
          <p:nvPr/>
        </p:nvSpPr>
        <p:spPr>
          <a:xfrm>
            <a:off x="4073652" y="1133856"/>
            <a:ext cx="1568196" cy="237744"/>
          </a:xfrm>
          <a:prstGeom prst="rect">
            <a:avLst/>
          </a:prstGeom>
          <a:solidFill>
            <a:srgbClr val="073FA8"/>
          </a:solidFill>
          <a:ln w="12700">
            <a:solidFill>
              <a:srgbClr val="073FA8"/>
            </a:solidFill>
            <a:prstDash val="solid"/>
          </a:ln>
        </p:spPr>
      </p:sp>
      <p:sp>
        <p:nvSpPr>
          <p:cNvPr id="8" name="Text 6"/>
          <p:cNvSpPr/>
          <p:nvPr/>
        </p:nvSpPr>
        <p:spPr>
          <a:xfrm>
            <a:off x="4119372"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Applications  (Q1–Q2 FY27)</a:t>
            </a:r>
            <a:endParaRPr lang="en-US" sz="750" dirty="0"/>
          </a:p>
        </p:txBody>
      </p:sp>
      <p:sp>
        <p:nvSpPr>
          <p:cNvPr id="9" name="Shape 7"/>
          <p:cNvSpPr/>
          <p:nvPr/>
        </p:nvSpPr>
        <p:spPr>
          <a:xfrm>
            <a:off x="5641848" y="1133856"/>
            <a:ext cx="3136392" cy="237744"/>
          </a:xfrm>
          <a:prstGeom prst="rect">
            <a:avLst/>
          </a:prstGeom>
          <a:solidFill>
            <a:srgbClr val="575A5D"/>
          </a:solidFill>
          <a:ln w="12700">
            <a:solidFill>
              <a:srgbClr val="575A5D"/>
            </a:solidFill>
            <a:prstDash val="solid"/>
          </a:ln>
        </p:spPr>
      </p:sp>
      <p:sp>
        <p:nvSpPr>
          <p:cNvPr id="10" name="Text 8"/>
          <p:cNvSpPr/>
          <p:nvPr/>
        </p:nvSpPr>
        <p:spPr>
          <a:xfrm>
            <a:off x="5687568" y="1133856"/>
            <a:ext cx="3044952"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Scale &amp; Expand  (Q3 FY27+)</a:t>
            </a:r>
            <a:endParaRPr lang="en-US" sz="750" dirty="0"/>
          </a:p>
        </p:txBody>
      </p:sp>
      <p:sp>
        <p:nvSpPr>
          <p:cNvPr id="11" name="Shape 9"/>
          <p:cNvSpPr/>
          <p:nvPr/>
        </p:nvSpPr>
        <p:spPr>
          <a:xfrm>
            <a:off x="2505456" y="1389888"/>
            <a:ext cx="6272784" cy="256032"/>
          </a:xfrm>
          <a:prstGeom prst="rect">
            <a:avLst/>
          </a:prstGeom>
          <a:solidFill>
            <a:srgbClr val="E7ECF0"/>
          </a:solidFill>
          <a:ln w="12700">
            <a:solidFill>
              <a:srgbClr val="E7ECF0"/>
            </a:solidFill>
            <a:prstDash val="solid"/>
          </a:ln>
        </p:spPr>
      </p:sp>
      <p:sp>
        <p:nvSpPr>
          <p:cNvPr id="12" name="Shape 10"/>
          <p:cNvSpPr/>
          <p:nvPr/>
        </p:nvSpPr>
        <p:spPr>
          <a:xfrm>
            <a:off x="2505456" y="1664208"/>
            <a:ext cx="784098" cy="3218688"/>
          </a:xfrm>
          <a:prstGeom prst="rect">
            <a:avLst/>
          </a:prstGeom>
          <a:solidFill>
            <a:srgbClr val="F4F6F8"/>
          </a:solidFill>
          <a:ln w="12700">
            <a:solidFill>
              <a:srgbClr val="F4F6F8"/>
            </a:solidFill>
            <a:prstDash val="solid"/>
          </a:ln>
        </p:spPr>
      </p:sp>
      <p:sp>
        <p:nvSpPr>
          <p:cNvPr id="13" name="Text 11"/>
          <p:cNvSpPr/>
          <p:nvPr/>
        </p:nvSpPr>
        <p:spPr>
          <a:xfrm>
            <a:off x="250545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505456" y="1133856"/>
            <a:ext cx="13716" cy="3749040"/>
          </a:xfrm>
          <a:prstGeom prst="rect">
            <a:avLst/>
          </a:prstGeom>
          <a:solidFill>
            <a:srgbClr val="B6BBC0"/>
          </a:solidFill>
          <a:ln w="12700">
            <a:solidFill>
              <a:srgbClr val="B6BBC0"/>
            </a:solidFill>
            <a:prstDash val="solid"/>
          </a:ln>
        </p:spPr>
      </p:sp>
      <p:sp>
        <p:nvSpPr>
          <p:cNvPr id="15" name="Text 13"/>
          <p:cNvSpPr/>
          <p:nvPr/>
        </p:nvSpPr>
        <p:spPr>
          <a:xfrm>
            <a:off x="328955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89554" y="1133856"/>
            <a:ext cx="13716" cy="3749040"/>
          </a:xfrm>
          <a:prstGeom prst="rect">
            <a:avLst/>
          </a:prstGeom>
          <a:solidFill>
            <a:srgbClr val="B6BBC0"/>
          </a:solidFill>
          <a:ln w="12700">
            <a:solidFill>
              <a:srgbClr val="B6BBC0"/>
            </a:solidFill>
            <a:prstDash val="solid"/>
          </a:ln>
        </p:spPr>
      </p:sp>
      <p:sp>
        <p:nvSpPr>
          <p:cNvPr id="17" name="Shape 15"/>
          <p:cNvSpPr/>
          <p:nvPr/>
        </p:nvSpPr>
        <p:spPr>
          <a:xfrm>
            <a:off x="4073652" y="1664208"/>
            <a:ext cx="784098" cy="3218688"/>
          </a:xfrm>
          <a:prstGeom prst="rect">
            <a:avLst/>
          </a:prstGeom>
          <a:solidFill>
            <a:srgbClr val="F4F6F8"/>
          </a:solidFill>
          <a:ln w="12700">
            <a:solidFill>
              <a:srgbClr val="F4F6F8"/>
            </a:solidFill>
            <a:prstDash val="solid"/>
          </a:ln>
        </p:spPr>
      </p:sp>
      <p:sp>
        <p:nvSpPr>
          <p:cNvPr id="18" name="Text 16"/>
          <p:cNvSpPr/>
          <p:nvPr/>
        </p:nvSpPr>
        <p:spPr>
          <a:xfrm>
            <a:off x="407365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73652" y="1133856"/>
            <a:ext cx="13716" cy="3749040"/>
          </a:xfrm>
          <a:prstGeom prst="rect">
            <a:avLst/>
          </a:prstGeom>
          <a:solidFill>
            <a:srgbClr val="B6BBC0"/>
          </a:solidFill>
          <a:ln w="12700">
            <a:solidFill>
              <a:srgbClr val="B6BBC0"/>
            </a:solidFill>
            <a:prstDash val="solid"/>
          </a:ln>
        </p:spPr>
      </p:sp>
      <p:sp>
        <p:nvSpPr>
          <p:cNvPr id="20" name="Text 18"/>
          <p:cNvSpPr/>
          <p:nvPr/>
        </p:nvSpPr>
        <p:spPr>
          <a:xfrm>
            <a:off x="4857750"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57750" y="1133856"/>
            <a:ext cx="13716" cy="3749040"/>
          </a:xfrm>
          <a:prstGeom prst="rect">
            <a:avLst/>
          </a:prstGeom>
          <a:solidFill>
            <a:srgbClr val="B6BBC0"/>
          </a:solidFill>
          <a:ln w="12700">
            <a:solidFill>
              <a:srgbClr val="B6BBC0"/>
            </a:solidFill>
            <a:prstDash val="solid"/>
          </a:ln>
        </p:spPr>
      </p:sp>
      <p:sp>
        <p:nvSpPr>
          <p:cNvPr id="22" name="Shape 20"/>
          <p:cNvSpPr/>
          <p:nvPr/>
        </p:nvSpPr>
        <p:spPr>
          <a:xfrm>
            <a:off x="5641848" y="1664208"/>
            <a:ext cx="784098" cy="3218688"/>
          </a:xfrm>
          <a:prstGeom prst="rect">
            <a:avLst/>
          </a:prstGeom>
          <a:solidFill>
            <a:srgbClr val="F4F6F8"/>
          </a:solidFill>
          <a:ln w="12700">
            <a:solidFill>
              <a:srgbClr val="F4F6F8"/>
            </a:solidFill>
            <a:prstDash val="solid"/>
          </a:ln>
        </p:spPr>
      </p:sp>
      <p:sp>
        <p:nvSpPr>
          <p:cNvPr id="23" name="Text 21"/>
          <p:cNvSpPr/>
          <p:nvPr/>
        </p:nvSpPr>
        <p:spPr>
          <a:xfrm>
            <a:off x="5641848"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41848" y="1133856"/>
            <a:ext cx="13716" cy="3749040"/>
          </a:xfrm>
          <a:prstGeom prst="rect">
            <a:avLst/>
          </a:prstGeom>
          <a:solidFill>
            <a:srgbClr val="B6BBC0"/>
          </a:solidFill>
          <a:ln w="12700">
            <a:solidFill>
              <a:srgbClr val="B6BBC0"/>
            </a:solidFill>
            <a:prstDash val="solid"/>
          </a:ln>
        </p:spPr>
      </p:sp>
      <p:sp>
        <p:nvSpPr>
          <p:cNvPr id="25" name="Text 23"/>
          <p:cNvSpPr/>
          <p:nvPr/>
        </p:nvSpPr>
        <p:spPr>
          <a:xfrm>
            <a:off x="642594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25946" y="1133856"/>
            <a:ext cx="13716" cy="3749040"/>
          </a:xfrm>
          <a:prstGeom prst="rect">
            <a:avLst/>
          </a:prstGeom>
          <a:solidFill>
            <a:srgbClr val="B6BBC0"/>
          </a:solidFill>
          <a:ln w="12700">
            <a:solidFill>
              <a:srgbClr val="B6BBC0"/>
            </a:solidFill>
            <a:prstDash val="solid"/>
          </a:ln>
        </p:spPr>
      </p:sp>
      <p:sp>
        <p:nvSpPr>
          <p:cNvPr id="27" name="Shape 25"/>
          <p:cNvSpPr/>
          <p:nvPr/>
        </p:nvSpPr>
        <p:spPr>
          <a:xfrm>
            <a:off x="7210044" y="1664208"/>
            <a:ext cx="784098" cy="3218688"/>
          </a:xfrm>
          <a:prstGeom prst="rect">
            <a:avLst/>
          </a:prstGeom>
          <a:solidFill>
            <a:srgbClr val="F4F6F8"/>
          </a:solidFill>
          <a:ln w="12700">
            <a:solidFill>
              <a:srgbClr val="F4F6F8"/>
            </a:solidFill>
            <a:prstDash val="solid"/>
          </a:ln>
        </p:spPr>
      </p:sp>
      <p:sp>
        <p:nvSpPr>
          <p:cNvPr id="28" name="Text 26"/>
          <p:cNvSpPr/>
          <p:nvPr/>
        </p:nvSpPr>
        <p:spPr>
          <a:xfrm>
            <a:off x="721004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10044" y="1133856"/>
            <a:ext cx="13716" cy="3749040"/>
          </a:xfrm>
          <a:prstGeom prst="rect">
            <a:avLst/>
          </a:prstGeom>
          <a:solidFill>
            <a:srgbClr val="B6BBC0"/>
          </a:solidFill>
          <a:ln w="12700">
            <a:solidFill>
              <a:srgbClr val="B6BBC0"/>
            </a:solidFill>
            <a:prstDash val="solid"/>
          </a:ln>
        </p:spPr>
      </p:sp>
      <p:sp>
        <p:nvSpPr>
          <p:cNvPr id="30" name="Text 28"/>
          <p:cNvSpPr/>
          <p:nvPr/>
        </p:nvSpPr>
        <p:spPr>
          <a:xfrm>
            <a:off x="799414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94142" y="1133856"/>
            <a:ext cx="13716" cy="3749040"/>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74904"/>
          </a:xfrm>
          <a:prstGeom prst="rect">
            <a:avLst/>
          </a:prstGeom>
          <a:solidFill>
            <a:srgbClr val="FFFFFF"/>
          </a:solidFill>
          <a:ln w="12700">
            <a:solidFill>
              <a:srgbClr val="E7ECF0"/>
            </a:solidFill>
            <a:prstDash val="solid"/>
          </a:ln>
        </p:spPr>
      </p:sp>
      <p:sp>
        <p:nvSpPr>
          <p:cNvPr id="33" name="Shape 31"/>
          <p:cNvSpPr/>
          <p:nvPr/>
        </p:nvSpPr>
        <p:spPr>
          <a:xfrm>
            <a:off x="274320" y="1664208"/>
            <a:ext cx="54864" cy="374904"/>
          </a:xfrm>
          <a:prstGeom prst="rect">
            <a:avLst/>
          </a:prstGeom>
          <a:solidFill>
            <a:srgbClr val="085CE5"/>
          </a:solidFill>
          <a:ln w="12700">
            <a:solidFill>
              <a:srgbClr val="085CE5"/>
            </a:solidFill>
            <a:prstDash val="solid"/>
          </a:ln>
        </p:spPr>
      </p:sp>
      <p:sp>
        <p:nvSpPr>
          <p:cNvPr id="34" name="Text 32"/>
          <p:cNvSpPr/>
          <p:nvPr/>
        </p:nvSpPr>
        <p:spPr>
          <a:xfrm>
            <a:off x="384048" y="169164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Churn Sentinel</a:t>
            </a:r>
            <a:endParaRPr lang="en-US" sz="850" dirty="0"/>
          </a:p>
        </p:txBody>
      </p:sp>
      <p:sp>
        <p:nvSpPr>
          <p:cNvPr id="35" name="Text 33"/>
          <p:cNvSpPr/>
          <p:nvPr/>
        </p:nvSpPr>
        <p:spPr>
          <a:xfrm>
            <a:off x="384048" y="189280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signals  ·  Phase 1</a:t>
            </a:r>
            <a:endParaRPr lang="en-US" sz="750" dirty="0"/>
          </a:p>
        </p:txBody>
      </p:sp>
      <p:sp>
        <p:nvSpPr>
          <p:cNvPr id="36" name="Shape 34"/>
          <p:cNvSpPr/>
          <p:nvPr/>
        </p:nvSpPr>
        <p:spPr>
          <a:xfrm>
            <a:off x="2542032" y="1755648"/>
            <a:ext cx="1495044" cy="182880"/>
          </a:xfrm>
          <a:prstGeom prst="rect">
            <a:avLst/>
          </a:prstGeom>
          <a:solidFill>
            <a:srgbClr val="085CE5">
              <a:alpha val="70000"/>
            </a:srgbClr>
          </a:solidFill>
          <a:ln w="12700">
            <a:solidFill>
              <a:srgbClr val="085CE5">
                <a:alpha val="90000"/>
              </a:srgbClr>
            </a:solidFill>
            <a:prstDash val="solid"/>
          </a:ln>
        </p:spPr>
      </p:sp>
      <p:sp>
        <p:nvSpPr>
          <p:cNvPr id="37" name="Shape 35"/>
          <p:cNvSpPr/>
          <p:nvPr/>
        </p:nvSpPr>
        <p:spPr>
          <a:xfrm>
            <a:off x="3618464" y="1755648"/>
            <a:ext cx="418612" cy="182880"/>
          </a:xfrm>
          <a:prstGeom prst="rect">
            <a:avLst/>
          </a:prstGeom>
          <a:solidFill>
            <a:srgbClr val="085CE5"/>
          </a:solidFill>
          <a:ln w="12700">
            <a:solidFill>
              <a:srgbClr val="085CE5"/>
            </a:solidFill>
            <a:prstDash val="solid"/>
          </a:ln>
        </p:spPr>
      </p:sp>
      <p:sp>
        <p:nvSpPr>
          <p:cNvPr id="38" name="Text 36"/>
          <p:cNvSpPr/>
          <p:nvPr/>
        </p:nvSpPr>
        <p:spPr>
          <a:xfrm>
            <a:off x="2606040" y="1755648"/>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ACH Sentinel  ·  Phase 1 launch</a:t>
            </a:r>
            <a:endParaRPr lang="en-US" sz="750" dirty="0"/>
          </a:p>
        </p:txBody>
      </p:sp>
      <p:sp>
        <p:nvSpPr>
          <p:cNvPr id="39" name="Shape 37"/>
          <p:cNvSpPr/>
          <p:nvPr/>
        </p:nvSpPr>
        <p:spPr>
          <a:xfrm>
            <a:off x="274320" y="2066544"/>
            <a:ext cx="8503920" cy="374904"/>
          </a:xfrm>
          <a:prstGeom prst="rect">
            <a:avLst/>
          </a:prstGeom>
          <a:solidFill>
            <a:srgbClr val="F8F9FA"/>
          </a:solidFill>
          <a:ln w="12700">
            <a:solidFill>
              <a:srgbClr val="E7ECF0"/>
            </a:solidFill>
            <a:prstDash val="solid"/>
          </a:ln>
        </p:spPr>
      </p:sp>
      <p:sp>
        <p:nvSpPr>
          <p:cNvPr id="40" name="Shape 38"/>
          <p:cNvSpPr/>
          <p:nvPr/>
        </p:nvSpPr>
        <p:spPr>
          <a:xfrm>
            <a:off x="274320" y="2066544"/>
            <a:ext cx="54864" cy="374904"/>
          </a:xfrm>
          <a:prstGeom prst="rect">
            <a:avLst/>
          </a:prstGeom>
          <a:solidFill>
            <a:srgbClr val="085CE5"/>
          </a:solidFill>
          <a:ln w="12700">
            <a:solidFill>
              <a:srgbClr val="085CE5"/>
            </a:solidFill>
            <a:prstDash val="solid"/>
          </a:ln>
        </p:spPr>
      </p:sp>
      <p:sp>
        <p:nvSpPr>
          <p:cNvPr id="41" name="Text 39"/>
          <p:cNvSpPr/>
          <p:nvPr/>
        </p:nvSpPr>
        <p:spPr>
          <a:xfrm>
            <a:off x="384048" y="2093976"/>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Churn Sentinel +</a:t>
            </a:r>
            <a:endParaRPr lang="en-US" sz="850" dirty="0"/>
          </a:p>
        </p:txBody>
      </p:sp>
      <p:sp>
        <p:nvSpPr>
          <p:cNvPr id="42" name="Text 40"/>
          <p:cNvSpPr/>
          <p:nvPr/>
        </p:nvSpPr>
        <p:spPr>
          <a:xfrm>
            <a:off x="384048" y="2295144"/>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 digital enrichment</a:t>
            </a:r>
            <a:endParaRPr lang="en-US" sz="750" dirty="0"/>
          </a:p>
        </p:txBody>
      </p:sp>
      <p:sp>
        <p:nvSpPr>
          <p:cNvPr id="43" name="Shape 41"/>
          <p:cNvSpPr/>
          <p:nvPr/>
        </p:nvSpPr>
        <p:spPr>
          <a:xfrm>
            <a:off x="4110228" y="2157984"/>
            <a:ext cx="1495044" cy="182880"/>
          </a:xfrm>
          <a:prstGeom prst="rect">
            <a:avLst/>
          </a:prstGeom>
          <a:solidFill>
            <a:srgbClr val="085CE5">
              <a:alpha val="70000"/>
            </a:srgbClr>
          </a:solidFill>
          <a:ln w="12700">
            <a:solidFill>
              <a:srgbClr val="085CE5">
                <a:alpha val="90000"/>
              </a:srgbClr>
            </a:solidFill>
            <a:prstDash val="solid"/>
          </a:ln>
        </p:spPr>
      </p:sp>
      <p:sp>
        <p:nvSpPr>
          <p:cNvPr id="44" name="Shape 42"/>
          <p:cNvSpPr/>
          <p:nvPr/>
        </p:nvSpPr>
        <p:spPr>
          <a:xfrm>
            <a:off x="5186660" y="2157984"/>
            <a:ext cx="418612" cy="182880"/>
          </a:xfrm>
          <a:prstGeom prst="rect">
            <a:avLst/>
          </a:prstGeom>
          <a:solidFill>
            <a:srgbClr val="085CE5"/>
          </a:solidFill>
          <a:ln w="12700">
            <a:solidFill>
              <a:srgbClr val="085CE5"/>
            </a:solidFill>
            <a:prstDash val="solid"/>
          </a:ln>
        </p:spPr>
      </p:sp>
      <p:sp>
        <p:nvSpPr>
          <p:cNvPr id="45" name="Text 43"/>
          <p:cNvSpPr/>
          <p:nvPr/>
        </p:nvSpPr>
        <p:spPr>
          <a:xfrm>
            <a:off x="4174236" y="2157984"/>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Core &amp; Banno signals  →  Phase 2</a:t>
            </a:r>
            <a:endParaRPr lang="en-US" sz="750" dirty="0"/>
          </a:p>
        </p:txBody>
      </p:sp>
      <p:sp>
        <p:nvSpPr>
          <p:cNvPr id="46" name="Shape 44"/>
          <p:cNvSpPr/>
          <p:nvPr/>
        </p:nvSpPr>
        <p:spPr>
          <a:xfrm>
            <a:off x="274320" y="2468880"/>
            <a:ext cx="8503920" cy="374904"/>
          </a:xfrm>
          <a:prstGeom prst="rect">
            <a:avLst/>
          </a:prstGeom>
          <a:solidFill>
            <a:srgbClr val="FFFFFF"/>
          </a:solidFill>
          <a:ln w="12700">
            <a:solidFill>
              <a:srgbClr val="E7ECF0"/>
            </a:solidFill>
            <a:prstDash val="solid"/>
          </a:ln>
        </p:spPr>
      </p:sp>
      <p:sp>
        <p:nvSpPr>
          <p:cNvPr id="47" name="Shape 45"/>
          <p:cNvSpPr/>
          <p:nvPr/>
        </p:nvSpPr>
        <p:spPr>
          <a:xfrm>
            <a:off x="274320" y="2468880"/>
            <a:ext cx="54864" cy="374904"/>
          </a:xfrm>
          <a:prstGeom prst="rect">
            <a:avLst/>
          </a:prstGeom>
          <a:solidFill>
            <a:srgbClr val="06185F"/>
          </a:solidFill>
          <a:ln w="12700">
            <a:solidFill>
              <a:srgbClr val="06185F"/>
            </a:solidFill>
            <a:prstDash val="solid"/>
          </a:ln>
        </p:spPr>
      </p:sp>
      <p:sp>
        <p:nvSpPr>
          <p:cNvPr id="48" name="Text 46"/>
          <p:cNvSpPr/>
          <p:nvPr/>
        </p:nvSpPr>
        <p:spPr>
          <a:xfrm>
            <a:off x="384048" y="2496312"/>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Memo Intelligence</a:t>
            </a:r>
            <a:endParaRPr lang="en-US" sz="850" dirty="0"/>
          </a:p>
        </p:txBody>
      </p:sp>
      <p:sp>
        <p:nvSpPr>
          <p:cNvPr id="49" name="Text 47"/>
          <p:cNvSpPr/>
          <p:nvPr/>
        </p:nvSpPr>
        <p:spPr>
          <a:xfrm>
            <a:off x="384048" y="2697480"/>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NLP compliance pipeline</a:t>
            </a:r>
            <a:endParaRPr lang="en-US" sz="750" dirty="0"/>
          </a:p>
        </p:txBody>
      </p:sp>
      <p:sp>
        <p:nvSpPr>
          <p:cNvPr id="50" name="Shape 48"/>
          <p:cNvSpPr/>
          <p:nvPr/>
        </p:nvSpPr>
        <p:spPr>
          <a:xfrm>
            <a:off x="4110228" y="2560320"/>
            <a:ext cx="1495044" cy="182880"/>
          </a:xfrm>
          <a:prstGeom prst="rect">
            <a:avLst/>
          </a:prstGeom>
          <a:solidFill>
            <a:srgbClr val="06185F">
              <a:alpha val="70000"/>
            </a:srgbClr>
          </a:solidFill>
          <a:ln w="12700">
            <a:solidFill>
              <a:srgbClr val="06185F">
                <a:alpha val="90000"/>
              </a:srgbClr>
            </a:solidFill>
            <a:prstDash val="solid"/>
          </a:ln>
        </p:spPr>
      </p:sp>
      <p:sp>
        <p:nvSpPr>
          <p:cNvPr id="51" name="Shape 49"/>
          <p:cNvSpPr/>
          <p:nvPr/>
        </p:nvSpPr>
        <p:spPr>
          <a:xfrm>
            <a:off x="5186660" y="2560320"/>
            <a:ext cx="418612" cy="182880"/>
          </a:xfrm>
          <a:prstGeom prst="rect">
            <a:avLst/>
          </a:prstGeom>
          <a:solidFill>
            <a:srgbClr val="06185F"/>
          </a:solidFill>
          <a:ln w="12700">
            <a:solidFill>
              <a:srgbClr val="06185F"/>
            </a:solidFill>
            <a:prstDash val="solid"/>
          </a:ln>
        </p:spPr>
      </p:sp>
      <p:sp>
        <p:nvSpPr>
          <p:cNvPr id="52" name="Text 50"/>
          <p:cNvSpPr/>
          <p:nvPr/>
        </p:nvSpPr>
        <p:spPr>
          <a:xfrm>
            <a:off x="4174236" y="2560320"/>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53" name="Shape 51"/>
          <p:cNvSpPr/>
          <p:nvPr/>
        </p:nvSpPr>
        <p:spPr>
          <a:xfrm>
            <a:off x="274320" y="2871216"/>
            <a:ext cx="8503920" cy="374904"/>
          </a:xfrm>
          <a:prstGeom prst="rect">
            <a:avLst/>
          </a:prstGeom>
          <a:solidFill>
            <a:srgbClr val="F8F9FA"/>
          </a:solidFill>
          <a:ln w="12700">
            <a:solidFill>
              <a:srgbClr val="E7ECF0"/>
            </a:solidFill>
            <a:prstDash val="solid"/>
          </a:ln>
        </p:spPr>
      </p:sp>
      <p:sp>
        <p:nvSpPr>
          <p:cNvPr id="54" name="Shape 52"/>
          <p:cNvSpPr/>
          <p:nvPr/>
        </p:nvSpPr>
        <p:spPr>
          <a:xfrm>
            <a:off x="274320" y="2871216"/>
            <a:ext cx="54864" cy="374904"/>
          </a:xfrm>
          <a:prstGeom prst="rect">
            <a:avLst/>
          </a:prstGeom>
          <a:solidFill>
            <a:srgbClr val="0A52C4"/>
          </a:solidFill>
          <a:ln w="12700">
            <a:solidFill>
              <a:srgbClr val="0A52C4"/>
            </a:solidFill>
            <a:prstDash val="solid"/>
          </a:ln>
        </p:spPr>
      </p:sp>
      <p:sp>
        <p:nvSpPr>
          <p:cNvPr id="55" name="Text 53"/>
          <p:cNvSpPr/>
          <p:nvPr/>
        </p:nvSpPr>
        <p:spPr>
          <a:xfrm>
            <a:off x="384048" y="2898648"/>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CommercialSignal</a:t>
            </a:r>
            <a:endParaRPr lang="en-US" sz="850" dirty="0"/>
          </a:p>
        </p:txBody>
      </p:sp>
      <p:sp>
        <p:nvSpPr>
          <p:cNvPr id="56" name="Text 54"/>
          <p:cNvSpPr/>
          <p:nvPr/>
        </p:nvSpPr>
        <p:spPr>
          <a:xfrm>
            <a:off x="384048" y="3099816"/>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SMB conversion model</a:t>
            </a:r>
            <a:endParaRPr lang="en-US" sz="750" dirty="0"/>
          </a:p>
        </p:txBody>
      </p:sp>
      <p:sp>
        <p:nvSpPr>
          <p:cNvPr id="57" name="Shape 55"/>
          <p:cNvSpPr/>
          <p:nvPr/>
        </p:nvSpPr>
        <p:spPr>
          <a:xfrm>
            <a:off x="4110228" y="2962656"/>
            <a:ext cx="1495044" cy="182880"/>
          </a:xfrm>
          <a:prstGeom prst="rect">
            <a:avLst/>
          </a:prstGeom>
          <a:solidFill>
            <a:srgbClr val="0A52C4">
              <a:alpha val="70000"/>
            </a:srgbClr>
          </a:solidFill>
          <a:ln w="12700">
            <a:solidFill>
              <a:srgbClr val="0A52C4">
                <a:alpha val="90000"/>
              </a:srgbClr>
            </a:solidFill>
            <a:prstDash val="solid"/>
          </a:ln>
        </p:spPr>
      </p:sp>
      <p:sp>
        <p:nvSpPr>
          <p:cNvPr id="58" name="Shape 56"/>
          <p:cNvSpPr/>
          <p:nvPr/>
        </p:nvSpPr>
        <p:spPr>
          <a:xfrm>
            <a:off x="5186660" y="2962656"/>
            <a:ext cx="418612" cy="182880"/>
          </a:xfrm>
          <a:prstGeom prst="rect">
            <a:avLst/>
          </a:prstGeom>
          <a:solidFill>
            <a:srgbClr val="0A52C4"/>
          </a:solidFill>
          <a:ln w="12700">
            <a:solidFill>
              <a:srgbClr val="0A52C4"/>
            </a:solidFill>
            <a:prstDash val="solid"/>
          </a:ln>
        </p:spPr>
      </p:sp>
      <p:sp>
        <p:nvSpPr>
          <p:cNvPr id="59" name="Text 57"/>
          <p:cNvSpPr/>
          <p:nvPr/>
        </p:nvSpPr>
        <p:spPr>
          <a:xfrm>
            <a:off x="4174236" y="2962656"/>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60" name="Shape 58"/>
          <p:cNvSpPr/>
          <p:nvPr/>
        </p:nvSpPr>
        <p:spPr>
          <a:xfrm>
            <a:off x="274320" y="3273552"/>
            <a:ext cx="8503920" cy="374904"/>
          </a:xfrm>
          <a:prstGeom prst="rect">
            <a:avLst/>
          </a:prstGeom>
          <a:solidFill>
            <a:srgbClr val="FFFFFF"/>
          </a:solidFill>
          <a:ln w="12700">
            <a:solidFill>
              <a:srgbClr val="E7ECF0"/>
            </a:solidFill>
            <a:prstDash val="solid"/>
          </a:ln>
        </p:spPr>
      </p:sp>
      <p:sp>
        <p:nvSpPr>
          <p:cNvPr id="61" name="Shape 59"/>
          <p:cNvSpPr/>
          <p:nvPr/>
        </p:nvSpPr>
        <p:spPr>
          <a:xfrm>
            <a:off x="274320" y="3273552"/>
            <a:ext cx="54864" cy="374904"/>
          </a:xfrm>
          <a:prstGeom prst="rect">
            <a:avLst/>
          </a:prstGeom>
          <a:solidFill>
            <a:srgbClr val="0F3D8A"/>
          </a:solidFill>
          <a:ln w="12700">
            <a:solidFill>
              <a:srgbClr val="0F3D8A"/>
            </a:solidFill>
            <a:prstDash val="solid"/>
          </a:ln>
        </p:spPr>
      </p:sp>
      <p:sp>
        <p:nvSpPr>
          <p:cNvPr id="62" name="Text 60"/>
          <p:cNvSpPr/>
          <p:nvPr/>
        </p:nvSpPr>
        <p:spPr>
          <a:xfrm>
            <a:off x="384048" y="3300984"/>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Gen. Wealth Deflection</a:t>
            </a:r>
            <a:endParaRPr lang="en-US" sz="850" dirty="0"/>
          </a:p>
        </p:txBody>
      </p:sp>
      <p:sp>
        <p:nvSpPr>
          <p:cNvPr id="63" name="Text 61"/>
          <p:cNvSpPr/>
          <p:nvPr/>
        </p:nvSpPr>
        <p:spPr>
          <a:xfrm>
            <a:off x="384048" y="3502152"/>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Household coverage model</a:t>
            </a:r>
            <a:endParaRPr lang="en-US" sz="750" dirty="0"/>
          </a:p>
        </p:txBody>
      </p:sp>
      <p:sp>
        <p:nvSpPr>
          <p:cNvPr id="64" name="Shape 62"/>
          <p:cNvSpPr/>
          <p:nvPr/>
        </p:nvSpPr>
        <p:spPr>
          <a:xfrm>
            <a:off x="4110228" y="3364992"/>
            <a:ext cx="2279142" cy="182880"/>
          </a:xfrm>
          <a:prstGeom prst="rect">
            <a:avLst/>
          </a:prstGeom>
          <a:solidFill>
            <a:srgbClr val="0F3D8A">
              <a:alpha val="70000"/>
            </a:srgbClr>
          </a:solidFill>
          <a:ln w="12700">
            <a:solidFill>
              <a:srgbClr val="0F3D8A">
                <a:alpha val="90000"/>
              </a:srgbClr>
            </a:solidFill>
            <a:prstDash val="solid"/>
          </a:ln>
        </p:spPr>
      </p:sp>
      <p:sp>
        <p:nvSpPr>
          <p:cNvPr id="65" name="Shape 63"/>
          <p:cNvSpPr/>
          <p:nvPr/>
        </p:nvSpPr>
        <p:spPr>
          <a:xfrm>
            <a:off x="5751210" y="3364992"/>
            <a:ext cx="638160" cy="182880"/>
          </a:xfrm>
          <a:prstGeom prst="rect">
            <a:avLst/>
          </a:prstGeom>
          <a:solidFill>
            <a:srgbClr val="0F3D8A"/>
          </a:solidFill>
          <a:ln w="12700">
            <a:solidFill>
              <a:srgbClr val="0F3D8A"/>
            </a:solidFill>
            <a:prstDash val="solid"/>
          </a:ln>
        </p:spPr>
      </p:sp>
      <p:sp>
        <p:nvSpPr>
          <p:cNvPr id="66" name="Text 64"/>
          <p:cNvSpPr/>
          <p:nvPr/>
        </p:nvSpPr>
        <p:spPr>
          <a:xfrm>
            <a:off x="4174236" y="3364992"/>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Phase 2 build  →  Phase 3</a:t>
            </a:r>
            <a:endParaRPr lang="en-US" sz="750" dirty="0"/>
          </a:p>
        </p:txBody>
      </p:sp>
      <p:sp>
        <p:nvSpPr>
          <p:cNvPr id="67" name="Shape 65"/>
          <p:cNvSpPr/>
          <p:nvPr/>
        </p:nvSpPr>
        <p:spPr>
          <a:xfrm>
            <a:off x="274320" y="3675888"/>
            <a:ext cx="8503920" cy="374904"/>
          </a:xfrm>
          <a:prstGeom prst="rect">
            <a:avLst/>
          </a:prstGeom>
          <a:solidFill>
            <a:srgbClr val="F8F9FA"/>
          </a:solidFill>
          <a:ln w="12700">
            <a:solidFill>
              <a:srgbClr val="E7ECF0"/>
            </a:solidFill>
            <a:prstDash val="solid"/>
          </a:ln>
        </p:spPr>
      </p:sp>
      <p:sp>
        <p:nvSpPr>
          <p:cNvPr id="68" name="Shape 66"/>
          <p:cNvSpPr/>
          <p:nvPr/>
        </p:nvSpPr>
        <p:spPr>
          <a:xfrm>
            <a:off x="274320" y="3675888"/>
            <a:ext cx="54864" cy="374904"/>
          </a:xfrm>
          <a:prstGeom prst="rect">
            <a:avLst/>
          </a:prstGeom>
          <a:solidFill>
            <a:srgbClr val="073FA8"/>
          </a:solidFill>
          <a:ln w="12700">
            <a:solidFill>
              <a:srgbClr val="073FA8"/>
            </a:solidFill>
            <a:prstDash val="solid"/>
          </a:ln>
        </p:spPr>
      </p:sp>
      <p:sp>
        <p:nvSpPr>
          <p:cNvPr id="69" name="Text 67"/>
          <p:cNvSpPr/>
          <p:nvPr/>
        </p:nvSpPr>
        <p:spPr>
          <a:xfrm>
            <a:off x="384048" y="370332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Anomaly Detection</a:t>
            </a:r>
            <a:endParaRPr lang="en-US" sz="850" dirty="0"/>
          </a:p>
        </p:txBody>
      </p:sp>
      <p:sp>
        <p:nvSpPr>
          <p:cNvPr id="70" name="Text 68"/>
          <p:cNvSpPr/>
          <p:nvPr/>
        </p:nvSpPr>
        <p:spPr>
          <a:xfrm>
            <a:off x="384048" y="390448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Real-time fraud engine</a:t>
            </a:r>
            <a:endParaRPr lang="en-US" sz="750" dirty="0"/>
          </a:p>
        </p:txBody>
      </p:sp>
      <p:sp>
        <p:nvSpPr>
          <p:cNvPr id="71" name="Shape 69"/>
          <p:cNvSpPr/>
          <p:nvPr/>
        </p:nvSpPr>
        <p:spPr>
          <a:xfrm>
            <a:off x="5678424" y="3767328"/>
            <a:ext cx="2279142" cy="182880"/>
          </a:xfrm>
          <a:prstGeom prst="rect">
            <a:avLst/>
          </a:prstGeom>
          <a:solidFill>
            <a:srgbClr val="073FA8">
              <a:alpha val="70000"/>
            </a:srgbClr>
          </a:solidFill>
          <a:ln w="12700">
            <a:solidFill>
              <a:srgbClr val="073FA8">
                <a:alpha val="90000"/>
              </a:srgbClr>
            </a:solidFill>
            <a:prstDash val="solid"/>
          </a:ln>
        </p:spPr>
      </p:sp>
      <p:sp>
        <p:nvSpPr>
          <p:cNvPr id="72" name="Shape 70"/>
          <p:cNvSpPr/>
          <p:nvPr/>
        </p:nvSpPr>
        <p:spPr>
          <a:xfrm>
            <a:off x="7319406" y="3767328"/>
            <a:ext cx="638160" cy="182880"/>
          </a:xfrm>
          <a:prstGeom prst="rect">
            <a:avLst/>
          </a:prstGeom>
          <a:solidFill>
            <a:srgbClr val="073FA8"/>
          </a:solidFill>
          <a:ln w="12700">
            <a:solidFill>
              <a:srgbClr val="073FA8"/>
            </a:solidFill>
            <a:prstDash val="solid"/>
          </a:ln>
        </p:spPr>
      </p:sp>
      <p:sp>
        <p:nvSpPr>
          <p:cNvPr id="73" name="Text 71"/>
          <p:cNvSpPr/>
          <p:nvPr/>
        </p:nvSpPr>
        <p:spPr>
          <a:xfrm>
            <a:off x="5742432" y="3767328"/>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3 launch</a:t>
            </a:r>
            <a:endParaRPr lang="en-US" sz="750" dirty="0"/>
          </a:p>
        </p:txBody>
      </p:sp>
      <p:sp>
        <p:nvSpPr>
          <p:cNvPr id="74" name="Shape 72"/>
          <p:cNvSpPr/>
          <p:nvPr/>
        </p:nvSpPr>
        <p:spPr>
          <a:xfrm>
            <a:off x="274320" y="4078224"/>
            <a:ext cx="8503920" cy="374904"/>
          </a:xfrm>
          <a:prstGeom prst="rect">
            <a:avLst/>
          </a:prstGeom>
          <a:solidFill>
            <a:srgbClr val="FFFFFF"/>
          </a:solidFill>
          <a:ln w="12700">
            <a:solidFill>
              <a:srgbClr val="E7ECF0"/>
            </a:solidFill>
            <a:prstDash val="solid"/>
          </a:ln>
        </p:spPr>
      </p:sp>
      <p:sp>
        <p:nvSpPr>
          <p:cNvPr id="75" name="Shape 73"/>
          <p:cNvSpPr/>
          <p:nvPr/>
        </p:nvSpPr>
        <p:spPr>
          <a:xfrm>
            <a:off x="274320" y="4078224"/>
            <a:ext cx="54864" cy="374904"/>
          </a:xfrm>
          <a:prstGeom prst="rect">
            <a:avLst/>
          </a:prstGeom>
          <a:solidFill>
            <a:srgbClr val="0D2E7A"/>
          </a:solidFill>
          <a:ln w="12700">
            <a:solidFill>
              <a:srgbClr val="0D2E7A"/>
            </a:solidFill>
            <a:prstDash val="solid"/>
          </a:ln>
        </p:spPr>
      </p:sp>
      <p:sp>
        <p:nvSpPr>
          <p:cNvPr id="76" name="Text 74"/>
          <p:cNvSpPr/>
          <p:nvPr/>
        </p:nvSpPr>
        <p:spPr>
          <a:xfrm>
            <a:off x="384048" y="4105656"/>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FI Decision Studio</a:t>
            </a:r>
            <a:endParaRPr lang="en-US" sz="850" dirty="0"/>
          </a:p>
        </p:txBody>
      </p:sp>
      <p:sp>
        <p:nvSpPr>
          <p:cNvPr id="77" name="Text 75"/>
          <p:cNvSpPr/>
          <p:nvPr/>
        </p:nvSpPr>
        <p:spPr>
          <a:xfrm>
            <a:off x="384048" y="4306824"/>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AutoML platform  ·  GA</a:t>
            </a:r>
            <a:endParaRPr lang="en-US" sz="750" dirty="0"/>
          </a:p>
        </p:txBody>
      </p:sp>
      <p:sp>
        <p:nvSpPr>
          <p:cNvPr id="78" name="Shape 76"/>
          <p:cNvSpPr/>
          <p:nvPr/>
        </p:nvSpPr>
        <p:spPr>
          <a:xfrm>
            <a:off x="5678424" y="4169664"/>
            <a:ext cx="3063240" cy="182880"/>
          </a:xfrm>
          <a:prstGeom prst="rect">
            <a:avLst/>
          </a:prstGeom>
          <a:solidFill>
            <a:srgbClr val="0D2E7A">
              <a:alpha val="70000"/>
            </a:srgbClr>
          </a:solidFill>
          <a:ln w="12700">
            <a:solidFill>
              <a:srgbClr val="0D2E7A">
                <a:alpha val="90000"/>
              </a:srgbClr>
            </a:solidFill>
            <a:prstDash val="solid"/>
          </a:ln>
        </p:spPr>
      </p:sp>
      <p:sp>
        <p:nvSpPr>
          <p:cNvPr id="79" name="Shape 77"/>
          <p:cNvSpPr/>
          <p:nvPr/>
        </p:nvSpPr>
        <p:spPr>
          <a:xfrm>
            <a:off x="8030718" y="4169664"/>
            <a:ext cx="710946" cy="182880"/>
          </a:xfrm>
          <a:prstGeom prst="rect">
            <a:avLst/>
          </a:prstGeom>
          <a:solidFill>
            <a:srgbClr val="0D2E7A"/>
          </a:solidFill>
          <a:ln w="12700">
            <a:solidFill>
              <a:srgbClr val="0D2E7A"/>
            </a:solidFill>
            <a:prstDash val="solid"/>
          </a:ln>
        </p:spPr>
      </p:sp>
      <p:sp>
        <p:nvSpPr>
          <p:cNvPr id="80" name="Text 78"/>
          <p:cNvSpPr/>
          <p:nvPr/>
        </p:nvSpPr>
        <p:spPr>
          <a:xfrm>
            <a:off x="5742432" y="4169664"/>
            <a:ext cx="2935224"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Platform build  →  Phase 3 GA</a:t>
            </a:r>
            <a:endParaRPr lang="en-US" sz="750" dirty="0"/>
          </a:p>
        </p:txBody>
      </p:sp>
      <p:sp>
        <p:nvSpPr>
          <p:cNvPr id="81" name="Shape 79"/>
          <p:cNvSpPr/>
          <p:nvPr/>
        </p:nvSpPr>
        <p:spPr>
          <a:xfrm>
            <a:off x="384048" y="4919472"/>
            <a:ext cx="457200" cy="128016"/>
          </a:xfrm>
          <a:prstGeom prst="rect">
            <a:avLst/>
          </a:prstGeom>
          <a:solidFill>
            <a:srgbClr val="085CE5">
              <a:alpha val="70000"/>
            </a:srgbClr>
          </a:solidFill>
          <a:ln w="12700">
            <a:solidFill>
              <a:srgbClr val="085CE5"/>
            </a:solidFill>
            <a:prstDash val="solid"/>
          </a:ln>
        </p:spPr>
      </p:sp>
      <p:sp>
        <p:nvSpPr>
          <p:cNvPr id="82" name="Text 80"/>
          <p:cNvSpPr/>
          <p:nvPr/>
        </p:nvSpPr>
        <p:spPr>
          <a:xfrm>
            <a:off x="89611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Build / validate</a:t>
            </a:r>
            <a:endParaRPr lang="en-US" sz="750" dirty="0"/>
          </a:p>
        </p:txBody>
      </p:sp>
      <p:sp>
        <p:nvSpPr>
          <p:cNvPr id="83" name="Shape 81"/>
          <p:cNvSpPr/>
          <p:nvPr/>
        </p:nvSpPr>
        <p:spPr>
          <a:xfrm>
            <a:off x="2304288" y="4919472"/>
            <a:ext cx="457200" cy="128016"/>
          </a:xfrm>
          <a:prstGeom prst="rect">
            <a:avLst/>
          </a:prstGeom>
          <a:solidFill>
            <a:srgbClr val="085CE5"/>
          </a:solidFill>
          <a:ln w="12700">
            <a:solidFill>
              <a:srgbClr val="085CE5"/>
            </a:solidFill>
            <a:prstDash val="solid"/>
          </a:ln>
        </p:spPr>
      </p:sp>
      <p:sp>
        <p:nvSpPr>
          <p:cNvPr id="84" name="Text 82"/>
          <p:cNvSpPr/>
          <p:nvPr/>
        </p:nvSpPr>
        <p:spPr>
          <a:xfrm>
            <a:off x="281635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Launch window</a:t>
            </a:r>
            <a:endParaRPr lang="en-US" sz="750" dirty="0"/>
          </a:p>
        </p:txBody>
      </p:sp>
      <p:sp>
        <p:nvSpPr>
          <p:cNvPr id="85" name="Shape 83"/>
          <p:cNvSpPr/>
          <p:nvPr/>
        </p:nvSpPr>
        <p:spPr>
          <a:xfrm>
            <a:off x="2519172" y="1115568"/>
            <a:ext cx="36576" cy="3767328"/>
          </a:xfrm>
          <a:prstGeom prst="rect">
            <a:avLst/>
          </a:prstGeom>
          <a:solidFill>
            <a:srgbClr val="76DCFD"/>
          </a:solidFill>
          <a:ln w="12700">
            <a:solidFill>
              <a:srgbClr val="76DCFD"/>
            </a:solidFill>
            <a:prstDash val="solid"/>
          </a:ln>
        </p:spPr>
      </p:sp>
      <p:sp>
        <p:nvSpPr>
          <p:cNvPr id="86" name="Text 84"/>
          <p:cNvSpPr/>
          <p:nvPr/>
        </p:nvSpPr>
        <p:spPr>
          <a:xfrm>
            <a:off x="2395728"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FY26 Q3 through FY28 Q2</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Q3–Q4 FY26  (Jan–Jun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Ingest ACH payment rails — direct deposit monitoring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Churn Sentinel Phase 1: ACH cadence + originator change alerts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50208"/>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14216"/>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50208"/>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Churn Sentinel</a:t>
            </a:r>
            <a:endParaRPr lang="en-US" sz="900" dirty="0"/>
          </a:p>
        </p:txBody>
      </p:sp>
      <p:sp>
        <p:nvSpPr>
          <p:cNvPr id="17" name="Shape 15"/>
          <p:cNvSpPr/>
          <p:nvPr/>
        </p:nvSpPr>
        <p:spPr>
          <a:xfrm>
            <a:off x="2029968" y="3977640"/>
            <a:ext cx="749808" cy="201168"/>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029968" y="3977640"/>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ACH</a:t>
            </a:r>
            <a:endParaRPr lang="en-US" sz="70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Q1–Q2 FY27  (Jul–Dec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Churn Sentinel Phase 2: core banking + Banno digital signals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CommercialSignal: personal-to-business conversion model</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Generational Wealth household relationship engine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 live</a:t>
            </a:r>
            <a:endParaRPr lang="en-US" sz="1000" dirty="0"/>
          </a:p>
        </p:txBody>
      </p:sp>
      <p:sp>
        <p:nvSpPr>
          <p:cNvPr id="26" name="Shape 24"/>
          <p:cNvSpPr/>
          <p:nvPr/>
        </p:nvSpPr>
        <p:spPr>
          <a:xfrm>
            <a:off x="3200400" y="3438144"/>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438144"/>
            <a:ext cx="54864" cy="237744"/>
          </a:xfrm>
          <a:prstGeom prst="rect">
            <a:avLst/>
          </a:prstGeom>
          <a:solidFill>
            <a:srgbClr val="073FA8"/>
          </a:solidFill>
          <a:ln w="12700">
            <a:solidFill>
              <a:srgbClr val="073FA8"/>
            </a:solidFill>
            <a:prstDash val="solid"/>
          </a:ln>
        </p:spPr>
      </p:sp>
      <p:sp>
        <p:nvSpPr>
          <p:cNvPr id="28" name="Text 26"/>
          <p:cNvSpPr/>
          <p:nvPr/>
        </p:nvSpPr>
        <p:spPr>
          <a:xfrm>
            <a:off x="3328416" y="3438144"/>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712464"/>
            <a:ext cx="2523744" cy="219456"/>
          </a:xfrm>
          <a:prstGeom prst="rect">
            <a:avLst/>
          </a:prstGeom>
          <a:solidFill>
            <a:srgbClr val="085CE5"/>
          </a:solidFill>
          <a:ln w="12700">
            <a:solidFill>
              <a:srgbClr val="085CE5"/>
            </a:solidFill>
            <a:prstDash val="solid"/>
          </a:ln>
        </p:spPr>
      </p:sp>
      <p:sp>
        <p:nvSpPr>
          <p:cNvPr id="30" name="Shape 28"/>
          <p:cNvSpPr/>
          <p:nvPr/>
        </p:nvSpPr>
        <p:spPr>
          <a:xfrm>
            <a:off x="3383280" y="3758184"/>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712464"/>
            <a:ext cx="1554480"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Churn Sentinel +</a:t>
            </a:r>
            <a:endParaRPr lang="en-US" sz="800" dirty="0"/>
          </a:p>
        </p:txBody>
      </p:sp>
      <p:sp>
        <p:nvSpPr>
          <p:cNvPr id="32" name="Shape 30"/>
          <p:cNvSpPr/>
          <p:nvPr/>
        </p:nvSpPr>
        <p:spPr>
          <a:xfrm>
            <a:off x="4974336" y="3739896"/>
            <a:ext cx="749808" cy="164592"/>
          </a:xfrm>
          <a:prstGeom prst="rect">
            <a:avLst/>
          </a:prstGeom>
          <a:solidFill>
            <a:srgbClr val="FFFFFF">
              <a:alpha val="80000"/>
            </a:srgbClr>
          </a:solidFill>
          <a:ln w="12700">
            <a:solidFill>
              <a:srgbClr val="FFFFFF">
                <a:alpha val="60000"/>
              </a:srgbClr>
            </a:solidFill>
            <a:prstDash val="solid"/>
          </a:ln>
        </p:spPr>
      </p:sp>
      <p:sp>
        <p:nvSpPr>
          <p:cNvPr id="33" name="Text 31"/>
          <p:cNvSpPr/>
          <p:nvPr/>
        </p:nvSpPr>
        <p:spPr>
          <a:xfrm>
            <a:off x="4974336" y="3739896"/>
            <a:ext cx="749808" cy="16459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Core+Digital</a:t>
            </a:r>
            <a:endParaRPr lang="en-US" sz="700" dirty="0"/>
          </a:p>
        </p:txBody>
      </p:sp>
      <p:sp>
        <p:nvSpPr>
          <p:cNvPr id="34" name="Shape 32"/>
          <p:cNvSpPr/>
          <p:nvPr/>
        </p:nvSpPr>
        <p:spPr>
          <a:xfrm>
            <a:off x="3328416" y="3968496"/>
            <a:ext cx="2523744" cy="219456"/>
          </a:xfrm>
          <a:prstGeom prst="rect">
            <a:avLst/>
          </a:prstGeom>
          <a:solidFill>
            <a:srgbClr val="06185F"/>
          </a:solidFill>
          <a:ln w="12700">
            <a:solidFill>
              <a:srgbClr val="06185F"/>
            </a:solidFill>
            <a:prstDash val="solid"/>
          </a:ln>
        </p:spPr>
      </p:sp>
      <p:sp>
        <p:nvSpPr>
          <p:cNvPr id="35" name="Shape 33"/>
          <p:cNvSpPr/>
          <p:nvPr/>
        </p:nvSpPr>
        <p:spPr>
          <a:xfrm>
            <a:off x="3383280" y="4014216"/>
            <a:ext cx="128016" cy="128016"/>
          </a:xfrm>
          <a:prstGeom prst="ellipse">
            <a:avLst/>
          </a:prstGeom>
          <a:solidFill>
            <a:srgbClr val="FFFFFF">
              <a:alpha val="70000"/>
            </a:srgbClr>
          </a:solidFill>
          <a:ln w="12700">
            <a:solidFill>
              <a:srgbClr val="FFFFFF">
                <a:alpha val="70000"/>
              </a:srgbClr>
            </a:solidFill>
            <a:prstDash val="solid"/>
          </a:ln>
        </p:spPr>
      </p:sp>
      <p:sp>
        <p:nvSpPr>
          <p:cNvPr id="36" name="Text 34"/>
          <p:cNvSpPr/>
          <p:nvPr/>
        </p:nvSpPr>
        <p:spPr>
          <a:xfrm>
            <a:off x="3566160" y="3968496"/>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Zelle Memo Intelligence</a:t>
            </a:r>
            <a:endParaRPr lang="en-US" sz="800" dirty="0"/>
          </a:p>
        </p:txBody>
      </p:sp>
      <p:sp>
        <p:nvSpPr>
          <p:cNvPr id="37" name="Shape 35"/>
          <p:cNvSpPr/>
          <p:nvPr/>
        </p:nvSpPr>
        <p:spPr>
          <a:xfrm>
            <a:off x="3328416" y="4224528"/>
            <a:ext cx="2523744" cy="219456"/>
          </a:xfrm>
          <a:prstGeom prst="rect">
            <a:avLst/>
          </a:prstGeom>
          <a:solidFill>
            <a:srgbClr val="0A52C4"/>
          </a:solidFill>
          <a:ln w="12700">
            <a:solidFill>
              <a:srgbClr val="0A52C4"/>
            </a:solidFill>
            <a:prstDash val="solid"/>
          </a:ln>
        </p:spPr>
      </p:sp>
      <p:sp>
        <p:nvSpPr>
          <p:cNvPr id="38" name="Shape 36"/>
          <p:cNvSpPr/>
          <p:nvPr/>
        </p:nvSpPr>
        <p:spPr>
          <a:xfrm>
            <a:off x="3383280" y="4270248"/>
            <a:ext cx="128016" cy="128016"/>
          </a:xfrm>
          <a:prstGeom prst="ellipse">
            <a:avLst/>
          </a:prstGeom>
          <a:solidFill>
            <a:srgbClr val="FFFFFF">
              <a:alpha val="70000"/>
            </a:srgbClr>
          </a:solidFill>
          <a:ln w="12700">
            <a:solidFill>
              <a:srgbClr val="FFFFFF">
                <a:alpha val="70000"/>
              </a:srgbClr>
            </a:solidFill>
            <a:prstDash val="solid"/>
          </a:ln>
        </p:spPr>
      </p:sp>
      <p:sp>
        <p:nvSpPr>
          <p:cNvPr id="39" name="Text 37"/>
          <p:cNvSpPr/>
          <p:nvPr/>
        </p:nvSpPr>
        <p:spPr>
          <a:xfrm>
            <a:off x="3566160" y="4224528"/>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CommercialSignal</a:t>
            </a:r>
            <a:endParaRPr lang="en-US" sz="800" dirty="0"/>
          </a:p>
        </p:txBody>
      </p:sp>
      <p:sp>
        <p:nvSpPr>
          <p:cNvPr id="40" name="Shape 38"/>
          <p:cNvSpPr/>
          <p:nvPr/>
        </p:nvSpPr>
        <p:spPr>
          <a:xfrm>
            <a:off x="3328416" y="4480560"/>
            <a:ext cx="2523744" cy="219456"/>
          </a:xfrm>
          <a:prstGeom prst="rect">
            <a:avLst/>
          </a:prstGeom>
          <a:solidFill>
            <a:srgbClr val="0F3D8A"/>
          </a:solidFill>
          <a:ln w="12700">
            <a:solidFill>
              <a:srgbClr val="0F3D8A"/>
            </a:solidFill>
            <a:prstDash val="solid"/>
          </a:ln>
        </p:spPr>
      </p:sp>
      <p:sp>
        <p:nvSpPr>
          <p:cNvPr id="41" name="Shape 39"/>
          <p:cNvSpPr/>
          <p:nvPr/>
        </p:nvSpPr>
        <p:spPr>
          <a:xfrm>
            <a:off x="3383280" y="4526280"/>
            <a:ext cx="128016" cy="128016"/>
          </a:xfrm>
          <a:prstGeom prst="ellipse">
            <a:avLst/>
          </a:prstGeom>
          <a:solidFill>
            <a:srgbClr val="FFFFFF">
              <a:alpha val="70000"/>
            </a:srgbClr>
          </a:solidFill>
          <a:ln w="12700">
            <a:solidFill>
              <a:srgbClr val="FFFFFF">
                <a:alpha val="70000"/>
              </a:srgbClr>
            </a:solidFill>
            <a:prstDash val="solid"/>
          </a:ln>
        </p:spPr>
      </p:sp>
      <p:sp>
        <p:nvSpPr>
          <p:cNvPr id="42" name="Text 40"/>
          <p:cNvSpPr/>
          <p:nvPr/>
        </p:nvSpPr>
        <p:spPr>
          <a:xfrm>
            <a:off x="3566160" y="4480560"/>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Generational Wealth Deflection</a:t>
            </a:r>
            <a:endParaRPr lang="en-US" sz="800" dirty="0"/>
          </a:p>
        </p:txBody>
      </p:sp>
      <p:sp>
        <p:nvSpPr>
          <p:cNvPr id="43" name="Shape 41"/>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4" name="Shape 42"/>
          <p:cNvSpPr/>
          <p:nvPr/>
        </p:nvSpPr>
        <p:spPr>
          <a:xfrm>
            <a:off x="6144768" y="749808"/>
            <a:ext cx="2816352" cy="804672"/>
          </a:xfrm>
          <a:prstGeom prst="rect">
            <a:avLst/>
          </a:prstGeom>
          <a:solidFill>
            <a:srgbClr val="575A5D"/>
          </a:solidFill>
          <a:ln w="12700">
            <a:solidFill>
              <a:srgbClr val="575A5D"/>
            </a:solidFill>
            <a:prstDash val="solid"/>
          </a:ln>
        </p:spPr>
      </p:sp>
      <p:sp>
        <p:nvSpPr>
          <p:cNvPr id="45" name="Text 43"/>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6" name="Shape 44"/>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47" name="Text 45"/>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48" name="Text 46"/>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 FY27–Q2 FY28  (Jan–Jun 2027+)</a:t>
            </a:r>
            <a:endParaRPr lang="en-US" sz="1000" dirty="0"/>
          </a:p>
        </p:txBody>
      </p:sp>
      <p:sp>
        <p:nvSpPr>
          <p:cNvPr id="49" name="Text 47"/>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Anomaly Detection: real-time streaming fraud engine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FI Decision Studio: AutoML platform GA release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fully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50" name="Shape 48"/>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51" name="Shape 49"/>
          <p:cNvSpPr/>
          <p:nvPr/>
        </p:nvSpPr>
        <p:spPr>
          <a:xfrm>
            <a:off x="6144768" y="3675888"/>
            <a:ext cx="54864" cy="237744"/>
          </a:xfrm>
          <a:prstGeom prst="rect">
            <a:avLst/>
          </a:prstGeom>
          <a:solidFill>
            <a:srgbClr val="575A5D"/>
          </a:solidFill>
          <a:ln w="12700">
            <a:solidFill>
              <a:srgbClr val="575A5D"/>
            </a:solidFill>
            <a:prstDash val="solid"/>
          </a:ln>
        </p:spPr>
      </p:sp>
      <p:sp>
        <p:nvSpPr>
          <p:cNvPr id="52" name="Text 50"/>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53" name="Shape 51"/>
          <p:cNvSpPr/>
          <p:nvPr/>
        </p:nvSpPr>
        <p:spPr>
          <a:xfrm>
            <a:off x="6272784" y="3950208"/>
            <a:ext cx="2523744" cy="256032"/>
          </a:xfrm>
          <a:prstGeom prst="rect">
            <a:avLst/>
          </a:prstGeom>
          <a:solidFill>
            <a:srgbClr val="073FA8"/>
          </a:solidFill>
          <a:ln w="12700">
            <a:solidFill>
              <a:srgbClr val="073FA8"/>
            </a:solidFill>
            <a:prstDash val="solid"/>
          </a:ln>
        </p:spPr>
      </p:sp>
      <p:sp>
        <p:nvSpPr>
          <p:cNvPr id="54" name="Shape 52"/>
          <p:cNvSpPr/>
          <p:nvPr/>
        </p:nvSpPr>
        <p:spPr>
          <a:xfrm>
            <a:off x="6327648" y="4014216"/>
            <a:ext cx="128016" cy="128016"/>
          </a:xfrm>
          <a:prstGeom prst="ellipse">
            <a:avLst/>
          </a:prstGeom>
          <a:solidFill>
            <a:srgbClr val="FFFFFF">
              <a:alpha val="70000"/>
            </a:srgbClr>
          </a:solidFill>
          <a:ln w="12700">
            <a:solidFill>
              <a:srgbClr val="FFFFFF">
                <a:alpha val="70000"/>
              </a:srgbClr>
            </a:solidFill>
            <a:prstDash val="solid"/>
          </a:ln>
        </p:spPr>
      </p:sp>
      <p:sp>
        <p:nvSpPr>
          <p:cNvPr id="55" name="Text 53"/>
          <p:cNvSpPr/>
          <p:nvPr/>
        </p:nvSpPr>
        <p:spPr>
          <a:xfrm>
            <a:off x="6510528" y="3950208"/>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Anomaly Detection</a:t>
            </a:r>
            <a:endParaRPr lang="en-US" sz="900" dirty="0"/>
          </a:p>
        </p:txBody>
      </p:sp>
      <p:sp>
        <p:nvSpPr>
          <p:cNvPr id="56" name="Shape 54"/>
          <p:cNvSpPr/>
          <p:nvPr/>
        </p:nvSpPr>
        <p:spPr>
          <a:xfrm>
            <a:off x="6272784" y="4279392"/>
            <a:ext cx="2523744" cy="256032"/>
          </a:xfrm>
          <a:prstGeom prst="rect">
            <a:avLst/>
          </a:prstGeom>
          <a:solidFill>
            <a:srgbClr val="0D2E7A"/>
          </a:solidFill>
          <a:ln w="12700">
            <a:solidFill>
              <a:srgbClr val="0D2E7A"/>
            </a:solidFill>
            <a:prstDash val="solid"/>
          </a:ln>
        </p:spPr>
      </p:sp>
      <p:sp>
        <p:nvSpPr>
          <p:cNvPr id="57" name="Shape 55"/>
          <p:cNvSpPr/>
          <p:nvPr/>
        </p:nvSpPr>
        <p:spPr>
          <a:xfrm>
            <a:off x="6327648" y="4343400"/>
            <a:ext cx="128016" cy="128016"/>
          </a:xfrm>
          <a:prstGeom prst="ellipse">
            <a:avLst/>
          </a:prstGeom>
          <a:solidFill>
            <a:srgbClr val="FFFFFF">
              <a:alpha val="70000"/>
            </a:srgbClr>
          </a:solidFill>
          <a:ln w="12700">
            <a:solidFill>
              <a:srgbClr val="FFFFFF">
                <a:alpha val="70000"/>
              </a:srgbClr>
            </a:solidFill>
            <a:prstDash val="solid"/>
          </a:ln>
        </p:spPr>
      </p:sp>
      <p:sp>
        <p:nvSpPr>
          <p:cNvPr id="58" name="Text 56"/>
          <p:cNvSpPr/>
          <p:nvPr/>
        </p:nvSpPr>
        <p:spPr>
          <a:xfrm>
            <a:off x="6510528" y="4279392"/>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FI Decision Studio</a:t>
            </a:r>
            <a:endParaRPr lang="en-US" sz="900" dirty="0"/>
          </a:p>
        </p:txBody>
      </p:sp>
      <p:sp>
        <p:nvSpPr>
          <p:cNvPr id="59" name="Shape 57"/>
          <p:cNvSpPr/>
          <p:nvPr/>
        </p:nvSpPr>
        <p:spPr>
          <a:xfrm>
            <a:off x="7918704" y="4306824"/>
            <a:ext cx="749808" cy="201168"/>
          </a:xfrm>
          <a:prstGeom prst="rect">
            <a:avLst/>
          </a:prstGeom>
          <a:solidFill>
            <a:srgbClr val="FFFFFF">
              <a:alpha val="80000"/>
            </a:srgbClr>
          </a:solidFill>
          <a:ln w="12700">
            <a:solidFill>
              <a:srgbClr val="FFFFFF">
                <a:alpha val="60000"/>
              </a:srgbClr>
            </a:solidFill>
            <a:prstDash val="solid"/>
          </a:ln>
        </p:spPr>
      </p:sp>
      <p:sp>
        <p:nvSpPr>
          <p:cNvPr id="60" name="Text 58"/>
          <p:cNvSpPr/>
          <p:nvPr/>
        </p:nvSpPr>
        <p:spPr>
          <a:xfrm>
            <a:off x="7918704" y="4306824"/>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Platform</a:t>
            </a:r>
            <a:endParaRPr lang="en-US" sz="700" dirty="0"/>
          </a:p>
        </p:txBody>
      </p:sp>
      <p:sp>
        <p:nvSpPr>
          <p:cNvPr id="61" name="Shape 59"/>
          <p:cNvSpPr/>
          <p:nvPr/>
        </p:nvSpPr>
        <p:spPr>
          <a:xfrm>
            <a:off x="6272784" y="4608576"/>
            <a:ext cx="2523744" cy="256032"/>
          </a:xfrm>
          <a:prstGeom prst="rect">
            <a:avLst/>
          </a:prstGeom>
          <a:solidFill>
            <a:srgbClr val="073FA8"/>
          </a:solidFill>
          <a:ln w="12700">
            <a:solidFill>
              <a:srgbClr val="073FA8"/>
            </a:solidFill>
            <a:prstDash val="solid"/>
          </a:ln>
        </p:spPr>
      </p:sp>
      <p:sp>
        <p:nvSpPr>
          <p:cNvPr id="62" name="Shape 60"/>
          <p:cNvSpPr/>
          <p:nvPr/>
        </p:nvSpPr>
        <p:spPr>
          <a:xfrm>
            <a:off x="6327648" y="4672584"/>
            <a:ext cx="128016" cy="128016"/>
          </a:xfrm>
          <a:prstGeom prst="ellipse">
            <a:avLst/>
          </a:prstGeom>
          <a:solidFill>
            <a:srgbClr val="FFFFFF">
              <a:alpha val="70000"/>
            </a:srgbClr>
          </a:solidFill>
          <a:ln w="12700">
            <a:solidFill>
              <a:srgbClr val="FFFFFF">
                <a:alpha val="70000"/>
              </a:srgbClr>
            </a:solidFill>
            <a:prstDash val="solid"/>
          </a:ln>
        </p:spPr>
      </p:sp>
      <p:sp>
        <p:nvSpPr>
          <p:cNvPr id="63" name="Text 61"/>
          <p:cNvSpPr/>
          <p:nvPr/>
        </p:nvSpPr>
        <p:spPr>
          <a:xfrm>
            <a:off x="6510528" y="4608576"/>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64" name="Shape 62"/>
          <p:cNvSpPr/>
          <p:nvPr/>
        </p:nvSpPr>
        <p:spPr>
          <a:xfrm>
            <a:off x="7918704" y="4636008"/>
            <a:ext cx="749808" cy="201168"/>
          </a:xfrm>
          <a:prstGeom prst="rect">
            <a:avLst/>
          </a:prstGeom>
          <a:solidFill>
            <a:srgbClr val="FFFFFF">
              <a:alpha val="80000"/>
            </a:srgbClr>
          </a:solidFill>
          <a:ln w="12700">
            <a:solidFill>
              <a:srgbClr val="FFFFFF">
                <a:alpha val="60000"/>
              </a:srgbClr>
            </a:solidFill>
            <a:prstDash val="solid"/>
          </a:ln>
        </p:spPr>
      </p:sp>
      <p:sp>
        <p:nvSpPr>
          <p:cNvPr id="65" name="Text 63"/>
          <p:cNvSpPr/>
          <p:nvPr/>
        </p:nvSpPr>
        <p:spPr>
          <a:xfrm>
            <a:off x="7918704" y="4636008"/>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Pilot</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85CE5"/>
          </a:solidFill>
          <a:ln w="12700">
            <a:solidFill>
              <a:srgbClr val="085CE5"/>
            </a:solidFill>
            <a:prstDash val="solid"/>
          </a:ln>
        </p:spPr>
      </p:sp>
      <p:sp>
        <p:nvSpPr>
          <p:cNvPr id="3" name="Shape 1"/>
          <p:cNvSpPr/>
          <p:nvPr/>
        </p:nvSpPr>
        <p:spPr>
          <a:xfrm>
            <a:off x="0" y="0"/>
            <a:ext cx="137160" cy="5143500"/>
          </a:xfrm>
          <a:prstGeom prst="rect">
            <a:avLst/>
          </a:prstGeom>
          <a:solidFill>
            <a:srgbClr val="085CE5"/>
          </a:solidFill>
          <a:ln w="12700">
            <a:solidFill>
              <a:srgbClr val="085CE5"/>
            </a:solidFill>
            <a:prstDash val="solid"/>
          </a:ln>
        </p:spPr>
      </p:sp>
      <p:sp>
        <p:nvSpPr>
          <p:cNvPr id="4" name="Text 2"/>
          <p:cNvSpPr/>
          <p:nvPr/>
        </p:nvSpPr>
        <p:spPr>
          <a:xfrm>
            <a:off x="365760" y="164592"/>
            <a:ext cx="8229600" cy="256032"/>
          </a:xfrm>
          <a:prstGeom prst="rect">
            <a:avLst/>
          </a:prstGeom>
          <a:noFill/>
          <a:ln/>
        </p:spPr>
        <p:txBody>
          <a:bodyPr wrap="square" lIns="0" tIns="0" rIns="0" bIns="0" rtlCol="0" anchor="ctr"/>
          <a:lstStyle/>
          <a:p>
            <a:pPr indent="0" marL="0">
              <a:buNone/>
            </a:pPr>
            <a:r>
              <a:rPr lang="en-US" sz="900" b="1" spc="400" kern="0" dirty="0">
                <a:solidFill>
                  <a:srgbClr val="085CE5"/>
                </a:solidFill>
                <a:latin typeface="Calibri" pitchFamily="34" charset="0"/>
                <a:ea typeface="Calibri" pitchFamily="34" charset="-122"/>
                <a:cs typeface="Calibri" pitchFamily="34" charset="-120"/>
              </a:rPr>
              <a:t>REVENUE MODEL</a:t>
            </a:r>
            <a:endParaRPr lang="en-US" sz="900" dirty="0"/>
          </a:p>
        </p:txBody>
      </p:sp>
      <p:sp>
        <p:nvSpPr>
          <p:cNvPr id="5" name="Text 3"/>
          <p:cNvSpPr/>
          <p:nvPr/>
        </p:nvSpPr>
        <p:spPr>
          <a:xfrm>
            <a:off x="365760" y="475488"/>
            <a:ext cx="8229600" cy="457200"/>
          </a:xfrm>
          <a:prstGeom prst="rect">
            <a:avLst/>
          </a:prstGeom>
          <a:noFill/>
          <a:ln/>
        </p:spPr>
        <p:txBody>
          <a:bodyPr wrap="square" lIns="0" tIns="0" rIns="0" bIns="0" rtlCol="0" anchor="ctr"/>
          <a:lstStyle/>
          <a:p>
            <a:pPr indent="0" marL="0">
              <a:buNone/>
            </a:pPr>
            <a:r>
              <a:rPr lang="en-US" sz="2400" b="1" dirty="0">
                <a:solidFill>
                  <a:srgbClr val="06185F"/>
                </a:solidFill>
                <a:latin typeface="Calibri" pitchFamily="34" charset="0"/>
                <a:ea typeface="Calibri" pitchFamily="34" charset="-122"/>
                <a:cs typeface="Calibri" pitchFamily="34" charset="-120"/>
              </a:rPr>
              <a:t>Path to $1M ARR — DS App Add-On Revenue</a:t>
            </a:r>
            <a:endParaRPr lang="en-US" sz="2400" dirty="0"/>
          </a:p>
        </p:txBody>
      </p:sp>
      <p:sp>
        <p:nvSpPr>
          <p:cNvPr id="6" name="Text 4"/>
          <p:cNvSpPr/>
          <p:nvPr/>
        </p:nvSpPr>
        <p:spPr>
          <a:xfrm>
            <a:off x="365760" y="960120"/>
            <a:ext cx="8229600" cy="25603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5 apps · Add-on to JHBI platform · ~1,660 addressable FIs · Blended bank/CU pricing</a:t>
            </a:r>
            <a:endParaRPr lang="en-US" sz="1100" dirty="0"/>
          </a:p>
        </p:txBody>
      </p:sp>
      <p:graphicFrame>
        <p:nvGraphicFramePr>
          <p:cNvPr id="7" name="Chart 0" descr=""/>
          <p:cNvGraphicFramePr/>
          <p:nvPr/>
        </p:nvGraphicFramePr>
        <p:xfrm>
          <a:off x="320040" y="1298448"/>
          <a:ext cx="6035040" cy="35204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320040" y="2651760"/>
            <a:ext cx="6035040" cy="0"/>
          </a:xfrm>
          <a:prstGeom prst="line">
            <a:avLst/>
          </a:prstGeom>
          <a:noFill/>
          <a:ln w="19050">
            <a:solidFill>
              <a:srgbClr val="E53030"/>
            </a:solidFill>
            <a:prstDash val="dash"/>
          </a:ln>
        </p:spPr>
      </p:sp>
      <p:sp>
        <p:nvSpPr>
          <p:cNvPr id="9" name="Text 6"/>
          <p:cNvSpPr/>
          <p:nvPr/>
        </p:nvSpPr>
        <p:spPr>
          <a:xfrm>
            <a:off x="6382512" y="2523744"/>
            <a:ext cx="1920240" cy="256032"/>
          </a:xfrm>
          <a:prstGeom prst="rect">
            <a:avLst/>
          </a:prstGeom>
          <a:noFill/>
          <a:ln/>
        </p:spPr>
        <p:txBody>
          <a:bodyPr wrap="square" lIns="0" tIns="0" rIns="0" bIns="0" rtlCol="0" anchor="ctr"/>
          <a:lstStyle/>
          <a:p>
            <a:pPr indent="0" marL="0">
              <a:buNone/>
            </a:pPr>
            <a:r>
              <a:rPr lang="en-US" sz="900" b="1" dirty="0">
                <a:solidFill>
                  <a:srgbClr val="E53030"/>
                </a:solidFill>
                <a:latin typeface="Calibri" pitchFamily="34" charset="0"/>
                <a:ea typeface="Calibri" pitchFamily="34" charset="-122"/>
                <a:cs typeface="Calibri" pitchFamily="34" charset="-120"/>
              </a:rPr>
              <a:t>$1M ARR milestone</a:t>
            </a:r>
            <a:endParaRPr lang="en-US" sz="900" dirty="0"/>
          </a:p>
        </p:txBody>
      </p:sp>
      <p:sp>
        <p:nvSpPr>
          <p:cNvPr id="10" name="Shape 7"/>
          <p:cNvSpPr/>
          <p:nvPr/>
        </p:nvSpPr>
        <p:spPr>
          <a:xfrm>
            <a:off x="6400800" y="1298448"/>
            <a:ext cx="2606040" cy="3520440"/>
          </a:xfrm>
          <a:prstGeom prst="roundRect">
            <a:avLst>
              <a:gd name="adj" fmla="val 2105"/>
            </a:avLst>
          </a:prstGeom>
          <a:solidFill>
            <a:srgbClr val="06185F"/>
          </a:solidFill>
          <a:ln w="12700">
            <a:solidFill>
              <a:srgbClr val="06185F"/>
            </a:solidFill>
            <a:prstDash val="solid"/>
          </a:ln>
        </p:spPr>
      </p:sp>
      <p:sp>
        <p:nvSpPr>
          <p:cNvPr id="11" name="Text 8"/>
          <p:cNvSpPr/>
          <p:nvPr/>
        </p:nvSpPr>
        <p:spPr>
          <a:xfrm>
            <a:off x="6400800" y="1417320"/>
            <a:ext cx="2606040" cy="347472"/>
          </a:xfrm>
          <a:prstGeom prst="rect">
            <a:avLst/>
          </a:prstGeom>
          <a:noFill/>
          <a:ln/>
        </p:spPr>
        <p:txBody>
          <a:bodyPr wrap="square" lIns="0" tIns="0" rIns="0" bIns="0" rtlCol="0" anchor="ctr"/>
          <a:lstStyle/>
          <a:p>
            <a:pPr algn="ctr" indent="0" marL="0">
              <a:buNone/>
            </a:pPr>
            <a:r>
              <a:rPr lang="en-US" sz="1300" b="1" dirty="0">
                <a:solidFill>
                  <a:srgbClr val="76DCFD"/>
                </a:solidFill>
                <a:latin typeface="Calibri" pitchFamily="34" charset="0"/>
                <a:ea typeface="Calibri" pitchFamily="34" charset="-122"/>
                <a:cs typeface="Calibri" pitchFamily="34" charset="-120"/>
              </a:rPr>
              <a:t>Q4 FY27</a:t>
            </a:r>
            <a:endParaRPr lang="en-US" sz="1300" dirty="0"/>
          </a:p>
        </p:txBody>
      </p:sp>
      <p:sp>
        <p:nvSpPr>
          <p:cNvPr id="12" name="Text 9"/>
          <p:cNvSpPr/>
          <p:nvPr/>
        </p:nvSpPr>
        <p:spPr>
          <a:xfrm>
            <a:off x="6400800" y="1792224"/>
            <a:ext cx="2606040" cy="566928"/>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$1.04M</a:t>
            </a:r>
            <a:endParaRPr lang="en-US" sz="3200" dirty="0"/>
          </a:p>
        </p:txBody>
      </p:sp>
      <p:sp>
        <p:nvSpPr>
          <p:cNvPr id="13" name="Text 10"/>
          <p:cNvSpPr/>
          <p:nvPr/>
        </p:nvSpPr>
        <p:spPr>
          <a:xfrm>
            <a:off x="6400800" y="2340864"/>
            <a:ext cx="2606040" cy="256032"/>
          </a:xfrm>
          <a:prstGeom prst="rect">
            <a:avLst/>
          </a:prstGeom>
          <a:noFill/>
          <a:ln/>
        </p:spPr>
        <p:txBody>
          <a:bodyPr wrap="square" lIns="0" tIns="0" rIns="0" bIns="0" rtlCol="0" anchor="ctr"/>
          <a:lstStyle/>
          <a:p>
            <a:pPr algn="ctr" indent="0" marL="0">
              <a:buNone/>
            </a:pPr>
            <a:r>
              <a:rPr lang="en-US" sz="1300" dirty="0">
                <a:solidFill>
                  <a:srgbClr val="B6BBC0"/>
                </a:solidFill>
                <a:latin typeface="Calibri" pitchFamily="34" charset="0"/>
                <a:ea typeface="Calibri" pitchFamily="34" charset="-122"/>
                <a:cs typeface="Calibri" pitchFamily="34" charset="-120"/>
              </a:rPr>
              <a:t>ARR</a:t>
            </a:r>
            <a:endParaRPr lang="en-US" sz="1300" dirty="0"/>
          </a:p>
        </p:txBody>
      </p:sp>
      <p:sp>
        <p:nvSpPr>
          <p:cNvPr id="14" name="Shape 11"/>
          <p:cNvSpPr/>
          <p:nvPr/>
        </p:nvSpPr>
        <p:spPr>
          <a:xfrm>
            <a:off x="6601968" y="2670048"/>
            <a:ext cx="2212848" cy="9144"/>
          </a:xfrm>
          <a:prstGeom prst="rect">
            <a:avLst/>
          </a:prstGeom>
          <a:solidFill>
            <a:srgbClr val="0A52C4"/>
          </a:solidFill>
          <a:ln w="12700">
            <a:solidFill>
              <a:srgbClr val="0A52C4"/>
            </a:solidFill>
            <a:prstDash val="solid"/>
          </a:ln>
        </p:spPr>
      </p:sp>
      <p:sp>
        <p:nvSpPr>
          <p:cNvPr id="15" name="Text 12"/>
          <p:cNvSpPr/>
          <p:nvPr/>
        </p:nvSpPr>
        <p:spPr>
          <a:xfrm>
            <a:off x="6400800" y="2798064"/>
            <a:ext cx="2606040" cy="32918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~81</a:t>
            </a:r>
            <a:endParaRPr lang="en-US" sz="1800" dirty="0"/>
          </a:p>
        </p:txBody>
      </p:sp>
      <p:sp>
        <p:nvSpPr>
          <p:cNvPr id="16" name="Text 13"/>
          <p:cNvSpPr/>
          <p:nvPr/>
        </p:nvSpPr>
        <p:spPr>
          <a:xfrm>
            <a:off x="6400800" y="3127248"/>
            <a:ext cx="2606040" cy="201168"/>
          </a:xfrm>
          <a:prstGeom prst="rect">
            <a:avLst/>
          </a:prstGeom>
          <a:noFill/>
          <a:ln/>
        </p:spPr>
        <p:txBody>
          <a:bodyPr wrap="square" lIns="0" tIns="0" rIns="0" bIns="0" rtlCol="0" anchor="ctr"/>
          <a:lstStyle/>
          <a:p>
            <a:pPr algn="ctr" indent="0" marL="0">
              <a:buNone/>
            </a:pPr>
            <a:r>
              <a:rPr lang="en-US" sz="900" dirty="0">
                <a:solidFill>
                  <a:srgbClr val="B6BBC0"/>
                </a:solidFill>
                <a:latin typeface="Calibri" pitchFamily="34" charset="0"/>
                <a:ea typeface="Calibri" pitchFamily="34" charset="-122"/>
                <a:cs typeface="Calibri" pitchFamily="34" charset="-120"/>
              </a:rPr>
              <a:t>active FI subscriptions</a:t>
            </a:r>
            <a:endParaRPr lang="en-US" sz="900" dirty="0"/>
          </a:p>
        </p:txBody>
      </p:sp>
      <p:sp>
        <p:nvSpPr>
          <p:cNvPr id="17" name="Text 14"/>
          <p:cNvSpPr/>
          <p:nvPr/>
        </p:nvSpPr>
        <p:spPr>
          <a:xfrm>
            <a:off x="6400800" y="3456432"/>
            <a:ext cx="2606040" cy="32918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4.9%</a:t>
            </a:r>
            <a:endParaRPr lang="en-US" sz="1800" dirty="0"/>
          </a:p>
        </p:txBody>
      </p:sp>
      <p:sp>
        <p:nvSpPr>
          <p:cNvPr id="18" name="Text 15"/>
          <p:cNvSpPr/>
          <p:nvPr/>
        </p:nvSpPr>
        <p:spPr>
          <a:xfrm>
            <a:off x="6400800" y="3785616"/>
            <a:ext cx="2606040" cy="201168"/>
          </a:xfrm>
          <a:prstGeom prst="rect">
            <a:avLst/>
          </a:prstGeom>
          <a:noFill/>
          <a:ln/>
        </p:spPr>
        <p:txBody>
          <a:bodyPr wrap="square" lIns="0" tIns="0" rIns="0" bIns="0" rtlCol="0" anchor="ctr"/>
          <a:lstStyle/>
          <a:p>
            <a:pPr algn="ctr" indent="0" marL="0">
              <a:buNone/>
            </a:pPr>
            <a:r>
              <a:rPr lang="en-US" sz="900" dirty="0">
                <a:solidFill>
                  <a:srgbClr val="B6BBC0"/>
                </a:solidFill>
                <a:latin typeface="Calibri" pitchFamily="34" charset="0"/>
                <a:ea typeface="Calibri" pitchFamily="34" charset="-122"/>
                <a:cs typeface="Calibri" pitchFamily="34" charset="-120"/>
              </a:rPr>
              <a:t>of 1,660-FI base</a:t>
            </a:r>
            <a:endParaRPr lang="en-US" sz="900" dirty="0"/>
          </a:p>
        </p:txBody>
      </p:sp>
      <p:sp>
        <p:nvSpPr>
          <p:cNvPr id="19" name="Text 16"/>
          <p:cNvSpPr/>
          <p:nvPr/>
        </p:nvSpPr>
        <p:spPr>
          <a:xfrm>
            <a:off x="6400800" y="4114800"/>
            <a:ext cx="2606040" cy="32918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 apps</a:t>
            </a:r>
            <a:endParaRPr lang="en-US" sz="1800" dirty="0"/>
          </a:p>
        </p:txBody>
      </p:sp>
      <p:sp>
        <p:nvSpPr>
          <p:cNvPr id="20" name="Text 17"/>
          <p:cNvSpPr/>
          <p:nvPr/>
        </p:nvSpPr>
        <p:spPr>
          <a:xfrm>
            <a:off x="6400800" y="4443984"/>
            <a:ext cx="2606040" cy="201168"/>
          </a:xfrm>
          <a:prstGeom prst="rect">
            <a:avLst/>
          </a:prstGeom>
          <a:noFill/>
          <a:ln/>
        </p:spPr>
        <p:txBody>
          <a:bodyPr wrap="square" lIns="0" tIns="0" rIns="0" bIns="0" rtlCol="0" anchor="ctr"/>
          <a:lstStyle/>
          <a:p>
            <a:pPr algn="ctr" indent="0" marL="0">
              <a:buNone/>
            </a:pPr>
            <a:r>
              <a:rPr lang="en-US" sz="900" dirty="0">
                <a:solidFill>
                  <a:srgbClr val="B6BBC0"/>
                </a:solidFill>
                <a:latin typeface="Calibri" pitchFamily="34" charset="0"/>
                <a:ea typeface="Calibri" pitchFamily="34" charset="-122"/>
                <a:cs typeface="Calibri" pitchFamily="34" charset="-120"/>
              </a:rPr>
              <a:t>driving first $1M</a:t>
            </a:r>
            <a:endParaRPr lang="en-US" sz="900" dirty="0"/>
          </a:p>
        </p:txBody>
      </p:sp>
      <p:sp>
        <p:nvSpPr>
          <p:cNvPr id="21" name="Text 18"/>
          <p:cNvSpPr/>
          <p:nvPr/>
        </p:nvSpPr>
        <p:spPr>
          <a:xfrm>
            <a:off x="320040" y="4882896"/>
            <a:ext cx="8595360" cy="201168"/>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 Q4 FY27 = Apr–Jun 2027  ·  ARR values are model projections; actual results depend on FI adoption and sales cycle timing</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85CE5"/>
          </a:solidFill>
          <a:ln w="12700">
            <a:solidFill>
              <a:srgbClr val="085CE5"/>
            </a:solidFill>
            <a:prstDash val="solid"/>
          </a:ln>
        </p:spPr>
      </p:sp>
      <p:sp>
        <p:nvSpPr>
          <p:cNvPr id="3" name="Shape 1"/>
          <p:cNvSpPr/>
          <p:nvPr/>
        </p:nvSpPr>
        <p:spPr>
          <a:xfrm>
            <a:off x="0" y="0"/>
            <a:ext cx="137160" cy="5143500"/>
          </a:xfrm>
          <a:prstGeom prst="rect">
            <a:avLst/>
          </a:prstGeom>
          <a:solidFill>
            <a:srgbClr val="085CE5"/>
          </a:solidFill>
          <a:ln w="12700">
            <a:solidFill>
              <a:srgbClr val="085CE5"/>
            </a:solidFill>
            <a:prstDash val="solid"/>
          </a:ln>
        </p:spPr>
      </p:sp>
      <p:sp>
        <p:nvSpPr>
          <p:cNvPr id="4" name="Text 2"/>
          <p:cNvSpPr/>
          <p:nvPr/>
        </p:nvSpPr>
        <p:spPr>
          <a:xfrm>
            <a:off x="365760" y="164592"/>
            <a:ext cx="8229600" cy="256032"/>
          </a:xfrm>
          <a:prstGeom prst="rect">
            <a:avLst/>
          </a:prstGeom>
          <a:noFill/>
          <a:ln/>
        </p:spPr>
        <p:txBody>
          <a:bodyPr wrap="square" lIns="0" tIns="0" rIns="0" bIns="0" rtlCol="0" anchor="ctr"/>
          <a:lstStyle/>
          <a:p>
            <a:pPr indent="0" marL="0">
              <a:buNone/>
            </a:pPr>
            <a:r>
              <a:rPr lang="en-US" sz="900" b="1" spc="400" kern="0" dirty="0">
                <a:solidFill>
                  <a:srgbClr val="085CE5"/>
                </a:solidFill>
                <a:latin typeface="Calibri" pitchFamily="34" charset="0"/>
                <a:ea typeface="Calibri" pitchFamily="34" charset="-122"/>
                <a:cs typeface="Calibri" pitchFamily="34" charset="-120"/>
              </a:rPr>
              <a:t>REVENUE MODEL</a:t>
            </a:r>
            <a:endParaRPr lang="en-US" sz="900" dirty="0"/>
          </a:p>
        </p:txBody>
      </p:sp>
      <p:sp>
        <p:nvSpPr>
          <p:cNvPr id="5" name="Text 3"/>
          <p:cNvSpPr/>
          <p:nvPr/>
        </p:nvSpPr>
        <p:spPr>
          <a:xfrm>
            <a:off x="365760" y="475488"/>
            <a:ext cx="7315200" cy="457200"/>
          </a:xfrm>
          <a:prstGeom prst="rect">
            <a:avLst/>
          </a:prstGeom>
          <a:noFill/>
          <a:ln/>
        </p:spPr>
        <p:txBody>
          <a:bodyPr wrap="square" lIns="0" tIns="0" rIns="0" bIns="0" rtlCol="0" anchor="ctr"/>
          <a:lstStyle/>
          <a:p>
            <a:pPr indent="0" marL="0">
              <a:buNone/>
            </a:pPr>
            <a:r>
              <a:rPr lang="en-US" sz="2400" b="1" dirty="0">
                <a:solidFill>
                  <a:srgbClr val="06185F"/>
                </a:solidFill>
                <a:latin typeface="Calibri" pitchFamily="34" charset="0"/>
                <a:ea typeface="Calibri" pitchFamily="34" charset="-122"/>
                <a:cs typeface="Calibri" pitchFamily="34" charset="-120"/>
              </a:rPr>
              <a:t>DS App Pricing — Annual Add-On per FI</a:t>
            </a:r>
            <a:endParaRPr lang="en-US" sz="2400" dirty="0"/>
          </a:p>
        </p:txBody>
      </p:sp>
      <p:sp>
        <p:nvSpPr>
          <p:cNvPr id="6" name="Text 4"/>
          <p:cNvSpPr/>
          <p:nvPr/>
        </p:nvSpPr>
        <p:spPr>
          <a:xfrm>
            <a:off x="365760" y="960120"/>
            <a:ext cx="8229600" cy="25603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Priced as annual subscriptions, add-on to JHBI platform fee  ·  CUs receive 12% pricing accommodation</a:t>
            </a:r>
            <a:endParaRPr lang="en-US" sz="1100" dirty="0"/>
          </a:p>
        </p:txBody>
      </p:sp>
      <p:sp>
        <p:nvSpPr>
          <p:cNvPr id="7" name="Shape 5"/>
          <p:cNvSpPr/>
          <p:nvPr/>
        </p:nvSpPr>
        <p:spPr>
          <a:xfrm>
            <a:off x="320040" y="1298448"/>
            <a:ext cx="1828800" cy="347472"/>
          </a:xfrm>
          <a:prstGeom prst="rect">
            <a:avLst/>
          </a:prstGeom>
          <a:solidFill>
            <a:srgbClr val="06185F"/>
          </a:solidFill>
          <a:ln w="12700">
            <a:solidFill>
              <a:srgbClr val="06185F"/>
            </a:solidFill>
            <a:prstDash val="solid"/>
          </a:ln>
        </p:spPr>
      </p:sp>
      <p:sp>
        <p:nvSpPr>
          <p:cNvPr id="8" name="Text 6"/>
          <p:cNvSpPr/>
          <p:nvPr/>
        </p:nvSpPr>
        <p:spPr>
          <a:xfrm>
            <a:off x="320040" y="1298448"/>
            <a:ext cx="182880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DS App</a:t>
            </a:r>
            <a:endParaRPr lang="en-US" sz="950" dirty="0"/>
          </a:p>
        </p:txBody>
      </p:sp>
      <p:sp>
        <p:nvSpPr>
          <p:cNvPr id="9" name="Shape 7"/>
          <p:cNvSpPr/>
          <p:nvPr/>
        </p:nvSpPr>
        <p:spPr>
          <a:xfrm>
            <a:off x="2194560" y="1298448"/>
            <a:ext cx="1325880" cy="347472"/>
          </a:xfrm>
          <a:prstGeom prst="rect">
            <a:avLst/>
          </a:prstGeom>
          <a:solidFill>
            <a:srgbClr val="06185F"/>
          </a:solidFill>
          <a:ln w="12700">
            <a:solidFill>
              <a:srgbClr val="06185F"/>
            </a:solidFill>
            <a:prstDash val="solid"/>
          </a:ln>
        </p:spPr>
      </p:sp>
      <p:sp>
        <p:nvSpPr>
          <p:cNvPr id="10" name="Text 8"/>
          <p:cNvSpPr/>
          <p:nvPr/>
        </p:nvSpPr>
        <p:spPr>
          <a:xfrm>
            <a:off x="2194560" y="1298448"/>
            <a:ext cx="132588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&lt;$250M</a:t>
            </a:r>
            <a:endParaRPr lang="en-US" sz="950" dirty="0"/>
          </a:p>
        </p:txBody>
      </p:sp>
      <p:sp>
        <p:nvSpPr>
          <p:cNvPr id="11" name="Shape 9"/>
          <p:cNvSpPr/>
          <p:nvPr/>
        </p:nvSpPr>
        <p:spPr>
          <a:xfrm>
            <a:off x="3566160" y="1298448"/>
            <a:ext cx="1316736" cy="347472"/>
          </a:xfrm>
          <a:prstGeom prst="rect">
            <a:avLst/>
          </a:prstGeom>
          <a:solidFill>
            <a:srgbClr val="06185F"/>
          </a:solidFill>
          <a:ln w="12700">
            <a:solidFill>
              <a:srgbClr val="06185F"/>
            </a:solidFill>
            <a:prstDash val="solid"/>
          </a:ln>
        </p:spPr>
      </p:sp>
      <p:sp>
        <p:nvSpPr>
          <p:cNvPr id="12" name="Text 10"/>
          <p:cNvSpPr/>
          <p:nvPr/>
        </p:nvSpPr>
        <p:spPr>
          <a:xfrm>
            <a:off x="3566160" y="1298448"/>
            <a:ext cx="1316736"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$250M–$1B</a:t>
            </a:r>
            <a:endParaRPr lang="en-US" sz="950" dirty="0"/>
          </a:p>
        </p:txBody>
      </p:sp>
      <p:sp>
        <p:nvSpPr>
          <p:cNvPr id="13" name="Shape 11"/>
          <p:cNvSpPr/>
          <p:nvPr/>
        </p:nvSpPr>
        <p:spPr>
          <a:xfrm>
            <a:off x="4919472" y="1298448"/>
            <a:ext cx="1316736" cy="347472"/>
          </a:xfrm>
          <a:prstGeom prst="rect">
            <a:avLst/>
          </a:prstGeom>
          <a:solidFill>
            <a:srgbClr val="06185F"/>
          </a:solidFill>
          <a:ln w="12700">
            <a:solidFill>
              <a:srgbClr val="06185F"/>
            </a:solidFill>
            <a:prstDash val="solid"/>
          </a:ln>
        </p:spPr>
      </p:sp>
      <p:sp>
        <p:nvSpPr>
          <p:cNvPr id="14" name="Text 12"/>
          <p:cNvSpPr/>
          <p:nvPr/>
        </p:nvSpPr>
        <p:spPr>
          <a:xfrm>
            <a:off x="4919472" y="1298448"/>
            <a:ext cx="1316736"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$1B–$5B</a:t>
            </a:r>
            <a:endParaRPr lang="en-US" sz="950" dirty="0"/>
          </a:p>
        </p:txBody>
      </p:sp>
      <p:sp>
        <p:nvSpPr>
          <p:cNvPr id="15" name="Shape 13"/>
          <p:cNvSpPr/>
          <p:nvPr/>
        </p:nvSpPr>
        <p:spPr>
          <a:xfrm>
            <a:off x="6272784" y="1298448"/>
            <a:ext cx="1143000" cy="347472"/>
          </a:xfrm>
          <a:prstGeom prst="rect">
            <a:avLst/>
          </a:prstGeom>
          <a:solidFill>
            <a:srgbClr val="06185F"/>
          </a:solidFill>
          <a:ln w="12700">
            <a:solidFill>
              <a:srgbClr val="06185F"/>
            </a:solidFill>
            <a:prstDash val="solid"/>
          </a:ln>
        </p:spPr>
      </p:sp>
      <p:sp>
        <p:nvSpPr>
          <p:cNvPr id="16" name="Text 14"/>
          <p:cNvSpPr/>
          <p:nvPr/>
        </p:nvSpPr>
        <p:spPr>
          <a:xfrm>
            <a:off x="6272784" y="1298448"/>
            <a:ext cx="114300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$5B+</a:t>
            </a:r>
            <a:endParaRPr lang="en-US" sz="950" dirty="0"/>
          </a:p>
        </p:txBody>
      </p:sp>
      <p:sp>
        <p:nvSpPr>
          <p:cNvPr id="17" name="Shape 15"/>
          <p:cNvSpPr/>
          <p:nvPr/>
        </p:nvSpPr>
        <p:spPr>
          <a:xfrm>
            <a:off x="7452360" y="1298448"/>
            <a:ext cx="1508760" cy="347472"/>
          </a:xfrm>
          <a:prstGeom prst="rect">
            <a:avLst/>
          </a:prstGeom>
          <a:solidFill>
            <a:srgbClr val="06185F"/>
          </a:solidFill>
          <a:ln w="12700">
            <a:solidFill>
              <a:srgbClr val="06185F"/>
            </a:solidFill>
            <a:prstDash val="solid"/>
          </a:ln>
        </p:spPr>
      </p:sp>
      <p:sp>
        <p:nvSpPr>
          <p:cNvPr id="18" name="Text 16"/>
          <p:cNvSpPr/>
          <p:nvPr/>
        </p:nvSpPr>
        <p:spPr>
          <a:xfrm>
            <a:off x="7452360" y="1298448"/>
            <a:ext cx="150876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Launch</a:t>
            </a:r>
            <a:endParaRPr lang="en-US" sz="950" dirty="0"/>
          </a:p>
        </p:txBody>
      </p:sp>
      <p:sp>
        <p:nvSpPr>
          <p:cNvPr id="19" name="Shape 17"/>
          <p:cNvSpPr/>
          <p:nvPr/>
        </p:nvSpPr>
        <p:spPr>
          <a:xfrm>
            <a:off x="320040" y="1645920"/>
            <a:ext cx="73152" cy="493776"/>
          </a:xfrm>
          <a:prstGeom prst="rect">
            <a:avLst/>
          </a:prstGeom>
          <a:solidFill>
            <a:srgbClr val="085CE5"/>
          </a:solidFill>
          <a:ln w="12700">
            <a:solidFill>
              <a:srgbClr val="085CE5"/>
            </a:solidFill>
            <a:prstDash val="solid"/>
          </a:ln>
        </p:spPr>
      </p:sp>
      <p:sp>
        <p:nvSpPr>
          <p:cNvPr id="20" name="Shape 18"/>
          <p:cNvSpPr/>
          <p:nvPr/>
        </p:nvSpPr>
        <p:spPr>
          <a:xfrm>
            <a:off x="393192" y="1645920"/>
            <a:ext cx="1755648" cy="493776"/>
          </a:xfrm>
          <a:prstGeom prst="rect">
            <a:avLst/>
          </a:prstGeom>
          <a:solidFill>
            <a:srgbClr val="F4F6FA"/>
          </a:solidFill>
          <a:ln w="12700">
            <a:solidFill>
              <a:srgbClr val="E7ECF0"/>
            </a:solidFill>
            <a:prstDash val="solid"/>
          </a:ln>
        </p:spPr>
      </p:sp>
      <p:sp>
        <p:nvSpPr>
          <p:cNvPr id="21" name="Text 19"/>
          <p:cNvSpPr/>
          <p:nvPr/>
        </p:nvSpPr>
        <p:spPr>
          <a:xfrm>
            <a:off x="448056" y="1645920"/>
            <a:ext cx="1700784" cy="493776"/>
          </a:xfrm>
          <a:prstGeom prst="rect">
            <a:avLst/>
          </a:prstGeom>
          <a:noFill/>
          <a:ln/>
        </p:spPr>
        <p:txBody>
          <a:bodyPr wrap="square" lIns="0" tIns="5080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22" name="Shape 20"/>
          <p:cNvSpPr/>
          <p:nvPr/>
        </p:nvSpPr>
        <p:spPr>
          <a:xfrm>
            <a:off x="2194560" y="1645920"/>
            <a:ext cx="1325880" cy="493776"/>
          </a:xfrm>
          <a:prstGeom prst="rect">
            <a:avLst/>
          </a:prstGeom>
          <a:solidFill>
            <a:srgbClr val="F4F6FA"/>
          </a:solidFill>
          <a:ln w="12700">
            <a:solidFill>
              <a:srgbClr val="E7ECF0"/>
            </a:solidFill>
            <a:prstDash val="solid"/>
          </a:ln>
        </p:spPr>
      </p:sp>
      <p:sp>
        <p:nvSpPr>
          <p:cNvPr id="23" name="Text 21"/>
          <p:cNvSpPr/>
          <p:nvPr/>
        </p:nvSpPr>
        <p:spPr>
          <a:xfrm>
            <a:off x="2194560" y="1645920"/>
            <a:ext cx="132588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$5,000</a:t>
            </a:r>
            <a:endParaRPr lang="en-US" sz="1000" dirty="0"/>
          </a:p>
        </p:txBody>
      </p:sp>
      <p:sp>
        <p:nvSpPr>
          <p:cNvPr id="24" name="Shape 22"/>
          <p:cNvSpPr/>
          <p:nvPr/>
        </p:nvSpPr>
        <p:spPr>
          <a:xfrm>
            <a:off x="3566160" y="1645920"/>
            <a:ext cx="1316736" cy="493776"/>
          </a:xfrm>
          <a:prstGeom prst="rect">
            <a:avLst/>
          </a:prstGeom>
          <a:solidFill>
            <a:srgbClr val="F4F6FA"/>
          </a:solidFill>
          <a:ln w="12700">
            <a:solidFill>
              <a:srgbClr val="E7ECF0"/>
            </a:solidFill>
            <a:prstDash val="solid"/>
          </a:ln>
        </p:spPr>
      </p:sp>
      <p:sp>
        <p:nvSpPr>
          <p:cNvPr id="25" name="Text 23"/>
          <p:cNvSpPr/>
          <p:nvPr/>
        </p:nvSpPr>
        <p:spPr>
          <a:xfrm>
            <a:off x="3566160" y="1645920"/>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$8,000</a:t>
            </a:r>
            <a:endParaRPr lang="en-US" sz="1000" dirty="0"/>
          </a:p>
        </p:txBody>
      </p:sp>
      <p:sp>
        <p:nvSpPr>
          <p:cNvPr id="26" name="Shape 24"/>
          <p:cNvSpPr/>
          <p:nvPr/>
        </p:nvSpPr>
        <p:spPr>
          <a:xfrm>
            <a:off x="4919472" y="1645920"/>
            <a:ext cx="1316736" cy="493776"/>
          </a:xfrm>
          <a:prstGeom prst="rect">
            <a:avLst/>
          </a:prstGeom>
          <a:solidFill>
            <a:srgbClr val="F4F6FA"/>
          </a:solidFill>
          <a:ln w="12700">
            <a:solidFill>
              <a:srgbClr val="E7ECF0"/>
            </a:solidFill>
            <a:prstDash val="solid"/>
          </a:ln>
        </p:spPr>
      </p:sp>
      <p:sp>
        <p:nvSpPr>
          <p:cNvPr id="27" name="Text 25"/>
          <p:cNvSpPr/>
          <p:nvPr/>
        </p:nvSpPr>
        <p:spPr>
          <a:xfrm>
            <a:off x="4919472" y="1645920"/>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$15,000</a:t>
            </a:r>
            <a:endParaRPr lang="en-US" sz="1000" dirty="0"/>
          </a:p>
        </p:txBody>
      </p:sp>
      <p:sp>
        <p:nvSpPr>
          <p:cNvPr id="28" name="Shape 26"/>
          <p:cNvSpPr/>
          <p:nvPr/>
        </p:nvSpPr>
        <p:spPr>
          <a:xfrm>
            <a:off x="6272784" y="1645920"/>
            <a:ext cx="1143000" cy="493776"/>
          </a:xfrm>
          <a:prstGeom prst="rect">
            <a:avLst/>
          </a:prstGeom>
          <a:solidFill>
            <a:srgbClr val="F4F6FA"/>
          </a:solidFill>
          <a:ln w="12700">
            <a:solidFill>
              <a:srgbClr val="E7ECF0"/>
            </a:solidFill>
            <a:prstDash val="solid"/>
          </a:ln>
        </p:spPr>
      </p:sp>
      <p:sp>
        <p:nvSpPr>
          <p:cNvPr id="29" name="Text 27"/>
          <p:cNvSpPr/>
          <p:nvPr/>
        </p:nvSpPr>
        <p:spPr>
          <a:xfrm>
            <a:off x="6272784" y="1645920"/>
            <a:ext cx="114300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$25,000</a:t>
            </a:r>
            <a:endParaRPr lang="en-US" sz="1000" dirty="0"/>
          </a:p>
        </p:txBody>
      </p:sp>
      <p:sp>
        <p:nvSpPr>
          <p:cNvPr id="30" name="Shape 28"/>
          <p:cNvSpPr/>
          <p:nvPr/>
        </p:nvSpPr>
        <p:spPr>
          <a:xfrm>
            <a:off x="7452360" y="1645920"/>
            <a:ext cx="1508760" cy="493776"/>
          </a:xfrm>
          <a:prstGeom prst="rect">
            <a:avLst/>
          </a:prstGeom>
          <a:solidFill>
            <a:srgbClr val="F4F6FA"/>
          </a:solidFill>
          <a:ln w="12700">
            <a:solidFill>
              <a:srgbClr val="E7ECF0"/>
            </a:solidFill>
            <a:prstDash val="solid"/>
          </a:ln>
        </p:spPr>
      </p:sp>
      <p:sp>
        <p:nvSpPr>
          <p:cNvPr id="31" name="Text 29"/>
          <p:cNvSpPr/>
          <p:nvPr/>
        </p:nvSpPr>
        <p:spPr>
          <a:xfrm>
            <a:off x="7452360" y="1682496"/>
            <a:ext cx="1508760" cy="219456"/>
          </a:xfrm>
          <a:prstGeom prst="rect">
            <a:avLst/>
          </a:prstGeom>
          <a:noFill/>
          <a:ln/>
        </p:spPr>
        <p:txBody>
          <a:bodyPr wrap="square" lIns="0" tIns="0" rIns="0" bIns="0" rtlCol="0" anchor="ctr"/>
          <a:lstStyle/>
          <a:p>
            <a:pPr algn="ctr" indent="0" marL="0">
              <a:buNone/>
            </a:pPr>
            <a:r>
              <a:rPr lang="en-US" sz="950" b="1" dirty="0">
                <a:solidFill>
                  <a:srgbClr val="06185F"/>
                </a:solidFill>
                <a:latin typeface="Calibri" pitchFamily="34" charset="0"/>
                <a:ea typeface="Calibri" pitchFamily="34" charset="-122"/>
                <a:cs typeface="Calibri" pitchFamily="34" charset="-120"/>
              </a:rPr>
              <a:t>Q1 FY27</a:t>
            </a:r>
            <a:endParaRPr lang="en-US" sz="950" dirty="0"/>
          </a:p>
        </p:txBody>
      </p:sp>
      <p:sp>
        <p:nvSpPr>
          <p:cNvPr id="32" name="Text 30"/>
          <p:cNvSpPr/>
          <p:nvPr/>
        </p:nvSpPr>
        <p:spPr>
          <a:xfrm>
            <a:off x="7452360" y="1892808"/>
            <a:ext cx="1508760" cy="219456"/>
          </a:xfrm>
          <a:prstGeom prst="rect">
            <a:avLst/>
          </a:prstGeom>
          <a:noFill/>
          <a:ln/>
        </p:spPr>
        <p:txBody>
          <a:bodyPr wrap="square" lIns="0" tIns="0" rIns="0" bIns="0" rtlCol="0" anchor="ctr"/>
          <a:lstStyle/>
          <a:p>
            <a:pPr algn="ctr" indent="0" marL="0">
              <a:buNone/>
            </a:pPr>
            <a:r>
              <a:rPr lang="en-US" sz="750" dirty="0">
                <a:solidFill>
                  <a:srgbClr val="575A5D"/>
                </a:solidFill>
                <a:latin typeface="Calibri" pitchFamily="34" charset="0"/>
                <a:ea typeface="Calibri" pitchFamily="34" charset="-122"/>
                <a:cs typeface="Calibri" pitchFamily="34" charset="-120"/>
              </a:rPr>
              <a:t>Zelle FIs only</a:t>
            </a:r>
            <a:endParaRPr lang="en-US" sz="750" dirty="0"/>
          </a:p>
          <a:p>
            <a:pPr algn="ctr" indent="0" marL="0">
              <a:buNone/>
            </a:pPr>
            <a:r>
              <a:rPr lang="en-US" sz="750" dirty="0">
                <a:solidFill>
                  <a:srgbClr val="575A5D"/>
                </a:solidFill>
                <a:latin typeface="Calibri" pitchFamily="34" charset="0"/>
                <a:ea typeface="Calibri" pitchFamily="34" charset="-122"/>
                <a:cs typeface="Calibri" pitchFamily="34" charset="-120"/>
              </a:rPr>
              <a:t>(~580 addressable)</a:t>
            </a:r>
            <a:endParaRPr lang="en-US" sz="750" dirty="0"/>
          </a:p>
        </p:txBody>
      </p:sp>
      <p:sp>
        <p:nvSpPr>
          <p:cNvPr id="33" name="Shape 31"/>
          <p:cNvSpPr/>
          <p:nvPr/>
        </p:nvSpPr>
        <p:spPr>
          <a:xfrm>
            <a:off x="320040" y="2139696"/>
            <a:ext cx="73152" cy="493776"/>
          </a:xfrm>
          <a:prstGeom prst="rect">
            <a:avLst/>
          </a:prstGeom>
          <a:solidFill>
            <a:srgbClr val="06185F"/>
          </a:solidFill>
          <a:ln w="12700">
            <a:solidFill>
              <a:srgbClr val="06185F"/>
            </a:solidFill>
            <a:prstDash val="solid"/>
          </a:ln>
        </p:spPr>
      </p:sp>
      <p:sp>
        <p:nvSpPr>
          <p:cNvPr id="34" name="Shape 32"/>
          <p:cNvSpPr/>
          <p:nvPr/>
        </p:nvSpPr>
        <p:spPr>
          <a:xfrm>
            <a:off x="393192" y="2139696"/>
            <a:ext cx="1755648" cy="493776"/>
          </a:xfrm>
          <a:prstGeom prst="rect">
            <a:avLst/>
          </a:prstGeom>
          <a:solidFill>
            <a:srgbClr val="FFFFFF"/>
          </a:solidFill>
          <a:ln w="12700">
            <a:solidFill>
              <a:srgbClr val="E7ECF0"/>
            </a:solidFill>
            <a:prstDash val="solid"/>
          </a:ln>
        </p:spPr>
      </p:sp>
      <p:sp>
        <p:nvSpPr>
          <p:cNvPr id="35" name="Text 33"/>
          <p:cNvSpPr/>
          <p:nvPr/>
        </p:nvSpPr>
        <p:spPr>
          <a:xfrm>
            <a:off x="448056" y="2139696"/>
            <a:ext cx="1700784" cy="493776"/>
          </a:xfrm>
          <a:prstGeom prst="rect">
            <a:avLst/>
          </a:prstGeom>
          <a:noFill/>
          <a:ln/>
        </p:spPr>
        <p:txBody>
          <a:bodyPr wrap="square" lIns="0" tIns="5080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Churn Sentinel</a:t>
            </a:r>
            <a:endParaRPr lang="en-US" sz="950" dirty="0"/>
          </a:p>
        </p:txBody>
      </p:sp>
      <p:sp>
        <p:nvSpPr>
          <p:cNvPr id="36" name="Shape 34"/>
          <p:cNvSpPr/>
          <p:nvPr/>
        </p:nvSpPr>
        <p:spPr>
          <a:xfrm>
            <a:off x="2194560" y="2139696"/>
            <a:ext cx="1325880" cy="493776"/>
          </a:xfrm>
          <a:prstGeom prst="rect">
            <a:avLst/>
          </a:prstGeom>
          <a:solidFill>
            <a:srgbClr val="FFFFFF"/>
          </a:solidFill>
          <a:ln w="12700">
            <a:solidFill>
              <a:srgbClr val="E7ECF0"/>
            </a:solidFill>
            <a:prstDash val="solid"/>
          </a:ln>
        </p:spPr>
      </p:sp>
      <p:sp>
        <p:nvSpPr>
          <p:cNvPr id="37" name="Text 35"/>
          <p:cNvSpPr/>
          <p:nvPr/>
        </p:nvSpPr>
        <p:spPr>
          <a:xfrm>
            <a:off x="2194560" y="2139696"/>
            <a:ext cx="132588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$8,000</a:t>
            </a:r>
            <a:endParaRPr lang="en-US" sz="1000" dirty="0"/>
          </a:p>
        </p:txBody>
      </p:sp>
      <p:sp>
        <p:nvSpPr>
          <p:cNvPr id="38" name="Shape 36"/>
          <p:cNvSpPr/>
          <p:nvPr/>
        </p:nvSpPr>
        <p:spPr>
          <a:xfrm>
            <a:off x="3566160" y="2139696"/>
            <a:ext cx="1316736" cy="493776"/>
          </a:xfrm>
          <a:prstGeom prst="rect">
            <a:avLst/>
          </a:prstGeom>
          <a:solidFill>
            <a:srgbClr val="FFFFFF"/>
          </a:solidFill>
          <a:ln w="12700">
            <a:solidFill>
              <a:srgbClr val="E7ECF0"/>
            </a:solidFill>
            <a:prstDash val="solid"/>
          </a:ln>
        </p:spPr>
      </p:sp>
      <p:sp>
        <p:nvSpPr>
          <p:cNvPr id="39" name="Text 37"/>
          <p:cNvSpPr/>
          <p:nvPr/>
        </p:nvSpPr>
        <p:spPr>
          <a:xfrm>
            <a:off x="3566160" y="2139696"/>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$12,000</a:t>
            </a:r>
            <a:endParaRPr lang="en-US" sz="1000" dirty="0"/>
          </a:p>
        </p:txBody>
      </p:sp>
      <p:sp>
        <p:nvSpPr>
          <p:cNvPr id="40" name="Shape 38"/>
          <p:cNvSpPr/>
          <p:nvPr/>
        </p:nvSpPr>
        <p:spPr>
          <a:xfrm>
            <a:off x="4919472" y="2139696"/>
            <a:ext cx="1316736" cy="493776"/>
          </a:xfrm>
          <a:prstGeom prst="rect">
            <a:avLst/>
          </a:prstGeom>
          <a:solidFill>
            <a:srgbClr val="FFFFFF"/>
          </a:solidFill>
          <a:ln w="12700">
            <a:solidFill>
              <a:srgbClr val="E7ECF0"/>
            </a:solidFill>
            <a:prstDash val="solid"/>
          </a:ln>
        </p:spPr>
      </p:sp>
      <p:sp>
        <p:nvSpPr>
          <p:cNvPr id="41" name="Text 39"/>
          <p:cNvSpPr/>
          <p:nvPr/>
        </p:nvSpPr>
        <p:spPr>
          <a:xfrm>
            <a:off x="4919472" y="2139696"/>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$22,000</a:t>
            </a:r>
            <a:endParaRPr lang="en-US" sz="1000" dirty="0"/>
          </a:p>
        </p:txBody>
      </p:sp>
      <p:sp>
        <p:nvSpPr>
          <p:cNvPr id="42" name="Shape 40"/>
          <p:cNvSpPr/>
          <p:nvPr/>
        </p:nvSpPr>
        <p:spPr>
          <a:xfrm>
            <a:off x="6272784" y="2139696"/>
            <a:ext cx="1143000" cy="493776"/>
          </a:xfrm>
          <a:prstGeom prst="rect">
            <a:avLst/>
          </a:prstGeom>
          <a:solidFill>
            <a:srgbClr val="FFFFFF"/>
          </a:solidFill>
          <a:ln w="12700">
            <a:solidFill>
              <a:srgbClr val="E7ECF0"/>
            </a:solidFill>
            <a:prstDash val="solid"/>
          </a:ln>
        </p:spPr>
      </p:sp>
      <p:sp>
        <p:nvSpPr>
          <p:cNvPr id="43" name="Text 41"/>
          <p:cNvSpPr/>
          <p:nvPr/>
        </p:nvSpPr>
        <p:spPr>
          <a:xfrm>
            <a:off x="6272784" y="2139696"/>
            <a:ext cx="114300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$35,000</a:t>
            </a:r>
            <a:endParaRPr lang="en-US" sz="1000" dirty="0"/>
          </a:p>
        </p:txBody>
      </p:sp>
      <p:sp>
        <p:nvSpPr>
          <p:cNvPr id="44" name="Shape 42"/>
          <p:cNvSpPr/>
          <p:nvPr/>
        </p:nvSpPr>
        <p:spPr>
          <a:xfrm>
            <a:off x="7452360" y="2139696"/>
            <a:ext cx="1508760" cy="493776"/>
          </a:xfrm>
          <a:prstGeom prst="rect">
            <a:avLst/>
          </a:prstGeom>
          <a:solidFill>
            <a:srgbClr val="FFFFFF"/>
          </a:solidFill>
          <a:ln w="12700">
            <a:solidFill>
              <a:srgbClr val="E7ECF0"/>
            </a:solidFill>
            <a:prstDash val="solid"/>
          </a:ln>
        </p:spPr>
      </p:sp>
      <p:sp>
        <p:nvSpPr>
          <p:cNvPr id="45" name="Text 43"/>
          <p:cNvSpPr/>
          <p:nvPr/>
        </p:nvSpPr>
        <p:spPr>
          <a:xfrm>
            <a:off x="7452360" y="2176272"/>
            <a:ext cx="1508760" cy="219456"/>
          </a:xfrm>
          <a:prstGeom prst="rect">
            <a:avLst/>
          </a:prstGeom>
          <a:noFill/>
          <a:ln/>
        </p:spPr>
        <p:txBody>
          <a:bodyPr wrap="square" lIns="0" tIns="0" rIns="0" bIns="0" rtlCol="0" anchor="ctr"/>
          <a:lstStyle/>
          <a:p>
            <a:pPr algn="ctr" indent="0" marL="0">
              <a:buNone/>
            </a:pPr>
            <a:r>
              <a:rPr lang="en-US" sz="950" b="1" dirty="0">
                <a:solidFill>
                  <a:srgbClr val="06185F"/>
                </a:solidFill>
                <a:latin typeface="Calibri" pitchFamily="34" charset="0"/>
                <a:ea typeface="Calibri" pitchFamily="34" charset="-122"/>
                <a:cs typeface="Calibri" pitchFamily="34" charset="-120"/>
              </a:rPr>
              <a:t>Q2 FY27</a:t>
            </a:r>
            <a:endParaRPr lang="en-US" sz="950" dirty="0"/>
          </a:p>
        </p:txBody>
      </p:sp>
      <p:sp>
        <p:nvSpPr>
          <p:cNvPr id="46" name="Text 44"/>
          <p:cNvSpPr/>
          <p:nvPr/>
        </p:nvSpPr>
        <p:spPr>
          <a:xfrm>
            <a:off x="7452360" y="2386584"/>
            <a:ext cx="1508760" cy="219456"/>
          </a:xfrm>
          <a:prstGeom prst="rect">
            <a:avLst/>
          </a:prstGeom>
          <a:noFill/>
          <a:ln/>
        </p:spPr>
        <p:txBody>
          <a:bodyPr wrap="square" lIns="0" tIns="0" rIns="0" bIns="0" rtlCol="0" anchor="ctr"/>
          <a:lstStyle/>
          <a:p>
            <a:pPr algn="ctr" indent="0" marL="0">
              <a:buNone/>
            </a:pPr>
            <a:r>
              <a:rPr lang="en-US" sz="750" dirty="0">
                <a:solidFill>
                  <a:srgbClr val="575A5D"/>
                </a:solidFill>
                <a:latin typeface="Calibri" pitchFamily="34" charset="0"/>
                <a:ea typeface="Calibri" pitchFamily="34" charset="-122"/>
                <a:cs typeface="Calibri" pitchFamily="34" charset="-120"/>
              </a:rPr>
              <a:t>Universal · all FIs</a:t>
            </a:r>
            <a:endParaRPr lang="en-US" sz="750" dirty="0"/>
          </a:p>
        </p:txBody>
      </p:sp>
      <p:sp>
        <p:nvSpPr>
          <p:cNvPr id="47" name="Shape 45"/>
          <p:cNvSpPr/>
          <p:nvPr/>
        </p:nvSpPr>
        <p:spPr>
          <a:xfrm>
            <a:off x="320040" y="2633472"/>
            <a:ext cx="73152" cy="493776"/>
          </a:xfrm>
          <a:prstGeom prst="rect">
            <a:avLst/>
          </a:prstGeom>
          <a:solidFill>
            <a:srgbClr val="0A52C4"/>
          </a:solidFill>
          <a:ln w="12700">
            <a:solidFill>
              <a:srgbClr val="0A52C4"/>
            </a:solidFill>
            <a:prstDash val="solid"/>
          </a:ln>
        </p:spPr>
      </p:sp>
      <p:sp>
        <p:nvSpPr>
          <p:cNvPr id="48" name="Shape 46"/>
          <p:cNvSpPr/>
          <p:nvPr/>
        </p:nvSpPr>
        <p:spPr>
          <a:xfrm>
            <a:off x="393192" y="2633472"/>
            <a:ext cx="1755648" cy="493776"/>
          </a:xfrm>
          <a:prstGeom prst="rect">
            <a:avLst/>
          </a:prstGeom>
          <a:solidFill>
            <a:srgbClr val="F4F6FA"/>
          </a:solidFill>
          <a:ln w="12700">
            <a:solidFill>
              <a:srgbClr val="E7ECF0"/>
            </a:solidFill>
            <a:prstDash val="solid"/>
          </a:ln>
        </p:spPr>
      </p:sp>
      <p:sp>
        <p:nvSpPr>
          <p:cNvPr id="49" name="Text 47"/>
          <p:cNvSpPr/>
          <p:nvPr/>
        </p:nvSpPr>
        <p:spPr>
          <a:xfrm>
            <a:off x="448056" y="2633472"/>
            <a:ext cx="1700784" cy="493776"/>
          </a:xfrm>
          <a:prstGeom prst="rect">
            <a:avLst/>
          </a:prstGeom>
          <a:noFill/>
          <a:ln/>
        </p:spPr>
        <p:txBody>
          <a:bodyPr wrap="square" lIns="0" tIns="5080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CommercialSignal</a:t>
            </a:r>
            <a:endParaRPr lang="en-US" sz="950" dirty="0"/>
          </a:p>
        </p:txBody>
      </p:sp>
      <p:sp>
        <p:nvSpPr>
          <p:cNvPr id="50" name="Shape 48"/>
          <p:cNvSpPr/>
          <p:nvPr/>
        </p:nvSpPr>
        <p:spPr>
          <a:xfrm>
            <a:off x="2194560" y="2633472"/>
            <a:ext cx="1325880" cy="493776"/>
          </a:xfrm>
          <a:prstGeom prst="rect">
            <a:avLst/>
          </a:prstGeom>
          <a:solidFill>
            <a:srgbClr val="F4F6FA"/>
          </a:solidFill>
          <a:ln w="12700">
            <a:solidFill>
              <a:srgbClr val="E7ECF0"/>
            </a:solidFill>
            <a:prstDash val="solid"/>
          </a:ln>
        </p:spPr>
      </p:sp>
      <p:sp>
        <p:nvSpPr>
          <p:cNvPr id="51" name="Text 49"/>
          <p:cNvSpPr/>
          <p:nvPr/>
        </p:nvSpPr>
        <p:spPr>
          <a:xfrm>
            <a:off x="2194560" y="2633472"/>
            <a:ext cx="132588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$6,000</a:t>
            </a:r>
            <a:endParaRPr lang="en-US" sz="1000" dirty="0"/>
          </a:p>
        </p:txBody>
      </p:sp>
      <p:sp>
        <p:nvSpPr>
          <p:cNvPr id="52" name="Shape 50"/>
          <p:cNvSpPr/>
          <p:nvPr/>
        </p:nvSpPr>
        <p:spPr>
          <a:xfrm>
            <a:off x="3566160" y="2633472"/>
            <a:ext cx="1316736" cy="493776"/>
          </a:xfrm>
          <a:prstGeom prst="rect">
            <a:avLst/>
          </a:prstGeom>
          <a:solidFill>
            <a:srgbClr val="F4F6FA"/>
          </a:solidFill>
          <a:ln w="12700">
            <a:solidFill>
              <a:srgbClr val="E7ECF0"/>
            </a:solidFill>
            <a:prstDash val="solid"/>
          </a:ln>
        </p:spPr>
      </p:sp>
      <p:sp>
        <p:nvSpPr>
          <p:cNvPr id="53" name="Text 51"/>
          <p:cNvSpPr/>
          <p:nvPr/>
        </p:nvSpPr>
        <p:spPr>
          <a:xfrm>
            <a:off x="3566160" y="2633472"/>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$10,000</a:t>
            </a:r>
            <a:endParaRPr lang="en-US" sz="1000" dirty="0"/>
          </a:p>
        </p:txBody>
      </p:sp>
      <p:sp>
        <p:nvSpPr>
          <p:cNvPr id="54" name="Shape 52"/>
          <p:cNvSpPr/>
          <p:nvPr/>
        </p:nvSpPr>
        <p:spPr>
          <a:xfrm>
            <a:off x="4919472" y="2633472"/>
            <a:ext cx="1316736" cy="493776"/>
          </a:xfrm>
          <a:prstGeom prst="rect">
            <a:avLst/>
          </a:prstGeom>
          <a:solidFill>
            <a:srgbClr val="F4F6FA"/>
          </a:solidFill>
          <a:ln w="12700">
            <a:solidFill>
              <a:srgbClr val="E7ECF0"/>
            </a:solidFill>
            <a:prstDash val="solid"/>
          </a:ln>
        </p:spPr>
      </p:sp>
      <p:sp>
        <p:nvSpPr>
          <p:cNvPr id="55" name="Text 53"/>
          <p:cNvSpPr/>
          <p:nvPr/>
        </p:nvSpPr>
        <p:spPr>
          <a:xfrm>
            <a:off x="4919472" y="2633472"/>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$18,000</a:t>
            </a:r>
            <a:endParaRPr lang="en-US" sz="1000" dirty="0"/>
          </a:p>
        </p:txBody>
      </p:sp>
      <p:sp>
        <p:nvSpPr>
          <p:cNvPr id="56" name="Shape 54"/>
          <p:cNvSpPr/>
          <p:nvPr/>
        </p:nvSpPr>
        <p:spPr>
          <a:xfrm>
            <a:off x="6272784" y="2633472"/>
            <a:ext cx="1143000" cy="493776"/>
          </a:xfrm>
          <a:prstGeom prst="rect">
            <a:avLst/>
          </a:prstGeom>
          <a:solidFill>
            <a:srgbClr val="F4F6FA"/>
          </a:solidFill>
          <a:ln w="12700">
            <a:solidFill>
              <a:srgbClr val="E7ECF0"/>
            </a:solidFill>
            <a:prstDash val="solid"/>
          </a:ln>
        </p:spPr>
      </p:sp>
      <p:sp>
        <p:nvSpPr>
          <p:cNvPr id="57" name="Text 55"/>
          <p:cNvSpPr/>
          <p:nvPr/>
        </p:nvSpPr>
        <p:spPr>
          <a:xfrm>
            <a:off x="6272784" y="2633472"/>
            <a:ext cx="114300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$28,000</a:t>
            </a:r>
            <a:endParaRPr lang="en-US" sz="1000" dirty="0"/>
          </a:p>
        </p:txBody>
      </p:sp>
      <p:sp>
        <p:nvSpPr>
          <p:cNvPr id="58" name="Shape 56"/>
          <p:cNvSpPr/>
          <p:nvPr/>
        </p:nvSpPr>
        <p:spPr>
          <a:xfrm>
            <a:off x="7452360" y="2633472"/>
            <a:ext cx="1508760" cy="493776"/>
          </a:xfrm>
          <a:prstGeom prst="rect">
            <a:avLst/>
          </a:prstGeom>
          <a:solidFill>
            <a:srgbClr val="F4F6FA"/>
          </a:solidFill>
          <a:ln w="12700">
            <a:solidFill>
              <a:srgbClr val="E7ECF0"/>
            </a:solidFill>
            <a:prstDash val="solid"/>
          </a:ln>
        </p:spPr>
      </p:sp>
      <p:sp>
        <p:nvSpPr>
          <p:cNvPr id="59" name="Text 57"/>
          <p:cNvSpPr/>
          <p:nvPr/>
        </p:nvSpPr>
        <p:spPr>
          <a:xfrm>
            <a:off x="7452360" y="2670048"/>
            <a:ext cx="1508760" cy="219456"/>
          </a:xfrm>
          <a:prstGeom prst="rect">
            <a:avLst/>
          </a:prstGeom>
          <a:noFill/>
          <a:ln/>
        </p:spPr>
        <p:txBody>
          <a:bodyPr wrap="square" lIns="0" tIns="0" rIns="0" bIns="0" rtlCol="0" anchor="ctr"/>
          <a:lstStyle/>
          <a:p>
            <a:pPr algn="ctr" indent="0" marL="0">
              <a:buNone/>
            </a:pPr>
            <a:r>
              <a:rPr lang="en-US" sz="950" b="1" dirty="0">
                <a:solidFill>
                  <a:srgbClr val="06185F"/>
                </a:solidFill>
                <a:latin typeface="Calibri" pitchFamily="34" charset="0"/>
                <a:ea typeface="Calibri" pitchFamily="34" charset="-122"/>
                <a:cs typeface="Calibri" pitchFamily="34" charset="-120"/>
              </a:rPr>
              <a:t>Q3 FY27</a:t>
            </a:r>
            <a:endParaRPr lang="en-US" sz="950" dirty="0"/>
          </a:p>
        </p:txBody>
      </p:sp>
      <p:sp>
        <p:nvSpPr>
          <p:cNvPr id="60" name="Text 58"/>
          <p:cNvSpPr/>
          <p:nvPr/>
        </p:nvSpPr>
        <p:spPr>
          <a:xfrm>
            <a:off x="7452360" y="2880360"/>
            <a:ext cx="1508760" cy="219456"/>
          </a:xfrm>
          <a:prstGeom prst="rect">
            <a:avLst/>
          </a:prstGeom>
          <a:noFill/>
          <a:ln/>
        </p:spPr>
        <p:txBody>
          <a:bodyPr wrap="square" lIns="0" tIns="0" rIns="0" bIns="0" rtlCol="0" anchor="ctr"/>
          <a:lstStyle/>
          <a:p>
            <a:pPr algn="ctr" indent="0" marL="0">
              <a:buNone/>
            </a:pPr>
            <a:r>
              <a:rPr lang="en-US" sz="750" dirty="0">
                <a:solidFill>
                  <a:srgbClr val="575A5D"/>
                </a:solidFill>
                <a:latin typeface="Calibri" pitchFamily="34" charset="0"/>
                <a:ea typeface="Calibri" pitchFamily="34" charset="-122"/>
                <a:cs typeface="Calibri" pitchFamily="34" charset="-120"/>
              </a:rPr>
              <a:t>Universal · ACH data</a:t>
            </a:r>
            <a:endParaRPr lang="en-US" sz="750" dirty="0"/>
          </a:p>
        </p:txBody>
      </p:sp>
      <p:sp>
        <p:nvSpPr>
          <p:cNvPr id="61" name="Shape 59"/>
          <p:cNvSpPr/>
          <p:nvPr/>
        </p:nvSpPr>
        <p:spPr>
          <a:xfrm>
            <a:off x="320040" y="3127248"/>
            <a:ext cx="73152" cy="493776"/>
          </a:xfrm>
          <a:prstGeom prst="rect">
            <a:avLst/>
          </a:prstGeom>
          <a:solidFill>
            <a:srgbClr val="0F3D8A"/>
          </a:solidFill>
          <a:ln w="12700">
            <a:solidFill>
              <a:srgbClr val="0F3D8A"/>
            </a:solidFill>
            <a:prstDash val="solid"/>
          </a:ln>
        </p:spPr>
      </p:sp>
      <p:sp>
        <p:nvSpPr>
          <p:cNvPr id="62" name="Shape 60"/>
          <p:cNvSpPr/>
          <p:nvPr/>
        </p:nvSpPr>
        <p:spPr>
          <a:xfrm>
            <a:off x="393192" y="3127248"/>
            <a:ext cx="1755648" cy="493776"/>
          </a:xfrm>
          <a:prstGeom prst="rect">
            <a:avLst/>
          </a:prstGeom>
          <a:solidFill>
            <a:srgbClr val="FFFFFF"/>
          </a:solidFill>
          <a:ln w="12700">
            <a:solidFill>
              <a:srgbClr val="E7ECF0"/>
            </a:solidFill>
            <a:prstDash val="solid"/>
          </a:ln>
        </p:spPr>
      </p:sp>
      <p:sp>
        <p:nvSpPr>
          <p:cNvPr id="63" name="Text 61"/>
          <p:cNvSpPr/>
          <p:nvPr/>
        </p:nvSpPr>
        <p:spPr>
          <a:xfrm>
            <a:off x="448056" y="3127248"/>
            <a:ext cx="1700784" cy="493776"/>
          </a:xfrm>
          <a:prstGeom prst="rect">
            <a:avLst/>
          </a:prstGeom>
          <a:noFill/>
          <a:ln/>
        </p:spPr>
        <p:txBody>
          <a:bodyPr wrap="square" lIns="0" tIns="5080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 Wealth Deflection</a:t>
            </a:r>
            <a:endParaRPr lang="en-US" sz="950" dirty="0"/>
          </a:p>
        </p:txBody>
      </p:sp>
      <p:sp>
        <p:nvSpPr>
          <p:cNvPr id="64" name="Shape 62"/>
          <p:cNvSpPr/>
          <p:nvPr/>
        </p:nvSpPr>
        <p:spPr>
          <a:xfrm>
            <a:off x="2194560" y="3127248"/>
            <a:ext cx="1325880" cy="493776"/>
          </a:xfrm>
          <a:prstGeom prst="rect">
            <a:avLst/>
          </a:prstGeom>
          <a:solidFill>
            <a:srgbClr val="FFFFFF"/>
          </a:solidFill>
          <a:ln w="12700">
            <a:solidFill>
              <a:srgbClr val="E7ECF0"/>
            </a:solidFill>
            <a:prstDash val="solid"/>
          </a:ln>
        </p:spPr>
      </p:sp>
      <p:sp>
        <p:nvSpPr>
          <p:cNvPr id="65" name="Text 63"/>
          <p:cNvSpPr/>
          <p:nvPr/>
        </p:nvSpPr>
        <p:spPr>
          <a:xfrm>
            <a:off x="2194560" y="3127248"/>
            <a:ext cx="132588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$8,000</a:t>
            </a:r>
            <a:endParaRPr lang="en-US" sz="1000" dirty="0"/>
          </a:p>
        </p:txBody>
      </p:sp>
      <p:sp>
        <p:nvSpPr>
          <p:cNvPr id="66" name="Shape 64"/>
          <p:cNvSpPr/>
          <p:nvPr/>
        </p:nvSpPr>
        <p:spPr>
          <a:xfrm>
            <a:off x="3566160" y="3127248"/>
            <a:ext cx="1316736" cy="493776"/>
          </a:xfrm>
          <a:prstGeom prst="rect">
            <a:avLst/>
          </a:prstGeom>
          <a:solidFill>
            <a:srgbClr val="FFFFFF"/>
          </a:solidFill>
          <a:ln w="12700">
            <a:solidFill>
              <a:srgbClr val="E7ECF0"/>
            </a:solidFill>
            <a:prstDash val="solid"/>
          </a:ln>
        </p:spPr>
      </p:sp>
      <p:sp>
        <p:nvSpPr>
          <p:cNvPr id="67" name="Text 65"/>
          <p:cNvSpPr/>
          <p:nvPr/>
        </p:nvSpPr>
        <p:spPr>
          <a:xfrm>
            <a:off x="3566160" y="3127248"/>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$12,000</a:t>
            </a:r>
            <a:endParaRPr lang="en-US" sz="1000" dirty="0"/>
          </a:p>
        </p:txBody>
      </p:sp>
      <p:sp>
        <p:nvSpPr>
          <p:cNvPr id="68" name="Shape 66"/>
          <p:cNvSpPr/>
          <p:nvPr/>
        </p:nvSpPr>
        <p:spPr>
          <a:xfrm>
            <a:off x="4919472" y="3127248"/>
            <a:ext cx="1316736" cy="493776"/>
          </a:xfrm>
          <a:prstGeom prst="rect">
            <a:avLst/>
          </a:prstGeom>
          <a:solidFill>
            <a:srgbClr val="FFFFFF"/>
          </a:solidFill>
          <a:ln w="12700">
            <a:solidFill>
              <a:srgbClr val="E7ECF0"/>
            </a:solidFill>
            <a:prstDash val="solid"/>
          </a:ln>
        </p:spPr>
      </p:sp>
      <p:sp>
        <p:nvSpPr>
          <p:cNvPr id="69" name="Text 67"/>
          <p:cNvSpPr/>
          <p:nvPr/>
        </p:nvSpPr>
        <p:spPr>
          <a:xfrm>
            <a:off x="4919472" y="3127248"/>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$20,000</a:t>
            </a:r>
            <a:endParaRPr lang="en-US" sz="1000" dirty="0"/>
          </a:p>
        </p:txBody>
      </p:sp>
      <p:sp>
        <p:nvSpPr>
          <p:cNvPr id="70" name="Shape 68"/>
          <p:cNvSpPr/>
          <p:nvPr/>
        </p:nvSpPr>
        <p:spPr>
          <a:xfrm>
            <a:off x="6272784" y="3127248"/>
            <a:ext cx="1143000" cy="493776"/>
          </a:xfrm>
          <a:prstGeom prst="rect">
            <a:avLst/>
          </a:prstGeom>
          <a:solidFill>
            <a:srgbClr val="FFFFFF"/>
          </a:solidFill>
          <a:ln w="12700">
            <a:solidFill>
              <a:srgbClr val="E7ECF0"/>
            </a:solidFill>
            <a:prstDash val="solid"/>
          </a:ln>
        </p:spPr>
      </p:sp>
      <p:sp>
        <p:nvSpPr>
          <p:cNvPr id="71" name="Text 69"/>
          <p:cNvSpPr/>
          <p:nvPr/>
        </p:nvSpPr>
        <p:spPr>
          <a:xfrm>
            <a:off x="6272784" y="3127248"/>
            <a:ext cx="114300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$30,000</a:t>
            </a:r>
            <a:endParaRPr lang="en-US" sz="1000" dirty="0"/>
          </a:p>
        </p:txBody>
      </p:sp>
      <p:sp>
        <p:nvSpPr>
          <p:cNvPr id="72" name="Shape 70"/>
          <p:cNvSpPr/>
          <p:nvPr/>
        </p:nvSpPr>
        <p:spPr>
          <a:xfrm>
            <a:off x="7452360" y="3127248"/>
            <a:ext cx="1508760" cy="493776"/>
          </a:xfrm>
          <a:prstGeom prst="rect">
            <a:avLst/>
          </a:prstGeom>
          <a:solidFill>
            <a:srgbClr val="FFFFFF"/>
          </a:solidFill>
          <a:ln w="12700">
            <a:solidFill>
              <a:srgbClr val="E7ECF0"/>
            </a:solidFill>
            <a:prstDash val="solid"/>
          </a:ln>
        </p:spPr>
      </p:sp>
      <p:sp>
        <p:nvSpPr>
          <p:cNvPr id="73" name="Text 71"/>
          <p:cNvSpPr/>
          <p:nvPr/>
        </p:nvSpPr>
        <p:spPr>
          <a:xfrm>
            <a:off x="7452360" y="3163824"/>
            <a:ext cx="1508760" cy="219456"/>
          </a:xfrm>
          <a:prstGeom prst="rect">
            <a:avLst/>
          </a:prstGeom>
          <a:noFill/>
          <a:ln/>
        </p:spPr>
        <p:txBody>
          <a:bodyPr wrap="square" lIns="0" tIns="0" rIns="0" bIns="0" rtlCol="0" anchor="ctr"/>
          <a:lstStyle/>
          <a:p>
            <a:pPr algn="ctr" indent="0" marL="0">
              <a:buNone/>
            </a:pPr>
            <a:r>
              <a:rPr lang="en-US" sz="950" b="1" dirty="0">
                <a:solidFill>
                  <a:srgbClr val="06185F"/>
                </a:solidFill>
                <a:latin typeface="Calibri" pitchFamily="34" charset="0"/>
                <a:ea typeface="Calibri" pitchFamily="34" charset="-122"/>
                <a:cs typeface="Calibri" pitchFamily="34" charset="-120"/>
              </a:rPr>
              <a:t>Q1 FY28</a:t>
            </a:r>
            <a:endParaRPr lang="en-US" sz="950" dirty="0"/>
          </a:p>
        </p:txBody>
      </p:sp>
      <p:sp>
        <p:nvSpPr>
          <p:cNvPr id="74" name="Text 72"/>
          <p:cNvSpPr/>
          <p:nvPr/>
        </p:nvSpPr>
        <p:spPr>
          <a:xfrm>
            <a:off x="7452360" y="3374136"/>
            <a:ext cx="1508760" cy="219456"/>
          </a:xfrm>
          <a:prstGeom prst="rect">
            <a:avLst/>
          </a:prstGeom>
          <a:noFill/>
          <a:ln/>
        </p:spPr>
        <p:txBody>
          <a:bodyPr wrap="square" lIns="0" tIns="0" rIns="0" bIns="0" rtlCol="0" anchor="ctr"/>
          <a:lstStyle/>
          <a:p>
            <a:pPr algn="ctr" indent="0" marL="0">
              <a:buNone/>
            </a:pPr>
            <a:r>
              <a:rPr lang="en-US" sz="750" dirty="0">
                <a:solidFill>
                  <a:srgbClr val="575A5D"/>
                </a:solidFill>
                <a:latin typeface="Calibri" pitchFamily="34" charset="0"/>
                <a:ea typeface="Calibri" pitchFamily="34" charset="-122"/>
                <a:cs typeface="Calibri" pitchFamily="34" charset="-120"/>
              </a:rPr>
              <a:t>Requires core+</a:t>
            </a:r>
            <a:endParaRPr lang="en-US" sz="750" dirty="0"/>
          </a:p>
          <a:p>
            <a:pPr algn="ctr" indent="0" marL="0">
              <a:buNone/>
            </a:pPr>
            <a:r>
              <a:rPr lang="en-US" sz="750" dirty="0">
                <a:solidFill>
                  <a:srgbClr val="575A5D"/>
                </a:solidFill>
                <a:latin typeface="Calibri" pitchFamily="34" charset="0"/>
                <a:ea typeface="Calibri" pitchFamily="34" charset="-122"/>
                <a:cs typeface="Calibri" pitchFamily="34" charset="-120"/>
              </a:rPr>
              <a:t>household data</a:t>
            </a:r>
            <a:endParaRPr lang="en-US" sz="750" dirty="0"/>
          </a:p>
        </p:txBody>
      </p:sp>
      <p:sp>
        <p:nvSpPr>
          <p:cNvPr id="75" name="Shape 73"/>
          <p:cNvSpPr/>
          <p:nvPr/>
        </p:nvSpPr>
        <p:spPr>
          <a:xfrm>
            <a:off x="320040" y="3621024"/>
            <a:ext cx="73152" cy="493776"/>
          </a:xfrm>
          <a:prstGeom prst="rect">
            <a:avLst/>
          </a:prstGeom>
          <a:solidFill>
            <a:srgbClr val="575A5D"/>
          </a:solidFill>
          <a:ln w="12700">
            <a:solidFill>
              <a:srgbClr val="575A5D"/>
            </a:solidFill>
            <a:prstDash val="solid"/>
          </a:ln>
        </p:spPr>
      </p:sp>
      <p:sp>
        <p:nvSpPr>
          <p:cNvPr id="76" name="Shape 74"/>
          <p:cNvSpPr/>
          <p:nvPr/>
        </p:nvSpPr>
        <p:spPr>
          <a:xfrm>
            <a:off x="393192" y="3621024"/>
            <a:ext cx="1755648" cy="493776"/>
          </a:xfrm>
          <a:prstGeom prst="rect">
            <a:avLst/>
          </a:prstGeom>
          <a:solidFill>
            <a:srgbClr val="F4F6FA"/>
          </a:solidFill>
          <a:ln w="12700">
            <a:solidFill>
              <a:srgbClr val="E7ECF0"/>
            </a:solidFill>
            <a:prstDash val="solid"/>
          </a:ln>
        </p:spPr>
      </p:sp>
      <p:sp>
        <p:nvSpPr>
          <p:cNvPr id="77" name="Text 75"/>
          <p:cNvSpPr/>
          <p:nvPr/>
        </p:nvSpPr>
        <p:spPr>
          <a:xfrm>
            <a:off x="448056" y="3621024"/>
            <a:ext cx="1700784" cy="493776"/>
          </a:xfrm>
          <a:prstGeom prst="rect">
            <a:avLst/>
          </a:prstGeom>
          <a:noFill/>
          <a:ln/>
        </p:spPr>
        <p:txBody>
          <a:bodyPr wrap="square" lIns="0" tIns="5080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78" name="Shape 76"/>
          <p:cNvSpPr/>
          <p:nvPr/>
        </p:nvSpPr>
        <p:spPr>
          <a:xfrm>
            <a:off x="2194560" y="3621024"/>
            <a:ext cx="1325880" cy="493776"/>
          </a:xfrm>
          <a:prstGeom prst="rect">
            <a:avLst/>
          </a:prstGeom>
          <a:solidFill>
            <a:srgbClr val="F4F6FA"/>
          </a:solidFill>
          <a:ln w="12700">
            <a:solidFill>
              <a:srgbClr val="E7ECF0"/>
            </a:solidFill>
            <a:prstDash val="solid"/>
          </a:ln>
        </p:spPr>
      </p:sp>
      <p:sp>
        <p:nvSpPr>
          <p:cNvPr id="79" name="Text 77"/>
          <p:cNvSpPr/>
          <p:nvPr/>
        </p:nvSpPr>
        <p:spPr>
          <a:xfrm>
            <a:off x="2194560" y="3621024"/>
            <a:ext cx="132588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$9,000</a:t>
            </a:r>
            <a:endParaRPr lang="en-US" sz="1000" dirty="0"/>
          </a:p>
        </p:txBody>
      </p:sp>
      <p:sp>
        <p:nvSpPr>
          <p:cNvPr id="80" name="Shape 78"/>
          <p:cNvSpPr/>
          <p:nvPr/>
        </p:nvSpPr>
        <p:spPr>
          <a:xfrm>
            <a:off x="3566160" y="3621024"/>
            <a:ext cx="1316736" cy="493776"/>
          </a:xfrm>
          <a:prstGeom prst="rect">
            <a:avLst/>
          </a:prstGeom>
          <a:solidFill>
            <a:srgbClr val="F4F6FA"/>
          </a:solidFill>
          <a:ln w="12700">
            <a:solidFill>
              <a:srgbClr val="E7ECF0"/>
            </a:solidFill>
            <a:prstDash val="solid"/>
          </a:ln>
        </p:spPr>
      </p:sp>
      <p:sp>
        <p:nvSpPr>
          <p:cNvPr id="81" name="Text 79"/>
          <p:cNvSpPr/>
          <p:nvPr/>
        </p:nvSpPr>
        <p:spPr>
          <a:xfrm>
            <a:off x="3566160" y="3621024"/>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$14,000</a:t>
            </a:r>
            <a:endParaRPr lang="en-US" sz="1000" dirty="0"/>
          </a:p>
        </p:txBody>
      </p:sp>
      <p:sp>
        <p:nvSpPr>
          <p:cNvPr id="82" name="Shape 80"/>
          <p:cNvSpPr/>
          <p:nvPr/>
        </p:nvSpPr>
        <p:spPr>
          <a:xfrm>
            <a:off x="4919472" y="3621024"/>
            <a:ext cx="1316736" cy="493776"/>
          </a:xfrm>
          <a:prstGeom prst="rect">
            <a:avLst/>
          </a:prstGeom>
          <a:solidFill>
            <a:srgbClr val="F4F6FA"/>
          </a:solidFill>
          <a:ln w="12700">
            <a:solidFill>
              <a:srgbClr val="E7ECF0"/>
            </a:solidFill>
            <a:prstDash val="solid"/>
          </a:ln>
        </p:spPr>
      </p:sp>
      <p:sp>
        <p:nvSpPr>
          <p:cNvPr id="83" name="Text 81"/>
          <p:cNvSpPr/>
          <p:nvPr/>
        </p:nvSpPr>
        <p:spPr>
          <a:xfrm>
            <a:off x="4919472" y="3621024"/>
            <a:ext cx="1316736"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$24,000</a:t>
            </a:r>
            <a:endParaRPr lang="en-US" sz="1000" dirty="0"/>
          </a:p>
        </p:txBody>
      </p:sp>
      <p:sp>
        <p:nvSpPr>
          <p:cNvPr id="84" name="Shape 82"/>
          <p:cNvSpPr/>
          <p:nvPr/>
        </p:nvSpPr>
        <p:spPr>
          <a:xfrm>
            <a:off x="6272784" y="3621024"/>
            <a:ext cx="1143000" cy="493776"/>
          </a:xfrm>
          <a:prstGeom prst="rect">
            <a:avLst/>
          </a:prstGeom>
          <a:solidFill>
            <a:srgbClr val="F4F6FA"/>
          </a:solidFill>
          <a:ln w="12700">
            <a:solidFill>
              <a:srgbClr val="E7ECF0"/>
            </a:solidFill>
            <a:prstDash val="solid"/>
          </a:ln>
        </p:spPr>
      </p:sp>
      <p:sp>
        <p:nvSpPr>
          <p:cNvPr id="85" name="Text 83"/>
          <p:cNvSpPr/>
          <p:nvPr/>
        </p:nvSpPr>
        <p:spPr>
          <a:xfrm>
            <a:off x="6272784" y="3621024"/>
            <a:ext cx="1143000" cy="493776"/>
          </a:xfrm>
          <a:prstGeom prst="rect">
            <a:avLst/>
          </a:prstGeom>
          <a:noFill/>
          <a:ln/>
        </p:spPr>
        <p:txBody>
          <a:bodyPr wrap="square" lIns="0" tIns="0" rIns="0" bIns="0" rtlCol="0" anchor="ctr"/>
          <a:lstStyle/>
          <a:p>
            <a:pPr algn="ctr" indent="0" marL="0">
              <a:buNone/>
            </a:pPr>
            <a:r>
              <a:rPr lang="en-US" sz="1000" b="1" dirty="0">
                <a:solidFill>
                  <a:srgbClr val="085CE5"/>
                </a:solidFill>
                <a:latin typeface="Calibri" pitchFamily="34" charset="0"/>
                <a:ea typeface="Calibri" pitchFamily="34" charset="-122"/>
                <a:cs typeface="Calibri" pitchFamily="34" charset="-120"/>
              </a:rPr>
              <a:t>$40,000</a:t>
            </a:r>
            <a:endParaRPr lang="en-US" sz="1000" dirty="0"/>
          </a:p>
        </p:txBody>
      </p:sp>
      <p:sp>
        <p:nvSpPr>
          <p:cNvPr id="86" name="Shape 84"/>
          <p:cNvSpPr/>
          <p:nvPr/>
        </p:nvSpPr>
        <p:spPr>
          <a:xfrm>
            <a:off x="7452360" y="3621024"/>
            <a:ext cx="1508760" cy="493776"/>
          </a:xfrm>
          <a:prstGeom prst="rect">
            <a:avLst/>
          </a:prstGeom>
          <a:solidFill>
            <a:srgbClr val="F4F6FA"/>
          </a:solidFill>
          <a:ln w="12700">
            <a:solidFill>
              <a:srgbClr val="E7ECF0"/>
            </a:solidFill>
            <a:prstDash val="solid"/>
          </a:ln>
        </p:spPr>
      </p:sp>
      <p:sp>
        <p:nvSpPr>
          <p:cNvPr id="87" name="Text 85"/>
          <p:cNvSpPr/>
          <p:nvPr/>
        </p:nvSpPr>
        <p:spPr>
          <a:xfrm>
            <a:off x="7452360" y="3657600"/>
            <a:ext cx="1508760" cy="219456"/>
          </a:xfrm>
          <a:prstGeom prst="rect">
            <a:avLst/>
          </a:prstGeom>
          <a:noFill/>
          <a:ln/>
        </p:spPr>
        <p:txBody>
          <a:bodyPr wrap="square" lIns="0" tIns="0" rIns="0" bIns="0" rtlCol="0" anchor="ctr"/>
          <a:lstStyle/>
          <a:p>
            <a:pPr algn="ctr" indent="0" marL="0">
              <a:buNone/>
            </a:pPr>
            <a:r>
              <a:rPr lang="en-US" sz="950" b="1" dirty="0">
                <a:solidFill>
                  <a:srgbClr val="06185F"/>
                </a:solidFill>
                <a:latin typeface="Calibri" pitchFamily="34" charset="0"/>
                <a:ea typeface="Calibri" pitchFamily="34" charset="-122"/>
                <a:cs typeface="Calibri" pitchFamily="34" charset="-120"/>
              </a:rPr>
              <a:t>Q2 FY28</a:t>
            </a:r>
            <a:endParaRPr lang="en-US" sz="950" dirty="0"/>
          </a:p>
        </p:txBody>
      </p:sp>
      <p:sp>
        <p:nvSpPr>
          <p:cNvPr id="88" name="Text 86"/>
          <p:cNvSpPr/>
          <p:nvPr/>
        </p:nvSpPr>
        <p:spPr>
          <a:xfrm>
            <a:off x="7452360" y="3867912"/>
            <a:ext cx="1508760" cy="219456"/>
          </a:xfrm>
          <a:prstGeom prst="rect">
            <a:avLst/>
          </a:prstGeom>
          <a:noFill/>
          <a:ln/>
        </p:spPr>
        <p:txBody>
          <a:bodyPr wrap="square" lIns="0" tIns="0" rIns="0" bIns="0" rtlCol="0" anchor="ctr"/>
          <a:lstStyle/>
          <a:p>
            <a:pPr algn="ctr" indent="0" marL="0">
              <a:buNone/>
            </a:pPr>
            <a:r>
              <a:rPr lang="en-US" sz="750" dirty="0">
                <a:solidFill>
                  <a:srgbClr val="575A5D"/>
                </a:solidFill>
                <a:latin typeface="Calibri" pitchFamily="34" charset="0"/>
                <a:ea typeface="Calibri" pitchFamily="34" charset="-122"/>
                <a:cs typeface="Calibri" pitchFamily="34" charset="-120"/>
              </a:rPr>
              <a:t>Phase 3 · real-time</a:t>
            </a:r>
            <a:endParaRPr lang="en-US" sz="750" dirty="0"/>
          </a:p>
          <a:p>
            <a:pPr algn="ctr" indent="0" marL="0">
              <a:buNone/>
            </a:pPr>
            <a:r>
              <a:rPr lang="en-US" sz="750" dirty="0">
                <a:solidFill>
                  <a:srgbClr val="575A5D"/>
                </a:solidFill>
                <a:latin typeface="Calibri" pitchFamily="34" charset="0"/>
                <a:ea typeface="Calibri" pitchFamily="34" charset="-122"/>
                <a:cs typeface="Calibri" pitchFamily="34" charset="-120"/>
              </a:rPr>
              <a:t>fraud engine</a:t>
            </a:r>
            <a:endParaRPr lang="en-US" sz="750" dirty="0"/>
          </a:p>
        </p:txBody>
      </p:sp>
      <p:sp>
        <p:nvSpPr>
          <p:cNvPr id="89" name="Shape 87"/>
          <p:cNvSpPr/>
          <p:nvPr/>
        </p:nvSpPr>
        <p:spPr>
          <a:xfrm>
            <a:off x="320040" y="4279392"/>
            <a:ext cx="8686800" cy="658368"/>
          </a:xfrm>
          <a:prstGeom prst="roundRect">
            <a:avLst>
              <a:gd name="adj" fmla="val 6944"/>
            </a:avLst>
          </a:prstGeom>
          <a:solidFill>
            <a:srgbClr val="E8F0FD"/>
          </a:solidFill>
          <a:ln w="12700">
            <a:solidFill>
              <a:srgbClr val="BCD0F5"/>
            </a:solidFill>
            <a:prstDash val="solid"/>
          </a:ln>
        </p:spPr>
      </p:sp>
      <p:sp>
        <p:nvSpPr>
          <p:cNvPr id="90" name="Text 88"/>
          <p:cNvSpPr/>
          <p:nvPr/>
        </p:nvSpPr>
        <p:spPr>
          <a:xfrm>
            <a:off x="448056" y="4334256"/>
            <a:ext cx="1463040" cy="201168"/>
          </a:xfrm>
          <a:prstGeom prst="rect">
            <a:avLst/>
          </a:prstGeom>
          <a:noFill/>
          <a:ln/>
        </p:spPr>
        <p:txBody>
          <a:bodyPr wrap="square" lIns="0" tIns="0" rIns="0" bIns="0" rtlCol="0" anchor="ctr"/>
          <a:lstStyle/>
          <a:p>
            <a:pPr indent="0" marL="0">
              <a:buNone/>
            </a:pPr>
            <a:r>
              <a:rPr lang="en-US" sz="800" b="1" spc="100" kern="0" dirty="0">
                <a:solidFill>
                  <a:srgbClr val="085CE5"/>
                </a:solidFill>
                <a:latin typeface="Calibri" pitchFamily="34" charset="0"/>
                <a:ea typeface="Calibri" pitchFamily="34" charset="-122"/>
                <a:cs typeface="Calibri" pitchFamily="34" charset="-120"/>
              </a:rPr>
              <a:t>KEY ASSUMPTIONS</a:t>
            </a:r>
            <a:endParaRPr lang="en-US" sz="800" dirty="0"/>
          </a:p>
        </p:txBody>
      </p:sp>
      <p:sp>
        <p:nvSpPr>
          <p:cNvPr id="91" name="Text 89"/>
          <p:cNvSpPr/>
          <p:nvPr/>
        </p:nvSpPr>
        <p:spPr>
          <a:xfrm>
            <a:off x="448056" y="4517136"/>
            <a:ext cx="8412480" cy="173736"/>
          </a:xfrm>
          <a:prstGeom prst="rect">
            <a:avLst/>
          </a:prstGeom>
          <a:noFill/>
          <a:ln/>
        </p:spPr>
        <p:txBody>
          <a:bodyPr wrap="square" lIns="0" tIns="0" rIns="0" bIns="0" rtlCol="0" anchor="ctr"/>
          <a:lstStyle/>
          <a:p>
            <a:pPr indent="0" marL="0">
              <a:buNone/>
            </a:pPr>
            <a:r>
              <a:rPr lang="en-US" sz="850" dirty="0">
                <a:solidFill>
                  <a:srgbClr val="334466"/>
                </a:solidFill>
                <a:latin typeface="Calibri" pitchFamily="34" charset="0"/>
                <a:ea typeface="Calibri" pitchFamily="34" charset="-122"/>
                <a:cs typeface="Calibri" pitchFamily="34" charset="-120"/>
              </a:rPr>
              <a:t>Blended avg price (bank/CU mix):  Zelle $9.7K  ·  Churn $13.7K  ·  CommercialSignal $11.1K  ·  Gen. Wealth $13.6K  ·  Anomaly $16.8K</a:t>
            </a:r>
            <a:endParaRPr lang="en-US" sz="850" dirty="0"/>
          </a:p>
        </p:txBody>
      </p:sp>
      <p:sp>
        <p:nvSpPr>
          <p:cNvPr id="92" name="Text 90"/>
          <p:cNvSpPr/>
          <p:nvPr/>
        </p:nvSpPr>
        <p:spPr>
          <a:xfrm>
            <a:off x="448056" y="4690872"/>
            <a:ext cx="8412480" cy="173736"/>
          </a:xfrm>
          <a:prstGeom prst="rect">
            <a:avLst/>
          </a:prstGeom>
          <a:noFill/>
          <a:ln/>
        </p:spPr>
        <p:txBody>
          <a:bodyPr wrap="square" lIns="0" tIns="0" rIns="0" bIns="0" rtlCol="0" anchor="ctr"/>
          <a:lstStyle/>
          <a:p>
            <a:pPr indent="0" marL="0">
              <a:buNone/>
            </a:pPr>
            <a:r>
              <a:rPr lang="en-US" sz="850" dirty="0">
                <a:solidFill>
                  <a:srgbClr val="334466"/>
                </a:solidFill>
                <a:latin typeface="Calibri" pitchFamily="34" charset="0"/>
                <a:ea typeface="Calibri" pitchFamily="34" charset="-122"/>
                <a:cs typeface="Calibri" pitchFamily="34" charset="-120"/>
              </a:rPr>
              <a:t>44% CU / 56% bank mix  ·  12% CU discount applied  ·  8% annual subscription churn  ·  No bundle pricing (future option)</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029200" y="-1828800"/>
            <a:ext cx="6858000" cy="68580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400800" y="1097280"/>
            <a:ext cx="3657600" cy="3657600"/>
          </a:xfrm>
          <a:prstGeom prst="ellipse">
            <a:avLst/>
          </a:prstGeom>
          <a:solidFill>
            <a:srgbClr val="76DCFD">
              <a:alpha val="10000"/>
            </a:srgbClr>
          </a:solidFill>
          <a:ln w="12700">
            <a:solidFill>
              <a:srgbClr val="76DCFD">
                <a:alpha val="18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38912"/>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NEXT STEPS</a:t>
            </a:r>
            <a:endParaRPr lang="en-US" sz="1100" dirty="0"/>
          </a:p>
        </p:txBody>
      </p:sp>
      <p:sp>
        <p:nvSpPr>
          <p:cNvPr id="6" name="Text 4"/>
          <p:cNvSpPr/>
          <p:nvPr/>
        </p:nvSpPr>
        <p:spPr>
          <a:xfrm>
            <a:off x="365760" y="86868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Approve the Roadmap.</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Fund the Team.</a:t>
            </a:r>
            <a:endParaRPr lang="en-US" sz="4000" dirty="0"/>
          </a:p>
        </p:txBody>
      </p:sp>
      <p:sp>
        <p:nvSpPr>
          <p:cNvPr id="7" name="Shape 5"/>
          <p:cNvSpPr/>
          <p:nvPr/>
        </p:nvSpPr>
        <p:spPr>
          <a:xfrm>
            <a:off x="365760" y="2386584"/>
            <a:ext cx="329184" cy="329184"/>
          </a:xfrm>
          <a:prstGeom prst="ellipse">
            <a:avLst/>
          </a:prstGeom>
          <a:solidFill>
            <a:srgbClr val="085CE5"/>
          </a:solidFill>
          <a:ln w="12700">
            <a:solidFill>
              <a:srgbClr val="085CE5"/>
            </a:solidFill>
            <a:prstDash val="solid"/>
          </a:ln>
        </p:spPr>
      </p:sp>
      <p:sp>
        <p:nvSpPr>
          <p:cNvPr id="8" name="Text 6"/>
          <p:cNvSpPr/>
          <p:nvPr/>
        </p:nvSpPr>
        <p:spPr>
          <a:xfrm>
            <a:off x="36576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04672" y="2432304"/>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JHBI approves headcount budget and infrastructure allocation for Phase 1</a:t>
            </a:r>
            <a:endParaRPr lang="en-US" sz="1200" dirty="0"/>
          </a:p>
        </p:txBody>
      </p:sp>
      <p:sp>
        <p:nvSpPr>
          <p:cNvPr id="10" name="Shape 8"/>
          <p:cNvSpPr/>
          <p:nvPr/>
        </p:nvSpPr>
        <p:spPr>
          <a:xfrm>
            <a:off x="365760" y="2862072"/>
            <a:ext cx="329184" cy="329184"/>
          </a:xfrm>
          <a:prstGeom prst="ellipse">
            <a:avLst/>
          </a:prstGeom>
          <a:solidFill>
            <a:srgbClr val="085CE5"/>
          </a:solidFill>
          <a:ln w="12700">
            <a:solidFill>
              <a:srgbClr val="085CE5"/>
            </a:solidFill>
            <a:prstDash val="solid"/>
          </a:ln>
        </p:spPr>
      </p:sp>
      <p:sp>
        <p:nvSpPr>
          <p:cNvPr id="11" name="Text 9"/>
          <p:cNvSpPr/>
          <p:nvPr/>
        </p:nvSpPr>
        <p:spPr>
          <a:xfrm>
            <a:off x="365760" y="28620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804672" y="2907792"/>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DS team begins recruiting: Data Engineers + ML Engineers (Month 1)</a:t>
            </a:r>
            <a:endParaRPr lang="en-US" sz="1200" dirty="0"/>
          </a:p>
        </p:txBody>
      </p:sp>
      <p:sp>
        <p:nvSpPr>
          <p:cNvPr id="13" name="Shape 11"/>
          <p:cNvSpPr/>
          <p:nvPr/>
        </p:nvSpPr>
        <p:spPr>
          <a:xfrm>
            <a:off x="365760" y="3337560"/>
            <a:ext cx="329184" cy="329184"/>
          </a:xfrm>
          <a:prstGeom prst="ellipse">
            <a:avLst/>
          </a:prstGeom>
          <a:solidFill>
            <a:srgbClr val="085CE5"/>
          </a:solidFill>
          <a:ln w="12700">
            <a:solidFill>
              <a:srgbClr val="085CE5"/>
            </a:solidFill>
            <a:prstDash val="solid"/>
          </a:ln>
        </p:spPr>
      </p:sp>
      <p:sp>
        <p:nvSpPr>
          <p:cNvPr id="14" name="Text 12"/>
          <p:cNvSpPr/>
          <p:nvPr/>
        </p:nvSpPr>
        <p:spPr>
          <a:xfrm>
            <a:off x="365760" y="3337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804672" y="3383280"/>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Cloud platform procurement and ML environment setup (Months 1–2)</a:t>
            </a:r>
            <a:endParaRPr lang="en-US" sz="1200" dirty="0"/>
          </a:p>
        </p:txBody>
      </p:sp>
      <p:sp>
        <p:nvSpPr>
          <p:cNvPr id="16" name="Shape 14"/>
          <p:cNvSpPr/>
          <p:nvPr/>
        </p:nvSpPr>
        <p:spPr>
          <a:xfrm>
            <a:off x="365760" y="3813048"/>
            <a:ext cx="329184" cy="329184"/>
          </a:xfrm>
          <a:prstGeom prst="ellipse">
            <a:avLst/>
          </a:prstGeom>
          <a:solidFill>
            <a:srgbClr val="085CE5"/>
          </a:solidFill>
          <a:ln w="12700">
            <a:solidFill>
              <a:srgbClr val="085CE5"/>
            </a:solidFill>
            <a:prstDash val="solid"/>
          </a:ln>
        </p:spPr>
      </p:sp>
      <p:sp>
        <p:nvSpPr>
          <p:cNvPr id="17" name="Text 15"/>
          <p:cNvSpPr/>
          <p:nvPr/>
        </p:nvSpPr>
        <p:spPr>
          <a:xfrm>
            <a:off x="365760" y="38130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p:nvPr/>
        </p:nvSpPr>
        <p:spPr>
          <a:xfrm>
            <a:off x="804672" y="3858768"/>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Churn Sentinel Phase 1 scoping: ACH pipeline access + direct deposit monitoring spec (Month 2)</a:t>
            </a:r>
            <a:endParaRPr lang="en-US" sz="1200" dirty="0"/>
          </a:p>
        </p:txBody>
      </p:sp>
      <p:sp>
        <p:nvSpPr>
          <p:cNvPr id="19" name="Shape 17"/>
          <p:cNvSpPr/>
          <p:nvPr/>
        </p:nvSpPr>
        <p:spPr>
          <a:xfrm>
            <a:off x="365760" y="4288536"/>
            <a:ext cx="329184" cy="329184"/>
          </a:xfrm>
          <a:prstGeom prst="ellipse">
            <a:avLst/>
          </a:prstGeom>
          <a:solidFill>
            <a:srgbClr val="085CE5"/>
          </a:solidFill>
          <a:ln w="12700">
            <a:solidFill>
              <a:srgbClr val="085CE5"/>
            </a:solidFill>
            <a:prstDash val="solid"/>
          </a:ln>
        </p:spPr>
      </p:sp>
      <p:sp>
        <p:nvSpPr>
          <p:cNvPr id="20" name="Text 18"/>
          <p:cNvSpPr/>
          <p:nvPr/>
        </p:nvSpPr>
        <p:spPr>
          <a:xfrm>
            <a:off x="365760" y="4288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9"/>
          <p:cNvSpPr/>
          <p:nvPr/>
        </p:nvSpPr>
        <p:spPr>
          <a:xfrm>
            <a:off x="804672" y="4334256"/>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Bi-weekly DS steering committee established for roadmap governance</a:t>
            </a:r>
            <a:endParaRPr lang="en-US" sz="1200" dirty="0"/>
          </a:p>
        </p:txBody>
      </p:sp>
      <p:sp>
        <p:nvSpPr>
          <p:cNvPr id="22" name="Text 20"/>
          <p:cNvSpPr/>
          <p:nvPr/>
        </p:nvSpPr>
        <p:spPr>
          <a:xfrm>
            <a:off x="365760" y="4828032"/>
            <a:ext cx="8229600" cy="237744"/>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Powering the Financial World™  |  Jack Henry Data &amp; Analytics Team  |  March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2026-04-03T15:48:43Z</dcterms:created>
  <dcterms:modified xsi:type="dcterms:W3CDTF">2026-04-03T15:48:43Z</dcterms:modified>
</cp:coreProperties>
</file>