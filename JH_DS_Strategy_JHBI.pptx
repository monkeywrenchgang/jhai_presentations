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Application Suite — Eight Strategic Products</a:t>
            </a:r>
            <a:endParaRPr lang="en-US" sz="2200" dirty="0"/>
          </a:p>
        </p:txBody>
      </p:sp>
      <p:sp>
        <p:nvSpPr>
          <p:cNvPr id="4" name="Shape 2"/>
          <p:cNvSpPr/>
          <p:nvPr/>
        </p:nvSpPr>
        <p:spPr>
          <a:xfrm>
            <a:off x="128016"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128016" y="777240"/>
            <a:ext cx="2084832" cy="585216"/>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237744" y="886968"/>
            <a:ext cx="347472" cy="347472"/>
          </a:xfrm>
          <a:prstGeom prst="rect">
            <a:avLst/>
          </a:prstGeom>
        </p:spPr>
      </p:pic>
      <p:sp>
        <p:nvSpPr>
          <p:cNvPr id="7" name="Text 4"/>
          <p:cNvSpPr/>
          <p:nvPr/>
        </p:nvSpPr>
        <p:spPr>
          <a:xfrm>
            <a:off x="640080"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Attrition /</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Churn Mediation</a:t>
            </a:r>
            <a:endParaRPr lang="en-US" sz="1000" dirty="0"/>
          </a:p>
        </p:txBody>
      </p:sp>
      <p:sp>
        <p:nvSpPr>
          <p:cNvPr id="8" name="Text 5"/>
          <p:cNvSpPr/>
          <p:nvPr/>
        </p:nvSpPr>
        <p:spPr>
          <a:xfrm>
            <a:off x="219456"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950" dirty="0"/>
          </a:p>
        </p:txBody>
      </p:sp>
      <p:sp>
        <p:nvSpPr>
          <p:cNvPr id="9" name="Shape 6"/>
          <p:cNvSpPr/>
          <p:nvPr/>
        </p:nvSpPr>
        <p:spPr>
          <a:xfrm>
            <a:off x="2350008"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2350008" y="777240"/>
            <a:ext cx="2084832" cy="585216"/>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2459736" y="886968"/>
            <a:ext cx="347472" cy="347472"/>
          </a:xfrm>
          <a:prstGeom prst="rect">
            <a:avLst/>
          </a:prstGeom>
        </p:spPr>
      </p:pic>
      <p:sp>
        <p:nvSpPr>
          <p:cNvPr id="12" name="Text 8"/>
          <p:cNvSpPr/>
          <p:nvPr/>
        </p:nvSpPr>
        <p:spPr>
          <a:xfrm>
            <a:off x="2862072"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Zelle Memo</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Intelligence</a:t>
            </a:r>
            <a:endParaRPr lang="en-US" sz="1000" dirty="0"/>
          </a:p>
        </p:txBody>
      </p:sp>
      <p:sp>
        <p:nvSpPr>
          <p:cNvPr id="13" name="Text 9"/>
          <p:cNvSpPr/>
          <p:nvPr/>
        </p:nvSpPr>
        <p:spPr>
          <a:xfrm>
            <a:off x="2441448"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950" dirty="0"/>
          </a:p>
        </p:txBody>
      </p:sp>
      <p:sp>
        <p:nvSpPr>
          <p:cNvPr id="14" name="Shape 10"/>
          <p:cNvSpPr/>
          <p:nvPr/>
        </p:nvSpPr>
        <p:spPr>
          <a:xfrm>
            <a:off x="4572000"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4572000" y="777240"/>
            <a:ext cx="2084832" cy="585216"/>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4681728" y="886968"/>
            <a:ext cx="347472" cy="347472"/>
          </a:xfrm>
          <a:prstGeom prst="rect">
            <a:avLst/>
          </a:prstGeom>
        </p:spPr>
      </p:pic>
      <p:sp>
        <p:nvSpPr>
          <p:cNvPr id="17" name="Text 12"/>
          <p:cNvSpPr/>
          <p:nvPr/>
        </p:nvSpPr>
        <p:spPr>
          <a:xfrm>
            <a:off x="5084064"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Anomaly</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Detection</a:t>
            </a:r>
            <a:endParaRPr lang="en-US" sz="1000" dirty="0"/>
          </a:p>
        </p:txBody>
      </p:sp>
      <p:sp>
        <p:nvSpPr>
          <p:cNvPr id="18" name="Text 13"/>
          <p:cNvSpPr/>
          <p:nvPr/>
        </p:nvSpPr>
        <p:spPr>
          <a:xfrm>
            <a:off x="4663440"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950" dirty="0"/>
          </a:p>
        </p:txBody>
      </p:sp>
      <p:sp>
        <p:nvSpPr>
          <p:cNvPr id="19" name="Shape 14"/>
          <p:cNvSpPr/>
          <p:nvPr/>
        </p:nvSpPr>
        <p:spPr>
          <a:xfrm>
            <a:off x="6793992" y="77724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6793992" y="777240"/>
            <a:ext cx="2084832" cy="585216"/>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6903720" y="886968"/>
            <a:ext cx="347472" cy="347472"/>
          </a:xfrm>
          <a:prstGeom prst="rect">
            <a:avLst/>
          </a:prstGeom>
        </p:spPr>
      </p:pic>
      <p:sp>
        <p:nvSpPr>
          <p:cNvPr id="22" name="Text 16"/>
          <p:cNvSpPr/>
          <p:nvPr/>
        </p:nvSpPr>
        <p:spPr>
          <a:xfrm>
            <a:off x="7306056" y="83210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Call Report AI</a:t>
            </a:r>
            <a:endParaRPr lang="en-US" sz="1000" dirty="0"/>
          </a:p>
        </p:txBody>
      </p:sp>
      <p:sp>
        <p:nvSpPr>
          <p:cNvPr id="23" name="Text 17"/>
          <p:cNvSpPr/>
          <p:nvPr/>
        </p:nvSpPr>
        <p:spPr>
          <a:xfrm>
            <a:off x="6885432" y="143560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Claude-powered NCUA 5300 intelligence: market pulse, NL Q&amp;A, and peer benchmarking for CU executives. Aug/Sept 2026 launch.</a:t>
            </a:r>
            <a:endParaRPr lang="en-US" sz="950" dirty="0"/>
          </a:p>
        </p:txBody>
      </p:sp>
      <p:sp>
        <p:nvSpPr>
          <p:cNvPr id="24" name="Shape 18"/>
          <p:cNvSpPr/>
          <p:nvPr/>
        </p:nvSpPr>
        <p:spPr>
          <a:xfrm>
            <a:off x="128016"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128016" y="2880360"/>
            <a:ext cx="2084832" cy="585216"/>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237744" y="2990088"/>
            <a:ext cx="347472" cy="347472"/>
          </a:xfrm>
          <a:prstGeom prst="rect">
            <a:avLst/>
          </a:prstGeom>
        </p:spPr>
      </p:pic>
      <p:sp>
        <p:nvSpPr>
          <p:cNvPr id="27" name="Text 20"/>
          <p:cNvSpPr/>
          <p:nvPr/>
        </p:nvSpPr>
        <p:spPr>
          <a:xfrm>
            <a:off x="640080"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Account Opening</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Lifetime Value</a:t>
            </a:r>
            <a:endParaRPr lang="en-US" sz="1000" dirty="0"/>
          </a:p>
        </p:txBody>
      </p:sp>
      <p:sp>
        <p:nvSpPr>
          <p:cNvPr id="28" name="Text 21"/>
          <p:cNvSpPr/>
          <p:nvPr/>
        </p:nvSpPr>
        <p:spPr>
          <a:xfrm>
            <a:off x="219456"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Score new accounts by predicted LTV at opening to optimize onboarding resources and cross-sell sequencing.</a:t>
            </a:r>
            <a:endParaRPr lang="en-US" sz="950" dirty="0"/>
          </a:p>
        </p:txBody>
      </p:sp>
      <p:sp>
        <p:nvSpPr>
          <p:cNvPr id="29" name="Shape 22"/>
          <p:cNvSpPr/>
          <p:nvPr/>
        </p:nvSpPr>
        <p:spPr>
          <a:xfrm>
            <a:off x="2350008"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2350008" y="2880360"/>
            <a:ext cx="2084832" cy="585216"/>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2459736" y="2990088"/>
            <a:ext cx="347472" cy="347472"/>
          </a:xfrm>
          <a:prstGeom prst="rect">
            <a:avLst/>
          </a:prstGeom>
        </p:spPr>
      </p:pic>
      <p:sp>
        <p:nvSpPr>
          <p:cNvPr id="32" name="Text 24"/>
          <p:cNvSpPr/>
          <p:nvPr/>
        </p:nvSpPr>
        <p:spPr>
          <a:xfrm>
            <a:off x="2862072"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FI Decision</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Studio</a:t>
            </a:r>
            <a:endParaRPr lang="en-US" sz="1000" dirty="0"/>
          </a:p>
        </p:txBody>
      </p:sp>
      <p:sp>
        <p:nvSpPr>
          <p:cNvPr id="33" name="Text 25"/>
          <p:cNvSpPr/>
          <p:nvPr/>
        </p:nvSpPr>
        <p:spPr>
          <a:xfrm>
            <a:off x="2441448"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No-code AutoML for FIs: upload data, train custom models, explain with SHAP, author rules, deploy as API, monitor drift.</a:t>
            </a:r>
            <a:endParaRPr lang="en-US" sz="950" dirty="0"/>
          </a:p>
        </p:txBody>
      </p:sp>
      <p:sp>
        <p:nvSpPr>
          <p:cNvPr id="34" name="Shape 26"/>
          <p:cNvSpPr/>
          <p:nvPr/>
        </p:nvSpPr>
        <p:spPr>
          <a:xfrm>
            <a:off x="4572000"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5" name="Shape 27"/>
          <p:cNvSpPr/>
          <p:nvPr/>
        </p:nvSpPr>
        <p:spPr>
          <a:xfrm>
            <a:off x="4572000" y="2880360"/>
            <a:ext cx="2084832" cy="585216"/>
          </a:xfrm>
          <a:prstGeom prst="rect">
            <a:avLst/>
          </a:prstGeom>
          <a:solidFill>
            <a:srgbClr val="0A52C4"/>
          </a:solidFill>
          <a:ln w="12700">
            <a:solidFill>
              <a:srgbClr val="0A52C4"/>
            </a:solidFill>
            <a:prstDash val="solid"/>
          </a:ln>
        </p:spPr>
      </p:sp>
      <p:pic>
        <p:nvPicPr>
          <p:cNvPr id="36" name="Image 6" descr="preencoded.png">    </p:cNvPr>
          <p:cNvPicPr>
            <a:picLocks noChangeAspect="1"/>
          </p:cNvPicPr>
          <p:nvPr/>
        </p:nvPicPr>
        <p:blipFill>
          <a:blip r:embed="rId7"/>
          <a:stretch>
            <a:fillRect/>
          </a:stretch>
        </p:blipFill>
        <p:spPr>
          <a:xfrm>
            <a:off x="4681728" y="2990088"/>
            <a:ext cx="347472" cy="347472"/>
          </a:xfrm>
          <a:prstGeom prst="rect">
            <a:avLst/>
          </a:prstGeom>
        </p:spPr>
      </p:pic>
      <p:sp>
        <p:nvSpPr>
          <p:cNvPr id="37" name="Text 28"/>
          <p:cNvSpPr/>
          <p:nvPr/>
        </p:nvSpPr>
        <p:spPr>
          <a:xfrm>
            <a:off x="5084064"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Personal-as-</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Commercial Detection</a:t>
            </a:r>
            <a:endParaRPr lang="en-US" sz="1000" dirty="0"/>
          </a:p>
        </p:txBody>
      </p:sp>
      <p:sp>
        <p:nvSpPr>
          <p:cNvPr id="38" name="Text 29"/>
          <p:cNvSpPr/>
          <p:nvPr/>
        </p:nvSpPr>
        <p:spPr>
          <a:xfrm>
            <a:off x="4663440"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ML classifier surfacing personal accounts with commercial transaction signatures — converting hidden SMB relationships to business banking.</a:t>
            </a:r>
            <a:endParaRPr lang="en-US" sz="950" dirty="0"/>
          </a:p>
        </p:txBody>
      </p:sp>
      <p:sp>
        <p:nvSpPr>
          <p:cNvPr id="39" name="Shape 30"/>
          <p:cNvSpPr/>
          <p:nvPr/>
        </p:nvSpPr>
        <p:spPr>
          <a:xfrm>
            <a:off x="6793992" y="2880360"/>
            <a:ext cx="2084832"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0" name="Shape 31"/>
          <p:cNvSpPr/>
          <p:nvPr/>
        </p:nvSpPr>
        <p:spPr>
          <a:xfrm>
            <a:off x="6793992" y="2880360"/>
            <a:ext cx="2084832" cy="585216"/>
          </a:xfrm>
          <a:prstGeom prst="rect">
            <a:avLst/>
          </a:prstGeom>
          <a:solidFill>
            <a:srgbClr val="0F3D8A"/>
          </a:solidFill>
          <a:ln w="12700">
            <a:solidFill>
              <a:srgbClr val="0F3D8A"/>
            </a:solidFill>
            <a:prstDash val="solid"/>
          </a:ln>
        </p:spPr>
      </p:sp>
      <p:pic>
        <p:nvPicPr>
          <p:cNvPr id="41" name="Image 7" descr="preencoded.png">    </p:cNvPr>
          <p:cNvPicPr>
            <a:picLocks noChangeAspect="1"/>
          </p:cNvPicPr>
          <p:nvPr/>
        </p:nvPicPr>
        <p:blipFill>
          <a:blip r:embed="rId8"/>
          <a:stretch>
            <a:fillRect/>
          </a:stretch>
        </p:blipFill>
        <p:spPr>
          <a:xfrm>
            <a:off x="6903720" y="2990088"/>
            <a:ext cx="347472" cy="347472"/>
          </a:xfrm>
          <a:prstGeom prst="rect">
            <a:avLst/>
          </a:prstGeom>
        </p:spPr>
      </p:pic>
      <p:sp>
        <p:nvSpPr>
          <p:cNvPr id="42" name="Text 32"/>
          <p:cNvSpPr/>
          <p:nvPr/>
        </p:nvSpPr>
        <p:spPr>
          <a:xfrm>
            <a:off x="7306056" y="2935224"/>
            <a:ext cx="1499616" cy="51206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Generational</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Wealth Deflection</a:t>
            </a:r>
            <a:endParaRPr lang="en-US" sz="1000" dirty="0"/>
          </a:p>
        </p:txBody>
      </p:sp>
      <p:sp>
        <p:nvSpPr>
          <p:cNvPr id="43" name="Text 33"/>
          <p:cNvSpPr/>
          <p:nvPr/>
        </p:nvSpPr>
        <p:spPr>
          <a:xfrm>
            <a:off x="6885432" y="3538728"/>
            <a:ext cx="1901952" cy="1170432"/>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Household coverage scoring to identify single-holder wealth concentration and expand FI relationships to next-generation family members.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Attrition / Churn Mediation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customer/member base annually to attrition. Without predictive capability embedded in their platform, FI staff can only react after the account is already closing — when outreach success rates drop below 20%.</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at-risk customers/members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lack behavioral risk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outreach is expensive with low conversion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High cost-to-retain vs. cost-to-acquire imbalance</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survival analysis + gradient boosted model (AutoGluon / CatBoost) embedded in the JH platform — scoring every customer and member weekly on churn probability using behavioral signals from transaction, login, product, and call data.</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AutoGluon ensemble + CatBoost scoring pipeline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values for banker-facing explainability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trigger → JH CRM / outreach workflows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model refresh with drift monitoring alerts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A52C4"/>
          </a:solidFill>
          <a:ln w="12700">
            <a:solidFill>
              <a:srgbClr val="0A52C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Personal-as-Commercial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A52C4"/>
          </a:solidFill>
          <a:ln w="12700">
            <a:solidFill>
              <a:srgbClr val="0A52C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A52C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Business owners run commercial operations through personal accounts daily — creating BSA/AML blind spots, Reg E gaps, and hiding SMB relationships that belong in business banking generating fee income, treasury products, and SBA loan revenue.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Commercial cash flows in consumer accounts invisible to business banking teams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BSA/AML programs miss commercial-risk patterns governed by Reg E frameworks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FIs lose fee income, treasury products, and SBA loan opportunities from hidden SMBs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Sole proprietors remain in consumer tiers with no differentiated service or depth</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ML classification model analyzing transaction velocity, ACH vendor/payroll signatures, payee diversity, and cash flow patterns to score personal accounts for commercial usage probability — surfacing them for business banking outreach and revenue conversion.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classifier: transaction velocity, ACH pattern, payee diversity, cash flow features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 review and Regulation E compliance documentation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segmented SMB conversion outreach campaigns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monitoring for commercial activity thresholds with alert triggers</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$22T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business payments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flowing through personal accounts</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30–40%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Small business owners use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personal accounts commercially</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A52C4"/>
          </a:solidFill>
          <a:ln w="12700">
            <a:solidFill>
              <a:srgbClr val="0A52C4"/>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Bank Director — 'The Untapped Market Hiding in Consumer Bank Accounts' (bankdirector.com/article/the-untapped-market-hiding-in-consumer-bank-accounts)  ·  Datos Insights — 'Bank Wealth Managers: Business Owner Client Opportunity' (datos-insights.com)</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F3D8A"/>
          </a:solidFill>
          <a:ln w="12700">
            <a:solidFill>
              <a:srgbClr val="0F3D8A"/>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Generational Wealth Deflection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F3D8A"/>
          </a:solidFill>
          <a:ln w="12700">
            <a:solidFill>
              <a:srgbClr val="0F3D8A"/>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F3D8A"/>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FIs manage individual accounts but have no household model — so when wealth concentrates in a single-holder account with no family ties at the FI, a life event sends those assets to a competitor who already has the relationship with the heirs.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 relationships are account-level, not household- or family-level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model for identifying households with single-point-of-relationship risk</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transfer triggers reactive outreach — typically too late to retain assets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Next-gen account holders are captured by digital-first competitors before FI engages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household coverage scoring model that identifies existing accounts with concentrated wealth and no generational relationship depth — scoring deflection risk and triggering proactive family outreach campaigns to build multi-generational FI relationships before wealth transitions.</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linkage model: address, name, and account relationship graph from core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concentration + relationship density scoring per household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Proactive outreach triggers: next-gen Banno digital invites, relationship banker introductions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coverage rate tracked as FI performance KPI in JH executive dashboard</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$84T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household wealth</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transferring by 2045 (Cerulli)</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Of transferred wealth changes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financial institutions</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F3D8A"/>
          </a:solidFill>
          <a:ln w="12700">
            <a:solidFill>
              <a:srgbClr val="0F3D8A"/>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Cerulli Associates — 'U.S. High-Net-Worth and Ultra-High-Net-Worth Markets 2023'  ·  McKinsey — 'The Great Wealth Transfer' (2023)  ·  LIMRA — Intergenerational Wealth Transfer Research</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374904"/>
          </a:xfrm>
          <a:prstGeom prst="rect">
            <a:avLst/>
          </a:prstGeom>
          <a:solidFill>
            <a:srgbClr val="FFFFFF"/>
          </a:solidFill>
          <a:ln w="12700">
            <a:solidFill>
              <a:srgbClr val="E7ECF0"/>
            </a:solidFill>
            <a:prstDash val="solid"/>
          </a:ln>
        </p:spPr>
      </p:sp>
      <p:sp>
        <p:nvSpPr>
          <p:cNvPr id="10" name="Shape 8"/>
          <p:cNvSpPr/>
          <p:nvPr/>
        </p:nvSpPr>
        <p:spPr>
          <a:xfrm>
            <a:off x="365760" y="1627632"/>
            <a:ext cx="91440" cy="374904"/>
          </a:xfrm>
          <a:prstGeom prst="rect">
            <a:avLst/>
          </a:prstGeom>
          <a:solidFill>
            <a:srgbClr val="085CE5"/>
          </a:solidFill>
          <a:ln w="12700">
            <a:solidFill>
              <a:srgbClr val="085CE5"/>
            </a:solidFill>
            <a:prstDash val="solid"/>
          </a:ln>
        </p:spPr>
      </p:sp>
      <p:sp>
        <p:nvSpPr>
          <p:cNvPr id="11" name="Text 9"/>
          <p:cNvSpPr/>
          <p:nvPr/>
        </p:nvSpPr>
        <p:spPr>
          <a:xfrm>
            <a:off x="502920" y="165506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2" name="Text 10"/>
          <p:cNvSpPr/>
          <p:nvPr/>
        </p:nvSpPr>
        <p:spPr>
          <a:xfrm>
            <a:off x="3108960" y="165506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$1–3M / year</a:t>
            </a:r>
            <a:endParaRPr lang="en-US" sz="950" dirty="0"/>
          </a:p>
        </p:txBody>
      </p:sp>
      <p:sp>
        <p:nvSpPr>
          <p:cNvPr id="13" name="Text 11"/>
          <p:cNvSpPr/>
          <p:nvPr/>
        </p:nvSpPr>
        <p:spPr>
          <a:xfrm>
            <a:off x="5029200" y="165506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churn reduction × avg. customer revenue of $400–$600/yr</a:t>
            </a:r>
            <a:endParaRPr lang="en-US" sz="850" dirty="0"/>
          </a:p>
        </p:txBody>
      </p:sp>
      <p:sp>
        <p:nvSpPr>
          <p:cNvPr id="14" name="Shape 12"/>
          <p:cNvSpPr/>
          <p:nvPr/>
        </p:nvSpPr>
        <p:spPr>
          <a:xfrm>
            <a:off x="365760" y="2029968"/>
            <a:ext cx="8412480" cy="374904"/>
          </a:xfrm>
          <a:prstGeom prst="rect">
            <a:avLst/>
          </a:prstGeom>
          <a:solidFill>
            <a:srgbClr val="E7ECF0"/>
          </a:solidFill>
          <a:ln w="12700">
            <a:solidFill>
              <a:srgbClr val="E7ECF0"/>
            </a:solidFill>
            <a:prstDash val="solid"/>
          </a:ln>
        </p:spPr>
      </p:sp>
      <p:sp>
        <p:nvSpPr>
          <p:cNvPr id="15" name="Shape 13"/>
          <p:cNvSpPr/>
          <p:nvPr/>
        </p:nvSpPr>
        <p:spPr>
          <a:xfrm>
            <a:off x="365760" y="2029968"/>
            <a:ext cx="91440" cy="374904"/>
          </a:xfrm>
          <a:prstGeom prst="rect">
            <a:avLst/>
          </a:prstGeom>
          <a:solidFill>
            <a:srgbClr val="06185F"/>
          </a:solidFill>
          <a:ln w="12700">
            <a:solidFill>
              <a:srgbClr val="06185F"/>
            </a:solidFill>
            <a:prstDash val="solid"/>
          </a:ln>
        </p:spPr>
      </p:sp>
      <p:sp>
        <p:nvSpPr>
          <p:cNvPr id="16" name="Text 14"/>
          <p:cNvSpPr/>
          <p:nvPr/>
        </p:nvSpPr>
        <p:spPr>
          <a:xfrm>
            <a:off x="502920" y="205740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17" name="Text 15"/>
          <p:cNvSpPr/>
          <p:nvPr/>
        </p:nvSpPr>
        <p:spPr>
          <a:xfrm>
            <a:off x="3108960" y="205740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$250K–$600K / year</a:t>
            </a:r>
            <a:endParaRPr lang="en-US" sz="950" dirty="0"/>
          </a:p>
        </p:txBody>
      </p:sp>
      <p:sp>
        <p:nvSpPr>
          <p:cNvPr id="18" name="Text 16"/>
          <p:cNvSpPr/>
          <p:nvPr/>
        </p:nvSpPr>
        <p:spPr>
          <a:xfrm>
            <a:off x="5029200" y="205740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850" dirty="0"/>
          </a:p>
        </p:txBody>
      </p:sp>
      <p:sp>
        <p:nvSpPr>
          <p:cNvPr id="19" name="Shape 17"/>
          <p:cNvSpPr/>
          <p:nvPr/>
        </p:nvSpPr>
        <p:spPr>
          <a:xfrm>
            <a:off x="365760" y="2432304"/>
            <a:ext cx="8412480" cy="374904"/>
          </a:xfrm>
          <a:prstGeom prst="rect">
            <a:avLst/>
          </a:prstGeom>
          <a:solidFill>
            <a:srgbClr val="FFFFFF"/>
          </a:solidFill>
          <a:ln w="12700">
            <a:solidFill>
              <a:srgbClr val="E7ECF0"/>
            </a:solidFill>
            <a:prstDash val="solid"/>
          </a:ln>
        </p:spPr>
      </p:sp>
      <p:sp>
        <p:nvSpPr>
          <p:cNvPr id="20" name="Shape 18"/>
          <p:cNvSpPr/>
          <p:nvPr/>
        </p:nvSpPr>
        <p:spPr>
          <a:xfrm>
            <a:off x="365760" y="2432304"/>
            <a:ext cx="91440" cy="374904"/>
          </a:xfrm>
          <a:prstGeom prst="rect">
            <a:avLst/>
          </a:prstGeom>
          <a:solidFill>
            <a:srgbClr val="073FA8"/>
          </a:solidFill>
          <a:ln w="12700">
            <a:solidFill>
              <a:srgbClr val="073FA8"/>
            </a:solidFill>
            <a:prstDash val="solid"/>
          </a:ln>
        </p:spPr>
      </p:sp>
      <p:sp>
        <p:nvSpPr>
          <p:cNvPr id="21" name="Text 19"/>
          <p:cNvSpPr/>
          <p:nvPr/>
        </p:nvSpPr>
        <p:spPr>
          <a:xfrm>
            <a:off x="502920" y="2459736"/>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22" name="Text 20"/>
          <p:cNvSpPr/>
          <p:nvPr/>
        </p:nvSpPr>
        <p:spPr>
          <a:xfrm>
            <a:off x="3108960" y="2459736"/>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$1–2M / year</a:t>
            </a:r>
            <a:endParaRPr lang="en-US" sz="950" dirty="0"/>
          </a:p>
        </p:txBody>
      </p:sp>
      <p:sp>
        <p:nvSpPr>
          <p:cNvPr id="23" name="Text 21"/>
          <p:cNvSpPr/>
          <p:nvPr/>
        </p:nvSpPr>
        <p:spPr>
          <a:xfrm>
            <a:off x="5029200" y="2459736"/>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850" dirty="0"/>
          </a:p>
        </p:txBody>
      </p:sp>
      <p:sp>
        <p:nvSpPr>
          <p:cNvPr id="24" name="Shape 22"/>
          <p:cNvSpPr/>
          <p:nvPr/>
        </p:nvSpPr>
        <p:spPr>
          <a:xfrm>
            <a:off x="365760" y="2834640"/>
            <a:ext cx="8412480" cy="374904"/>
          </a:xfrm>
          <a:prstGeom prst="rect">
            <a:avLst/>
          </a:prstGeom>
          <a:solidFill>
            <a:srgbClr val="E7ECF0"/>
          </a:solidFill>
          <a:ln w="12700">
            <a:solidFill>
              <a:srgbClr val="E7ECF0"/>
            </a:solidFill>
            <a:prstDash val="solid"/>
          </a:ln>
        </p:spPr>
      </p:sp>
      <p:sp>
        <p:nvSpPr>
          <p:cNvPr id="25" name="Shape 23"/>
          <p:cNvSpPr/>
          <p:nvPr/>
        </p:nvSpPr>
        <p:spPr>
          <a:xfrm>
            <a:off x="365760" y="2834640"/>
            <a:ext cx="91440" cy="374904"/>
          </a:xfrm>
          <a:prstGeom prst="rect">
            <a:avLst/>
          </a:prstGeom>
          <a:solidFill>
            <a:srgbClr val="575A5D"/>
          </a:solidFill>
          <a:ln w="12700">
            <a:solidFill>
              <a:srgbClr val="575A5D"/>
            </a:solidFill>
            <a:prstDash val="solid"/>
          </a:ln>
        </p:spPr>
      </p:sp>
      <p:sp>
        <p:nvSpPr>
          <p:cNvPr id="26" name="Text 24"/>
          <p:cNvSpPr/>
          <p:nvPr/>
        </p:nvSpPr>
        <p:spPr>
          <a:xfrm>
            <a:off x="502920" y="2862072"/>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a:t>
            </a:r>
            <a:endParaRPr lang="en-US" sz="950" dirty="0"/>
          </a:p>
        </p:txBody>
      </p:sp>
      <p:sp>
        <p:nvSpPr>
          <p:cNvPr id="27" name="Text 25"/>
          <p:cNvSpPr/>
          <p:nvPr/>
        </p:nvSpPr>
        <p:spPr>
          <a:xfrm>
            <a:off x="3108960" y="2862072"/>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$100–$300K / year</a:t>
            </a:r>
            <a:endParaRPr lang="en-US" sz="950" dirty="0"/>
          </a:p>
        </p:txBody>
      </p:sp>
      <p:sp>
        <p:nvSpPr>
          <p:cNvPr id="28" name="Text 26"/>
          <p:cNvSpPr/>
          <p:nvPr/>
        </p:nvSpPr>
        <p:spPr>
          <a:xfrm>
            <a:off x="5029200" y="2862072"/>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850" dirty="0"/>
          </a:p>
        </p:txBody>
      </p:sp>
      <p:sp>
        <p:nvSpPr>
          <p:cNvPr id="29" name="Shape 27"/>
          <p:cNvSpPr/>
          <p:nvPr/>
        </p:nvSpPr>
        <p:spPr>
          <a:xfrm>
            <a:off x="365760" y="3236976"/>
            <a:ext cx="8412480" cy="374904"/>
          </a:xfrm>
          <a:prstGeom prst="rect">
            <a:avLst/>
          </a:prstGeom>
          <a:solidFill>
            <a:srgbClr val="FFFFFF"/>
          </a:solidFill>
          <a:ln w="12700">
            <a:solidFill>
              <a:srgbClr val="E7ECF0"/>
            </a:solidFill>
            <a:prstDash val="solid"/>
          </a:ln>
        </p:spPr>
      </p:sp>
      <p:sp>
        <p:nvSpPr>
          <p:cNvPr id="30" name="Shape 28"/>
          <p:cNvSpPr/>
          <p:nvPr/>
        </p:nvSpPr>
        <p:spPr>
          <a:xfrm>
            <a:off x="365760" y="3236976"/>
            <a:ext cx="91440" cy="374904"/>
          </a:xfrm>
          <a:prstGeom prst="rect">
            <a:avLst/>
          </a:prstGeom>
          <a:solidFill>
            <a:srgbClr val="0B68D4"/>
          </a:solidFill>
          <a:ln w="12700">
            <a:solidFill>
              <a:srgbClr val="0B68D4"/>
            </a:solidFill>
            <a:prstDash val="solid"/>
          </a:ln>
        </p:spPr>
      </p:sp>
      <p:sp>
        <p:nvSpPr>
          <p:cNvPr id="31" name="Text 29"/>
          <p:cNvSpPr/>
          <p:nvPr/>
        </p:nvSpPr>
        <p:spPr>
          <a:xfrm>
            <a:off x="502920" y="3264408"/>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a:t>
            </a:r>
            <a:endParaRPr lang="en-US" sz="950" dirty="0"/>
          </a:p>
        </p:txBody>
      </p:sp>
      <p:sp>
        <p:nvSpPr>
          <p:cNvPr id="32" name="Text 30"/>
          <p:cNvSpPr/>
          <p:nvPr/>
        </p:nvSpPr>
        <p:spPr>
          <a:xfrm>
            <a:off x="3108960" y="3264408"/>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$500K–$1.5M / year</a:t>
            </a:r>
            <a:endParaRPr lang="en-US" sz="950" dirty="0"/>
          </a:p>
        </p:txBody>
      </p:sp>
      <p:sp>
        <p:nvSpPr>
          <p:cNvPr id="33" name="Text 31"/>
          <p:cNvSpPr/>
          <p:nvPr/>
        </p:nvSpPr>
        <p:spPr>
          <a:xfrm>
            <a:off x="5029200" y="3264408"/>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850" dirty="0"/>
          </a:p>
        </p:txBody>
      </p:sp>
      <p:sp>
        <p:nvSpPr>
          <p:cNvPr id="34" name="Shape 32"/>
          <p:cNvSpPr/>
          <p:nvPr/>
        </p:nvSpPr>
        <p:spPr>
          <a:xfrm>
            <a:off x="365760" y="3639312"/>
            <a:ext cx="8412480" cy="374904"/>
          </a:xfrm>
          <a:prstGeom prst="rect">
            <a:avLst/>
          </a:prstGeom>
          <a:solidFill>
            <a:srgbClr val="E7ECF0"/>
          </a:solidFill>
          <a:ln w="12700">
            <a:solidFill>
              <a:srgbClr val="E7ECF0"/>
            </a:solidFill>
            <a:prstDash val="solid"/>
          </a:ln>
        </p:spPr>
      </p:sp>
      <p:sp>
        <p:nvSpPr>
          <p:cNvPr id="35" name="Shape 33"/>
          <p:cNvSpPr/>
          <p:nvPr/>
        </p:nvSpPr>
        <p:spPr>
          <a:xfrm>
            <a:off x="365760" y="3639312"/>
            <a:ext cx="91440" cy="374904"/>
          </a:xfrm>
          <a:prstGeom prst="rect">
            <a:avLst/>
          </a:prstGeom>
          <a:solidFill>
            <a:srgbClr val="0A52C4"/>
          </a:solidFill>
          <a:ln w="12700">
            <a:solidFill>
              <a:srgbClr val="0A52C4"/>
            </a:solidFill>
            <a:prstDash val="solid"/>
          </a:ln>
        </p:spPr>
      </p:sp>
      <p:sp>
        <p:nvSpPr>
          <p:cNvPr id="36" name="Text 34"/>
          <p:cNvSpPr/>
          <p:nvPr/>
        </p:nvSpPr>
        <p:spPr>
          <a:xfrm>
            <a:off x="502920" y="366674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Personal-as-Commercial Detection</a:t>
            </a:r>
            <a:endParaRPr lang="en-US" sz="950" dirty="0"/>
          </a:p>
        </p:txBody>
      </p:sp>
      <p:sp>
        <p:nvSpPr>
          <p:cNvPr id="37" name="Text 35"/>
          <p:cNvSpPr/>
          <p:nvPr/>
        </p:nvSpPr>
        <p:spPr>
          <a:xfrm>
            <a:off x="3108960" y="366674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$400K–$1.2M / year</a:t>
            </a:r>
            <a:endParaRPr lang="en-US" sz="950" dirty="0"/>
          </a:p>
        </p:txBody>
      </p:sp>
      <p:sp>
        <p:nvSpPr>
          <p:cNvPr id="38" name="Text 36"/>
          <p:cNvSpPr/>
          <p:nvPr/>
        </p:nvSpPr>
        <p:spPr>
          <a:xfrm>
            <a:off x="5029200" y="366674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SMB conversion revenue from business checking, treasury, and SBA loans on identified commercial-use accounts</a:t>
            </a:r>
            <a:endParaRPr lang="en-US" sz="850" dirty="0"/>
          </a:p>
        </p:txBody>
      </p:sp>
      <p:sp>
        <p:nvSpPr>
          <p:cNvPr id="39" name="Shape 37"/>
          <p:cNvSpPr/>
          <p:nvPr/>
        </p:nvSpPr>
        <p:spPr>
          <a:xfrm>
            <a:off x="365760" y="4041648"/>
            <a:ext cx="8412480" cy="374904"/>
          </a:xfrm>
          <a:prstGeom prst="rect">
            <a:avLst/>
          </a:prstGeom>
          <a:solidFill>
            <a:srgbClr val="FFFFFF"/>
          </a:solidFill>
          <a:ln w="12700">
            <a:solidFill>
              <a:srgbClr val="E7ECF0"/>
            </a:solidFill>
            <a:prstDash val="solid"/>
          </a:ln>
        </p:spPr>
      </p:sp>
      <p:sp>
        <p:nvSpPr>
          <p:cNvPr id="40" name="Shape 38"/>
          <p:cNvSpPr/>
          <p:nvPr/>
        </p:nvSpPr>
        <p:spPr>
          <a:xfrm>
            <a:off x="365760" y="4041648"/>
            <a:ext cx="91440" cy="374904"/>
          </a:xfrm>
          <a:prstGeom prst="rect">
            <a:avLst/>
          </a:prstGeom>
          <a:solidFill>
            <a:srgbClr val="0F3D8A"/>
          </a:solidFill>
          <a:ln w="12700">
            <a:solidFill>
              <a:srgbClr val="0F3D8A"/>
            </a:solidFill>
            <a:prstDash val="solid"/>
          </a:ln>
        </p:spPr>
      </p:sp>
      <p:sp>
        <p:nvSpPr>
          <p:cNvPr id="41" name="Text 39"/>
          <p:cNvSpPr/>
          <p:nvPr/>
        </p:nvSpPr>
        <p:spPr>
          <a:xfrm>
            <a:off x="502920" y="406908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42" name="Text 40"/>
          <p:cNvSpPr/>
          <p:nvPr/>
        </p:nvSpPr>
        <p:spPr>
          <a:xfrm>
            <a:off x="3108960" y="406908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$500K–$2M+ / year</a:t>
            </a:r>
            <a:endParaRPr lang="en-US" sz="950" dirty="0"/>
          </a:p>
        </p:txBody>
      </p:sp>
      <p:sp>
        <p:nvSpPr>
          <p:cNvPr id="43" name="Text 41"/>
          <p:cNvSpPr/>
          <p:nvPr/>
        </p:nvSpPr>
        <p:spPr>
          <a:xfrm>
            <a:off x="5029200" y="406908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AUM retained at generational transition × avg. household deposit balance; one retained high-net-worth household can exceed full-year subscription cost</a:t>
            </a:r>
            <a:endParaRPr lang="en-US" sz="850" dirty="0"/>
          </a:p>
        </p:txBody>
      </p:sp>
      <p:sp>
        <p:nvSpPr>
          <p:cNvPr id="44" name="Shape 42"/>
          <p:cNvSpPr/>
          <p:nvPr/>
        </p:nvSpPr>
        <p:spPr>
          <a:xfrm>
            <a:off x="365760" y="4443984"/>
            <a:ext cx="8412480" cy="420624"/>
          </a:xfrm>
          <a:prstGeom prst="rect">
            <a:avLst/>
          </a:prstGeom>
          <a:solidFill>
            <a:srgbClr val="06185F"/>
          </a:solidFill>
          <a:ln w="12700">
            <a:solidFill>
              <a:srgbClr val="06185F"/>
            </a:solidFill>
            <a:prstDash val="solid"/>
          </a:ln>
        </p:spPr>
      </p:sp>
      <p:sp>
        <p:nvSpPr>
          <p:cNvPr id="45" name="Text 43"/>
          <p:cNvSpPr/>
          <p:nvPr/>
        </p:nvSpPr>
        <p:spPr>
          <a:xfrm>
            <a:off x="502920" y="4471416"/>
            <a:ext cx="2514600" cy="36576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COMBINED POTENTIAL VALUE PER FI</a:t>
            </a:r>
            <a:endParaRPr lang="en-US" sz="1000" dirty="0"/>
          </a:p>
        </p:txBody>
      </p:sp>
      <p:sp>
        <p:nvSpPr>
          <p:cNvPr id="46" name="Text 44"/>
          <p:cNvSpPr/>
          <p:nvPr/>
        </p:nvSpPr>
        <p:spPr>
          <a:xfrm>
            <a:off x="3108960" y="4471416"/>
            <a:ext cx="1783080" cy="365760"/>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$4–10M+ / year</a:t>
            </a:r>
            <a:endParaRPr lang="en-US" sz="1100" dirty="0"/>
          </a:p>
        </p:txBody>
      </p:sp>
      <p:sp>
        <p:nvSpPr>
          <p:cNvPr id="47" name="Text 45"/>
          <p:cNvSpPr/>
          <p:nvPr/>
        </p:nvSpPr>
        <p:spPr>
          <a:xfrm>
            <a:off x="5029200" y="4471416"/>
            <a:ext cx="3657600" cy="36576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7 Phase 1–2 applications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Full Platform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298448"/>
            <a:ext cx="8732520" cy="411480"/>
          </a:xfrm>
          <a:prstGeom prst="rect">
            <a:avLst/>
          </a:prstGeom>
          <a:solidFill>
            <a:srgbClr val="FFFFFF"/>
          </a:solidFill>
          <a:ln w="12700">
            <a:solidFill>
              <a:srgbClr val="E7ECF0"/>
            </a:solidFill>
            <a:prstDash val="solid"/>
          </a:ln>
        </p:spPr>
      </p:sp>
      <p:sp>
        <p:nvSpPr>
          <p:cNvPr id="11" name="Shape 9"/>
          <p:cNvSpPr/>
          <p:nvPr/>
        </p:nvSpPr>
        <p:spPr>
          <a:xfrm>
            <a:off x="320040" y="1298448"/>
            <a:ext cx="73152" cy="411480"/>
          </a:xfrm>
          <a:prstGeom prst="rect">
            <a:avLst/>
          </a:prstGeom>
          <a:solidFill>
            <a:srgbClr val="085CE5"/>
          </a:solidFill>
          <a:ln w="12700">
            <a:solidFill>
              <a:srgbClr val="085CE5"/>
            </a:solidFill>
            <a:prstDash val="solid"/>
          </a:ln>
        </p:spPr>
      </p:sp>
      <p:sp>
        <p:nvSpPr>
          <p:cNvPr id="12" name="Text 10"/>
          <p:cNvSpPr/>
          <p:nvPr/>
        </p:nvSpPr>
        <p:spPr>
          <a:xfrm>
            <a:off x="475488" y="132588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3" name="Text 11"/>
          <p:cNvSpPr/>
          <p:nvPr/>
        </p:nvSpPr>
        <p:spPr>
          <a:xfrm>
            <a:off x="475488" y="151790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churn scores + proactive retention triggers per member</a:t>
            </a:r>
            <a:endParaRPr lang="en-US" sz="750" dirty="0"/>
          </a:p>
        </p:txBody>
      </p:sp>
      <p:sp>
        <p:nvSpPr>
          <p:cNvPr id="14" name="Text 12"/>
          <p:cNvSpPr/>
          <p:nvPr/>
        </p:nvSpPr>
        <p:spPr>
          <a:xfrm>
            <a:off x="3520440" y="133502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750" dirty="0"/>
          </a:p>
        </p:txBody>
      </p:sp>
      <p:sp>
        <p:nvSpPr>
          <p:cNvPr id="15" name="Text 13"/>
          <p:cNvSpPr/>
          <p:nvPr/>
        </p:nvSpPr>
        <p:spPr>
          <a:xfrm>
            <a:off x="6355080" y="132588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$800 – $2,500</a:t>
            </a:r>
            <a:endParaRPr lang="en-US" sz="1050" dirty="0"/>
          </a:p>
        </p:txBody>
      </p:sp>
      <p:sp>
        <p:nvSpPr>
          <p:cNvPr id="16" name="Text 14"/>
          <p:cNvSpPr/>
          <p:nvPr/>
        </p:nvSpPr>
        <p:spPr>
          <a:xfrm>
            <a:off x="6355080" y="157276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17" name="Shape 15"/>
          <p:cNvSpPr/>
          <p:nvPr/>
        </p:nvSpPr>
        <p:spPr>
          <a:xfrm>
            <a:off x="7845552" y="1408176"/>
            <a:ext cx="1170432" cy="192024"/>
          </a:xfrm>
          <a:prstGeom prst="roundRect">
            <a:avLst>
              <a:gd name="adj" fmla="val 19048"/>
            </a:avLst>
          </a:prstGeom>
          <a:solidFill>
            <a:srgbClr val="E8F7F7"/>
          </a:solidFill>
          <a:ln w="12700">
            <a:solidFill>
              <a:srgbClr val="085CE5"/>
            </a:solidFill>
            <a:prstDash val="solid"/>
          </a:ln>
        </p:spPr>
      </p:sp>
      <p:sp>
        <p:nvSpPr>
          <p:cNvPr id="18" name="Text 16"/>
          <p:cNvSpPr/>
          <p:nvPr/>
        </p:nvSpPr>
        <p:spPr>
          <a:xfrm>
            <a:off x="7845552" y="140817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19" name="Shape 17"/>
          <p:cNvSpPr/>
          <p:nvPr/>
        </p:nvSpPr>
        <p:spPr>
          <a:xfrm>
            <a:off x="320040" y="1737360"/>
            <a:ext cx="8732520" cy="411480"/>
          </a:xfrm>
          <a:prstGeom prst="rect">
            <a:avLst/>
          </a:prstGeom>
          <a:solidFill>
            <a:srgbClr val="E7ECF0"/>
          </a:solidFill>
          <a:ln w="12700">
            <a:solidFill>
              <a:srgbClr val="E7ECF0"/>
            </a:solidFill>
            <a:prstDash val="solid"/>
          </a:ln>
        </p:spPr>
      </p:sp>
      <p:sp>
        <p:nvSpPr>
          <p:cNvPr id="20" name="Shape 18"/>
          <p:cNvSpPr/>
          <p:nvPr/>
        </p:nvSpPr>
        <p:spPr>
          <a:xfrm>
            <a:off x="320040" y="1737360"/>
            <a:ext cx="73152" cy="411480"/>
          </a:xfrm>
          <a:prstGeom prst="rect">
            <a:avLst/>
          </a:prstGeom>
          <a:solidFill>
            <a:srgbClr val="073FA8"/>
          </a:solidFill>
          <a:ln w="12700">
            <a:solidFill>
              <a:srgbClr val="073FA8"/>
            </a:solidFill>
            <a:prstDash val="solid"/>
          </a:ln>
        </p:spPr>
      </p:sp>
      <p:sp>
        <p:nvSpPr>
          <p:cNvPr id="21" name="Text 19"/>
          <p:cNvSpPr/>
          <p:nvPr/>
        </p:nvSpPr>
        <p:spPr>
          <a:xfrm>
            <a:off x="475488" y="176479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Text 20"/>
          <p:cNvSpPr/>
          <p:nvPr/>
        </p:nvSpPr>
        <p:spPr>
          <a:xfrm>
            <a:off x="475488" y="195681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NLP + compliance risk scoring on every Zelle transaction</a:t>
            </a:r>
            <a:endParaRPr lang="en-US" sz="750" dirty="0"/>
          </a:p>
        </p:txBody>
      </p:sp>
      <p:sp>
        <p:nvSpPr>
          <p:cNvPr id="23" name="Text 21"/>
          <p:cNvSpPr/>
          <p:nvPr/>
        </p:nvSpPr>
        <p:spPr>
          <a:xfrm>
            <a:off x="3520440" y="177393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750" dirty="0"/>
          </a:p>
        </p:txBody>
      </p:sp>
      <p:sp>
        <p:nvSpPr>
          <p:cNvPr id="24" name="Text 22"/>
          <p:cNvSpPr/>
          <p:nvPr/>
        </p:nvSpPr>
        <p:spPr>
          <a:xfrm>
            <a:off x="6355080" y="176479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25" name="Text 23"/>
          <p:cNvSpPr/>
          <p:nvPr/>
        </p:nvSpPr>
        <p:spPr>
          <a:xfrm>
            <a:off x="6355080" y="201168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26" name="Shape 24"/>
          <p:cNvSpPr/>
          <p:nvPr/>
        </p:nvSpPr>
        <p:spPr>
          <a:xfrm>
            <a:off x="7845552" y="1847088"/>
            <a:ext cx="1170432" cy="192024"/>
          </a:xfrm>
          <a:prstGeom prst="roundRect">
            <a:avLst>
              <a:gd name="adj" fmla="val 19048"/>
            </a:avLst>
          </a:prstGeom>
          <a:solidFill>
            <a:srgbClr val="FFFFFF"/>
          </a:solidFill>
          <a:ln w="12700">
            <a:solidFill>
              <a:srgbClr val="085CE5"/>
            </a:solidFill>
            <a:prstDash val="solid"/>
          </a:ln>
        </p:spPr>
      </p:sp>
      <p:sp>
        <p:nvSpPr>
          <p:cNvPr id="27" name="Text 25"/>
          <p:cNvSpPr/>
          <p:nvPr/>
        </p:nvSpPr>
        <p:spPr>
          <a:xfrm>
            <a:off x="7845552" y="184708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28" name="Shape 26"/>
          <p:cNvSpPr/>
          <p:nvPr/>
        </p:nvSpPr>
        <p:spPr>
          <a:xfrm>
            <a:off x="320040" y="2176272"/>
            <a:ext cx="8732520" cy="411480"/>
          </a:xfrm>
          <a:prstGeom prst="rect">
            <a:avLst/>
          </a:prstGeom>
          <a:solidFill>
            <a:srgbClr val="FFFFFF"/>
          </a:solidFill>
          <a:ln w="12700">
            <a:solidFill>
              <a:srgbClr val="E7ECF0"/>
            </a:solidFill>
            <a:prstDash val="solid"/>
          </a:ln>
        </p:spPr>
      </p:sp>
      <p:sp>
        <p:nvSpPr>
          <p:cNvPr id="29" name="Shape 27"/>
          <p:cNvSpPr/>
          <p:nvPr/>
        </p:nvSpPr>
        <p:spPr>
          <a:xfrm>
            <a:off x="320040" y="2176272"/>
            <a:ext cx="73152" cy="411480"/>
          </a:xfrm>
          <a:prstGeom prst="rect">
            <a:avLst/>
          </a:prstGeom>
          <a:solidFill>
            <a:srgbClr val="0D2E7A"/>
          </a:solidFill>
          <a:ln w="12700">
            <a:solidFill>
              <a:srgbClr val="0D2E7A"/>
            </a:solidFill>
            <a:prstDash val="solid"/>
          </a:ln>
        </p:spPr>
      </p:sp>
      <p:sp>
        <p:nvSpPr>
          <p:cNvPr id="30" name="Text 28"/>
          <p:cNvSpPr/>
          <p:nvPr/>
        </p:nvSpPr>
        <p:spPr>
          <a:xfrm>
            <a:off x="475488" y="220370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31" name="Text 29"/>
          <p:cNvSpPr/>
          <p:nvPr/>
        </p:nvSpPr>
        <p:spPr>
          <a:xfrm>
            <a:off x="475488" y="239572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750" dirty="0"/>
          </a:p>
        </p:txBody>
      </p:sp>
      <p:sp>
        <p:nvSpPr>
          <p:cNvPr id="32" name="Text 30"/>
          <p:cNvSpPr/>
          <p:nvPr/>
        </p:nvSpPr>
        <p:spPr>
          <a:xfrm>
            <a:off x="3520440" y="221284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750" dirty="0"/>
          </a:p>
        </p:txBody>
      </p:sp>
      <p:sp>
        <p:nvSpPr>
          <p:cNvPr id="33" name="Text 31"/>
          <p:cNvSpPr/>
          <p:nvPr/>
        </p:nvSpPr>
        <p:spPr>
          <a:xfrm>
            <a:off x="6355080" y="220370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$600 – $2,000</a:t>
            </a:r>
            <a:endParaRPr lang="en-US" sz="1050" dirty="0"/>
          </a:p>
        </p:txBody>
      </p:sp>
      <p:sp>
        <p:nvSpPr>
          <p:cNvPr id="34" name="Text 32"/>
          <p:cNvSpPr/>
          <p:nvPr/>
        </p:nvSpPr>
        <p:spPr>
          <a:xfrm>
            <a:off x="6355080" y="245059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35" name="Shape 33"/>
          <p:cNvSpPr/>
          <p:nvPr/>
        </p:nvSpPr>
        <p:spPr>
          <a:xfrm>
            <a:off x="7845552" y="2286000"/>
            <a:ext cx="1170432" cy="192024"/>
          </a:xfrm>
          <a:prstGeom prst="roundRect">
            <a:avLst>
              <a:gd name="adj" fmla="val 19048"/>
            </a:avLst>
          </a:prstGeom>
          <a:solidFill>
            <a:srgbClr val="E8F7F7"/>
          </a:solidFill>
          <a:ln w="12700">
            <a:solidFill>
              <a:srgbClr val="085CE5"/>
            </a:solidFill>
            <a:prstDash val="solid"/>
          </a:ln>
        </p:spPr>
      </p:sp>
      <p:sp>
        <p:nvSpPr>
          <p:cNvPr id="36" name="Text 34"/>
          <p:cNvSpPr/>
          <p:nvPr/>
        </p:nvSpPr>
        <p:spPr>
          <a:xfrm>
            <a:off x="7845552" y="228600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37" name="Shape 35"/>
          <p:cNvSpPr/>
          <p:nvPr/>
        </p:nvSpPr>
        <p:spPr>
          <a:xfrm>
            <a:off x="320040" y="2615184"/>
            <a:ext cx="8732520" cy="411480"/>
          </a:xfrm>
          <a:prstGeom prst="rect">
            <a:avLst/>
          </a:prstGeom>
          <a:solidFill>
            <a:srgbClr val="E7ECF0"/>
          </a:solidFill>
          <a:ln w="12700">
            <a:solidFill>
              <a:srgbClr val="E7ECF0"/>
            </a:solidFill>
            <a:prstDash val="solid"/>
          </a:ln>
        </p:spPr>
      </p:sp>
      <p:sp>
        <p:nvSpPr>
          <p:cNvPr id="38" name="Shape 36"/>
          <p:cNvSpPr/>
          <p:nvPr/>
        </p:nvSpPr>
        <p:spPr>
          <a:xfrm>
            <a:off x="320040" y="2615184"/>
            <a:ext cx="73152" cy="411480"/>
          </a:xfrm>
          <a:prstGeom prst="rect">
            <a:avLst/>
          </a:prstGeom>
          <a:solidFill>
            <a:srgbClr val="0B68D4"/>
          </a:solidFill>
          <a:ln w="12700">
            <a:solidFill>
              <a:srgbClr val="0B68D4"/>
            </a:solidFill>
            <a:prstDash val="solid"/>
          </a:ln>
        </p:spPr>
      </p:sp>
      <p:sp>
        <p:nvSpPr>
          <p:cNvPr id="39" name="Text 37"/>
          <p:cNvSpPr/>
          <p:nvPr/>
        </p:nvSpPr>
        <p:spPr>
          <a:xfrm>
            <a:off x="475488" y="2642616"/>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 (CallRpt AI)</a:t>
            </a:r>
            <a:endParaRPr lang="en-US" sz="950" dirty="0"/>
          </a:p>
        </p:txBody>
      </p:sp>
      <p:sp>
        <p:nvSpPr>
          <p:cNvPr id="40" name="Text 38"/>
          <p:cNvSpPr/>
          <p:nvPr/>
        </p:nvSpPr>
        <p:spPr>
          <a:xfrm>
            <a:off x="475488" y="2834640"/>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NCUA 5300 intelligence — Pulse, Ask, Compare + AI briefs</a:t>
            </a:r>
            <a:endParaRPr lang="en-US" sz="750" dirty="0"/>
          </a:p>
        </p:txBody>
      </p:sp>
      <p:sp>
        <p:nvSpPr>
          <p:cNvPr id="41" name="Text 39"/>
          <p:cNvSpPr/>
          <p:nvPr/>
        </p:nvSpPr>
        <p:spPr>
          <a:xfrm>
            <a:off x="3520440" y="2651760"/>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750" dirty="0"/>
          </a:p>
        </p:txBody>
      </p:sp>
      <p:sp>
        <p:nvSpPr>
          <p:cNvPr id="42" name="Text 40"/>
          <p:cNvSpPr/>
          <p:nvPr/>
        </p:nvSpPr>
        <p:spPr>
          <a:xfrm>
            <a:off x="6355080" y="2642616"/>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$300 – $1,000</a:t>
            </a:r>
            <a:endParaRPr lang="en-US" sz="1050" dirty="0"/>
          </a:p>
        </p:txBody>
      </p:sp>
      <p:sp>
        <p:nvSpPr>
          <p:cNvPr id="43" name="Text 41"/>
          <p:cNvSpPr/>
          <p:nvPr/>
        </p:nvSpPr>
        <p:spPr>
          <a:xfrm>
            <a:off x="6355080" y="2889504"/>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44" name="Shape 42"/>
          <p:cNvSpPr/>
          <p:nvPr/>
        </p:nvSpPr>
        <p:spPr>
          <a:xfrm>
            <a:off x="7845552" y="2724912"/>
            <a:ext cx="1170432" cy="192024"/>
          </a:xfrm>
          <a:prstGeom prst="roundRect">
            <a:avLst>
              <a:gd name="adj" fmla="val 19048"/>
            </a:avLst>
          </a:prstGeom>
          <a:solidFill>
            <a:srgbClr val="FFFFFF"/>
          </a:solidFill>
          <a:ln w="12700">
            <a:solidFill>
              <a:srgbClr val="085CE5"/>
            </a:solidFill>
            <a:prstDash val="solid"/>
          </a:ln>
        </p:spPr>
      </p:sp>
      <p:sp>
        <p:nvSpPr>
          <p:cNvPr id="45" name="Text 43"/>
          <p:cNvSpPr/>
          <p:nvPr/>
        </p:nvSpPr>
        <p:spPr>
          <a:xfrm>
            <a:off x="7845552" y="2724912"/>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all tiers</a:t>
            </a:r>
            <a:endParaRPr lang="en-US" sz="650" dirty="0"/>
          </a:p>
        </p:txBody>
      </p:sp>
      <p:sp>
        <p:nvSpPr>
          <p:cNvPr id="46" name="Shape 44"/>
          <p:cNvSpPr/>
          <p:nvPr/>
        </p:nvSpPr>
        <p:spPr>
          <a:xfrm>
            <a:off x="320040" y="3054096"/>
            <a:ext cx="8732520" cy="411480"/>
          </a:xfrm>
          <a:prstGeom prst="rect">
            <a:avLst/>
          </a:prstGeom>
          <a:solidFill>
            <a:srgbClr val="FFFFFF"/>
          </a:solidFill>
          <a:ln w="12700">
            <a:solidFill>
              <a:srgbClr val="E7ECF0"/>
            </a:solidFill>
            <a:prstDash val="solid"/>
          </a:ln>
        </p:spPr>
      </p:sp>
      <p:sp>
        <p:nvSpPr>
          <p:cNvPr id="47" name="Shape 45"/>
          <p:cNvSpPr/>
          <p:nvPr/>
        </p:nvSpPr>
        <p:spPr>
          <a:xfrm>
            <a:off x="320040" y="3054096"/>
            <a:ext cx="73152" cy="411480"/>
          </a:xfrm>
          <a:prstGeom prst="rect">
            <a:avLst/>
          </a:prstGeom>
          <a:solidFill>
            <a:srgbClr val="0B68D4"/>
          </a:solidFill>
          <a:ln w="12700">
            <a:solidFill>
              <a:srgbClr val="0B68D4"/>
            </a:solidFill>
            <a:prstDash val="solid"/>
          </a:ln>
        </p:spPr>
      </p:sp>
      <p:sp>
        <p:nvSpPr>
          <p:cNvPr id="48" name="Text 46"/>
          <p:cNvSpPr/>
          <p:nvPr/>
        </p:nvSpPr>
        <p:spPr>
          <a:xfrm>
            <a:off x="475488" y="3081528"/>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 Model</a:t>
            </a:r>
            <a:endParaRPr lang="en-US" sz="950" dirty="0"/>
          </a:p>
        </p:txBody>
      </p:sp>
      <p:sp>
        <p:nvSpPr>
          <p:cNvPr id="49" name="Text 47"/>
          <p:cNvSpPr/>
          <p:nvPr/>
        </p:nvSpPr>
        <p:spPr>
          <a:xfrm>
            <a:off x="475488" y="3273552"/>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750" dirty="0"/>
          </a:p>
        </p:txBody>
      </p:sp>
      <p:sp>
        <p:nvSpPr>
          <p:cNvPr id="50" name="Text 48"/>
          <p:cNvSpPr/>
          <p:nvPr/>
        </p:nvSpPr>
        <p:spPr>
          <a:xfrm>
            <a:off x="3520440" y="3090672"/>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750" dirty="0"/>
          </a:p>
        </p:txBody>
      </p:sp>
      <p:sp>
        <p:nvSpPr>
          <p:cNvPr id="51" name="Text 49"/>
          <p:cNvSpPr/>
          <p:nvPr/>
        </p:nvSpPr>
        <p:spPr>
          <a:xfrm>
            <a:off x="6355080" y="3081528"/>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52" name="Text 50"/>
          <p:cNvSpPr/>
          <p:nvPr/>
        </p:nvSpPr>
        <p:spPr>
          <a:xfrm>
            <a:off x="6355080" y="3328416"/>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53" name="Shape 51"/>
          <p:cNvSpPr/>
          <p:nvPr/>
        </p:nvSpPr>
        <p:spPr>
          <a:xfrm>
            <a:off x="7845552" y="3163824"/>
            <a:ext cx="1170432" cy="192024"/>
          </a:xfrm>
          <a:prstGeom prst="roundRect">
            <a:avLst>
              <a:gd name="adj" fmla="val 19048"/>
            </a:avLst>
          </a:prstGeom>
          <a:solidFill>
            <a:srgbClr val="E8F7F7"/>
          </a:solidFill>
          <a:ln w="12700">
            <a:solidFill>
              <a:srgbClr val="085CE5"/>
            </a:solidFill>
            <a:prstDash val="solid"/>
          </a:ln>
        </p:spPr>
      </p:sp>
      <p:sp>
        <p:nvSpPr>
          <p:cNvPr id="54" name="Text 52"/>
          <p:cNvSpPr/>
          <p:nvPr/>
        </p:nvSpPr>
        <p:spPr>
          <a:xfrm>
            <a:off x="7845552" y="3163824"/>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55" name="Shape 53"/>
          <p:cNvSpPr/>
          <p:nvPr/>
        </p:nvSpPr>
        <p:spPr>
          <a:xfrm>
            <a:off x="320040" y="3493008"/>
            <a:ext cx="8732520" cy="411480"/>
          </a:xfrm>
          <a:prstGeom prst="rect">
            <a:avLst/>
          </a:prstGeom>
          <a:solidFill>
            <a:srgbClr val="E7ECF0"/>
          </a:solidFill>
          <a:ln w="12700">
            <a:solidFill>
              <a:srgbClr val="E7ECF0"/>
            </a:solidFill>
            <a:prstDash val="solid"/>
          </a:ln>
        </p:spPr>
      </p:sp>
      <p:sp>
        <p:nvSpPr>
          <p:cNvPr id="56" name="Shape 54"/>
          <p:cNvSpPr/>
          <p:nvPr/>
        </p:nvSpPr>
        <p:spPr>
          <a:xfrm>
            <a:off x="320040" y="3493008"/>
            <a:ext cx="73152" cy="411480"/>
          </a:xfrm>
          <a:prstGeom prst="rect">
            <a:avLst/>
          </a:prstGeom>
          <a:solidFill>
            <a:srgbClr val="0D2E7A"/>
          </a:solidFill>
          <a:ln w="12700">
            <a:solidFill>
              <a:srgbClr val="0D2E7A"/>
            </a:solidFill>
            <a:prstDash val="solid"/>
          </a:ln>
        </p:spPr>
      </p:sp>
      <p:sp>
        <p:nvSpPr>
          <p:cNvPr id="57" name="Text 55"/>
          <p:cNvSpPr/>
          <p:nvPr/>
        </p:nvSpPr>
        <p:spPr>
          <a:xfrm>
            <a:off x="475488" y="352044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FI Decision Studio</a:t>
            </a:r>
            <a:endParaRPr lang="en-US" sz="950" dirty="0"/>
          </a:p>
        </p:txBody>
      </p:sp>
      <p:sp>
        <p:nvSpPr>
          <p:cNvPr id="58" name="Text 56"/>
          <p:cNvSpPr/>
          <p:nvPr/>
        </p:nvSpPr>
        <p:spPr>
          <a:xfrm>
            <a:off x="475488" y="371246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750" dirty="0"/>
          </a:p>
        </p:txBody>
      </p:sp>
      <p:sp>
        <p:nvSpPr>
          <p:cNvPr id="59" name="Text 57"/>
          <p:cNvSpPr/>
          <p:nvPr/>
        </p:nvSpPr>
        <p:spPr>
          <a:xfrm>
            <a:off x="3520440" y="352958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750" dirty="0"/>
          </a:p>
        </p:txBody>
      </p:sp>
      <p:sp>
        <p:nvSpPr>
          <p:cNvPr id="60" name="Text 58"/>
          <p:cNvSpPr/>
          <p:nvPr/>
        </p:nvSpPr>
        <p:spPr>
          <a:xfrm>
            <a:off x="6355080" y="352044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$1,000 – $3,500</a:t>
            </a:r>
            <a:endParaRPr lang="en-US" sz="1050" dirty="0"/>
          </a:p>
        </p:txBody>
      </p:sp>
      <p:sp>
        <p:nvSpPr>
          <p:cNvPr id="61" name="Text 59"/>
          <p:cNvSpPr/>
          <p:nvPr/>
        </p:nvSpPr>
        <p:spPr>
          <a:xfrm>
            <a:off x="6355080" y="376732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62" name="Shape 60"/>
          <p:cNvSpPr/>
          <p:nvPr/>
        </p:nvSpPr>
        <p:spPr>
          <a:xfrm>
            <a:off x="7845552" y="3602736"/>
            <a:ext cx="1170432" cy="192024"/>
          </a:xfrm>
          <a:prstGeom prst="roundRect">
            <a:avLst>
              <a:gd name="adj" fmla="val 19048"/>
            </a:avLst>
          </a:prstGeom>
          <a:solidFill>
            <a:srgbClr val="FFFFFF"/>
          </a:solidFill>
          <a:ln w="12700">
            <a:solidFill>
              <a:srgbClr val="085CE5"/>
            </a:solidFill>
            <a:prstDash val="solid"/>
          </a:ln>
        </p:spPr>
      </p:sp>
      <p:sp>
        <p:nvSpPr>
          <p:cNvPr id="63" name="Text 61"/>
          <p:cNvSpPr/>
          <p:nvPr/>
        </p:nvSpPr>
        <p:spPr>
          <a:xfrm>
            <a:off x="7845552" y="360273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Enterprise tier only</a:t>
            </a:r>
            <a:endParaRPr lang="en-US" sz="650" dirty="0"/>
          </a:p>
        </p:txBody>
      </p:sp>
      <p:sp>
        <p:nvSpPr>
          <p:cNvPr id="64" name="Shape 62"/>
          <p:cNvSpPr/>
          <p:nvPr/>
        </p:nvSpPr>
        <p:spPr>
          <a:xfrm>
            <a:off x="320040" y="3931920"/>
            <a:ext cx="8732520" cy="411480"/>
          </a:xfrm>
          <a:prstGeom prst="rect">
            <a:avLst/>
          </a:prstGeom>
          <a:solidFill>
            <a:srgbClr val="FFFFFF"/>
          </a:solidFill>
          <a:ln w="12700">
            <a:solidFill>
              <a:srgbClr val="E7ECF0"/>
            </a:solidFill>
            <a:prstDash val="solid"/>
          </a:ln>
        </p:spPr>
      </p:sp>
      <p:sp>
        <p:nvSpPr>
          <p:cNvPr id="65" name="Shape 63"/>
          <p:cNvSpPr/>
          <p:nvPr/>
        </p:nvSpPr>
        <p:spPr>
          <a:xfrm>
            <a:off x="320040" y="3931920"/>
            <a:ext cx="73152" cy="411480"/>
          </a:xfrm>
          <a:prstGeom prst="rect">
            <a:avLst/>
          </a:prstGeom>
          <a:solidFill>
            <a:srgbClr val="0A52C4"/>
          </a:solidFill>
          <a:ln w="12700">
            <a:solidFill>
              <a:srgbClr val="0A52C4"/>
            </a:solidFill>
            <a:prstDash val="solid"/>
          </a:ln>
        </p:spPr>
      </p:sp>
      <p:sp>
        <p:nvSpPr>
          <p:cNvPr id="66" name="Text 64"/>
          <p:cNvSpPr/>
          <p:nvPr/>
        </p:nvSpPr>
        <p:spPr>
          <a:xfrm>
            <a:off x="475488" y="395935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Personal-as-Commercial Detection</a:t>
            </a:r>
            <a:endParaRPr lang="en-US" sz="950" dirty="0"/>
          </a:p>
        </p:txBody>
      </p:sp>
      <p:sp>
        <p:nvSpPr>
          <p:cNvPr id="67" name="Text 65"/>
          <p:cNvSpPr/>
          <p:nvPr/>
        </p:nvSpPr>
        <p:spPr>
          <a:xfrm>
            <a:off x="475488" y="415137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scoring of personal accounts exhibiting commercial transaction signatures</a:t>
            </a:r>
            <a:endParaRPr lang="en-US" sz="750" dirty="0"/>
          </a:p>
        </p:txBody>
      </p:sp>
      <p:sp>
        <p:nvSpPr>
          <p:cNvPr id="68" name="Text 66"/>
          <p:cNvSpPr/>
          <p:nvPr/>
        </p:nvSpPr>
        <p:spPr>
          <a:xfrm>
            <a:off x="3520440" y="396849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Converts hidden SMB accounts to business banking — fee income, treasury products, SBA loans</a:t>
            </a:r>
            <a:endParaRPr lang="en-US" sz="750" dirty="0"/>
          </a:p>
        </p:txBody>
      </p:sp>
      <p:sp>
        <p:nvSpPr>
          <p:cNvPr id="69" name="Text 67"/>
          <p:cNvSpPr/>
          <p:nvPr/>
        </p:nvSpPr>
        <p:spPr>
          <a:xfrm>
            <a:off x="6355080" y="395935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70" name="Text 68"/>
          <p:cNvSpPr/>
          <p:nvPr/>
        </p:nvSpPr>
        <p:spPr>
          <a:xfrm>
            <a:off x="6355080" y="420624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71" name="Shape 69"/>
          <p:cNvSpPr/>
          <p:nvPr/>
        </p:nvSpPr>
        <p:spPr>
          <a:xfrm>
            <a:off x="7845552" y="4041648"/>
            <a:ext cx="1170432" cy="192024"/>
          </a:xfrm>
          <a:prstGeom prst="roundRect">
            <a:avLst>
              <a:gd name="adj" fmla="val 19048"/>
            </a:avLst>
          </a:prstGeom>
          <a:solidFill>
            <a:srgbClr val="E8F7F7"/>
          </a:solidFill>
          <a:ln w="12700">
            <a:solidFill>
              <a:srgbClr val="085CE5"/>
            </a:solidFill>
            <a:prstDash val="solid"/>
          </a:ln>
        </p:spPr>
      </p:sp>
      <p:sp>
        <p:nvSpPr>
          <p:cNvPr id="72" name="Text 70"/>
          <p:cNvSpPr/>
          <p:nvPr/>
        </p:nvSpPr>
        <p:spPr>
          <a:xfrm>
            <a:off x="7845552" y="404164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73" name="Shape 71"/>
          <p:cNvSpPr/>
          <p:nvPr/>
        </p:nvSpPr>
        <p:spPr>
          <a:xfrm>
            <a:off x="320040" y="4370832"/>
            <a:ext cx="8732520" cy="411480"/>
          </a:xfrm>
          <a:prstGeom prst="rect">
            <a:avLst/>
          </a:prstGeom>
          <a:solidFill>
            <a:srgbClr val="E7ECF0"/>
          </a:solidFill>
          <a:ln w="12700">
            <a:solidFill>
              <a:srgbClr val="E7ECF0"/>
            </a:solidFill>
            <a:prstDash val="solid"/>
          </a:ln>
        </p:spPr>
      </p:sp>
      <p:sp>
        <p:nvSpPr>
          <p:cNvPr id="74" name="Shape 72"/>
          <p:cNvSpPr/>
          <p:nvPr/>
        </p:nvSpPr>
        <p:spPr>
          <a:xfrm>
            <a:off x="320040" y="4370832"/>
            <a:ext cx="73152" cy="411480"/>
          </a:xfrm>
          <a:prstGeom prst="rect">
            <a:avLst/>
          </a:prstGeom>
          <a:solidFill>
            <a:srgbClr val="0F3D8A"/>
          </a:solidFill>
          <a:ln w="12700">
            <a:solidFill>
              <a:srgbClr val="0F3D8A"/>
            </a:solidFill>
            <a:prstDash val="solid"/>
          </a:ln>
        </p:spPr>
      </p:sp>
      <p:sp>
        <p:nvSpPr>
          <p:cNvPr id="75" name="Text 73"/>
          <p:cNvSpPr/>
          <p:nvPr/>
        </p:nvSpPr>
        <p:spPr>
          <a:xfrm>
            <a:off x="475488" y="439826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76" name="Text 74"/>
          <p:cNvSpPr/>
          <p:nvPr/>
        </p:nvSpPr>
        <p:spPr>
          <a:xfrm>
            <a:off x="475488" y="459028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Household coverage scoring · next-gen relationship expansion before wealth transfers</a:t>
            </a:r>
            <a:endParaRPr lang="en-US" sz="750" dirty="0"/>
          </a:p>
        </p:txBody>
      </p:sp>
      <p:sp>
        <p:nvSpPr>
          <p:cNvPr id="77" name="Text 75"/>
          <p:cNvSpPr/>
          <p:nvPr/>
        </p:nvSpPr>
        <p:spPr>
          <a:xfrm>
            <a:off x="3520440" y="440740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AUM retained at generational transition · multi-generational household relationships built proactively</a:t>
            </a:r>
            <a:endParaRPr lang="en-US" sz="750" dirty="0"/>
          </a:p>
        </p:txBody>
      </p:sp>
      <p:sp>
        <p:nvSpPr>
          <p:cNvPr id="78" name="Text 76"/>
          <p:cNvSpPr/>
          <p:nvPr/>
        </p:nvSpPr>
        <p:spPr>
          <a:xfrm>
            <a:off x="6355080" y="439826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79" name="Text 77"/>
          <p:cNvSpPr/>
          <p:nvPr/>
        </p:nvSpPr>
        <p:spPr>
          <a:xfrm>
            <a:off x="6355080" y="464515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80" name="Shape 78"/>
          <p:cNvSpPr/>
          <p:nvPr/>
        </p:nvSpPr>
        <p:spPr>
          <a:xfrm>
            <a:off x="7845552" y="4480560"/>
            <a:ext cx="1170432" cy="192024"/>
          </a:xfrm>
          <a:prstGeom prst="roundRect">
            <a:avLst>
              <a:gd name="adj" fmla="val 19048"/>
            </a:avLst>
          </a:prstGeom>
          <a:solidFill>
            <a:srgbClr val="FFFFFF"/>
          </a:solidFill>
          <a:ln w="12700">
            <a:solidFill>
              <a:srgbClr val="085CE5"/>
            </a:solidFill>
            <a:prstDash val="solid"/>
          </a:ln>
        </p:spPr>
      </p:sp>
      <p:sp>
        <p:nvSpPr>
          <p:cNvPr id="81" name="Text 79"/>
          <p:cNvSpPr/>
          <p:nvPr/>
        </p:nvSpPr>
        <p:spPr>
          <a:xfrm>
            <a:off x="7845552" y="448056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82" name="Shape 80"/>
          <p:cNvSpPr/>
          <p:nvPr/>
        </p:nvSpPr>
        <p:spPr>
          <a:xfrm>
            <a:off x="320040" y="4809744"/>
            <a:ext cx="8732520" cy="292608"/>
          </a:xfrm>
          <a:prstGeom prst="rect">
            <a:avLst/>
          </a:prstGeom>
          <a:solidFill>
            <a:srgbClr val="06185F"/>
          </a:solidFill>
          <a:ln w="12700">
            <a:solidFill>
              <a:srgbClr val="06185F"/>
            </a:solidFill>
            <a:prstDash val="solid"/>
          </a:ln>
        </p:spPr>
      </p:sp>
      <p:sp>
        <p:nvSpPr>
          <p:cNvPr id="83" name="Text 81"/>
          <p:cNvSpPr/>
          <p:nvPr/>
        </p:nvSpPr>
        <p:spPr>
          <a:xfrm>
            <a:off x="475488" y="4837176"/>
            <a:ext cx="4114800" cy="237744"/>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STANDALONE TOTAL — ALL EIGHT APPS (MID-MARKET FI)</a:t>
            </a:r>
            <a:endParaRPr lang="en-US" sz="900" dirty="0"/>
          </a:p>
        </p:txBody>
      </p:sp>
      <p:sp>
        <p:nvSpPr>
          <p:cNvPr id="84" name="Text 82"/>
          <p:cNvSpPr/>
          <p:nvPr/>
        </p:nvSpPr>
        <p:spPr>
          <a:xfrm>
            <a:off x="6355080" y="4837176"/>
            <a:ext cx="1417320" cy="237744"/>
          </a:xfrm>
          <a:prstGeom prst="rect">
            <a:avLst/>
          </a:prstGeom>
          <a:noFill/>
          <a:ln/>
        </p:spPr>
        <p:txBody>
          <a:bodyPr wrap="square" lIns="0" tIns="0" rIns="0" bIns="0" rtlCol="0" anchor="ctr"/>
          <a:lstStyle/>
          <a:p>
            <a:pPr algn="ctr" indent="0" marL="0">
              <a:buNone/>
            </a:pPr>
            <a:r>
              <a:rPr lang="en-US" sz="1200" b="1" dirty="0">
                <a:solidFill>
                  <a:srgbClr val="76DCFD"/>
                </a:solidFill>
                <a:latin typeface="Calibri" pitchFamily="34" charset="0"/>
                <a:ea typeface="Calibri" pitchFamily="34" charset="-122"/>
                <a:cs typeface="Calibri" pitchFamily="34" charset="-120"/>
              </a:rPr>
              <a:t>~$8,100 / mo</a:t>
            </a:r>
            <a:endParaRPr lang="en-US" sz="1200" dirty="0"/>
          </a:p>
        </p:txBody>
      </p:sp>
      <p:sp>
        <p:nvSpPr>
          <p:cNvPr id="85" name="Text 83"/>
          <p:cNvSpPr/>
          <p:nvPr/>
        </p:nvSpPr>
        <p:spPr>
          <a:xfrm>
            <a:off x="7635240" y="4846320"/>
            <a:ext cx="1389888" cy="201168"/>
          </a:xfrm>
          <a:prstGeom prst="rect">
            <a:avLst/>
          </a:prstGeom>
          <a:noFill/>
          <a:ln/>
        </p:spPr>
        <p:txBody>
          <a:bodyPr wrap="square" lIns="0" tIns="0" rIns="0" bIns="0" rtlCol="0" anchor="ctr"/>
          <a:lstStyle/>
          <a:p>
            <a:pPr algn="ctr" indent="0" marL="0">
              <a:buNone/>
            </a:pPr>
            <a:r>
              <a:rPr lang="en-US" sz="850" dirty="0">
                <a:solidFill>
                  <a:srgbClr val="76DCFD"/>
                </a:solidFill>
                <a:latin typeface="Calibri" pitchFamily="34" charset="0"/>
                <a:ea typeface="Calibri" pitchFamily="34" charset="-122"/>
                <a:cs typeface="Calibri" pitchFamily="34" charset="-120"/>
              </a:rPr>
              <a:t>vs. ~$6,000 bundled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Mediation  ·  Account Opening LTV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Horizon Pipeline: Year 2 Platform Opportunities</a:t>
            </a:r>
            <a:endParaRPr lang="en-US" sz="2200" dirty="0"/>
          </a:p>
        </p:txBody>
      </p:sp>
      <p:sp>
        <p:nvSpPr>
          <p:cNvPr id="4" name="Shape 2"/>
          <p:cNvSpPr/>
          <p:nvPr/>
        </p:nvSpPr>
        <p:spPr>
          <a:xfrm>
            <a:off x="27432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74320" y="786384"/>
            <a:ext cx="2743200" cy="73152"/>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29768" y="969264"/>
            <a:ext cx="347472" cy="347472"/>
          </a:xfrm>
          <a:prstGeom prst="rect">
            <a:avLst/>
          </a:prstGeom>
        </p:spPr>
      </p:pic>
      <p:sp>
        <p:nvSpPr>
          <p:cNvPr id="7" name="Text 4"/>
          <p:cNvSpPr/>
          <p:nvPr/>
        </p:nvSpPr>
        <p:spPr>
          <a:xfrm>
            <a:off x="86868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Cross-Sell Propensity Engine</a:t>
            </a:r>
            <a:endParaRPr lang="en-US" sz="1050" dirty="0"/>
          </a:p>
        </p:txBody>
      </p:sp>
      <p:sp>
        <p:nvSpPr>
          <p:cNvPr id="8" name="Text 5"/>
          <p:cNvSpPr/>
          <p:nvPr/>
        </p:nvSpPr>
        <p:spPr>
          <a:xfrm>
            <a:off x="41148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1000" dirty="0"/>
          </a:p>
        </p:txBody>
      </p:sp>
      <p:sp>
        <p:nvSpPr>
          <p:cNvPr id="9" name="Shape 6"/>
          <p:cNvSpPr/>
          <p:nvPr/>
        </p:nvSpPr>
        <p:spPr>
          <a:xfrm>
            <a:off x="315468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54680" y="786384"/>
            <a:ext cx="2743200" cy="73152"/>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69264"/>
            <a:ext cx="347472" cy="347472"/>
          </a:xfrm>
          <a:prstGeom prst="rect">
            <a:avLst/>
          </a:prstGeom>
        </p:spPr>
      </p:pic>
      <p:sp>
        <p:nvSpPr>
          <p:cNvPr id="12" name="Text 8"/>
          <p:cNvSpPr/>
          <p:nvPr/>
        </p:nvSpPr>
        <p:spPr>
          <a:xfrm>
            <a:off x="374904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Fraud Ring Detection</a:t>
            </a:r>
            <a:endParaRPr lang="en-US" sz="1050" dirty="0"/>
          </a:p>
        </p:txBody>
      </p:sp>
      <p:sp>
        <p:nvSpPr>
          <p:cNvPr id="13" name="Text 9"/>
          <p:cNvSpPr/>
          <p:nvPr/>
        </p:nvSpPr>
        <p:spPr>
          <a:xfrm>
            <a:off x="329184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1000" dirty="0"/>
          </a:p>
        </p:txBody>
      </p:sp>
      <p:sp>
        <p:nvSpPr>
          <p:cNvPr id="14" name="Shape 10"/>
          <p:cNvSpPr/>
          <p:nvPr/>
        </p:nvSpPr>
        <p:spPr>
          <a:xfrm>
            <a:off x="603504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35040" y="786384"/>
            <a:ext cx="2743200" cy="73152"/>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90488" y="969264"/>
            <a:ext cx="347472" cy="347472"/>
          </a:xfrm>
          <a:prstGeom prst="rect">
            <a:avLst/>
          </a:prstGeom>
        </p:spPr>
      </p:pic>
      <p:sp>
        <p:nvSpPr>
          <p:cNvPr id="17" name="Text 12"/>
          <p:cNvSpPr/>
          <p:nvPr/>
        </p:nvSpPr>
        <p:spPr>
          <a:xfrm>
            <a:off x="662940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Deposit Runoff Forecasting</a:t>
            </a:r>
            <a:endParaRPr lang="en-US" sz="1050" dirty="0"/>
          </a:p>
        </p:txBody>
      </p:sp>
      <p:sp>
        <p:nvSpPr>
          <p:cNvPr id="18" name="Text 13"/>
          <p:cNvSpPr/>
          <p:nvPr/>
        </p:nvSpPr>
        <p:spPr>
          <a:xfrm>
            <a:off x="617220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1000" dirty="0"/>
          </a:p>
        </p:txBody>
      </p:sp>
      <p:sp>
        <p:nvSpPr>
          <p:cNvPr id="19" name="Shape 14"/>
          <p:cNvSpPr/>
          <p:nvPr/>
        </p:nvSpPr>
        <p:spPr>
          <a:xfrm>
            <a:off x="27432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274320" y="2871216"/>
            <a:ext cx="2743200" cy="73152"/>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29768" y="3054096"/>
            <a:ext cx="347472" cy="347472"/>
          </a:xfrm>
          <a:prstGeom prst="rect">
            <a:avLst/>
          </a:prstGeom>
        </p:spPr>
      </p:pic>
      <p:sp>
        <p:nvSpPr>
          <p:cNvPr id="22" name="Text 16"/>
          <p:cNvSpPr/>
          <p:nvPr/>
        </p:nvSpPr>
        <p:spPr>
          <a:xfrm>
            <a:off x="86868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Overdraft Prediction &amp; Mediation</a:t>
            </a:r>
            <a:endParaRPr lang="en-US" sz="1050" dirty="0"/>
          </a:p>
        </p:txBody>
      </p:sp>
      <p:sp>
        <p:nvSpPr>
          <p:cNvPr id="23" name="Text 17"/>
          <p:cNvSpPr/>
          <p:nvPr/>
        </p:nvSpPr>
        <p:spPr>
          <a:xfrm>
            <a:off x="41148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1000" dirty="0"/>
          </a:p>
        </p:txBody>
      </p:sp>
      <p:sp>
        <p:nvSpPr>
          <p:cNvPr id="24" name="Shape 18"/>
          <p:cNvSpPr/>
          <p:nvPr/>
        </p:nvSpPr>
        <p:spPr>
          <a:xfrm>
            <a:off x="315468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54680" y="2871216"/>
            <a:ext cx="2743200" cy="73152"/>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54096"/>
            <a:ext cx="347472" cy="347472"/>
          </a:xfrm>
          <a:prstGeom prst="rect">
            <a:avLst/>
          </a:prstGeom>
        </p:spPr>
      </p:pic>
      <p:sp>
        <p:nvSpPr>
          <p:cNvPr id="27" name="Text 20"/>
          <p:cNvSpPr/>
          <p:nvPr/>
        </p:nvSpPr>
        <p:spPr>
          <a:xfrm>
            <a:off x="374904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Customer Sentiment Engine</a:t>
            </a:r>
            <a:endParaRPr lang="en-US" sz="1050" dirty="0"/>
          </a:p>
        </p:txBody>
      </p:sp>
      <p:sp>
        <p:nvSpPr>
          <p:cNvPr id="28" name="Text 21"/>
          <p:cNvSpPr/>
          <p:nvPr/>
        </p:nvSpPr>
        <p:spPr>
          <a:xfrm>
            <a:off x="329184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1000" dirty="0"/>
          </a:p>
        </p:txBody>
      </p:sp>
      <p:sp>
        <p:nvSpPr>
          <p:cNvPr id="29" name="Shape 22"/>
          <p:cNvSpPr/>
          <p:nvPr/>
        </p:nvSpPr>
        <p:spPr>
          <a:xfrm>
            <a:off x="603504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35040" y="2871216"/>
            <a:ext cx="2743200" cy="73152"/>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6190488" y="3054096"/>
            <a:ext cx="347472" cy="347472"/>
          </a:xfrm>
          <a:prstGeom prst="rect">
            <a:avLst/>
          </a:prstGeom>
        </p:spPr>
      </p:pic>
      <p:sp>
        <p:nvSpPr>
          <p:cNvPr id="32" name="Text 24"/>
          <p:cNvSpPr/>
          <p:nvPr/>
        </p:nvSpPr>
        <p:spPr>
          <a:xfrm>
            <a:off x="662940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Next Best Action Platform</a:t>
            </a:r>
            <a:endParaRPr lang="en-US" sz="1050" dirty="0"/>
          </a:p>
        </p:txBody>
      </p:sp>
      <p:sp>
        <p:nvSpPr>
          <p:cNvPr id="33" name="Text 25"/>
          <p:cNvSpPr/>
          <p:nvPr/>
        </p:nvSpPr>
        <p:spPr>
          <a:xfrm>
            <a:off x="617220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1000" dirty="0"/>
          </a:p>
        </p:txBody>
      </p:sp>
      <p:sp>
        <p:nvSpPr>
          <p:cNvPr id="34" name="Text 26"/>
          <p:cNvSpPr/>
          <p:nvPr/>
        </p:nvSpPr>
        <p:spPr>
          <a:xfrm>
            <a:off x="365760" y="4846320"/>
            <a:ext cx="8412480" cy="256032"/>
          </a:xfrm>
          <a:prstGeom prst="rect">
            <a:avLst/>
          </a:prstGeom>
          <a:noFill/>
          <a:ln/>
        </p:spPr>
        <p:txBody>
          <a:bodyPr wrap="square" lIns="0" tIns="0" rIns="0" bIns="0" rtlCol="0" anchor="ctr"/>
          <a:lstStyle/>
          <a:p>
            <a:pPr indent="0" marL="0">
              <a:buNone/>
            </a:pPr>
            <a:r>
              <a:rPr lang="en-US" sz="950" i="1" dirty="0">
                <a:solidFill>
                  <a:srgbClr val="B6BBC0"/>
                </a:solidFill>
                <a:latin typeface="Calibri" pitchFamily="34" charset="0"/>
                <a:ea typeface="Calibri" pitchFamily="34" charset="-122"/>
                <a:cs typeface="Calibri" pitchFamily="34" charset="-120"/>
              </a:rPr>
              <a:t>These opportunities are sequenced for Year 2, contingent on successful Phase 1 delivery and continued investment approval.</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Source Ingestion Roadmap — Payments First, Core &amp; Digital Next</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Phase 1 activates all JH payment rails (CPS excluded). Core banking, Banno digital, and lending data follow in Phase 2–3 once the pipeline is proven.</a:t>
            </a:r>
            <a:endParaRPr lang="en-US" sz="1000" dirty="0"/>
          </a:p>
        </p:txBody>
      </p:sp>
      <p:sp>
        <p:nvSpPr>
          <p:cNvPr id="5" name="Shape 3"/>
          <p:cNvSpPr/>
          <p:nvPr/>
        </p:nvSpPr>
        <p:spPr>
          <a:xfrm>
            <a:off x="2468880" y="1133856"/>
            <a:ext cx="1577340" cy="237744"/>
          </a:xfrm>
          <a:prstGeom prst="rect">
            <a:avLst/>
          </a:prstGeom>
          <a:solidFill>
            <a:srgbClr val="085CE5"/>
          </a:solidFill>
          <a:ln w="12700">
            <a:solidFill>
              <a:srgbClr val="085CE5"/>
            </a:solidFill>
            <a:prstDash val="solid"/>
          </a:ln>
        </p:spPr>
      </p:sp>
      <p:sp>
        <p:nvSpPr>
          <p:cNvPr id="6" name="Text 4"/>
          <p:cNvSpPr/>
          <p:nvPr/>
        </p:nvSpPr>
        <p:spPr>
          <a:xfrm>
            <a:off x="251460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All Payment Rails  (Q3–Q4 FY26)</a:t>
            </a:r>
            <a:endParaRPr lang="en-US" sz="750" dirty="0"/>
          </a:p>
        </p:txBody>
      </p:sp>
      <p:sp>
        <p:nvSpPr>
          <p:cNvPr id="7" name="Shape 5"/>
          <p:cNvSpPr/>
          <p:nvPr/>
        </p:nvSpPr>
        <p:spPr>
          <a:xfrm>
            <a:off x="4046220" y="1133856"/>
            <a:ext cx="1577340" cy="237744"/>
          </a:xfrm>
          <a:prstGeom prst="rect">
            <a:avLst/>
          </a:prstGeom>
          <a:solidFill>
            <a:srgbClr val="073FA8"/>
          </a:solidFill>
          <a:ln w="12700">
            <a:solidFill>
              <a:srgbClr val="073FA8"/>
            </a:solidFill>
            <a:prstDash val="solid"/>
          </a:ln>
        </p:spPr>
      </p:sp>
      <p:sp>
        <p:nvSpPr>
          <p:cNvPr id="8" name="Text 6"/>
          <p:cNvSpPr/>
          <p:nvPr/>
        </p:nvSpPr>
        <p:spPr>
          <a:xfrm>
            <a:off x="409194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Banking  (Q1–Q2 FY27)</a:t>
            </a:r>
            <a:endParaRPr lang="en-US" sz="750" dirty="0"/>
          </a:p>
        </p:txBody>
      </p:sp>
      <p:sp>
        <p:nvSpPr>
          <p:cNvPr id="9" name="Shape 7"/>
          <p:cNvSpPr/>
          <p:nvPr/>
        </p:nvSpPr>
        <p:spPr>
          <a:xfrm>
            <a:off x="5623560" y="1133856"/>
            <a:ext cx="3154680" cy="237744"/>
          </a:xfrm>
          <a:prstGeom prst="rect">
            <a:avLst/>
          </a:prstGeom>
          <a:solidFill>
            <a:srgbClr val="575A5D"/>
          </a:solidFill>
          <a:ln w="12700">
            <a:solidFill>
              <a:srgbClr val="575A5D"/>
            </a:solidFill>
            <a:prstDash val="solid"/>
          </a:ln>
        </p:spPr>
      </p:sp>
      <p:sp>
        <p:nvSpPr>
          <p:cNvPr id="10" name="Text 8"/>
          <p:cNvSpPr/>
          <p:nvPr/>
        </p:nvSpPr>
        <p:spPr>
          <a:xfrm>
            <a:off x="5669280" y="113385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Digital &amp; Lending  (Q3 FY27+)</a:t>
            </a:r>
            <a:endParaRPr lang="en-US" sz="750" dirty="0"/>
          </a:p>
        </p:txBody>
      </p:sp>
      <p:sp>
        <p:nvSpPr>
          <p:cNvPr id="11" name="Shape 9"/>
          <p:cNvSpPr/>
          <p:nvPr/>
        </p:nvSpPr>
        <p:spPr>
          <a:xfrm>
            <a:off x="2468880" y="1389888"/>
            <a:ext cx="6309360" cy="256032"/>
          </a:xfrm>
          <a:prstGeom prst="rect">
            <a:avLst/>
          </a:prstGeom>
          <a:solidFill>
            <a:srgbClr val="E7ECF0"/>
          </a:solidFill>
          <a:ln w="12700">
            <a:solidFill>
              <a:srgbClr val="E7ECF0"/>
            </a:solidFill>
            <a:prstDash val="solid"/>
          </a:ln>
        </p:spPr>
      </p:sp>
      <p:sp>
        <p:nvSpPr>
          <p:cNvPr id="12" name="Shape 10"/>
          <p:cNvSpPr/>
          <p:nvPr/>
        </p:nvSpPr>
        <p:spPr>
          <a:xfrm>
            <a:off x="2468880" y="1664208"/>
            <a:ext cx="788670" cy="3456432"/>
          </a:xfrm>
          <a:prstGeom prst="rect">
            <a:avLst/>
          </a:prstGeom>
          <a:solidFill>
            <a:srgbClr val="F4F6F8"/>
          </a:solidFill>
          <a:ln w="12700">
            <a:solidFill>
              <a:srgbClr val="F4F6F8"/>
            </a:solidFill>
            <a:prstDash val="solid"/>
          </a:ln>
        </p:spPr>
      </p:sp>
      <p:sp>
        <p:nvSpPr>
          <p:cNvPr id="13" name="Text 11"/>
          <p:cNvSpPr/>
          <p:nvPr/>
        </p:nvSpPr>
        <p:spPr>
          <a:xfrm>
            <a:off x="246888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468880" y="1133856"/>
            <a:ext cx="13716" cy="3986784"/>
          </a:xfrm>
          <a:prstGeom prst="rect">
            <a:avLst/>
          </a:prstGeom>
          <a:solidFill>
            <a:srgbClr val="B6BBC0"/>
          </a:solidFill>
          <a:ln w="12700">
            <a:solidFill>
              <a:srgbClr val="B6BBC0"/>
            </a:solidFill>
            <a:prstDash val="solid"/>
          </a:ln>
        </p:spPr>
      </p:sp>
      <p:sp>
        <p:nvSpPr>
          <p:cNvPr id="15" name="Text 13"/>
          <p:cNvSpPr/>
          <p:nvPr/>
        </p:nvSpPr>
        <p:spPr>
          <a:xfrm>
            <a:off x="325755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57550" y="1133856"/>
            <a:ext cx="13716" cy="3986784"/>
          </a:xfrm>
          <a:prstGeom prst="rect">
            <a:avLst/>
          </a:prstGeom>
          <a:solidFill>
            <a:srgbClr val="B6BBC0"/>
          </a:solidFill>
          <a:ln w="12700">
            <a:solidFill>
              <a:srgbClr val="B6BBC0"/>
            </a:solidFill>
            <a:prstDash val="solid"/>
          </a:ln>
        </p:spPr>
      </p:sp>
      <p:sp>
        <p:nvSpPr>
          <p:cNvPr id="17" name="Shape 15"/>
          <p:cNvSpPr/>
          <p:nvPr/>
        </p:nvSpPr>
        <p:spPr>
          <a:xfrm>
            <a:off x="4046220" y="1664208"/>
            <a:ext cx="788670" cy="3456432"/>
          </a:xfrm>
          <a:prstGeom prst="rect">
            <a:avLst/>
          </a:prstGeom>
          <a:solidFill>
            <a:srgbClr val="F4F6F8"/>
          </a:solidFill>
          <a:ln w="12700">
            <a:solidFill>
              <a:srgbClr val="F4F6F8"/>
            </a:solidFill>
            <a:prstDash val="solid"/>
          </a:ln>
        </p:spPr>
      </p:sp>
      <p:sp>
        <p:nvSpPr>
          <p:cNvPr id="18" name="Text 16"/>
          <p:cNvSpPr/>
          <p:nvPr/>
        </p:nvSpPr>
        <p:spPr>
          <a:xfrm>
            <a:off x="404622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46220" y="1133856"/>
            <a:ext cx="13716" cy="3986784"/>
          </a:xfrm>
          <a:prstGeom prst="rect">
            <a:avLst/>
          </a:prstGeom>
          <a:solidFill>
            <a:srgbClr val="B6BBC0"/>
          </a:solidFill>
          <a:ln w="12700">
            <a:solidFill>
              <a:srgbClr val="B6BBC0"/>
            </a:solidFill>
            <a:prstDash val="solid"/>
          </a:ln>
        </p:spPr>
      </p:sp>
      <p:sp>
        <p:nvSpPr>
          <p:cNvPr id="20" name="Text 18"/>
          <p:cNvSpPr/>
          <p:nvPr/>
        </p:nvSpPr>
        <p:spPr>
          <a:xfrm>
            <a:off x="483489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34890" y="1133856"/>
            <a:ext cx="13716" cy="3986784"/>
          </a:xfrm>
          <a:prstGeom prst="rect">
            <a:avLst/>
          </a:prstGeom>
          <a:solidFill>
            <a:srgbClr val="B6BBC0"/>
          </a:solidFill>
          <a:ln w="12700">
            <a:solidFill>
              <a:srgbClr val="B6BBC0"/>
            </a:solidFill>
            <a:prstDash val="solid"/>
          </a:ln>
        </p:spPr>
      </p:sp>
      <p:sp>
        <p:nvSpPr>
          <p:cNvPr id="22" name="Shape 20"/>
          <p:cNvSpPr/>
          <p:nvPr/>
        </p:nvSpPr>
        <p:spPr>
          <a:xfrm>
            <a:off x="5623560" y="1664208"/>
            <a:ext cx="788670" cy="3456432"/>
          </a:xfrm>
          <a:prstGeom prst="rect">
            <a:avLst/>
          </a:prstGeom>
          <a:solidFill>
            <a:srgbClr val="F4F6F8"/>
          </a:solidFill>
          <a:ln w="12700">
            <a:solidFill>
              <a:srgbClr val="F4F6F8"/>
            </a:solidFill>
            <a:prstDash val="solid"/>
          </a:ln>
        </p:spPr>
      </p:sp>
      <p:sp>
        <p:nvSpPr>
          <p:cNvPr id="23" name="Text 21"/>
          <p:cNvSpPr/>
          <p:nvPr/>
        </p:nvSpPr>
        <p:spPr>
          <a:xfrm>
            <a:off x="562356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23560" y="1133856"/>
            <a:ext cx="13716" cy="3986784"/>
          </a:xfrm>
          <a:prstGeom prst="rect">
            <a:avLst/>
          </a:prstGeom>
          <a:solidFill>
            <a:srgbClr val="B6BBC0"/>
          </a:solidFill>
          <a:ln w="12700">
            <a:solidFill>
              <a:srgbClr val="B6BBC0"/>
            </a:solidFill>
            <a:prstDash val="solid"/>
          </a:ln>
        </p:spPr>
      </p:sp>
      <p:sp>
        <p:nvSpPr>
          <p:cNvPr id="25" name="Text 23"/>
          <p:cNvSpPr/>
          <p:nvPr/>
        </p:nvSpPr>
        <p:spPr>
          <a:xfrm>
            <a:off x="641223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12230" y="1133856"/>
            <a:ext cx="13716" cy="3986784"/>
          </a:xfrm>
          <a:prstGeom prst="rect">
            <a:avLst/>
          </a:prstGeom>
          <a:solidFill>
            <a:srgbClr val="B6BBC0"/>
          </a:solidFill>
          <a:ln w="12700">
            <a:solidFill>
              <a:srgbClr val="B6BBC0"/>
            </a:solidFill>
            <a:prstDash val="solid"/>
          </a:ln>
        </p:spPr>
      </p:sp>
      <p:sp>
        <p:nvSpPr>
          <p:cNvPr id="27" name="Shape 25"/>
          <p:cNvSpPr/>
          <p:nvPr/>
        </p:nvSpPr>
        <p:spPr>
          <a:xfrm>
            <a:off x="7200900" y="1664208"/>
            <a:ext cx="788670" cy="3456432"/>
          </a:xfrm>
          <a:prstGeom prst="rect">
            <a:avLst/>
          </a:prstGeom>
          <a:solidFill>
            <a:srgbClr val="F4F6F8"/>
          </a:solidFill>
          <a:ln w="12700">
            <a:solidFill>
              <a:srgbClr val="F4F6F8"/>
            </a:solidFill>
            <a:prstDash val="solid"/>
          </a:ln>
        </p:spPr>
      </p:sp>
      <p:sp>
        <p:nvSpPr>
          <p:cNvPr id="28" name="Text 26"/>
          <p:cNvSpPr/>
          <p:nvPr/>
        </p:nvSpPr>
        <p:spPr>
          <a:xfrm>
            <a:off x="720090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00900" y="1133856"/>
            <a:ext cx="13716" cy="3986784"/>
          </a:xfrm>
          <a:prstGeom prst="rect">
            <a:avLst/>
          </a:prstGeom>
          <a:solidFill>
            <a:srgbClr val="B6BBC0"/>
          </a:solidFill>
          <a:ln w="12700">
            <a:solidFill>
              <a:srgbClr val="B6BBC0"/>
            </a:solidFill>
            <a:prstDash val="solid"/>
          </a:ln>
        </p:spPr>
      </p:sp>
      <p:sp>
        <p:nvSpPr>
          <p:cNvPr id="30" name="Text 28"/>
          <p:cNvSpPr/>
          <p:nvPr/>
        </p:nvSpPr>
        <p:spPr>
          <a:xfrm>
            <a:off x="798957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89570" y="1133856"/>
            <a:ext cx="13716" cy="3986784"/>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664208"/>
            <a:ext cx="54864" cy="356616"/>
          </a:xfrm>
          <a:prstGeom prst="rect">
            <a:avLst/>
          </a:prstGeom>
          <a:solidFill>
            <a:srgbClr val="085CE5"/>
          </a:solidFill>
          <a:ln w="12700">
            <a:solidFill>
              <a:srgbClr val="085CE5"/>
            </a:solidFill>
            <a:prstDash val="solid"/>
          </a:ln>
        </p:spPr>
      </p:sp>
      <p:sp>
        <p:nvSpPr>
          <p:cNvPr id="34" name="Text 32"/>
          <p:cNvSpPr/>
          <p:nvPr/>
        </p:nvSpPr>
        <p:spPr>
          <a:xfrm>
            <a:off x="384048" y="16916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NCUA 5300 Call Reports</a:t>
            </a:r>
            <a:endParaRPr lang="en-US" sz="850" dirty="0"/>
          </a:p>
        </p:txBody>
      </p:sp>
      <p:sp>
        <p:nvSpPr>
          <p:cNvPr id="35" name="Text 33"/>
          <p:cNvSpPr/>
          <p:nvPr/>
        </p:nvSpPr>
        <p:spPr>
          <a:xfrm>
            <a:off x="384048" y="18836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Public regulatory</a:t>
            </a:r>
            <a:endParaRPr lang="en-US" sz="750" dirty="0"/>
          </a:p>
        </p:txBody>
      </p:sp>
      <p:sp>
        <p:nvSpPr>
          <p:cNvPr id="36" name="Shape 34"/>
          <p:cNvSpPr/>
          <p:nvPr/>
        </p:nvSpPr>
        <p:spPr>
          <a:xfrm>
            <a:off x="2505456" y="1737360"/>
            <a:ext cx="715518" cy="182880"/>
          </a:xfrm>
          <a:prstGeom prst="rect">
            <a:avLst/>
          </a:prstGeom>
          <a:solidFill>
            <a:srgbClr val="085CE5"/>
          </a:solidFill>
          <a:ln w="12700">
            <a:solidFill>
              <a:srgbClr val="085CE5"/>
            </a:solidFill>
            <a:prstDash val="solid"/>
          </a:ln>
        </p:spPr>
      </p:sp>
      <p:sp>
        <p:nvSpPr>
          <p:cNvPr id="37" name="Text 35"/>
          <p:cNvSpPr/>
          <p:nvPr/>
        </p:nvSpPr>
        <p:spPr>
          <a:xfrm>
            <a:off x="3275838" y="1737360"/>
            <a:ext cx="2194560" cy="182880"/>
          </a:xfrm>
          <a:prstGeom prst="rect">
            <a:avLst/>
          </a:prstGeom>
          <a:noFill/>
          <a:ln/>
        </p:spPr>
        <p:txBody>
          <a:bodyPr wrap="square" lIns="0" tIns="0" rIns="0" bIns="0" rtlCol="0" anchor="ctr"/>
          <a:lstStyle/>
          <a:p>
            <a:pPr indent="0" marL="0">
              <a:buNone/>
            </a:pPr>
            <a:r>
              <a:rPr lang="en-US" sz="750" i="1" dirty="0">
                <a:solidFill>
                  <a:srgbClr val="085CE5"/>
                </a:solidFill>
                <a:latin typeface="Calibri" pitchFamily="34" charset="0"/>
                <a:ea typeface="Calibri" pitchFamily="34" charset="-122"/>
                <a:cs typeface="Calibri" pitchFamily="34" charset="-120"/>
              </a:rPr>
              <a:t>Call Report AI</a:t>
            </a:r>
            <a:endParaRPr lang="en-US" sz="750" dirty="0"/>
          </a:p>
        </p:txBody>
      </p:sp>
      <p:sp>
        <p:nvSpPr>
          <p:cNvPr id="38" name="Shape 36"/>
          <p:cNvSpPr/>
          <p:nvPr/>
        </p:nvSpPr>
        <p:spPr>
          <a:xfrm>
            <a:off x="274320" y="2048256"/>
            <a:ext cx="8503920" cy="356616"/>
          </a:xfrm>
          <a:prstGeom prst="rect">
            <a:avLst/>
          </a:prstGeom>
          <a:solidFill>
            <a:srgbClr val="F8F9FA"/>
          </a:solidFill>
          <a:ln w="12700">
            <a:solidFill>
              <a:srgbClr val="E7ECF0"/>
            </a:solidFill>
            <a:prstDash val="solid"/>
          </a:ln>
        </p:spPr>
      </p:sp>
      <p:sp>
        <p:nvSpPr>
          <p:cNvPr id="39" name="Shape 37"/>
          <p:cNvSpPr/>
          <p:nvPr/>
        </p:nvSpPr>
        <p:spPr>
          <a:xfrm>
            <a:off x="274320" y="2048256"/>
            <a:ext cx="54864" cy="356616"/>
          </a:xfrm>
          <a:prstGeom prst="rect">
            <a:avLst/>
          </a:prstGeom>
          <a:solidFill>
            <a:srgbClr val="085CE5"/>
          </a:solidFill>
          <a:ln w="12700">
            <a:solidFill>
              <a:srgbClr val="085CE5"/>
            </a:solidFill>
            <a:prstDash val="solid"/>
          </a:ln>
        </p:spPr>
      </p:sp>
      <p:sp>
        <p:nvSpPr>
          <p:cNvPr id="40" name="Text 38"/>
          <p:cNvSpPr/>
          <p:nvPr/>
        </p:nvSpPr>
        <p:spPr>
          <a:xfrm>
            <a:off x="384048" y="207568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41" name="Text 39"/>
          <p:cNvSpPr/>
          <p:nvPr/>
        </p:nvSpPr>
        <p:spPr>
          <a:xfrm>
            <a:off x="384048" y="226771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42" name="Shape 40"/>
          <p:cNvSpPr/>
          <p:nvPr/>
        </p:nvSpPr>
        <p:spPr>
          <a:xfrm>
            <a:off x="2505456" y="2121408"/>
            <a:ext cx="1504188" cy="182880"/>
          </a:xfrm>
          <a:prstGeom prst="rect">
            <a:avLst/>
          </a:prstGeom>
          <a:solidFill>
            <a:srgbClr val="085CE5"/>
          </a:solidFill>
          <a:ln w="12700">
            <a:solidFill>
              <a:srgbClr val="085CE5"/>
            </a:solidFill>
            <a:prstDash val="solid"/>
          </a:ln>
        </p:spPr>
      </p:sp>
      <p:sp>
        <p:nvSpPr>
          <p:cNvPr id="43" name="Text 41"/>
          <p:cNvSpPr/>
          <p:nvPr/>
        </p:nvSpPr>
        <p:spPr>
          <a:xfrm>
            <a:off x="2569464" y="212140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44" name="Shape 42"/>
          <p:cNvSpPr/>
          <p:nvPr/>
        </p:nvSpPr>
        <p:spPr>
          <a:xfrm>
            <a:off x="274320" y="2432304"/>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432304"/>
            <a:ext cx="54864" cy="356616"/>
          </a:xfrm>
          <a:prstGeom prst="rect">
            <a:avLst/>
          </a:prstGeom>
          <a:solidFill>
            <a:srgbClr val="085CE5"/>
          </a:solidFill>
          <a:ln w="12700">
            <a:solidFill>
              <a:srgbClr val="085CE5"/>
            </a:solidFill>
            <a:prstDash val="solid"/>
          </a:ln>
        </p:spPr>
      </p:sp>
      <p:sp>
        <p:nvSpPr>
          <p:cNvPr id="46" name="Text 44"/>
          <p:cNvSpPr/>
          <p:nvPr/>
        </p:nvSpPr>
        <p:spPr>
          <a:xfrm>
            <a:off x="384048" y="245973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47" name="Text 45"/>
          <p:cNvSpPr/>
          <p:nvPr/>
        </p:nvSpPr>
        <p:spPr>
          <a:xfrm>
            <a:off x="384048" y="265176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Zelle, RTP, FedNow</a:t>
            </a:r>
            <a:endParaRPr lang="en-US" sz="750" dirty="0"/>
          </a:p>
        </p:txBody>
      </p:sp>
      <p:sp>
        <p:nvSpPr>
          <p:cNvPr id="48" name="Shape 46"/>
          <p:cNvSpPr/>
          <p:nvPr/>
        </p:nvSpPr>
        <p:spPr>
          <a:xfrm>
            <a:off x="2505456" y="2505456"/>
            <a:ext cx="1504188" cy="182880"/>
          </a:xfrm>
          <a:prstGeom prst="rect">
            <a:avLst/>
          </a:prstGeom>
          <a:solidFill>
            <a:srgbClr val="085CE5"/>
          </a:solidFill>
          <a:ln w="12700">
            <a:solidFill>
              <a:srgbClr val="085CE5"/>
            </a:solidFill>
            <a:prstDash val="solid"/>
          </a:ln>
        </p:spPr>
      </p:sp>
      <p:sp>
        <p:nvSpPr>
          <p:cNvPr id="49" name="Text 47"/>
          <p:cNvSpPr/>
          <p:nvPr/>
        </p:nvSpPr>
        <p:spPr>
          <a:xfrm>
            <a:off x="2569464" y="250545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50" name="Shape 48"/>
          <p:cNvSpPr/>
          <p:nvPr/>
        </p:nvSpPr>
        <p:spPr>
          <a:xfrm>
            <a:off x="274320" y="2816352"/>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816352"/>
            <a:ext cx="54864" cy="356616"/>
          </a:xfrm>
          <a:prstGeom prst="rect">
            <a:avLst/>
          </a:prstGeom>
          <a:solidFill>
            <a:srgbClr val="085CE5"/>
          </a:solidFill>
          <a:ln w="12700">
            <a:solidFill>
              <a:srgbClr val="085CE5"/>
            </a:solidFill>
            <a:prstDash val="solid"/>
          </a:ln>
        </p:spPr>
      </p:sp>
      <p:sp>
        <p:nvSpPr>
          <p:cNvPr id="52" name="Text 50"/>
          <p:cNvSpPr/>
          <p:nvPr/>
        </p:nvSpPr>
        <p:spPr>
          <a:xfrm>
            <a:off x="384048" y="284378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53" name="Text 51"/>
          <p:cNvSpPr/>
          <p:nvPr/>
        </p:nvSpPr>
        <p:spPr>
          <a:xfrm>
            <a:off x="384048" y="303580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54" name="Shape 52"/>
          <p:cNvSpPr/>
          <p:nvPr/>
        </p:nvSpPr>
        <p:spPr>
          <a:xfrm>
            <a:off x="2505456" y="2889504"/>
            <a:ext cx="1504188" cy="182880"/>
          </a:xfrm>
          <a:prstGeom prst="rect">
            <a:avLst/>
          </a:prstGeom>
          <a:solidFill>
            <a:srgbClr val="085CE5"/>
          </a:solidFill>
          <a:ln w="12700">
            <a:solidFill>
              <a:srgbClr val="085CE5"/>
            </a:solidFill>
            <a:prstDash val="solid"/>
          </a:ln>
        </p:spPr>
      </p:sp>
      <p:sp>
        <p:nvSpPr>
          <p:cNvPr id="55" name="Text 53"/>
          <p:cNvSpPr/>
          <p:nvPr/>
        </p:nvSpPr>
        <p:spPr>
          <a:xfrm>
            <a:off x="2569464" y="288950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56" name="Shape 54"/>
          <p:cNvSpPr/>
          <p:nvPr/>
        </p:nvSpPr>
        <p:spPr>
          <a:xfrm>
            <a:off x="274320" y="3200400"/>
            <a:ext cx="8503920" cy="356616"/>
          </a:xfrm>
          <a:prstGeom prst="rect">
            <a:avLst/>
          </a:prstGeom>
          <a:solidFill>
            <a:srgbClr val="FFFFFF"/>
          </a:solidFill>
          <a:ln w="12700">
            <a:solidFill>
              <a:srgbClr val="E7ECF0"/>
            </a:solidFill>
            <a:prstDash val="solid"/>
          </a:ln>
        </p:spPr>
      </p:sp>
      <p:sp>
        <p:nvSpPr>
          <p:cNvPr id="57" name="Shape 55"/>
          <p:cNvSpPr/>
          <p:nvPr/>
        </p:nvSpPr>
        <p:spPr>
          <a:xfrm>
            <a:off x="274320" y="3200400"/>
            <a:ext cx="54864" cy="356616"/>
          </a:xfrm>
          <a:prstGeom prst="rect">
            <a:avLst/>
          </a:prstGeom>
          <a:solidFill>
            <a:srgbClr val="085CE5"/>
          </a:solidFill>
          <a:ln w="12700">
            <a:solidFill>
              <a:srgbClr val="085CE5"/>
            </a:solidFill>
            <a:prstDash val="solid"/>
          </a:ln>
        </p:spPr>
      </p:sp>
      <p:sp>
        <p:nvSpPr>
          <p:cNvPr id="58" name="Text 56"/>
          <p:cNvSpPr/>
          <p:nvPr/>
        </p:nvSpPr>
        <p:spPr>
          <a:xfrm>
            <a:off x="384048" y="322783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59" name="Text 57"/>
          <p:cNvSpPr/>
          <p:nvPr/>
        </p:nvSpPr>
        <p:spPr>
          <a:xfrm>
            <a:off x="384048" y="341985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60" name="Shape 58"/>
          <p:cNvSpPr/>
          <p:nvPr/>
        </p:nvSpPr>
        <p:spPr>
          <a:xfrm>
            <a:off x="2505456" y="3273552"/>
            <a:ext cx="1504188" cy="182880"/>
          </a:xfrm>
          <a:prstGeom prst="rect">
            <a:avLst/>
          </a:prstGeom>
          <a:solidFill>
            <a:srgbClr val="085CE5"/>
          </a:solidFill>
          <a:ln w="12700">
            <a:solidFill>
              <a:srgbClr val="085CE5"/>
            </a:solidFill>
            <a:prstDash val="solid"/>
          </a:ln>
        </p:spPr>
      </p:sp>
      <p:sp>
        <p:nvSpPr>
          <p:cNvPr id="61" name="Text 59"/>
          <p:cNvSpPr/>
          <p:nvPr/>
        </p:nvSpPr>
        <p:spPr>
          <a:xfrm>
            <a:off x="2569464" y="327355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62" name="Shape 60"/>
          <p:cNvSpPr/>
          <p:nvPr/>
        </p:nvSpPr>
        <p:spPr>
          <a:xfrm>
            <a:off x="274320" y="3584448"/>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584448"/>
            <a:ext cx="54864" cy="356616"/>
          </a:xfrm>
          <a:prstGeom prst="rect">
            <a:avLst/>
          </a:prstGeom>
          <a:solidFill>
            <a:srgbClr val="085CE5"/>
          </a:solidFill>
          <a:ln w="12700">
            <a:solidFill>
              <a:srgbClr val="085CE5"/>
            </a:solidFill>
            <a:prstDash val="solid"/>
          </a:ln>
        </p:spPr>
      </p:sp>
      <p:sp>
        <p:nvSpPr>
          <p:cNvPr id="64" name="Text 62"/>
          <p:cNvSpPr/>
          <p:nvPr/>
        </p:nvSpPr>
        <p:spPr>
          <a:xfrm>
            <a:off x="384048" y="361188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JHA SmartPay / Biz Payments</a:t>
            </a:r>
            <a:endParaRPr lang="en-US" sz="850" dirty="0"/>
          </a:p>
        </p:txBody>
      </p:sp>
      <p:sp>
        <p:nvSpPr>
          <p:cNvPr id="65" name="Text 63"/>
          <p:cNvSpPr/>
          <p:nvPr/>
        </p:nvSpPr>
        <p:spPr>
          <a:xfrm>
            <a:off x="384048" y="380390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66" name="Shape 64"/>
          <p:cNvSpPr/>
          <p:nvPr/>
        </p:nvSpPr>
        <p:spPr>
          <a:xfrm>
            <a:off x="2505456" y="3657600"/>
            <a:ext cx="1504188" cy="182880"/>
          </a:xfrm>
          <a:prstGeom prst="rect">
            <a:avLst/>
          </a:prstGeom>
          <a:solidFill>
            <a:srgbClr val="085CE5"/>
          </a:solidFill>
          <a:ln w="12700">
            <a:solidFill>
              <a:srgbClr val="085CE5"/>
            </a:solidFill>
            <a:prstDash val="solid"/>
          </a:ln>
        </p:spPr>
      </p:sp>
      <p:sp>
        <p:nvSpPr>
          <p:cNvPr id="67" name="Text 65"/>
          <p:cNvSpPr/>
          <p:nvPr/>
        </p:nvSpPr>
        <p:spPr>
          <a:xfrm>
            <a:off x="2569464" y="365760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68" name="Shape 66"/>
          <p:cNvSpPr/>
          <p:nvPr/>
        </p:nvSpPr>
        <p:spPr>
          <a:xfrm>
            <a:off x="274320" y="3968496"/>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968496"/>
            <a:ext cx="54864" cy="356616"/>
          </a:xfrm>
          <a:prstGeom prst="rect">
            <a:avLst/>
          </a:prstGeom>
          <a:solidFill>
            <a:srgbClr val="085CE5"/>
          </a:solidFill>
          <a:ln w="12700">
            <a:solidFill>
              <a:srgbClr val="085CE5"/>
            </a:solidFill>
            <a:prstDash val="solid"/>
          </a:ln>
        </p:spPr>
      </p:sp>
      <p:sp>
        <p:nvSpPr>
          <p:cNvPr id="70" name="Text 68"/>
          <p:cNvSpPr/>
          <p:nvPr/>
        </p:nvSpPr>
        <p:spPr>
          <a:xfrm>
            <a:off x="384048" y="399592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71" name="Text 69"/>
          <p:cNvSpPr/>
          <p:nvPr/>
        </p:nvSpPr>
        <p:spPr>
          <a:xfrm>
            <a:off x="384048" y="418795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72" name="Shape 70"/>
          <p:cNvSpPr/>
          <p:nvPr/>
        </p:nvSpPr>
        <p:spPr>
          <a:xfrm>
            <a:off x="2505456" y="4041648"/>
            <a:ext cx="1504188" cy="182880"/>
          </a:xfrm>
          <a:prstGeom prst="rect">
            <a:avLst/>
          </a:prstGeom>
          <a:solidFill>
            <a:srgbClr val="085CE5"/>
          </a:solidFill>
          <a:ln w="12700">
            <a:solidFill>
              <a:srgbClr val="085CE5"/>
            </a:solidFill>
            <a:prstDash val="solid"/>
          </a:ln>
        </p:spPr>
      </p:sp>
      <p:sp>
        <p:nvSpPr>
          <p:cNvPr id="73" name="Text 71"/>
          <p:cNvSpPr/>
          <p:nvPr/>
        </p:nvSpPr>
        <p:spPr>
          <a:xfrm>
            <a:off x="2569464" y="404164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74" name="Shape 72"/>
          <p:cNvSpPr/>
          <p:nvPr/>
        </p:nvSpPr>
        <p:spPr>
          <a:xfrm>
            <a:off x="274320" y="4352544"/>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352544"/>
            <a:ext cx="54864" cy="356616"/>
          </a:xfrm>
          <a:prstGeom prst="rect">
            <a:avLst/>
          </a:prstGeom>
          <a:solidFill>
            <a:srgbClr val="073FA8"/>
          </a:solidFill>
          <a:ln w="12700">
            <a:solidFill>
              <a:srgbClr val="073FA8"/>
            </a:solidFill>
            <a:prstDash val="solid"/>
          </a:ln>
        </p:spPr>
      </p:sp>
      <p:sp>
        <p:nvSpPr>
          <p:cNvPr id="76" name="Text 74"/>
          <p:cNvSpPr/>
          <p:nvPr/>
        </p:nvSpPr>
        <p:spPr>
          <a:xfrm>
            <a:off x="384048" y="437997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77" name="Text 75"/>
          <p:cNvSpPr/>
          <p:nvPr/>
        </p:nvSpPr>
        <p:spPr>
          <a:xfrm>
            <a:off x="384048" y="457200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txns, deposits, loans</a:t>
            </a:r>
            <a:endParaRPr lang="en-US" sz="750" dirty="0"/>
          </a:p>
        </p:txBody>
      </p:sp>
      <p:sp>
        <p:nvSpPr>
          <p:cNvPr id="78" name="Shape 76"/>
          <p:cNvSpPr/>
          <p:nvPr/>
        </p:nvSpPr>
        <p:spPr>
          <a:xfrm>
            <a:off x="4082796" y="4425696"/>
            <a:ext cx="1504188" cy="182880"/>
          </a:xfrm>
          <a:prstGeom prst="rect">
            <a:avLst/>
          </a:prstGeom>
          <a:solidFill>
            <a:srgbClr val="073FA8"/>
          </a:solidFill>
          <a:ln w="12700">
            <a:solidFill>
              <a:srgbClr val="073FA8"/>
            </a:solidFill>
            <a:prstDash val="solid"/>
          </a:ln>
        </p:spPr>
      </p:sp>
      <p:sp>
        <p:nvSpPr>
          <p:cNvPr id="79" name="Text 77"/>
          <p:cNvSpPr/>
          <p:nvPr/>
        </p:nvSpPr>
        <p:spPr>
          <a:xfrm>
            <a:off x="4146804" y="442569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Mediation · Acct Opening LTV · Personal-as-Commercial · Wealth Deflection</a:t>
            </a:r>
            <a:endParaRPr lang="en-US" sz="750" dirty="0"/>
          </a:p>
        </p:txBody>
      </p:sp>
      <p:sp>
        <p:nvSpPr>
          <p:cNvPr id="80" name="Shape 78"/>
          <p:cNvSpPr/>
          <p:nvPr/>
        </p:nvSpPr>
        <p:spPr>
          <a:xfrm>
            <a:off x="274320" y="4736592"/>
            <a:ext cx="8503920" cy="356616"/>
          </a:xfrm>
          <a:prstGeom prst="rect">
            <a:avLst/>
          </a:prstGeom>
          <a:solidFill>
            <a:srgbClr val="FFFFFF"/>
          </a:solidFill>
          <a:ln w="12700">
            <a:solidFill>
              <a:srgbClr val="E7ECF0"/>
            </a:solidFill>
            <a:prstDash val="solid"/>
          </a:ln>
        </p:spPr>
      </p:sp>
      <p:sp>
        <p:nvSpPr>
          <p:cNvPr id="81" name="Shape 79"/>
          <p:cNvSpPr/>
          <p:nvPr/>
        </p:nvSpPr>
        <p:spPr>
          <a:xfrm>
            <a:off x="274320" y="4736592"/>
            <a:ext cx="54864" cy="356616"/>
          </a:xfrm>
          <a:prstGeom prst="rect">
            <a:avLst/>
          </a:prstGeom>
          <a:solidFill>
            <a:srgbClr val="575A5D"/>
          </a:solidFill>
          <a:ln w="12700">
            <a:solidFill>
              <a:srgbClr val="575A5D"/>
            </a:solidFill>
            <a:prstDash val="solid"/>
          </a:ln>
        </p:spPr>
      </p:sp>
      <p:sp>
        <p:nvSpPr>
          <p:cNvPr id="82" name="Text 80"/>
          <p:cNvSpPr/>
          <p:nvPr/>
        </p:nvSpPr>
        <p:spPr>
          <a:xfrm>
            <a:off x="384048" y="476402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 Lending</a:t>
            </a:r>
            <a:endParaRPr lang="en-US" sz="850" dirty="0"/>
          </a:p>
        </p:txBody>
      </p:sp>
      <p:sp>
        <p:nvSpPr>
          <p:cNvPr id="83" name="Text 81"/>
          <p:cNvSpPr/>
          <p:nvPr/>
        </p:nvSpPr>
        <p:spPr>
          <a:xfrm>
            <a:off x="384048" y="495604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behavior, loan data</a:t>
            </a:r>
            <a:endParaRPr lang="en-US" sz="750" dirty="0"/>
          </a:p>
        </p:txBody>
      </p:sp>
      <p:sp>
        <p:nvSpPr>
          <p:cNvPr id="84" name="Shape 82"/>
          <p:cNvSpPr/>
          <p:nvPr/>
        </p:nvSpPr>
        <p:spPr>
          <a:xfrm>
            <a:off x="5660136" y="4809744"/>
            <a:ext cx="2292858" cy="182880"/>
          </a:xfrm>
          <a:prstGeom prst="rect">
            <a:avLst/>
          </a:prstGeom>
          <a:solidFill>
            <a:srgbClr val="575A5D"/>
          </a:solidFill>
          <a:ln w="12700">
            <a:solidFill>
              <a:srgbClr val="575A5D"/>
            </a:solidFill>
            <a:prstDash val="solid"/>
          </a:ln>
        </p:spPr>
      </p:sp>
      <p:sp>
        <p:nvSpPr>
          <p:cNvPr id="85" name="Text 83"/>
          <p:cNvSpPr/>
          <p:nvPr/>
        </p:nvSpPr>
        <p:spPr>
          <a:xfrm>
            <a:off x="5724144" y="4809744"/>
            <a:ext cx="218313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 Next Best Action · FI Decision Studio</a:t>
            </a:r>
            <a:endParaRPr lang="en-US" sz="750" dirty="0"/>
          </a:p>
        </p:txBody>
      </p:sp>
      <p:sp>
        <p:nvSpPr>
          <p:cNvPr id="86" name="Shape 84"/>
          <p:cNvSpPr/>
          <p:nvPr/>
        </p:nvSpPr>
        <p:spPr>
          <a:xfrm>
            <a:off x="2482596" y="1115568"/>
            <a:ext cx="36576" cy="4005072"/>
          </a:xfrm>
          <a:prstGeom prst="rect">
            <a:avLst/>
          </a:prstGeom>
          <a:solidFill>
            <a:srgbClr val="76DCFD"/>
          </a:solidFill>
          <a:ln w="12700">
            <a:solidFill>
              <a:srgbClr val="76DCFD"/>
            </a:solidFill>
            <a:prstDash val="solid"/>
          </a:ln>
        </p:spPr>
      </p:sp>
      <p:sp>
        <p:nvSpPr>
          <p:cNvPr id="87" name="Text 85"/>
          <p:cNvSpPr/>
          <p:nvPr/>
        </p:nvSpPr>
        <p:spPr>
          <a:xfrm>
            <a:off x="2359152"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Build FI data pipelines from JH core banking systems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Establish data governance and model review process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50208"/>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14216"/>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50208"/>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Attrition / Churn Mediation</a:t>
            </a:r>
            <a:endParaRPr lang="en-US" sz="900" dirty="0"/>
          </a:p>
        </p:txBody>
      </p:sp>
      <p:sp>
        <p:nvSpPr>
          <p:cNvPr id="17" name="Shape 15"/>
          <p:cNvSpPr/>
          <p:nvPr/>
        </p:nvSpPr>
        <p:spPr>
          <a:xfrm>
            <a:off x="2029968" y="3977640"/>
            <a:ext cx="749808" cy="201168"/>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029968" y="3977640"/>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MVP</a:t>
            </a:r>
            <a:endParaRPr lang="en-US" sz="70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MLOps pipeline + streaming anomaly engine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banking + payments data integration complete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Call Report AI full CU client base rollout</a:t>
            </a:r>
            <a:endParaRPr lang="en-US" sz="1000" dirty="0"/>
          </a:p>
        </p:txBody>
      </p:sp>
      <p:sp>
        <p:nvSpPr>
          <p:cNvPr id="26" name="Shape 24"/>
          <p:cNvSpPr/>
          <p:nvPr/>
        </p:nvSpPr>
        <p:spPr>
          <a:xfrm>
            <a:off x="3200400" y="3438144"/>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438144"/>
            <a:ext cx="54864" cy="237744"/>
          </a:xfrm>
          <a:prstGeom prst="rect">
            <a:avLst/>
          </a:prstGeom>
          <a:solidFill>
            <a:srgbClr val="073FA8"/>
          </a:solidFill>
          <a:ln w="12700">
            <a:solidFill>
              <a:srgbClr val="073FA8"/>
            </a:solidFill>
            <a:prstDash val="solid"/>
          </a:ln>
        </p:spPr>
      </p:sp>
      <p:sp>
        <p:nvSpPr>
          <p:cNvPr id="28" name="Text 26"/>
          <p:cNvSpPr/>
          <p:nvPr/>
        </p:nvSpPr>
        <p:spPr>
          <a:xfrm>
            <a:off x="3328416" y="3438144"/>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712464"/>
            <a:ext cx="2523744" cy="219456"/>
          </a:xfrm>
          <a:prstGeom prst="rect">
            <a:avLst/>
          </a:prstGeom>
          <a:solidFill>
            <a:srgbClr val="073FA8"/>
          </a:solidFill>
          <a:ln w="12700">
            <a:solidFill>
              <a:srgbClr val="073FA8"/>
            </a:solidFill>
            <a:prstDash val="solid"/>
          </a:ln>
        </p:spPr>
      </p:sp>
      <p:sp>
        <p:nvSpPr>
          <p:cNvPr id="30" name="Shape 28"/>
          <p:cNvSpPr/>
          <p:nvPr/>
        </p:nvSpPr>
        <p:spPr>
          <a:xfrm>
            <a:off x="3383280" y="375818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712464"/>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Anomaly Detection</a:t>
            </a:r>
            <a:endParaRPr lang="en-US" sz="800" dirty="0"/>
          </a:p>
        </p:txBody>
      </p:sp>
      <p:sp>
        <p:nvSpPr>
          <p:cNvPr id="32" name="Shape 30"/>
          <p:cNvSpPr/>
          <p:nvPr/>
        </p:nvSpPr>
        <p:spPr>
          <a:xfrm>
            <a:off x="3328416" y="3968496"/>
            <a:ext cx="2523744" cy="219456"/>
          </a:xfrm>
          <a:prstGeom prst="rect">
            <a:avLst/>
          </a:prstGeom>
          <a:solidFill>
            <a:srgbClr val="06185F"/>
          </a:solidFill>
          <a:ln w="12700">
            <a:solidFill>
              <a:srgbClr val="06185F"/>
            </a:solidFill>
            <a:prstDash val="solid"/>
          </a:ln>
        </p:spPr>
      </p:sp>
      <p:sp>
        <p:nvSpPr>
          <p:cNvPr id="33" name="Shape 31"/>
          <p:cNvSpPr/>
          <p:nvPr/>
        </p:nvSpPr>
        <p:spPr>
          <a:xfrm>
            <a:off x="3383280" y="4014216"/>
            <a:ext cx="128016" cy="128016"/>
          </a:xfrm>
          <a:prstGeom prst="ellipse">
            <a:avLst/>
          </a:prstGeom>
          <a:solidFill>
            <a:srgbClr val="FFFFFF">
              <a:alpha val="70000"/>
            </a:srgbClr>
          </a:solidFill>
          <a:ln w="12700">
            <a:solidFill>
              <a:srgbClr val="FFFFFF">
                <a:alpha val="70000"/>
              </a:srgbClr>
            </a:solidFill>
            <a:prstDash val="solid"/>
          </a:ln>
        </p:spPr>
      </p:sp>
      <p:sp>
        <p:nvSpPr>
          <p:cNvPr id="34" name="Text 32"/>
          <p:cNvSpPr/>
          <p:nvPr/>
        </p:nvSpPr>
        <p:spPr>
          <a:xfrm>
            <a:off x="3566160" y="3968496"/>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Zelle Memo Intelligence</a:t>
            </a:r>
            <a:endParaRPr lang="en-US" sz="800" dirty="0"/>
          </a:p>
        </p:txBody>
      </p:sp>
      <p:sp>
        <p:nvSpPr>
          <p:cNvPr id="35" name="Shape 33"/>
          <p:cNvSpPr/>
          <p:nvPr/>
        </p:nvSpPr>
        <p:spPr>
          <a:xfrm>
            <a:off x="3328416" y="4224528"/>
            <a:ext cx="2523744" cy="219456"/>
          </a:xfrm>
          <a:prstGeom prst="rect">
            <a:avLst/>
          </a:prstGeom>
          <a:solidFill>
            <a:srgbClr val="575A5D"/>
          </a:solidFill>
          <a:ln w="12700">
            <a:solidFill>
              <a:srgbClr val="575A5D"/>
            </a:solidFill>
            <a:prstDash val="solid"/>
          </a:ln>
        </p:spPr>
      </p:sp>
      <p:sp>
        <p:nvSpPr>
          <p:cNvPr id="36" name="Shape 34"/>
          <p:cNvSpPr/>
          <p:nvPr/>
        </p:nvSpPr>
        <p:spPr>
          <a:xfrm>
            <a:off x="3383280" y="4270248"/>
            <a:ext cx="128016" cy="128016"/>
          </a:xfrm>
          <a:prstGeom prst="ellipse">
            <a:avLst/>
          </a:prstGeom>
          <a:solidFill>
            <a:srgbClr val="FFFFFF">
              <a:alpha val="70000"/>
            </a:srgbClr>
          </a:solidFill>
          <a:ln w="12700">
            <a:solidFill>
              <a:srgbClr val="FFFFFF">
                <a:alpha val="70000"/>
              </a:srgbClr>
            </a:solidFill>
            <a:prstDash val="solid"/>
          </a:ln>
        </p:spPr>
      </p:sp>
      <p:sp>
        <p:nvSpPr>
          <p:cNvPr id="37" name="Text 35"/>
          <p:cNvSpPr/>
          <p:nvPr/>
        </p:nvSpPr>
        <p:spPr>
          <a:xfrm>
            <a:off x="3566160" y="4224528"/>
            <a:ext cx="1554480"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Call Report AI</a:t>
            </a:r>
            <a:endParaRPr lang="en-US" sz="800" dirty="0"/>
          </a:p>
        </p:txBody>
      </p:sp>
      <p:sp>
        <p:nvSpPr>
          <p:cNvPr id="38" name="Shape 36"/>
          <p:cNvSpPr/>
          <p:nvPr/>
        </p:nvSpPr>
        <p:spPr>
          <a:xfrm>
            <a:off x="4974336" y="4251960"/>
            <a:ext cx="749808" cy="164592"/>
          </a:xfrm>
          <a:prstGeom prst="rect">
            <a:avLst/>
          </a:prstGeom>
          <a:solidFill>
            <a:srgbClr val="FFFFFF">
              <a:alpha val="80000"/>
            </a:srgbClr>
          </a:solidFill>
          <a:ln w="12700">
            <a:solidFill>
              <a:srgbClr val="FFFFFF">
                <a:alpha val="60000"/>
              </a:srgbClr>
            </a:solidFill>
            <a:prstDash val="solid"/>
          </a:ln>
        </p:spPr>
      </p:sp>
      <p:sp>
        <p:nvSpPr>
          <p:cNvPr id="39" name="Text 37"/>
          <p:cNvSpPr/>
          <p:nvPr/>
        </p:nvSpPr>
        <p:spPr>
          <a:xfrm>
            <a:off x="4974336" y="4251960"/>
            <a:ext cx="749808" cy="16459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Aug/Sept '26</a:t>
            </a:r>
            <a:endParaRPr lang="en-US" sz="700" dirty="0"/>
          </a:p>
        </p:txBody>
      </p:sp>
      <p:sp>
        <p:nvSpPr>
          <p:cNvPr id="40" name="Shape 38"/>
          <p:cNvSpPr/>
          <p:nvPr/>
        </p:nvSpPr>
        <p:spPr>
          <a:xfrm>
            <a:off x="3328416" y="4480560"/>
            <a:ext cx="2523744" cy="219456"/>
          </a:xfrm>
          <a:prstGeom prst="rect">
            <a:avLst/>
          </a:prstGeom>
          <a:solidFill>
            <a:srgbClr val="0A52C4"/>
          </a:solidFill>
          <a:ln w="12700">
            <a:solidFill>
              <a:srgbClr val="0A52C4"/>
            </a:solidFill>
            <a:prstDash val="solid"/>
          </a:ln>
        </p:spPr>
      </p:sp>
      <p:sp>
        <p:nvSpPr>
          <p:cNvPr id="41" name="Shape 39"/>
          <p:cNvSpPr/>
          <p:nvPr/>
        </p:nvSpPr>
        <p:spPr>
          <a:xfrm>
            <a:off x="3383280" y="4526280"/>
            <a:ext cx="128016" cy="128016"/>
          </a:xfrm>
          <a:prstGeom prst="ellipse">
            <a:avLst/>
          </a:prstGeom>
          <a:solidFill>
            <a:srgbClr val="FFFFFF">
              <a:alpha val="70000"/>
            </a:srgbClr>
          </a:solidFill>
          <a:ln w="12700">
            <a:solidFill>
              <a:srgbClr val="FFFFFF">
                <a:alpha val="70000"/>
              </a:srgbClr>
            </a:solidFill>
            <a:prstDash val="solid"/>
          </a:ln>
        </p:spPr>
      </p:sp>
      <p:sp>
        <p:nvSpPr>
          <p:cNvPr id="42" name="Text 40"/>
          <p:cNvSpPr/>
          <p:nvPr/>
        </p:nvSpPr>
        <p:spPr>
          <a:xfrm>
            <a:off x="3566160" y="4480560"/>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Personal-as-Commercial</a:t>
            </a:r>
            <a:endParaRPr lang="en-US" sz="800" dirty="0"/>
          </a:p>
        </p:txBody>
      </p:sp>
      <p:sp>
        <p:nvSpPr>
          <p:cNvPr id="43" name="Shape 41"/>
          <p:cNvSpPr/>
          <p:nvPr/>
        </p:nvSpPr>
        <p:spPr>
          <a:xfrm>
            <a:off x="3328416" y="4736592"/>
            <a:ext cx="2523744" cy="219456"/>
          </a:xfrm>
          <a:prstGeom prst="rect">
            <a:avLst/>
          </a:prstGeom>
          <a:solidFill>
            <a:srgbClr val="0F3D8A"/>
          </a:solidFill>
          <a:ln w="12700">
            <a:solidFill>
              <a:srgbClr val="0F3D8A"/>
            </a:solidFill>
            <a:prstDash val="solid"/>
          </a:ln>
        </p:spPr>
      </p:sp>
      <p:sp>
        <p:nvSpPr>
          <p:cNvPr id="44" name="Shape 42"/>
          <p:cNvSpPr/>
          <p:nvPr/>
        </p:nvSpPr>
        <p:spPr>
          <a:xfrm>
            <a:off x="3383280" y="4782312"/>
            <a:ext cx="128016" cy="128016"/>
          </a:xfrm>
          <a:prstGeom prst="ellipse">
            <a:avLst/>
          </a:prstGeom>
          <a:solidFill>
            <a:srgbClr val="FFFFFF">
              <a:alpha val="70000"/>
            </a:srgbClr>
          </a:solidFill>
          <a:ln w="12700">
            <a:solidFill>
              <a:srgbClr val="FFFFFF">
                <a:alpha val="70000"/>
              </a:srgbClr>
            </a:solidFill>
            <a:prstDash val="solid"/>
          </a:ln>
        </p:spPr>
      </p:sp>
      <p:sp>
        <p:nvSpPr>
          <p:cNvPr id="45" name="Text 43"/>
          <p:cNvSpPr/>
          <p:nvPr/>
        </p:nvSpPr>
        <p:spPr>
          <a:xfrm>
            <a:off x="3566160" y="4736592"/>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Generational Wealth Deflection</a:t>
            </a:r>
            <a:endParaRPr lang="en-US" sz="800" dirty="0"/>
          </a:p>
        </p:txBody>
      </p:sp>
      <p:sp>
        <p:nvSpPr>
          <p:cNvPr id="46" name="Shape 44"/>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7" name="Shape 45"/>
          <p:cNvSpPr/>
          <p:nvPr/>
        </p:nvSpPr>
        <p:spPr>
          <a:xfrm>
            <a:off x="6144768" y="749808"/>
            <a:ext cx="2816352" cy="804672"/>
          </a:xfrm>
          <a:prstGeom prst="rect">
            <a:avLst/>
          </a:prstGeom>
          <a:solidFill>
            <a:srgbClr val="575A5D"/>
          </a:solidFill>
          <a:ln w="12700">
            <a:solidFill>
              <a:srgbClr val="575A5D"/>
            </a:solidFill>
            <a:prstDash val="solid"/>
          </a:ln>
        </p:spPr>
      </p:sp>
      <p:sp>
        <p:nvSpPr>
          <p:cNvPr id="48" name="Text 46"/>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9" name="Shape 47"/>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50" name="Text 48"/>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51" name="Text 49"/>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52" name="Text 50"/>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Account Opening LTV into JH onboarding flow</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53" name="Shape 51"/>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54" name="Shape 52"/>
          <p:cNvSpPr/>
          <p:nvPr/>
        </p:nvSpPr>
        <p:spPr>
          <a:xfrm>
            <a:off x="6144768" y="3675888"/>
            <a:ext cx="54864" cy="237744"/>
          </a:xfrm>
          <a:prstGeom prst="rect">
            <a:avLst/>
          </a:prstGeom>
          <a:solidFill>
            <a:srgbClr val="575A5D"/>
          </a:solidFill>
          <a:ln w="12700">
            <a:solidFill>
              <a:srgbClr val="575A5D"/>
            </a:solidFill>
            <a:prstDash val="solid"/>
          </a:ln>
        </p:spPr>
      </p:sp>
      <p:sp>
        <p:nvSpPr>
          <p:cNvPr id="55" name="Text 53"/>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6" name="Shape 54"/>
          <p:cNvSpPr/>
          <p:nvPr/>
        </p:nvSpPr>
        <p:spPr>
          <a:xfrm>
            <a:off x="6272784" y="3950208"/>
            <a:ext cx="2523744" cy="256032"/>
          </a:xfrm>
          <a:prstGeom prst="rect">
            <a:avLst/>
          </a:prstGeom>
          <a:solidFill>
            <a:srgbClr val="0B68D4"/>
          </a:solidFill>
          <a:ln w="12700">
            <a:solidFill>
              <a:srgbClr val="0B68D4"/>
            </a:solidFill>
            <a:prstDash val="solid"/>
          </a:ln>
        </p:spPr>
      </p:sp>
      <p:sp>
        <p:nvSpPr>
          <p:cNvPr id="57" name="Shape 55"/>
          <p:cNvSpPr/>
          <p:nvPr/>
        </p:nvSpPr>
        <p:spPr>
          <a:xfrm>
            <a:off x="6327648" y="4014216"/>
            <a:ext cx="128016" cy="128016"/>
          </a:xfrm>
          <a:prstGeom prst="ellipse">
            <a:avLst/>
          </a:prstGeom>
          <a:solidFill>
            <a:srgbClr val="FFFFFF">
              <a:alpha val="70000"/>
            </a:srgbClr>
          </a:solidFill>
          <a:ln w="12700">
            <a:solidFill>
              <a:srgbClr val="FFFFFF">
                <a:alpha val="70000"/>
              </a:srgbClr>
            </a:solidFill>
            <a:prstDash val="solid"/>
          </a:ln>
        </p:spPr>
      </p:sp>
      <p:sp>
        <p:nvSpPr>
          <p:cNvPr id="58" name="Text 56"/>
          <p:cNvSpPr/>
          <p:nvPr/>
        </p:nvSpPr>
        <p:spPr>
          <a:xfrm>
            <a:off x="6510528"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Account Opening LTV</a:t>
            </a:r>
            <a:endParaRPr lang="en-US" sz="900" dirty="0"/>
          </a:p>
        </p:txBody>
      </p:sp>
      <p:sp>
        <p:nvSpPr>
          <p:cNvPr id="59" name="Shape 57"/>
          <p:cNvSpPr/>
          <p:nvPr/>
        </p:nvSpPr>
        <p:spPr>
          <a:xfrm>
            <a:off x="6272784" y="4279392"/>
            <a:ext cx="2523744" cy="256032"/>
          </a:xfrm>
          <a:prstGeom prst="rect">
            <a:avLst/>
          </a:prstGeom>
          <a:solidFill>
            <a:srgbClr val="0D2E7A"/>
          </a:solidFill>
          <a:ln w="12700">
            <a:solidFill>
              <a:srgbClr val="0D2E7A"/>
            </a:solidFill>
            <a:prstDash val="solid"/>
          </a:ln>
        </p:spPr>
      </p:sp>
      <p:sp>
        <p:nvSpPr>
          <p:cNvPr id="60" name="Shape 58"/>
          <p:cNvSpPr/>
          <p:nvPr/>
        </p:nvSpPr>
        <p:spPr>
          <a:xfrm>
            <a:off x="6327648" y="4343400"/>
            <a:ext cx="128016" cy="128016"/>
          </a:xfrm>
          <a:prstGeom prst="ellipse">
            <a:avLst/>
          </a:prstGeom>
          <a:solidFill>
            <a:srgbClr val="FFFFFF">
              <a:alpha val="70000"/>
            </a:srgbClr>
          </a:solidFill>
          <a:ln w="12700">
            <a:solidFill>
              <a:srgbClr val="FFFFFF">
                <a:alpha val="70000"/>
              </a:srgbClr>
            </a:solidFill>
            <a:prstDash val="solid"/>
          </a:ln>
        </p:spPr>
      </p:sp>
      <p:sp>
        <p:nvSpPr>
          <p:cNvPr id="61" name="Text 59"/>
          <p:cNvSpPr/>
          <p:nvPr/>
        </p:nvSpPr>
        <p:spPr>
          <a:xfrm>
            <a:off x="6510528" y="4279392"/>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62" name="Shape 60"/>
          <p:cNvSpPr/>
          <p:nvPr/>
        </p:nvSpPr>
        <p:spPr>
          <a:xfrm>
            <a:off x="7918704" y="4306824"/>
            <a:ext cx="749808" cy="201168"/>
          </a:xfrm>
          <a:prstGeom prst="rect">
            <a:avLst/>
          </a:prstGeom>
          <a:solidFill>
            <a:srgbClr val="FFFFFF">
              <a:alpha val="80000"/>
            </a:srgbClr>
          </a:solidFill>
          <a:ln w="12700">
            <a:solidFill>
              <a:srgbClr val="FFFFFF">
                <a:alpha val="60000"/>
              </a:srgbClr>
            </a:solidFill>
            <a:prstDash val="solid"/>
          </a:ln>
        </p:spPr>
      </p:sp>
      <p:sp>
        <p:nvSpPr>
          <p:cNvPr id="63" name="Text 61"/>
          <p:cNvSpPr/>
          <p:nvPr/>
        </p:nvSpPr>
        <p:spPr>
          <a:xfrm>
            <a:off x="7918704" y="4306824"/>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Platform</a:t>
            </a:r>
            <a:endParaRPr lang="en-US" sz="700" dirty="0"/>
          </a:p>
        </p:txBody>
      </p:sp>
      <p:sp>
        <p:nvSpPr>
          <p:cNvPr id="64" name="Shape 62"/>
          <p:cNvSpPr/>
          <p:nvPr/>
        </p:nvSpPr>
        <p:spPr>
          <a:xfrm>
            <a:off x="6272784" y="4608576"/>
            <a:ext cx="2523744" cy="256032"/>
          </a:xfrm>
          <a:prstGeom prst="rect">
            <a:avLst/>
          </a:prstGeom>
          <a:solidFill>
            <a:srgbClr val="073FA8"/>
          </a:solidFill>
          <a:ln w="12700">
            <a:solidFill>
              <a:srgbClr val="073FA8"/>
            </a:solidFill>
            <a:prstDash val="solid"/>
          </a:ln>
        </p:spPr>
      </p:sp>
      <p:sp>
        <p:nvSpPr>
          <p:cNvPr id="65" name="Shape 63"/>
          <p:cNvSpPr/>
          <p:nvPr/>
        </p:nvSpPr>
        <p:spPr>
          <a:xfrm>
            <a:off x="6327648" y="4672584"/>
            <a:ext cx="128016" cy="128016"/>
          </a:xfrm>
          <a:prstGeom prst="ellipse">
            <a:avLst/>
          </a:prstGeom>
          <a:solidFill>
            <a:srgbClr val="FFFFFF">
              <a:alpha val="70000"/>
            </a:srgbClr>
          </a:solidFill>
          <a:ln w="12700">
            <a:solidFill>
              <a:srgbClr val="FFFFFF">
                <a:alpha val="70000"/>
              </a:srgbClr>
            </a:solidFill>
            <a:prstDash val="solid"/>
          </a:ln>
        </p:spPr>
      </p:sp>
      <p:sp>
        <p:nvSpPr>
          <p:cNvPr id="66" name="Text 64"/>
          <p:cNvSpPr/>
          <p:nvPr/>
        </p:nvSpPr>
        <p:spPr>
          <a:xfrm>
            <a:off x="6510528" y="4608576"/>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67" name="Shape 65"/>
          <p:cNvSpPr/>
          <p:nvPr/>
        </p:nvSpPr>
        <p:spPr>
          <a:xfrm>
            <a:off x="7918704" y="4636008"/>
            <a:ext cx="749808" cy="201168"/>
          </a:xfrm>
          <a:prstGeom prst="rect">
            <a:avLst/>
          </a:prstGeom>
          <a:solidFill>
            <a:srgbClr val="FFFFFF">
              <a:alpha val="80000"/>
            </a:srgbClr>
          </a:solidFill>
          <a:ln w="12700">
            <a:solidFill>
              <a:srgbClr val="FFFFFF">
                <a:alpha val="60000"/>
              </a:srgbClr>
            </a:solidFill>
            <a:prstDash val="solid"/>
          </a:ln>
        </p:spPr>
      </p:sp>
      <p:sp>
        <p:nvSpPr>
          <p:cNvPr id="68" name="Text 66"/>
          <p:cNvSpPr/>
          <p:nvPr/>
        </p:nvSpPr>
        <p:spPr>
          <a:xfrm>
            <a:off x="7918704" y="4636008"/>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Pilot</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Mediation MVP scoping session + FI data access agreements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2026-04-01T15:04:35Z</dcterms:created>
  <dcterms:modified xsi:type="dcterms:W3CDTF">2026-04-01T15:04:35Z</dcterms:modified>
</cp:coreProperties>
</file>