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85CE5"/>
          </a:solidFill>
          <a:ln w="12700">
            <a:solidFill>
              <a:srgbClr val="085CE5"/>
            </a:solidFill>
            <a:prstDash val="solid"/>
          </a:ln>
        </p:spPr>
      </p:sp>
      <p:sp>
        <p:nvSpPr>
          <p:cNvPr id="3" name="Shape 1"/>
          <p:cNvSpPr/>
          <p:nvPr/>
        </p:nvSpPr>
        <p:spPr>
          <a:xfrm>
            <a:off x="6400800" y="2103120"/>
            <a:ext cx="4114800" cy="4114800"/>
          </a:xfrm>
          <a:prstGeom prst="ellipse">
            <a:avLst/>
          </a:prstGeom>
          <a:solidFill>
            <a:srgbClr val="085CE5">
              <a:alpha val="15000"/>
            </a:srgbClr>
          </a:solidFill>
          <a:ln w="12700">
            <a:solidFill>
              <a:srgbClr val="085CE5">
                <a:alpha val="25000"/>
              </a:srgbClr>
            </a:solidFill>
            <a:prstDash val="solid"/>
          </a:ln>
        </p:spPr>
      </p:sp>
      <p:sp>
        <p:nvSpPr>
          <p:cNvPr id="4" name="Shape 2"/>
          <p:cNvSpPr/>
          <p:nvPr/>
        </p:nvSpPr>
        <p:spPr>
          <a:xfrm>
            <a:off x="7315200" y="2834640"/>
            <a:ext cx="2560320" cy="2560320"/>
          </a:xfrm>
          <a:prstGeom prst="ellipse">
            <a:avLst/>
          </a:prstGeom>
          <a:solidFill>
            <a:srgbClr val="76DCFD">
              <a:alpha val="25000"/>
            </a:srgbClr>
          </a:solidFill>
          <a:ln w="12700">
            <a:solidFill>
              <a:srgbClr val="76DCFD">
                <a:alpha val="35000"/>
              </a:srgbClr>
            </a:solidFill>
            <a:prstDash val="solid"/>
          </a:ln>
        </p:spPr>
      </p:sp>
      <p:sp>
        <p:nvSpPr>
          <p:cNvPr id="5" name="Text 3"/>
          <p:cNvSpPr/>
          <p:nvPr/>
        </p:nvSpPr>
        <p:spPr>
          <a:xfrm>
            <a:off x="365760" y="502920"/>
            <a:ext cx="8412480" cy="320040"/>
          </a:xfrm>
          <a:prstGeom prst="rect">
            <a:avLst/>
          </a:prstGeom>
          <a:noFill/>
          <a:ln/>
        </p:spPr>
        <p:txBody>
          <a:bodyPr wrap="square" lIns="0" tIns="0" rIns="0" bIns="0" rtlCol="0" anchor="ctr"/>
          <a:lstStyle/>
          <a:p>
            <a:pPr indent="0" marL="0">
              <a:buNone/>
            </a:pPr>
            <a:r>
              <a:rPr lang="en-US" sz="1100" spc="100" kern="0" dirty="0">
                <a:solidFill>
                  <a:srgbClr val="76DCFD"/>
                </a:solidFill>
                <a:latin typeface="Calibri" pitchFamily="34" charset="0"/>
                <a:ea typeface="Calibri" pitchFamily="34" charset="-122"/>
                <a:cs typeface="Calibri" pitchFamily="34" charset="-120"/>
              </a:rPr>
              <a:t>JHBI  ·  Data Science Platform Investment Brief</a:t>
            </a:r>
            <a:endParaRPr lang="en-US" sz="1100" dirty="0"/>
          </a:p>
        </p:txBody>
      </p:sp>
      <p:sp>
        <p:nvSpPr>
          <p:cNvPr id="6" name="Text 4"/>
          <p:cNvSpPr/>
          <p:nvPr/>
        </p:nvSpPr>
        <p:spPr>
          <a:xfrm>
            <a:off x="365760" y="960120"/>
            <a:ext cx="7315200" cy="1920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Data Science</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Platform Strategy</a:t>
            </a:r>
            <a:endParaRPr lang="en-US" sz="4800" dirty="0"/>
          </a:p>
        </p:txBody>
      </p:sp>
      <p:sp>
        <p:nvSpPr>
          <p:cNvPr id="7" name="Text 5"/>
          <p:cNvSpPr/>
          <p:nvPr/>
        </p:nvSpPr>
        <p:spPr>
          <a:xfrm>
            <a:off x="365760" y="2971800"/>
            <a:ext cx="7680960" cy="457200"/>
          </a:xfrm>
          <a:prstGeom prst="rect">
            <a:avLst/>
          </a:prstGeom>
          <a:noFill/>
          <a:ln/>
        </p:spPr>
        <p:txBody>
          <a:bodyPr wrap="square" lIns="0" tIns="0" rIns="0" bIns="0" rtlCol="0" anchor="ctr"/>
          <a:lstStyle/>
          <a:p>
            <a:pPr indent="0" marL="0">
              <a:buNone/>
            </a:pPr>
            <a:r>
              <a:rPr lang="en-US" sz="1600" i="1" dirty="0">
                <a:solidFill>
                  <a:srgbClr val="76DCFD"/>
                </a:solidFill>
                <a:latin typeface="Calibri" pitchFamily="34" charset="0"/>
                <a:ea typeface="Calibri" pitchFamily="34" charset="-122"/>
                <a:cs typeface="Calibri" pitchFamily="34" charset="-120"/>
              </a:rPr>
              <a:t>Building AI-Powered Applications for Jack Henry's Financial Institution Clients</a:t>
            </a:r>
            <a:endParaRPr lang="en-US" sz="1600" dirty="0"/>
          </a:p>
        </p:txBody>
      </p:sp>
      <p:sp>
        <p:nvSpPr>
          <p:cNvPr id="8" name="Shape 6"/>
          <p:cNvSpPr/>
          <p:nvPr/>
        </p:nvSpPr>
        <p:spPr>
          <a:xfrm>
            <a:off x="365760" y="3547872"/>
            <a:ext cx="2286000" cy="45720"/>
          </a:xfrm>
          <a:prstGeom prst="rect">
            <a:avLst/>
          </a:prstGeom>
          <a:solidFill>
            <a:srgbClr val="085CE5"/>
          </a:solidFill>
          <a:ln w="12700">
            <a:solidFill>
              <a:srgbClr val="085CE5"/>
            </a:solidFill>
            <a:prstDash val="solid"/>
          </a:ln>
        </p:spPr>
      </p:sp>
      <p:sp>
        <p:nvSpPr>
          <p:cNvPr id="9" name="Text 7"/>
          <p:cNvSpPr/>
          <p:nvPr/>
        </p:nvSpPr>
        <p:spPr>
          <a:xfrm>
            <a:off x="365760" y="3703320"/>
            <a:ext cx="5486400" cy="320040"/>
          </a:xfrm>
          <a:prstGeom prst="rect">
            <a:avLst/>
          </a:prstGeom>
          <a:noFill/>
          <a:ln/>
        </p:spPr>
        <p:txBody>
          <a:bodyPr wrap="square" lIns="0" tIns="0" rIns="0" bIns="0" rtlCol="0" anchor="ctr"/>
          <a:lstStyle/>
          <a:p>
            <a:pPr indent="0" marL="0">
              <a:buNone/>
            </a:pPr>
            <a:r>
              <a:rPr lang="en-US" sz="1200" dirty="0">
                <a:solidFill>
                  <a:srgbClr val="B6BBC0"/>
                </a:solidFill>
                <a:latin typeface="Calibri" pitchFamily="34" charset="0"/>
                <a:ea typeface="Calibri" pitchFamily="34" charset="-122"/>
                <a:cs typeface="Calibri" pitchFamily="34" charset="-120"/>
              </a:rPr>
              <a:t>Data &amp; Analytics Team  |  March 2026</a:t>
            </a:r>
            <a:endParaRPr lang="en-US" sz="1200" dirty="0"/>
          </a:p>
        </p:txBody>
      </p:sp>
      <p:sp>
        <p:nvSpPr>
          <p:cNvPr id="10" name="Text 8"/>
          <p:cNvSpPr/>
          <p:nvPr/>
        </p:nvSpPr>
        <p:spPr>
          <a:xfrm>
            <a:off x="365760" y="4800600"/>
            <a:ext cx="3657600" cy="237744"/>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Powering the Financial World™</a:t>
            </a:r>
            <a:endParaRPr lang="en-US" sz="900" dirty="0"/>
          </a:p>
        </p:txBody>
      </p:sp>
      <p:sp>
        <p:nvSpPr>
          <p:cNvPr id="11" name="Text 9"/>
          <p:cNvSpPr/>
          <p:nvPr/>
        </p:nvSpPr>
        <p:spPr>
          <a:xfrm>
            <a:off x="7132320" y="4828032"/>
            <a:ext cx="1828800" cy="228600"/>
          </a:xfrm>
          <a:prstGeom prst="rect">
            <a:avLst/>
          </a:prstGeom>
          <a:noFill/>
          <a:ln/>
        </p:spPr>
        <p:txBody>
          <a:bodyPr wrap="square" lIns="0" tIns="0" rIns="0" bIns="0" rtlCol="0" anchor="ctr"/>
          <a:lstStyle/>
          <a:p>
            <a:pPr algn="r" indent="0" marL="0">
              <a:buNone/>
            </a:pPr>
            <a:r>
              <a:rPr lang="en-US" sz="900" spc="100" kern="0" dirty="0">
                <a:solidFill>
                  <a:srgbClr val="B6BBC0"/>
                </a:solidFill>
                <a:latin typeface="Calibri" pitchFamily="34" charset="0"/>
                <a:ea typeface="Calibri" pitchFamily="34" charset="-122"/>
                <a:cs typeface="Calibri" pitchFamily="34" charset="-120"/>
              </a:rPr>
              <a:t>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Market Opportunity for Jack Henry</a:t>
            </a:r>
            <a:endParaRPr lang="en-US" sz="2200" dirty="0"/>
          </a:p>
        </p:txBody>
      </p:sp>
      <p:sp>
        <p:nvSpPr>
          <p:cNvPr id="4" name="Text 2"/>
          <p:cNvSpPr/>
          <p:nvPr/>
        </p:nvSpPr>
        <p:spPr>
          <a:xfrm>
            <a:off x="365760" y="777240"/>
            <a:ext cx="8412480" cy="566928"/>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Jack Henry serves 1,660 financial institutions on core platforms and 7,500+ across its full ecosystem — institutions that collectively manage trillions in assets. By embedding AI-driven analytics directly into our platform, we can transform how every FI client makes decisions on retention, risk, compliance, and growth.</a:t>
            </a:r>
            <a:endParaRPr lang="en-US" sz="1250" dirty="0"/>
          </a:p>
        </p:txBody>
      </p:sp>
      <p:sp>
        <p:nvSpPr>
          <p:cNvPr id="5" name="Shape 3"/>
          <p:cNvSpPr/>
          <p:nvPr/>
        </p:nvSpPr>
        <p:spPr>
          <a:xfrm>
            <a:off x="365760"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365760" y="1463040"/>
            <a:ext cx="2651760" cy="91440"/>
          </a:xfrm>
          <a:prstGeom prst="rect">
            <a:avLst/>
          </a:prstGeom>
          <a:solidFill>
            <a:srgbClr val="085CE5"/>
          </a:solidFill>
          <a:ln w="12700">
            <a:solidFill>
              <a:srgbClr val="085CE5"/>
            </a:solidFill>
            <a:prstDash val="solid"/>
          </a:ln>
        </p:spPr>
      </p:sp>
      <p:pic>
        <p:nvPicPr>
          <p:cNvPr id="7" name="Image 0" descr="preencoded.png">    </p:cNvPr>
          <p:cNvPicPr>
            <a:picLocks noChangeAspect="1"/>
          </p:cNvPicPr>
          <p:nvPr/>
        </p:nvPicPr>
        <p:blipFill>
          <a:blip r:embed="rId1"/>
          <a:stretch>
            <a:fillRect/>
          </a:stretch>
        </p:blipFill>
        <p:spPr>
          <a:xfrm>
            <a:off x="1444752" y="1618488"/>
            <a:ext cx="475488" cy="475488"/>
          </a:xfrm>
          <a:prstGeom prst="rect">
            <a:avLst/>
          </a:prstGeom>
        </p:spPr>
      </p:pic>
      <p:sp>
        <p:nvSpPr>
          <p:cNvPr id="8" name="Text 5"/>
          <p:cNvSpPr/>
          <p:nvPr/>
        </p:nvSpPr>
        <p:spPr>
          <a:xfrm>
            <a:off x="457200" y="2139696"/>
            <a:ext cx="2468880" cy="804672"/>
          </a:xfrm>
          <a:prstGeom prst="rect">
            <a:avLst/>
          </a:prstGeom>
          <a:noFill/>
          <a:ln/>
        </p:spPr>
        <p:txBody>
          <a:bodyPr wrap="square" lIns="0" tIns="0" rIns="0" bIns="0" rtlCol="0" anchor="ctr"/>
          <a:lstStyle/>
          <a:p>
            <a:pPr algn="ctr" indent="0" marL="0">
              <a:buNone/>
            </a:pPr>
            <a:r>
              <a:rPr lang="en-US" sz="4200" b="1" dirty="0">
                <a:solidFill>
                  <a:srgbClr val="085CE5"/>
                </a:solidFill>
                <a:latin typeface="Calibri" pitchFamily="34" charset="0"/>
                <a:ea typeface="Calibri" pitchFamily="34" charset="-122"/>
                <a:cs typeface="Calibri" pitchFamily="34" charset="-120"/>
              </a:rPr>
              <a:t>1,660</a:t>
            </a:r>
            <a:endParaRPr lang="en-US" sz="4200" dirty="0"/>
          </a:p>
        </p:txBody>
      </p:sp>
      <p:sp>
        <p:nvSpPr>
          <p:cNvPr id="9" name="Text 6"/>
          <p:cNvSpPr/>
          <p:nvPr/>
        </p:nvSpPr>
        <p:spPr>
          <a:xfrm>
            <a:off x="457200"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Core FI clients — banks &amp; CUs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with deepest JH data access</a:t>
            </a:r>
            <a:endParaRPr lang="en-US" sz="1150" dirty="0"/>
          </a:p>
        </p:txBody>
      </p:sp>
      <p:sp>
        <p:nvSpPr>
          <p:cNvPr id="10" name="Shape 7"/>
          <p:cNvSpPr/>
          <p:nvPr/>
        </p:nvSpPr>
        <p:spPr>
          <a:xfrm>
            <a:off x="3182112"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1" name="Shape 8"/>
          <p:cNvSpPr/>
          <p:nvPr/>
        </p:nvSpPr>
        <p:spPr>
          <a:xfrm>
            <a:off x="3182112" y="1463040"/>
            <a:ext cx="2651760" cy="91440"/>
          </a:xfrm>
          <a:prstGeom prst="rect">
            <a:avLst/>
          </a:prstGeom>
          <a:solidFill>
            <a:srgbClr val="06185F"/>
          </a:solidFill>
          <a:ln w="12700">
            <a:solidFill>
              <a:srgbClr val="06185F"/>
            </a:solidFill>
            <a:prstDash val="solid"/>
          </a:ln>
        </p:spPr>
      </p:sp>
      <p:pic>
        <p:nvPicPr>
          <p:cNvPr id="12" name="Image 1" descr="preencoded.png">    </p:cNvPr>
          <p:cNvPicPr>
            <a:picLocks noChangeAspect="1"/>
          </p:cNvPicPr>
          <p:nvPr/>
        </p:nvPicPr>
        <p:blipFill>
          <a:blip r:embed="rId2"/>
          <a:stretch>
            <a:fillRect/>
          </a:stretch>
        </p:blipFill>
        <p:spPr>
          <a:xfrm>
            <a:off x="4261104" y="1618488"/>
            <a:ext cx="475488" cy="475488"/>
          </a:xfrm>
          <a:prstGeom prst="rect">
            <a:avLst/>
          </a:prstGeom>
        </p:spPr>
      </p:pic>
      <p:sp>
        <p:nvSpPr>
          <p:cNvPr id="13" name="Text 9"/>
          <p:cNvSpPr/>
          <p:nvPr/>
        </p:nvSpPr>
        <p:spPr>
          <a:xfrm>
            <a:off x="3273552" y="2139696"/>
            <a:ext cx="2468880" cy="804672"/>
          </a:xfrm>
          <a:prstGeom prst="rect">
            <a:avLst/>
          </a:prstGeom>
          <a:noFill/>
          <a:ln/>
        </p:spPr>
        <p:txBody>
          <a:bodyPr wrap="square" lIns="0" tIns="0" rIns="0" bIns="0" rtlCol="0" anchor="ctr"/>
          <a:lstStyle/>
          <a:p>
            <a:pPr algn="ctr" indent="0" marL="0">
              <a:buNone/>
            </a:pPr>
            <a:r>
              <a:rPr lang="en-US" sz="4200" b="1" dirty="0">
                <a:solidFill>
                  <a:srgbClr val="06185F"/>
                </a:solidFill>
                <a:latin typeface="Calibri" pitchFamily="34" charset="0"/>
                <a:ea typeface="Calibri" pitchFamily="34" charset="-122"/>
                <a:cs typeface="Calibri" pitchFamily="34" charset="-120"/>
              </a:rPr>
              <a:t>$6.2B</a:t>
            </a:r>
            <a:endParaRPr lang="en-US" sz="4200" dirty="0"/>
          </a:p>
        </p:txBody>
      </p:sp>
      <p:sp>
        <p:nvSpPr>
          <p:cNvPr id="14" name="Text 10"/>
          <p:cNvSpPr/>
          <p:nvPr/>
        </p:nvSpPr>
        <p:spPr>
          <a:xfrm>
            <a:off x="3273552"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projected AI banking analytics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market by 2028 (Mordor Intel.)</a:t>
            </a:r>
            <a:endParaRPr lang="en-US" sz="1150" dirty="0"/>
          </a:p>
        </p:txBody>
      </p:sp>
      <p:sp>
        <p:nvSpPr>
          <p:cNvPr id="15" name="Shape 11"/>
          <p:cNvSpPr/>
          <p:nvPr/>
        </p:nvSpPr>
        <p:spPr>
          <a:xfrm>
            <a:off x="5998464"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6" name="Shape 12"/>
          <p:cNvSpPr/>
          <p:nvPr/>
        </p:nvSpPr>
        <p:spPr>
          <a:xfrm>
            <a:off x="5998464" y="1463040"/>
            <a:ext cx="2651760" cy="91440"/>
          </a:xfrm>
          <a:prstGeom prst="rect">
            <a:avLst/>
          </a:prstGeom>
          <a:solidFill>
            <a:srgbClr val="073FA8"/>
          </a:solidFill>
          <a:ln w="12700">
            <a:solidFill>
              <a:srgbClr val="073FA8"/>
            </a:solidFill>
            <a:prstDash val="solid"/>
          </a:ln>
        </p:spPr>
      </p:sp>
      <p:pic>
        <p:nvPicPr>
          <p:cNvPr id="17" name="Image 2" descr="preencoded.png">    </p:cNvPr>
          <p:cNvPicPr>
            <a:picLocks noChangeAspect="1"/>
          </p:cNvPicPr>
          <p:nvPr/>
        </p:nvPicPr>
        <p:blipFill>
          <a:blip r:embed="rId3"/>
          <a:stretch>
            <a:fillRect/>
          </a:stretch>
        </p:blipFill>
        <p:spPr>
          <a:xfrm>
            <a:off x="7077456" y="1618488"/>
            <a:ext cx="475488" cy="475488"/>
          </a:xfrm>
          <a:prstGeom prst="rect">
            <a:avLst/>
          </a:prstGeom>
        </p:spPr>
      </p:pic>
      <p:sp>
        <p:nvSpPr>
          <p:cNvPr id="18" name="Text 13"/>
          <p:cNvSpPr/>
          <p:nvPr/>
        </p:nvSpPr>
        <p:spPr>
          <a:xfrm>
            <a:off x="6089904" y="2139696"/>
            <a:ext cx="2468880" cy="804672"/>
          </a:xfrm>
          <a:prstGeom prst="rect">
            <a:avLst/>
          </a:prstGeom>
          <a:noFill/>
          <a:ln/>
        </p:spPr>
        <p:txBody>
          <a:bodyPr wrap="square" lIns="0" tIns="0" rIns="0" bIns="0" rtlCol="0" anchor="ctr"/>
          <a:lstStyle/>
          <a:p>
            <a:pPr algn="ctr" indent="0" marL="0">
              <a:buNone/>
            </a:pPr>
            <a:r>
              <a:rPr lang="en-US" sz="4200" b="1" dirty="0">
                <a:solidFill>
                  <a:srgbClr val="073FA8"/>
                </a:solidFill>
                <a:latin typeface="Calibri" pitchFamily="34" charset="0"/>
                <a:ea typeface="Calibri" pitchFamily="34" charset="-122"/>
                <a:cs typeface="Calibri" pitchFamily="34" charset="-120"/>
              </a:rPr>
              <a:t>74%</a:t>
            </a:r>
            <a:endParaRPr lang="en-US" sz="4200" dirty="0"/>
          </a:p>
        </p:txBody>
      </p:sp>
      <p:sp>
        <p:nvSpPr>
          <p:cNvPr id="19" name="Text 14"/>
          <p:cNvSpPr/>
          <p:nvPr/>
        </p:nvSpPr>
        <p:spPr>
          <a:xfrm>
            <a:off x="6089904"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of FIs cite AI/ML tools as a</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top 3 technology priority*</a:t>
            </a:r>
            <a:endParaRPr lang="en-US" sz="1150" dirty="0"/>
          </a:p>
        </p:txBody>
      </p:sp>
      <p:sp>
        <p:nvSpPr>
          <p:cNvPr id="20" name="Text 15"/>
          <p:cNvSpPr/>
          <p:nvPr/>
        </p:nvSpPr>
        <p:spPr>
          <a:xfrm>
            <a:off x="365760" y="4005072"/>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 ICBA / Cornerstone Advisors 2025 What's Going On In Banking survey</a:t>
            </a:r>
            <a:endParaRPr lang="en-US" sz="900" dirty="0"/>
          </a:p>
        </p:txBody>
      </p:sp>
      <p:sp>
        <p:nvSpPr>
          <p:cNvPr id="21" name="Shape 16"/>
          <p:cNvSpPr/>
          <p:nvPr/>
        </p:nvSpPr>
        <p:spPr>
          <a:xfrm>
            <a:off x="365760" y="4315968"/>
            <a:ext cx="8412480" cy="658368"/>
          </a:xfrm>
          <a:prstGeom prst="rect">
            <a:avLst/>
          </a:prstGeom>
          <a:solidFill>
            <a:srgbClr val="06185F"/>
          </a:solidFill>
          <a:ln w="12700">
            <a:solidFill>
              <a:srgbClr val="06185F"/>
            </a:solidFill>
            <a:prstDash val="solid"/>
          </a:ln>
        </p:spPr>
      </p:sp>
      <p:sp>
        <p:nvSpPr>
          <p:cNvPr id="22" name="Text 17"/>
          <p:cNvSpPr/>
          <p:nvPr/>
        </p:nvSpPr>
        <p:spPr>
          <a:xfrm>
            <a:off x="548640" y="4352544"/>
            <a:ext cx="8046720" cy="58521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We are requesting budget and headcount to build the team and platform to deliver this value — starting with our 1,660 core FI clients, expanding across the full JH ecosystem.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Real Market Opportunity — Grounded in JH's Actual Footprint</a:t>
            </a:r>
            <a:endParaRPr lang="en-US" sz="2000" dirty="0"/>
          </a:p>
        </p:txBody>
      </p:sp>
      <p:sp>
        <p:nvSpPr>
          <p:cNvPr id="4" name="Text 2"/>
          <p:cNvSpPr/>
          <p:nvPr/>
        </p:nvSpPr>
        <p:spPr>
          <a:xfrm>
            <a:off x="365760" y="749808"/>
            <a:ext cx="8412480" cy="365760"/>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Jack Henry's FY2024 10-K reports 1,660 FIs on core processing — 940 banks and 720 credit unions. The remaining ~5,870 clients use payment and complementary products only. This is the true addressable base for the AI platform.</a:t>
            </a:r>
            <a:endParaRPr lang="en-US" sz="1000" dirty="0"/>
          </a:p>
        </p:txBody>
      </p:sp>
      <p:sp>
        <p:nvSpPr>
          <p:cNvPr id="5" name="Shape 3"/>
          <p:cNvSpPr/>
          <p:nvPr/>
        </p:nvSpPr>
        <p:spPr>
          <a:xfrm>
            <a:off x="274320"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188720"/>
            <a:ext cx="2834640" cy="54864"/>
          </a:xfrm>
          <a:prstGeom prst="rect">
            <a:avLst/>
          </a:prstGeom>
          <a:solidFill>
            <a:srgbClr val="085CE5"/>
          </a:solidFill>
          <a:ln w="12700">
            <a:solidFill>
              <a:srgbClr val="085CE5"/>
            </a:solidFill>
            <a:prstDash val="solid"/>
          </a:ln>
        </p:spPr>
      </p:sp>
      <p:sp>
        <p:nvSpPr>
          <p:cNvPr id="7" name="Shape 5"/>
          <p:cNvSpPr/>
          <p:nvPr/>
        </p:nvSpPr>
        <p:spPr>
          <a:xfrm>
            <a:off x="420624" y="1298448"/>
            <a:ext cx="1005840" cy="201168"/>
          </a:xfrm>
          <a:prstGeom prst="rect">
            <a:avLst/>
          </a:prstGeom>
          <a:solidFill>
            <a:srgbClr val="085CE5"/>
          </a:solidFill>
          <a:ln w="12700">
            <a:solidFill>
              <a:srgbClr val="085CE5"/>
            </a:solidFill>
            <a:prstDash val="solid"/>
          </a:ln>
        </p:spPr>
      </p:sp>
      <p:sp>
        <p:nvSpPr>
          <p:cNvPr id="8" name="Text 6"/>
          <p:cNvSpPr/>
          <p:nvPr/>
        </p:nvSpPr>
        <p:spPr>
          <a:xfrm>
            <a:off x="420624"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PRIMARY</a:t>
            </a:r>
            <a:endParaRPr lang="en-US" sz="750" dirty="0"/>
          </a:p>
        </p:txBody>
      </p:sp>
      <p:sp>
        <p:nvSpPr>
          <p:cNvPr id="9" name="Text 7"/>
          <p:cNvSpPr/>
          <p:nvPr/>
        </p:nvSpPr>
        <p:spPr>
          <a:xfrm>
            <a:off x="420624"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Core Platform FIs</a:t>
            </a:r>
            <a:endParaRPr lang="en-US" sz="1200" dirty="0"/>
          </a:p>
        </p:txBody>
      </p:sp>
      <p:sp>
        <p:nvSpPr>
          <p:cNvPr id="10" name="Text 8"/>
          <p:cNvSpPr/>
          <p:nvPr/>
        </p:nvSpPr>
        <p:spPr>
          <a:xfrm>
            <a:off x="420624" y="1828800"/>
            <a:ext cx="2542032" cy="694944"/>
          </a:xfrm>
          <a:prstGeom prst="rect">
            <a:avLst/>
          </a:prstGeom>
          <a:noFill/>
          <a:ln/>
        </p:spPr>
        <p:txBody>
          <a:bodyPr wrap="square" lIns="0" tIns="0" rIns="0" bIns="0" rtlCol="0" anchor="ctr"/>
          <a:lstStyle/>
          <a:p>
            <a:pPr indent="0" marL="0">
              <a:buNone/>
            </a:pPr>
            <a:r>
              <a:rPr lang="en-US" sz="4600" b="1" dirty="0">
                <a:solidFill>
                  <a:srgbClr val="085CE5"/>
                </a:solidFill>
                <a:latin typeface="Calibri" pitchFamily="34" charset="0"/>
                <a:ea typeface="Calibri" pitchFamily="34" charset="-122"/>
                <a:cs typeface="Calibri" pitchFamily="34" charset="-120"/>
              </a:rPr>
              <a:t>1,660</a:t>
            </a:r>
            <a:endParaRPr lang="en-US" sz="4600" dirty="0"/>
          </a:p>
        </p:txBody>
      </p:sp>
      <p:sp>
        <p:nvSpPr>
          <p:cNvPr id="11" name="Text 9"/>
          <p:cNvSpPr/>
          <p:nvPr/>
        </p:nvSpPr>
        <p:spPr>
          <a:xfrm>
            <a:off x="420624"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940 banks  ·  720 credit unions</a:t>
            </a:r>
            <a:endParaRPr lang="en-US" sz="900" dirty="0"/>
          </a:p>
        </p:txBody>
      </p:sp>
      <p:sp>
        <p:nvSpPr>
          <p:cNvPr id="12" name="Shape 10"/>
          <p:cNvSpPr/>
          <p:nvPr/>
        </p:nvSpPr>
        <p:spPr>
          <a:xfrm>
            <a:off x="420624" y="2798064"/>
            <a:ext cx="2542032" cy="18288"/>
          </a:xfrm>
          <a:prstGeom prst="rect">
            <a:avLst/>
          </a:prstGeom>
          <a:solidFill>
            <a:srgbClr val="E7ECF0"/>
          </a:solidFill>
          <a:ln w="12700">
            <a:solidFill>
              <a:srgbClr val="E7ECF0"/>
            </a:solidFill>
            <a:prstDash val="solid"/>
          </a:ln>
        </p:spPr>
      </p:sp>
      <p:sp>
        <p:nvSpPr>
          <p:cNvPr id="13" name="Text 11"/>
          <p:cNvSpPr/>
          <p:nvPr/>
        </p:nvSpPr>
        <p:spPr>
          <a:xfrm>
            <a:off x="420624"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Full data access: core transactions, deposits, lending, digital. Highest AI value — all 5 Phase 1 apps apply. JH has 25% of target bank market and ~17% of US CU market on core.</a:t>
            </a:r>
            <a:endParaRPr lang="en-US" sz="950" dirty="0"/>
          </a:p>
        </p:txBody>
      </p:sp>
      <p:sp>
        <p:nvSpPr>
          <p:cNvPr id="14" name="Shape 12"/>
          <p:cNvSpPr/>
          <p:nvPr/>
        </p:nvSpPr>
        <p:spPr>
          <a:xfrm>
            <a:off x="3218688"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3"/>
          <p:cNvSpPr/>
          <p:nvPr/>
        </p:nvSpPr>
        <p:spPr>
          <a:xfrm>
            <a:off x="3218688" y="1188720"/>
            <a:ext cx="2834640" cy="54864"/>
          </a:xfrm>
          <a:prstGeom prst="rect">
            <a:avLst/>
          </a:prstGeom>
          <a:solidFill>
            <a:srgbClr val="073FA8"/>
          </a:solidFill>
          <a:ln w="12700">
            <a:solidFill>
              <a:srgbClr val="073FA8"/>
            </a:solidFill>
            <a:prstDash val="solid"/>
          </a:ln>
        </p:spPr>
      </p:sp>
      <p:sp>
        <p:nvSpPr>
          <p:cNvPr id="16" name="Shape 14"/>
          <p:cNvSpPr/>
          <p:nvPr/>
        </p:nvSpPr>
        <p:spPr>
          <a:xfrm>
            <a:off x="3364992" y="1298448"/>
            <a:ext cx="1005840" cy="201168"/>
          </a:xfrm>
          <a:prstGeom prst="rect">
            <a:avLst/>
          </a:prstGeom>
          <a:solidFill>
            <a:srgbClr val="073FA8"/>
          </a:solidFill>
          <a:ln w="12700">
            <a:solidFill>
              <a:srgbClr val="073FA8"/>
            </a:solidFill>
            <a:prstDash val="solid"/>
          </a:ln>
        </p:spPr>
      </p:sp>
      <p:sp>
        <p:nvSpPr>
          <p:cNvPr id="17" name="Text 15"/>
          <p:cNvSpPr/>
          <p:nvPr/>
        </p:nvSpPr>
        <p:spPr>
          <a:xfrm>
            <a:off x="3364992"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SECONDARY</a:t>
            </a:r>
            <a:endParaRPr lang="en-US" sz="750" dirty="0"/>
          </a:p>
        </p:txBody>
      </p:sp>
      <p:sp>
        <p:nvSpPr>
          <p:cNvPr id="18" name="Text 16"/>
          <p:cNvSpPr/>
          <p:nvPr/>
        </p:nvSpPr>
        <p:spPr>
          <a:xfrm>
            <a:off x="3364992"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Payment / Complementary FIs</a:t>
            </a:r>
            <a:endParaRPr lang="en-US" sz="1200" dirty="0"/>
          </a:p>
        </p:txBody>
      </p:sp>
      <p:sp>
        <p:nvSpPr>
          <p:cNvPr id="19" name="Text 17"/>
          <p:cNvSpPr/>
          <p:nvPr/>
        </p:nvSpPr>
        <p:spPr>
          <a:xfrm>
            <a:off x="3364992" y="1828800"/>
            <a:ext cx="2542032" cy="694944"/>
          </a:xfrm>
          <a:prstGeom prst="rect">
            <a:avLst/>
          </a:prstGeom>
          <a:noFill/>
          <a:ln/>
        </p:spPr>
        <p:txBody>
          <a:bodyPr wrap="square" lIns="0" tIns="0" rIns="0" bIns="0" rtlCol="0" anchor="ctr"/>
          <a:lstStyle/>
          <a:p>
            <a:pPr indent="0" marL="0">
              <a:buNone/>
            </a:pPr>
            <a:r>
              <a:rPr lang="en-US" sz="4600" b="1" dirty="0">
                <a:solidFill>
                  <a:srgbClr val="073FA8"/>
                </a:solidFill>
                <a:latin typeface="Calibri" pitchFamily="34" charset="0"/>
                <a:ea typeface="Calibri" pitchFamily="34" charset="-122"/>
                <a:cs typeface="Calibri" pitchFamily="34" charset="-120"/>
              </a:rPr>
              <a:t>5,870</a:t>
            </a:r>
            <a:endParaRPr lang="en-US" sz="4600" dirty="0"/>
          </a:p>
        </p:txBody>
      </p:sp>
      <p:sp>
        <p:nvSpPr>
          <p:cNvPr id="20" name="Text 18"/>
          <p:cNvSpPr/>
          <p:nvPr/>
        </p:nvSpPr>
        <p:spPr>
          <a:xfrm>
            <a:off x="3364992"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Payments, digital, card, bill pay</a:t>
            </a:r>
            <a:endParaRPr lang="en-US" sz="900" dirty="0"/>
          </a:p>
        </p:txBody>
      </p:sp>
      <p:sp>
        <p:nvSpPr>
          <p:cNvPr id="21" name="Shape 19"/>
          <p:cNvSpPr/>
          <p:nvPr/>
        </p:nvSpPr>
        <p:spPr>
          <a:xfrm>
            <a:off x="3364992" y="2798064"/>
            <a:ext cx="2542032" cy="18288"/>
          </a:xfrm>
          <a:prstGeom prst="rect">
            <a:avLst/>
          </a:prstGeom>
          <a:solidFill>
            <a:srgbClr val="E7ECF0"/>
          </a:solidFill>
          <a:ln w="12700">
            <a:solidFill>
              <a:srgbClr val="E7ECF0"/>
            </a:solidFill>
            <a:prstDash val="solid"/>
          </a:ln>
        </p:spPr>
      </p:sp>
      <p:sp>
        <p:nvSpPr>
          <p:cNvPr id="22" name="Text 20"/>
          <p:cNvSpPr/>
          <p:nvPr/>
        </p:nvSpPr>
        <p:spPr>
          <a:xfrm>
            <a:off x="3364992"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Payment data only — no core relationship. Zelle Memo Intelligence and Anomaly Detection apply directly. Broader sales motion; lighter data integration per FI.</a:t>
            </a:r>
            <a:endParaRPr lang="en-US" sz="950" dirty="0"/>
          </a:p>
        </p:txBody>
      </p:sp>
      <p:sp>
        <p:nvSpPr>
          <p:cNvPr id="23" name="Shape 21"/>
          <p:cNvSpPr/>
          <p:nvPr/>
        </p:nvSpPr>
        <p:spPr>
          <a:xfrm>
            <a:off x="6163056"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163056" y="1188720"/>
            <a:ext cx="2834640" cy="54864"/>
          </a:xfrm>
          <a:prstGeom prst="rect">
            <a:avLst/>
          </a:prstGeom>
          <a:solidFill>
            <a:srgbClr val="575A5D"/>
          </a:solidFill>
          <a:ln w="12700">
            <a:solidFill>
              <a:srgbClr val="575A5D"/>
            </a:solidFill>
            <a:prstDash val="solid"/>
          </a:ln>
        </p:spPr>
      </p:sp>
      <p:sp>
        <p:nvSpPr>
          <p:cNvPr id="25" name="Shape 23"/>
          <p:cNvSpPr/>
          <p:nvPr/>
        </p:nvSpPr>
        <p:spPr>
          <a:xfrm>
            <a:off x="6309360" y="1298448"/>
            <a:ext cx="1005840" cy="201168"/>
          </a:xfrm>
          <a:prstGeom prst="rect">
            <a:avLst/>
          </a:prstGeom>
          <a:solidFill>
            <a:srgbClr val="575A5D"/>
          </a:solidFill>
          <a:ln w="12700">
            <a:solidFill>
              <a:srgbClr val="575A5D"/>
            </a:solidFill>
            <a:prstDash val="solid"/>
          </a:ln>
        </p:spPr>
      </p:sp>
      <p:sp>
        <p:nvSpPr>
          <p:cNvPr id="26" name="Text 24"/>
          <p:cNvSpPr/>
          <p:nvPr/>
        </p:nvSpPr>
        <p:spPr>
          <a:xfrm>
            <a:off x="6309360"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CALLRPT AI</a:t>
            </a:r>
            <a:endParaRPr lang="en-US" sz="750" dirty="0"/>
          </a:p>
        </p:txBody>
      </p:sp>
      <p:sp>
        <p:nvSpPr>
          <p:cNvPr id="27" name="Text 25"/>
          <p:cNvSpPr/>
          <p:nvPr/>
        </p:nvSpPr>
        <p:spPr>
          <a:xfrm>
            <a:off x="6309360"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All U.S. Credit Unions</a:t>
            </a:r>
            <a:endParaRPr lang="en-US" sz="1200" dirty="0"/>
          </a:p>
        </p:txBody>
      </p:sp>
      <p:sp>
        <p:nvSpPr>
          <p:cNvPr id="28" name="Text 26"/>
          <p:cNvSpPr/>
          <p:nvPr/>
        </p:nvSpPr>
        <p:spPr>
          <a:xfrm>
            <a:off x="6309360" y="1828800"/>
            <a:ext cx="2542032" cy="694944"/>
          </a:xfrm>
          <a:prstGeom prst="rect">
            <a:avLst/>
          </a:prstGeom>
          <a:noFill/>
          <a:ln/>
        </p:spPr>
        <p:txBody>
          <a:bodyPr wrap="square" lIns="0" tIns="0" rIns="0" bIns="0" rtlCol="0" anchor="ctr"/>
          <a:lstStyle/>
          <a:p>
            <a:pPr indent="0" marL="0">
              <a:buNone/>
            </a:pPr>
            <a:r>
              <a:rPr lang="en-US" sz="4600" b="1" dirty="0">
                <a:solidFill>
                  <a:srgbClr val="575A5D"/>
                </a:solidFill>
                <a:latin typeface="Calibri" pitchFamily="34" charset="0"/>
                <a:ea typeface="Calibri" pitchFamily="34" charset="-122"/>
                <a:cs typeface="Calibri" pitchFamily="34" charset="-120"/>
              </a:rPr>
              <a:t>4,374</a:t>
            </a:r>
            <a:endParaRPr lang="en-US" sz="4600" dirty="0"/>
          </a:p>
        </p:txBody>
      </p:sp>
      <p:sp>
        <p:nvSpPr>
          <p:cNvPr id="29" name="Text 27"/>
          <p:cNvSpPr/>
          <p:nvPr/>
        </p:nvSpPr>
        <p:spPr>
          <a:xfrm>
            <a:off x="6309360"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NCUA 5300 — public regulatory data</a:t>
            </a:r>
            <a:endParaRPr lang="en-US" sz="900" dirty="0"/>
          </a:p>
        </p:txBody>
      </p:sp>
      <p:sp>
        <p:nvSpPr>
          <p:cNvPr id="30" name="Shape 28"/>
          <p:cNvSpPr/>
          <p:nvPr/>
        </p:nvSpPr>
        <p:spPr>
          <a:xfrm>
            <a:off x="6309360" y="2798064"/>
            <a:ext cx="2542032" cy="18288"/>
          </a:xfrm>
          <a:prstGeom prst="rect">
            <a:avLst/>
          </a:prstGeom>
          <a:solidFill>
            <a:srgbClr val="E7ECF0"/>
          </a:solidFill>
          <a:ln w="12700">
            <a:solidFill>
              <a:srgbClr val="E7ECF0"/>
            </a:solidFill>
            <a:prstDash val="solid"/>
          </a:ln>
        </p:spPr>
      </p:sp>
      <p:sp>
        <p:nvSpPr>
          <p:cNvPr id="31" name="Text 29"/>
          <p:cNvSpPr/>
          <p:nvPr/>
        </p:nvSpPr>
        <p:spPr>
          <a:xfrm>
            <a:off x="6309360"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Call Report AI has no JH relationship requirement. Any of the 4,374 US credit unions with $2.5T in assets is addressable — JH relationship accelerates but doesn't gate distribution.</a:t>
            </a:r>
            <a:endParaRPr lang="en-US" sz="950" dirty="0"/>
          </a:p>
        </p:txBody>
      </p:sp>
      <p:sp>
        <p:nvSpPr>
          <p:cNvPr id="32" name="Shape 30"/>
          <p:cNvSpPr/>
          <p:nvPr/>
        </p:nvSpPr>
        <p:spPr>
          <a:xfrm>
            <a:off x="274320" y="4572000"/>
            <a:ext cx="8595360" cy="457200"/>
          </a:xfrm>
          <a:prstGeom prst="rect">
            <a:avLst/>
          </a:prstGeom>
          <a:solidFill>
            <a:srgbClr val="06185F"/>
          </a:solidFill>
          <a:ln w="12700">
            <a:solidFill>
              <a:srgbClr val="06185F"/>
            </a:solidFill>
            <a:prstDash val="solid"/>
          </a:ln>
        </p:spPr>
      </p:sp>
      <p:sp>
        <p:nvSpPr>
          <p:cNvPr id="33" name="Text 31"/>
          <p:cNvSpPr/>
          <p:nvPr/>
        </p:nvSpPr>
        <p:spPr>
          <a:xfrm>
            <a:off x="457200" y="4599432"/>
            <a:ext cx="8229600"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Phase 1 targets the 1,660 core FIs first — then expands payment apps to the 5,870 complementary clients and Call Report AI to all 4,374 U.S. CUs.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303520" y="-1828800"/>
            <a:ext cx="6400800" cy="64008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583680" y="914400"/>
            <a:ext cx="3200400" cy="3200400"/>
          </a:xfrm>
          <a:prstGeom prst="ellipse">
            <a:avLst/>
          </a:prstGeom>
          <a:solidFill>
            <a:srgbClr val="76DCFD">
              <a:alpha val="12000"/>
            </a:srgbClr>
          </a:solidFill>
          <a:ln w="12700">
            <a:solidFill>
              <a:srgbClr val="76DCFD">
                <a:alpha val="20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57200"/>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OUR VISION</a:t>
            </a:r>
            <a:endParaRPr lang="en-US" sz="1100" dirty="0"/>
          </a:p>
        </p:txBody>
      </p:sp>
      <p:sp>
        <p:nvSpPr>
          <p:cNvPr id="6" name="Text 4"/>
          <p:cNvSpPr/>
          <p:nvPr/>
        </p:nvSpPr>
        <p:spPr>
          <a:xfrm>
            <a:off x="365760" y="868680"/>
            <a:ext cx="6400800" cy="16916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Make Jack Henry the AI-First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Platform Partner for Every</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Community FI in America</a:t>
            </a:r>
            <a:endParaRPr lang="en-US" sz="3400" dirty="0"/>
          </a:p>
        </p:txBody>
      </p:sp>
      <p:sp>
        <p:nvSpPr>
          <p:cNvPr id="7" name="Text 5"/>
          <p:cNvSpPr/>
          <p:nvPr/>
        </p:nvSpPr>
        <p:spPr>
          <a:xfrm>
            <a:off x="365760" y="2651760"/>
            <a:ext cx="5852160" cy="960120"/>
          </a:xfrm>
          <a:prstGeom prst="rect">
            <a:avLst/>
          </a:prstGeom>
          <a:noFill/>
          <a:ln/>
        </p:spPr>
        <p:txBody>
          <a:bodyPr wrap="square" lIns="0" tIns="0" rIns="0" bIns="0" rtlCol="0" anchor="ctr"/>
          <a:lstStyle/>
          <a:p>
            <a:pPr indent="0" marL="0">
              <a:buNone/>
            </a:pPr>
            <a:r>
              <a:rPr lang="en-US" sz="1300" dirty="0">
                <a:solidFill>
                  <a:srgbClr val="E7ECF0"/>
                </a:solidFill>
                <a:latin typeface="Calibri" pitchFamily="34" charset="0"/>
                <a:ea typeface="Calibri" pitchFamily="34" charset="-122"/>
                <a:cs typeface="Calibri" pitchFamily="34" charset="-120"/>
              </a:rPr>
              <a:t>By embedding AI-powered analytics and decision intelligence directly into the JH platform ecosystem, we deepen client stickiness, create new revenue streams, and establish an insurmountable competitive moat versus FIS, Fiserv, and niche challengers.</a:t>
            </a:r>
            <a:endParaRPr lang="en-US" sz="1300" dirty="0"/>
          </a:p>
        </p:txBody>
      </p:sp>
      <p:sp>
        <p:nvSpPr>
          <p:cNvPr id="8" name="Text 6"/>
          <p:cNvSpPr/>
          <p:nvPr/>
        </p:nvSpPr>
        <p:spPr>
          <a:xfrm>
            <a:off x="365760" y="3730752"/>
            <a:ext cx="5486400" cy="256032"/>
          </a:xfrm>
          <a:prstGeom prst="rect">
            <a:avLst/>
          </a:prstGeom>
          <a:noFill/>
          <a:ln/>
        </p:spPr>
        <p:txBody>
          <a:bodyPr wrap="square" lIns="0" tIns="0" rIns="0" bIns="0" rtlCol="0" anchor="ctr"/>
          <a:lstStyle/>
          <a:p>
            <a:pPr indent="0" marL="0">
              <a:buNone/>
            </a:pPr>
            <a:r>
              <a:rPr lang="en-US" sz="900" b="1" spc="150" kern="0" dirty="0">
                <a:solidFill>
                  <a:srgbClr val="B6BBC0"/>
                </a:solidFill>
                <a:latin typeface="Calibri" pitchFamily="34" charset="0"/>
                <a:ea typeface="Calibri" pitchFamily="34" charset="-122"/>
                <a:cs typeface="Calibri" pitchFamily="34" charset="-120"/>
              </a:rPr>
              <a:t>FOUR INVESTMENT PILLARS</a:t>
            </a:r>
            <a:endParaRPr lang="en-US" sz="900" dirty="0"/>
          </a:p>
        </p:txBody>
      </p:sp>
      <p:sp>
        <p:nvSpPr>
          <p:cNvPr id="9" name="Shape 7"/>
          <p:cNvSpPr/>
          <p:nvPr/>
        </p:nvSpPr>
        <p:spPr>
          <a:xfrm>
            <a:off x="365760" y="4041648"/>
            <a:ext cx="1993392" cy="457200"/>
          </a:xfrm>
          <a:prstGeom prst="rect">
            <a:avLst/>
          </a:prstGeom>
          <a:solidFill>
            <a:srgbClr val="085CE5">
              <a:alpha val="35000"/>
            </a:srgbClr>
          </a:solidFill>
          <a:ln w="12700">
            <a:solidFill>
              <a:srgbClr val="085CE5"/>
            </a:solidFill>
            <a:prstDash val="solid"/>
          </a:ln>
        </p:spPr>
      </p:sp>
      <p:sp>
        <p:nvSpPr>
          <p:cNvPr id="10" name="Text 8"/>
          <p:cNvSpPr/>
          <p:nvPr/>
        </p:nvSpPr>
        <p:spPr>
          <a:xfrm>
            <a:off x="411480"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Data Acquisition</a:t>
            </a:r>
            <a:endParaRPr lang="en-US" sz="1150" dirty="0"/>
          </a:p>
        </p:txBody>
      </p:sp>
      <p:sp>
        <p:nvSpPr>
          <p:cNvPr id="11" name="Shape 9"/>
          <p:cNvSpPr/>
          <p:nvPr/>
        </p:nvSpPr>
        <p:spPr>
          <a:xfrm>
            <a:off x="2487168" y="4041648"/>
            <a:ext cx="1993392" cy="457200"/>
          </a:xfrm>
          <a:prstGeom prst="rect">
            <a:avLst/>
          </a:prstGeom>
          <a:solidFill>
            <a:srgbClr val="0D2E7A">
              <a:alpha val="35000"/>
            </a:srgbClr>
          </a:solidFill>
          <a:ln w="12700">
            <a:solidFill>
              <a:srgbClr val="0D2E7A"/>
            </a:solidFill>
            <a:prstDash val="solid"/>
          </a:ln>
        </p:spPr>
      </p:sp>
      <p:sp>
        <p:nvSpPr>
          <p:cNvPr id="12" name="Text 10"/>
          <p:cNvSpPr/>
          <p:nvPr/>
        </p:nvSpPr>
        <p:spPr>
          <a:xfrm>
            <a:off x="2532888"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DS Buildout</a:t>
            </a:r>
            <a:endParaRPr lang="en-US" sz="1150" dirty="0"/>
          </a:p>
        </p:txBody>
      </p:sp>
      <p:sp>
        <p:nvSpPr>
          <p:cNvPr id="13" name="Shape 11"/>
          <p:cNvSpPr/>
          <p:nvPr/>
        </p:nvSpPr>
        <p:spPr>
          <a:xfrm>
            <a:off x="4608576" y="4041648"/>
            <a:ext cx="1993392" cy="457200"/>
          </a:xfrm>
          <a:prstGeom prst="rect">
            <a:avLst/>
          </a:prstGeom>
          <a:solidFill>
            <a:srgbClr val="073FA8">
              <a:alpha val="35000"/>
            </a:srgbClr>
          </a:solidFill>
          <a:ln w="12700">
            <a:solidFill>
              <a:srgbClr val="073FA8"/>
            </a:solidFill>
            <a:prstDash val="solid"/>
          </a:ln>
        </p:spPr>
      </p:sp>
      <p:sp>
        <p:nvSpPr>
          <p:cNvPr id="14" name="Text 12"/>
          <p:cNvSpPr/>
          <p:nvPr/>
        </p:nvSpPr>
        <p:spPr>
          <a:xfrm>
            <a:off x="4654296"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Visualizations</a:t>
            </a:r>
            <a:endParaRPr lang="en-US" sz="1150" dirty="0"/>
          </a:p>
        </p:txBody>
      </p:sp>
      <p:sp>
        <p:nvSpPr>
          <p:cNvPr id="15" name="Shape 13"/>
          <p:cNvSpPr/>
          <p:nvPr/>
        </p:nvSpPr>
        <p:spPr>
          <a:xfrm>
            <a:off x="6729984" y="4041648"/>
            <a:ext cx="1993392" cy="457200"/>
          </a:xfrm>
          <a:prstGeom prst="rect">
            <a:avLst/>
          </a:prstGeom>
          <a:solidFill>
            <a:srgbClr val="575A5D">
              <a:alpha val="35000"/>
            </a:srgbClr>
          </a:solidFill>
          <a:ln w="12700">
            <a:solidFill>
              <a:srgbClr val="575A5D"/>
            </a:solidFill>
            <a:prstDash val="solid"/>
          </a:ln>
        </p:spPr>
      </p:sp>
      <p:sp>
        <p:nvSpPr>
          <p:cNvPr id="16" name="Text 14"/>
          <p:cNvSpPr/>
          <p:nvPr/>
        </p:nvSpPr>
        <p:spPr>
          <a:xfrm>
            <a:off x="6775704"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App / API Dev</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Platform AI — Six Core Applications</a:t>
            </a:r>
            <a:endParaRPr lang="en-US" sz="2200" dirty="0"/>
          </a:p>
        </p:txBody>
      </p:sp>
      <p:sp>
        <p:nvSpPr>
          <p:cNvPr id="4" name="Shape 2"/>
          <p:cNvSpPr/>
          <p:nvPr/>
        </p:nvSpPr>
        <p:spPr>
          <a:xfrm>
            <a:off x="320040"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320040" y="777240"/>
            <a:ext cx="2706624" cy="65836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57200" y="905256"/>
            <a:ext cx="384048" cy="384048"/>
          </a:xfrm>
          <a:prstGeom prst="rect">
            <a:avLst/>
          </a:prstGeom>
        </p:spPr>
      </p:pic>
      <p:sp>
        <p:nvSpPr>
          <p:cNvPr id="7" name="Text 4"/>
          <p:cNvSpPr/>
          <p:nvPr/>
        </p:nvSpPr>
        <p:spPr>
          <a:xfrm>
            <a:off x="914400"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Attrition /</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Churn Mediation</a:t>
            </a:r>
            <a:endParaRPr lang="en-US" sz="1150" dirty="0"/>
          </a:p>
        </p:txBody>
      </p:sp>
      <p:sp>
        <p:nvSpPr>
          <p:cNvPr id="8" name="Text 5"/>
          <p:cNvSpPr/>
          <p:nvPr/>
        </p:nvSpPr>
        <p:spPr>
          <a:xfrm>
            <a:off x="429768"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scoring to identify at-risk FI customers weekly and power proactive retention workflows before churn occurs.</a:t>
            </a:r>
            <a:endParaRPr lang="en-US" sz="1050" dirty="0"/>
          </a:p>
        </p:txBody>
      </p:sp>
      <p:sp>
        <p:nvSpPr>
          <p:cNvPr id="9" name="Shape 6"/>
          <p:cNvSpPr/>
          <p:nvPr/>
        </p:nvSpPr>
        <p:spPr>
          <a:xfrm>
            <a:off x="3172968"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72968" y="777240"/>
            <a:ext cx="2706624" cy="658368"/>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05256"/>
            <a:ext cx="384048" cy="384048"/>
          </a:xfrm>
          <a:prstGeom prst="rect">
            <a:avLst/>
          </a:prstGeom>
        </p:spPr>
      </p:pic>
      <p:sp>
        <p:nvSpPr>
          <p:cNvPr id="12" name="Text 8"/>
          <p:cNvSpPr/>
          <p:nvPr/>
        </p:nvSpPr>
        <p:spPr>
          <a:xfrm>
            <a:off x="3767328"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Zelle Memo</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Intelligence</a:t>
            </a:r>
            <a:endParaRPr lang="en-US" sz="1150" dirty="0"/>
          </a:p>
        </p:txBody>
      </p:sp>
      <p:sp>
        <p:nvSpPr>
          <p:cNvPr id="13" name="Text 9"/>
          <p:cNvSpPr/>
          <p:nvPr/>
        </p:nvSpPr>
        <p:spPr>
          <a:xfrm>
            <a:off x="3282696"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NLP pipeline to classify Zelle memos for fraud patterns, elder abuse, and compliance flags — automatically.</a:t>
            </a:r>
            <a:endParaRPr lang="en-US" sz="1050" dirty="0"/>
          </a:p>
        </p:txBody>
      </p:sp>
      <p:sp>
        <p:nvSpPr>
          <p:cNvPr id="14" name="Shape 10"/>
          <p:cNvSpPr/>
          <p:nvPr/>
        </p:nvSpPr>
        <p:spPr>
          <a:xfrm>
            <a:off x="6025896"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25896" y="777240"/>
            <a:ext cx="2706624" cy="658368"/>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63056" y="905256"/>
            <a:ext cx="384048" cy="384048"/>
          </a:xfrm>
          <a:prstGeom prst="rect">
            <a:avLst/>
          </a:prstGeom>
        </p:spPr>
      </p:pic>
      <p:sp>
        <p:nvSpPr>
          <p:cNvPr id="17" name="Text 12"/>
          <p:cNvSpPr/>
          <p:nvPr/>
        </p:nvSpPr>
        <p:spPr>
          <a:xfrm>
            <a:off x="6620256"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Anomaly</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Detection</a:t>
            </a:r>
            <a:endParaRPr lang="en-US" sz="1150" dirty="0"/>
          </a:p>
        </p:txBody>
      </p:sp>
      <p:sp>
        <p:nvSpPr>
          <p:cNvPr id="18" name="Text 13"/>
          <p:cNvSpPr/>
          <p:nvPr/>
        </p:nvSpPr>
        <p:spPr>
          <a:xfrm>
            <a:off x="6135624"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Real-time ML detection of unusual account behavior and transaction patterns across JH-powered institutions.</a:t>
            </a:r>
            <a:endParaRPr lang="en-US" sz="1050" dirty="0"/>
          </a:p>
        </p:txBody>
      </p:sp>
      <p:sp>
        <p:nvSpPr>
          <p:cNvPr id="19" name="Shape 14"/>
          <p:cNvSpPr/>
          <p:nvPr/>
        </p:nvSpPr>
        <p:spPr>
          <a:xfrm>
            <a:off x="320040"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320040" y="2953512"/>
            <a:ext cx="2706624" cy="658368"/>
          </a:xfrm>
          <a:prstGeom prst="rect">
            <a:avLst/>
          </a:prstGeom>
          <a:solidFill>
            <a:srgbClr val="0D2E7A"/>
          </a:solidFill>
          <a:ln w="12700">
            <a:solidFill>
              <a:srgbClr val="0D2E7A"/>
            </a:solidFill>
            <a:prstDash val="solid"/>
          </a:ln>
        </p:spPr>
      </p:sp>
      <p:pic>
        <p:nvPicPr>
          <p:cNvPr id="21" name="Image 3" descr="preencoded.png">    </p:cNvPr>
          <p:cNvPicPr>
            <a:picLocks noChangeAspect="1"/>
          </p:cNvPicPr>
          <p:nvPr/>
        </p:nvPicPr>
        <p:blipFill>
          <a:blip r:embed="rId4"/>
          <a:stretch>
            <a:fillRect/>
          </a:stretch>
        </p:blipFill>
        <p:spPr>
          <a:xfrm>
            <a:off x="457200" y="3081528"/>
            <a:ext cx="384048" cy="384048"/>
          </a:xfrm>
          <a:prstGeom prst="rect">
            <a:avLst/>
          </a:prstGeom>
        </p:spPr>
      </p:pic>
      <p:sp>
        <p:nvSpPr>
          <p:cNvPr id="22" name="Text 16"/>
          <p:cNvSpPr/>
          <p:nvPr/>
        </p:nvSpPr>
        <p:spPr>
          <a:xfrm>
            <a:off x="914400"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FI Decision</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Studio</a:t>
            </a:r>
            <a:endParaRPr lang="en-US" sz="1150" dirty="0"/>
          </a:p>
        </p:txBody>
      </p:sp>
      <p:sp>
        <p:nvSpPr>
          <p:cNvPr id="23" name="Text 17"/>
          <p:cNvSpPr/>
          <p:nvPr/>
        </p:nvSpPr>
        <p:spPr>
          <a:xfrm>
            <a:off x="429768"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No-code AutoML for FIs: upload data, train custom models, explain with SHAP, author rules, deploy as API, monitor drift.</a:t>
            </a:r>
            <a:endParaRPr lang="en-US" sz="1050" dirty="0"/>
          </a:p>
        </p:txBody>
      </p:sp>
      <p:sp>
        <p:nvSpPr>
          <p:cNvPr id="24" name="Shape 18"/>
          <p:cNvSpPr/>
          <p:nvPr/>
        </p:nvSpPr>
        <p:spPr>
          <a:xfrm>
            <a:off x="3172968"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72968" y="2953512"/>
            <a:ext cx="2706624" cy="658368"/>
          </a:xfrm>
          <a:prstGeom prst="rect">
            <a:avLst/>
          </a:prstGeom>
          <a:solidFill>
            <a:srgbClr val="0A52C4"/>
          </a:solidFill>
          <a:ln w="12700">
            <a:solidFill>
              <a:srgbClr val="0A52C4"/>
            </a:solidFill>
            <a:prstDash val="solid"/>
          </a:ln>
        </p:spPr>
      </p:sp>
      <p:pic>
        <p:nvPicPr>
          <p:cNvPr id="26" name="Image 4" descr="preencoded.png">    </p:cNvPr>
          <p:cNvPicPr>
            <a:picLocks noChangeAspect="1"/>
          </p:cNvPicPr>
          <p:nvPr/>
        </p:nvPicPr>
        <p:blipFill>
          <a:blip r:embed="rId5"/>
          <a:stretch>
            <a:fillRect/>
          </a:stretch>
        </p:blipFill>
        <p:spPr>
          <a:xfrm>
            <a:off x="3310128" y="3081528"/>
            <a:ext cx="384048" cy="384048"/>
          </a:xfrm>
          <a:prstGeom prst="rect">
            <a:avLst/>
          </a:prstGeom>
        </p:spPr>
      </p:pic>
      <p:sp>
        <p:nvSpPr>
          <p:cNvPr id="27" name="Text 20"/>
          <p:cNvSpPr/>
          <p:nvPr/>
        </p:nvSpPr>
        <p:spPr>
          <a:xfrm>
            <a:off x="3767328"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CommercialSignal</a:t>
            </a:r>
            <a:endParaRPr lang="en-US" sz="1150" dirty="0"/>
          </a:p>
        </p:txBody>
      </p:sp>
      <p:sp>
        <p:nvSpPr>
          <p:cNvPr id="28" name="Text 21"/>
          <p:cNvSpPr/>
          <p:nvPr/>
        </p:nvSpPr>
        <p:spPr>
          <a:xfrm>
            <a:off x="3282696"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classifier surfacing personal accounts with commercial transaction signatures — converting hidden SMB relationships to business banking.</a:t>
            </a:r>
            <a:endParaRPr lang="en-US" sz="1050" dirty="0"/>
          </a:p>
        </p:txBody>
      </p:sp>
      <p:sp>
        <p:nvSpPr>
          <p:cNvPr id="29" name="Shape 22"/>
          <p:cNvSpPr/>
          <p:nvPr/>
        </p:nvSpPr>
        <p:spPr>
          <a:xfrm>
            <a:off x="6025896"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6025896" y="2953512"/>
            <a:ext cx="2706624" cy="658368"/>
          </a:xfrm>
          <a:prstGeom prst="rect">
            <a:avLst/>
          </a:prstGeom>
          <a:solidFill>
            <a:srgbClr val="0F3D8A"/>
          </a:solidFill>
          <a:ln w="12700">
            <a:solidFill>
              <a:srgbClr val="0F3D8A"/>
            </a:solidFill>
            <a:prstDash val="solid"/>
          </a:ln>
        </p:spPr>
      </p:sp>
      <p:pic>
        <p:nvPicPr>
          <p:cNvPr id="31" name="Image 5" descr="preencoded.png">    </p:cNvPr>
          <p:cNvPicPr>
            <a:picLocks noChangeAspect="1"/>
          </p:cNvPicPr>
          <p:nvPr/>
        </p:nvPicPr>
        <p:blipFill>
          <a:blip r:embed="rId6"/>
          <a:stretch>
            <a:fillRect/>
          </a:stretch>
        </p:blipFill>
        <p:spPr>
          <a:xfrm>
            <a:off x="6163056" y="3081528"/>
            <a:ext cx="384048" cy="384048"/>
          </a:xfrm>
          <a:prstGeom prst="rect">
            <a:avLst/>
          </a:prstGeom>
        </p:spPr>
      </p:pic>
      <p:sp>
        <p:nvSpPr>
          <p:cNvPr id="32" name="Text 24"/>
          <p:cNvSpPr/>
          <p:nvPr/>
        </p:nvSpPr>
        <p:spPr>
          <a:xfrm>
            <a:off x="6620256"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Generational</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Wealth Deflection</a:t>
            </a:r>
            <a:endParaRPr lang="en-US" sz="1150" dirty="0"/>
          </a:p>
        </p:txBody>
      </p:sp>
      <p:sp>
        <p:nvSpPr>
          <p:cNvPr id="33" name="Text 25"/>
          <p:cNvSpPr/>
          <p:nvPr/>
        </p:nvSpPr>
        <p:spPr>
          <a:xfrm>
            <a:off x="6135624"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Household coverage scoring to identify single-holder wealth concentration and expand FI relationships to next-generation family members.</a:t>
            </a:r>
            <a:endParaRPr lang="en-US" sz="1050" dirty="0"/>
          </a:p>
        </p:txBody>
      </p:sp>
      <p:sp>
        <p:nvSpPr>
          <p:cNvPr id="34" name="Shape 26"/>
          <p:cNvSpPr/>
          <p:nvPr/>
        </p:nvSpPr>
        <p:spPr>
          <a:xfrm>
            <a:off x="320040" y="4718304"/>
            <a:ext cx="8503920" cy="329184"/>
          </a:xfrm>
          <a:prstGeom prst="rect">
            <a:avLst/>
          </a:prstGeom>
          <a:solidFill>
            <a:srgbClr val="E8F7F7"/>
          </a:solidFill>
          <a:ln w="12700">
            <a:solidFill>
              <a:srgbClr val="085CE5"/>
            </a:solidFill>
            <a:prstDash val="solid"/>
          </a:ln>
        </p:spPr>
      </p:sp>
      <p:sp>
        <p:nvSpPr>
          <p:cNvPr id="35" name="Text 27"/>
          <p:cNvSpPr/>
          <p:nvPr/>
        </p:nvSpPr>
        <p:spPr>
          <a:xfrm>
            <a:off x="475488" y="4736592"/>
            <a:ext cx="8229600" cy="274320"/>
          </a:xfrm>
          <a:prstGeom prst="rect">
            <a:avLst/>
          </a:prstGeom>
          <a:noFill/>
          <a:ln/>
        </p:spPr>
        <p:txBody>
          <a:bodyPr wrap="square" lIns="0" tIns="0" rIns="0" bIns="0" rtlCol="0" anchor="ctr"/>
          <a:lstStyle/>
          <a:p>
            <a:pPr indent="0" marL="0">
              <a:buNone/>
            </a:pPr>
            <a:r>
              <a:rPr lang="en-US" sz="950" i="1" dirty="0">
                <a:solidFill>
                  <a:srgbClr val="085CE5"/>
                </a:solidFill>
                <a:latin typeface="Calibri" pitchFamily="34" charset="0"/>
                <a:ea typeface="Calibri" pitchFamily="34" charset="-122"/>
                <a:cs typeface="Calibri" pitchFamily="34" charset="-120"/>
              </a:rPr>
              <a:t>Horizon Pipeline includes Year 2 opportunities: Cross-Sell Propensity  ·  Fraud Ring Detection  ·  Deposit Runoff  ·  Overdraft Prediction  ·  and more →  see Horizon slide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85CE5"/>
          </a:solidFill>
          <a:ln w="12700">
            <a:solidFill>
              <a:srgbClr val="085CE5"/>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Attrition / Churn Mediation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85CE5"/>
          </a:solidFill>
          <a:ln w="12700">
            <a:solidFill>
              <a:srgbClr val="085CE5"/>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Community banks and credit unions lose 8–12% of their customer/member base annually to attrition. Without predictive capability embedded in their platform, FI staff can only react after the account is already closing — when outreach success rates drop below 20%.</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at-risk customers/members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Relationship managers lack behavioral risk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Reactive outreach is expensive with low conversion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High cost-to-retain vs. cost-to-acquire imbalance</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survival analysis + gradient boosted model (AutoGluon / CatBoost) embedded in the JH platform — scoring every customer and member weekly on churn probability using behavioral signals from transaction, login, product, and call data.</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AutoGluon ensemble + CatBoost scoring pipeline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values for banker-facing explainability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trigger → JH CRM / outreach workflows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Weekly model refresh with drift monitoring alerts</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$1–3M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revenue protected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($1B deposits)</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15–25%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churn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rate for FI clients</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6185F"/>
          </a:solidFill>
          <a:ln w="12700">
            <a:solidFill>
              <a:srgbClr val="06185F"/>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Zelle Memo Intelligence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6185F"/>
          </a:solidFill>
          <a:ln w="12700">
            <a:solidFill>
              <a:srgbClr val="06185F"/>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6185F"/>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Zelle transaction volumes across JH-powered institutions have grown 40%+ year-over-year. Free-text memos contain fraud signals, elder abuse patterns, and compliance triggers — but manual review at scale is impossible and static rules miss adaptive language.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Manual memo review is expensive and impossible to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Pattern-based rules miss novel language and obfuscation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systemic link between memo text and SAR filings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Compliance exposure growing with every Zelle transaction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NLP classification and entity-extraction pipeline using fine-tuned transformer models — deployed within JH's compliance infrastructure to classify Zelle memos in near-real-time and surface risk-ranked alerts for examiner review.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Fine-tuned DistilBERT / RoBERTa on labeled memo corpus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Entity extraction: amounts, counterparties, intent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Risk score → automated alert queue integration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Attention visualization for compliance examiner review</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60%</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manual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memo review hours per FI</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$250K+</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compliance cost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savings per FI (est.)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2026</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73FA8"/>
          </a:solidFill>
          <a:ln w="12700">
            <a:solidFill>
              <a:srgbClr val="073FA8"/>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Anomaly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73FA8"/>
          </a:solidFill>
          <a:ln w="12700">
            <a:solidFill>
              <a:srgbClr val="073FA8"/>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73FA8"/>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Fraud and operational anomalies across JH-powered FIs are caught only by static rules — generating massive false positive rates that exhaust alert teams, while sophisticated multi-account patterns, account takeover signals, and operational errors slip through undetected.</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Static rules generate excessive false positive alert volume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Novel fraud patterns evade threshold-based logic</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unsupervised learning across multi-account behavior</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Operational anomalies (data gaps, system errors) undetected</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unsupervised anomaly detection platform using Isolation Forest, DBSCAN, and autoencoder neural networks — deployed as a JH platform service scoring transactions and behavioral signals across all connected FI institutions in near real-time.</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Isolation Forest + autoencoder ensemble architecture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Streaming Kafka pipeline for near-real-time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Multi-entity context: account, customer, branch, channel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anomaly scores surfaced in JH analyst dashboard</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$1–2M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fraud loss saved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70%</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False positive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reduction target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575A5D"/>
          </a:solidFill>
          <a:ln w="12700">
            <a:solidFill>
              <a:srgbClr val="575A5D"/>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Call Report AI</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575A5D"/>
          </a:solidFill>
          <a:ln w="12700">
            <a:solidFill>
              <a:srgbClr val="575A5D"/>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575A5D"/>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Credit union executives lack real-time, actionable intelligence from NCUA 5300 call report data. Extracting peer benchmarks, spotting risk trends, and generating board-ready summaries requires manual data pulls, Excel gymnastics, and hours of analyst time every quarter.</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NCUA 5300 data is public but difficult to query at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Peer benchmarking requires manual multi-institution comparison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Board and exec briefs take hours to prepare from raw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emerging credit quality or capital risk</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CallRpt AI — in active development, targeting Aug/Sept 2026 as a fast follow to JHBI approval — is a Claude-powered executive intelligence platform ingesting NCUA 5300 data for all 4,374 U.S. credit unions, with Payments and Core data modules to follow.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Market Pulse: industry health score, KPIs, 8-quarter trend charts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Ask: Claude-powered NL Q&amp;A on full NCUA 5300 dataset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Compare: percentile benchmarking + similar CU discovery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AI Executive Brief: one-click Claude summary per institution</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Aug '26</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launch — fast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follow to JHBI approval</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4,374</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credit unions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indexed in the platform</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$2.5T</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Total assets covered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across all institutions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B68D4"/>
          </a:solidFill>
          <a:ln w="12700">
            <a:solidFill>
              <a:srgbClr val="0B68D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Account Opening Lifetime Value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B68D4"/>
          </a:solidFill>
          <a:ln w="12700">
            <a:solidFill>
              <a:srgbClr val="0B68D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B68D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 clients using JH's account opening platform treat every new applicant identically — the same onboarding experience, the same cross-sell timing, regardless of predicted value. High-LTV customers are underinvested; resources are wasted on low-value accounts.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LTV signal available at the account opening stage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Cross-sell sequencing is time-based, not value-informed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Acquisition ROI unmeasured by customer cohort value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Onboarding resources undifferentiated across channels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CatBoost + AutoGluon LTV regression model scoring new accounts at opening — using behavioral archetypes, product signals, and demographic proxies to route applicants to differentiated service tiers and trigger ML-guided cross-sell sequencing.</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regression + AutoGluon ensemble LTV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banker-facing explanations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tiered onboarding routing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Cohort tracking dashboard to validate model accuracy over time</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$800K+</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Incremental revenue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in Year 1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Cross-sell conversion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improvement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A52C4"/>
          </a:solidFill>
          <a:ln w="12700">
            <a:solidFill>
              <a:srgbClr val="0A52C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CommercialSignal</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A52C4"/>
          </a:solidFill>
          <a:ln w="12700">
            <a:solidFill>
              <a:srgbClr val="0A52C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A52C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Business owners run commercial operations through personal accounts daily — creating BSA/AML blind spots, Reg E gaps, and hiding SMB relationships that belong in business banking generating fee income, treasury products, and SBA loan revenue.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Commercial cash flows in consumer accounts invisible to business banking teams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BSA/AML programs miss commercial-risk patterns governed by Reg E frameworks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FIs lose fee income, treasury products, and SBA loan opportunities from hidden SMBs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Sole proprietors remain in consumer tiers with no differentiated service or depth</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ML classification model analyzing transaction velocity, ACH vendor/payroll signatures, payee diversity, and cash flow patterns to score personal accounts for commercial usage probability — surfacing them for business banking outreach and revenue conversion.</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classifier: transaction velocity, ACH pattern, payee diversity, cash flow features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 review and Regulation E compliance documentation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segmented SMB conversion outreach campaigns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monitoring for commercial activity thresholds with alert triggers</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$22T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business payments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flowing through personal accounts</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30–40%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Small business owners use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personal accounts commercially</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A52C4"/>
          </a:solidFill>
          <a:ln w="12700">
            <a:solidFill>
              <a:srgbClr val="0A52C4"/>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Bank Director — 'The Untapped Market Hiding in Consumer Bank Accounts' (bankdirector.com/article/the-untapped-market-hiding-in-consumer-bank-accounts)  ·  Datos Insights — 'Bank Wealth Managers: Business Owner Client Opportunity' (datos-insights.com)</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F3D8A"/>
          </a:solidFill>
          <a:ln w="12700">
            <a:solidFill>
              <a:srgbClr val="0F3D8A"/>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Generational Wealth Deflection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F3D8A"/>
          </a:solidFill>
          <a:ln w="12700">
            <a:solidFill>
              <a:srgbClr val="0F3D8A"/>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F3D8A"/>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FIs manage individual accounts but have no household model — so when wealth concentrates in a single-holder account with no family ties at the FI, a life event sends those assets to a competitor who already has the relationship with the heirs.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 relationships are account-level, not household- or family-level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model for identifying households with single-point-of-relationship risk</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transfer triggers reactive outreach — typically too late to retain assets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Next-gen account holders are captured by digital-first competitors before FI engages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household coverage scoring model that identifies existing accounts with concentrated wealth and no generational relationship depth — scoring deflection risk and triggering proactive family outreach campaigns to build multi-generational FI relationships before wealth transitions.</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linkage model: address, name, and account relationship graph from core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concentration + relationship density scoring per household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Proactive outreach triggers: next-gen Banno digital invites, relationship banker introductions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coverage rate tracked as FI performance KPI in JH executive dashboard</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$84T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household wealth</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transferring by 2045 (Cerulli)</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Of transferred wealth changes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financial institutions</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F3D8A"/>
          </a:solidFill>
          <a:ln w="12700">
            <a:solidFill>
              <a:srgbClr val="0F3D8A"/>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Cerulli Associates — 'U.S. High-Net-Worth and Ultra-High-Net-Worth Markets 2023'  ·  McKinsey — 'The Great Wealth Transfer' (2023)  ·  LIMRA — Intergenerational Wealth Transfer Research</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969264"/>
          </a:xfrm>
          <a:prstGeom prst="rect">
            <a:avLst/>
          </a:prstGeom>
          <a:solidFill>
            <a:srgbClr val="0D2E7A"/>
          </a:solidFill>
          <a:ln w="12700">
            <a:solidFill>
              <a:srgbClr val="0D2E7A"/>
            </a:solidFill>
            <a:prstDash val="solid"/>
          </a:ln>
        </p:spPr>
      </p:sp>
      <p:pic>
        <p:nvPicPr>
          <p:cNvPr id="3" name="Image 0" descr="preencoded.png">    </p:cNvPr>
          <p:cNvPicPr>
            <a:picLocks noChangeAspect="1"/>
          </p:cNvPicPr>
          <p:nvPr/>
        </p:nvPicPr>
        <p:blipFill>
          <a:blip r:embed="rId1"/>
          <a:stretch>
            <a:fillRect/>
          </a:stretch>
        </p:blipFill>
        <p:spPr>
          <a:xfrm>
            <a:off x="347472" y="146304"/>
            <a:ext cx="621792" cy="621792"/>
          </a:xfrm>
          <a:prstGeom prst="rect">
            <a:avLst/>
          </a:prstGeom>
        </p:spPr>
      </p:pic>
      <p:sp>
        <p:nvSpPr>
          <p:cNvPr id="4" name="Text 1"/>
          <p:cNvSpPr/>
          <p:nvPr/>
        </p:nvSpPr>
        <p:spPr>
          <a:xfrm>
            <a:off x="1078992" y="73152"/>
            <a:ext cx="6858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FI Decision Studio</a:t>
            </a:r>
            <a:endParaRPr lang="en-US" sz="2800" dirty="0"/>
          </a:p>
        </p:txBody>
      </p:sp>
      <p:sp>
        <p:nvSpPr>
          <p:cNvPr id="5" name="Text 2"/>
          <p:cNvSpPr/>
          <p:nvPr/>
        </p:nvSpPr>
        <p:spPr>
          <a:xfrm>
            <a:off x="1078992" y="576072"/>
            <a:ext cx="777240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AutoML · SHAP Explainability · Rule Authoring · API Hosting · Drift Monitoring</a:t>
            </a:r>
            <a:endParaRPr lang="en-US" sz="1050" dirty="0"/>
          </a:p>
        </p:txBody>
      </p:sp>
      <p:sp>
        <p:nvSpPr>
          <p:cNvPr id="6" name="Shape 3"/>
          <p:cNvSpPr/>
          <p:nvPr/>
        </p:nvSpPr>
        <p:spPr>
          <a:xfrm>
            <a:off x="320040" y="1078992"/>
            <a:ext cx="54864" cy="256032"/>
          </a:xfrm>
          <a:prstGeom prst="rect">
            <a:avLst/>
          </a:prstGeom>
          <a:solidFill>
            <a:srgbClr val="0D2E7A"/>
          </a:solidFill>
          <a:ln w="12700">
            <a:solidFill>
              <a:srgbClr val="0D2E7A"/>
            </a:solidFill>
            <a:prstDash val="solid"/>
          </a:ln>
        </p:spPr>
      </p:sp>
      <p:sp>
        <p:nvSpPr>
          <p:cNvPr id="7" name="Text 4"/>
          <p:cNvSpPr/>
          <p:nvPr/>
        </p:nvSpPr>
        <p:spPr>
          <a:xfrm>
            <a:off x="438912"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PROBLEM</a:t>
            </a:r>
            <a:endParaRPr lang="en-US" sz="900" dirty="0"/>
          </a:p>
        </p:txBody>
      </p:sp>
      <p:sp>
        <p:nvSpPr>
          <p:cNvPr id="8" name="Text 5"/>
          <p:cNvSpPr/>
          <p:nvPr/>
        </p:nvSpPr>
        <p:spPr>
          <a:xfrm>
            <a:off x="320040" y="1353312"/>
            <a:ext cx="4160520" cy="107899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Community FIs have transaction data, behavioral signals, and fraud intuition built up over decades — but no way to turn it into models. Vendor AI is a black box that doesn't reflect local market dynamics and can't be explained to regulators under SR 11-7 model risk management guidelines. Building custom ML requires data science talent most FIs can't hire or afford.</a:t>
            </a:r>
            <a:endParaRPr lang="en-US" sz="1050" dirty="0"/>
          </a:p>
        </p:txBody>
      </p:sp>
      <p:sp>
        <p:nvSpPr>
          <p:cNvPr id="9" name="Shape 6"/>
          <p:cNvSpPr/>
          <p:nvPr/>
        </p:nvSpPr>
        <p:spPr>
          <a:xfrm>
            <a:off x="347472" y="2523744"/>
            <a:ext cx="146304" cy="146304"/>
          </a:xfrm>
          <a:prstGeom prst="ellipse">
            <a:avLst/>
          </a:prstGeom>
          <a:solidFill>
            <a:srgbClr val="0D2E7A"/>
          </a:solidFill>
          <a:ln w="12700">
            <a:solidFill>
              <a:srgbClr val="0D2E7A"/>
            </a:solidFill>
            <a:prstDash val="solid"/>
          </a:ln>
        </p:spPr>
      </p:sp>
      <p:sp>
        <p:nvSpPr>
          <p:cNvPr id="10" name="Text 7"/>
          <p:cNvSpPr/>
          <p:nvPr/>
        </p:nvSpPr>
        <p:spPr>
          <a:xfrm>
            <a:off x="566928" y="2468880"/>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labeled data to train supervised models — FIs can't even start</a:t>
            </a:r>
            <a:endParaRPr lang="en-US" sz="1000" dirty="0"/>
          </a:p>
        </p:txBody>
      </p:sp>
      <p:sp>
        <p:nvSpPr>
          <p:cNvPr id="11" name="Shape 8"/>
          <p:cNvSpPr/>
          <p:nvPr/>
        </p:nvSpPr>
        <p:spPr>
          <a:xfrm>
            <a:off x="347472" y="2852928"/>
            <a:ext cx="146304" cy="146304"/>
          </a:xfrm>
          <a:prstGeom prst="ellipse">
            <a:avLst/>
          </a:prstGeom>
          <a:solidFill>
            <a:srgbClr val="0D2E7A"/>
          </a:solidFill>
          <a:ln w="12700">
            <a:solidFill>
              <a:srgbClr val="0D2E7A"/>
            </a:solidFill>
            <a:prstDash val="solid"/>
          </a:ln>
        </p:spPr>
      </p:sp>
      <p:sp>
        <p:nvSpPr>
          <p:cNvPr id="12" name="Text 9"/>
          <p:cNvSpPr/>
          <p:nvPr/>
        </p:nvSpPr>
        <p:spPr>
          <a:xfrm>
            <a:off x="566928" y="2798064"/>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Vendor scores can't be explained to the board or examiners</a:t>
            </a:r>
            <a:endParaRPr lang="en-US" sz="1000" dirty="0"/>
          </a:p>
        </p:txBody>
      </p:sp>
      <p:sp>
        <p:nvSpPr>
          <p:cNvPr id="13" name="Shape 10"/>
          <p:cNvSpPr/>
          <p:nvPr/>
        </p:nvSpPr>
        <p:spPr>
          <a:xfrm>
            <a:off x="347472" y="3182112"/>
            <a:ext cx="146304" cy="146304"/>
          </a:xfrm>
          <a:prstGeom prst="ellipse">
            <a:avLst/>
          </a:prstGeom>
          <a:solidFill>
            <a:srgbClr val="0D2E7A"/>
          </a:solidFill>
          <a:ln w="12700">
            <a:solidFill>
              <a:srgbClr val="0D2E7A"/>
            </a:solidFill>
            <a:prstDash val="solid"/>
          </a:ln>
        </p:spPr>
      </p:sp>
      <p:sp>
        <p:nvSpPr>
          <p:cNvPr id="14" name="Text 11"/>
          <p:cNvSpPr/>
          <p:nvPr/>
        </p:nvSpPr>
        <p:spPr>
          <a:xfrm>
            <a:off x="566928" y="3127248"/>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rule authoring — compliance teams can't tune or override ML output</a:t>
            </a:r>
            <a:endParaRPr lang="en-US" sz="1000" dirty="0"/>
          </a:p>
        </p:txBody>
      </p:sp>
      <p:sp>
        <p:nvSpPr>
          <p:cNvPr id="15" name="Shape 12"/>
          <p:cNvSpPr/>
          <p:nvPr/>
        </p:nvSpPr>
        <p:spPr>
          <a:xfrm>
            <a:off x="347472" y="3511296"/>
            <a:ext cx="146304" cy="146304"/>
          </a:xfrm>
          <a:prstGeom prst="ellipse">
            <a:avLst/>
          </a:prstGeom>
          <a:solidFill>
            <a:srgbClr val="0D2E7A"/>
          </a:solidFill>
          <a:ln w="12700">
            <a:solidFill>
              <a:srgbClr val="0D2E7A"/>
            </a:solidFill>
            <a:prstDash val="solid"/>
          </a:ln>
        </p:spPr>
      </p:sp>
      <p:sp>
        <p:nvSpPr>
          <p:cNvPr id="16" name="Text 13"/>
          <p:cNvSpPr/>
          <p:nvPr/>
        </p:nvSpPr>
        <p:spPr>
          <a:xfrm>
            <a:off x="566928" y="3456432"/>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Model deployment requires engineering resources FIs don't have</a:t>
            </a:r>
            <a:endParaRPr lang="en-US" sz="1000" dirty="0"/>
          </a:p>
        </p:txBody>
      </p:sp>
      <p:sp>
        <p:nvSpPr>
          <p:cNvPr id="17" name="Shape 14"/>
          <p:cNvSpPr/>
          <p:nvPr/>
        </p:nvSpPr>
        <p:spPr>
          <a:xfrm>
            <a:off x="4663440" y="1078992"/>
            <a:ext cx="36576" cy="3273552"/>
          </a:xfrm>
          <a:prstGeom prst="rect">
            <a:avLst/>
          </a:prstGeom>
          <a:solidFill>
            <a:srgbClr val="E7ECF0"/>
          </a:solidFill>
          <a:ln w="12700">
            <a:solidFill>
              <a:srgbClr val="E7ECF0"/>
            </a:solidFill>
            <a:prstDash val="solid"/>
          </a:ln>
        </p:spPr>
      </p:sp>
      <p:sp>
        <p:nvSpPr>
          <p:cNvPr id="18" name="Shape 15"/>
          <p:cNvSpPr/>
          <p:nvPr/>
        </p:nvSpPr>
        <p:spPr>
          <a:xfrm>
            <a:off x="4828032" y="1078992"/>
            <a:ext cx="54864" cy="256032"/>
          </a:xfrm>
          <a:prstGeom prst="rect">
            <a:avLst/>
          </a:prstGeom>
          <a:solidFill>
            <a:srgbClr val="0D2E7A"/>
          </a:solidFill>
          <a:ln w="12700">
            <a:solidFill>
              <a:srgbClr val="0D2E7A"/>
            </a:solidFill>
            <a:prstDash val="solid"/>
          </a:ln>
        </p:spPr>
      </p:sp>
      <p:sp>
        <p:nvSpPr>
          <p:cNvPr id="19" name="Text 16"/>
          <p:cNvSpPr/>
          <p:nvPr/>
        </p:nvSpPr>
        <p:spPr>
          <a:xfrm>
            <a:off x="4956048"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SOLUTION</a:t>
            </a:r>
            <a:endParaRPr lang="en-US" sz="900" dirty="0"/>
          </a:p>
        </p:txBody>
      </p:sp>
      <p:sp>
        <p:nvSpPr>
          <p:cNvPr id="20" name="Text 17"/>
          <p:cNvSpPr/>
          <p:nvPr/>
        </p:nvSpPr>
        <p:spPr>
          <a:xfrm>
            <a:off x="4828032" y="1353312"/>
            <a:ext cx="3977640"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FI Decision Studio meets every FI at their label maturity. Start with zero labels — the platform detects anomalies with unsupervised ML. As analysts review and tag cases, it tracks label maturity and offers a one-click upgrade to a full AutoGluon supervised ensemble. Tree SHAP explains every prediction, a rule authoring layer converts model insights into editable human decisions, and one-click API deployment puts models into production without engineering support.</a:t>
            </a:r>
            <a:endParaRPr lang="en-US" sz="1050" dirty="0"/>
          </a:p>
        </p:txBody>
      </p:sp>
      <p:sp>
        <p:nvSpPr>
          <p:cNvPr id="21" name="Shape 18"/>
          <p:cNvSpPr/>
          <p:nvPr/>
        </p:nvSpPr>
        <p:spPr>
          <a:xfrm>
            <a:off x="4828032" y="2596896"/>
            <a:ext cx="54864" cy="256032"/>
          </a:xfrm>
          <a:prstGeom prst="rect">
            <a:avLst/>
          </a:prstGeom>
          <a:solidFill>
            <a:srgbClr val="0D2E7A"/>
          </a:solidFill>
          <a:ln w="12700">
            <a:solidFill>
              <a:srgbClr val="0D2E7A"/>
            </a:solidFill>
            <a:prstDash val="solid"/>
          </a:ln>
        </p:spPr>
      </p:sp>
      <p:sp>
        <p:nvSpPr>
          <p:cNvPr id="22" name="Text 19"/>
          <p:cNvSpPr/>
          <p:nvPr/>
        </p:nvSpPr>
        <p:spPr>
          <a:xfrm>
            <a:off x="4956048" y="2596896"/>
            <a:ext cx="32004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PLATFORM PILLARS</a:t>
            </a:r>
            <a:endParaRPr lang="en-US" sz="900" dirty="0"/>
          </a:p>
        </p:txBody>
      </p:sp>
      <p:sp>
        <p:nvSpPr>
          <p:cNvPr id="23" name="Text 20"/>
          <p:cNvSpPr/>
          <p:nvPr/>
        </p:nvSpPr>
        <p:spPr>
          <a:xfrm>
            <a:off x="4828032" y="2907792"/>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Unsupervised → Supervised: Isolation Forest until labels mature; AutoGluon (CatBoost + XGBoost) ensemble when ready</a:t>
            </a:r>
            <a:endParaRPr lang="en-US" sz="950" dirty="0"/>
          </a:p>
        </p:txBody>
      </p:sp>
      <p:sp>
        <p:nvSpPr>
          <p:cNvPr id="24" name="Text 21"/>
          <p:cNvSpPr/>
          <p:nvPr/>
        </p:nvSpPr>
        <p:spPr>
          <a:xfrm>
            <a:off x="4828032" y="3255264"/>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Tree SHAP on every prediction: top feature drivers, directional impact, plain-English output — SR 11-7 defensible</a:t>
            </a:r>
            <a:endParaRPr lang="en-US" sz="950" dirty="0"/>
          </a:p>
        </p:txBody>
      </p:sp>
      <p:sp>
        <p:nvSpPr>
          <p:cNvPr id="25" name="Text 22"/>
          <p:cNvSpPr/>
          <p:nvPr/>
        </p:nvSpPr>
        <p:spPr>
          <a:xfrm>
            <a:off x="4828032" y="3602736"/>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Rule Authoring: model insights → editable decision rules with visual threshold sliders and backtest on historical data</a:t>
            </a:r>
            <a:endParaRPr lang="en-US" sz="950" dirty="0"/>
          </a:p>
        </p:txBody>
      </p:sp>
      <p:sp>
        <p:nvSpPr>
          <p:cNvPr id="26" name="Text 23"/>
          <p:cNvSpPr/>
          <p:nvPr/>
        </p:nvSpPr>
        <p:spPr>
          <a:xfrm>
            <a:off x="4828032" y="3950208"/>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One-click API: versioned REST endpoint deployment; JH hosts, manages, and monitors — no FI engineering required</a:t>
            </a:r>
            <a:endParaRPr lang="en-US" sz="950" dirty="0"/>
          </a:p>
        </p:txBody>
      </p:sp>
      <p:sp>
        <p:nvSpPr>
          <p:cNvPr id="27" name="Text 24"/>
          <p:cNvSpPr/>
          <p:nvPr/>
        </p:nvSpPr>
        <p:spPr>
          <a:xfrm>
            <a:off x="4828032" y="4297680"/>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Drift Monitoring: PSI on feature distributions weekly; prediction drift alerts; automated retraining recommendations</a:t>
            </a:r>
            <a:endParaRPr lang="en-US" sz="950" dirty="0"/>
          </a:p>
        </p:txBody>
      </p:sp>
      <p:sp>
        <p:nvSpPr>
          <p:cNvPr id="28" name="Shape 25"/>
          <p:cNvSpPr/>
          <p:nvPr/>
        </p:nvSpPr>
        <p:spPr>
          <a:xfrm>
            <a:off x="365760" y="4224528"/>
            <a:ext cx="2560320" cy="877824"/>
          </a:xfrm>
          <a:prstGeom prst="rect">
            <a:avLst/>
          </a:prstGeom>
          <a:solidFill>
            <a:srgbClr val="0D2E7A"/>
          </a:solidFill>
          <a:ln w="12700">
            <a:solidFill>
              <a:srgbClr val="0D2E7A"/>
            </a:solidFill>
            <a:prstDash val="solid"/>
          </a:ln>
        </p:spPr>
      </p:sp>
      <p:sp>
        <p:nvSpPr>
          <p:cNvPr id="29" name="Text 26"/>
          <p:cNvSpPr/>
          <p:nvPr/>
        </p:nvSpPr>
        <p:spPr>
          <a:xfrm>
            <a:off x="36576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&lt; 2 hrs</a:t>
            </a:r>
            <a:endParaRPr lang="en-US" sz="2400" dirty="0"/>
          </a:p>
        </p:txBody>
      </p:sp>
      <p:sp>
        <p:nvSpPr>
          <p:cNvPr id="30" name="Text 27"/>
          <p:cNvSpPr/>
          <p:nvPr/>
        </p:nvSpPr>
        <p:spPr>
          <a:xfrm>
            <a:off x="36576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Data upload → first</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trained model deployed</a:t>
            </a:r>
            <a:endParaRPr lang="en-US" sz="950" dirty="0"/>
          </a:p>
        </p:txBody>
      </p:sp>
      <p:sp>
        <p:nvSpPr>
          <p:cNvPr id="31" name="Shape 28"/>
          <p:cNvSpPr/>
          <p:nvPr/>
        </p:nvSpPr>
        <p:spPr>
          <a:xfrm>
            <a:off x="3291840" y="4224528"/>
            <a:ext cx="2560320" cy="877824"/>
          </a:xfrm>
          <a:prstGeom prst="rect">
            <a:avLst/>
          </a:prstGeom>
          <a:solidFill>
            <a:srgbClr val="0D2E7A"/>
          </a:solidFill>
          <a:ln w="12700">
            <a:solidFill>
              <a:srgbClr val="0D2E7A"/>
            </a:solidFill>
            <a:prstDash val="solid"/>
          </a:ln>
        </p:spPr>
      </p:sp>
      <p:sp>
        <p:nvSpPr>
          <p:cNvPr id="32" name="Text 29"/>
          <p:cNvSpPr/>
          <p:nvPr/>
        </p:nvSpPr>
        <p:spPr>
          <a:xfrm>
            <a:off x="329184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SR 11-7</a:t>
            </a:r>
            <a:endParaRPr lang="en-US" sz="2400" dirty="0"/>
          </a:p>
        </p:txBody>
      </p:sp>
      <p:sp>
        <p:nvSpPr>
          <p:cNvPr id="33" name="Text 30"/>
          <p:cNvSpPr/>
          <p:nvPr/>
        </p:nvSpPr>
        <p:spPr>
          <a:xfrm>
            <a:off x="329184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Model risk compliance</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out of the box with SHAP</a:t>
            </a:r>
            <a:endParaRPr lang="en-US" sz="950" dirty="0"/>
          </a:p>
        </p:txBody>
      </p:sp>
      <p:sp>
        <p:nvSpPr>
          <p:cNvPr id="34" name="Shape 31"/>
          <p:cNvSpPr/>
          <p:nvPr/>
        </p:nvSpPr>
        <p:spPr>
          <a:xfrm>
            <a:off x="6217920" y="4224528"/>
            <a:ext cx="2560320" cy="877824"/>
          </a:xfrm>
          <a:prstGeom prst="rect">
            <a:avLst/>
          </a:prstGeom>
          <a:solidFill>
            <a:srgbClr val="0D2E7A"/>
          </a:solidFill>
          <a:ln w="12700">
            <a:solidFill>
              <a:srgbClr val="0D2E7A"/>
            </a:solidFill>
            <a:prstDash val="solid"/>
          </a:ln>
        </p:spPr>
      </p:sp>
      <p:sp>
        <p:nvSpPr>
          <p:cNvPr id="35" name="Text 32"/>
          <p:cNvSpPr/>
          <p:nvPr/>
        </p:nvSpPr>
        <p:spPr>
          <a:xfrm>
            <a:off x="621792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 paths</a:t>
            </a:r>
            <a:endParaRPr lang="en-US" sz="2400" dirty="0"/>
          </a:p>
        </p:txBody>
      </p:sp>
      <p:sp>
        <p:nvSpPr>
          <p:cNvPr id="36" name="Text 33"/>
          <p:cNvSpPr/>
          <p:nvPr/>
        </p:nvSpPr>
        <p:spPr>
          <a:xfrm>
            <a:off x="621792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Unsupervised · supervised</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 hybrid label progression</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Financial Impact for FI Clients — Across the JH Platform</a:t>
            </a:r>
            <a:endParaRPr lang="en-US" sz="2200" dirty="0"/>
          </a:p>
        </p:txBody>
      </p:sp>
      <p:sp>
        <p:nvSpPr>
          <p:cNvPr id="4" name="Text 2"/>
          <p:cNvSpPr/>
          <p:nvPr/>
        </p:nvSpPr>
        <p:spPr>
          <a:xfrm>
            <a:off x="365760" y="768096"/>
            <a:ext cx="8412480" cy="411480"/>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Conservative estimates for a mid-size community bank ($1B deposits / $800M assets). Across 1,660 core FI clients — and 7,500+ across the broader JH ecosystem — these represent transformative market value.</a:t>
            </a:r>
            <a:endParaRPr lang="en-US" sz="1200" dirty="0"/>
          </a:p>
        </p:txBody>
      </p:sp>
      <p:sp>
        <p:nvSpPr>
          <p:cNvPr id="5" name="Shape 3"/>
          <p:cNvSpPr/>
          <p:nvPr/>
        </p:nvSpPr>
        <p:spPr>
          <a:xfrm>
            <a:off x="365760" y="1243584"/>
            <a:ext cx="8412480" cy="347472"/>
          </a:xfrm>
          <a:prstGeom prst="rect">
            <a:avLst/>
          </a:prstGeom>
          <a:solidFill>
            <a:srgbClr val="06185F"/>
          </a:solidFill>
          <a:ln w="12700">
            <a:solidFill>
              <a:srgbClr val="06185F"/>
            </a:solidFill>
            <a:prstDash val="solid"/>
          </a:ln>
        </p:spPr>
      </p:sp>
      <p:sp>
        <p:nvSpPr>
          <p:cNvPr id="6" name="Text 4"/>
          <p:cNvSpPr/>
          <p:nvPr/>
        </p:nvSpPr>
        <p:spPr>
          <a:xfrm>
            <a:off x="457200" y="1280160"/>
            <a:ext cx="2560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7" name="Text 5"/>
          <p:cNvSpPr/>
          <p:nvPr/>
        </p:nvSpPr>
        <p:spPr>
          <a:xfrm>
            <a:off x="3108960" y="1280160"/>
            <a:ext cx="18288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Est. Annual FI Value</a:t>
            </a:r>
            <a:endParaRPr lang="en-US" sz="1100" dirty="0"/>
          </a:p>
        </p:txBody>
      </p:sp>
      <p:sp>
        <p:nvSpPr>
          <p:cNvPr id="8" name="Text 6"/>
          <p:cNvSpPr/>
          <p:nvPr/>
        </p:nvSpPr>
        <p:spPr>
          <a:xfrm>
            <a:off x="5029200" y="1280160"/>
            <a:ext cx="36576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Value Driver</a:t>
            </a:r>
            <a:endParaRPr lang="en-US" sz="1100" dirty="0"/>
          </a:p>
        </p:txBody>
      </p:sp>
      <p:sp>
        <p:nvSpPr>
          <p:cNvPr id="9" name="Shape 7"/>
          <p:cNvSpPr/>
          <p:nvPr/>
        </p:nvSpPr>
        <p:spPr>
          <a:xfrm>
            <a:off x="365760" y="1627632"/>
            <a:ext cx="8412480" cy="374904"/>
          </a:xfrm>
          <a:prstGeom prst="rect">
            <a:avLst/>
          </a:prstGeom>
          <a:solidFill>
            <a:srgbClr val="FFFFFF"/>
          </a:solidFill>
          <a:ln w="12700">
            <a:solidFill>
              <a:srgbClr val="E7ECF0"/>
            </a:solidFill>
            <a:prstDash val="solid"/>
          </a:ln>
        </p:spPr>
      </p:sp>
      <p:sp>
        <p:nvSpPr>
          <p:cNvPr id="10" name="Shape 8"/>
          <p:cNvSpPr/>
          <p:nvPr/>
        </p:nvSpPr>
        <p:spPr>
          <a:xfrm>
            <a:off x="365760" y="1627632"/>
            <a:ext cx="91440" cy="374904"/>
          </a:xfrm>
          <a:prstGeom prst="rect">
            <a:avLst/>
          </a:prstGeom>
          <a:solidFill>
            <a:srgbClr val="085CE5"/>
          </a:solidFill>
          <a:ln w="12700">
            <a:solidFill>
              <a:srgbClr val="085CE5"/>
            </a:solidFill>
            <a:prstDash val="solid"/>
          </a:ln>
        </p:spPr>
      </p:sp>
      <p:sp>
        <p:nvSpPr>
          <p:cNvPr id="11" name="Text 9"/>
          <p:cNvSpPr/>
          <p:nvPr/>
        </p:nvSpPr>
        <p:spPr>
          <a:xfrm>
            <a:off x="502920" y="165506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Attrition / Churn Mediation</a:t>
            </a:r>
            <a:endParaRPr lang="en-US" sz="950" dirty="0"/>
          </a:p>
        </p:txBody>
      </p:sp>
      <p:sp>
        <p:nvSpPr>
          <p:cNvPr id="12" name="Text 10"/>
          <p:cNvSpPr/>
          <p:nvPr/>
        </p:nvSpPr>
        <p:spPr>
          <a:xfrm>
            <a:off x="3108960" y="165506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$1–3M / year</a:t>
            </a:r>
            <a:endParaRPr lang="en-US" sz="950" dirty="0"/>
          </a:p>
        </p:txBody>
      </p:sp>
      <p:sp>
        <p:nvSpPr>
          <p:cNvPr id="13" name="Text 11"/>
          <p:cNvSpPr/>
          <p:nvPr/>
        </p:nvSpPr>
        <p:spPr>
          <a:xfrm>
            <a:off x="5029200" y="165506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15–25% churn reduction × avg. customer revenue of $400–$600/yr</a:t>
            </a:r>
            <a:endParaRPr lang="en-US" sz="850" dirty="0"/>
          </a:p>
        </p:txBody>
      </p:sp>
      <p:sp>
        <p:nvSpPr>
          <p:cNvPr id="14" name="Shape 12"/>
          <p:cNvSpPr/>
          <p:nvPr/>
        </p:nvSpPr>
        <p:spPr>
          <a:xfrm>
            <a:off x="365760" y="2029968"/>
            <a:ext cx="8412480" cy="374904"/>
          </a:xfrm>
          <a:prstGeom prst="rect">
            <a:avLst/>
          </a:prstGeom>
          <a:solidFill>
            <a:srgbClr val="E7ECF0"/>
          </a:solidFill>
          <a:ln w="12700">
            <a:solidFill>
              <a:srgbClr val="E7ECF0"/>
            </a:solidFill>
            <a:prstDash val="solid"/>
          </a:ln>
        </p:spPr>
      </p:sp>
      <p:sp>
        <p:nvSpPr>
          <p:cNvPr id="15" name="Shape 13"/>
          <p:cNvSpPr/>
          <p:nvPr/>
        </p:nvSpPr>
        <p:spPr>
          <a:xfrm>
            <a:off x="365760" y="2029968"/>
            <a:ext cx="91440" cy="374904"/>
          </a:xfrm>
          <a:prstGeom prst="rect">
            <a:avLst/>
          </a:prstGeom>
          <a:solidFill>
            <a:srgbClr val="06185F"/>
          </a:solidFill>
          <a:ln w="12700">
            <a:solidFill>
              <a:srgbClr val="06185F"/>
            </a:solidFill>
            <a:prstDash val="solid"/>
          </a:ln>
        </p:spPr>
      </p:sp>
      <p:sp>
        <p:nvSpPr>
          <p:cNvPr id="16" name="Text 14"/>
          <p:cNvSpPr/>
          <p:nvPr/>
        </p:nvSpPr>
        <p:spPr>
          <a:xfrm>
            <a:off x="502920" y="205740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17" name="Text 15"/>
          <p:cNvSpPr/>
          <p:nvPr/>
        </p:nvSpPr>
        <p:spPr>
          <a:xfrm>
            <a:off x="3108960" y="205740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$250K–$600K / year</a:t>
            </a:r>
            <a:endParaRPr lang="en-US" sz="950" dirty="0"/>
          </a:p>
        </p:txBody>
      </p:sp>
      <p:sp>
        <p:nvSpPr>
          <p:cNvPr id="18" name="Text 16"/>
          <p:cNvSpPr/>
          <p:nvPr/>
        </p:nvSpPr>
        <p:spPr>
          <a:xfrm>
            <a:off x="5029200" y="205740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60% reduction in manual review hours + SAR accuracy / regulatory risk avoidance</a:t>
            </a:r>
            <a:endParaRPr lang="en-US" sz="850" dirty="0"/>
          </a:p>
        </p:txBody>
      </p:sp>
      <p:sp>
        <p:nvSpPr>
          <p:cNvPr id="19" name="Shape 17"/>
          <p:cNvSpPr/>
          <p:nvPr/>
        </p:nvSpPr>
        <p:spPr>
          <a:xfrm>
            <a:off x="365760" y="2432304"/>
            <a:ext cx="8412480" cy="374904"/>
          </a:xfrm>
          <a:prstGeom prst="rect">
            <a:avLst/>
          </a:prstGeom>
          <a:solidFill>
            <a:srgbClr val="FFFFFF"/>
          </a:solidFill>
          <a:ln w="12700">
            <a:solidFill>
              <a:srgbClr val="E7ECF0"/>
            </a:solidFill>
            <a:prstDash val="solid"/>
          </a:ln>
        </p:spPr>
      </p:sp>
      <p:sp>
        <p:nvSpPr>
          <p:cNvPr id="20" name="Shape 18"/>
          <p:cNvSpPr/>
          <p:nvPr/>
        </p:nvSpPr>
        <p:spPr>
          <a:xfrm>
            <a:off x="365760" y="2432304"/>
            <a:ext cx="91440" cy="374904"/>
          </a:xfrm>
          <a:prstGeom prst="rect">
            <a:avLst/>
          </a:prstGeom>
          <a:solidFill>
            <a:srgbClr val="073FA8"/>
          </a:solidFill>
          <a:ln w="12700">
            <a:solidFill>
              <a:srgbClr val="073FA8"/>
            </a:solidFill>
            <a:prstDash val="solid"/>
          </a:ln>
        </p:spPr>
      </p:sp>
      <p:sp>
        <p:nvSpPr>
          <p:cNvPr id="21" name="Text 19"/>
          <p:cNvSpPr/>
          <p:nvPr/>
        </p:nvSpPr>
        <p:spPr>
          <a:xfrm>
            <a:off x="502920" y="2459736"/>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22" name="Text 20"/>
          <p:cNvSpPr/>
          <p:nvPr/>
        </p:nvSpPr>
        <p:spPr>
          <a:xfrm>
            <a:off x="3108960" y="2459736"/>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$1–2M / year</a:t>
            </a:r>
            <a:endParaRPr lang="en-US" sz="950" dirty="0"/>
          </a:p>
        </p:txBody>
      </p:sp>
      <p:sp>
        <p:nvSpPr>
          <p:cNvPr id="23" name="Text 21"/>
          <p:cNvSpPr/>
          <p:nvPr/>
        </p:nvSpPr>
        <p:spPr>
          <a:xfrm>
            <a:off x="5029200" y="2459736"/>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Fraud loss prevention + 70% false positive reduction (analyst labor saved)</a:t>
            </a:r>
            <a:endParaRPr lang="en-US" sz="850" dirty="0"/>
          </a:p>
        </p:txBody>
      </p:sp>
      <p:sp>
        <p:nvSpPr>
          <p:cNvPr id="24" name="Shape 22"/>
          <p:cNvSpPr/>
          <p:nvPr/>
        </p:nvSpPr>
        <p:spPr>
          <a:xfrm>
            <a:off x="365760" y="2834640"/>
            <a:ext cx="8412480" cy="374904"/>
          </a:xfrm>
          <a:prstGeom prst="rect">
            <a:avLst/>
          </a:prstGeom>
          <a:solidFill>
            <a:srgbClr val="E7ECF0"/>
          </a:solidFill>
          <a:ln w="12700">
            <a:solidFill>
              <a:srgbClr val="E7ECF0"/>
            </a:solidFill>
            <a:prstDash val="solid"/>
          </a:ln>
        </p:spPr>
      </p:sp>
      <p:sp>
        <p:nvSpPr>
          <p:cNvPr id="25" name="Shape 23"/>
          <p:cNvSpPr/>
          <p:nvPr/>
        </p:nvSpPr>
        <p:spPr>
          <a:xfrm>
            <a:off x="365760" y="2834640"/>
            <a:ext cx="91440" cy="374904"/>
          </a:xfrm>
          <a:prstGeom prst="rect">
            <a:avLst/>
          </a:prstGeom>
          <a:solidFill>
            <a:srgbClr val="575A5D"/>
          </a:solidFill>
          <a:ln w="12700">
            <a:solidFill>
              <a:srgbClr val="575A5D"/>
            </a:solidFill>
            <a:prstDash val="solid"/>
          </a:ln>
        </p:spPr>
      </p:sp>
      <p:sp>
        <p:nvSpPr>
          <p:cNvPr id="26" name="Text 24"/>
          <p:cNvSpPr/>
          <p:nvPr/>
        </p:nvSpPr>
        <p:spPr>
          <a:xfrm>
            <a:off x="502920" y="2862072"/>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a:t>
            </a:r>
            <a:endParaRPr lang="en-US" sz="950" dirty="0"/>
          </a:p>
        </p:txBody>
      </p:sp>
      <p:sp>
        <p:nvSpPr>
          <p:cNvPr id="27" name="Text 25"/>
          <p:cNvSpPr/>
          <p:nvPr/>
        </p:nvSpPr>
        <p:spPr>
          <a:xfrm>
            <a:off x="3108960" y="2862072"/>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$100–$300K / year</a:t>
            </a:r>
            <a:endParaRPr lang="en-US" sz="950" dirty="0"/>
          </a:p>
        </p:txBody>
      </p:sp>
      <p:sp>
        <p:nvSpPr>
          <p:cNvPr id="28" name="Text 26"/>
          <p:cNvSpPr/>
          <p:nvPr/>
        </p:nvSpPr>
        <p:spPr>
          <a:xfrm>
            <a:off x="5029200" y="2862072"/>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Analyst hours eliminated for peer benchmarking, board prep, and quarterly NCUA 5300 review; Aug/Sept 2026 launch</a:t>
            </a:r>
            <a:endParaRPr lang="en-US" sz="850" dirty="0"/>
          </a:p>
        </p:txBody>
      </p:sp>
      <p:sp>
        <p:nvSpPr>
          <p:cNvPr id="29" name="Shape 27"/>
          <p:cNvSpPr/>
          <p:nvPr/>
        </p:nvSpPr>
        <p:spPr>
          <a:xfrm>
            <a:off x="365760" y="3236976"/>
            <a:ext cx="8412480" cy="374904"/>
          </a:xfrm>
          <a:prstGeom prst="rect">
            <a:avLst/>
          </a:prstGeom>
          <a:solidFill>
            <a:srgbClr val="FFFFFF"/>
          </a:solidFill>
          <a:ln w="12700">
            <a:solidFill>
              <a:srgbClr val="E7ECF0"/>
            </a:solidFill>
            <a:prstDash val="solid"/>
          </a:ln>
        </p:spPr>
      </p:sp>
      <p:sp>
        <p:nvSpPr>
          <p:cNvPr id="30" name="Shape 28"/>
          <p:cNvSpPr/>
          <p:nvPr/>
        </p:nvSpPr>
        <p:spPr>
          <a:xfrm>
            <a:off x="365760" y="3236976"/>
            <a:ext cx="91440" cy="374904"/>
          </a:xfrm>
          <a:prstGeom prst="rect">
            <a:avLst/>
          </a:prstGeom>
          <a:solidFill>
            <a:srgbClr val="0B68D4"/>
          </a:solidFill>
          <a:ln w="12700">
            <a:solidFill>
              <a:srgbClr val="0B68D4"/>
            </a:solidFill>
            <a:prstDash val="solid"/>
          </a:ln>
        </p:spPr>
      </p:sp>
      <p:sp>
        <p:nvSpPr>
          <p:cNvPr id="31" name="Text 29"/>
          <p:cNvSpPr/>
          <p:nvPr/>
        </p:nvSpPr>
        <p:spPr>
          <a:xfrm>
            <a:off x="502920" y="3264408"/>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a:t>
            </a:r>
            <a:endParaRPr lang="en-US" sz="950" dirty="0"/>
          </a:p>
        </p:txBody>
      </p:sp>
      <p:sp>
        <p:nvSpPr>
          <p:cNvPr id="32" name="Text 30"/>
          <p:cNvSpPr/>
          <p:nvPr/>
        </p:nvSpPr>
        <p:spPr>
          <a:xfrm>
            <a:off x="3108960" y="3264408"/>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$500K–$1.5M / year</a:t>
            </a:r>
            <a:endParaRPr lang="en-US" sz="950" dirty="0"/>
          </a:p>
        </p:txBody>
      </p:sp>
      <p:sp>
        <p:nvSpPr>
          <p:cNvPr id="33" name="Text 31"/>
          <p:cNvSpPr/>
          <p:nvPr/>
        </p:nvSpPr>
        <p:spPr>
          <a:xfrm>
            <a:off x="5029200" y="3264408"/>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Tiered onboarding + 3–5× cross-sell improvement across 5,000–10,000 new accounts</a:t>
            </a:r>
            <a:endParaRPr lang="en-US" sz="850" dirty="0"/>
          </a:p>
        </p:txBody>
      </p:sp>
      <p:sp>
        <p:nvSpPr>
          <p:cNvPr id="34" name="Shape 32"/>
          <p:cNvSpPr/>
          <p:nvPr/>
        </p:nvSpPr>
        <p:spPr>
          <a:xfrm>
            <a:off x="365760" y="3639312"/>
            <a:ext cx="8412480" cy="374904"/>
          </a:xfrm>
          <a:prstGeom prst="rect">
            <a:avLst/>
          </a:prstGeom>
          <a:solidFill>
            <a:srgbClr val="E7ECF0"/>
          </a:solidFill>
          <a:ln w="12700">
            <a:solidFill>
              <a:srgbClr val="E7ECF0"/>
            </a:solidFill>
            <a:prstDash val="solid"/>
          </a:ln>
        </p:spPr>
      </p:sp>
      <p:sp>
        <p:nvSpPr>
          <p:cNvPr id="35" name="Shape 33"/>
          <p:cNvSpPr/>
          <p:nvPr/>
        </p:nvSpPr>
        <p:spPr>
          <a:xfrm>
            <a:off x="365760" y="3639312"/>
            <a:ext cx="91440" cy="374904"/>
          </a:xfrm>
          <a:prstGeom prst="rect">
            <a:avLst/>
          </a:prstGeom>
          <a:solidFill>
            <a:srgbClr val="0A52C4"/>
          </a:solidFill>
          <a:ln w="12700">
            <a:solidFill>
              <a:srgbClr val="0A52C4"/>
            </a:solidFill>
            <a:prstDash val="solid"/>
          </a:ln>
        </p:spPr>
      </p:sp>
      <p:sp>
        <p:nvSpPr>
          <p:cNvPr id="36" name="Text 34"/>
          <p:cNvSpPr/>
          <p:nvPr/>
        </p:nvSpPr>
        <p:spPr>
          <a:xfrm>
            <a:off x="502920" y="366674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CommercialSignal</a:t>
            </a:r>
            <a:endParaRPr lang="en-US" sz="950" dirty="0"/>
          </a:p>
        </p:txBody>
      </p:sp>
      <p:sp>
        <p:nvSpPr>
          <p:cNvPr id="37" name="Text 35"/>
          <p:cNvSpPr/>
          <p:nvPr/>
        </p:nvSpPr>
        <p:spPr>
          <a:xfrm>
            <a:off x="3108960" y="366674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$400K–$1.2M / year</a:t>
            </a:r>
            <a:endParaRPr lang="en-US" sz="950" dirty="0"/>
          </a:p>
        </p:txBody>
      </p:sp>
      <p:sp>
        <p:nvSpPr>
          <p:cNvPr id="38" name="Text 36"/>
          <p:cNvSpPr/>
          <p:nvPr/>
        </p:nvSpPr>
        <p:spPr>
          <a:xfrm>
            <a:off x="5029200" y="366674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SMB conversion revenue from business checking, treasury, and SBA loans on identified commercial-use accounts</a:t>
            </a:r>
            <a:endParaRPr lang="en-US" sz="850" dirty="0"/>
          </a:p>
        </p:txBody>
      </p:sp>
      <p:sp>
        <p:nvSpPr>
          <p:cNvPr id="39" name="Shape 37"/>
          <p:cNvSpPr/>
          <p:nvPr/>
        </p:nvSpPr>
        <p:spPr>
          <a:xfrm>
            <a:off x="365760" y="4041648"/>
            <a:ext cx="8412480" cy="374904"/>
          </a:xfrm>
          <a:prstGeom prst="rect">
            <a:avLst/>
          </a:prstGeom>
          <a:solidFill>
            <a:srgbClr val="FFFFFF"/>
          </a:solidFill>
          <a:ln w="12700">
            <a:solidFill>
              <a:srgbClr val="E7ECF0"/>
            </a:solidFill>
            <a:prstDash val="solid"/>
          </a:ln>
        </p:spPr>
      </p:sp>
      <p:sp>
        <p:nvSpPr>
          <p:cNvPr id="40" name="Shape 38"/>
          <p:cNvSpPr/>
          <p:nvPr/>
        </p:nvSpPr>
        <p:spPr>
          <a:xfrm>
            <a:off x="365760" y="4041648"/>
            <a:ext cx="91440" cy="374904"/>
          </a:xfrm>
          <a:prstGeom prst="rect">
            <a:avLst/>
          </a:prstGeom>
          <a:solidFill>
            <a:srgbClr val="0F3D8A"/>
          </a:solidFill>
          <a:ln w="12700">
            <a:solidFill>
              <a:srgbClr val="0F3D8A"/>
            </a:solidFill>
            <a:prstDash val="solid"/>
          </a:ln>
        </p:spPr>
      </p:sp>
      <p:sp>
        <p:nvSpPr>
          <p:cNvPr id="41" name="Text 39"/>
          <p:cNvSpPr/>
          <p:nvPr/>
        </p:nvSpPr>
        <p:spPr>
          <a:xfrm>
            <a:off x="502920" y="406908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42" name="Text 40"/>
          <p:cNvSpPr/>
          <p:nvPr/>
        </p:nvSpPr>
        <p:spPr>
          <a:xfrm>
            <a:off x="3108960" y="406908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$500K–$2M+ / year</a:t>
            </a:r>
            <a:endParaRPr lang="en-US" sz="950" dirty="0"/>
          </a:p>
        </p:txBody>
      </p:sp>
      <p:sp>
        <p:nvSpPr>
          <p:cNvPr id="43" name="Text 41"/>
          <p:cNvSpPr/>
          <p:nvPr/>
        </p:nvSpPr>
        <p:spPr>
          <a:xfrm>
            <a:off x="5029200" y="406908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AUM retained at generational transition × avg. household deposit balance; one retained high-net-worth household can exceed full-year subscription cost</a:t>
            </a:r>
            <a:endParaRPr lang="en-US" sz="850" dirty="0"/>
          </a:p>
        </p:txBody>
      </p:sp>
      <p:sp>
        <p:nvSpPr>
          <p:cNvPr id="44" name="Shape 42"/>
          <p:cNvSpPr/>
          <p:nvPr/>
        </p:nvSpPr>
        <p:spPr>
          <a:xfrm>
            <a:off x="365760" y="4443984"/>
            <a:ext cx="8412480" cy="420624"/>
          </a:xfrm>
          <a:prstGeom prst="rect">
            <a:avLst/>
          </a:prstGeom>
          <a:solidFill>
            <a:srgbClr val="06185F"/>
          </a:solidFill>
          <a:ln w="12700">
            <a:solidFill>
              <a:srgbClr val="06185F"/>
            </a:solidFill>
            <a:prstDash val="solid"/>
          </a:ln>
        </p:spPr>
      </p:sp>
      <p:sp>
        <p:nvSpPr>
          <p:cNvPr id="45" name="Text 43"/>
          <p:cNvSpPr/>
          <p:nvPr/>
        </p:nvSpPr>
        <p:spPr>
          <a:xfrm>
            <a:off x="502920" y="4471416"/>
            <a:ext cx="2514600" cy="36576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COMBINED POTENTIAL VALUE PER FI</a:t>
            </a:r>
            <a:endParaRPr lang="en-US" sz="1000" dirty="0"/>
          </a:p>
        </p:txBody>
      </p:sp>
      <p:sp>
        <p:nvSpPr>
          <p:cNvPr id="46" name="Text 44"/>
          <p:cNvSpPr/>
          <p:nvPr/>
        </p:nvSpPr>
        <p:spPr>
          <a:xfrm>
            <a:off x="3108960" y="4471416"/>
            <a:ext cx="1783080" cy="365760"/>
          </a:xfrm>
          <a:prstGeom prst="rect">
            <a:avLst/>
          </a:prstGeom>
          <a:noFill/>
          <a:ln/>
        </p:spPr>
        <p:txBody>
          <a:bodyPr wrap="square" lIns="0" tIns="0" rIns="0" bIns="0" rtlCol="0" anchor="ctr"/>
          <a:lstStyle/>
          <a:p>
            <a:pPr indent="0" marL="0">
              <a:buNone/>
            </a:pPr>
            <a:r>
              <a:rPr lang="en-US" sz="1100" b="1" dirty="0">
                <a:solidFill>
                  <a:srgbClr val="76DCFD"/>
                </a:solidFill>
                <a:latin typeface="Calibri" pitchFamily="34" charset="0"/>
                <a:ea typeface="Calibri" pitchFamily="34" charset="-122"/>
                <a:cs typeface="Calibri" pitchFamily="34" charset="-120"/>
              </a:rPr>
              <a:t>$4–10M+ / year</a:t>
            </a:r>
            <a:endParaRPr lang="en-US" sz="1100" dirty="0"/>
          </a:p>
        </p:txBody>
      </p:sp>
      <p:sp>
        <p:nvSpPr>
          <p:cNvPr id="47" name="Text 45"/>
          <p:cNvSpPr/>
          <p:nvPr/>
        </p:nvSpPr>
        <p:spPr>
          <a:xfrm>
            <a:off x="5029200" y="4471416"/>
            <a:ext cx="3657600" cy="36576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Conservative aggregate across all 7 Phase 1–2 applications</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Intelligence Platform — Pricing Architecture</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Asset-tiered SaaS subscription — priced to fit every institution from $50M community CUs to $200B+ tier-1 FIs, with modules that expand as JH adds data sources.</a:t>
            </a:r>
            <a:endParaRPr lang="en-US" sz="1200" dirty="0"/>
          </a:p>
        </p:txBody>
      </p:sp>
      <p:sp>
        <p:nvSpPr>
          <p:cNvPr id="5" name="Shape 3"/>
          <p:cNvSpPr/>
          <p:nvPr/>
        </p:nvSpPr>
        <p:spPr>
          <a:xfrm>
            <a:off x="274320"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207008"/>
            <a:ext cx="2788920" cy="475488"/>
          </a:xfrm>
          <a:prstGeom prst="rect">
            <a:avLst/>
          </a:prstGeom>
          <a:solidFill>
            <a:srgbClr val="0B68D4"/>
          </a:solidFill>
          <a:ln w="12700">
            <a:solidFill>
              <a:srgbClr val="0B68D4"/>
            </a:solidFill>
            <a:prstDash val="solid"/>
          </a:ln>
        </p:spPr>
      </p:sp>
      <p:sp>
        <p:nvSpPr>
          <p:cNvPr id="7" name="Text 5"/>
          <p:cNvSpPr/>
          <p:nvPr/>
        </p:nvSpPr>
        <p:spPr>
          <a:xfrm>
            <a:off x="411480"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INSIGHT</a:t>
            </a:r>
            <a:endParaRPr lang="en-US" sz="1400" dirty="0"/>
          </a:p>
        </p:txBody>
      </p:sp>
      <p:sp>
        <p:nvSpPr>
          <p:cNvPr id="8" name="Text 6"/>
          <p:cNvSpPr/>
          <p:nvPr/>
        </p:nvSpPr>
        <p:spPr>
          <a:xfrm>
            <a:off x="384048" y="1737360"/>
            <a:ext cx="2578608" cy="256032"/>
          </a:xfrm>
          <a:prstGeom prst="rect">
            <a:avLst/>
          </a:prstGeom>
          <a:noFill/>
          <a:ln/>
        </p:spPr>
        <p:txBody>
          <a:bodyPr wrap="square" lIns="0" tIns="0" rIns="0" bIns="0" rtlCol="0" anchor="ctr"/>
          <a:lstStyle/>
          <a:p>
            <a:pPr indent="0" marL="0">
              <a:buNone/>
            </a:pPr>
            <a:r>
              <a:rPr lang="en-US" sz="950" b="1" dirty="0">
                <a:solidFill>
                  <a:srgbClr val="0B68D4"/>
                </a:solidFill>
                <a:latin typeface="Calibri" pitchFamily="34" charset="0"/>
                <a:ea typeface="Calibri" pitchFamily="34" charset="-122"/>
                <a:cs typeface="Calibri" pitchFamily="34" charset="-120"/>
              </a:rPr>
              <a:t>Institutions &lt; $500M assets</a:t>
            </a:r>
            <a:endParaRPr lang="en-US" sz="950" dirty="0"/>
          </a:p>
        </p:txBody>
      </p:sp>
      <p:sp>
        <p:nvSpPr>
          <p:cNvPr id="9" name="Text 7"/>
          <p:cNvSpPr/>
          <p:nvPr/>
        </p:nvSpPr>
        <p:spPr>
          <a:xfrm>
            <a:off x="384048"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$750 – $2,500</a:t>
            </a:r>
            <a:endParaRPr lang="en-US" sz="2600" dirty="0"/>
          </a:p>
        </p:txBody>
      </p:sp>
      <p:sp>
        <p:nvSpPr>
          <p:cNvPr id="10" name="Text 8"/>
          <p:cNvSpPr/>
          <p:nvPr/>
        </p:nvSpPr>
        <p:spPr>
          <a:xfrm>
            <a:off x="384048"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per institution</a:t>
            </a:r>
            <a:endParaRPr lang="en-US" sz="950" dirty="0"/>
          </a:p>
        </p:txBody>
      </p:sp>
      <p:sp>
        <p:nvSpPr>
          <p:cNvPr id="11" name="Shape 9"/>
          <p:cNvSpPr/>
          <p:nvPr/>
        </p:nvSpPr>
        <p:spPr>
          <a:xfrm>
            <a:off x="384048" y="2798064"/>
            <a:ext cx="2578608" cy="36576"/>
          </a:xfrm>
          <a:prstGeom prst="rect">
            <a:avLst/>
          </a:prstGeom>
          <a:solidFill>
            <a:srgbClr val="E7ECF0"/>
          </a:solidFill>
          <a:ln w="12700">
            <a:solidFill>
              <a:srgbClr val="E7ECF0"/>
            </a:solidFill>
            <a:prstDash val="solid"/>
          </a:ln>
        </p:spPr>
      </p:sp>
      <p:sp>
        <p:nvSpPr>
          <p:cNvPr id="12" name="Text 10"/>
          <p:cNvSpPr/>
          <p:nvPr/>
        </p:nvSpPr>
        <p:spPr>
          <a:xfrm>
            <a:off x="384048"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CallRpt AI — NCUA 5300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Market Pulse dashboard (industry KPIs)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Peer benchmarking (10 comparisons / mo)</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AI Q&amp;A — 100 queries / month</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Standard executive brief templates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Email support</a:t>
            </a:r>
            <a:endParaRPr lang="en-US" sz="950" dirty="0"/>
          </a:p>
        </p:txBody>
      </p:sp>
      <p:sp>
        <p:nvSpPr>
          <p:cNvPr id="13" name="Shape 11"/>
          <p:cNvSpPr/>
          <p:nvPr/>
        </p:nvSpPr>
        <p:spPr>
          <a:xfrm>
            <a:off x="3182112" y="1207008"/>
            <a:ext cx="2788920" cy="3794760"/>
          </a:xfrm>
          <a:prstGeom prst="rect">
            <a:avLst/>
          </a:prstGeom>
          <a:solidFill>
            <a:srgbClr val="06185F"/>
          </a:solidFill>
          <a:ln w="12700">
            <a:solidFill>
              <a:srgbClr val="085CE5"/>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3182112" y="1207008"/>
            <a:ext cx="2788920" cy="475488"/>
          </a:xfrm>
          <a:prstGeom prst="rect">
            <a:avLst/>
          </a:prstGeom>
          <a:solidFill>
            <a:srgbClr val="085CE5"/>
          </a:solidFill>
          <a:ln w="12700">
            <a:solidFill>
              <a:srgbClr val="085CE5"/>
            </a:solidFill>
            <a:prstDash val="solid"/>
          </a:ln>
        </p:spPr>
      </p:sp>
      <p:sp>
        <p:nvSpPr>
          <p:cNvPr id="15" name="Text 13"/>
          <p:cNvSpPr/>
          <p:nvPr/>
        </p:nvSpPr>
        <p:spPr>
          <a:xfrm>
            <a:off x="3319272" y="1252728"/>
            <a:ext cx="164592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INTELLIGENCE</a:t>
            </a:r>
            <a:endParaRPr lang="en-US" sz="1400" dirty="0"/>
          </a:p>
        </p:txBody>
      </p:sp>
      <p:sp>
        <p:nvSpPr>
          <p:cNvPr id="16" name="Shape 14"/>
          <p:cNvSpPr/>
          <p:nvPr/>
        </p:nvSpPr>
        <p:spPr>
          <a:xfrm>
            <a:off x="4992624" y="1298448"/>
            <a:ext cx="914400" cy="274320"/>
          </a:xfrm>
          <a:prstGeom prst="rect">
            <a:avLst/>
          </a:prstGeom>
          <a:solidFill>
            <a:srgbClr val="76DCFD"/>
          </a:solidFill>
          <a:ln w="12700">
            <a:solidFill>
              <a:srgbClr val="76DCFD"/>
            </a:solidFill>
            <a:prstDash val="solid"/>
          </a:ln>
        </p:spPr>
      </p:sp>
      <p:sp>
        <p:nvSpPr>
          <p:cNvPr id="17" name="Text 15"/>
          <p:cNvSpPr/>
          <p:nvPr/>
        </p:nvSpPr>
        <p:spPr>
          <a:xfrm>
            <a:off x="4992624" y="1298448"/>
            <a:ext cx="914400" cy="274320"/>
          </a:xfrm>
          <a:prstGeom prst="rect">
            <a:avLst/>
          </a:prstGeom>
          <a:noFill/>
          <a:ln/>
        </p:spPr>
        <p:txBody>
          <a:bodyPr wrap="square" lIns="0" tIns="0" rIns="0" bIns="0" rtlCol="0" anchor="ctr"/>
          <a:lstStyle/>
          <a:p>
            <a:pPr algn="ctr" indent="0" marL="0">
              <a:buNone/>
            </a:pPr>
            <a:r>
              <a:rPr lang="en-US" sz="700" b="1" spc="50" kern="0" dirty="0">
                <a:solidFill>
                  <a:srgbClr val="06185F"/>
                </a:solidFill>
                <a:latin typeface="Calibri" pitchFamily="34" charset="0"/>
                <a:ea typeface="Calibri" pitchFamily="34" charset="-122"/>
                <a:cs typeface="Calibri" pitchFamily="34" charset="-120"/>
              </a:rPr>
              <a:t>RECOMMENDED</a:t>
            </a:r>
            <a:endParaRPr lang="en-US" sz="700" dirty="0"/>
          </a:p>
        </p:txBody>
      </p:sp>
      <p:sp>
        <p:nvSpPr>
          <p:cNvPr id="18" name="Text 16"/>
          <p:cNvSpPr/>
          <p:nvPr/>
        </p:nvSpPr>
        <p:spPr>
          <a:xfrm>
            <a:off x="3291840" y="1737360"/>
            <a:ext cx="2578608" cy="256032"/>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$500M – $5B assets</a:t>
            </a:r>
            <a:endParaRPr lang="en-US" sz="950" dirty="0"/>
          </a:p>
        </p:txBody>
      </p:sp>
      <p:sp>
        <p:nvSpPr>
          <p:cNvPr id="19" name="Text 17"/>
          <p:cNvSpPr/>
          <p:nvPr/>
        </p:nvSpPr>
        <p:spPr>
          <a:xfrm>
            <a:off x="3291840" y="2011680"/>
            <a:ext cx="2578608" cy="502920"/>
          </a:xfrm>
          <a:prstGeom prst="rect">
            <a:avLst/>
          </a:prstGeom>
          <a:noFill/>
          <a:ln/>
        </p:spPr>
        <p:txBody>
          <a:bodyPr wrap="square" lIns="0" tIns="0" rIns="0" bIns="0" rtlCol="0" anchor="ctr"/>
          <a:lstStyle/>
          <a:p>
            <a:pPr indent="0" marL="0">
              <a:buNone/>
            </a:pPr>
            <a:r>
              <a:rPr lang="en-US" sz="2600" b="1" dirty="0">
                <a:solidFill>
                  <a:srgbClr val="76DCFD"/>
                </a:solidFill>
                <a:latin typeface="Calibri" pitchFamily="34" charset="0"/>
                <a:ea typeface="Calibri" pitchFamily="34" charset="-122"/>
                <a:cs typeface="Calibri" pitchFamily="34" charset="-120"/>
              </a:rPr>
              <a:t>$2,500 – $8,000</a:t>
            </a:r>
            <a:endParaRPr lang="en-US" sz="2600" dirty="0"/>
          </a:p>
        </p:txBody>
      </p:sp>
      <p:sp>
        <p:nvSpPr>
          <p:cNvPr id="20" name="Text 18"/>
          <p:cNvSpPr/>
          <p:nvPr/>
        </p:nvSpPr>
        <p:spPr>
          <a:xfrm>
            <a:off x="3291840" y="2523744"/>
            <a:ext cx="2578608" cy="22860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 month per institution</a:t>
            </a:r>
            <a:endParaRPr lang="en-US" sz="950" dirty="0"/>
          </a:p>
        </p:txBody>
      </p:sp>
      <p:sp>
        <p:nvSpPr>
          <p:cNvPr id="21" name="Shape 19"/>
          <p:cNvSpPr/>
          <p:nvPr/>
        </p:nvSpPr>
        <p:spPr>
          <a:xfrm>
            <a:off x="3291840" y="2798064"/>
            <a:ext cx="2578608" cy="36576"/>
          </a:xfrm>
          <a:prstGeom prst="rect">
            <a:avLst/>
          </a:prstGeom>
          <a:solidFill>
            <a:srgbClr val="0B68D4"/>
          </a:solidFill>
          <a:ln w="12700">
            <a:solidFill>
              <a:srgbClr val="0B68D4"/>
            </a:solidFill>
            <a:prstDash val="solid"/>
          </a:ln>
        </p:spPr>
      </p:sp>
      <p:sp>
        <p:nvSpPr>
          <p:cNvPr id="22" name="Text 20"/>
          <p:cNvSpPr/>
          <p:nvPr/>
        </p:nvSpPr>
        <p:spPr>
          <a:xfrm>
            <a:off x="3291840"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Everything in Insight</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Churn / Attrition Mediation scores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Account Opening Lifetime Value model</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Unlimited peer benchmarking + API</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AI Q&amp;A — unlimited queries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CRM integration + outreach triggers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Dedicated onboarding support</a:t>
            </a:r>
            <a:endParaRPr lang="en-US" sz="950" dirty="0"/>
          </a:p>
        </p:txBody>
      </p:sp>
      <p:sp>
        <p:nvSpPr>
          <p:cNvPr id="23" name="Shape 21"/>
          <p:cNvSpPr/>
          <p:nvPr/>
        </p:nvSpPr>
        <p:spPr>
          <a:xfrm>
            <a:off x="6089904"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089904" y="1207008"/>
            <a:ext cx="2788920" cy="475488"/>
          </a:xfrm>
          <a:prstGeom prst="rect">
            <a:avLst/>
          </a:prstGeom>
          <a:solidFill>
            <a:srgbClr val="06185F"/>
          </a:solidFill>
          <a:ln w="12700">
            <a:solidFill>
              <a:srgbClr val="06185F"/>
            </a:solidFill>
            <a:prstDash val="solid"/>
          </a:ln>
        </p:spPr>
      </p:sp>
      <p:sp>
        <p:nvSpPr>
          <p:cNvPr id="25" name="Text 23"/>
          <p:cNvSpPr/>
          <p:nvPr/>
        </p:nvSpPr>
        <p:spPr>
          <a:xfrm>
            <a:off x="6227064"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ENTERPRISE</a:t>
            </a:r>
            <a:endParaRPr lang="en-US" sz="1400" dirty="0"/>
          </a:p>
        </p:txBody>
      </p:sp>
      <p:sp>
        <p:nvSpPr>
          <p:cNvPr id="26" name="Text 24"/>
          <p:cNvSpPr/>
          <p:nvPr/>
        </p:nvSpPr>
        <p:spPr>
          <a:xfrm>
            <a:off x="6199632" y="1737360"/>
            <a:ext cx="2578608" cy="256032"/>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$5B+ assets</a:t>
            </a:r>
            <a:endParaRPr lang="en-US" sz="950" dirty="0"/>
          </a:p>
        </p:txBody>
      </p:sp>
      <p:sp>
        <p:nvSpPr>
          <p:cNvPr id="27" name="Text 25"/>
          <p:cNvSpPr/>
          <p:nvPr/>
        </p:nvSpPr>
        <p:spPr>
          <a:xfrm>
            <a:off x="6199632"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$10,000+</a:t>
            </a:r>
            <a:endParaRPr lang="en-US" sz="2600" dirty="0"/>
          </a:p>
        </p:txBody>
      </p:sp>
      <p:sp>
        <p:nvSpPr>
          <p:cNvPr id="28" name="Text 26"/>
          <p:cNvSpPr/>
          <p:nvPr/>
        </p:nvSpPr>
        <p:spPr>
          <a:xfrm>
            <a:off x="6199632"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 custom scoped</a:t>
            </a:r>
            <a:endParaRPr lang="en-US" sz="950" dirty="0"/>
          </a:p>
        </p:txBody>
      </p:sp>
      <p:sp>
        <p:nvSpPr>
          <p:cNvPr id="29" name="Shape 27"/>
          <p:cNvSpPr/>
          <p:nvPr/>
        </p:nvSpPr>
        <p:spPr>
          <a:xfrm>
            <a:off x="6199632" y="2798064"/>
            <a:ext cx="2578608" cy="36576"/>
          </a:xfrm>
          <a:prstGeom prst="rect">
            <a:avLst/>
          </a:prstGeom>
          <a:solidFill>
            <a:srgbClr val="E7ECF0"/>
          </a:solidFill>
          <a:ln w="12700">
            <a:solidFill>
              <a:srgbClr val="E7ECF0"/>
            </a:solidFill>
            <a:prstDash val="solid"/>
          </a:ln>
        </p:spPr>
      </p:sp>
      <p:sp>
        <p:nvSpPr>
          <p:cNvPr id="30" name="Text 28"/>
          <p:cNvSpPr/>
          <p:nvPr/>
        </p:nvSpPr>
        <p:spPr>
          <a:xfrm>
            <a:off x="6199632"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Everything in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Zelle Memo Intelligence pipeline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Anomaly Detection (real-time streaming)</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White-labeled client-facing portal</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Full REST API suite + webhooks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Custom model training on FI data</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Dedicated success manager</a:t>
            </a:r>
            <a:endParaRPr lang="en-US" sz="950" dirty="0"/>
          </a:p>
        </p:txBody>
      </p:sp>
      <p:sp>
        <p:nvSpPr>
          <p:cNvPr id="31" name="Text 29"/>
          <p:cNvSpPr/>
          <p:nvPr/>
        </p:nvSpPr>
        <p:spPr>
          <a:xfrm>
            <a:off x="365760" y="4992624"/>
            <a:ext cx="8412480" cy="201168"/>
          </a:xfrm>
          <a:prstGeom prst="rect">
            <a:avLst/>
          </a:prstGeom>
          <a:noFill/>
          <a:ln/>
        </p:spPr>
        <p:txBody>
          <a:bodyPr wrap="square" lIns="0" tIns="0" rIns="0" bIns="0" rtlCol="0" anchor="ctr"/>
          <a:lstStyle/>
          <a:p>
            <a:pPr algn="ctr" indent="0" marL="0">
              <a:buNone/>
            </a:pPr>
            <a:r>
              <a:rPr lang="en-US" sz="850" i="1" dirty="0">
                <a:solidFill>
                  <a:srgbClr val="B6BBC0"/>
                </a:solidFill>
                <a:latin typeface="Calibri" pitchFamily="34" charset="0"/>
                <a:ea typeface="Calibri" pitchFamily="34" charset="-122"/>
                <a:cs typeface="Calibri" pitchFamily="34" charset="-120"/>
              </a:rPr>
              <a:t>All tiers include: SOC 2 compliant data handling · NCUA 5300 + FFIEC base dataset · 99.9% SLA · Quarterly model updates</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Application Pricing — Full Platform Suite</a:t>
            </a:r>
            <a:endParaRPr lang="en-US" sz="2200" dirty="0"/>
          </a:p>
        </p:txBody>
      </p:sp>
      <p:sp>
        <p:nvSpPr>
          <p:cNvPr id="4" name="Text 2"/>
          <p:cNvSpPr/>
          <p:nvPr/>
        </p:nvSpPr>
        <p:spPr>
          <a:xfrm>
            <a:off x="365760" y="749808"/>
            <a:ext cx="8412480" cy="2560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Each application can be licensed standalone or bundled. Bundle pricing reflects the Intelligence tier — 20–30% below standalone sum.</a:t>
            </a:r>
            <a:endParaRPr lang="en-US" sz="1050" dirty="0"/>
          </a:p>
        </p:txBody>
      </p:sp>
      <p:sp>
        <p:nvSpPr>
          <p:cNvPr id="5" name="Text 3"/>
          <p:cNvSpPr/>
          <p:nvPr/>
        </p:nvSpPr>
        <p:spPr>
          <a:xfrm>
            <a:off x="320040" y="1078992"/>
            <a:ext cx="310896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APPLICATION</a:t>
            </a:r>
            <a:endParaRPr lang="en-US" sz="850" dirty="0"/>
          </a:p>
        </p:txBody>
      </p:sp>
      <p:sp>
        <p:nvSpPr>
          <p:cNvPr id="6" name="Text 4"/>
          <p:cNvSpPr/>
          <p:nvPr/>
        </p:nvSpPr>
        <p:spPr>
          <a:xfrm>
            <a:off x="3520440" y="1078992"/>
            <a:ext cx="274320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VALUE DRIVER</a:t>
            </a:r>
            <a:endParaRPr lang="en-US" sz="850" dirty="0"/>
          </a:p>
        </p:txBody>
      </p:sp>
      <p:sp>
        <p:nvSpPr>
          <p:cNvPr id="7" name="Text 5"/>
          <p:cNvSpPr/>
          <p:nvPr/>
        </p:nvSpPr>
        <p:spPr>
          <a:xfrm>
            <a:off x="6355080" y="1078992"/>
            <a:ext cx="141732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STANDALONE / MO</a:t>
            </a:r>
            <a:endParaRPr lang="en-US" sz="850" dirty="0"/>
          </a:p>
        </p:txBody>
      </p:sp>
      <p:sp>
        <p:nvSpPr>
          <p:cNvPr id="8" name="Text 6"/>
          <p:cNvSpPr/>
          <p:nvPr/>
        </p:nvSpPr>
        <p:spPr>
          <a:xfrm>
            <a:off x="7818120" y="1078992"/>
            <a:ext cx="123444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BUNDLE CREDIT</a:t>
            </a:r>
            <a:endParaRPr lang="en-US" sz="850" dirty="0"/>
          </a:p>
        </p:txBody>
      </p:sp>
      <p:sp>
        <p:nvSpPr>
          <p:cNvPr id="9" name="Shape 7"/>
          <p:cNvSpPr/>
          <p:nvPr/>
        </p:nvSpPr>
        <p:spPr>
          <a:xfrm>
            <a:off x="320040" y="1307592"/>
            <a:ext cx="8732520" cy="18288"/>
          </a:xfrm>
          <a:prstGeom prst="rect">
            <a:avLst/>
          </a:prstGeom>
          <a:solidFill>
            <a:srgbClr val="E7ECF0"/>
          </a:solidFill>
          <a:ln w="12700">
            <a:solidFill>
              <a:srgbClr val="E7ECF0"/>
            </a:solidFill>
            <a:prstDash val="solid"/>
          </a:ln>
        </p:spPr>
      </p:sp>
      <p:sp>
        <p:nvSpPr>
          <p:cNvPr id="10" name="Shape 8"/>
          <p:cNvSpPr/>
          <p:nvPr/>
        </p:nvSpPr>
        <p:spPr>
          <a:xfrm>
            <a:off x="320040" y="1298448"/>
            <a:ext cx="8732520" cy="411480"/>
          </a:xfrm>
          <a:prstGeom prst="rect">
            <a:avLst/>
          </a:prstGeom>
          <a:solidFill>
            <a:srgbClr val="FFFFFF"/>
          </a:solidFill>
          <a:ln w="12700">
            <a:solidFill>
              <a:srgbClr val="E7ECF0"/>
            </a:solidFill>
            <a:prstDash val="solid"/>
          </a:ln>
        </p:spPr>
      </p:sp>
      <p:sp>
        <p:nvSpPr>
          <p:cNvPr id="11" name="Shape 9"/>
          <p:cNvSpPr/>
          <p:nvPr/>
        </p:nvSpPr>
        <p:spPr>
          <a:xfrm>
            <a:off x="320040" y="1298448"/>
            <a:ext cx="73152" cy="411480"/>
          </a:xfrm>
          <a:prstGeom prst="rect">
            <a:avLst/>
          </a:prstGeom>
          <a:solidFill>
            <a:srgbClr val="085CE5"/>
          </a:solidFill>
          <a:ln w="12700">
            <a:solidFill>
              <a:srgbClr val="085CE5"/>
            </a:solidFill>
            <a:prstDash val="solid"/>
          </a:ln>
        </p:spPr>
      </p:sp>
      <p:sp>
        <p:nvSpPr>
          <p:cNvPr id="12" name="Text 10"/>
          <p:cNvSpPr/>
          <p:nvPr/>
        </p:nvSpPr>
        <p:spPr>
          <a:xfrm>
            <a:off x="475488" y="132588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Attrition / Churn Mediation</a:t>
            </a:r>
            <a:endParaRPr lang="en-US" sz="950" dirty="0"/>
          </a:p>
        </p:txBody>
      </p:sp>
      <p:sp>
        <p:nvSpPr>
          <p:cNvPr id="13" name="Text 11"/>
          <p:cNvSpPr/>
          <p:nvPr/>
        </p:nvSpPr>
        <p:spPr>
          <a:xfrm>
            <a:off x="475488" y="151790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churn scores + proactive retention triggers per member</a:t>
            </a:r>
            <a:endParaRPr lang="en-US" sz="750" dirty="0"/>
          </a:p>
        </p:txBody>
      </p:sp>
      <p:sp>
        <p:nvSpPr>
          <p:cNvPr id="14" name="Text 12"/>
          <p:cNvSpPr/>
          <p:nvPr/>
        </p:nvSpPr>
        <p:spPr>
          <a:xfrm>
            <a:off x="3520440" y="133502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15–25% reduction in member attrition · avg. $400–$600 LTV saved per retained account</a:t>
            </a:r>
            <a:endParaRPr lang="en-US" sz="750" dirty="0"/>
          </a:p>
        </p:txBody>
      </p:sp>
      <p:sp>
        <p:nvSpPr>
          <p:cNvPr id="15" name="Text 13"/>
          <p:cNvSpPr/>
          <p:nvPr/>
        </p:nvSpPr>
        <p:spPr>
          <a:xfrm>
            <a:off x="6355080" y="132588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$800 – $2,500</a:t>
            </a:r>
            <a:endParaRPr lang="en-US" sz="1050" dirty="0"/>
          </a:p>
        </p:txBody>
      </p:sp>
      <p:sp>
        <p:nvSpPr>
          <p:cNvPr id="16" name="Text 14"/>
          <p:cNvSpPr/>
          <p:nvPr/>
        </p:nvSpPr>
        <p:spPr>
          <a:xfrm>
            <a:off x="6355080" y="157276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17" name="Shape 15"/>
          <p:cNvSpPr/>
          <p:nvPr/>
        </p:nvSpPr>
        <p:spPr>
          <a:xfrm>
            <a:off x="7845552" y="1408176"/>
            <a:ext cx="1170432" cy="192024"/>
          </a:xfrm>
          <a:prstGeom prst="roundRect">
            <a:avLst>
              <a:gd name="adj" fmla="val 19048"/>
            </a:avLst>
          </a:prstGeom>
          <a:solidFill>
            <a:srgbClr val="E8F7F7"/>
          </a:solidFill>
          <a:ln w="12700">
            <a:solidFill>
              <a:srgbClr val="085CE5"/>
            </a:solidFill>
            <a:prstDash val="solid"/>
          </a:ln>
        </p:spPr>
      </p:sp>
      <p:sp>
        <p:nvSpPr>
          <p:cNvPr id="18" name="Text 16"/>
          <p:cNvSpPr/>
          <p:nvPr/>
        </p:nvSpPr>
        <p:spPr>
          <a:xfrm>
            <a:off x="7845552" y="140817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19" name="Shape 17"/>
          <p:cNvSpPr/>
          <p:nvPr/>
        </p:nvSpPr>
        <p:spPr>
          <a:xfrm>
            <a:off x="320040" y="1737360"/>
            <a:ext cx="8732520" cy="411480"/>
          </a:xfrm>
          <a:prstGeom prst="rect">
            <a:avLst/>
          </a:prstGeom>
          <a:solidFill>
            <a:srgbClr val="E7ECF0"/>
          </a:solidFill>
          <a:ln w="12700">
            <a:solidFill>
              <a:srgbClr val="E7ECF0"/>
            </a:solidFill>
            <a:prstDash val="solid"/>
          </a:ln>
        </p:spPr>
      </p:sp>
      <p:sp>
        <p:nvSpPr>
          <p:cNvPr id="20" name="Shape 18"/>
          <p:cNvSpPr/>
          <p:nvPr/>
        </p:nvSpPr>
        <p:spPr>
          <a:xfrm>
            <a:off x="320040" y="1737360"/>
            <a:ext cx="73152" cy="411480"/>
          </a:xfrm>
          <a:prstGeom prst="rect">
            <a:avLst/>
          </a:prstGeom>
          <a:solidFill>
            <a:srgbClr val="073FA8"/>
          </a:solidFill>
          <a:ln w="12700">
            <a:solidFill>
              <a:srgbClr val="073FA8"/>
            </a:solidFill>
            <a:prstDash val="solid"/>
          </a:ln>
        </p:spPr>
      </p:sp>
      <p:sp>
        <p:nvSpPr>
          <p:cNvPr id="21" name="Text 19"/>
          <p:cNvSpPr/>
          <p:nvPr/>
        </p:nvSpPr>
        <p:spPr>
          <a:xfrm>
            <a:off x="475488" y="176479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22" name="Text 20"/>
          <p:cNvSpPr/>
          <p:nvPr/>
        </p:nvSpPr>
        <p:spPr>
          <a:xfrm>
            <a:off x="475488" y="195681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NLP + compliance risk scoring on every Zelle transaction</a:t>
            </a:r>
            <a:endParaRPr lang="en-US" sz="750" dirty="0"/>
          </a:p>
        </p:txBody>
      </p:sp>
      <p:sp>
        <p:nvSpPr>
          <p:cNvPr id="23" name="Text 21"/>
          <p:cNvSpPr/>
          <p:nvPr/>
        </p:nvSpPr>
        <p:spPr>
          <a:xfrm>
            <a:off x="3520440" y="177393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60% reduction in manual SAR review hours · improved FinCEN defensibility</a:t>
            </a:r>
            <a:endParaRPr lang="en-US" sz="750" dirty="0"/>
          </a:p>
        </p:txBody>
      </p:sp>
      <p:sp>
        <p:nvSpPr>
          <p:cNvPr id="24" name="Text 22"/>
          <p:cNvSpPr/>
          <p:nvPr/>
        </p:nvSpPr>
        <p:spPr>
          <a:xfrm>
            <a:off x="6355080" y="176479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25" name="Text 23"/>
          <p:cNvSpPr/>
          <p:nvPr/>
        </p:nvSpPr>
        <p:spPr>
          <a:xfrm>
            <a:off x="6355080" y="201168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26" name="Shape 24"/>
          <p:cNvSpPr/>
          <p:nvPr/>
        </p:nvSpPr>
        <p:spPr>
          <a:xfrm>
            <a:off x="7845552" y="1847088"/>
            <a:ext cx="1170432" cy="192024"/>
          </a:xfrm>
          <a:prstGeom prst="roundRect">
            <a:avLst>
              <a:gd name="adj" fmla="val 19048"/>
            </a:avLst>
          </a:prstGeom>
          <a:solidFill>
            <a:srgbClr val="FFFFFF"/>
          </a:solidFill>
          <a:ln w="12700">
            <a:solidFill>
              <a:srgbClr val="085CE5"/>
            </a:solidFill>
            <a:prstDash val="solid"/>
          </a:ln>
        </p:spPr>
      </p:sp>
      <p:sp>
        <p:nvSpPr>
          <p:cNvPr id="27" name="Text 25"/>
          <p:cNvSpPr/>
          <p:nvPr/>
        </p:nvSpPr>
        <p:spPr>
          <a:xfrm>
            <a:off x="7845552" y="184708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28" name="Shape 26"/>
          <p:cNvSpPr/>
          <p:nvPr/>
        </p:nvSpPr>
        <p:spPr>
          <a:xfrm>
            <a:off x="320040" y="2176272"/>
            <a:ext cx="8732520" cy="411480"/>
          </a:xfrm>
          <a:prstGeom prst="rect">
            <a:avLst/>
          </a:prstGeom>
          <a:solidFill>
            <a:srgbClr val="FFFFFF"/>
          </a:solidFill>
          <a:ln w="12700">
            <a:solidFill>
              <a:srgbClr val="E7ECF0"/>
            </a:solidFill>
            <a:prstDash val="solid"/>
          </a:ln>
        </p:spPr>
      </p:sp>
      <p:sp>
        <p:nvSpPr>
          <p:cNvPr id="29" name="Shape 27"/>
          <p:cNvSpPr/>
          <p:nvPr/>
        </p:nvSpPr>
        <p:spPr>
          <a:xfrm>
            <a:off x="320040" y="2176272"/>
            <a:ext cx="73152" cy="411480"/>
          </a:xfrm>
          <a:prstGeom prst="rect">
            <a:avLst/>
          </a:prstGeom>
          <a:solidFill>
            <a:srgbClr val="0D2E7A"/>
          </a:solidFill>
          <a:ln w="12700">
            <a:solidFill>
              <a:srgbClr val="0D2E7A"/>
            </a:solidFill>
            <a:prstDash val="solid"/>
          </a:ln>
        </p:spPr>
      </p:sp>
      <p:sp>
        <p:nvSpPr>
          <p:cNvPr id="30" name="Text 28"/>
          <p:cNvSpPr/>
          <p:nvPr/>
        </p:nvSpPr>
        <p:spPr>
          <a:xfrm>
            <a:off x="475488" y="220370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31" name="Text 29"/>
          <p:cNvSpPr/>
          <p:nvPr/>
        </p:nvSpPr>
        <p:spPr>
          <a:xfrm>
            <a:off x="475488" y="239572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Real-time fraud + operational anomaly alerting across channels</a:t>
            </a:r>
            <a:endParaRPr lang="en-US" sz="750" dirty="0"/>
          </a:p>
        </p:txBody>
      </p:sp>
      <p:sp>
        <p:nvSpPr>
          <p:cNvPr id="32" name="Text 30"/>
          <p:cNvSpPr/>
          <p:nvPr/>
        </p:nvSpPr>
        <p:spPr>
          <a:xfrm>
            <a:off x="3520440" y="221284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70%+ false-positive reduction · analyst hours recaptured from alert triage</a:t>
            </a:r>
            <a:endParaRPr lang="en-US" sz="750" dirty="0"/>
          </a:p>
        </p:txBody>
      </p:sp>
      <p:sp>
        <p:nvSpPr>
          <p:cNvPr id="33" name="Text 31"/>
          <p:cNvSpPr/>
          <p:nvPr/>
        </p:nvSpPr>
        <p:spPr>
          <a:xfrm>
            <a:off x="6355080" y="220370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$600 – $2,000</a:t>
            </a:r>
            <a:endParaRPr lang="en-US" sz="1050" dirty="0"/>
          </a:p>
        </p:txBody>
      </p:sp>
      <p:sp>
        <p:nvSpPr>
          <p:cNvPr id="34" name="Text 32"/>
          <p:cNvSpPr/>
          <p:nvPr/>
        </p:nvSpPr>
        <p:spPr>
          <a:xfrm>
            <a:off x="6355080" y="245059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35" name="Shape 33"/>
          <p:cNvSpPr/>
          <p:nvPr/>
        </p:nvSpPr>
        <p:spPr>
          <a:xfrm>
            <a:off x="7845552" y="2286000"/>
            <a:ext cx="1170432" cy="192024"/>
          </a:xfrm>
          <a:prstGeom prst="roundRect">
            <a:avLst>
              <a:gd name="adj" fmla="val 19048"/>
            </a:avLst>
          </a:prstGeom>
          <a:solidFill>
            <a:srgbClr val="E8F7F7"/>
          </a:solidFill>
          <a:ln w="12700">
            <a:solidFill>
              <a:srgbClr val="085CE5"/>
            </a:solidFill>
            <a:prstDash val="solid"/>
          </a:ln>
        </p:spPr>
      </p:sp>
      <p:sp>
        <p:nvSpPr>
          <p:cNvPr id="36" name="Text 34"/>
          <p:cNvSpPr/>
          <p:nvPr/>
        </p:nvSpPr>
        <p:spPr>
          <a:xfrm>
            <a:off x="7845552" y="228600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37" name="Shape 35"/>
          <p:cNvSpPr/>
          <p:nvPr/>
        </p:nvSpPr>
        <p:spPr>
          <a:xfrm>
            <a:off x="320040" y="2615184"/>
            <a:ext cx="8732520" cy="411480"/>
          </a:xfrm>
          <a:prstGeom prst="rect">
            <a:avLst/>
          </a:prstGeom>
          <a:solidFill>
            <a:srgbClr val="E7ECF0"/>
          </a:solidFill>
          <a:ln w="12700">
            <a:solidFill>
              <a:srgbClr val="E7ECF0"/>
            </a:solidFill>
            <a:prstDash val="solid"/>
          </a:ln>
        </p:spPr>
      </p:sp>
      <p:sp>
        <p:nvSpPr>
          <p:cNvPr id="38" name="Shape 36"/>
          <p:cNvSpPr/>
          <p:nvPr/>
        </p:nvSpPr>
        <p:spPr>
          <a:xfrm>
            <a:off x="320040" y="2615184"/>
            <a:ext cx="73152" cy="411480"/>
          </a:xfrm>
          <a:prstGeom prst="rect">
            <a:avLst/>
          </a:prstGeom>
          <a:solidFill>
            <a:srgbClr val="0B68D4"/>
          </a:solidFill>
          <a:ln w="12700">
            <a:solidFill>
              <a:srgbClr val="0B68D4"/>
            </a:solidFill>
            <a:prstDash val="solid"/>
          </a:ln>
        </p:spPr>
      </p:sp>
      <p:sp>
        <p:nvSpPr>
          <p:cNvPr id="39" name="Text 37"/>
          <p:cNvSpPr/>
          <p:nvPr/>
        </p:nvSpPr>
        <p:spPr>
          <a:xfrm>
            <a:off x="475488" y="2642616"/>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 (CallRpt AI)</a:t>
            </a:r>
            <a:endParaRPr lang="en-US" sz="950" dirty="0"/>
          </a:p>
        </p:txBody>
      </p:sp>
      <p:sp>
        <p:nvSpPr>
          <p:cNvPr id="40" name="Text 38"/>
          <p:cNvSpPr/>
          <p:nvPr/>
        </p:nvSpPr>
        <p:spPr>
          <a:xfrm>
            <a:off x="475488" y="2834640"/>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NCUA 5300 intelligence — Pulse, Ask, Compare + AI briefs</a:t>
            </a:r>
            <a:endParaRPr lang="en-US" sz="750" dirty="0"/>
          </a:p>
        </p:txBody>
      </p:sp>
      <p:sp>
        <p:nvSpPr>
          <p:cNvPr id="41" name="Text 39"/>
          <p:cNvSpPr/>
          <p:nvPr/>
        </p:nvSpPr>
        <p:spPr>
          <a:xfrm>
            <a:off x="3520440" y="2651760"/>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Eliminates hours of peer benchmarking &amp; board prep per quarter · Aug/Sept 2026</a:t>
            </a:r>
            <a:endParaRPr lang="en-US" sz="750" dirty="0"/>
          </a:p>
        </p:txBody>
      </p:sp>
      <p:sp>
        <p:nvSpPr>
          <p:cNvPr id="42" name="Text 40"/>
          <p:cNvSpPr/>
          <p:nvPr/>
        </p:nvSpPr>
        <p:spPr>
          <a:xfrm>
            <a:off x="6355080" y="2642616"/>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$300 – $1,000</a:t>
            </a:r>
            <a:endParaRPr lang="en-US" sz="1050" dirty="0"/>
          </a:p>
        </p:txBody>
      </p:sp>
      <p:sp>
        <p:nvSpPr>
          <p:cNvPr id="43" name="Text 41"/>
          <p:cNvSpPr/>
          <p:nvPr/>
        </p:nvSpPr>
        <p:spPr>
          <a:xfrm>
            <a:off x="6355080" y="2889504"/>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44" name="Shape 42"/>
          <p:cNvSpPr/>
          <p:nvPr/>
        </p:nvSpPr>
        <p:spPr>
          <a:xfrm>
            <a:off x="7845552" y="2724912"/>
            <a:ext cx="1170432" cy="192024"/>
          </a:xfrm>
          <a:prstGeom prst="roundRect">
            <a:avLst>
              <a:gd name="adj" fmla="val 19048"/>
            </a:avLst>
          </a:prstGeom>
          <a:solidFill>
            <a:srgbClr val="FFFFFF"/>
          </a:solidFill>
          <a:ln w="12700">
            <a:solidFill>
              <a:srgbClr val="085CE5"/>
            </a:solidFill>
            <a:prstDash val="solid"/>
          </a:ln>
        </p:spPr>
      </p:sp>
      <p:sp>
        <p:nvSpPr>
          <p:cNvPr id="45" name="Text 43"/>
          <p:cNvSpPr/>
          <p:nvPr/>
        </p:nvSpPr>
        <p:spPr>
          <a:xfrm>
            <a:off x="7845552" y="2724912"/>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all tiers</a:t>
            </a:r>
            <a:endParaRPr lang="en-US" sz="650" dirty="0"/>
          </a:p>
        </p:txBody>
      </p:sp>
      <p:sp>
        <p:nvSpPr>
          <p:cNvPr id="46" name="Shape 44"/>
          <p:cNvSpPr/>
          <p:nvPr/>
        </p:nvSpPr>
        <p:spPr>
          <a:xfrm>
            <a:off x="320040" y="3054096"/>
            <a:ext cx="8732520" cy="411480"/>
          </a:xfrm>
          <a:prstGeom prst="rect">
            <a:avLst/>
          </a:prstGeom>
          <a:solidFill>
            <a:srgbClr val="FFFFFF"/>
          </a:solidFill>
          <a:ln w="12700">
            <a:solidFill>
              <a:srgbClr val="E7ECF0"/>
            </a:solidFill>
            <a:prstDash val="solid"/>
          </a:ln>
        </p:spPr>
      </p:sp>
      <p:sp>
        <p:nvSpPr>
          <p:cNvPr id="47" name="Shape 45"/>
          <p:cNvSpPr/>
          <p:nvPr/>
        </p:nvSpPr>
        <p:spPr>
          <a:xfrm>
            <a:off x="320040" y="3054096"/>
            <a:ext cx="73152" cy="411480"/>
          </a:xfrm>
          <a:prstGeom prst="rect">
            <a:avLst/>
          </a:prstGeom>
          <a:solidFill>
            <a:srgbClr val="0B68D4"/>
          </a:solidFill>
          <a:ln w="12700">
            <a:solidFill>
              <a:srgbClr val="0B68D4"/>
            </a:solidFill>
            <a:prstDash val="solid"/>
          </a:ln>
        </p:spPr>
      </p:sp>
      <p:sp>
        <p:nvSpPr>
          <p:cNvPr id="48" name="Text 46"/>
          <p:cNvSpPr/>
          <p:nvPr/>
        </p:nvSpPr>
        <p:spPr>
          <a:xfrm>
            <a:off x="475488" y="3081528"/>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 Model</a:t>
            </a:r>
            <a:endParaRPr lang="en-US" sz="950" dirty="0"/>
          </a:p>
        </p:txBody>
      </p:sp>
      <p:sp>
        <p:nvSpPr>
          <p:cNvPr id="49" name="Text 47"/>
          <p:cNvSpPr/>
          <p:nvPr/>
        </p:nvSpPr>
        <p:spPr>
          <a:xfrm>
            <a:off x="475488" y="3273552"/>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Lifetime value scoring at account open · tiered onboarding triggers</a:t>
            </a:r>
            <a:endParaRPr lang="en-US" sz="750" dirty="0"/>
          </a:p>
        </p:txBody>
      </p:sp>
      <p:sp>
        <p:nvSpPr>
          <p:cNvPr id="50" name="Text 48"/>
          <p:cNvSpPr/>
          <p:nvPr/>
        </p:nvSpPr>
        <p:spPr>
          <a:xfrm>
            <a:off x="3520440" y="3090672"/>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3–5× cross-sell lift · 20–30% improvement in 90-day product adoption</a:t>
            </a:r>
            <a:endParaRPr lang="en-US" sz="750" dirty="0"/>
          </a:p>
        </p:txBody>
      </p:sp>
      <p:sp>
        <p:nvSpPr>
          <p:cNvPr id="51" name="Text 49"/>
          <p:cNvSpPr/>
          <p:nvPr/>
        </p:nvSpPr>
        <p:spPr>
          <a:xfrm>
            <a:off x="6355080" y="3081528"/>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52" name="Text 50"/>
          <p:cNvSpPr/>
          <p:nvPr/>
        </p:nvSpPr>
        <p:spPr>
          <a:xfrm>
            <a:off x="6355080" y="3328416"/>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53" name="Shape 51"/>
          <p:cNvSpPr/>
          <p:nvPr/>
        </p:nvSpPr>
        <p:spPr>
          <a:xfrm>
            <a:off x="7845552" y="3163824"/>
            <a:ext cx="1170432" cy="192024"/>
          </a:xfrm>
          <a:prstGeom prst="roundRect">
            <a:avLst>
              <a:gd name="adj" fmla="val 19048"/>
            </a:avLst>
          </a:prstGeom>
          <a:solidFill>
            <a:srgbClr val="E8F7F7"/>
          </a:solidFill>
          <a:ln w="12700">
            <a:solidFill>
              <a:srgbClr val="085CE5"/>
            </a:solidFill>
            <a:prstDash val="solid"/>
          </a:ln>
        </p:spPr>
      </p:sp>
      <p:sp>
        <p:nvSpPr>
          <p:cNvPr id="54" name="Text 52"/>
          <p:cNvSpPr/>
          <p:nvPr/>
        </p:nvSpPr>
        <p:spPr>
          <a:xfrm>
            <a:off x="7845552" y="3163824"/>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55" name="Shape 53"/>
          <p:cNvSpPr/>
          <p:nvPr/>
        </p:nvSpPr>
        <p:spPr>
          <a:xfrm>
            <a:off x="320040" y="3493008"/>
            <a:ext cx="8732520" cy="411480"/>
          </a:xfrm>
          <a:prstGeom prst="rect">
            <a:avLst/>
          </a:prstGeom>
          <a:solidFill>
            <a:srgbClr val="E7ECF0"/>
          </a:solidFill>
          <a:ln w="12700">
            <a:solidFill>
              <a:srgbClr val="E7ECF0"/>
            </a:solidFill>
            <a:prstDash val="solid"/>
          </a:ln>
        </p:spPr>
      </p:sp>
      <p:sp>
        <p:nvSpPr>
          <p:cNvPr id="56" name="Shape 54"/>
          <p:cNvSpPr/>
          <p:nvPr/>
        </p:nvSpPr>
        <p:spPr>
          <a:xfrm>
            <a:off x="320040" y="3493008"/>
            <a:ext cx="73152" cy="411480"/>
          </a:xfrm>
          <a:prstGeom prst="rect">
            <a:avLst/>
          </a:prstGeom>
          <a:solidFill>
            <a:srgbClr val="0D2E7A"/>
          </a:solidFill>
          <a:ln w="12700">
            <a:solidFill>
              <a:srgbClr val="0D2E7A"/>
            </a:solidFill>
            <a:prstDash val="solid"/>
          </a:ln>
        </p:spPr>
      </p:sp>
      <p:sp>
        <p:nvSpPr>
          <p:cNvPr id="57" name="Text 55"/>
          <p:cNvSpPr/>
          <p:nvPr/>
        </p:nvSpPr>
        <p:spPr>
          <a:xfrm>
            <a:off x="475488" y="352044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FI Decision Studio</a:t>
            </a:r>
            <a:endParaRPr lang="en-US" sz="950" dirty="0"/>
          </a:p>
        </p:txBody>
      </p:sp>
      <p:sp>
        <p:nvSpPr>
          <p:cNvPr id="58" name="Text 56"/>
          <p:cNvSpPr/>
          <p:nvPr/>
        </p:nvSpPr>
        <p:spPr>
          <a:xfrm>
            <a:off x="475488" y="371246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No-code AutoML — unsupervised → supervised + rule authoring + API deploy</a:t>
            </a:r>
            <a:endParaRPr lang="en-US" sz="750" dirty="0"/>
          </a:p>
        </p:txBody>
      </p:sp>
      <p:sp>
        <p:nvSpPr>
          <p:cNvPr id="59" name="Text 57"/>
          <p:cNvSpPr/>
          <p:nvPr/>
        </p:nvSpPr>
        <p:spPr>
          <a:xfrm>
            <a:off x="3520440" y="352958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SR 11-7 defensible SHAP explainability · custom models on FI's own data · no ML team required</a:t>
            </a:r>
            <a:endParaRPr lang="en-US" sz="750" dirty="0"/>
          </a:p>
        </p:txBody>
      </p:sp>
      <p:sp>
        <p:nvSpPr>
          <p:cNvPr id="60" name="Text 58"/>
          <p:cNvSpPr/>
          <p:nvPr/>
        </p:nvSpPr>
        <p:spPr>
          <a:xfrm>
            <a:off x="6355080" y="352044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$1,000 – $3,500</a:t>
            </a:r>
            <a:endParaRPr lang="en-US" sz="1050" dirty="0"/>
          </a:p>
        </p:txBody>
      </p:sp>
      <p:sp>
        <p:nvSpPr>
          <p:cNvPr id="61" name="Text 59"/>
          <p:cNvSpPr/>
          <p:nvPr/>
        </p:nvSpPr>
        <p:spPr>
          <a:xfrm>
            <a:off x="6355080" y="376732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62" name="Shape 60"/>
          <p:cNvSpPr/>
          <p:nvPr/>
        </p:nvSpPr>
        <p:spPr>
          <a:xfrm>
            <a:off x="7845552" y="3602736"/>
            <a:ext cx="1170432" cy="192024"/>
          </a:xfrm>
          <a:prstGeom prst="roundRect">
            <a:avLst>
              <a:gd name="adj" fmla="val 19048"/>
            </a:avLst>
          </a:prstGeom>
          <a:solidFill>
            <a:srgbClr val="FFFFFF"/>
          </a:solidFill>
          <a:ln w="12700">
            <a:solidFill>
              <a:srgbClr val="085CE5"/>
            </a:solidFill>
            <a:prstDash val="solid"/>
          </a:ln>
        </p:spPr>
      </p:sp>
      <p:sp>
        <p:nvSpPr>
          <p:cNvPr id="63" name="Text 61"/>
          <p:cNvSpPr/>
          <p:nvPr/>
        </p:nvSpPr>
        <p:spPr>
          <a:xfrm>
            <a:off x="7845552" y="360273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Enterprise tier only</a:t>
            </a:r>
            <a:endParaRPr lang="en-US" sz="650" dirty="0"/>
          </a:p>
        </p:txBody>
      </p:sp>
      <p:sp>
        <p:nvSpPr>
          <p:cNvPr id="64" name="Shape 62"/>
          <p:cNvSpPr/>
          <p:nvPr/>
        </p:nvSpPr>
        <p:spPr>
          <a:xfrm>
            <a:off x="320040" y="3931920"/>
            <a:ext cx="8732520" cy="411480"/>
          </a:xfrm>
          <a:prstGeom prst="rect">
            <a:avLst/>
          </a:prstGeom>
          <a:solidFill>
            <a:srgbClr val="FFFFFF"/>
          </a:solidFill>
          <a:ln w="12700">
            <a:solidFill>
              <a:srgbClr val="E7ECF0"/>
            </a:solidFill>
            <a:prstDash val="solid"/>
          </a:ln>
        </p:spPr>
      </p:sp>
      <p:sp>
        <p:nvSpPr>
          <p:cNvPr id="65" name="Shape 63"/>
          <p:cNvSpPr/>
          <p:nvPr/>
        </p:nvSpPr>
        <p:spPr>
          <a:xfrm>
            <a:off x="320040" y="3931920"/>
            <a:ext cx="73152" cy="411480"/>
          </a:xfrm>
          <a:prstGeom prst="rect">
            <a:avLst/>
          </a:prstGeom>
          <a:solidFill>
            <a:srgbClr val="0A52C4"/>
          </a:solidFill>
          <a:ln w="12700">
            <a:solidFill>
              <a:srgbClr val="0A52C4"/>
            </a:solidFill>
            <a:prstDash val="solid"/>
          </a:ln>
        </p:spPr>
      </p:sp>
      <p:sp>
        <p:nvSpPr>
          <p:cNvPr id="66" name="Text 64"/>
          <p:cNvSpPr/>
          <p:nvPr/>
        </p:nvSpPr>
        <p:spPr>
          <a:xfrm>
            <a:off x="475488" y="395935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CommercialSignal</a:t>
            </a:r>
            <a:endParaRPr lang="en-US" sz="950" dirty="0"/>
          </a:p>
        </p:txBody>
      </p:sp>
      <p:sp>
        <p:nvSpPr>
          <p:cNvPr id="67" name="Text 65"/>
          <p:cNvSpPr/>
          <p:nvPr/>
        </p:nvSpPr>
        <p:spPr>
          <a:xfrm>
            <a:off x="475488" y="415137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scoring of personal accounts exhibiting commercial transaction signatures</a:t>
            </a:r>
            <a:endParaRPr lang="en-US" sz="750" dirty="0"/>
          </a:p>
        </p:txBody>
      </p:sp>
      <p:sp>
        <p:nvSpPr>
          <p:cNvPr id="68" name="Text 66"/>
          <p:cNvSpPr/>
          <p:nvPr/>
        </p:nvSpPr>
        <p:spPr>
          <a:xfrm>
            <a:off x="3520440" y="396849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Converts hidden SMB accounts to business banking — fee income, treasury products, SBA loans</a:t>
            </a:r>
            <a:endParaRPr lang="en-US" sz="750" dirty="0"/>
          </a:p>
        </p:txBody>
      </p:sp>
      <p:sp>
        <p:nvSpPr>
          <p:cNvPr id="69" name="Text 67"/>
          <p:cNvSpPr/>
          <p:nvPr/>
        </p:nvSpPr>
        <p:spPr>
          <a:xfrm>
            <a:off x="6355080" y="395935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70" name="Text 68"/>
          <p:cNvSpPr/>
          <p:nvPr/>
        </p:nvSpPr>
        <p:spPr>
          <a:xfrm>
            <a:off x="6355080" y="420624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71" name="Shape 69"/>
          <p:cNvSpPr/>
          <p:nvPr/>
        </p:nvSpPr>
        <p:spPr>
          <a:xfrm>
            <a:off x="7845552" y="4041648"/>
            <a:ext cx="1170432" cy="192024"/>
          </a:xfrm>
          <a:prstGeom prst="roundRect">
            <a:avLst>
              <a:gd name="adj" fmla="val 19048"/>
            </a:avLst>
          </a:prstGeom>
          <a:solidFill>
            <a:srgbClr val="E8F7F7"/>
          </a:solidFill>
          <a:ln w="12700">
            <a:solidFill>
              <a:srgbClr val="085CE5"/>
            </a:solidFill>
            <a:prstDash val="solid"/>
          </a:ln>
        </p:spPr>
      </p:sp>
      <p:sp>
        <p:nvSpPr>
          <p:cNvPr id="72" name="Text 70"/>
          <p:cNvSpPr/>
          <p:nvPr/>
        </p:nvSpPr>
        <p:spPr>
          <a:xfrm>
            <a:off x="7845552" y="404164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73" name="Shape 71"/>
          <p:cNvSpPr/>
          <p:nvPr/>
        </p:nvSpPr>
        <p:spPr>
          <a:xfrm>
            <a:off x="320040" y="4370832"/>
            <a:ext cx="8732520" cy="411480"/>
          </a:xfrm>
          <a:prstGeom prst="rect">
            <a:avLst/>
          </a:prstGeom>
          <a:solidFill>
            <a:srgbClr val="E7ECF0"/>
          </a:solidFill>
          <a:ln w="12700">
            <a:solidFill>
              <a:srgbClr val="E7ECF0"/>
            </a:solidFill>
            <a:prstDash val="solid"/>
          </a:ln>
        </p:spPr>
      </p:sp>
      <p:sp>
        <p:nvSpPr>
          <p:cNvPr id="74" name="Shape 72"/>
          <p:cNvSpPr/>
          <p:nvPr/>
        </p:nvSpPr>
        <p:spPr>
          <a:xfrm>
            <a:off x="320040" y="4370832"/>
            <a:ext cx="73152" cy="411480"/>
          </a:xfrm>
          <a:prstGeom prst="rect">
            <a:avLst/>
          </a:prstGeom>
          <a:solidFill>
            <a:srgbClr val="0F3D8A"/>
          </a:solidFill>
          <a:ln w="12700">
            <a:solidFill>
              <a:srgbClr val="0F3D8A"/>
            </a:solidFill>
            <a:prstDash val="solid"/>
          </a:ln>
        </p:spPr>
      </p:sp>
      <p:sp>
        <p:nvSpPr>
          <p:cNvPr id="75" name="Text 73"/>
          <p:cNvSpPr/>
          <p:nvPr/>
        </p:nvSpPr>
        <p:spPr>
          <a:xfrm>
            <a:off x="475488" y="439826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76" name="Text 74"/>
          <p:cNvSpPr/>
          <p:nvPr/>
        </p:nvSpPr>
        <p:spPr>
          <a:xfrm>
            <a:off x="475488" y="459028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Household coverage scoring · next-gen relationship expansion before wealth transfers</a:t>
            </a:r>
            <a:endParaRPr lang="en-US" sz="750" dirty="0"/>
          </a:p>
        </p:txBody>
      </p:sp>
      <p:sp>
        <p:nvSpPr>
          <p:cNvPr id="77" name="Text 75"/>
          <p:cNvSpPr/>
          <p:nvPr/>
        </p:nvSpPr>
        <p:spPr>
          <a:xfrm>
            <a:off x="3520440" y="440740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AUM retained at generational transition · multi-generational household relationships built proactively</a:t>
            </a:r>
            <a:endParaRPr lang="en-US" sz="750" dirty="0"/>
          </a:p>
        </p:txBody>
      </p:sp>
      <p:sp>
        <p:nvSpPr>
          <p:cNvPr id="78" name="Text 76"/>
          <p:cNvSpPr/>
          <p:nvPr/>
        </p:nvSpPr>
        <p:spPr>
          <a:xfrm>
            <a:off x="6355080" y="439826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79" name="Text 77"/>
          <p:cNvSpPr/>
          <p:nvPr/>
        </p:nvSpPr>
        <p:spPr>
          <a:xfrm>
            <a:off x="6355080" y="464515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80" name="Shape 78"/>
          <p:cNvSpPr/>
          <p:nvPr/>
        </p:nvSpPr>
        <p:spPr>
          <a:xfrm>
            <a:off x="7845552" y="4480560"/>
            <a:ext cx="1170432" cy="192024"/>
          </a:xfrm>
          <a:prstGeom prst="roundRect">
            <a:avLst>
              <a:gd name="adj" fmla="val 19048"/>
            </a:avLst>
          </a:prstGeom>
          <a:solidFill>
            <a:srgbClr val="FFFFFF"/>
          </a:solidFill>
          <a:ln w="12700">
            <a:solidFill>
              <a:srgbClr val="085CE5"/>
            </a:solidFill>
            <a:prstDash val="solid"/>
          </a:ln>
        </p:spPr>
      </p:sp>
      <p:sp>
        <p:nvSpPr>
          <p:cNvPr id="81" name="Text 79"/>
          <p:cNvSpPr/>
          <p:nvPr/>
        </p:nvSpPr>
        <p:spPr>
          <a:xfrm>
            <a:off x="7845552" y="448056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82" name="Shape 80"/>
          <p:cNvSpPr/>
          <p:nvPr/>
        </p:nvSpPr>
        <p:spPr>
          <a:xfrm>
            <a:off x="320040" y="4809744"/>
            <a:ext cx="8732520" cy="292608"/>
          </a:xfrm>
          <a:prstGeom prst="rect">
            <a:avLst/>
          </a:prstGeom>
          <a:solidFill>
            <a:srgbClr val="06185F"/>
          </a:solidFill>
          <a:ln w="12700">
            <a:solidFill>
              <a:srgbClr val="06185F"/>
            </a:solidFill>
            <a:prstDash val="solid"/>
          </a:ln>
        </p:spPr>
      </p:sp>
      <p:sp>
        <p:nvSpPr>
          <p:cNvPr id="83" name="Text 81"/>
          <p:cNvSpPr/>
          <p:nvPr/>
        </p:nvSpPr>
        <p:spPr>
          <a:xfrm>
            <a:off x="475488" y="4837176"/>
            <a:ext cx="4114800" cy="237744"/>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STANDALONE TOTAL — ALL EIGHT APPS (MID-MARKET FI)</a:t>
            </a:r>
            <a:endParaRPr lang="en-US" sz="900" dirty="0"/>
          </a:p>
        </p:txBody>
      </p:sp>
      <p:sp>
        <p:nvSpPr>
          <p:cNvPr id="84" name="Text 82"/>
          <p:cNvSpPr/>
          <p:nvPr/>
        </p:nvSpPr>
        <p:spPr>
          <a:xfrm>
            <a:off x="6355080" y="4837176"/>
            <a:ext cx="1417320" cy="237744"/>
          </a:xfrm>
          <a:prstGeom prst="rect">
            <a:avLst/>
          </a:prstGeom>
          <a:noFill/>
          <a:ln/>
        </p:spPr>
        <p:txBody>
          <a:bodyPr wrap="square" lIns="0" tIns="0" rIns="0" bIns="0" rtlCol="0" anchor="ctr"/>
          <a:lstStyle/>
          <a:p>
            <a:pPr algn="ctr" indent="0" marL="0">
              <a:buNone/>
            </a:pPr>
            <a:r>
              <a:rPr lang="en-US" sz="1200" b="1" dirty="0">
                <a:solidFill>
                  <a:srgbClr val="76DCFD"/>
                </a:solidFill>
                <a:latin typeface="Calibri" pitchFamily="34" charset="0"/>
                <a:ea typeface="Calibri" pitchFamily="34" charset="-122"/>
                <a:cs typeface="Calibri" pitchFamily="34" charset="-120"/>
              </a:rPr>
              <a:t>~$8,100 / mo</a:t>
            </a:r>
            <a:endParaRPr lang="en-US" sz="1200" dirty="0"/>
          </a:p>
        </p:txBody>
      </p:sp>
      <p:sp>
        <p:nvSpPr>
          <p:cNvPr id="85" name="Text 83"/>
          <p:cNvSpPr/>
          <p:nvPr/>
        </p:nvSpPr>
        <p:spPr>
          <a:xfrm>
            <a:off x="7635240" y="4846320"/>
            <a:ext cx="1389888" cy="201168"/>
          </a:xfrm>
          <a:prstGeom prst="rect">
            <a:avLst/>
          </a:prstGeom>
          <a:noFill/>
          <a:ln/>
        </p:spPr>
        <p:txBody>
          <a:bodyPr wrap="square" lIns="0" tIns="0" rIns="0" bIns="0" rtlCol="0" anchor="ctr"/>
          <a:lstStyle/>
          <a:p>
            <a:pPr algn="ctr" indent="0" marL="0">
              <a:buNone/>
            </a:pPr>
            <a:r>
              <a:rPr lang="en-US" sz="850" dirty="0">
                <a:solidFill>
                  <a:srgbClr val="76DCFD"/>
                </a:solidFill>
                <a:latin typeface="Calibri" pitchFamily="34" charset="0"/>
                <a:ea typeface="Calibri" pitchFamily="34" charset="-122"/>
                <a:cs typeface="Calibri" pitchFamily="34" charset="-120"/>
              </a:rPr>
              <a:t>vs. ~$6,000 bundled</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Revenue Scales With Every Data Source We Add</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The JH Intelligence Platform is a modular expansion engine. Each new data source (Core, Payments, Digital) unlocks new applications and deepens revenue per FI client.</a:t>
            </a:r>
            <a:endParaRPr lang="en-US" sz="1200" dirty="0"/>
          </a:p>
        </p:txBody>
      </p:sp>
      <p:sp>
        <p:nvSpPr>
          <p:cNvPr id="5" name="Text 3"/>
          <p:cNvSpPr/>
          <p:nvPr/>
        </p:nvSpPr>
        <p:spPr>
          <a:xfrm>
            <a:off x="320040" y="1188720"/>
            <a:ext cx="4480560" cy="256032"/>
          </a:xfrm>
          <a:prstGeom prst="rect">
            <a:avLst/>
          </a:prstGeom>
          <a:noFill/>
          <a:ln/>
        </p:spPr>
        <p:txBody>
          <a:bodyPr wrap="square" lIns="0" tIns="0" rIns="0" bIns="0" rtlCol="0" anchor="ctr"/>
          <a:lstStyle/>
          <a:p>
            <a:pPr indent="0" marL="0">
              <a:buNone/>
            </a:pPr>
            <a:r>
              <a:rPr lang="en-US" sz="900" b="1" spc="100" kern="0" dirty="0">
                <a:solidFill>
                  <a:srgbClr val="B6BBC0"/>
                </a:solidFill>
                <a:latin typeface="Calibri" pitchFamily="34" charset="0"/>
                <a:ea typeface="Calibri" pitchFamily="34" charset="-122"/>
                <a:cs typeface="Calibri" pitchFamily="34" charset="-120"/>
              </a:rPr>
              <a:t>MODULE</a:t>
            </a:r>
            <a:endParaRPr lang="en-US" sz="900" dirty="0"/>
          </a:p>
        </p:txBody>
      </p:sp>
      <p:sp>
        <p:nvSpPr>
          <p:cNvPr id="6" name="Text 4"/>
          <p:cNvSpPr/>
          <p:nvPr/>
        </p:nvSpPr>
        <p:spPr>
          <a:xfrm>
            <a:off x="4919472" y="1188720"/>
            <a:ext cx="1298448"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500 FIs</a:t>
            </a:r>
            <a:endParaRPr lang="en-US" sz="900" dirty="0"/>
          </a:p>
        </p:txBody>
      </p:sp>
      <p:sp>
        <p:nvSpPr>
          <p:cNvPr id="7" name="Text 5"/>
          <p:cNvSpPr/>
          <p:nvPr/>
        </p:nvSpPr>
        <p:spPr>
          <a:xfrm>
            <a:off x="6291072" y="1188720"/>
            <a:ext cx="137160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1,000 FIs</a:t>
            </a:r>
            <a:endParaRPr lang="en-US" sz="900" dirty="0"/>
          </a:p>
        </p:txBody>
      </p:sp>
      <p:sp>
        <p:nvSpPr>
          <p:cNvPr id="8" name="Text 6"/>
          <p:cNvSpPr/>
          <p:nvPr/>
        </p:nvSpPr>
        <p:spPr>
          <a:xfrm>
            <a:off x="7726680" y="1188720"/>
            <a:ext cx="132588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1,660 FIs</a:t>
            </a:r>
            <a:endParaRPr lang="en-US" sz="900" dirty="0"/>
          </a:p>
        </p:txBody>
      </p:sp>
      <p:sp>
        <p:nvSpPr>
          <p:cNvPr id="9" name="Shape 7"/>
          <p:cNvSpPr/>
          <p:nvPr/>
        </p:nvSpPr>
        <p:spPr>
          <a:xfrm>
            <a:off x="320040" y="1463040"/>
            <a:ext cx="8732520" cy="713232"/>
          </a:xfrm>
          <a:prstGeom prst="rect">
            <a:avLst/>
          </a:prstGeom>
          <a:solidFill>
            <a:srgbClr val="FFFFFF"/>
          </a:solidFill>
          <a:ln w="12700">
            <a:solidFill>
              <a:srgbClr val="E7ECF0"/>
            </a:solidFill>
            <a:prstDash val="solid"/>
          </a:ln>
        </p:spPr>
      </p:sp>
      <p:sp>
        <p:nvSpPr>
          <p:cNvPr id="10" name="Shape 8"/>
          <p:cNvSpPr/>
          <p:nvPr/>
        </p:nvSpPr>
        <p:spPr>
          <a:xfrm>
            <a:off x="320040" y="1463040"/>
            <a:ext cx="91440" cy="713232"/>
          </a:xfrm>
          <a:prstGeom prst="rect">
            <a:avLst/>
          </a:prstGeom>
          <a:solidFill>
            <a:srgbClr val="085CE5"/>
          </a:solidFill>
          <a:ln w="12700">
            <a:solidFill>
              <a:srgbClr val="085CE5"/>
            </a:solidFill>
            <a:prstDash val="solid"/>
          </a:ln>
        </p:spPr>
      </p:sp>
      <p:sp>
        <p:nvSpPr>
          <p:cNvPr id="11" name="Shape 9"/>
          <p:cNvSpPr/>
          <p:nvPr/>
        </p:nvSpPr>
        <p:spPr>
          <a:xfrm>
            <a:off x="475488" y="1572768"/>
            <a:ext cx="475488" cy="182880"/>
          </a:xfrm>
          <a:prstGeom prst="rect">
            <a:avLst/>
          </a:prstGeom>
          <a:solidFill>
            <a:srgbClr val="085CE5"/>
          </a:solidFill>
          <a:ln w="12700">
            <a:solidFill>
              <a:srgbClr val="085CE5"/>
            </a:solidFill>
            <a:prstDash val="solid"/>
          </a:ln>
        </p:spPr>
      </p:sp>
      <p:sp>
        <p:nvSpPr>
          <p:cNvPr id="12" name="Text 10"/>
          <p:cNvSpPr/>
          <p:nvPr/>
        </p:nvSpPr>
        <p:spPr>
          <a:xfrm>
            <a:off x="475488" y="1572768"/>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NOW</a:t>
            </a:r>
            <a:endParaRPr lang="en-US" sz="750" dirty="0"/>
          </a:p>
        </p:txBody>
      </p:sp>
      <p:sp>
        <p:nvSpPr>
          <p:cNvPr id="13" name="Text 11"/>
          <p:cNvSpPr/>
          <p:nvPr/>
        </p:nvSpPr>
        <p:spPr>
          <a:xfrm>
            <a:off x="1024128" y="1517904"/>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Regulatory Intelligence</a:t>
            </a:r>
            <a:endParaRPr lang="en-US" sz="1100" dirty="0"/>
          </a:p>
        </p:txBody>
      </p:sp>
      <p:sp>
        <p:nvSpPr>
          <p:cNvPr id="14" name="Text 12"/>
          <p:cNvSpPr/>
          <p:nvPr/>
        </p:nvSpPr>
        <p:spPr>
          <a:xfrm>
            <a:off x="1024128" y="1746504"/>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NCUA 5300  ·  FFIEC Call Reports</a:t>
            </a:r>
            <a:endParaRPr lang="en-US" sz="850" dirty="0"/>
          </a:p>
        </p:txBody>
      </p:sp>
      <p:sp>
        <p:nvSpPr>
          <p:cNvPr id="15" name="Text 13"/>
          <p:cNvSpPr/>
          <p:nvPr/>
        </p:nvSpPr>
        <p:spPr>
          <a:xfrm>
            <a:off x="1024128" y="1920240"/>
            <a:ext cx="3749040" cy="182880"/>
          </a:xfrm>
          <a:prstGeom prst="rect">
            <a:avLst/>
          </a:prstGeom>
          <a:noFill/>
          <a:ln/>
        </p:spPr>
        <p:txBody>
          <a:bodyPr wrap="square" lIns="0" tIns="0" rIns="0" bIns="0" rtlCol="0" anchor="ctr"/>
          <a:lstStyle/>
          <a:p>
            <a:pPr indent="0" marL="0">
              <a:buNone/>
            </a:pPr>
            <a:r>
              <a:rPr lang="en-US" sz="850" i="1" dirty="0">
                <a:solidFill>
                  <a:srgbClr val="085CE5"/>
                </a:solidFill>
                <a:latin typeface="Calibri" pitchFamily="34" charset="0"/>
                <a:ea typeface="Calibri" pitchFamily="34" charset="-122"/>
                <a:cs typeface="Calibri" pitchFamily="34" charset="-120"/>
              </a:rPr>
              <a:t>CallRpt AI  ·  Compliance Monitoring</a:t>
            </a:r>
            <a:endParaRPr lang="en-US" sz="850" dirty="0"/>
          </a:p>
        </p:txBody>
      </p:sp>
      <p:sp>
        <p:nvSpPr>
          <p:cNvPr id="16" name="Text 14"/>
          <p:cNvSpPr/>
          <p:nvPr/>
        </p:nvSpPr>
        <p:spPr>
          <a:xfrm>
            <a:off x="4919472" y="1627632"/>
            <a:ext cx="1298448"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$4.5M</a:t>
            </a:r>
            <a:endParaRPr lang="en-US" sz="1700" dirty="0"/>
          </a:p>
        </p:txBody>
      </p:sp>
      <p:sp>
        <p:nvSpPr>
          <p:cNvPr id="17" name="Text 15"/>
          <p:cNvSpPr/>
          <p:nvPr/>
        </p:nvSpPr>
        <p:spPr>
          <a:xfrm>
            <a:off x="6291072" y="1627632"/>
            <a:ext cx="137160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$9M</a:t>
            </a:r>
            <a:endParaRPr lang="en-US" sz="1700" dirty="0"/>
          </a:p>
        </p:txBody>
      </p:sp>
      <p:sp>
        <p:nvSpPr>
          <p:cNvPr id="18" name="Text 16"/>
          <p:cNvSpPr/>
          <p:nvPr/>
        </p:nvSpPr>
        <p:spPr>
          <a:xfrm>
            <a:off x="7726680" y="1627632"/>
            <a:ext cx="132588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$15M</a:t>
            </a:r>
            <a:endParaRPr lang="en-US" sz="1700" dirty="0"/>
          </a:p>
        </p:txBody>
      </p:sp>
      <p:sp>
        <p:nvSpPr>
          <p:cNvPr id="19" name="Shape 17"/>
          <p:cNvSpPr/>
          <p:nvPr/>
        </p:nvSpPr>
        <p:spPr>
          <a:xfrm>
            <a:off x="320040" y="2231136"/>
            <a:ext cx="8732520" cy="713232"/>
          </a:xfrm>
          <a:prstGeom prst="rect">
            <a:avLst/>
          </a:prstGeom>
          <a:solidFill>
            <a:srgbClr val="E7ECF0"/>
          </a:solidFill>
          <a:ln w="12700">
            <a:solidFill>
              <a:srgbClr val="E7ECF0"/>
            </a:solidFill>
            <a:prstDash val="solid"/>
          </a:ln>
        </p:spPr>
      </p:sp>
      <p:sp>
        <p:nvSpPr>
          <p:cNvPr id="20" name="Shape 18"/>
          <p:cNvSpPr/>
          <p:nvPr/>
        </p:nvSpPr>
        <p:spPr>
          <a:xfrm>
            <a:off x="320040" y="2231136"/>
            <a:ext cx="91440" cy="713232"/>
          </a:xfrm>
          <a:prstGeom prst="rect">
            <a:avLst/>
          </a:prstGeom>
          <a:solidFill>
            <a:srgbClr val="073FA8"/>
          </a:solidFill>
          <a:ln w="12700">
            <a:solidFill>
              <a:srgbClr val="073FA8"/>
            </a:solidFill>
            <a:prstDash val="solid"/>
          </a:ln>
        </p:spPr>
      </p:sp>
      <p:sp>
        <p:nvSpPr>
          <p:cNvPr id="21" name="Shape 19"/>
          <p:cNvSpPr/>
          <p:nvPr/>
        </p:nvSpPr>
        <p:spPr>
          <a:xfrm>
            <a:off x="475488" y="2340864"/>
            <a:ext cx="475488" cy="182880"/>
          </a:xfrm>
          <a:prstGeom prst="rect">
            <a:avLst/>
          </a:prstGeom>
          <a:solidFill>
            <a:srgbClr val="073FA8"/>
          </a:solidFill>
          <a:ln w="12700">
            <a:solidFill>
              <a:srgbClr val="073FA8"/>
            </a:solidFill>
            <a:prstDash val="solid"/>
          </a:ln>
        </p:spPr>
      </p:sp>
      <p:sp>
        <p:nvSpPr>
          <p:cNvPr id="22" name="Text 20"/>
          <p:cNvSpPr/>
          <p:nvPr/>
        </p:nvSpPr>
        <p:spPr>
          <a:xfrm>
            <a:off x="475488" y="2340864"/>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23" name="Text 21"/>
          <p:cNvSpPr/>
          <p:nvPr/>
        </p:nvSpPr>
        <p:spPr>
          <a:xfrm>
            <a:off x="1024128" y="2286000"/>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Core Banking Intelligence</a:t>
            </a:r>
            <a:endParaRPr lang="en-US" sz="1100" dirty="0"/>
          </a:p>
        </p:txBody>
      </p:sp>
      <p:sp>
        <p:nvSpPr>
          <p:cNvPr id="24" name="Text 22"/>
          <p:cNvSpPr/>
          <p:nvPr/>
        </p:nvSpPr>
        <p:spPr>
          <a:xfrm>
            <a:off x="1024128" y="2514600"/>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jhaEnterprise  ·  Symitar  ·  Core Transactions</a:t>
            </a:r>
            <a:endParaRPr lang="en-US" sz="850" dirty="0"/>
          </a:p>
        </p:txBody>
      </p:sp>
      <p:sp>
        <p:nvSpPr>
          <p:cNvPr id="25" name="Text 23"/>
          <p:cNvSpPr/>
          <p:nvPr/>
        </p:nvSpPr>
        <p:spPr>
          <a:xfrm>
            <a:off x="1024128" y="2688336"/>
            <a:ext cx="3749040" cy="182880"/>
          </a:xfrm>
          <a:prstGeom prst="rect">
            <a:avLst/>
          </a:prstGeom>
          <a:noFill/>
          <a:ln/>
        </p:spPr>
        <p:txBody>
          <a:bodyPr wrap="square" lIns="0" tIns="0" rIns="0" bIns="0" rtlCol="0" anchor="ctr"/>
          <a:lstStyle/>
          <a:p>
            <a:pPr indent="0" marL="0">
              <a:buNone/>
            </a:pPr>
            <a:r>
              <a:rPr lang="en-US" sz="850" i="1" dirty="0">
                <a:solidFill>
                  <a:srgbClr val="073FA8"/>
                </a:solidFill>
                <a:latin typeface="Calibri" pitchFamily="34" charset="0"/>
                <a:ea typeface="Calibri" pitchFamily="34" charset="-122"/>
                <a:cs typeface="Calibri" pitchFamily="34" charset="-120"/>
              </a:rPr>
              <a:t>Churn Mediation  ·  Cross-Sell Propensity</a:t>
            </a:r>
            <a:endParaRPr lang="en-US" sz="850" dirty="0"/>
          </a:p>
        </p:txBody>
      </p:sp>
      <p:sp>
        <p:nvSpPr>
          <p:cNvPr id="26" name="Text 24"/>
          <p:cNvSpPr/>
          <p:nvPr/>
        </p:nvSpPr>
        <p:spPr>
          <a:xfrm>
            <a:off x="4919472" y="2395728"/>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+$6M</a:t>
            </a:r>
            <a:endParaRPr lang="en-US" sz="1700" dirty="0"/>
          </a:p>
        </p:txBody>
      </p:sp>
      <p:sp>
        <p:nvSpPr>
          <p:cNvPr id="27" name="Text 25"/>
          <p:cNvSpPr/>
          <p:nvPr/>
        </p:nvSpPr>
        <p:spPr>
          <a:xfrm>
            <a:off x="6291072" y="2395728"/>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+$12M</a:t>
            </a:r>
            <a:endParaRPr lang="en-US" sz="1700" dirty="0"/>
          </a:p>
        </p:txBody>
      </p:sp>
      <p:sp>
        <p:nvSpPr>
          <p:cNvPr id="28" name="Text 26"/>
          <p:cNvSpPr/>
          <p:nvPr/>
        </p:nvSpPr>
        <p:spPr>
          <a:xfrm>
            <a:off x="7726680" y="2395728"/>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+$20M</a:t>
            </a:r>
            <a:endParaRPr lang="en-US" sz="1700" dirty="0"/>
          </a:p>
        </p:txBody>
      </p:sp>
      <p:sp>
        <p:nvSpPr>
          <p:cNvPr id="29" name="Shape 27"/>
          <p:cNvSpPr/>
          <p:nvPr/>
        </p:nvSpPr>
        <p:spPr>
          <a:xfrm>
            <a:off x="320040" y="2999232"/>
            <a:ext cx="8732520" cy="713232"/>
          </a:xfrm>
          <a:prstGeom prst="rect">
            <a:avLst/>
          </a:prstGeom>
          <a:solidFill>
            <a:srgbClr val="FFFFFF"/>
          </a:solidFill>
          <a:ln w="12700">
            <a:solidFill>
              <a:srgbClr val="E7ECF0"/>
            </a:solidFill>
            <a:prstDash val="solid"/>
          </a:ln>
        </p:spPr>
      </p:sp>
      <p:sp>
        <p:nvSpPr>
          <p:cNvPr id="30" name="Shape 28"/>
          <p:cNvSpPr/>
          <p:nvPr/>
        </p:nvSpPr>
        <p:spPr>
          <a:xfrm>
            <a:off x="320040" y="2999232"/>
            <a:ext cx="91440" cy="713232"/>
          </a:xfrm>
          <a:prstGeom prst="rect">
            <a:avLst/>
          </a:prstGeom>
          <a:solidFill>
            <a:srgbClr val="575A5D"/>
          </a:solidFill>
          <a:ln w="12700">
            <a:solidFill>
              <a:srgbClr val="575A5D"/>
            </a:solidFill>
            <a:prstDash val="solid"/>
          </a:ln>
        </p:spPr>
      </p:sp>
      <p:sp>
        <p:nvSpPr>
          <p:cNvPr id="31" name="Shape 29"/>
          <p:cNvSpPr/>
          <p:nvPr/>
        </p:nvSpPr>
        <p:spPr>
          <a:xfrm>
            <a:off x="475488" y="3108960"/>
            <a:ext cx="475488" cy="182880"/>
          </a:xfrm>
          <a:prstGeom prst="rect">
            <a:avLst/>
          </a:prstGeom>
          <a:solidFill>
            <a:srgbClr val="073FA8"/>
          </a:solidFill>
          <a:ln w="12700">
            <a:solidFill>
              <a:srgbClr val="073FA8"/>
            </a:solidFill>
            <a:prstDash val="solid"/>
          </a:ln>
        </p:spPr>
      </p:sp>
      <p:sp>
        <p:nvSpPr>
          <p:cNvPr id="32" name="Text 30"/>
          <p:cNvSpPr/>
          <p:nvPr/>
        </p:nvSpPr>
        <p:spPr>
          <a:xfrm>
            <a:off x="475488" y="3108960"/>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33" name="Text 31"/>
          <p:cNvSpPr/>
          <p:nvPr/>
        </p:nvSpPr>
        <p:spPr>
          <a:xfrm>
            <a:off x="1024128" y="3054096"/>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Payments Intelligence</a:t>
            </a:r>
            <a:endParaRPr lang="en-US" sz="1100" dirty="0"/>
          </a:p>
        </p:txBody>
      </p:sp>
      <p:sp>
        <p:nvSpPr>
          <p:cNvPr id="34" name="Text 32"/>
          <p:cNvSpPr/>
          <p:nvPr/>
        </p:nvSpPr>
        <p:spPr>
          <a:xfrm>
            <a:off x="1024128" y="3282696"/>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Zelle  ·  ACH  ·  Card  ·  Wire</a:t>
            </a:r>
            <a:endParaRPr lang="en-US" sz="850" dirty="0"/>
          </a:p>
        </p:txBody>
      </p:sp>
      <p:sp>
        <p:nvSpPr>
          <p:cNvPr id="35" name="Text 33"/>
          <p:cNvSpPr/>
          <p:nvPr/>
        </p:nvSpPr>
        <p:spPr>
          <a:xfrm>
            <a:off x="1024128" y="3456432"/>
            <a:ext cx="3749040" cy="182880"/>
          </a:xfrm>
          <a:prstGeom prst="rect">
            <a:avLst/>
          </a:prstGeom>
          <a:noFill/>
          <a:ln/>
        </p:spPr>
        <p:txBody>
          <a:bodyPr wrap="square" lIns="0" tIns="0" rIns="0" bIns="0" rtlCol="0" anchor="ctr"/>
          <a:lstStyle/>
          <a:p>
            <a:pPr indent="0" marL="0">
              <a:buNone/>
            </a:pPr>
            <a:r>
              <a:rPr lang="en-US" sz="850" i="1" dirty="0">
                <a:solidFill>
                  <a:srgbClr val="575A5D"/>
                </a:solidFill>
                <a:latin typeface="Calibri" pitchFamily="34" charset="0"/>
                <a:ea typeface="Calibri" pitchFamily="34" charset="-122"/>
                <a:cs typeface="Calibri" pitchFamily="34" charset="-120"/>
              </a:rPr>
              <a:t>Zelle Memo Intelligence  ·  Anomaly Detection  ·  Fraud Ring Detection</a:t>
            </a:r>
            <a:endParaRPr lang="en-US" sz="850" dirty="0"/>
          </a:p>
        </p:txBody>
      </p:sp>
      <p:sp>
        <p:nvSpPr>
          <p:cNvPr id="36" name="Text 34"/>
          <p:cNvSpPr/>
          <p:nvPr/>
        </p:nvSpPr>
        <p:spPr>
          <a:xfrm>
            <a:off x="4919472" y="3163824"/>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+$5M</a:t>
            </a:r>
            <a:endParaRPr lang="en-US" sz="1700" dirty="0"/>
          </a:p>
        </p:txBody>
      </p:sp>
      <p:sp>
        <p:nvSpPr>
          <p:cNvPr id="37" name="Text 35"/>
          <p:cNvSpPr/>
          <p:nvPr/>
        </p:nvSpPr>
        <p:spPr>
          <a:xfrm>
            <a:off x="6291072" y="3163824"/>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+$10M</a:t>
            </a:r>
            <a:endParaRPr lang="en-US" sz="1700" dirty="0"/>
          </a:p>
        </p:txBody>
      </p:sp>
      <p:sp>
        <p:nvSpPr>
          <p:cNvPr id="38" name="Text 36"/>
          <p:cNvSpPr/>
          <p:nvPr/>
        </p:nvSpPr>
        <p:spPr>
          <a:xfrm>
            <a:off x="7726680" y="3163824"/>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+$17M</a:t>
            </a:r>
            <a:endParaRPr lang="en-US" sz="1700" dirty="0"/>
          </a:p>
        </p:txBody>
      </p:sp>
      <p:sp>
        <p:nvSpPr>
          <p:cNvPr id="39" name="Shape 37"/>
          <p:cNvSpPr/>
          <p:nvPr/>
        </p:nvSpPr>
        <p:spPr>
          <a:xfrm>
            <a:off x="320040" y="3767328"/>
            <a:ext cx="8732520" cy="713232"/>
          </a:xfrm>
          <a:prstGeom prst="rect">
            <a:avLst/>
          </a:prstGeom>
          <a:solidFill>
            <a:srgbClr val="E7ECF0"/>
          </a:solidFill>
          <a:ln w="12700">
            <a:solidFill>
              <a:srgbClr val="E7ECF0"/>
            </a:solidFill>
            <a:prstDash val="solid"/>
          </a:ln>
        </p:spPr>
      </p:sp>
      <p:sp>
        <p:nvSpPr>
          <p:cNvPr id="40" name="Shape 38"/>
          <p:cNvSpPr/>
          <p:nvPr/>
        </p:nvSpPr>
        <p:spPr>
          <a:xfrm>
            <a:off x="320040" y="3767328"/>
            <a:ext cx="91440" cy="713232"/>
          </a:xfrm>
          <a:prstGeom prst="rect">
            <a:avLst/>
          </a:prstGeom>
          <a:solidFill>
            <a:srgbClr val="0B68D4"/>
          </a:solidFill>
          <a:ln w="12700">
            <a:solidFill>
              <a:srgbClr val="0B68D4"/>
            </a:solidFill>
            <a:prstDash val="solid"/>
          </a:ln>
        </p:spPr>
      </p:sp>
      <p:sp>
        <p:nvSpPr>
          <p:cNvPr id="41" name="Shape 39"/>
          <p:cNvSpPr/>
          <p:nvPr/>
        </p:nvSpPr>
        <p:spPr>
          <a:xfrm>
            <a:off x="475488" y="3877056"/>
            <a:ext cx="475488" cy="182880"/>
          </a:xfrm>
          <a:prstGeom prst="rect">
            <a:avLst/>
          </a:prstGeom>
          <a:solidFill>
            <a:srgbClr val="B6BBC0"/>
          </a:solidFill>
          <a:ln w="12700">
            <a:solidFill>
              <a:srgbClr val="B6BBC0"/>
            </a:solidFill>
            <a:prstDash val="solid"/>
          </a:ln>
        </p:spPr>
      </p:sp>
      <p:sp>
        <p:nvSpPr>
          <p:cNvPr id="42" name="Text 40"/>
          <p:cNvSpPr/>
          <p:nvPr/>
        </p:nvSpPr>
        <p:spPr>
          <a:xfrm>
            <a:off x="475488" y="3877056"/>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FUTURE</a:t>
            </a:r>
            <a:endParaRPr lang="en-US" sz="750" dirty="0"/>
          </a:p>
        </p:txBody>
      </p:sp>
      <p:sp>
        <p:nvSpPr>
          <p:cNvPr id="43" name="Text 41"/>
          <p:cNvSpPr/>
          <p:nvPr/>
        </p:nvSpPr>
        <p:spPr>
          <a:xfrm>
            <a:off x="1024128" y="3822192"/>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Digital / Banno Intelligence</a:t>
            </a:r>
            <a:endParaRPr lang="en-US" sz="1100" dirty="0"/>
          </a:p>
        </p:txBody>
      </p:sp>
      <p:sp>
        <p:nvSpPr>
          <p:cNvPr id="44" name="Text 42"/>
          <p:cNvSpPr/>
          <p:nvPr/>
        </p:nvSpPr>
        <p:spPr>
          <a:xfrm>
            <a:off x="1024128" y="4050792"/>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Banno  ·  Digital Engagement  ·  Session Behavior</a:t>
            </a:r>
            <a:endParaRPr lang="en-US" sz="850" dirty="0"/>
          </a:p>
        </p:txBody>
      </p:sp>
      <p:sp>
        <p:nvSpPr>
          <p:cNvPr id="45" name="Text 43"/>
          <p:cNvSpPr/>
          <p:nvPr/>
        </p:nvSpPr>
        <p:spPr>
          <a:xfrm>
            <a:off x="1024128" y="4224528"/>
            <a:ext cx="3749040" cy="182880"/>
          </a:xfrm>
          <a:prstGeom prst="rect">
            <a:avLst/>
          </a:prstGeom>
          <a:noFill/>
          <a:ln/>
        </p:spPr>
        <p:txBody>
          <a:bodyPr wrap="square" lIns="0" tIns="0" rIns="0" bIns="0" rtlCol="0" anchor="ctr"/>
          <a:lstStyle/>
          <a:p>
            <a:pPr indent="0" marL="0">
              <a:buNone/>
            </a:pPr>
            <a:r>
              <a:rPr lang="en-US" sz="850" i="1" dirty="0">
                <a:solidFill>
                  <a:srgbClr val="0B68D4"/>
                </a:solidFill>
                <a:latin typeface="Calibri" pitchFamily="34" charset="0"/>
                <a:ea typeface="Calibri" pitchFamily="34" charset="-122"/>
                <a:cs typeface="Calibri" pitchFamily="34" charset="-120"/>
              </a:rPr>
              <a:t>Sentiment Engine  ·  Next Best Action  ·  Overdraft Prediction</a:t>
            </a:r>
            <a:endParaRPr lang="en-US" sz="850" dirty="0"/>
          </a:p>
        </p:txBody>
      </p:sp>
      <p:sp>
        <p:nvSpPr>
          <p:cNvPr id="46" name="Text 44"/>
          <p:cNvSpPr/>
          <p:nvPr/>
        </p:nvSpPr>
        <p:spPr>
          <a:xfrm>
            <a:off x="4919472" y="3931920"/>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+$4M</a:t>
            </a:r>
            <a:endParaRPr lang="en-US" sz="1700" dirty="0"/>
          </a:p>
        </p:txBody>
      </p:sp>
      <p:sp>
        <p:nvSpPr>
          <p:cNvPr id="47" name="Text 45"/>
          <p:cNvSpPr/>
          <p:nvPr/>
        </p:nvSpPr>
        <p:spPr>
          <a:xfrm>
            <a:off x="6291072" y="3931920"/>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+$8M</a:t>
            </a:r>
            <a:endParaRPr lang="en-US" sz="1700" dirty="0"/>
          </a:p>
        </p:txBody>
      </p:sp>
      <p:sp>
        <p:nvSpPr>
          <p:cNvPr id="48" name="Text 46"/>
          <p:cNvSpPr/>
          <p:nvPr/>
        </p:nvSpPr>
        <p:spPr>
          <a:xfrm>
            <a:off x="7726680" y="3931920"/>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+$13M</a:t>
            </a:r>
            <a:endParaRPr lang="en-US" sz="1700" dirty="0"/>
          </a:p>
        </p:txBody>
      </p:sp>
      <p:sp>
        <p:nvSpPr>
          <p:cNvPr id="49" name="Shape 47"/>
          <p:cNvSpPr/>
          <p:nvPr/>
        </p:nvSpPr>
        <p:spPr>
          <a:xfrm>
            <a:off x="320040" y="4535424"/>
            <a:ext cx="8732520" cy="402336"/>
          </a:xfrm>
          <a:prstGeom prst="rect">
            <a:avLst/>
          </a:prstGeom>
          <a:solidFill>
            <a:srgbClr val="06185F"/>
          </a:solidFill>
          <a:ln w="12700">
            <a:solidFill>
              <a:srgbClr val="06185F"/>
            </a:solidFill>
            <a:prstDash val="solid"/>
          </a:ln>
        </p:spPr>
      </p:sp>
      <p:sp>
        <p:nvSpPr>
          <p:cNvPr id="50" name="Text 48"/>
          <p:cNvSpPr/>
          <p:nvPr/>
        </p:nvSpPr>
        <p:spPr>
          <a:xfrm>
            <a:off x="475488" y="4562856"/>
            <a:ext cx="429768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FULL PLATFORM ARR POTENTIAL</a:t>
            </a:r>
            <a:endParaRPr lang="en-US" sz="1100" dirty="0"/>
          </a:p>
        </p:txBody>
      </p:sp>
      <p:sp>
        <p:nvSpPr>
          <p:cNvPr id="51" name="Text 49"/>
          <p:cNvSpPr/>
          <p:nvPr/>
        </p:nvSpPr>
        <p:spPr>
          <a:xfrm>
            <a:off x="4919472" y="4562856"/>
            <a:ext cx="1298448"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$19.5M</a:t>
            </a:r>
            <a:endParaRPr lang="en-US" sz="1400" dirty="0"/>
          </a:p>
        </p:txBody>
      </p:sp>
      <p:sp>
        <p:nvSpPr>
          <p:cNvPr id="52" name="Text 50"/>
          <p:cNvSpPr/>
          <p:nvPr/>
        </p:nvSpPr>
        <p:spPr>
          <a:xfrm>
            <a:off x="6291072" y="4562856"/>
            <a:ext cx="137160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$39M</a:t>
            </a:r>
            <a:endParaRPr lang="en-US" sz="1400" dirty="0"/>
          </a:p>
        </p:txBody>
      </p:sp>
      <p:sp>
        <p:nvSpPr>
          <p:cNvPr id="53" name="Text 51"/>
          <p:cNvSpPr/>
          <p:nvPr/>
        </p:nvSpPr>
        <p:spPr>
          <a:xfrm>
            <a:off x="7726680" y="4562856"/>
            <a:ext cx="132588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$65M+</a:t>
            </a:r>
            <a:endParaRPr lang="en-US" sz="1400" dirty="0"/>
          </a:p>
        </p:txBody>
      </p:sp>
      <p:sp>
        <p:nvSpPr>
          <p:cNvPr id="54" name="Text 52"/>
          <p:cNvSpPr/>
          <p:nvPr/>
        </p:nvSpPr>
        <p:spPr>
          <a:xfrm>
            <a:off x="365760" y="4974336"/>
            <a:ext cx="8412480" cy="164592"/>
          </a:xfrm>
          <a:prstGeom prst="rect">
            <a:avLst/>
          </a:prstGeom>
          <a:noFill/>
          <a:ln/>
        </p:spPr>
        <p:txBody>
          <a:bodyPr wrap="square" lIns="0" tIns="0" rIns="0" bIns="0" rtlCol="0" anchor="ctr"/>
          <a:lstStyle/>
          <a:p>
            <a:pPr indent="0" marL="0">
              <a:buNone/>
            </a:pPr>
            <a:r>
              <a:rPr lang="en-US" sz="800" i="1" dirty="0">
                <a:solidFill>
                  <a:srgbClr val="B6BBC0"/>
                </a:solidFill>
                <a:latin typeface="Calibri" pitchFamily="34" charset="0"/>
                <a:ea typeface="Calibri" pitchFamily="34" charset="-122"/>
                <a:cs typeface="Calibri" pitchFamily="34" charset="-120"/>
              </a:rPr>
              <a:t>ARR estimates based on avg. subscription value across tiers. Columns reflect 30%, 60%, and 100% penetration of JH's 1,660 core FI clients (940 banks + 720 CUs). Source: JH 10-K FY2024.</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Horizon Pipeline — Phase 2 &amp; Year 2 Platform Opportunities</a:t>
            </a:r>
            <a:endParaRPr lang="en-US" sz="2000" dirty="0"/>
          </a:p>
        </p:txBody>
      </p:sp>
      <p:sp>
        <p:nvSpPr>
          <p:cNvPr id="4" name="Shape 2"/>
          <p:cNvSpPr/>
          <p:nvPr/>
        </p:nvSpPr>
        <p:spPr>
          <a:xfrm>
            <a:off x="128016"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128016" y="786384"/>
            <a:ext cx="2798064" cy="73152"/>
          </a:xfrm>
          <a:prstGeom prst="rect">
            <a:avLst/>
          </a:prstGeom>
          <a:solidFill>
            <a:srgbClr val="085CE5"/>
          </a:solidFill>
          <a:ln w="12700">
            <a:solidFill>
              <a:srgbClr val="085CE5"/>
            </a:solidFill>
            <a:prstDash val="solid"/>
          </a:ln>
        </p:spPr>
      </p:sp>
      <p:sp>
        <p:nvSpPr>
          <p:cNvPr id="6" name="Shape 4"/>
          <p:cNvSpPr/>
          <p:nvPr/>
        </p:nvSpPr>
        <p:spPr>
          <a:xfrm>
            <a:off x="2322576" y="914400"/>
            <a:ext cx="548640" cy="182880"/>
          </a:xfrm>
          <a:prstGeom prst="rect">
            <a:avLst/>
          </a:prstGeom>
          <a:solidFill>
            <a:srgbClr val="085CE5"/>
          </a:solidFill>
          <a:ln w="12700">
            <a:solidFill>
              <a:srgbClr val="085CE5"/>
            </a:solidFill>
            <a:prstDash val="solid"/>
          </a:ln>
        </p:spPr>
      </p:sp>
      <p:sp>
        <p:nvSpPr>
          <p:cNvPr id="7" name="Text 5"/>
          <p:cNvSpPr/>
          <p:nvPr/>
        </p:nvSpPr>
        <p:spPr>
          <a:xfrm>
            <a:off x="2322576"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8" name="Image 0" descr="preencoded.png">    </p:cNvPr>
          <p:cNvPicPr>
            <a:picLocks noChangeAspect="1"/>
          </p:cNvPicPr>
          <p:nvPr/>
        </p:nvPicPr>
        <p:blipFill>
          <a:blip r:embed="rId1"/>
          <a:stretch>
            <a:fillRect/>
          </a:stretch>
        </p:blipFill>
        <p:spPr>
          <a:xfrm>
            <a:off x="256032" y="969264"/>
            <a:ext cx="310896" cy="310896"/>
          </a:xfrm>
          <a:prstGeom prst="rect">
            <a:avLst/>
          </a:prstGeom>
        </p:spPr>
      </p:pic>
      <p:sp>
        <p:nvSpPr>
          <p:cNvPr id="9" name="Text 6"/>
          <p:cNvSpPr/>
          <p:nvPr/>
        </p:nvSpPr>
        <p:spPr>
          <a:xfrm>
            <a:off x="621792"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Cross-Sell Propensity</a:t>
            </a:r>
            <a:endParaRPr lang="en-US" sz="950" dirty="0"/>
          </a:p>
        </p:txBody>
      </p:sp>
      <p:sp>
        <p:nvSpPr>
          <p:cNvPr id="10" name="Text 7"/>
          <p:cNvSpPr/>
          <p:nvPr/>
        </p:nvSpPr>
        <p:spPr>
          <a:xfrm>
            <a:off x="237744"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ML model scoring each FI customer's likelihood to open savings, CDs, credit cards, or mortgage — enabling timed, personalized offers embedded in Banno.</a:t>
            </a:r>
            <a:endParaRPr lang="en-US" sz="900" dirty="0"/>
          </a:p>
        </p:txBody>
      </p:sp>
      <p:sp>
        <p:nvSpPr>
          <p:cNvPr id="11" name="Shape 8"/>
          <p:cNvSpPr/>
          <p:nvPr/>
        </p:nvSpPr>
        <p:spPr>
          <a:xfrm>
            <a:off x="3072384"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3072384" y="786384"/>
            <a:ext cx="2798064" cy="73152"/>
          </a:xfrm>
          <a:prstGeom prst="rect">
            <a:avLst/>
          </a:prstGeom>
          <a:solidFill>
            <a:srgbClr val="06185F"/>
          </a:solidFill>
          <a:ln w="12700">
            <a:solidFill>
              <a:srgbClr val="06185F"/>
            </a:solidFill>
            <a:prstDash val="solid"/>
          </a:ln>
        </p:spPr>
      </p:sp>
      <p:sp>
        <p:nvSpPr>
          <p:cNvPr id="13" name="Shape 10"/>
          <p:cNvSpPr/>
          <p:nvPr/>
        </p:nvSpPr>
        <p:spPr>
          <a:xfrm>
            <a:off x="5266944" y="914400"/>
            <a:ext cx="548640" cy="182880"/>
          </a:xfrm>
          <a:prstGeom prst="rect">
            <a:avLst/>
          </a:prstGeom>
          <a:solidFill>
            <a:srgbClr val="06185F"/>
          </a:solidFill>
          <a:ln w="12700">
            <a:solidFill>
              <a:srgbClr val="06185F"/>
            </a:solidFill>
            <a:prstDash val="solid"/>
          </a:ln>
        </p:spPr>
      </p:sp>
      <p:sp>
        <p:nvSpPr>
          <p:cNvPr id="14" name="Text 11"/>
          <p:cNvSpPr/>
          <p:nvPr/>
        </p:nvSpPr>
        <p:spPr>
          <a:xfrm>
            <a:off x="5266944"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15" name="Image 1" descr="preencoded.png">    </p:cNvPr>
          <p:cNvPicPr>
            <a:picLocks noChangeAspect="1"/>
          </p:cNvPicPr>
          <p:nvPr/>
        </p:nvPicPr>
        <p:blipFill>
          <a:blip r:embed="rId2"/>
          <a:stretch>
            <a:fillRect/>
          </a:stretch>
        </p:blipFill>
        <p:spPr>
          <a:xfrm>
            <a:off x="3200400" y="969264"/>
            <a:ext cx="310896" cy="310896"/>
          </a:xfrm>
          <a:prstGeom prst="rect">
            <a:avLst/>
          </a:prstGeom>
        </p:spPr>
      </p:pic>
      <p:sp>
        <p:nvSpPr>
          <p:cNvPr id="16" name="Text 12"/>
          <p:cNvSpPr/>
          <p:nvPr/>
        </p:nvSpPr>
        <p:spPr>
          <a:xfrm>
            <a:off x="3566160"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Fraud Ring Detection</a:t>
            </a:r>
            <a:endParaRPr lang="en-US" sz="950" dirty="0"/>
          </a:p>
        </p:txBody>
      </p:sp>
      <p:sp>
        <p:nvSpPr>
          <p:cNvPr id="17" name="Text 13"/>
          <p:cNvSpPr/>
          <p:nvPr/>
        </p:nvSpPr>
        <p:spPr>
          <a:xfrm>
            <a:off x="3182112"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Graph-based ML to identify coordinated fraud across linked accounts, shared devices, and IP clusters — across the entire JH network for cross-institution signals.</a:t>
            </a:r>
            <a:endParaRPr lang="en-US" sz="900" dirty="0"/>
          </a:p>
        </p:txBody>
      </p:sp>
      <p:sp>
        <p:nvSpPr>
          <p:cNvPr id="18" name="Shape 14"/>
          <p:cNvSpPr/>
          <p:nvPr/>
        </p:nvSpPr>
        <p:spPr>
          <a:xfrm>
            <a:off x="6016752"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6016752" y="786384"/>
            <a:ext cx="2798064" cy="73152"/>
          </a:xfrm>
          <a:prstGeom prst="rect">
            <a:avLst/>
          </a:prstGeom>
          <a:solidFill>
            <a:srgbClr val="073FA8"/>
          </a:solidFill>
          <a:ln w="12700">
            <a:solidFill>
              <a:srgbClr val="073FA8"/>
            </a:solidFill>
            <a:prstDash val="solid"/>
          </a:ln>
        </p:spPr>
      </p:sp>
      <p:sp>
        <p:nvSpPr>
          <p:cNvPr id="20" name="Shape 16"/>
          <p:cNvSpPr/>
          <p:nvPr/>
        </p:nvSpPr>
        <p:spPr>
          <a:xfrm>
            <a:off x="8211312" y="914400"/>
            <a:ext cx="548640" cy="182880"/>
          </a:xfrm>
          <a:prstGeom prst="rect">
            <a:avLst/>
          </a:prstGeom>
          <a:solidFill>
            <a:srgbClr val="073FA8"/>
          </a:solidFill>
          <a:ln w="12700">
            <a:solidFill>
              <a:srgbClr val="073FA8"/>
            </a:solidFill>
            <a:prstDash val="solid"/>
          </a:ln>
        </p:spPr>
      </p:sp>
      <p:sp>
        <p:nvSpPr>
          <p:cNvPr id="21" name="Text 17"/>
          <p:cNvSpPr/>
          <p:nvPr/>
        </p:nvSpPr>
        <p:spPr>
          <a:xfrm>
            <a:off x="8211312"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22" name="Image 2" descr="preencoded.png">    </p:cNvPr>
          <p:cNvPicPr>
            <a:picLocks noChangeAspect="1"/>
          </p:cNvPicPr>
          <p:nvPr/>
        </p:nvPicPr>
        <p:blipFill>
          <a:blip r:embed="rId3"/>
          <a:stretch>
            <a:fillRect/>
          </a:stretch>
        </p:blipFill>
        <p:spPr>
          <a:xfrm>
            <a:off x="6144768" y="969264"/>
            <a:ext cx="310896" cy="310896"/>
          </a:xfrm>
          <a:prstGeom prst="rect">
            <a:avLst/>
          </a:prstGeom>
        </p:spPr>
      </p:pic>
      <p:sp>
        <p:nvSpPr>
          <p:cNvPr id="23" name="Text 18"/>
          <p:cNvSpPr/>
          <p:nvPr/>
        </p:nvSpPr>
        <p:spPr>
          <a:xfrm>
            <a:off x="6510528"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Deposit Runoff Forecasting</a:t>
            </a:r>
            <a:endParaRPr lang="en-US" sz="950" dirty="0"/>
          </a:p>
        </p:txBody>
      </p:sp>
      <p:sp>
        <p:nvSpPr>
          <p:cNvPr id="24" name="Text 19"/>
          <p:cNvSpPr/>
          <p:nvPr/>
        </p:nvSpPr>
        <p:spPr>
          <a:xfrm>
            <a:off x="6126480"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Portfolio-level deposit attrition prediction to support FI clients' ALM, liquidity stress testing, and treasury planning with 90-day forward visibility.</a:t>
            </a:r>
            <a:endParaRPr lang="en-US" sz="900" dirty="0"/>
          </a:p>
        </p:txBody>
      </p:sp>
      <p:sp>
        <p:nvSpPr>
          <p:cNvPr id="25" name="Shape 20"/>
          <p:cNvSpPr/>
          <p:nvPr/>
        </p:nvSpPr>
        <p:spPr>
          <a:xfrm>
            <a:off x="128016"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128016" y="2889504"/>
            <a:ext cx="2798064" cy="73152"/>
          </a:xfrm>
          <a:prstGeom prst="rect">
            <a:avLst/>
          </a:prstGeom>
          <a:solidFill>
            <a:srgbClr val="575A5D"/>
          </a:solidFill>
          <a:ln w="12700">
            <a:solidFill>
              <a:srgbClr val="575A5D"/>
            </a:solidFill>
            <a:prstDash val="solid"/>
          </a:ln>
        </p:spPr>
      </p:sp>
      <p:sp>
        <p:nvSpPr>
          <p:cNvPr id="27" name="Shape 22"/>
          <p:cNvSpPr/>
          <p:nvPr/>
        </p:nvSpPr>
        <p:spPr>
          <a:xfrm>
            <a:off x="2322576" y="3017520"/>
            <a:ext cx="548640" cy="182880"/>
          </a:xfrm>
          <a:prstGeom prst="rect">
            <a:avLst/>
          </a:prstGeom>
          <a:solidFill>
            <a:srgbClr val="575A5D"/>
          </a:solidFill>
          <a:ln w="12700">
            <a:solidFill>
              <a:srgbClr val="575A5D"/>
            </a:solidFill>
            <a:prstDash val="solid"/>
          </a:ln>
        </p:spPr>
      </p:sp>
      <p:sp>
        <p:nvSpPr>
          <p:cNvPr id="28" name="Text 23"/>
          <p:cNvSpPr/>
          <p:nvPr/>
        </p:nvSpPr>
        <p:spPr>
          <a:xfrm>
            <a:off x="2322576"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29" name="Image 3" descr="preencoded.png">    </p:cNvPr>
          <p:cNvPicPr>
            <a:picLocks noChangeAspect="1"/>
          </p:cNvPicPr>
          <p:nvPr/>
        </p:nvPicPr>
        <p:blipFill>
          <a:blip r:embed="rId4"/>
          <a:stretch>
            <a:fillRect/>
          </a:stretch>
        </p:blipFill>
        <p:spPr>
          <a:xfrm>
            <a:off x="256032" y="3072384"/>
            <a:ext cx="310896" cy="310896"/>
          </a:xfrm>
          <a:prstGeom prst="rect">
            <a:avLst/>
          </a:prstGeom>
        </p:spPr>
      </p:pic>
      <p:sp>
        <p:nvSpPr>
          <p:cNvPr id="30" name="Text 24"/>
          <p:cNvSpPr/>
          <p:nvPr/>
        </p:nvSpPr>
        <p:spPr>
          <a:xfrm>
            <a:off x="621792"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Overdraft Prediction</a:t>
            </a:r>
            <a:endParaRPr lang="en-US" sz="950" dirty="0"/>
          </a:p>
        </p:txBody>
      </p:sp>
      <p:sp>
        <p:nvSpPr>
          <p:cNvPr id="31" name="Text 25"/>
          <p:cNvSpPr/>
          <p:nvPr/>
        </p:nvSpPr>
        <p:spPr>
          <a:xfrm>
            <a:off x="237744"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Anticipate overdraft events before they occur and surface proactive micro-loan offers or alerts in Banno — improving CX while reducing NSF fee risk for FIs.</a:t>
            </a:r>
            <a:endParaRPr lang="en-US" sz="900" dirty="0"/>
          </a:p>
        </p:txBody>
      </p:sp>
      <p:sp>
        <p:nvSpPr>
          <p:cNvPr id="32" name="Shape 26"/>
          <p:cNvSpPr/>
          <p:nvPr/>
        </p:nvSpPr>
        <p:spPr>
          <a:xfrm>
            <a:off x="3072384"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3" name="Shape 27"/>
          <p:cNvSpPr/>
          <p:nvPr/>
        </p:nvSpPr>
        <p:spPr>
          <a:xfrm>
            <a:off x="3072384" y="2889504"/>
            <a:ext cx="2798064" cy="73152"/>
          </a:xfrm>
          <a:prstGeom prst="rect">
            <a:avLst/>
          </a:prstGeom>
          <a:solidFill>
            <a:srgbClr val="0B68D4"/>
          </a:solidFill>
          <a:ln w="12700">
            <a:solidFill>
              <a:srgbClr val="0B68D4"/>
            </a:solidFill>
            <a:prstDash val="solid"/>
          </a:ln>
        </p:spPr>
      </p:sp>
      <p:sp>
        <p:nvSpPr>
          <p:cNvPr id="34" name="Shape 28"/>
          <p:cNvSpPr/>
          <p:nvPr/>
        </p:nvSpPr>
        <p:spPr>
          <a:xfrm>
            <a:off x="5266944" y="3017520"/>
            <a:ext cx="548640" cy="182880"/>
          </a:xfrm>
          <a:prstGeom prst="rect">
            <a:avLst/>
          </a:prstGeom>
          <a:solidFill>
            <a:srgbClr val="0B68D4"/>
          </a:solidFill>
          <a:ln w="12700">
            <a:solidFill>
              <a:srgbClr val="0B68D4"/>
            </a:solidFill>
            <a:prstDash val="solid"/>
          </a:ln>
        </p:spPr>
      </p:sp>
      <p:sp>
        <p:nvSpPr>
          <p:cNvPr id="35" name="Text 29"/>
          <p:cNvSpPr/>
          <p:nvPr/>
        </p:nvSpPr>
        <p:spPr>
          <a:xfrm>
            <a:off x="5266944"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36" name="Image 4" descr="preencoded.png">    </p:cNvPr>
          <p:cNvPicPr>
            <a:picLocks noChangeAspect="1"/>
          </p:cNvPicPr>
          <p:nvPr/>
        </p:nvPicPr>
        <p:blipFill>
          <a:blip r:embed="rId5"/>
          <a:stretch>
            <a:fillRect/>
          </a:stretch>
        </p:blipFill>
        <p:spPr>
          <a:xfrm>
            <a:off x="3200400" y="3072384"/>
            <a:ext cx="310896" cy="310896"/>
          </a:xfrm>
          <a:prstGeom prst="rect">
            <a:avLst/>
          </a:prstGeom>
        </p:spPr>
      </p:pic>
      <p:sp>
        <p:nvSpPr>
          <p:cNvPr id="37" name="Text 30"/>
          <p:cNvSpPr/>
          <p:nvPr/>
        </p:nvSpPr>
        <p:spPr>
          <a:xfrm>
            <a:off x="3566160"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Customer Sentiment Engine</a:t>
            </a:r>
            <a:endParaRPr lang="en-US" sz="950" dirty="0"/>
          </a:p>
        </p:txBody>
      </p:sp>
      <p:sp>
        <p:nvSpPr>
          <p:cNvPr id="38" name="Text 31"/>
          <p:cNvSpPr/>
          <p:nvPr/>
        </p:nvSpPr>
        <p:spPr>
          <a:xfrm>
            <a:off x="3182112"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NLP analysis of call transcripts and CFPB complaints to generate real-time CX health scores — helping FIs identify and route at-risk relationships before escalation.</a:t>
            </a:r>
            <a:endParaRPr lang="en-US" sz="900" dirty="0"/>
          </a:p>
        </p:txBody>
      </p:sp>
      <p:sp>
        <p:nvSpPr>
          <p:cNvPr id="39" name="Shape 32"/>
          <p:cNvSpPr/>
          <p:nvPr/>
        </p:nvSpPr>
        <p:spPr>
          <a:xfrm>
            <a:off x="6016752"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0" name="Shape 33"/>
          <p:cNvSpPr/>
          <p:nvPr/>
        </p:nvSpPr>
        <p:spPr>
          <a:xfrm>
            <a:off x="6016752" y="2889504"/>
            <a:ext cx="2798064" cy="73152"/>
          </a:xfrm>
          <a:prstGeom prst="rect">
            <a:avLst/>
          </a:prstGeom>
          <a:solidFill>
            <a:srgbClr val="0D2E7A"/>
          </a:solidFill>
          <a:ln w="12700">
            <a:solidFill>
              <a:srgbClr val="0D2E7A"/>
            </a:solidFill>
            <a:prstDash val="solid"/>
          </a:ln>
        </p:spPr>
      </p:sp>
      <p:sp>
        <p:nvSpPr>
          <p:cNvPr id="41" name="Shape 34"/>
          <p:cNvSpPr/>
          <p:nvPr/>
        </p:nvSpPr>
        <p:spPr>
          <a:xfrm>
            <a:off x="8211312" y="3017520"/>
            <a:ext cx="548640" cy="182880"/>
          </a:xfrm>
          <a:prstGeom prst="rect">
            <a:avLst/>
          </a:prstGeom>
          <a:solidFill>
            <a:srgbClr val="0D2E7A"/>
          </a:solidFill>
          <a:ln w="12700">
            <a:solidFill>
              <a:srgbClr val="0D2E7A"/>
            </a:solidFill>
            <a:prstDash val="solid"/>
          </a:ln>
        </p:spPr>
      </p:sp>
      <p:sp>
        <p:nvSpPr>
          <p:cNvPr id="42" name="Text 35"/>
          <p:cNvSpPr/>
          <p:nvPr/>
        </p:nvSpPr>
        <p:spPr>
          <a:xfrm>
            <a:off x="8211312"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43" name="Image 5" descr="preencoded.png">    </p:cNvPr>
          <p:cNvPicPr>
            <a:picLocks noChangeAspect="1"/>
          </p:cNvPicPr>
          <p:nvPr/>
        </p:nvPicPr>
        <p:blipFill>
          <a:blip r:embed="rId6"/>
          <a:stretch>
            <a:fillRect/>
          </a:stretch>
        </p:blipFill>
        <p:spPr>
          <a:xfrm>
            <a:off x="6144768" y="3072384"/>
            <a:ext cx="310896" cy="310896"/>
          </a:xfrm>
          <a:prstGeom prst="rect">
            <a:avLst/>
          </a:prstGeom>
        </p:spPr>
      </p:pic>
      <p:sp>
        <p:nvSpPr>
          <p:cNvPr id="44" name="Text 36"/>
          <p:cNvSpPr/>
          <p:nvPr/>
        </p:nvSpPr>
        <p:spPr>
          <a:xfrm>
            <a:off x="6510528"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Next Best Action Platform</a:t>
            </a:r>
            <a:endParaRPr lang="en-US" sz="950" dirty="0"/>
          </a:p>
        </p:txBody>
      </p:sp>
      <p:sp>
        <p:nvSpPr>
          <p:cNvPr id="45" name="Text 37"/>
          <p:cNvSpPr/>
          <p:nvPr/>
        </p:nvSpPr>
        <p:spPr>
          <a:xfrm>
            <a:off x="6126480"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Unified orchestration engine synthesizing all model outputs — churn score, LTV, propensity, sentiment — into a single ranked recommendation per customer per channel.</a:t>
            </a:r>
            <a:endParaRPr lang="en-US" sz="900" dirty="0"/>
          </a:p>
        </p:txBody>
      </p:sp>
      <p:sp>
        <p:nvSpPr>
          <p:cNvPr id="46" name="Text 38"/>
          <p:cNvSpPr/>
          <p:nvPr/>
        </p:nvSpPr>
        <p:spPr>
          <a:xfrm>
            <a:off x="365760" y="4773168"/>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Year 2 opportunities contingent on Phase 1 &amp; Phase 2 delivery and continued investment approval.</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Four Investment Pillars — What We Are Building</a:t>
            </a:r>
            <a:endParaRPr lang="en-US" sz="2200" dirty="0"/>
          </a:p>
        </p:txBody>
      </p:sp>
      <p:sp>
        <p:nvSpPr>
          <p:cNvPr id="4" name="Shape 2"/>
          <p:cNvSpPr/>
          <p:nvPr/>
        </p:nvSpPr>
        <p:spPr>
          <a:xfrm>
            <a:off x="256032"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048256" cy="47548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1078992" y="795528"/>
            <a:ext cx="384048" cy="384048"/>
          </a:xfrm>
          <a:prstGeom prst="rect">
            <a:avLst/>
          </a:prstGeom>
        </p:spPr>
      </p:pic>
      <p:sp>
        <p:nvSpPr>
          <p:cNvPr id="7" name="Text 4"/>
          <p:cNvSpPr/>
          <p:nvPr/>
        </p:nvSpPr>
        <p:spPr>
          <a:xfrm>
            <a:off x="310896"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85CE5"/>
                </a:solidFill>
                <a:latin typeface="Calibri" pitchFamily="34" charset="0"/>
                <a:ea typeface="Calibri" pitchFamily="34" charset="-122"/>
                <a:cs typeface="Calibri" pitchFamily="34" charset="-120"/>
              </a:rPr>
              <a:t>THE FOUNDATION</a:t>
            </a:r>
            <a:endParaRPr lang="en-US" sz="750" dirty="0"/>
          </a:p>
        </p:txBody>
      </p:sp>
      <p:sp>
        <p:nvSpPr>
          <p:cNvPr id="8" name="Text 5"/>
          <p:cNvSpPr/>
          <p:nvPr/>
        </p:nvSpPr>
        <p:spPr>
          <a:xfrm>
            <a:off x="310896"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Data Acquisition</a:t>
            </a:r>
            <a:endParaRPr lang="en-US" sz="1350" dirty="0"/>
          </a:p>
        </p:txBody>
      </p:sp>
      <p:sp>
        <p:nvSpPr>
          <p:cNvPr id="9" name="Shape 6"/>
          <p:cNvSpPr/>
          <p:nvPr/>
        </p:nvSpPr>
        <p:spPr>
          <a:xfrm>
            <a:off x="758952" y="1975104"/>
            <a:ext cx="1024128" cy="36576"/>
          </a:xfrm>
          <a:prstGeom prst="rect">
            <a:avLst/>
          </a:prstGeom>
          <a:solidFill>
            <a:srgbClr val="E7ECF0"/>
          </a:solidFill>
          <a:ln w="12700">
            <a:solidFill>
              <a:srgbClr val="E7ECF0"/>
            </a:solidFill>
            <a:prstDash val="solid"/>
          </a:ln>
        </p:spPr>
      </p:sp>
      <p:sp>
        <p:nvSpPr>
          <p:cNvPr id="10" name="Text 7"/>
          <p:cNvSpPr/>
          <p:nvPr/>
        </p:nvSpPr>
        <p:spPr>
          <a:xfrm>
            <a:off x="347472"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behavioral data pipelines from JH core systems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Real-time streaming infrastructure (Kafka / event bus)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Data quality monitoring &amp; lineage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Enterprise data catalog and governance framework</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Aggregated cross-FI benchmarking data (anonymized)</a:t>
            </a:r>
            <a:endParaRPr lang="en-US" sz="950" dirty="0"/>
          </a:p>
        </p:txBody>
      </p:sp>
      <p:sp>
        <p:nvSpPr>
          <p:cNvPr id="11" name="Shape 8"/>
          <p:cNvSpPr/>
          <p:nvPr/>
        </p:nvSpPr>
        <p:spPr>
          <a:xfrm>
            <a:off x="2432304"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2432304" y="749808"/>
            <a:ext cx="2048256" cy="475488"/>
          </a:xfrm>
          <a:prstGeom prst="rect">
            <a:avLst/>
          </a:prstGeom>
          <a:solidFill>
            <a:srgbClr val="073FA8"/>
          </a:solidFill>
          <a:ln w="12700">
            <a:solidFill>
              <a:srgbClr val="073FA8"/>
            </a:solidFill>
            <a:prstDash val="solid"/>
          </a:ln>
        </p:spPr>
      </p:sp>
      <p:pic>
        <p:nvPicPr>
          <p:cNvPr id="13" name="Image 1" descr="preencoded.png">    </p:cNvPr>
          <p:cNvPicPr>
            <a:picLocks noChangeAspect="1"/>
          </p:cNvPicPr>
          <p:nvPr/>
        </p:nvPicPr>
        <p:blipFill>
          <a:blip r:embed="rId2"/>
          <a:stretch>
            <a:fillRect/>
          </a:stretch>
        </p:blipFill>
        <p:spPr>
          <a:xfrm>
            <a:off x="3255264" y="795528"/>
            <a:ext cx="384048" cy="384048"/>
          </a:xfrm>
          <a:prstGeom prst="rect">
            <a:avLst/>
          </a:prstGeom>
        </p:spPr>
      </p:pic>
      <p:sp>
        <p:nvSpPr>
          <p:cNvPr id="14" name="Text 10"/>
          <p:cNvSpPr/>
          <p:nvPr/>
        </p:nvSpPr>
        <p:spPr>
          <a:xfrm>
            <a:off x="2487168"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73FA8"/>
                </a:solidFill>
                <a:latin typeface="Calibri" pitchFamily="34" charset="0"/>
                <a:ea typeface="Calibri" pitchFamily="34" charset="-122"/>
                <a:cs typeface="Calibri" pitchFamily="34" charset="-120"/>
              </a:rPr>
              <a:t>THE ENGINE</a:t>
            </a:r>
            <a:endParaRPr lang="en-US" sz="750" dirty="0"/>
          </a:p>
        </p:txBody>
      </p:sp>
      <p:sp>
        <p:nvSpPr>
          <p:cNvPr id="15" name="Text 11"/>
          <p:cNvSpPr/>
          <p:nvPr/>
        </p:nvSpPr>
        <p:spPr>
          <a:xfrm>
            <a:off x="2487168"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DS Buildout</a:t>
            </a:r>
            <a:endParaRPr lang="en-US" sz="1350" dirty="0"/>
          </a:p>
        </p:txBody>
      </p:sp>
      <p:sp>
        <p:nvSpPr>
          <p:cNvPr id="16" name="Shape 12"/>
          <p:cNvSpPr/>
          <p:nvPr/>
        </p:nvSpPr>
        <p:spPr>
          <a:xfrm>
            <a:off x="2935224" y="1975104"/>
            <a:ext cx="1024128" cy="36576"/>
          </a:xfrm>
          <a:prstGeom prst="rect">
            <a:avLst/>
          </a:prstGeom>
          <a:solidFill>
            <a:srgbClr val="E7ECF0"/>
          </a:solidFill>
          <a:ln w="12700">
            <a:solidFill>
              <a:srgbClr val="E7ECF0"/>
            </a:solidFill>
            <a:prstDash val="solid"/>
          </a:ln>
        </p:spPr>
      </p:sp>
      <p:sp>
        <p:nvSpPr>
          <p:cNvPr id="17" name="Text 13"/>
          <p:cNvSpPr/>
          <p:nvPr/>
        </p:nvSpPr>
        <p:spPr>
          <a:xfrm>
            <a:off x="2523744"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 platform: feature store + experiment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AutoGluon, CatBoost, XGBoost model training at scale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SHAP explainability layer across all deployed models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MLOps: CI/CD, model registry, drift monitoring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governance, bias review, and model card process</a:t>
            </a:r>
            <a:endParaRPr lang="en-US" sz="950" dirty="0"/>
          </a:p>
        </p:txBody>
      </p:sp>
      <p:sp>
        <p:nvSpPr>
          <p:cNvPr id="18" name="Shape 14"/>
          <p:cNvSpPr/>
          <p:nvPr/>
        </p:nvSpPr>
        <p:spPr>
          <a:xfrm>
            <a:off x="4608576"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4608576" y="749808"/>
            <a:ext cx="2048256" cy="475488"/>
          </a:xfrm>
          <a:prstGeom prst="rect">
            <a:avLst/>
          </a:prstGeom>
          <a:solidFill>
            <a:srgbClr val="0D2E7A"/>
          </a:solidFill>
          <a:ln w="12700">
            <a:solidFill>
              <a:srgbClr val="0D2E7A"/>
            </a:solidFill>
            <a:prstDash val="solid"/>
          </a:ln>
        </p:spPr>
      </p:sp>
      <p:pic>
        <p:nvPicPr>
          <p:cNvPr id="20" name="Image 2" descr="preencoded.png">    </p:cNvPr>
          <p:cNvPicPr>
            <a:picLocks noChangeAspect="1"/>
          </p:cNvPicPr>
          <p:nvPr/>
        </p:nvPicPr>
        <p:blipFill>
          <a:blip r:embed="rId3"/>
          <a:stretch>
            <a:fillRect/>
          </a:stretch>
        </p:blipFill>
        <p:spPr>
          <a:xfrm>
            <a:off x="5431536" y="795528"/>
            <a:ext cx="384048" cy="384048"/>
          </a:xfrm>
          <a:prstGeom prst="rect">
            <a:avLst/>
          </a:prstGeom>
        </p:spPr>
      </p:pic>
      <p:sp>
        <p:nvSpPr>
          <p:cNvPr id="21" name="Text 16"/>
          <p:cNvSpPr/>
          <p:nvPr/>
        </p:nvSpPr>
        <p:spPr>
          <a:xfrm>
            <a:off x="4663440"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D2E7A"/>
                </a:solidFill>
                <a:latin typeface="Calibri" pitchFamily="34" charset="0"/>
                <a:ea typeface="Calibri" pitchFamily="34" charset="-122"/>
                <a:cs typeface="Calibri" pitchFamily="34" charset="-120"/>
              </a:rPr>
              <a:t>THE LENS</a:t>
            </a:r>
            <a:endParaRPr lang="en-US" sz="750" dirty="0"/>
          </a:p>
        </p:txBody>
      </p:sp>
      <p:sp>
        <p:nvSpPr>
          <p:cNvPr id="22" name="Text 17"/>
          <p:cNvSpPr/>
          <p:nvPr/>
        </p:nvSpPr>
        <p:spPr>
          <a:xfrm>
            <a:off x="4663440"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Visualizations</a:t>
            </a:r>
            <a:endParaRPr lang="en-US" sz="1350" dirty="0"/>
          </a:p>
        </p:txBody>
      </p:sp>
      <p:sp>
        <p:nvSpPr>
          <p:cNvPr id="23" name="Shape 18"/>
          <p:cNvSpPr/>
          <p:nvPr/>
        </p:nvSpPr>
        <p:spPr>
          <a:xfrm>
            <a:off x="5111496" y="1975104"/>
            <a:ext cx="1024128" cy="36576"/>
          </a:xfrm>
          <a:prstGeom prst="rect">
            <a:avLst/>
          </a:prstGeom>
          <a:solidFill>
            <a:srgbClr val="E7ECF0"/>
          </a:solidFill>
          <a:ln w="12700">
            <a:solidFill>
              <a:srgbClr val="E7ECF0"/>
            </a:solidFill>
            <a:prstDash val="solid"/>
          </a:ln>
        </p:spPr>
      </p:sp>
      <p:sp>
        <p:nvSpPr>
          <p:cNvPr id="24" name="Text 19"/>
          <p:cNvSpPr/>
          <p:nvPr/>
        </p:nvSpPr>
        <p:spPr>
          <a:xfrm>
            <a:off x="4700016"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Executive KPI dashboards embedded in JH platform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performance and drift monitoring views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client-facing risk score explorer (banker tool)</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Anomaly alert investigation and triage interface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Self-serve analytics surface for business stakeholders</a:t>
            </a:r>
            <a:endParaRPr lang="en-US" sz="950" dirty="0"/>
          </a:p>
        </p:txBody>
      </p:sp>
      <p:sp>
        <p:nvSpPr>
          <p:cNvPr id="25" name="Shape 20"/>
          <p:cNvSpPr/>
          <p:nvPr/>
        </p:nvSpPr>
        <p:spPr>
          <a:xfrm>
            <a:off x="6784848"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6784848" y="749808"/>
            <a:ext cx="2048256" cy="475488"/>
          </a:xfrm>
          <a:prstGeom prst="rect">
            <a:avLst/>
          </a:prstGeom>
          <a:solidFill>
            <a:srgbClr val="575A5D"/>
          </a:solidFill>
          <a:ln w="12700">
            <a:solidFill>
              <a:srgbClr val="575A5D"/>
            </a:solidFill>
            <a:prstDash val="solid"/>
          </a:ln>
        </p:spPr>
      </p:sp>
      <p:pic>
        <p:nvPicPr>
          <p:cNvPr id="27" name="Image 3" descr="preencoded.png">    </p:cNvPr>
          <p:cNvPicPr>
            <a:picLocks noChangeAspect="1"/>
          </p:cNvPicPr>
          <p:nvPr/>
        </p:nvPicPr>
        <p:blipFill>
          <a:blip r:embed="rId4"/>
          <a:stretch>
            <a:fillRect/>
          </a:stretch>
        </p:blipFill>
        <p:spPr>
          <a:xfrm>
            <a:off x="7607808" y="795528"/>
            <a:ext cx="384048" cy="384048"/>
          </a:xfrm>
          <a:prstGeom prst="rect">
            <a:avLst/>
          </a:prstGeom>
        </p:spPr>
      </p:pic>
      <p:sp>
        <p:nvSpPr>
          <p:cNvPr id="28" name="Text 22"/>
          <p:cNvSpPr/>
          <p:nvPr/>
        </p:nvSpPr>
        <p:spPr>
          <a:xfrm>
            <a:off x="6839712"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575A5D"/>
                </a:solidFill>
                <a:latin typeface="Calibri" pitchFamily="34" charset="0"/>
                <a:ea typeface="Calibri" pitchFamily="34" charset="-122"/>
                <a:cs typeface="Calibri" pitchFamily="34" charset="-120"/>
              </a:rPr>
              <a:t>THE INTERFACE</a:t>
            </a:r>
            <a:endParaRPr lang="en-US" sz="750" dirty="0"/>
          </a:p>
        </p:txBody>
      </p:sp>
      <p:sp>
        <p:nvSpPr>
          <p:cNvPr id="29" name="Text 23"/>
          <p:cNvSpPr/>
          <p:nvPr/>
        </p:nvSpPr>
        <p:spPr>
          <a:xfrm>
            <a:off x="6839712"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App / API Development</a:t>
            </a:r>
            <a:endParaRPr lang="en-US" sz="1350" dirty="0"/>
          </a:p>
        </p:txBody>
      </p:sp>
      <p:sp>
        <p:nvSpPr>
          <p:cNvPr id="30" name="Shape 24"/>
          <p:cNvSpPr/>
          <p:nvPr/>
        </p:nvSpPr>
        <p:spPr>
          <a:xfrm>
            <a:off x="7287768" y="1975104"/>
            <a:ext cx="1024128" cy="36576"/>
          </a:xfrm>
          <a:prstGeom prst="rect">
            <a:avLst/>
          </a:prstGeom>
          <a:solidFill>
            <a:srgbClr val="E7ECF0"/>
          </a:solidFill>
          <a:ln w="12700">
            <a:solidFill>
              <a:srgbClr val="E7ECF0"/>
            </a:solidFill>
            <a:prstDash val="solid"/>
          </a:ln>
        </p:spPr>
      </p:sp>
      <p:sp>
        <p:nvSpPr>
          <p:cNvPr id="31" name="Text 25"/>
          <p:cNvSpPr/>
          <p:nvPr/>
        </p:nvSpPr>
        <p:spPr>
          <a:xfrm>
            <a:off x="6876288"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Lightweight internal AI apps embedded in JH ecosystem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REST APIs distributing model scores to JH products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Banno + JH Enterprise integration for score consumption</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Alerting and workflow orchestration service layer</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Role-based access control and full audit logging</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We're Asking For: JHBI Investment</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To execute this roadmap and embed AI capabilities across the JH platform, we are requesting the following headcount and infrastructure investment:</a:t>
            </a:r>
            <a:endParaRPr lang="en-US" sz="12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70432"/>
          <a:ext cx="8412480" cy="914400"/>
        </p:xfrm>
        <a:graphic>
          <a:graphicData uri="http://schemas.openxmlformats.org/drawingml/2006/table">
            <a:tbl>
              <a:tblPr/>
              <a:tblGrid>
                <a:gridCol w="2148840"/>
                <a:gridCol w="841248"/>
                <a:gridCol w="1627632"/>
                <a:gridCol w="3794760"/>
              </a:tblGrid>
              <a:tr h="37490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FTEs</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Rationale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Acquisition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Build and maintain FI data pipelines from JH core banking systems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ML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Model training, MLOps pipeline, feature store, drift monitoring</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Applied Data Scientist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Feature engineering, SHAP explainability, model research and validation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Full-Stack / API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 / API Dev</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JH platform AI app development and model API integration layer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BI / Viz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Visualizations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Embedded analytics surfaces in JH platform and client-facing dashboards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Product Manager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All Pillars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Roadmap ownership, FI client discovery, stakeholder alignment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50" b="1" dirty="0">
                          <a:solidFill>
                            <a:srgbClr val="575A5D"/>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algn="ctr" indent="0" marL="0">
                        <a:buNone/>
                      </a:pPr>
                      <a:r>
                        <a:rPr lang="en-US" sz="1200" b="1" dirty="0">
                          <a:solidFill>
                            <a:srgbClr val="06185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r>
                        <a:rPr lang="en-US" sz="1050" i="1" dirty="0">
                          <a:solidFill>
                            <a:srgbClr val="B6BBC0"/>
                          </a:solidFill>
                          <a:latin typeface="Calibri" pitchFamily="34" charset="0"/>
                          <a:ea typeface="Calibri" pitchFamily="34" charset="-122"/>
                          <a:cs typeface="Calibri" pitchFamily="34" charset="-120"/>
                        </a:rPr>
                        <a:t>Full-time equivalents across all four investment pillars</a:t>
                      </a:r>
                      <a:endParaRPr lang="en-US" sz="10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r>
            </a:tbl>
          </a:graphicData>
        </a:graphic>
      </p:graphicFrame>
      <p:sp>
        <p:nvSpPr>
          <p:cNvPr id="6" name="Shape 3"/>
          <p:cNvSpPr/>
          <p:nvPr/>
        </p:nvSpPr>
        <p:spPr>
          <a:xfrm>
            <a:off x="365760" y="4617720"/>
            <a:ext cx="8412480" cy="402336"/>
          </a:xfrm>
          <a:prstGeom prst="rect">
            <a:avLst/>
          </a:prstGeom>
          <a:solidFill>
            <a:srgbClr val="E8F7F7"/>
          </a:solidFill>
          <a:ln w="12700">
            <a:solidFill>
              <a:srgbClr val="085CE5"/>
            </a:solidFill>
            <a:prstDash val="solid"/>
          </a:ln>
        </p:spPr>
      </p:sp>
      <p:sp>
        <p:nvSpPr>
          <p:cNvPr id="7" name="Text 4"/>
          <p:cNvSpPr/>
          <p:nvPr/>
        </p:nvSpPr>
        <p:spPr>
          <a:xfrm>
            <a:off x="502920" y="4645152"/>
            <a:ext cx="8138160" cy="347472"/>
          </a:xfrm>
          <a:prstGeom prst="rect">
            <a:avLst/>
          </a:prstGeom>
          <a:noFill/>
          <a:ln/>
        </p:spPr>
        <p:txBody>
          <a:bodyPr wrap="square" lIns="0" tIns="0" rIns="0" bIns="0" rtlCol="0" anchor="ctr"/>
          <a:lstStyle/>
          <a:p>
            <a:pPr indent="0" marL="0">
              <a:buNone/>
            </a:pPr>
            <a:r>
              <a:rPr lang="en-US" sz="1050" dirty="0">
                <a:solidFill>
                  <a:srgbClr val="06185F"/>
                </a:solidFill>
                <a:latin typeface="Calibri" pitchFamily="34" charset="0"/>
                <a:ea typeface="Calibri" pitchFamily="34" charset="-122"/>
                <a:cs typeface="Calibri" pitchFamily="34" charset="-120"/>
              </a:rPr>
              <a:t>Infrastructure ask (separate from headcount): Cloud data platform (Snowflake / Databricks), ML tooling (MLflow / SageMaker), BI licensing (Tableau / Power BI), DevOps / CI-CD environment.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Source Ingestion Roadmap — Payments First, Core &amp; Digital Next</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Phase 1 activates all JH payment rails (CPS excluded). Core banking, Banno digital, and lending data follow in Phase 2–3 once the pipeline is proven.</a:t>
            </a:r>
            <a:endParaRPr lang="en-US" sz="1000" dirty="0"/>
          </a:p>
        </p:txBody>
      </p:sp>
      <p:sp>
        <p:nvSpPr>
          <p:cNvPr id="5" name="Shape 3"/>
          <p:cNvSpPr/>
          <p:nvPr/>
        </p:nvSpPr>
        <p:spPr>
          <a:xfrm>
            <a:off x="2468880" y="1133856"/>
            <a:ext cx="1577340" cy="237744"/>
          </a:xfrm>
          <a:prstGeom prst="rect">
            <a:avLst/>
          </a:prstGeom>
          <a:solidFill>
            <a:srgbClr val="085CE5"/>
          </a:solidFill>
          <a:ln w="12700">
            <a:solidFill>
              <a:srgbClr val="085CE5"/>
            </a:solidFill>
            <a:prstDash val="solid"/>
          </a:ln>
        </p:spPr>
      </p:sp>
      <p:sp>
        <p:nvSpPr>
          <p:cNvPr id="6" name="Text 4"/>
          <p:cNvSpPr/>
          <p:nvPr/>
        </p:nvSpPr>
        <p:spPr>
          <a:xfrm>
            <a:off x="251460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All Payment Rails  (Q3–Q4 FY26)</a:t>
            </a:r>
            <a:endParaRPr lang="en-US" sz="750" dirty="0"/>
          </a:p>
        </p:txBody>
      </p:sp>
      <p:sp>
        <p:nvSpPr>
          <p:cNvPr id="7" name="Shape 5"/>
          <p:cNvSpPr/>
          <p:nvPr/>
        </p:nvSpPr>
        <p:spPr>
          <a:xfrm>
            <a:off x="4046220" y="1133856"/>
            <a:ext cx="1577340" cy="237744"/>
          </a:xfrm>
          <a:prstGeom prst="rect">
            <a:avLst/>
          </a:prstGeom>
          <a:solidFill>
            <a:srgbClr val="073FA8"/>
          </a:solidFill>
          <a:ln w="12700">
            <a:solidFill>
              <a:srgbClr val="073FA8"/>
            </a:solidFill>
            <a:prstDash val="solid"/>
          </a:ln>
        </p:spPr>
      </p:sp>
      <p:sp>
        <p:nvSpPr>
          <p:cNvPr id="8" name="Text 6"/>
          <p:cNvSpPr/>
          <p:nvPr/>
        </p:nvSpPr>
        <p:spPr>
          <a:xfrm>
            <a:off x="409194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Banking  (Q1–Q2 FY27)</a:t>
            </a:r>
            <a:endParaRPr lang="en-US" sz="750" dirty="0"/>
          </a:p>
        </p:txBody>
      </p:sp>
      <p:sp>
        <p:nvSpPr>
          <p:cNvPr id="9" name="Shape 7"/>
          <p:cNvSpPr/>
          <p:nvPr/>
        </p:nvSpPr>
        <p:spPr>
          <a:xfrm>
            <a:off x="5623560" y="1133856"/>
            <a:ext cx="3154680" cy="237744"/>
          </a:xfrm>
          <a:prstGeom prst="rect">
            <a:avLst/>
          </a:prstGeom>
          <a:solidFill>
            <a:srgbClr val="575A5D"/>
          </a:solidFill>
          <a:ln w="12700">
            <a:solidFill>
              <a:srgbClr val="575A5D"/>
            </a:solidFill>
            <a:prstDash val="solid"/>
          </a:ln>
        </p:spPr>
      </p:sp>
      <p:sp>
        <p:nvSpPr>
          <p:cNvPr id="10" name="Text 8"/>
          <p:cNvSpPr/>
          <p:nvPr/>
        </p:nvSpPr>
        <p:spPr>
          <a:xfrm>
            <a:off x="5669280" y="1133856"/>
            <a:ext cx="306324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Digital &amp; Lending  (Q3 FY27+)</a:t>
            </a:r>
            <a:endParaRPr lang="en-US" sz="750" dirty="0"/>
          </a:p>
        </p:txBody>
      </p:sp>
      <p:sp>
        <p:nvSpPr>
          <p:cNvPr id="11" name="Shape 9"/>
          <p:cNvSpPr/>
          <p:nvPr/>
        </p:nvSpPr>
        <p:spPr>
          <a:xfrm>
            <a:off x="2468880" y="1389888"/>
            <a:ext cx="6309360" cy="256032"/>
          </a:xfrm>
          <a:prstGeom prst="rect">
            <a:avLst/>
          </a:prstGeom>
          <a:solidFill>
            <a:srgbClr val="E7ECF0"/>
          </a:solidFill>
          <a:ln w="12700">
            <a:solidFill>
              <a:srgbClr val="E7ECF0"/>
            </a:solidFill>
            <a:prstDash val="solid"/>
          </a:ln>
        </p:spPr>
      </p:sp>
      <p:sp>
        <p:nvSpPr>
          <p:cNvPr id="12" name="Shape 10"/>
          <p:cNvSpPr/>
          <p:nvPr/>
        </p:nvSpPr>
        <p:spPr>
          <a:xfrm>
            <a:off x="2468880" y="1664208"/>
            <a:ext cx="788670" cy="3456432"/>
          </a:xfrm>
          <a:prstGeom prst="rect">
            <a:avLst/>
          </a:prstGeom>
          <a:solidFill>
            <a:srgbClr val="F4F6F8"/>
          </a:solidFill>
          <a:ln w="12700">
            <a:solidFill>
              <a:srgbClr val="F4F6F8"/>
            </a:solidFill>
            <a:prstDash val="solid"/>
          </a:ln>
        </p:spPr>
      </p:sp>
      <p:sp>
        <p:nvSpPr>
          <p:cNvPr id="13" name="Text 11"/>
          <p:cNvSpPr/>
          <p:nvPr/>
        </p:nvSpPr>
        <p:spPr>
          <a:xfrm>
            <a:off x="246888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468880" y="1133856"/>
            <a:ext cx="13716" cy="3986784"/>
          </a:xfrm>
          <a:prstGeom prst="rect">
            <a:avLst/>
          </a:prstGeom>
          <a:solidFill>
            <a:srgbClr val="B6BBC0"/>
          </a:solidFill>
          <a:ln w="12700">
            <a:solidFill>
              <a:srgbClr val="B6BBC0"/>
            </a:solidFill>
            <a:prstDash val="solid"/>
          </a:ln>
        </p:spPr>
      </p:sp>
      <p:sp>
        <p:nvSpPr>
          <p:cNvPr id="15" name="Text 13"/>
          <p:cNvSpPr/>
          <p:nvPr/>
        </p:nvSpPr>
        <p:spPr>
          <a:xfrm>
            <a:off x="325755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57550" y="1133856"/>
            <a:ext cx="13716" cy="3986784"/>
          </a:xfrm>
          <a:prstGeom prst="rect">
            <a:avLst/>
          </a:prstGeom>
          <a:solidFill>
            <a:srgbClr val="B6BBC0"/>
          </a:solidFill>
          <a:ln w="12700">
            <a:solidFill>
              <a:srgbClr val="B6BBC0"/>
            </a:solidFill>
            <a:prstDash val="solid"/>
          </a:ln>
        </p:spPr>
      </p:sp>
      <p:sp>
        <p:nvSpPr>
          <p:cNvPr id="17" name="Shape 15"/>
          <p:cNvSpPr/>
          <p:nvPr/>
        </p:nvSpPr>
        <p:spPr>
          <a:xfrm>
            <a:off x="4046220" y="1664208"/>
            <a:ext cx="788670" cy="3456432"/>
          </a:xfrm>
          <a:prstGeom prst="rect">
            <a:avLst/>
          </a:prstGeom>
          <a:solidFill>
            <a:srgbClr val="F4F6F8"/>
          </a:solidFill>
          <a:ln w="12700">
            <a:solidFill>
              <a:srgbClr val="F4F6F8"/>
            </a:solidFill>
            <a:prstDash val="solid"/>
          </a:ln>
        </p:spPr>
      </p:sp>
      <p:sp>
        <p:nvSpPr>
          <p:cNvPr id="18" name="Text 16"/>
          <p:cNvSpPr/>
          <p:nvPr/>
        </p:nvSpPr>
        <p:spPr>
          <a:xfrm>
            <a:off x="404622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46220" y="1133856"/>
            <a:ext cx="13716" cy="3986784"/>
          </a:xfrm>
          <a:prstGeom prst="rect">
            <a:avLst/>
          </a:prstGeom>
          <a:solidFill>
            <a:srgbClr val="B6BBC0"/>
          </a:solidFill>
          <a:ln w="12700">
            <a:solidFill>
              <a:srgbClr val="B6BBC0"/>
            </a:solidFill>
            <a:prstDash val="solid"/>
          </a:ln>
        </p:spPr>
      </p:sp>
      <p:sp>
        <p:nvSpPr>
          <p:cNvPr id="20" name="Text 18"/>
          <p:cNvSpPr/>
          <p:nvPr/>
        </p:nvSpPr>
        <p:spPr>
          <a:xfrm>
            <a:off x="483489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34890" y="1133856"/>
            <a:ext cx="13716" cy="3986784"/>
          </a:xfrm>
          <a:prstGeom prst="rect">
            <a:avLst/>
          </a:prstGeom>
          <a:solidFill>
            <a:srgbClr val="B6BBC0"/>
          </a:solidFill>
          <a:ln w="12700">
            <a:solidFill>
              <a:srgbClr val="B6BBC0"/>
            </a:solidFill>
            <a:prstDash val="solid"/>
          </a:ln>
        </p:spPr>
      </p:sp>
      <p:sp>
        <p:nvSpPr>
          <p:cNvPr id="22" name="Shape 20"/>
          <p:cNvSpPr/>
          <p:nvPr/>
        </p:nvSpPr>
        <p:spPr>
          <a:xfrm>
            <a:off x="5623560" y="1664208"/>
            <a:ext cx="788670" cy="3456432"/>
          </a:xfrm>
          <a:prstGeom prst="rect">
            <a:avLst/>
          </a:prstGeom>
          <a:solidFill>
            <a:srgbClr val="F4F6F8"/>
          </a:solidFill>
          <a:ln w="12700">
            <a:solidFill>
              <a:srgbClr val="F4F6F8"/>
            </a:solidFill>
            <a:prstDash val="solid"/>
          </a:ln>
        </p:spPr>
      </p:sp>
      <p:sp>
        <p:nvSpPr>
          <p:cNvPr id="23" name="Text 21"/>
          <p:cNvSpPr/>
          <p:nvPr/>
        </p:nvSpPr>
        <p:spPr>
          <a:xfrm>
            <a:off x="562356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23560" y="1133856"/>
            <a:ext cx="13716" cy="3986784"/>
          </a:xfrm>
          <a:prstGeom prst="rect">
            <a:avLst/>
          </a:prstGeom>
          <a:solidFill>
            <a:srgbClr val="B6BBC0"/>
          </a:solidFill>
          <a:ln w="12700">
            <a:solidFill>
              <a:srgbClr val="B6BBC0"/>
            </a:solidFill>
            <a:prstDash val="solid"/>
          </a:ln>
        </p:spPr>
      </p:sp>
      <p:sp>
        <p:nvSpPr>
          <p:cNvPr id="25" name="Text 23"/>
          <p:cNvSpPr/>
          <p:nvPr/>
        </p:nvSpPr>
        <p:spPr>
          <a:xfrm>
            <a:off x="641223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12230" y="1133856"/>
            <a:ext cx="13716" cy="3986784"/>
          </a:xfrm>
          <a:prstGeom prst="rect">
            <a:avLst/>
          </a:prstGeom>
          <a:solidFill>
            <a:srgbClr val="B6BBC0"/>
          </a:solidFill>
          <a:ln w="12700">
            <a:solidFill>
              <a:srgbClr val="B6BBC0"/>
            </a:solidFill>
            <a:prstDash val="solid"/>
          </a:ln>
        </p:spPr>
      </p:sp>
      <p:sp>
        <p:nvSpPr>
          <p:cNvPr id="27" name="Shape 25"/>
          <p:cNvSpPr/>
          <p:nvPr/>
        </p:nvSpPr>
        <p:spPr>
          <a:xfrm>
            <a:off x="7200900" y="1664208"/>
            <a:ext cx="788670" cy="3456432"/>
          </a:xfrm>
          <a:prstGeom prst="rect">
            <a:avLst/>
          </a:prstGeom>
          <a:solidFill>
            <a:srgbClr val="F4F6F8"/>
          </a:solidFill>
          <a:ln w="12700">
            <a:solidFill>
              <a:srgbClr val="F4F6F8"/>
            </a:solidFill>
            <a:prstDash val="solid"/>
          </a:ln>
        </p:spPr>
      </p:sp>
      <p:sp>
        <p:nvSpPr>
          <p:cNvPr id="28" name="Text 26"/>
          <p:cNvSpPr/>
          <p:nvPr/>
        </p:nvSpPr>
        <p:spPr>
          <a:xfrm>
            <a:off x="720090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00900" y="1133856"/>
            <a:ext cx="13716" cy="3986784"/>
          </a:xfrm>
          <a:prstGeom prst="rect">
            <a:avLst/>
          </a:prstGeom>
          <a:solidFill>
            <a:srgbClr val="B6BBC0"/>
          </a:solidFill>
          <a:ln w="12700">
            <a:solidFill>
              <a:srgbClr val="B6BBC0"/>
            </a:solidFill>
            <a:prstDash val="solid"/>
          </a:ln>
        </p:spPr>
      </p:sp>
      <p:sp>
        <p:nvSpPr>
          <p:cNvPr id="30" name="Text 28"/>
          <p:cNvSpPr/>
          <p:nvPr/>
        </p:nvSpPr>
        <p:spPr>
          <a:xfrm>
            <a:off x="798957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89570" y="1133856"/>
            <a:ext cx="13716" cy="3986784"/>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56616"/>
          </a:xfrm>
          <a:prstGeom prst="rect">
            <a:avLst/>
          </a:prstGeom>
          <a:solidFill>
            <a:srgbClr val="FFFFFF"/>
          </a:solidFill>
          <a:ln w="12700">
            <a:solidFill>
              <a:srgbClr val="E7ECF0"/>
            </a:solidFill>
            <a:prstDash val="solid"/>
          </a:ln>
        </p:spPr>
      </p:sp>
      <p:sp>
        <p:nvSpPr>
          <p:cNvPr id="33" name="Shape 31"/>
          <p:cNvSpPr/>
          <p:nvPr/>
        </p:nvSpPr>
        <p:spPr>
          <a:xfrm>
            <a:off x="274320" y="1664208"/>
            <a:ext cx="54864" cy="356616"/>
          </a:xfrm>
          <a:prstGeom prst="rect">
            <a:avLst/>
          </a:prstGeom>
          <a:solidFill>
            <a:srgbClr val="085CE5"/>
          </a:solidFill>
          <a:ln w="12700">
            <a:solidFill>
              <a:srgbClr val="085CE5"/>
            </a:solidFill>
            <a:prstDash val="solid"/>
          </a:ln>
        </p:spPr>
      </p:sp>
      <p:sp>
        <p:nvSpPr>
          <p:cNvPr id="34" name="Text 32"/>
          <p:cNvSpPr/>
          <p:nvPr/>
        </p:nvSpPr>
        <p:spPr>
          <a:xfrm>
            <a:off x="384048" y="169164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ACH / EPS</a:t>
            </a:r>
            <a:endParaRPr lang="en-US" sz="850" dirty="0"/>
          </a:p>
        </p:txBody>
      </p:sp>
      <p:sp>
        <p:nvSpPr>
          <p:cNvPr id="35" name="Text 33"/>
          <p:cNvSpPr/>
          <p:nvPr/>
        </p:nvSpPr>
        <p:spPr>
          <a:xfrm>
            <a:off x="384048" y="188366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credits, debits, RDC</a:t>
            </a:r>
            <a:endParaRPr lang="en-US" sz="750" dirty="0"/>
          </a:p>
        </p:txBody>
      </p:sp>
      <p:sp>
        <p:nvSpPr>
          <p:cNvPr id="36" name="Shape 34"/>
          <p:cNvSpPr/>
          <p:nvPr/>
        </p:nvSpPr>
        <p:spPr>
          <a:xfrm>
            <a:off x="2505456" y="1737360"/>
            <a:ext cx="1504188" cy="182880"/>
          </a:xfrm>
          <a:prstGeom prst="rect">
            <a:avLst/>
          </a:prstGeom>
          <a:solidFill>
            <a:srgbClr val="085CE5"/>
          </a:solidFill>
          <a:ln w="12700">
            <a:solidFill>
              <a:srgbClr val="085CE5"/>
            </a:solidFill>
            <a:prstDash val="solid"/>
          </a:ln>
        </p:spPr>
      </p:sp>
      <p:sp>
        <p:nvSpPr>
          <p:cNvPr id="37" name="Text 35"/>
          <p:cNvSpPr/>
          <p:nvPr/>
        </p:nvSpPr>
        <p:spPr>
          <a:xfrm>
            <a:off x="2569464" y="173736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a:t>
            </a:r>
            <a:endParaRPr lang="en-US" sz="750" dirty="0"/>
          </a:p>
        </p:txBody>
      </p:sp>
      <p:sp>
        <p:nvSpPr>
          <p:cNvPr id="38" name="Shape 36"/>
          <p:cNvSpPr/>
          <p:nvPr/>
        </p:nvSpPr>
        <p:spPr>
          <a:xfrm>
            <a:off x="274320" y="2048256"/>
            <a:ext cx="8503920" cy="356616"/>
          </a:xfrm>
          <a:prstGeom prst="rect">
            <a:avLst/>
          </a:prstGeom>
          <a:solidFill>
            <a:srgbClr val="F8F9FA"/>
          </a:solidFill>
          <a:ln w="12700">
            <a:solidFill>
              <a:srgbClr val="E7ECF0"/>
            </a:solidFill>
            <a:prstDash val="solid"/>
          </a:ln>
        </p:spPr>
      </p:sp>
      <p:sp>
        <p:nvSpPr>
          <p:cNvPr id="39" name="Shape 37"/>
          <p:cNvSpPr/>
          <p:nvPr/>
        </p:nvSpPr>
        <p:spPr>
          <a:xfrm>
            <a:off x="274320" y="2048256"/>
            <a:ext cx="54864" cy="356616"/>
          </a:xfrm>
          <a:prstGeom prst="rect">
            <a:avLst/>
          </a:prstGeom>
          <a:solidFill>
            <a:srgbClr val="085CE5"/>
          </a:solidFill>
          <a:ln w="12700">
            <a:solidFill>
              <a:srgbClr val="085CE5"/>
            </a:solidFill>
            <a:prstDash val="solid"/>
          </a:ln>
        </p:spPr>
      </p:sp>
      <p:sp>
        <p:nvSpPr>
          <p:cNvPr id="40" name="Text 38"/>
          <p:cNvSpPr/>
          <p:nvPr/>
        </p:nvSpPr>
        <p:spPr>
          <a:xfrm>
            <a:off x="384048" y="207568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 JHA PayCenter</a:t>
            </a:r>
            <a:endParaRPr lang="en-US" sz="850" dirty="0"/>
          </a:p>
        </p:txBody>
      </p:sp>
      <p:sp>
        <p:nvSpPr>
          <p:cNvPr id="41" name="Text 39"/>
          <p:cNvSpPr/>
          <p:nvPr/>
        </p:nvSpPr>
        <p:spPr>
          <a:xfrm>
            <a:off x="384048" y="226771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P2P, Zelle, RTP, FedNow</a:t>
            </a:r>
            <a:endParaRPr lang="en-US" sz="750" dirty="0"/>
          </a:p>
        </p:txBody>
      </p:sp>
      <p:sp>
        <p:nvSpPr>
          <p:cNvPr id="42" name="Shape 40"/>
          <p:cNvSpPr/>
          <p:nvPr/>
        </p:nvSpPr>
        <p:spPr>
          <a:xfrm>
            <a:off x="2505456" y="2121408"/>
            <a:ext cx="1504188" cy="182880"/>
          </a:xfrm>
          <a:prstGeom prst="rect">
            <a:avLst/>
          </a:prstGeom>
          <a:solidFill>
            <a:srgbClr val="085CE5"/>
          </a:solidFill>
          <a:ln w="12700">
            <a:solidFill>
              <a:srgbClr val="085CE5"/>
            </a:solidFill>
            <a:prstDash val="solid"/>
          </a:ln>
        </p:spPr>
      </p:sp>
      <p:sp>
        <p:nvSpPr>
          <p:cNvPr id="43" name="Text 41"/>
          <p:cNvSpPr/>
          <p:nvPr/>
        </p:nvSpPr>
        <p:spPr>
          <a:xfrm>
            <a:off x="2569464" y="212140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Zelle Memo Intelligence · Anomaly</a:t>
            </a:r>
            <a:endParaRPr lang="en-US" sz="750" dirty="0"/>
          </a:p>
        </p:txBody>
      </p:sp>
      <p:sp>
        <p:nvSpPr>
          <p:cNvPr id="44" name="Shape 42"/>
          <p:cNvSpPr/>
          <p:nvPr/>
        </p:nvSpPr>
        <p:spPr>
          <a:xfrm>
            <a:off x="274320" y="2432304"/>
            <a:ext cx="8503920" cy="356616"/>
          </a:xfrm>
          <a:prstGeom prst="rect">
            <a:avLst/>
          </a:prstGeom>
          <a:solidFill>
            <a:srgbClr val="FFFFFF"/>
          </a:solidFill>
          <a:ln w="12700">
            <a:solidFill>
              <a:srgbClr val="E7ECF0"/>
            </a:solidFill>
            <a:prstDash val="solid"/>
          </a:ln>
        </p:spPr>
      </p:sp>
      <p:sp>
        <p:nvSpPr>
          <p:cNvPr id="45" name="Shape 43"/>
          <p:cNvSpPr/>
          <p:nvPr/>
        </p:nvSpPr>
        <p:spPr>
          <a:xfrm>
            <a:off x="274320" y="2432304"/>
            <a:ext cx="54864" cy="356616"/>
          </a:xfrm>
          <a:prstGeom prst="rect">
            <a:avLst/>
          </a:prstGeom>
          <a:solidFill>
            <a:srgbClr val="085CE5"/>
          </a:solidFill>
          <a:ln w="12700">
            <a:solidFill>
              <a:srgbClr val="085CE5"/>
            </a:solidFill>
            <a:prstDash val="solid"/>
          </a:ln>
        </p:spPr>
      </p:sp>
      <p:sp>
        <p:nvSpPr>
          <p:cNvPr id="46" name="Text 44"/>
          <p:cNvSpPr/>
          <p:nvPr/>
        </p:nvSpPr>
        <p:spPr>
          <a:xfrm>
            <a:off x="384048" y="245973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Jack Henry Wires</a:t>
            </a:r>
            <a:endParaRPr lang="en-US" sz="850" dirty="0"/>
          </a:p>
        </p:txBody>
      </p:sp>
      <p:sp>
        <p:nvSpPr>
          <p:cNvPr id="47" name="Text 45"/>
          <p:cNvSpPr/>
          <p:nvPr/>
        </p:nvSpPr>
        <p:spPr>
          <a:xfrm>
            <a:off x="384048" y="265176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Domestic FedWire + Intl</a:t>
            </a:r>
            <a:endParaRPr lang="en-US" sz="750" dirty="0"/>
          </a:p>
        </p:txBody>
      </p:sp>
      <p:sp>
        <p:nvSpPr>
          <p:cNvPr id="48" name="Shape 46"/>
          <p:cNvSpPr/>
          <p:nvPr/>
        </p:nvSpPr>
        <p:spPr>
          <a:xfrm>
            <a:off x="2505456" y="2505456"/>
            <a:ext cx="1504188" cy="182880"/>
          </a:xfrm>
          <a:prstGeom prst="rect">
            <a:avLst/>
          </a:prstGeom>
          <a:solidFill>
            <a:srgbClr val="085CE5"/>
          </a:solidFill>
          <a:ln w="12700">
            <a:solidFill>
              <a:srgbClr val="085CE5"/>
            </a:solidFill>
            <a:prstDash val="solid"/>
          </a:ln>
        </p:spPr>
      </p:sp>
      <p:sp>
        <p:nvSpPr>
          <p:cNvPr id="49" name="Text 47"/>
          <p:cNvSpPr/>
          <p:nvPr/>
        </p:nvSpPr>
        <p:spPr>
          <a:xfrm>
            <a:off x="2569464" y="250545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 (wire fraud)</a:t>
            </a:r>
            <a:endParaRPr lang="en-US" sz="750" dirty="0"/>
          </a:p>
        </p:txBody>
      </p:sp>
      <p:sp>
        <p:nvSpPr>
          <p:cNvPr id="50" name="Shape 48"/>
          <p:cNvSpPr/>
          <p:nvPr/>
        </p:nvSpPr>
        <p:spPr>
          <a:xfrm>
            <a:off x="274320" y="2816352"/>
            <a:ext cx="8503920" cy="356616"/>
          </a:xfrm>
          <a:prstGeom prst="rect">
            <a:avLst/>
          </a:prstGeom>
          <a:solidFill>
            <a:srgbClr val="F8F9FA"/>
          </a:solidFill>
          <a:ln w="12700">
            <a:solidFill>
              <a:srgbClr val="E7ECF0"/>
            </a:solidFill>
            <a:prstDash val="solid"/>
          </a:ln>
        </p:spPr>
      </p:sp>
      <p:sp>
        <p:nvSpPr>
          <p:cNvPr id="51" name="Shape 49"/>
          <p:cNvSpPr/>
          <p:nvPr/>
        </p:nvSpPr>
        <p:spPr>
          <a:xfrm>
            <a:off x="274320" y="2816352"/>
            <a:ext cx="54864" cy="356616"/>
          </a:xfrm>
          <a:prstGeom prst="rect">
            <a:avLst/>
          </a:prstGeom>
          <a:solidFill>
            <a:srgbClr val="085CE5"/>
          </a:solidFill>
          <a:ln w="12700">
            <a:solidFill>
              <a:srgbClr val="085CE5"/>
            </a:solidFill>
            <a:prstDash val="solid"/>
          </a:ln>
        </p:spPr>
      </p:sp>
      <p:sp>
        <p:nvSpPr>
          <p:cNvPr id="52" name="Text 50"/>
          <p:cNvSpPr/>
          <p:nvPr/>
        </p:nvSpPr>
        <p:spPr>
          <a:xfrm>
            <a:off x="384048" y="284378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iPay Bill Pay</a:t>
            </a:r>
            <a:endParaRPr lang="en-US" sz="850" dirty="0"/>
          </a:p>
        </p:txBody>
      </p:sp>
      <p:sp>
        <p:nvSpPr>
          <p:cNvPr id="53" name="Text 51"/>
          <p:cNvSpPr/>
          <p:nvPr/>
        </p:nvSpPr>
        <p:spPr>
          <a:xfrm>
            <a:off x="384048" y="303580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Consumer + Business bill pay</a:t>
            </a:r>
            <a:endParaRPr lang="en-US" sz="750" dirty="0"/>
          </a:p>
        </p:txBody>
      </p:sp>
      <p:sp>
        <p:nvSpPr>
          <p:cNvPr id="54" name="Shape 52"/>
          <p:cNvSpPr/>
          <p:nvPr/>
        </p:nvSpPr>
        <p:spPr>
          <a:xfrm>
            <a:off x="2505456" y="2889504"/>
            <a:ext cx="1504188" cy="182880"/>
          </a:xfrm>
          <a:prstGeom prst="rect">
            <a:avLst/>
          </a:prstGeom>
          <a:solidFill>
            <a:srgbClr val="085CE5"/>
          </a:solidFill>
          <a:ln w="12700">
            <a:solidFill>
              <a:srgbClr val="085CE5"/>
            </a:solidFill>
            <a:prstDash val="solid"/>
          </a:ln>
        </p:spPr>
      </p:sp>
      <p:sp>
        <p:nvSpPr>
          <p:cNvPr id="55" name="Text 53"/>
          <p:cNvSpPr/>
          <p:nvPr/>
        </p:nvSpPr>
        <p:spPr>
          <a:xfrm>
            <a:off x="2569464" y="2889504"/>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Cross-Sell Propensity</a:t>
            </a:r>
            <a:endParaRPr lang="en-US" sz="750" dirty="0"/>
          </a:p>
        </p:txBody>
      </p:sp>
      <p:sp>
        <p:nvSpPr>
          <p:cNvPr id="56" name="Shape 54"/>
          <p:cNvSpPr/>
          <p:nvPr/>
        </p:nvSpPr>
        <p:spPr>
          <a:xfrm>
            <a:off x="274320" y="3200400"/>
            <a:ext cx="8503920" cy="356616"/>
          </a:xfrm>
          <a:prstGeom prst="rect">
            <a:avLst/>
          </a:prstGeom>
          <a:solidFill>
            <a:srgbClr val="FFFFFF"/>
          </a:solidFill>
          <a:ln w="12700">
            <a:solidFill>
              <a:srgbClr val="E7ECF0"/>
            </a:solidFill>
            <a:prstDash val="solid"/>
          </a:ln>
        </p:spPr>
      </p:sp>
      <p:sp>
        <p:nvSpPr>
          <p:cNvPr id="57" name="Shape 55"/>
          <p:cNvSpPr/>
          <p:nvPr/>
        </p:nvSpPr>
        <p:spPr>
          <a:xfrm>
            <a:off x="274320" y="3200400"/>
            <a:ext cx="54864" cy="356616"/>
          </a:xfrm>
          <a:prstGeom prst="rect">
            <a:avLst/>
          </a:prstGeom>
          <a:solidFill>
            <a:srgbClr val="085CE5"/>
          </a:solidFill>
          <a:ln w="12700">
            <a:solidFill>
              <a:srgbClr val="085CE5"/>
            </a:solidFill>
            <a:prstDash val="solid"/>
          </a:ln>
        </p:spPr>
      </p:sp>
      <p:sp>
        <p:nvSpPr>
          <p:cNvPr id="58" name="Text 56"/>
          <p:cNvSpPr/>
          <p:nvPr/>
        </p:nvSpPr>
        <p:spPr>
          <a:xfrm>
            <a:off x="384048" y="3227832"/>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JHA SmartPay / Biz Payments</a:t>
            </a:r>
            <a:endParaRPr lang="en-US" sz="850" dirty="0"/>
          </a:p>
        </p:txBody>
      </p:sp>
      <p:sp>
        <p:nvSpPr>
          <p:cNvPr id="59" name="Text 57"/>
          <p:cNvSpPr/>
          <p:nvPr/>
        </p:nvSpPr>
        <p:spPr>
          <a:xfrm>
            <a:off x="384048" y="3419856"/>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B2B ACH, vendor, remittance</a:t>
            </a:r>
            <a:endParaRPr lang="en-US" sz="750" dirty="0"/>
          </a:p>
        </p:txBody>
      </p:sp>
      <p:sp>
        <p:nvSpPr>
          <p:cNvPr id="60" name="Shape 58"/>
          <p:cNvSpPr/>
          <p:nvPr/>
        </p:nvSpPr>
        <p:spPr>
          <a:xfrm>
            <a:off x="2505456" y="3273552"/>
            <a:ext cx="1504188" cy="182880"/>
          </a:xfrm>
          <a:prstGeom prst="rect">
            <a:avLst/>
          </a:prstGeom>
          <a:solidFill>
            <a:srgbClr val="085CE5"/>
          </a:solidFill>
          <a:ln w="12700">
            <a:solidFill>
              <a:srgbClr val="085CE5"/>
            </a:solidFill>
            <a:prstDash val="solid"/>
          </a:ln>
        </p:spPr>
      </p:sp>
      <p:sp>
        <p:nvSpPr>
          <p:cNvPr id="61" name="Text 59"/>
          <p:cNvSpPr/>
          <p:nvPr/>
        </p:nvSpPr>
        <p:spPr>
          <a:xfrm>
            <a:off x="2569464" y="3273552"/>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Overdraft Prediction</a:t>
            </a:r>
            <a:endParaRPr lang="en-US" sz="750" dirty="0"/>
          </a:p>
        </p:txBody>
      </p:sp>
      <p:sp>
        <p:nvSpPr>
          <p:cNvPr id="62" name="Shape 60"/>
          <p:cNvSpPr/>
          <p:nvPr/>
        </p:nvSpPr>
        <p:spPr>
          <a:xfrm>
            <a:off x="274320" y="3584448"/>
            <a:ext cx="8503920" cy="356616"/>
          </a:xfrm>
          <a:prstGeom prst="rect">
            <a:avLst/>
          </a:prstGeom>
          <a:solidFill>
            <a:srgbClr val="F8F9FA"/>
          </a:solidFill>
          <a:ln w="12700">
            <a:solidFill>
              <a:srgbClr val="E7ECF0"/>
            </a:solidFill>
            <a:prstDash val="solid"/>
          </a:ln>
        </p:spPr>
      </p:sp>
      <p:sp>
        <p:nvSpPr>
          <p:cNvPr id="63" name="Shape 61"/>
          <p:cNvSpPr/>
          <p:nvPr/>
        </p:nvSpPr>
        <p:spPr>
          <a:xfrm>
            <a:off x="274320" y="3584448"/>
            <a:ext cx="54864" cy="356616"/>
          </a:xfrm>
          <a:prstGeom prst="rect">
            <a:avLst/>
          </a:prstGeom>
          <a:solidFill>
            <a:srgbClr val="085CE5"/>
          </a:solidFill>
          <a:ln w="12700">
            <a:solidFill>
              <a:srgbClr val="085CE5"/>
            </a:solidFill>
            <a:prstDash val="solid"/>
          </a:ln>
        </p:spPr>
      </p:sp>
      <p:sp>
        <p:nvSpPr>
          <p:cNvPr id="64" name="Text 62"/>
          <p:cNvSpPr/>
          <p:nvPr/>
        </p:nvSpPr>
        <p:spPr>
          <a:xfrm>
            <a:off x="384048" y="361188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Payrailz (P2P / A2A)</a:t>
            </a:r>
            <a:endParaRPr lang="en-US" sz="850" dirty="0"/>
          </a:p>
        </p:txBody>
      </p:sp>
      <p:sp>
        <p:nvSpPr>
          <p:cNvPr id="65" name="Text 63"/>
          <p:cNvSpPr/>
          <p:nvPr/>
        </p:nvSpPr>
        <p:spPr>
          <a:xfrm>
            <a:off x="384048" y="380390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Pay a Person, Transfer Money</a:t>
            </a:r>
            <a:endParaRPr lang="en-US" sz="750" dirty="0"/>
          </a:p>
        </p:txBody>
      </p:sp>
      <p:sp>
        <p:nvSpPr>
          <p:cNvPr id="66" name="Shape 64"/>
          <p:cNvSpPr/>
          <p:nvPr/>
        </p:nvSpPr>
        <p:spPr>
          <a:xfrm>
            <a:off x="2505456" y="3657600"/>
            <a:ext cx="1504188" cy="182880"/>
          </a:xfrm>
          <a:prstGeom prst="rect">
            <a:avLst/>
          </a:prstGeom>
          <a:solidFill>
            <a:srgbClr val="085CE5"/>
          </a:solidFill>
          <a:ln w="12700">
            <a:solidFill>
              <a:srgbClr val="085CE5"/>
            </a:solidFill>
            <a:prstDash val="solid"/>
          </a:ln>
        </p:spPr>
      </p:sp>
      <p:sp>
        <p:nvSpPr>
          <p:cNvPr id="67" name="Text 65"/>
          <p:cNvSpPr/>
          <p:nvPr/>
        </p:nvSpPr>
        <p:spPr>
          <a:xfrm>
            <a:off x="2569464" y="365760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Fraud Ring Detection</a:t>
            </a:r>
            <a:endParaRPr lang="en-US" sz="750" dirty="0"/>
          </a:p>
        </p:txBody>
      </p:sp>
      <p:sp>
        <p:nvSpPr>
          <p:cNvPr id="68" name="Shape 66"/>
          <p:cNvSpPr/>
          <p:nvPr/>
        </p:nvSpPr>
        <p:spPr>
          <a:xfrm>
            <a:off x="274320" y="3968496"/>
            <a:ext cx="8503920" cy="356616"/>
          </a:xfrm>
          <a:prstGeom prst="rect">
            <a:avLst/>
          </a:prstGeom>
          <a:solidFill>
            <a:srgbClr val="FFFFFF"/>
          </a:solidFill>
          <a:ln w="12700">
            <a:solidFill>
              <a:srgbClr val="E7ECF0"/>
            </a:solidFill>
            <a:prstDash val="solid"/>
          </a:ln>
        </p:spPr>
      </p:sp>
      <p:sp>
        <p:nvSpPr>
          <p:cNvPr id="69" name="Shape 67"/>
          <p:cNvSpPr/>
          <p:nvPr/>
        </p:nvSpPr>
        <p:spPr>
          <a:xfrm>
            <a:off x="274320" y="3968496"/>
            <a:ext cx="54864" cy="356616"/>
          </a:xfrm>
          <a:prstGeom prst="rect">
            <a:avLst/>
          </a:prstGeom>
          <a:solidFill>
            <a:srgbClr val="073FA8"/>
          </a:solidFill>
          <a:ln w="12700">
            <a:solidFill>
              <a:srgbClr val="073FA8"/>
            </a:solidFill>
            <a:prstDash val="solid"/>
          </a:ln>
        </p:spPr>
      </p:sp>
      <p:sp>
        <p:nvSpPr>
          <p:cNvPr id="70" name="Text 68"/>
          <p:cNvSpPr/>
          <p:nvPr/>
        </p:nvSpPr>
        <p:spPr>
          <a:xfrm>
            <a:off x="384048" y="399592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Core Banking (jhaEnterprise / Symitar)</a:t>
            </a:r>
            <a:endParaRPr lang="en-US" sz="850" dirty="0"/>
          </a:p>
        </p:txBody>
      </p:sp>
      <p:sp>
        <p:nvSpPr>
          <p:cNvPr id="71" name="Text 69"/>
          <p:cNvSpPr/>
          <p:nvPr/>
        </p:nvSpPr>
        <p:spPr>
          <a:xfrm>
            <a:off x="384048" y="418795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txns, deposits, loans</a:t>
            </a:r>
            <a:endParaRPr lang="en-US" sz="750" dirty="0"/>
          </a:p>
        </p:txBody>
      </p:sp>
      <p:sp>
        <p:nvSpPr>
          <p:cNvPr id="72" name="Shape 70"/>
          <p:cNvSpPr/>
          <p:nvPr/>
        </p:nvSpPr>
        <p:spPr>
          <a:xfrm>
            <a:off x="4082796" y="4041648"/>
            <a:ext cx="1504188" cy="182880"/>
          </a:xfrm>
          <a:prstGeom prst="rect">
            <a:avLst/>
          </a:prstGeom>
          <a:solidFill>
            <a:srgbClr val="073FA8"/>
          </a:solidFill>
          <a:ln w="12700">
            <a:solidFill>
              <a:srgbClr val="073FA8"/>
            </a:solidFill>
            <a:prstDash val="solid"/>
          </a:ln>
        </p:spPr>
      </p:sp>
      <p:sp>
        <p:nvSpPr>
          <p:cNvPr id="73" name="Text 71"/>
          <p:cNvSpPr/>
          <p:nvPr/>
        </p:nvSpPr>
        <p:spPr>
          <a:xfrm>
            <a:off x="4146804" y="404164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Churn Mediation · Acct Opening LTV · CommercialSignal · Wealth Deflection</a:t>
            </a:r>
            <a:endParaRPr lang="en-US" sz="750" dirty="0"/>
          </a:p>
        </p:txBody>
      </p:sp>
      <p:sp>
        <p:nvSpPr>
          <p:cNvPr id="74" name="Shape 72"/>
          <p:cNvSpPr/>
          <p:nvPr/>
        </p:nvSpPr>
        <p:spPr>
          <a:xfrm>
            <a:off x="274320" y="4352544"/>
            <a:ext cx="8503920" cy="356616"/>
          </a:xfrm>
          <a:prstGeom prst="rect">
            <a:avLst/>
          </a:prstGeom>
          <a:solidFill>
            <a:srgbClr val="F8F9FA"/>
          </a:solidFill>
          <a:ln w="12700">
            <a:solidFill>
              <a:srgbClr val="E7ECF0"/>
            </a:solidFill>
            <a:prstDash val="solid"/>
          </a:ln>
        </p:spPr>
      </p:sp>
      <p:sp>
        <p:nvSpPr>
          <p:cNvPr id="75" name="Shape 73"/>
          <p:cNvSpPr/>
          <p:nvPr/>
        </p:nvSpPr>
        <p:spPr>
          <a:xfrm>
            <a:off x="274320" y="4352544"/>
            <a:ext cx="54864" cy="356616"/>
          </a:xfrm>
          <a:prstGeom prst="rect">
            <a:avLst/>
          </a:prstGeom>
          <a:solidFill>
            <a:srgbClr val="575A5D"/>
          </a:solidFill>
          <a:ln w="12700">
            <a:solidFill>
              <a:srgbClr val="575A5D"/>
            </a:solidFill>
            <a:prstDash val="solid"/>
          </a:ln>
        </p:spPr>
      </p:sp>
      <p:sp>
        <p:nvSpPr>
          <p:cNvPr id="76" name="Text 74"/>
          <p:cNvSpPr/>
          <p:nvPr/>
        </p:nvSpPr>
        <p:spPr>
          <a:xfrm>
            <a:off x="384048" y="437997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Banno Digital + Lending</a:t>
            </a:r>
            <a:endParaRPr lang="en-US" sz="850" dirty="0"/>
          </a:p>
        </p:txBody>
      </p:sp>
      <p:sp>
        <p:nvSpPr>
          <p:cNvPr id="77" name="Text 75"/>
          <p:cNvSpPr/>
          <p:nvPr/>
        </p:nvSpPr>
        <p:spPr>
          <a:xfrm>
            <a:off x="384048" y="457200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Session behavior, loan data</a:t>
            </a:r>
            <a:endParaRPr lang="en-US" sz="750" dirty="0"/>
          </a:p>
        </p:txBody>
      </p:sp>
      <p:sp>
        <p:nvSpPr>
          <p:cNvPr id="78" name="Shape 76"/>
          <p:cNvSpPr/>
          <p:nvPr/>
        </p:nvSpPr>
        <p:spPr>
          <a:xfrm>
            <a:off x="5660136" y="4425696"/>
            <a:ext cx="2292858" cy="182880"/>
          </a:xfrm>
          <a:prstGeom prst="rect">
            <a:avLst/>
          </a:prstGeom>
          <a:solidFill>
            <a:srgbClr val="575A5D"/>
          </a:solidFill>
          <a:ln w="12700">
            <a:solidFill>
              <a:srgbClr val="575A5D"/>
            </a:solidFill>
            <a:prstDash val="solid"/>
          </a:ln>
        </p:spPr>
      </p:sp>
      <p:sp>
        <p:nvSpPr>
          <p:cNvPr id="79" name="Text 77"/>
          <p:cNvSpPr/>
          <p:nvPr/>
        </p:nvSpPr>
        <p:spPr>
          <a:xfrm>
            <a:off x="5724144" y="4425696"/>
            <a:ext cx="218313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Sentiment · Next Best Action · FI Decision Studio</a:t>
            </a:r>
            <a:endParaRPr lang="en-US" sz="750" dirty="0"/>
          </a:p>
        </p:txBody>
      </p:sp>
      <p:sp>
        <p:nvSpPr>
          <p:cNvPr id="80" name="Shape 78"/>
          <p:cNvSpPr/>
          <p:nvPr/>
        </p:nvSpPr>
        <p:spPr>
          <a:xfrm>
            <a:off x="2482596" y="1115568"/>
            <a:ext cx="36576" cy="4005072"/>
          </a:xfrm>
          <a:prstGeom prst="rect">
            <a:avLst/>
          </a:prstGeom>
          <a:solidFill>
            <a:srgbClr val="76DCFD"/>
          </a:solidFill>
          <a:ln w="12700">
            <a:solidFill>
              <a:srgbClr val="76DCFD"/>
            </a:solidFill>
            <a:prstDash val="solid"/>
          </a:ln>
        </p:spPr>
      </p:sp>
      <p:sp>
        <p:nvSpPr>
          <p:cNvPr id="81" name="Text 79"/>
          <p:cNvSpPr/>
          <p:nvPr/>
        </p:nvSpPr>
        <p:spPr>
          <a:xfrm>
            <a:off x="2359152"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Application Delivery Roadmap — Build &amp; Launch Timeline</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Eight applications sequenced across three phases. Each bar spans the active build and validation window; wider bars reflect higher integration complexity.</a:t>
            </a:r>
            <a:endParaRPr lang="en-US" sz="1000" dirty="0"/>
          </a:p>
        </p:txBody>
      </p:sp>
      <p:sp>
        <p:nvSpPr>
          <p:cNvPr id="5" name="Shape 3"/>
          <p:cNvSpPr/>
          <p:nvPr/>
        </p:nvSpPr>
        <p:spPr>
          <a:xfrm>
            <a:off x="2505456" y="1133856"/>
            <a:ext cx="1568196" cy="237744"/>
          </a:xfrm>
          <a:prstGeom prst="rect">
            <a:avLst/>
          </a:prstGeom>
          <a:solidFill>
            <a:srgbClr val="085CE5"/>
          </a:solidFill>
          <a:ln w="12700">
            <a:solidFill>
              <a:srgbClr val="085CE5"/>
            </a:solidFill>
            <a:prstDash val="solid"/>
          </a:ln>
        </p:spPr>
      </p:sp>
      <p:sp>
        <p:nvSpPr>
          <p:cNvPr id="6" name="Text 4"/>
          <p:cNvSpPr/>
          <p:nvPr/>
        </p:nvSpPr>
        <p:spPr>
          <a:xfrm>
            <a:off x="2551176" y="1133856"/>
            <a:ext cx="1476756"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Foundation  (Q3–Q4 FY26)</a:t>
            </a:r>
            <a:endParaRPr lang="en-US" sz="750" dirty="0"/>
          </a:p>
        </p:txBody>
      </p:sp>
      <p:sp>
        <p:nvSpPr>
          <p:cNvPr id="7" name="Shape 5"/>
          <p:cNvSpPr/>
          <p:nvPr/>
        </p:nvSpPr>
        <p:spPr>
          <a:xfrm>
            <a:off x="4073652" y="1133856"/>
            <a:ext cx="1568196" cy="237744"/>
          </a:xfrm>
          <a:prstGeom prst="rect">
            <a:avLst/>
          </a:prstGeom>
          <a:solidFill>
            <a:srgbClr val="073FA8"/>
          </a:solidFill>
          <a:ln w="12700">
            <a:solidFill>
              <a:srgbClr val="073FA8"/>
            </a:solidFill>
            <a:prstDash val="solid"/>
          </a:ln>
        </p:spPr>
      </p:sp>
      <p:sp>
        <p:nvSpPr>
          <p:cNvPr id="8" name="Text 6"/>
          <p:cNvSpPr/>
          <p:nvPr/>
        </p:nvSpPr>
        <p:spPr>
          <a:xfrm>
            <a:off x="4119372" y="1133856"/>
            <a:ext cx="1476756"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Applications  (Q1–Q2 FY27)</a:t>
            </a:r>
            <a:endParaRPr lang="en-US" sz="750" dirty="0"/>
          </a:p>
        </p:txBody>
      </p:sp>
      <p:sp>
        <p:nvSpPr>
          <p:cNvPr id="9" name="Shape 7"/>
          <p:cNvSpPr/>
          <p:nvPr/>
        </p:nvSpPr>
        <p:spPr>
          <a:xfrm>
            <a:off x="5641848" y="1133856"/>
            <a:ext cx="3136392" cy="237744"/>
          </a:xfrm>
          <a:prstGeom prst="rect">
            <a:avLst/>
          </a:prstGeom>
          <a:solidFill>
            <a:srgbClr val="575A5D"/>
          </a:solidFill>
          <a:ln w="12700">
            <a:solidFill>
              <a:srgbClr val="575A5D"/>
            </a:solidFill>
            <a:prstDash val="solid"/>
          </a:ln>
        </p:spPr>
      </p:sp>
      <p:sp>
        <p:nvSpPr>
          <p:cNvPr id="10" name="Text 8"/>
          <p:cNvSpPr/>
          <p:nvPr/>
        </p:nvSpPr>
        <p:spPr>
          <a:xfrm>
            <a:off x="5687568" y="1133856"/>
            <a:ext cx="3044952"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Scale &amp; Expand  (Q3 FY27+)</a:t>
            </a:r>
            <a:endParaRPr lang="en-US" sz="750" dirty="0"/>
          </a:p>
        </p:txBody>
      </p:sp>
      <p:sp>
        <p:nvSpPr>
          <p:cNvPr id="11" name="Shape 9"/>
          <p:cNvSpPr/>
          <p:nvPr/>
        </p:nvSpPr>
        <p:spPr>
          <a:xfrm>
            <a:off x="2505456" y="1389888"/>
            <a:ext cx="6272784" cy="256032"/>
          </a:xfrm>
          <a:prstGeom prst="rect">
            <a:avLst/>
          </a:prstGeom>
          <a:solidFill>
            <a:srgbClr val="E7ECF0"/>
          </a:solidFill>
          <a:ln w="12700">
            <a:solidFill>
              <a:srgbClr val="E7ECF0"/>
            </a:solidFill>
            <a:prstDash val="solid"/>
          </a:ln>
        </p:spPr>
      </p:sp>
      <p:sp>
        <p:nvSpPr>
          <p:cNvPr id="12" name="Shape 10"/>
          <p:cNvSpPr/>
          <p:nvPr/>
        </p:nvSpPr>
        <p:spPr>
          <a:xfrm>
            <a:off x="2505456" y="1664208"/>
            <a:ext cx="784098" cy="3218688"/>
          </a:xfrm>
          <a:prstGeom prst="rect">
            <a:avLst/>
          </a:prstGeom>
          <a:solidFill>
            <a:srgbClr val="F4F6F8"/>
          </a:solidFill>
          <a:ln w="12700">
            <a:solidFill>
              <a:srgbClr val="F4F6F8"/>
            </a:solidFill>
            <a:prstDash val="solid"/>
          </a:ln>
        </p:spPr>
      </p:sp>
      <p:sp>
        <p:nvSpPr>
          <p:cNvPr id="13" name="Text 11"/>
          <p:cNvSpPr/>
          <p:nvPr/>
        </p:nvSpPr>
        <p:spPr>
          <a:xfrm>
            <a:off x="2505456"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505456" y="1133856"/>
            <a:ext cx="13716" cy="3749040"/>
          </a:xfrm>
          <a:prstGeom prst="rect">
            <a:avLst/>
          </a:prstGeom>
          <a:solidFill>
            <a:srgbClr val="B6BBC0"/>
          </a:solidFill>
          <a:ln w="12700">
            <a:solidFill>
              <a:srgbClr val="B6BBC0"/>
            </a:solidFill>
            <a:prstDash val="solid"/>
          </a:ln>
        </p:spPr>
      </p:sp>
      <p:sp>
        <p:nvSpPr>
          <p:cNvPr id="15" name="Text 13"/>
          <p:cNvSpPr/>
          <p:nvPr/>
        </p:nvSpPr>
        <p:spPr>
          <a:xfrm>
            <a:off x="3289554"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89554" y="1133856"/>
            <a:ext cx="13716" cy="3749040"/>
          </a:xfrm>
          <a:prstGeom prst="rect">
            <a:avLst/>
          </a:prstGeom>
          <a:solidFill>
            <a:srgbClr val="B6BBC0"/>
          </a:solidFill>
          <a:ln w="12700">
            <a:solidFill>
              <a:srgbClr val="B6BBC0"/>
            </a:solidFill>
            <a:prstDash val="solid"/>
          </a:ln>
        </p:spPr>
      </p:sp>
      <p:sp>
        <p:nvSpPr>
          <p:cNvPr id="17" name="Shape 15"/>
          <p:cNvSpPr/>
          <p:nvPr/>
        </p:nvSpPr>
        <p:spPr>
          <a:xfrm>
            <a:off x="4073652" y="1664208"/>
            <a:ext cx="784098" cy="3218688"/>
          </a:xfrm>
          <a:prstGeom prst="rect">
            <a:avLst/>
          </a:prstGeom>
          <a:solidFill>
            <a:srgbClr val="F4F6F8"/>
          </a:solidFill>
          <a:ln w="12700">
            <a:solidFill>
              <a:srgbClr val="F4F6F8"/>
            </a:solidFill>
            <a:prstDash val="solid"/>
          </a:ln>
        </p:spPr>
      </p:sp>
      <p:sp>
        <p:nvSpPr>
          <p:cNvPr id="18" name="Text 16"/>
          <p:cNvSpPr/>
          <p:nvPr/>
        </p:nvSpPr>
        <p:spPr>
          <a:xfrm>
            <a:off x="4073652"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73652" y="1133856"/>
            <a:ext cx="13716" cy="3749040"/>
          </a:xfrm>
          <a:prstGeom prst="rect">
            <a:avLst/>
          </a:prstGeom>
          <a:solidFill>
            <a:srgbClr val="B6BBC0"/>
          </a:solidFill>
          <a:ln w="12700">
            <a:solidFill>
              <a:srgbClr val="B6BBC0"/>
            </a:solidFill>
            <a:prstDash val="solid"/>
          </a:ln>
        </p:spPr>
      </p:sp>
      <p:sp>
        <p:nvSpPr>
          <p:cNvPr id="20" name="Text 18"/>
          <p:cNvSpPr/>
          <p:nvPr/>
        </p:nvSpPr>
        <p:spPr>
          <a:xfrm>
            <a:off x="4857750"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57750" y="1133856"/>
            <a:ext cx="13716" cy="3749040"/>
          </a:xfrm>
          <a:prstGeom prst="rect">
            <a:avLst/>
          </a:prstGeom>
          <a:solidFill>
            <a:srgbClr val="B6BBC0"/>
          </a:solidFill>
          <a:ln w="12700">
            <a:solidFill>
              <a:srgbClr val="B6BBC0"/>
            </a:solidFill>
            <a:prstDash val="solid"/>
          </a:ln>
        </p:spPr>
      </p:sp>
      <p:sp>
        <p:nvSpPr>
          <p:cNvPr id="22" name="Shape 20"/>
          <p:cNvSpPr/>
          <p:nvPr/>
        </p:nvSpPr>
        <p:spPr>
          <a:xfrm>
            <a:off x="5641848" y="1664208"/>
            <a:ext cx="784098" cy="3218688"/>
          </a:xfrm>
          <a:prstGeom prst="rect">
            <a:avLst/>
          </a:prstGeom>
          <a:solidFill>
            <a:srgbClr val="F4F6F8"/>
          </a:solidFill>
          <a:ln w="12700">
            <a:solidFill>
              <a:srgbClr val="F4F6F8"/>
            </a:solidFill>
            <a:prstDash val="solid"/>
          </a:ln>
        </p:spPr>
      </p:sp>
      <p:sp>
        <p:nvSpPr>
          <p:cNvPr id="23" name="Text 21"/>
          <p:cNvSpPr/>
          <p:nvPr/>
        </p:nvSpPr>
        <p:spPr>
          <a:xfrm>
            <a:off x="5641848"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41848" y="1133856"/>
            <a:ext cx="13716" cy="3749040"/>
          </a:xfrm>
          <a:prstGeom prst="rect">
            <a:avLst/>
          </a:prstGeom>
          <a:solidFill>
            <a:srgbClr val="B6BBC0"/>
          </a:solidFill>
          <a:ln w="12700">
            <a:solidFill>
              <a:srgbClr val="B6BBC0"/>
            </a:solidFill>
            <a:prstDash val="solid"/>
          </a:ln>
        </p:spPr>
      </p:sp>
      <p:sp>
        <p:nvSpPr>
          <p:cNvPr id="25" name="Text 23"/>
          <p:cNvSpPr/>
          <p:nvPr/>
        </p:nvSpPr>
        <p:spPr>
          <a:xfrm>
            <a:off x="6425946"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25946" y="1133856"/>
            <a:ext cx="13716" cy="3749040"/>
          </a:xfrm>
          <a:prstGeom prst="rect">
            <a:avLst/>
          </a:prstGeom>
          <a:solidFill>
            <a:srgbClr val="B6BBC0"/>
          </a:solidFill>
          <a:ln w="12700">
            <a:solidFill>
              <a:srgbClr val="B6BBC0"/>
            </a:solidFill>
            <a:prstDash val="solid"/>
          </a:ln>
        </p:spPr>
      </p:sp>
      <p:sp>
        <p:nvSpPr>
          <p:cNvPr id="27" name="Shape 25"/>
          <p:cNvSpPr/>
          <p:nvPr/>
        </p:nvSpPr>
        <p:spPr>
          <a:xfrm>
            <a:off x="7210044" y="1664208"/>
            <a:ext cx="784098" cy="3218688"/>
          </a:xfrm>
          <a:prstGeom prst="rect">
            <a:avLst/>
          </a:prstGeom>
          <a:solidFill>
            <a:srgbClr val="F4F6F8"/>
          </a:solidFill>
          <a:ln w="12700">
            <a:solidFill>
              <a:srgbClr val="F4F6F8"/>
            </a:solidFill>
            <a:prstDash val="solid"/>
          </a:ln>
        </p:spPr>
      </p:sp>
      <p:sp>
        <p:nvSpPr>
          <p:cNvPr id="28" name="Text 26"/>
          <p:cNvSpPr/>
          <p:nvPr/>
        </p:nvSpPr>
        <p:spPr>
          <a:xfrm>
            <a:off x="7210044"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10044" y="1133856"/>
            <a:ext cx="13716" cy="3749040"/>
          </a:xfrm>
          <a:prstGeom prst="rect">
            <a:avLst/>
          </a:prstGeom>
          <a:solidFill>
            <a:srgbClr val="B6BBC0"/>
          </a:solidFill>
          <a:ln w="12700">
            <a:solidFill>
              <a:srgbClr val="B6BBC0"/>
            </a:solidFill>
            <a:prstDash val="solid"/>
          </a:ln>
        </p:spPr>
      </p:sp>
      <p:sp>
        <p:nvSpPr>
          <p:cNvPr id="30" name="Text 28"/>
          <p:cNvSpPr/>
          <p:nvPr/>
        </p:nvSpPr>
        <p:spPr>
          <a:xfrm>
            <a:off x="7994142"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94142" y="1133856"/>
            <a:ext cx="13716" cy="3749040"/>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74904"/>
          </a:xfrm>
          <a:prstGeom prst="rect">
            <a:avLst/>
          </a:prstGeom>
          <a:solidFill>
            <a:srgbClr val="FFFFFF"/>
          </a:solidFill>
          <a:ln w="12700">
            <a:solidFill>
              <a:srgbClr val="E7ECF0"/>
            </a:solidFill>
            <a:prstDash val="solid"/>
          </a:ln>
        </p:spPr>
      </p:sp>
      <p:sp>
        <p:nvSpPr>
          <p:cNvPr id="33" name="Shape 31"/>
          <p:cNvSpPr/>
          <p:nvPr/>
        </p:nvSpPr>
        <p:spPr>
          <a:xfrm>
            <a:off x="274320" y="1664208"/>
            <a:ext cx="54864" cy="374904"/>
          </a:xfrm>
          <a:prstGeom prst="rect">
            <a:avLst/>
          </a:prstGeom>
          <a:solidFill>
            <a:srgbClr val="085CE5"/>
          </a:solidFill>
          <a:ln w="12700">
            <a:solidFill>
              <a:srgbClr val="085CE5"/>
            </a:solidFill>
            <a:prstDash val="solid"/>
          </a:ln>
        </p:spPr>
      </p:sp>
      <p:sp>
        <p:nvSpPr>
          <p:cNvPr id="34" name="Text 32"/>
          <p:cNvSpPr/>
          <p:nvPr/>
        </p:nvSpPr>
        <p:spPr>
          <a:xfrm>
            <a:off x="384048" y="1691640"/>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Churn Mediation</a:t>
            </a:r>
            <a:endParaRPr lang="en-US" sz="850" dirty="0"/>
          </a:p>
        </p:txBody>
      </p:sp>
      <p:sp>
        <p:nvSpPr>
          <p:cNvPr id="35" name="Text 33"/>
          <p:cNvSpPr/>
          <p:nvPr/>
        </p:nvSpPr>
        <p:spPr>
          <a:xfrm>
            <a:off x="384048" y="1892808"/>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Phase 1 MVP</a:t>
            </a:r>
            <a:endParaRPr lang="en-US" sz="750" dirty="0"/>
          </a:p>
        </p:txBody>
      </p:sp>
      <p:sp>
        <p:nvSpPr>
          <p:cNvPr id="36" name="Shape 34"/>
          <p:cNvSpPr/>
          <p:nvPr/>
        </p:nvSpPr>
        <p:spPr>
          <a:xfrm>
            <a:off x="2542032" y="1755648"/>
            <a:ext cx="1495044" cy="182880"/>
          </a:xfrm>
          <a:prstGeom prst="rect">
            <a:avLst/>
          </a:prstGeom>
          <a:solidFill>
            <a:srgbClr val="085CE5">
              <a:alpha val="70000"/>
            </a:srgbClr>
          </a:solidFill>
          <a:ln w="12700">
            <a:solidFill>
              <a:srgbClr val="085CE5">
                <a:alpha val="90000"/>
              </a:srgbClr>
            </a:solidFill>
            <a:prstDash val="solid"/>
          </a:ln>
        </p:spPr>
      </p:sp>
      <p:sp>
        <p:nvSpPr>
          <p:cNvPr id="37" name="Shape 35"/>
          <p:cNvSpPr/>
          <p:nvPr/>
        </p:nvSpPr>
        <p:spPr>
          <a:xfrm>
            <a:off x="3618464" y="1755648"/>
            <a:ext cx="418612" cy="182880"/>
          </a:xfrm>
          <a:prstGeom prst="rect">
            <a:avLst/>
          </a:prstGeom>
          <a:solidFill>
            <a:srgbClr val="085CE5"/>
          </a:solidFill>
          <a:ln w="12700">
            <a:solidFill>
              <a:srgbClr val="085CE5"/>
            </a:solidFill>
            <a:prstDash val="solid"/>
          </a:ln>
        </p:spPr>
      </p:sp>
      <p:sp>
        <p:nvSpPr>
          <p:cNvPr id="38" name="Text 36"/>
          <p:cNvSpPr/>
          <p:nvPr/>
        </p:nvSpPr>
        <p:spPr>
          <a:xfrm>
            <a:off x="2606040" y="1755648"/>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MVP  ·  Phase 1</a:t>
            </a:r>
            <a:endParaRPr lang="en-US" sz="750" dirty="0"/>
          </a:p>
        </p:txBody>
      </p:sp>
      <p:sp>
        <p:nvSpPr>
          <p:cNvPr id="39" name="Shape 37"/>
          <p:cNvSpPr/>
          <p:nvPr/>
        </p:nvSpPr>
        <p:spPr>
          <a:xfrm>
            <a:off x="274320" y="2066544"/>
            <a:ext cx="8503920" cy="374904"/>
          </a:xfrm>
          <a:prstGeom prst="rect">
            <a:avLst/>
          </a:prstGeom>
          <a:solidFill>
            <a:srgbClr val="F8F9FA"/>
          </a:solidFill>
          <a:ln w="12700">
            <a:solidFill>
              <a:srgbClr val="E7ECF0"/>
            </a:solidFill>
            <a:prstDash val="solid"/>
          </a:ln>
        </p:spPr>
      </p:sp>
      <p:sp>
        <p:nvSpPr>
          <p:cNvPr id="40" name="Shape 38"/>
          <p:cNvSpPr/>
          <p:nvPr/>
        </p:nvSpPr>
        <p:spPr>
          <a:xfrm>
            <a:off x="274320" y="2066544"/>
            <a:ext cx="54864" cy="374904"/>
          </a:xfrm>
          <a:prstGeom prst="rect">
            <a:avLst/>
          </a:prstGeom>
          <a:solidFill>
            <a:srgbClr val="06185F"/>
          </a:solidFill>
          <a:ln w="12700">
            <a:solidFill>
              <a:srgbClr val="06185F"/>
            </a:solidFill>
            <a:prstDash val="solid"/>
          </a:ln>
        </p:spPr>
      </p:sp>
      <p:sp>
        <p:nvSpPr>
          <p:cNvPr id="41" name="Text 39"/>
          <p:cNvSpPr/>
          <p:nvPr/>
        </p:nvSpPr>
        <p:spPr>
          <a:xfrm>
            <a:off x="384048" y="2093976"/>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Memo Intelligence</a:t>
            </a:r>
            <a:endParaRPr lang="en-US" sz="850" dirty="0"/>
          </a:p>
        </p:txBody>
      </p:sp>
      <p:sp>
        <p:nvSpPr>
          <p:cNvPr id="42" name="Text 40"/>
          <p:cNvSpPr/>
          <p:nvPr/>
        </p:nvSpPr>
        <p:spPr>
          <a:xfrm>
            <a:off x="384048" y="2295144"/>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NLP compliance pipeline</a:t>
            </a:r>
            <a:endParaRPr lang="en-US" sz="750" dirty="0"/>
          </a:p>
        </p:txBody>
      </p:sp>
      <p:sp>
        <p:nvSpPr>
          <p:cNvPr id="43" name="Shape 41"/>
          <p:cNvSpPr/>
          <p:nvPr/>
        </p:nvSpPr>
        <p:spPr>
          <a:xfrm>
            <a:off x="4110228" y="2157984"/>
            <a:ext cx="1495044" cy="182880"/>
          </a:xfrm>
          <a:prstGeom prst="rect">
            <a:avLst/>
          </a:prstGeom>
          <a:solidFill>
            <a:srgbClr val="06185F">
              <a:alpha val="70000"/>
            </a:srgbClr>
          </a:solidFill>
          <a:ln w="12700">
            <a:solidFill>
              <a:srgbClr val="06185F">
                <a:alpha val="90000"/>
              </a:srgbClr>
            </a:solidFill>
            <a:prstDash val="solid"/>
          </a:ln>
        </p:spPr>
      </p:sp>
      <p:sp>
        <p:nvSpPr>
          <p:cNvPr id="44" name="Shape 42"/>
          <p:cNvSpPr/>
          <p:nvPr/>
        </p:nvSpPr>
        <p:spPr>
          <a:xfrm>
            <a:off x="5186660" y="2157984"/>
            <a:ext cx="418612" cy="182880"/>
          </a:xfrm>
          <a:prstGeom prst="rect">
            <a:avLst/>
          </a:prstGeom>
          <a:solidFill>
            <a:srgbClr val="06185F"/>
          </a:solidFill>
          <a:ln w="12700">
            <a:solidFill>
              <a:srgbClr val="06185F"/>
            </a:solidFill>
            <a:prstDash val="solid"/>
          </a:ln>
        </p:spPr>
      </p:sp>
      <p:sp>
        <p:nvSpPr>
          <p:cNvPr id="45" name="Text 43"/>
          <p:cNvSpPr/>
          <p:nvPr/>
        </p:nvSpPr>
        <p:spPr>
          <a:xfrm>
            <a:off x="4174236" y="2157984"/>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46" name="Shape 44"/>
          <p:cNvSpPr/>
          <p:nvPr/>
        </p:nvSpPr>
        <p:spPr>
          <a:xfrm>
            <a:off x="274320" y="2468880"/>
            <a:ext cx="8503920" cy="374904"/>
          </a:xfrm>
          <a:prstGeom prst="rect">
            <a:avLst/>
          </a:prstGeom>
          <a:solidFill>
            <a:srgbClr val="FFFFFF"/>
          </a:solidFill>
          <a:ln w="12700">
            <a:solidFill>
              <a:srgbClr val="E7ECF0"/>
            </a:solidFill>
            <a:prstDash val="solid"/>
          </a:ln>
        </p:spPr>
      </p:sp>
      <p:sp>
        <p:nvSpPr>
          <p:cNvPr id="47" name="Shape 45"/>
          <p:cNvSpPr/>
          <p:nvPr/>
        </p:nvSpPr>
        <p:spPr>
          <a:xfrm>
            <a:off x="274320" y="2468880"/>
            <a:ext cx="54864" cy="374904"/>
          </a:xfrm>
          <a:prstGeom prst="rect">
            <a:avLst/>
          </a:prstGeom>
          <a:solidFill>
            <a:srgbClr val="0A52C4"/>
          </a:solidFill>
          <a:ln w="12700">
            <a:solidFill>
              <a:srgbClr val="0A52C4"/>
            </a:solidFill>
            <a:prstDash val="solid"/>
          </a:ln>
        </p:spPr>
      </p:sp>
      <p:sp>
        <p:nvSpPr>
          <p:cNvPr id="48" name="Text 46"/>
          <p:cNvSpPr/>
          <p:nvPr/>
        </p:nvSpPr>
        <p:spPr>
          <a:xfrm>
            <a:off x="384048" y="2496312"/>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CommercialSignal</a:t>
            </a:r>
            <a:endParaRPr lang="en-US" sz="850" dirty="0"/>
          </a:p>
        </p:txBody>
      </p:sp>
      <p:sp>
        <p:nvSpPr>
          <p:cNvPr id="49" name="Text 47"/>
          <p:cNvSpPr/>
          <p:nvPr/>
        </p:nvSpPr>
        <p:spPr>
          <a:xfrm>
            <a:off x="384048" y="2697480"/>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SMB conversion model</a:t>
            </a:r>
            <a:endParaRPr lang="en-US" sz="750" dirty="0"/>
          </a:p>
        </p:txBody>
      </p:sp>
      <p:sp>
        <p:nvSpPr>
          <p:cNvPr id="50" name="Shape 48"/>
          <p:cNvSpPr/>
          <p:nvPr/>
        </p:nvSpPr>
        <p:spPr>
          <a:xfrm>
            <a:off x="4110228" y="2560320"/>
            <a:ext cx="1495044" cy="182880"/>
          </a:xfrm>
          <a:prstGeom prst="rect">
            <a:avLst/>
          </a:prstGeom>
          <a:solidFill>
            <a:srgbClr val="0A52C4">
              <a:alpha val="70000"/>
            </a:srgbClr>
          </a:solidFill>
          <a:ln w="12700">
            <a:solidFill>
              <a:srgbClr val="0A52C4">
                <a:alpha val="90000"/>
              </a:srgbClr>
            </a:solidFill>
            <a:prstDash val="solid"/>
          </a:ln>
        </p:spPr>
      </p:sp>
      <p:sp>
        <p:nvSpPr>
          <p:cNvPr id="51" name="Shape 49"/>
          <p:cNvSpPr/>
          <p:nvPr/>
        </p:nvSpPr>
        <p:spPr>
          <a:xfrm>
            <a:off x="5186660" y="2560320"/>
            <a:ext cx="418612" cy="182880"/>
          </a:xfrm>
          <a:prstGeom prst="rect">
            <a:avLst/>
          </a:prstGeom>
          <a:solidFill>
            <a:srgbClr val="0A52C4"/>
          </a:solidFill>
          <a:ln w="12700">
            <a:solidFill>
              <a:srgbClr val="0A52C4"/>
            </a:solidFill>
            <a:prstDash val="solid"/>
          </a:ln>
        </p:spPr>
      </p:sp>
      <p:sp>
        <p:nvSpPr>
          <p:cNvPr id="52" name="Text 50"/>
          <p:cNvSpPr/>
          <p:nvPr/>
        </p:nvSpPr>
        <p:spPr>
          <a:xfrm>
            <a:off x="4174236" y="2560320"/>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53" name="Shape 51"/>
          <p:cNvSpPr/>
          <p:nvPr/>
        </p:nvSpPr>
        <p:spPr>
          <a:xfrm>
            <a:off x="274320" y="2871216"/>
            <a:ext cx="8503920" cy="374904"/>
          </a:xfrm>
          <a:prstGeom prst="rect">
            <a:avLst/>
          </a:prstGeom>
          <a:solidFill>
            <a:srgbClr val="F8F9FA"/>
          </a:solidFill>
          <a:ln w="12700">
            <a:solidFill>
              <a:srgbClr val="E7ECF0"/>
            </a:solidFill>
            <a:prstDash val="solid"/>
          </a:ln>
        </p:spPr>
      </p:sp>
      <p:sp>
        <p:nvSpPr>
          <p:cNvPr id="54" name="Shape 52"/>
          <p:cNvSpPr/>
          <p:nvPr/>
        </p:nvSpPr>
        <p:spPr>
          <a:xfrm>
            <a:off x="274320" y="2871216"/>
            <a:ext cx="54864" cy="374904"/>
          </a:xfrm>
          <a:prstGeom prst="rect">
            <a:avLst/>
          </a:prstGeom>
          <a:solidFill>
            <a:srgbClr val="0F3D8A"/>
          </a:solidFill>
          <a:ln w="12700">
            <a:solidFill>
              <a:srgbClr val="0F3D8A"/>
            </a:solidFill>
            <a:prstDash val="solid"/>
          </a:ln>
        </p:spPr>
      </p:sp>
      <p:sp>
        <p:nvSpPr>
          <p:cNvPr id="55" name="Text 53"/>
          <p:cNvSpPr/>
          <p:nvPr/>
        </p:nvSpPr>
        <p:spPr>
          <a:xfrm>
            <a:off x="384048" y="2898648"/>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Gen. Wealth Deflection</a:t>
            </a:r>
            <a:endParaRPr lang="en-US" sz="850" dirty="0"/>
          </a:p>
        </p:txBody>
      </p:sp>
      <p:sp>
        <p:nvSpPr>
          <p:cNvPr id="56" name="Text 54"/>
          <p:cNvSpPr/>
          <p:nvPr/>
        </p:nvSpPr>
        <p:spPr>
          <a:xfrm>
            <a:off x="384048" y="3099816"/>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Household coverage model</a:t>
            </a:r>
            <a:endParaRPr lang="en-US" sz="750" dirty="0"/>
          </a:p>
        </p:txBody>
      </p:sp>
      <p:sp>
        <p:nvSpPr>
          <p:cNvPr id="57" name="Shape 55"/>
          <p:cNvSpPr/>
          <p:nvPr/>
        </p:nvSpPr>
        <p:spPr>
          <a:xfrm>
            <a:off x="4110228" y="2962656"/>
            <a:ext cx="2279142" cy="182880"/>
          </a:xfrm>
          <a:prstGeom prst="rect">
            <a:avLst/>
          </a:prstGeom>
          <a:solidFill>
            <a:srgbClr val="0F3D8A">
              <a:alpha val="70000"/>
            </a:srgbClr>
          </a:solidFill>
          <a:ln w="12700">
            <a:solidFill>
              <a:srgbClr val="0F3D8A">
                <a:alpha val="90000"/>
              </a:srgbClr>
            </a:solidFill>
            <a:prstDash val="solid"/>
          </a:ln>
        </p:spPr>
      </p:sp>
      <p:sp>
        <p:nvSpPr>
          <p:cNvPr id="58" name="Shape 56"/>
          <p:cNvSpPr/>
          <p:nvPr/>
        </p:nvSpPr>
        <p:spPr>
          <a:xfrm>
            <a:off x="5751210" y="2962656"/>
            <a:ext cx="638160" cy="182880"/>
          </a:xfrm>
          <a:prstGeom prst="rect">
            <a:avLst/>
          </a:prstGeom>
          <a:solidFill>
            <a:srgbClr val="0F3D8A"/>
          </a:solidFill>
          <a:ln w="12700">
            <a:solidFill>
              <a:srgbClr val="0F3D8A"/>
            </a:solidFill>
            <a:prstDash val="solid"/>
          </a:ln>
        </p:spPr>
      </p:sp>
      <p:sp>
        <p:nvSpPr>
          <p:cNvPr id="59" name="Text 57"/>
          <p:cNvSpPr/>
          <p:nvPr/>
        </p:nvSpPr>
        <p:spPr>
          <a:xfrm>
            <a:off x="4174236" y="2962656"/>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Phase 2 build  →  Phase 3</a:t>
            </a:r>
            <a:endParaRPr lang="en-US" sz="750" dirty="0"/>
          </a:p>
        </p:txBody>
      </p:sp>
      <p:sp>
        <p:nvSpPr>
          <p:cNvPr id="60" name="Shape 58"/>
          <p:cNvSpPr/>
          <p:nvPr/>
        </p:nvSpPr>
        <p:spPr>
          <a:xfrm>
            <a:off x="274320" y="3273552"/>
            <a:ext cx="8503920" cy="374904"/>
          </a:xfrm>
          <a:prstGeom prst="rect">
            <a:avLst/>
          </a:prstGeom>
          <a:solidFill>
            <a:srgbClr val="FFFFFF"/>
          </a:solidFill>
          <a:ln w="12700">
            <a:solidFill>
              <a:srgbClr val="E7ECF0"/>
            </a:solidFill>
            <a:prstDash val="solid"/>
          </a:ln>
        </p:spPr>
      </p:sp>
      <p:sp>
        <p:nvSpPr>
          <p:cNvPr id="61" name="Shape 59"/>
          <p:cNvSpPr/>
          <p:nvPr/>
        </p:nvSpPr>
        <p:spPr>
          <a:xfrm>
            <a:off x="274320" y="3273552"/>
            <a:ext cx="54864" cy="374904"/>
          </a:xfrm>
          <a:prstGeom prst="rect">
            <a:avLst/>
          </a:prstGeom>
          <a:solidFill>
            <a:srgbClr val="073FA8"/>
          </a:solidFill>
          <a:ln w="12700">
            <a:solidFill>
              <a:srgbClr val="073FA8"/>
            </a:solidFill>
            <a:prstDash val="solid"/>
          </a:ln>
        </p:spPr>
      </p:sp>
      <p:sp>
        <p:nvSpPr>
          <p:cNvPr id="62" name="Text 60"/>
          <p:cNvSpPr/>
          <p:nvPr/>
        </p:nvSpPr>
        <p:spPr>
          <a:xfrm>
            <a:off x="384048" y="3300984"/>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Anomaly Detection</a:t>
            </a:r>
            <a:endParaRPr lang="en-US" sz="850" dirty="0"/>
          </a:p>
        </p:txBody>
      </p:sp>
      <p:sp>
        <p:nvSpPr>
          <p:cNvPr id="63" name="Text 61"/>
          <p:cNvSpPr/>
          <p:nvPr/>
        </p:nvSpPr>
        <p:spPr>
          <a:xfrm>
            <a:off x="384048" y="3502152"/>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Real-time fraud engine</a:t>
            </a:r>
            <a:endParaRPr lang="en-US" sz="750" dirty="0"/>
          </a:p>
        </p:txBody>
      </p:sp>
      <p:sp>
        <p:nvSpPr>
          <p:cNvPr id="64" name="Shape 62"/>
          <p:cNvSpPr/>
          <p:nvPr/>
        </p:nvSpPr>
        <p:spPr>
          <a:xfrm>
            <a:off x="5678424" y="3364992"/>
            <a:ext cx="2279142" cy="182880"/>
          </a:xfrm>
          <a:prstGeom prst="rect">
            <a:avLst/>
          </a:prstGeom>
          <a:solidFill>
            <a:srgbClr val="073FA8">
              <a:alpha val="70000"/>
            </a:srgbClr>
          </a:solidFill>
          <a:ln w="12700">
            <a:solidFill>
              <a:srgbClr val="073FA8">
                <a:alpha val="90000"/>
              </a:srgbClr>
            </a:solidFill>
            <a:prstDash val="solid"/>
          </a:ln>
        </p:spPr>
      </p:sp>
      <p:sp>
        <p:nvSpPr>
          <p:cNvPr id="65" name="Shape 63"/>
          <p:cNvSpPr/>
          <p:nvPr/>
        </p:nvSpPr>
        <p:spPr>
          <a:xfrm>
            <a:off x="7319406" y="3364992"/>
            <a:ext cx="638160" cy="182880"/>
          </a:xfrm>
          <a:prstGeom prst="rect">
            <a:avLst/>
          </a:prstGeom>
          <a:solidFill>
            <a:srgbClr val="073FA8"/>
          </a:solidFill>
          <a:ln w="12700">
            <a:solidFill>
              <a:srgbClr val="073FA8"/>
            </a:solidFill>
            <a:prstDash val="solid"/>
          </a:ln>
        </p:spPr>
      </p:sp>
      <p:sp>
        <p:nvSpPr>
          <p:cNvPr id="66" name="Text 64"/>
          <p:cNvSpPr/>
          <p:nvPr/>
        </p:nvSpPr>
        <p:spPr>
          <a:xfrm>
            <a:off x="5742432" y="3364992"/>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3 launch</a:t>
            </a:r>
            <a:endParaRPr lang="en-US" sz="750" dirty="0"/>
          </a:p>
        </p:txBody>
      </p:sp>
      <p:sp>
        <p:nvSpPr>
          <p:cNvPr id="67" name="Shape 65"/>
          <p:cNvSpPr/>
          <p:nvPr/>
        </p:nvSpPr>
        <p:spPr>
          <a:xfrm>
            <a:off x="274320" y="3675888"/>
            <a:ext cx="8503920" cy="374904"/>
          </a:xfrm>
          <a:prstGeom prst="rect">
            <a:avLst/>
          </a:prstGeom>
          <a:solidFill>
            <a:srgbClr val="F8F9FA"/>
          </a:solidFill>
          <a:ln w="12700">
            <a:solidFill>
              <a:srgbClr val="E7ECF0"/>
            </a:solidFill>
            <a:prstDash val="solid"/>
          </a:ln>
        </p:spPr>
      </p:sp>
      <p:sp>
        <p:nvSpPr>
          <p:cNvPr id="68" name="Shape 66"/>
          <p:cNvSpPr/>
          <p:nvPr/>
        </p:nvSpPr>
        <p:spPr>
          <a:xfrm>
            <a:off x="274320" y="3675888"/>
            <a:ext cx="54864" cy="374904"/>
          </a:xfrm>
          <a:prstGeom prst="rect">
            <a:avLst/>
          </a:prstGeom>
          <a:solidFill>
            <a:srgbClr val="0D2E7A"/>
          </a:solidFill>
          <a:ln w="12700">
            <a:solidFill>
              <a:srgbClr val="0D2E7A"/>
            </a:solidFill>
            <a:prstDash val="solid"/>
          </a:ln>
        </p:spPr>
      </p:sp>
      <p:sp>
        <p:nvSpPr>
          <p:cNvPr id="69" name="Text 67"/>
          <p:cNvSpPr/>
          <p:nvPr/>
        </p:nvSpPr>
        <p:spPr>
          <a:xfrm>
            <a:off x="384048" y="3703320"/>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FI Decision Studio</a:t>
            </a:r>
            <a:endParaRPr lang="en-US" sz="850" dirty="0"/>
          </a:p>
        </p:txBody>
      </p:sp>
      <p:sp>
        <p:nvSpPr>
          <p:cNvPr id="70" name="Text 68"/>
          <p:cNvSpPr/>
          <p:nvPr/>
        </p:nvSpPr>
        <p:spPr>
          <a:xfrm>
            <a:off x="384048" y="3904488"/>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AutoML platform  ·  GA</a:t>
            </a:r>
            <a:endParaRPr lang="en-US" sz="750" dirty="0"/>
          </a:p>
        </p:txBody>
      </p:sp>
      <p:sp>
        <p:nvSpPr>
          <p:cNvPr id="71" name="Shape 69"/>
          <p:cNvSpPr/>
          <p:nvPr/>
        </p:nvSpPr>
        <p:spPr>
          <a:xfrm>
            <a:off x="5678424" y="3767328"/>
            <a:ext cx="3063240" cy="182880"/>
          </a:xfrm>
          <a:prstGeom prst="rect">
            <a:avLst/>
          </a:prstGeom>
          <a:solidFill>
            <a:srgbClr val="0D2E7A">
              <a:alpha val="70000"/>
            </a:srgbClr>
          </a:solidFill>
          <a:ln w="12700">
            <a:solidFill>
              <a:srgbClr val="0D2E7A">
                <a:alpha val="90000"/>
              </a:srgbClr>
            </a:solidFill>
            <a:prstDash val="solid"/>
          </a:ln>
        </p:spPr>
      </p:sp>
      <p:sp>
        <p:nvSpPr>
          <p:cNvPr id="72" name="Shape 70"/>
          <p:cNvSpPr/>
          <p:nvPr/>
        </p:nvSpPr>
        <p:spPr>
          <a:xfrm>
            <a:off x="8030718" y="3767328"/>
            <a:ext cx="710946" cy="182880"/>
          </a:xfrm>
          <a:prstGeom prst="rect">
            <a:avLst/>
          </a:prstGeom>
          <a:solidFill>
            <a:srgbClr val="0D2E7A"/>
          </a:solidFill>
          <a:ln w="12700">
            <a:solidFill>
              <a:srgbClr val="0D2E7A"/>
            </a:solidFill>
            <a:prstDash val="solid"/>
          </a:ln>
        </p:spPr>
      </p:sp>
      <p:sp>
        <p:nvSpPr>
          <p:cNvPr id="73" name="Text 71"/>
          <p:cNvSpPr/>
          <p:nvPr/>
        </p:nvSpPr>
        <p:spPr>
          <a:xfrm>
            <a:off x="5742432" y="3767328"/>
            <a:ext cx="2935224"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Platform build  →  Phase 3 GA</a:t>
            </a:r>
            <a:endParaRPr lang="en-US" sz="750" dirty="0"/>
          </a:p>
        </p:txBody>
      </p:sp>
      <p:sp>
        <p:nvSpPr>
          <p:cNvPr id="74" name="Shape 72"/>
          <p:cNvSpPr/>
          <p:nvPr/>
        </p:nvSpPr>
        <p:spPr>
          <a:xfrm>
            <a:off x="384048" y="4919472"/>
            <a:ext cx="457200" cy="128016"/>
          </a:xfrm>
          <a:prstGeom prst="rect">
            <a:avLst/>
          </a:prstGeom>
          <a:solidFill>
            <a:srgbClr val="085CE5">
              <a:alpha val="70000"/>
            </a:srgbClr>
          </a:solidFill>
          <a:ln w="12700">
            <a:solidFill>
              <a:srgbClr val="085CE5"/>
            </a:solidFill>
            <a:prstDash val="solid"/>
          </a:ln>
        </p:spPr>
      </p:sp>
      <p:sp>
        <p:nvSpPr>
          <p:cNvPr id="75" name="Text 73"/>
          <p:cNvSpPr/>
          <p:nvPr/>
        </p:nvSpPr>
        <p:spPr>
          <a:xfrm>
            <a:off x="896112" y="4919472"/>
            <a:ext cx="1280160" cy="128016"/>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Build / validate</a:t>
            </a:r>
            <a:endParaRPr lang="en-US" sz="750" dirty="0"/>
          </a:p>
        </p:txBody>
      </p:sp>
      <p:sp>
        <p:nvSpPr>
          <p:cNvPr id="76" name="Shape 74"/>
          <p:cNvSpPr/>
          <p:nvPr/>
        </p:nvSpPr>
        <p:spPr>
          <a:xfrm>
            <a:off x="2304288" y="4919472"/>
            <a:ext cx="457200" cy="128016"/>
          </a:xfrm>
          <a:prstGeom prst="rect">
            <a:avLst/>
          </a:prstGeom>
          <a:solidFill>
            <a:srgbClr val="085CE5"/>
          </a:solidFill>
          <a:ln w="12700">
            <a:solidFill>
              <a:srgbClr val="085CE5"/>
            </a:solidFill>
            <a:prstDash val="solid"/>
          </a:ln>
        </p:spPr>
      </p:sp>
      <p:sp>
        <p:nvSpPr>
          <p:cNvPr id="77" name="Text 75"/>
          <p:cNvSpPr/>
          <p:nvPr/>
        </p:nvSpPr>
        <p:spPr>
          <a:xfrm>
            <a:off x="2816352" y="4919472"/>
            <a:ext cx="1280160" cy="128016"/>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Launch window</a:t>
            </a:r>
            <a:endParaRPr lang="en-US" sz="750" dirty="0"/>
          </a:p>
        </p:txBody>
      </p:sp>
      <p:sp>
        <p:nvSpPr>
          <p:cNvPr id="78" name="Shape 76"/>
          <p:cNvSpPr/>
          <p:nvPr/>
        </p:nvSpPr>
        <p:spPr>
          <a:xfrm>
            <a:off x="2519172" y="1115568"/>
            <a:ext cx="36576" cy="3767328"/>
          </a:xfrm>
          <a:prstGeom prst="rect">
            <a:avLst/>
          </a:prstGeom>
          <a:solidFill>
            <a:srgbClr val="76DCFD"/>
          </a:solidFill>
          <a:ln w="12700">
            <a:solidFill>
              <a:srgbClr val="76DCFD"/>
            </a:solidFill>
            <a:prstDash val="solid"/>
          </a:ln>
        </p:spPr>
      </p:sp>
      <p:sp>
        <p:nvSpPr>
          <p:cNvPr id="79" name="Text 77"/>
          <p:cNvSpPr/>
          <p:nvPr/>
        </p:nvSpPr>
        <p:spPr>
          <a:xfrm>
            <a:off x="2395728"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Phased Delivery Roadmap — FY26 Q3 through FY28 Q2</a:t>
            </a:r>
            <a:endParaRPr lang="en-US" sz="2200" dirty="0"/>
          </a:p>
        </p:txBody>
      </p:sp>
      <p:sp>
        <p:nvSpPr>
          <p:cNvPr id="4" name="Shape 2"/>
          <p:cNvSpPr/>
          <p:nvPr/>
        </p:nvSpPr>
        <p:spPr>
          <a:xfrm>
            <a:off x="256032"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816352" cy="804672"/>
          </a:xfrm>
          <a:prstGeom prst="rect">
            <a:avLst/>
          </a:prstGeom>
          <a:solidFill>
            <a:srgbClr val="085CE5"/>
          </a:solidFill>
          <a:ln w="12700">
            <a:solidFill>
              <a:srgbClr val="085CE5"/>
            </a:solidFill>
            <a:prstDash val="solid"/>
          </a:ln>
        </p:spPr>
      </p:sp>
      <p:sp>
        <p:nvSpPr>
          <p:cNvPr id="6" name="Text 4"/>
          <p:cNvSpPr/>
          <p:nvPr/>
        </p:nvSpPr>
        <p:spPr>
          <a:xfrm>
            <a:off x="365760"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Shape 5"/>
          <p:cNvSpPr/>
          <p:nvPr/>
        </p:nvSpPr>
        <p:spPr>
          <a:xfrm>
            <a:off x="1024128" y="896112"/>
            <a:ext cx="36576" cy="475488"/>
          </a:xfrm>
          <a:prstGeom prst="rect">
            <a:avLst/>
          </a:prstGeom>
          <a:solidFill>
            <a:srgbClr val="FFFFFF">
              <a:alpha val="60000"/>
            </a:srgbClr>
          </a:solidFill>
          <a:ln w="12700">
            <a:solidFill>
              <a:srgbClr val="FFFFFF">
                <a:alpha val="60000"/>
              </a:srgbClr>
            </a:solidFill>
            <a:prstDash val="solid"/>
          </a:ln>
        </p:spPr>
      </p:sp>
      <p:sp>
        <p:nvSpPr>
          <p:cNvPr id="8" name="Text 6"/>
          <p:cNvSpPr/>
          <p:nvPr/>
        </p:nvSpPr>
        <p:spPr>
          <a:xfrm>
            <a:off x="1133856"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Foundation</a:t>
            </a:r>
            <a:endParaRPr lang="en-US" sz="1500" dirty="0"/>
          </a:p>
        </p:txBody>
      </p:sp>
      <p:sp>
        <p:nvSpPr>
          <p:cNvPr id="9" name="Text 7"/>
          <p:cNvSpPr/>
          <p:nvPr/>
        </p:nvSpPr>
        <p:spPr>
          <a:xfrm>
            <a:off x="1133856"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Q3–Q4 FY26  (Jan–Jun 2026)</a:t>
            </a:r>
            <a:endParaRPr lang="en-US" sz="1000" dirty="0"/>
          </a:p>
        </p:txBody>
      </p:sp>
      <p:sp>
        <p:nvSpPr>
          <p:cNvPr id="10" name="Text 8"/>
          <p:cNvSpPr/>
          <p:nvPr/>
        </p:nvSpPr>
        <p:spPr>
          <a:xfrm>
            <a:off x="420624"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Hire core team: Data Engineers + ML Engineers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Stand up cloud data platform and ML infrastructure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Build FI data pipelines from JH core banking systems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Establish data governance and model review process</a:t>
            </a:r>
            <a:endParaRPr lang="en-US" sz="1000" dirty="0"/>
          </a:p>
        </p:txBody>
      </p:sp>
      <p:sp>
        <p:nvSpPr>
          <p:cNvPr id="11" name="Shape 9"/>
          <p:cNvSpPr/>
          <p:nvPr/>
        </p:nvSpPr>
        <p:spPr>
          <a:xfrm>
            <a:off x="256032" y="3675888"/>
            <a:ext cx="2816352" cy="237744"/>
          </a:xfrm>
          <a:prstGeom prst="rect">
            <a:avLst/>
          </a:prstGeom>
          <a:solidFill>
            <a:srgbClr val="085CE5">
              <a:alpha val="12000"/>
            </a:srgbClr>
          </a:solidFill>
          <a:ln w="12700">
            <a:solidFill>
              <a:srgbClr val="085CE5">
                <a:alpha val="30000"/>
              </a:srgbClr>
            </a:solidFill>
            <a:prstDash val="solid"/>
          </a:ln>
        </p:spPr>
      </p:sp>
      <p:sp>
        <p:nvSpPr>
          <p:cNvPr id="12" name="Shape 10"/>
          <p:cNvSpPr/>
          <p:nvPr/>
        </p:nvSpPr>
        <p:spPr>
          <a:xfrm>
            <a:off x="256032" y="3675888"/>
            <a:ext cx="54864" cy="237744"/>
          </a:xfrm>
          <a:prstGeom prst="rect">
            <a:avLst/>
          </a:prstGeom>
          <a:solidFill>
            <a:srgbClr val="085CE5"/>
          </a:solidFill>
          <a:ln w="12700">
            <a:solidFill>
              <a:srgbClr val="085CE5"/>
            </a:solidFill>
            <a:prstDash val="solid"/>
          </a:ln>
        </p:spPr>
      </p:sp>
      <p:sp>
        <p:nvSpPr>
          <p:cNvPr id="13" name="Text 11"/>
          <p:cNvSpPr/>
          <p:nvPr/>
        </p:nvSpPr>
        <p:spPr>
          <a:xfrm>
            <a:off x="384048" y="3675888"/>
            <a:ext cx="2651760" cy="237744"/>
          </a:xfrm>
          <a:prstGeom prst="rect">
            <a:avLst/>
          </a:prstGeom>
          <a:noFill/>
          <a:ln/>
        </p:spPr>
        <p:txBody>
          <a:bodyPr wrap="square" lIns="0" tIns="0" rIns="0" bIns="0" rtlCol="0" anchor="ctr"/>
          <a:lstStyle/>
          <a:p>
            <a:pPr indent="0" marL="0">
              <a:buNone/>
            </a:pPr>
            <a:r>
              <a:rPr lang="en-US" sz="750" b="1" spc="50" kern="0" dirty="0">
                <a:solidFill>
                  <a:srgbClr val="085CE5"/>
                </a:solidFill>
                <a:latin typeface="Calibri" pitchFamily="34" charset="0"/>
                <a:ea typeface="Calibri" pitchFamily="34" charset="-122"/>
                <a:cs typeface="Calibri" pitchFamily="34" charset="-120"/>
              </a:rPr>
              <a:t>APPS DELIVERING THIS PHASE</a:t>
            </a:r>
            <a:endParaRPr lang="en-US" sz="750" dirty="0"/>
          </a:p>
        </p:txBody>
      </p:sp>
      <p:sp>
        <p:nvSpPr>
          <p:cNvPr id="14" name="Shape 12"/>
          <p:cNvSpPr/>
          <p:nvPr/>
        </p:nvSpPr>
        <p:spPr>
          <a:xfrm>
            <a:off x="384048" y="3950208"/>
            <a:ext cx="2523744" cy="256032"/>
          </a:xfrm>
          <a:prstGeom prst="rect">
            <a:avLst/>
          </a:prstGeom>
          <a:solidFill>
            <a:srgbClr val="085CE5"/>
          </a:solidFill>
          <a:ln w="12700">
            <a:solidFill>
              <a:srgbClr val="085CE5"/>
            </a:solidFill>
            <a:prstDash val="solid"/>
          </a:ln>
        </p:spPr>
      </p:sp>
      <p:sp>
        <p:nvSpPr>
          <p:cNvPr id="15" name="Shape 13"/>
          <p:cNvSpPr/>
          <p:nvPr/>
        </p:nvSpPr>
        <p:spPr>
          <a:xfrm>
            <a:off x="438912" y="4014216"/>
            <a:ext cx="128016" cy="128016"/>
          </a:xfrm>
          <a:prstGeom prst="ellipse">
            <a:avLst/>
          </a:prstGeom>
          <a:solidFill>
            <a:srgbClr val="FFFFFF">
              <a:alpha val="70000"/>
            </a:srgbClr>
          </a:solidFill>
          <a:ln w="12700">
            <a:solidFill>
              <a:srgbClr val="FFFFFF">
                <a:alpha val="70000"/>
              </a:srgbClr>
            </a:solidFill>
            <a:prstDash val="solid"/>
          </a:ln>
        </p:spPr>
      </p:sp>
      <p:sp>
        <p:nvSpPr>
          <p:cNvPr id="16" name="Text 14"/>
          <p:cNvSpPr/>
          <p:nvPr/>
        </p:nvSpPr>
        <p:spPr>
          <a:xfrm>
            <a:off x="621792" y="3950208"/>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Attrition / Churn Mediation</a:t>
            </a:r>
            <a:endParaRPr lang="en-US" sz="900" dirty="0"/>
          </a:p>
        </p:txBody>
      </p:sp>
      <p:sp>
        <p:nvSpPr>
          <p:cNvPr id="17" name="Shape 15"/>
          <p:cNvSpPr/>
          <p:nvPr/>
        </p:nvSpPr>
        <p:spPr>
          <a:xfrm>
            <a:off x="2029968" y="3977640"/>
            <a:ext cx="749808" cy="201168"/>
          </a:xfrm>
          <a:prstGeom prst="rect">
            <a:avLst/>
          </a:prstGeom>
          <a:solidFill>
            <a:srgbClr val="FFFFFF">
              <a:alpha val="80000"/>
            </a:srgbClr>
          </a:solidFill>
          <a:ln w="12700">
            <a:solidFill>
              <a:srgbClr val="FFFFFF">
                <a:alpha val="60000"/>
              </a:srgbClr>
            </a:solidFill>
            <a:prstDash val="solid"/>
          </a:ln>
        </p:spPr>
      </p:sp>
      <p:sp>
        <p:nvSpPr>
          <p:cNvPr id="18" name="Text 16"/>
          <p:cNvSpPr/>
          <p:nvPr/>
        </p:nvSpPr>
        <p:spPr>
          <a:xfrm>
            <a:off x="2029968" y="3977640"/>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MVP</a:t>
            </a:r>
            <a:endParaRPr lang="en-US" sz="700" dirty="0"/>
          </a:p>
        </p:txBody>
      </p:sp>
      <p:sp>
        <p:nvSpPr>
          <p:cNvPr id="19" name="Shape 17"/>
          <p:cNvSpPr/>
          <p:nvPr/>
        </p:nvSpPr>
        <p:spPr>
          <a:xfrm>
            <a:off x="3200400"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8"/>
          <p:cNvSpPr/>
          <p:nvPr/>
        </p:nvSpPr>
        <p:spPr>
          <a:xfrm>
            <a:off x="3200400" y="749808"/>
            <a:ext cx="2816352" cy="804672"/>
          </a:xfrm>
          <a:prstGeom prst="rect">
            <a:avLst/>
          </a:prstGeom>
          <a:solidFill>
            <a:srgbClr val="073FA8"/>
          </a:solidFill>
          <a:ln w="12700">
            <a:solidFill>
              <a:srgbClr val="073FA8"/>
            </a:solidFill>
            <a:prstDash val="solid"/>
          </a:ln>
        </p:spPr>
      </p:sp>
      <p:sp>
        <p:nvSpPr>
          <p:cNvPr id="21" name="Text 19"/>
          <p:cNvSpPr/>
          <p:nvPr/>
        </p:nvSpPr>
        <p:spPr>
          <a:xfrm>
            <a:off x="3310128"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22" name="Shape 20"/>
          <p:cNvSpPr/>
          <p:nvPr/>
        </p:nvSpPr>
        <p:spPr>
          <a:xfrm>
            <a:off x="3968496" y="896112"/>
            <a:ext cx="36576" cy="475488"/>
          </a:xfrm>
          <a:prstGeom prst="rect">
            <a:avLst/>
          </a:prstGeom>
          <a:solidFill>
            <a:srgbClr val="FFFFFF">
              <a:alpha val="60000"/>
            </a:srgbClr>
          </a:solidFill>
          <a:ln w="12700">
            <a:solidFill>
              <a:srgbClr val="FFFFFF">
                <a:alpha val="60000"/>
              </a:srgbClr>
            </a:solidFill>
            <a:prstDash val="solid"/>
          </a:ln>
        </p:spPr>
      </p:sp>
      <p:sp>
        <p:nvSpPr>
          <p:cNvPr id="23" name="Text 21"/>
          <p:cNvSpPr/>
          <p:nvPr/>
        </p:nvSpPr>
        <p:spPr>
          <a:xfrm>
            <a:off x="4078224"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Core Applications</a:t>
            </a:r>
            <a:endParaRPr lang="en-US" sz="1500" dirty="0"/>
          </a:p>
        </p:txBody>
      </p:sp>
      <p:sp>
        <p:nvSpPr>
          <p:cNvPr id="24" name="Text 22"/>
          <p:cNvSpPr/>
          <p:nvPr/>
        </p:nvSpPr>
        <p:spPr>
          <a:xfrm>
            <a:off x="4078224"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Q1–Q2 FY27  (Jul–Dec 2026)</a:t>
            </a:r>
            <a:endParaRPr lang="en-US" sz="1000" dirty="0"/>
          </a:p>
        </p:txBody>
      </p:sp>
      <p:sp>
        <p:nvSpPr>
          <p:cNvPr id="25" name="Text 23"/>
          <p:cNvSpPr/>
          <p:nvPr/>
        </p:nvSpPr>
        <p:spPr>
          <a:xfrm>
            <a:off x="3364992"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banking + payments data integration complete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Exec dashboards + FI banker score explorer live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CommercialSignal: personal-to-business conversion model</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Generational Wealth household relationship engine</a:t>
            </a:r>
            <a:endParaRPr lang="en-US" sz="1000" dirty="0"/>
          </a:p>
        </p:txBody>
      </p:sp>
      <p:sp>
        <p:nvSpPr>
          <p:cNvPr id="26" name="Shape 24"/>
          <p:cNvSpPr/>
          <p:nvPr/>
        </p:nvSpPr>
        <p:spPr>
          <a:xfrm>
            <a:off x="3200400" y="3675888"/>
            <a:ext cx="2816352" cy="237744"/>
          </a:xfrm>
          <a:prstGeom prst="rect">
            <a:avLst/>
          </a:prstGeom>
          <a:solidFill>
            <a:srgbClr val="073FA8">
              <a:alpha val="12000"/>
            </a:srgbClr>
          </a:solidFill>
          <a:ln w="12700">
            <a:solidFill>
              <a:srgbClr val="073FA8">
                <a:alpha val="30000"/>
              </a:srgbClr>
            </a:solidFill>
            <a:prstDash val="solid"/>
          </a:ln>
        </p:spPr>
      </p:sp>
      <p:sp>
        <p:nvSpPr>
          <p:cNvPr id="27" name="Shape 25"/>
          <p:cNvSpPr/>
          <p:nvPr/>
        </p:nvSpPr>
        <p:spPr>
          <a:xfrm>
            <a:off x="3200400" y="3675888"/>
            <a:ext cx="54864" cy="237744"/>
          </a:xfrm>
          <a:prstGeom prst="rect">
            <a:avLst/>
          </a:prstGeom>
          <a:solidFill>
            <a:srgbClr val="073FA8"/>
          </a:solidFill>
          <a:ln w="12700">
            <a:solidFill>
              <a:srgbClr val="073FA8"/>
            </a:solidFill>
            <a:prstDash val="solid"/>
          </a:ln>
        </p:spPr>
      </p:sp>
      <p:sp>
        <p:nvSpPr>
          <p:cNvPr id="28" name="Text 26"/>
          <p:cNvSpPr/>
          <p:nvPr/>
        </p:nvSpPr>
        <p:spPr>
          <a:xfrm>
            <a:off x="3328416" y="3675888"/>
            <a:ext cx="2651760" cy="237744"/>
          </a:xfrm>
          <a:prstGeom prst="rect">
            <a:avLst/>
          </a:prstGeom>
          <a:noFill/>
          <a:ln/>
        </p:spPr>
        <p:txBody>
          <a:bodyPr wrap="square" lIns="0" tIns="0" rIns="0" bIns="0" rtlCol="0" anchor="ctr"/>
          <a:lstStyle/>
          <a:p>
            <a:pPr indent="0" marL="0">
              <a:buNone/>
            </a:pPr>
            <a:r>
              <a:rPr lang="en-US" sz="750" b="1" spc="50" kern="0" dirty="0">
                <a:solidFill>
                  <a:srgbClr val="073FA8"/>
                </a:solidFill>
                <a:latin typeface="Calibri" pitchFamily="34" charset="0"/>
                <a:ea typeface="Calibri" pitchFamily="34" charset="-122"/>
                <a:cs typeface="Calibri" pitchFamily="34" charset="-120"/>
              </a:rPr>
              <a:t>APPS DELIVERING THIS PHASE</a:t>
            </a:r>
            <a:endParaRPr lang="en-US" sz="750" dirty="0"/>
          </a:p>
        </p:txBody>
      </p:sp>
      <p:sp>
        <p:nvSpPr>
          <p:cNvPr id="29" name="Shape 27"/>
          <p:cNvSpPr/>
          <p:nvPr/>
        </p:nvSpPr>
        <p:spPr>
          <a:xfrm>
            <a:off x="3328416" y="3950208"/>
            <a:ext cx="2523744" cy="256032"/>
          </a:xfrm>
          <a:prstGeom prst="rect">
            <a:avLst/>
          </a:prstGeom>
          <a:solidFill>
            <a:srgbClr val="06185F"/>
          </a:solidFill>
          <a:ln w="12700">
            <a:solidFill>
              <a:srgbClr val="06185F"/>
            </a:solidFill>
            <a:prstDash val="solid"/>
          </a:ln>
        </p:spPr>
      </p:sp>
      <p:sp>
        <p:nvSpPr>
          <p:cNvPr id="30" name="Shape 28"/>
          <p:cNvSpPr/>
          <p:nvPr/>
        </p:nvSpPr>
        <p:spPr>
          <a:xfrm>
            <a:off x="3383280" y="4014216"/>
            <a:ext cx="128016" cy="128016"/>
          </a:xfrm>
          <a:prstGeom prst="ellipse">
            <a:avLst/>
          </a:prstGeom>
          <a:solidFill>
            <a:srgbClr val="FFFFFF">
              <a:alpha val="70000"/>
            </a:srgbClr>
          </a:solidFill>
          <a:ln w="12700">
            <a:solidFill>
              <a:srgbClr val="FFFFFF">
                <a:alpha val="70000"/>
              </a:srgbClr>
            </a:solidFill>
            <a:prstDash val="solid"/>
          </a:ln>
        </p:spPr>
      </p:sp>
      <p:sp>
        <p:nvSpPr>
          <p:cNvPr id="31" name="Text 29"/>
          <p:cNvSpPr/>
          <p:nvPr/>
        </p:nvSpPr>
        <p:spPr>
          <a:xfrm>
            <a:off x="3566160" y="3950208"/>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Zelle Memo Intelligence</a:t>
            </a:r>
            <a:endParaRPr lang="en-US" sz="900" dirty="0"/>
          </a:p>
        </p:txBody>
      </p:sp>
      <p:sp>
        <p:nvSpPr>
          <p:cNvPr id="32" name="Shape 30"/>
          <p:cNvSpPr/>
          <p:nvPr/>
        </p:nvSpPr>
        <p:spPr>
          <a:xfrm>
            <a:off x="3328416" y="4279392"/>
            <a:ext cx="2523744" cy="256032"/>
          </a:xfrm>
          <a:prstGeom prst="rect">
            <a:avLst/>
          </a:prstGeom>
          <a:solidFill>
            <a:srgbClr val="0A52C4"/>
          </a:solidFill>
          <a:ln w="12700">
            <a:solidFill>
              <a:srgbClr val="0A52C4"/>
            </a:solidFill>
            <a:prstDash val="solid"/>
          </a:ln>
        </p:spPr>
      </p:sp>
      <p:sp>
        <p:nvSpPr>
          <p:cNvPr id="33" name="Shape 31"/>
          <p:cNvSpPr/>
          <p:nvPr/>
        </p:nvSpPr>
        <p:spPr>
          <a:xfrm>
            <a:off x="3383280" y="4343400"/>
            <a:ext cx="128016" cy="128016"/>
          </a:xfrm>
          <a:prstGeom prst="ellipse">
            <a:avLst/>
          </a:prstGeom>
          <a:solidFill>
            <a:srgbClr val="FFFFFF">
              <a:alpha val="70000"/>
            </a:srgbClr>
          </a:solidFill>
          <a:ln w="12700">
            <a:solidFill>
              <a:srgbClr val="FFFFFF">
                <a:alpha val="70000"/>
              </a:srgbClr>
            </a:solidFill>
            <a:prstDash val="solid"/>
          </a:ln>
        </p:spPr>
      </p:sp>
      <p:sp>
        <p:nvSpPr>
          <p:cNvPr id="34" name="Text 32"/>
          <p:cNvSpPr/>
          <p:nvPr/>
        </p:nvSpPr>
        <p:spPr>
          <a:xfrm>
            <a:off x="3566160" y="4279392"/>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CommercialSignal</a:t>
            </a:r>
            <a:endParaRPr lang="en-US" sz="900" dirty="0"/>
          </a:p>
        </p:txBody>
      </p:sp>
      <p:sp>
        <p:nvSpPr>
          <p:cNvPr id="35" name="Shape 33"/>
          <p:cNvSpPr/>
          <p:nvPr/>
        </p:nvSpPr>
        <p:spPr>
          <a:xfrm>
            <a:off x="3328416" y="4608576"/>
            <a:ext cx="2523744" cy="256032"/>
          </a:xfrm>
          <a:prstGeom prst="rect">
            <a:avLst/>
          </a:prstGeom>
          <a:solidFill>
            <a:srgbClr val="0F3D8A"/>
          </a:solidFill>
          <a:ln w="12700">
            <a:solidFill>
              <a:srgbClr val="0F3D8A"/>
            </a:solidFill>
            <a:prstDash val="solid"/>
          </a:ln>
        </p:spPr>
      </p:sp>
      <p:sp>
        <p:nvSpPr>
          <p:cNvPr id="36" name="Shape 34"/>
          <p:cNvSpPr/>
          <p:nvPr/>
        </p:nvSpPr>
        <p:spPr>
          <a:xfrm>
            <a:off x="3383280" y="4672584"/>
            <a:ext cx="128016" cy="128016"/>
          </a:xfrm>
          <a:prstGeom prst="ellipse">
            <a:avLst/>
          </a:prstGeom>
          <a:solidFill>
            <a:srgbClr val="FFFFFF">
              <a:alpha val="70000"/>
            </a:srgbClr>
          </a:solidFill>
          <a:ln w="12700">
            <a:solidFill>
              <a:srgbClr val="FFFFFF">
                <a:alpha val="70000"/>
              </a:srgbClr>
            </a:solidFill>
            <a:prstDash val="solid"/>
          </a:ln>
        </p:spPr>
      </p:sp>
      <p:sp>
        <p:nvSpPr>
          <p:cNvPr id="37" name="Text 35"/>
          <p:cNvSpPr/>
          <p:nvPr/>
        </p:nvSpPr>
        <p:spPr>
          <a:xfrm>
            <a:off x="3566160" y="4608576"/>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Generational Wealth Deflection</a:t>
            </a:r>
            <a:endParaRPr lang="en-US" sz="900" dirty="0"/>
          </a:p>
        </p:txBody>
      </p:sp>
      <p:sp>
        <p:nvSpPr>
          <p:cNvPr id="38" name="Shape 36"/>
          <p:cNvSpPr/>
          <p:nvPr/>
        </p:nvSpPr>
        <p:spPr>
          <a:xfrm>
            <a:off x="6144768"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9" name="Shape 37"/>
          <p:cNvSpPr/>
          <p:nvPr/>
        </p:nvSpPr>
        <p:spPr>
          <a:xfrm>
            <a:off x="6144768" y="749808"/>
            <a:ext cx="2816352" cy="804672"/>
          </a:xfrm>
          <a:prstGeom prst="rect">
            <a:avLst/>
          </a:prstGeom>
          <a:solidFill>
            <a:srgbClr val="575A5D"/>
          </a:solidFill>
          <a:ln w="12700">
            <a:solidFill>
              <a:srgbClr val="575A5D"/>
            </a:solidFill>
            <a:prstDash val="solid"/>
          </a:ln>
        </p:spPr>
      </p:sp>
      <p:sp>
        <p:nvSpPr>
          <p:cNvPr id="40" name="Text 38"/>
          <p:cNvSpPr/>
          <p:nvPr/>
        </p:nvSpPr>
        <p:spPr>
          <a:xfrm>
            <a:off x="6254496"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41" name="Shape 39"/>
          <p:cNvSpPr/>
          <p:nvPr/>
        </p:nvSpPr>
        <p:spPr>
          <a:xfrm>
            <a:off x="6912864" y="896112"/>
            <a:ext cx="36576" cy="475488"/>
          </a:xfrm>
          <a:prstGeom prst="rect">
            <a:avLst/>
          </a:prstGeom>
          <a:solidFill>
            <a:srgbClr val="FFFFFF">
              <a:alpha val="60000"/>
            </a:srgbClr>
          </a:solidFill>
          <a:ln w="12700">
            <a:solidFill>
              <a:srgbClr val="FFFFFF">
                <a:alpha val="60000"/>
              </a:srgbClr>
            </a:solidFill>
            <a:prstDash val="solid"/>
          </a:ln>
        </p:spPr>
      </p:sp>
      <p:sp>
        <p:nvSpPr>
          <p:cNvPr id="42" name="Text 40"/>
          <p:cNvSpPr/>
          <p:nvPr/>
        </p:nvSpPr>
        <p:spPr>
          <a:xfrm>
            <a:off x="7022592"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Scale &amp; Expand</a:t>
            </a:r>
            <a:endParaRPr lang="en-US" sz="1500" dirty="0"/>
          </a:p>
        </p:txBody>
      </p:sp>
      <p:sp>
        <p:nvSpPr>
          <p:cNvPr id="43" name="Text 41"/>
          <p:cNvSpPr/>
          <p:nvPr/>
        </p:nvSpPr>
        <p:spPr>
          <a:xfrm>
            <a:off x="7022592"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 FY27–Q2 FY28  (Jan–Jun 2027+)</a:t>
            </a:r>
            <a:endParaRPr lang="en-US" sz="1000" dirty="0"/>
          </a:p>
        </p:txBody>
      </p:sp>
      <p:sp>
        <p:nvSpPr>
          <p:cNvPr id="44" name="Text 42"/>
          <p:cNvSpPr/>
          <p:nvPr/>
        </p:nvSpPr>
        <p:spPr>
          <a:xfrm>
            <a:off x="6309360"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Anomaly Detection: real-time streaming fraud engine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FI Decision Studio: AutoML platform GA release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 Payments data modules fully activated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Horizon apps: Cross-Sell, Overdraft, Sentiment (pilot)</a:t>
            </a:r>
            <a:endParaRPr lang="en-US" sz="1000" dirty="0"/>
          </a:p>
        </p:txBody>
      </p:sp>
      <p:sp>
        <p:nvSpPr>
          <p:cNvPr id="45" name="Shape 43"/>
          <p:cNvSpPr/>
          <p:nvPr/>
        </p:nvSpPr>
        <p:spPr>
          <a:xfrm>
            <a:off x="6144768" y="3675888"/>
            <a:ext cx="2816352" cy="237744"/>
          </a:xfrm>
          <a:prstGeom prst="rect">
            <a:avLst/>
          </a:prstGeom>
          <a:solidFill>
            <a:srgbClr val="575A5D">
              <a:alpha val="12000"/>
            </a:srgbClr>
          </a:solidFill>
          <a:ln w="12700">
            <a:solidFill>
              <a:srgbClr val="575A5D">
                <a:alpha val="30000"/>
              </a:srgbClr>
            </a:solidFill>
            <a:prstDash val="solid"/>
          </a:ln>
        </p:spPr>
      </p:sp>
      <p:sp>
        <p:nvSpPr>
          <p:cNvPr id="46" name="Shape 44"/>
          <p:cNvSpPr/>
          <p:nvPr/>
        </p:nvSpPr>
        <p:spPr>
          <a:xfrm>
            <a:off x="6144768" y="3675888"/>
            <a:ext cx="54864" cy="237744"/>
          </a:xfrm>
          <a:prstGeom prst="rect">
            <a:avLst/>
          </a:prstGeom>
          <a:solidFill>
            <a:srgbClr val="575A5D"/>
          </a:solidFill>
          <a:ln w="12700">
            <a:solidFill>
              <a:srgbClr val="575A5D"/>
            </a:solidFill>
            <a:prstDash val="solid"/>
          </a:ln>
        </p:spPr>
      </p:sp>
      <p:sp>
        <p:nvSpPr>
          <p:cNvPr id="47" name="Text 45"/>
          <p:cNvSpPr/>
          <p:nvPr/>
        </p:nvSpPr>
        <p:spPr>
          <a:xfrm>
            <a:off x="6272784" y="3675888"/>
            <a:ext cx="2651760" cy="237744"/>
          </a:xfrm>
          <a:prstGeom prst="rect">
            <a:avLst/>
          </a:prstGeom>
          <a:noFill/>
          <a:ln/>
        </p:spPr>
        <p:txBody>
          <a:bodyPr wrap="square" lIns="0" tIns="0" rIns="0" bIns="0" rtlCol="0" anchor="ctr"/>
          <a:lstStyle/>
          <a:p>
            <a:pPr indent="0" marL="0">
              <a:buNone/>
            </a:pPr>
            <a:r>
              <a:rPr lang="en-US" sz="750" b="1" spc="50" kern="0" dirty="0">
                <a:solidFill>
                  <a:srgbClr val="575A5D"/>
                </a:solidFill>
                <a:latin typeface="Calibri" pitchFamily="34" charset="0"/>
                <a:ea typeface="Calibri" pitchFamily="34" charset="-122"/>
                <a:cs typeface="Calibri" pitchFamily="34" charset="-120"/>
              </a:rPr>
              <a:t>APPS DELIVERING THIS PHASE</a:t>
            </a:r>
            <a:endParaRPr lang="en-US" sz="750" dirty="0"/>
          </a:p>
        </p:txBody>
      </p:sp>
      <p:sp>
        <p:nvSpPr>
          <p:cNvPr id="48" name="Shape 46"/>
          <p:cNvSpPr/>
          <p:nvPr/>
        </p:nvSpPr>
        <p:spPr>
          <a:xfrm>
            <a:off x="6272784" y="3950208"/>
            <a:ext cx="2523744" cy="256032"/>
          </a:xfrm>
          <a:prstGeom prst="rect">
            <a:avLst/>
          </a:prstGeom>
          <a:solidFill>
            <a:srgbClr val="073FA8"/>
          </a:solidFill>
          <a:ln w="12700">
            <a:solidFill>
              <a:srgbClr val="073FA8"/>
            </a:solidFill>
            <a:prstDash val="solid"/>
          </a:ln>
        </p:spPr>
      </p:sp>
      <p:sp>
        <p:nvSpPr>
          <p:cNvPr id="49" name="Shape 47"/>
          <p:cNvSpPr/>
          <p:nvPr/>
        </p:nvSpPr>
        <p:spPr>
          <a:xfrm>
            <a:off x="6327648" y="4014216"/>
            <a:ext cx="128016" cy="128016"/>
          </a:xfrm>
          <a:prstGeom prst="ellipse">
            <a:avLst/>
          </a:prstGeom>
          <a:solidFill>
            <a:srgbClr val="FFFFFF">
              <a:alpha val="70000"/>
            </a:srgbClr>
          </a:solidFill>
          <a:ln w="12700">
            <a:solidFill>
              <a:srgbClr val="FFFFFF">
                <a:alpha val="70000"/>
              </a:srgbClr>
            </a:solidFill>
            <a:prstDash val="solid"/>
          </a:ln>
        </p:spPr>
      </p:sp>
      <p:sp>
        <p:nvSpPr>
          <p:cNvPr id="50" name="Text 48"/>
          <p:cNvSpPr/>
          <p:nvPr/>
        </p:nvSpPr>
        <p:spPr>
          <a:xfrm>
            <a:off x="6510528" y="3950208"/>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Anomaly Detection</a:t>
            </a:r>
            <a:endParaRPr lang="en-US" sz="900" dirty="0"/>
          </a:p>
        </p:txBody>
      </p:sp>
      <p:sp>
        <p:nvSpPr>
          <p:cNvPr id="51" name="Shape 49"/>
          <p:cNvSpPr/>
          <p:nvPr/>
        </p:nvSpPr>
        <p:spPr>
          <a:xfrm>
            <a:off x="6272784" y="4279392"/>
            <a:ext cx="2523744" cy="256032"/>
          </a:xfrm>
          <a:prstGeom prst="rect">
            <a:avLst/>
          </a:prstGeom>
          <a:solidFill>
            <a:srgbClr val="0D2E7A"/>
          </a:solidFill>
          <a:ln w="12700">
            <a:solidFill>
              <a:srgbClr val="0D2E7A"/>
            </a:solidFill>
            <a:prstDash val="solid"/>
          </a:ln>
        </p:spPr>
      </p:sp>
      <p:sp>
        <p:nvSpPr>
          <p:cNvPr id="52" name="Shape 50"/>
          <p:cNvSpPr/>
          <p:nvPr/>
        </p:nvSpPr>
        <p:spPr>
          <a:xfrm>
            <a:off x="6327648" y="4343400"/>
            <a:ext cx="128016" cy="128016"/>
          </a:xfrm>
          <a:prstGeom prst="ellipse">
            <a:avLst/>
          </a:prstGeom>
          <a:solidFill>
            <a:srgbClr val="FFFFFF">
              <a:alpha val="70000"/>
            </a:srgbClr>
          </a:solidFill>
          <a:ln w="12700">
            <a:solidFill>
              <a:srgbClr val="FFFFFF">
                <a:alpha val="70000"/>
              </a:srgbClr>
            </a:solidFill>
            <a:prstDash val="solid"/>
          </a:ln>
        </p:spPr>
      </p:sp>
      <p:sp>
        <p:nvSpPr>
          <p:cNvPr id="53" name="Text 51"/>
          <p:cNvSpPr/>
          <p:nvPr/>
        </p:nvSpPr>
        <p:spPr>
          <a:xfrm>
            <a:off x="6510528" y="4279392"/>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FI Decision Studio</a:t>
            </a:r>
            <a:endParaRPr lang="en-US" sz="900" dirty="0"/>
          </a:p>
        </p:txBody>
      </p:sp>
      <p:sp>
        <p:nvSpPr>
          <p:cNvPr id="54" name="Shape 52"/>
          <p:cNvSpPr/>
          <p:nvPr/>
        </p:nvSpPr>
        <p:spPr>
          <a:xfrm>
            <a:off x="7918704" y="4306824"/>
            <a:ext cx="749808" cy="201168"/>
          </a:xfrm>
          <a:prstGeom prst="rect">
            <a:avLst/>
          </a:prstGeom>
          <a:solidFill>
            <a:srgbClr val="FFFFFF">
              <a:alpha val="80000"/>
            </a:srgbClr>
          </a:solidFill>
          <a:ln w="12700">
            <a:solidFill>
              <a:srgbClr val="FFFFFF">
                <a:alpha val="60000"/>
              </a:srgbClr>
            </a:solidFill>
            <a:prstDash val="solid"/>
          </a:ln>
        </p:spPr>
      </p:sp>
      <p:sp>
        <p:nvSpPr>
          <p:cNvPr id="55" name="Text 53"/>
          <p:cNvSpPr/>
          <p:nvPr/>
        </p:nvSpPr>
        <p:spPr>
          <a:xfrm>
            <a:off x="7918704" y="4306824"/>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Platform</a:t>
            </a:r>
            <a:endParaRPr lang="en-US" sz="700" dirty="0"/>
          </a:p>
        </p:txBody>
      </p:sp>
      <p:sp>
        <p:nvSpPr>
          <p:cNvPr id="56" name="Shape 54"/>
          <p:cNvSpPr/>
          <p:nvPr/>
        </p:nvSpPr>
        <p:spPr>
          <a:xfrm>
            <a:off x="6272784" y="4608576"/>
            <a:ext cx="2523744" cy="256032"/>
          </a:xfrm>
          <a:prstGeom prst="rect">
            <a:avLst/>
          </a:prstGeom>
          <a:solidFill>
            <a:srgbClr val="073FA8"/>
          </a:solidFill>
          <a:ln w="12700">
            <a:solidFill>
              <a:srgbClr val="073FA8"/>
            </a:solidFill>
            <a:prstDash val="solid"/>
          </a:ln>
        </p:spPr>
      </p:sp>
      <p:sp>
        <p:nvSpPr>
          <p:cNvPr id="57" name="Shape 55"/>
          <p:cNvSpPr/>
          <p:nvPr/>
        </p:nvSpPr>
        <p:spPr>
          <a:xfrm>
            <a:off x="6327648" y="4672584"/>
            <a:ext cx="128016" cy="128016"/>
          </a:xfrm>
          <a:prstGeom prst="ellipse">
            <a:avLst/>
          </a:prstGeom>
          <a:solidFill>
            <a:srgbClr val="FFFFFF">
              <a:alpha val="70000"/>
            </a:srgbClr>
          </a:solidFill>
          <a:ln w="12700">
            <a:solidFill>
              <a:srgbClr val="FFFFFF">
                <a:alpha val="70000"/>
              </a:srgbClr>
            </a:solidFill>
            <a:prstDash val="solid"/>
          </a:ln>
        </p:spPr>
      </p:sp>
      <p:sp>
        <p:nvSpPr>
          <p:cNvPr id="58" name="Text 56"/>
          <p:cNvSpPr/>
          <p:nvPr/>
        </p:nvSpPr>
        <p:spPr>
          <a:xfrm>
            <a:off x="6510528" y="4608576"/>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 Horizon Pipeline</a:t>
            </a:r>
            <a:endParaRPr lang="en-US" sz="900" dirty="0"/>
          </a:p>
        </p:txBody>
      </p:sp>
      <p:sp>
        <p:nvSpPr>
          <p:cNvPr id="59" name="Shape 57"/>
          <p:cNvSpPr/>
          <p:nvPr/>
        </p:nvSpPr>
        <p:spPr>
          <a:xfrm>
            <a:off x="7918704" y="4636008"/>
            <a:ext cx="749808" cy="201168"/>
          </a:xfrm>
          <a:prstGeom prst="rect">
            <a:avLst/>
          </a:prstGeom>
          <a:solidFill>
            <a:srgbClr val="FFFFFF">
              <a:alpha val="80000"/>
            </a:srgbClr>
          </a:solidFill>
          <a:ln w="12700">
            <a:solidFill>
              <a:srgbClr val="FFFFFF">
                <a:alpha val="60000"/>
              </a:srgbClr>
            </a:solidFill>
            <a:prstDash val="solid"/>
          </a:ln>
        </p:spPr>
      </p:sp>
      <p:sp>
        <p:nvSpPr>
          <p:cNvPr id="60" name="Text 58"/>
          <p:cNvSpPr/>
          <p:nvPr/>
        </p:nvSpPr>
        <p:spPr>
          <a:xfrm>
            <a:off x="7918704" y="4636008"/>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Pilot</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029200" y="-1828800"/>
            <a:ext cx="6858000" cy="68580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400800" y="1097280"/>
            <a:ext cx="3657600" cy="3657600"/>
          </a:xfrm>
          <a:prstGeom prst="ellipse">
            <a:avLst/>
          </a:prstGeom>
          <a:solidFill>
            <a:srgbClr val="76DCFD">
              <a:alpha val="10000"/>
            </a:srgbClr>
          </a:solidFill>
          <a:ln w="12700">
            <a:solidFill>
              <a:srgbClr val="76DCFD">
                <a:alpha val="18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38912"/>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NEXT STEPS</a:t>
            </a:r>
            <a:endParaRPr lang="en-US" sz="1100" dirty="0"/>
          </a:p>
        </p:txBody>
      </p:sp>
      <p:sp>
        <p:nvSpPr>
          <p:cNvPr id="6" name="Text 4"/>
          <p:cNvSpPr/>
          <p:nvPr/>
        </p:nvSpPr>
        <p:spPr>
          <a:xfrm>
            <a:off x="365760" y="868680"/>
            <a:ext cx="6583680" cy="13716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Approve the Roadmap.</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Fund the Team.</a:t>
            </a:r>
            <a:endParaRPr lang="en-US" sz="4000" dirty="0"/>
          </a:p>
        </p:txBody>
      </p:sp>
      <p:sp>
        <p:nvSpPr>
          <p:cNvPr id="7" name="Shape 5"/>
          <p:cNvSpPr/>
          <p:nvPr/>
        </p:nvSpPr>
        <p:spPr>
          <a:xfrm>
            <a:off x="365760" y="2386584"/>
            <a:ext cx="329184" cy="329184"/>
          </a:xfrm>
          <a:prstGeom prst="ellipse">
            <a:avLst/>
          </a:prstGeom>
          <a:solidFill>
            <a:srgbClr val="085CE5"/>
          </a:solidFill>
          <a:ln w="12700">
            <a:solidFill>
              <a:srgbClr val="085CE5"/>
            </a:solidFill>
            <a:prstDash val="solid"/>
          </a:ln>
        </p:spPr>
      </p:sp>
      <p:sp>
        <p:nvSpPr>
          <p:cNvPr id="8" name="Text 6"/>
          <p:cNvSpPr/>
          <p:nvPr/>
        </p:nvSpPr>
        <p:spPr>
          <a:xfrm>
            <a:off x="365760"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04672" y="2432304"/>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JHBI approves headcount budget and infrastructure allocation for Phase 1</a:t>
            </a:r>
            <a:endParaRPr lang="en-US" sz="1200" dirty="0"/>
          </a:p>
        </p:txBody>
      </p:sp>
      <p:sp>
        <p:nvSpPr>
          <p:cNvPr id="10" name="Shape 8"/>
          <p:cNvSpPr/>
          <p:nvPr/>
        </p:nvSpPr>
        <p:spPr>
          <a:xfrm>
            <a:off x="365760" y="2862072"/>
            <a:ext cx="329184" cy="329184"/>
          </a:xfrm>
          <a:prstGeom prst="ellipse">
            <a:avLst/>
          </a:prstGeom>
          <a:solidFill>
            <a:srgbClr val="085CE5"/>
          </a:solidFill>
          <a:ln w="12700">
            <a:solidFill>
              <a:srgbClr val="085CE5"/>
            </a:solidFill>
            <a:prstDash val="solid"/>
          </a:ln>
        </p:spPr>
      </p:sp>
      <p:sp>
        <p:nvSpPr>
          <p:cNvPr id="11" name="Text 9"/>
          <p:cNvSpPr/>
          <p:nvPr/>
        </p:nvSpPr>
        <p:spPr>
          <a:xfrm>
            <a:off x="365760" y="286207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804672" y="2907792"/>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DS team begins recruiting: Data Engineers + ML Engineers (Month 1)</a:t>
            </a:r>
            <a:endParaRPr lang="en-US" sz="1200" dirty="0"/>
          </a:p>
        </p:txBody>
      </p:sp>
      <p:sp>
        <p:nvSpPr>
          <p:cNvPr id="13" name="Shape 11"/>
          <p:cNvSpPr/>
          <p:nvPr/>
        </p:nvSpPr>
        <p:spPr>
          <a:xfrm>
            <a:off x="365760" y="3337560"/>
            <a:ext cx="329184" cy="329184"/>
          </a:xfrm>
          <a:prstGeom prst="ellipse">
            <a:avLst/>
          </a:prstGeom>
          <a:solidFill>
            <a:srgbClr val="085CE5"/>
          </a:solidFill>
          <a:ln w="12700">
            <a:solidFill>
              <a:srgbClr val="085CE5"/>
            </a:solidFill>
            <a:prstDash val="solid"/>
          </a:ln>
        </p:spPr>
      </p:sp>
      <p:sp>
        <p:nvSpPr>
          <p:cNvPr id="14" name="Text 12"/>
          <p:cNvSpPr/>
          <p:nvPr/>
        </p:nvSpPr>
        <p:spPr>
          <a:xfrm>
            <a:off x="365760" y="3337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804672" y="3383280"/>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Cloud platform procurement and ML environment setup (Months 1–2)</a:t>
            </a:r>
            <a:endParaRPr lang="en-US" sz="1200" dirty="0"/>
          </a:p>
        </p:txBody>
      </p:sp>
      <p:sp>
        <p:nvSpPr>
          <p:cNvPr id="16" name="Shape 14"/>
          <p:cNvSpPr/>
          <p:nvPr/>
        </p:nvSpPr>
        <p:spPr>
          <a:xfrm>
            <a:off x="365760" y="3813048"/>
            <a:ext cx="329184" cy="329184"/>
          </a:xfrm>
          <a:prstGeom prst="ellipse">
            <a:avLst/>
          </a:prstGeom>
          <a:solidFill>
            <a:srgbClr val="085CE5"/>
          </a:solidFill>
          <a:ln w="12700">
            <a:solidFill>
              <a:srgbClr val="085CE5"/>
            </a:solidFill>
            <a:prstDash val="solid"/>
          </a:ln>
        </p:spPr>
      </p:sp>
      <p:sp>
        <p:nvSpPr>
          <p:cNvPr id="17" name="Text 15"/>
          <p:cNvSpPr/>
          <p:nvPr/>
        </p:nvSpPr>
        <p:spPr>
          <a:xfrm>
            <a:off x="365760" y="38130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Text 16"/>
          <p:cNvSpPr/>
          <p:nvPr/>
        </p:nvSpPr>
        <p:spPr>
          <a:xfrm>
            <a:off x="804672" y="3858768"/>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Churn Mediation MVP scoping session + FI data access agreements (Month 2)</a:t>
            </a:r>
            <a:endParaRPr lang="en-US" sz="1200" dirty="0"/>
          </a:p>
        </p:txBody>
      </p:sp>
      <p:sp>
        <p:nvSpPr>
          <p:cNvPr id="19" name="Shape 17"/>
          <p:cNvSpPr/>
          <p:nvPr/>
        </p:nvSpPr>
        <p:spPr>
          <a:xfrm>
            <a:off x="365760" y="4288536"/>
            <a:ext cx="329184" cy="329184"/>
          </a:xfrm>
          <a:prstGeom prst="ellipse">
            <a:avLst/>
          </a:prstGeom>
          <a:solidFill>
            <a:srgbClr val="085CE5"/>
          </a:solidFill>
          <a:ln w="12700">
            <a:solidFill>
              <a:srgbClr val="085CE5"/>
            </a:solidFill>
            <a:prstDash val="solid"/>
          </a:ln>
        </p:spPr>
      </p:sp>
      <p:sp>
        <p:nvSpPr>
          <p:cNvPr id="20" name="Text 18"/>
          <p:cNvSpPr/>
          <p:nvPr/>
        </p:nvSpPr>
        <p:spPr>
          <a:xfrm>
            <a:off x="365760" y="42885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1" name="Text 19"/>
          <p:cNvSpPr/>
          <p:nvPr/>
        </p:nvSpPr>
        <p:spPr>
          <a:xfrm>
            <a:off x="804672" y="4334256"/>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Bi-weekly DS steering committee established for roadmap governance</a:t>
            </a:r>
            <a:endParaRPr lang="en-US" sz="1200" dirty="0"/>
          </a:p>
        </p:txBody>
      </p:sp>
      <p:sp>
        <p:nvSpPr>
          <p:cNvPr id="22" name="Text 20"/>
          <p:cNvSpPr/>
          <p:nvPr/>
        </p:nvSpPr>
        <p:spPr>
          <a:xfrm>
            <a:off x="365760" y="4828032"/>
            <a:ext cx="8229600" cy="237744"/>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Powering the Financial World™  |  Jack Henry Data &amp; Analytics Team  |  March 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2026-04-02T13:11:25Z</dcterms:created>
  <dcterms:modified xsi:type="dcterms:W3CDTF">2026-04-02T13:11:25Z</dcterms:modified>
</cp:coreProperties>
</file>