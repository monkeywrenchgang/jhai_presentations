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Zelle Memo Intelligence</c:v>
                </c:pt>
              </c:strCache>
            </c:strRef>
          </c:tx>
          <c:spPr>
            <a:solidFill>
              <a:srgbClr val="085CE5"/>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Q3 FY26</c:v>
                  </c:pt>
                  <c:pt idx="1">
                    <c:v>Q4 FY26</c:v>
                  </c:pt>
                  <c:pt idx="2">
                    <c:v>Q1 FY27</c:v>
                  </c:pt>
                  <c:pt idx="3">
                    <c:v>Q2 FY27</c:v>
                  </c:pt>
                  <c:pt idx="4">
                    <c:v>Q3 FY27</c:v>
                  </c:pt>
                  <c:pt idx="5">
                    <c:v>Q4 FY27 ★</c:v>
                  </c:pt>
                  <c:pt idx="6">
                    <c:v>Q1 FY28</c:v>
                  </c:pt>
                  <c:pt idx="7">
                    <c:v>Q2 FY28</c:v>
                  </c:pt>
                </c:lvl>
              </c:multiLvlStrCache>
            </c:multiLvlStrRef>
          </c:cat>
          <c:val>
            <c:numRef>
              <c:f>Sheet1!$B$2:$B$9</c:f>
              <c:numCache>
                <c:formatCode>General</c:formatCode>
                <c:ptCount val="8"/>
                <c:pt idx="0">
                  <c:v>0</c:v>
                </c:pt>
                <c:pt idx="1">
                  <c:v>0</c:v>
                </c:pt>
                <c:pt idx="2">
                  <c:v>116.4</c:v>
                </c:pt>
                <c:pt idx="3">
                  <c:v>203.7</c:v>
                </c:pt>
                <c:pt idx="4">
                  <c:v>281.3</c:v>
                </c:pt>
                <c:pt idx="5">
                  <c:v>329.8</c:v>
                </c:pt>
                <c:pt idx="6">
                  <c:v>368.6</c:v>
                </c:pt>
                <c:pt idx="7">
                  <c:v>397.7</c:v>
                </c:pt>
              </c:numCache>
            </c:numRef>
          </c:val>
        </c:ser>
        <c:ser>
          <c:idx val="1"/>
          <c:order val="1"/>
          <c:tx>
            <c:strRef>
              <c:f>Sheet1!$C$1</c:f>
              <c:strCache>
                <c:ptCount val="1"/>
                <c:pt idx="0">
                  <c:v>Churn Sentinel</c:v>
                </c:pt>
              </c:strCache>
            </c:strRef>
          </c:tx>
          <c:spPr>
            <a:solidFill>
              <a:srgbClr val="0618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Q3 FY26</c:v>
                  </c:pt>
                  <c:pt idx="1">
                    <c:v>Q4 FY26</c:v>
                  </c:pt>
                  <c:pt idx="2">
                    <c:v>Q1 FY27</c:v>
                  </c:pt>
                  <c:pt idx="3">
                    <c:v>Q2 FY27</c:v>
                  </c:pt>
                  <c:pt idx="4">
                    <c:v>Q3 FY27</c:v>
                  </c:pt>
                  <c:pt idx="5">
                    <c:v>Q4 FY27 ★</c:v>
                  </c:pt>
                  <c:pt idx="6">
                    <c:v>Q1 FY28</c:v>
                  </c:pt>
                  <c:pt idx="7">
                    <c:v>Q2 FY28</c:v>
                  </c:pt>
                </c:lvl>
              </c:multiLvlStrCache>
            </c:multiLvlStrRef>
          </c:cat>
          <c:val>
            <c:numRef>
              <c:f>Sheet1!$C$2:$C$9</c:f>
              <c:numCache>
                <c:formatCode>General</c:formatCode>
                <c:ptCount val="8"/>
                <c:pt idx="0">
                  <c:v>0</c:v>
                </c:pt>
                <c:pt idx="1">
                  <c:v>0</c:v>
                </c:pt>
                <c:pt idx="2">
                  <c:v>0</c:v>
                </c:pt>
                <c:pt idx="3">
                  <c:v>205.5</c:v>
                </c:pt>
                <c:pt idx="4">
                  <c:v>369.9</c:v>
                </c:pt>
                <c:pt idx="5">
                  <c:v>506.9</c:v>
                </c:pt>
                <c:pt idx="6">
                  <c:v>602.8</c:v>
                </c:pt>
                <c:pt idx="7">
                  <c:v>657.6</c:v>
                </c:pt>
              </c:numCache>
            </c:numRef>
          </c:val>
        </c:ser>
        <c:ser>
          <c:idx val="2"/>
          <c:order val="2"/>
          <c:tx>
            <c:strRef>
              <c:f>Sheet1!$D$1</c:f>
              <c:strCache>
                <c:ptCount val="1"/>
                <c:pt idx="0">
                  <c:v>CommercialSignal</c:v>
                </c:pt>
              </c:strCache>
            </c:strRef>
          </c:tx>
          <c:spPr>
            <a:solidFill>
              <a:srgbClr val="0A52C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Q3 FY26</c:v>
                  </c:pt>
                  <c:pt idx="1">
                    <c:v>Q4 FY26</c:v>
                  </c:pt>
                  <c:pt idx="2">
                    <c:v>Q1 FY27</c:v>
                  </c:pt>
                  <c:pt idx="3">
                    <c:v>Q2 FY27</c:v>
                  </c:pt>
                  <c:pt idx="4">
                    <c:v>Q3 FY27</c:v>
                  </c:pt>
                  <c:pt idx="5">
                    <c:v>Q4 FY27 ★</c:v>
                  </c:pt>
                  <c:pt idx="6">
                    <c:v>Q1 FY28</c:v>
                  </c:pt>
                  <c:pt idx="7">
                    <c:v>Q2 FY28</c:v>
                  </c:pt>
                </c:lvl>
              </c:multiLvlStrCache>
            </c:multiLvlStrRef>
          </c:cat>
          <c:val>
            <c:numRef>
              <c:f>Sheet1!$D$2:$D$9</c:f>
              <c:numCache>
                <c:formatCode>General</c:formatCode>
                <c:ptCount val="8"/>
                <c:pt idx="0">
                  <c:v>0</c:v>
                </c:pt>
                <c:pt idx="1">
                  <c:v>0</c:v>
                </c:pt>
                <c:pt idx="2">
                  <c:v>0</c:v>
                </c:pt>
                <c:pt idx="3">
                  <c:v>0</c:v>
                </c:pt>
                <c:pt idx="4">
                  <c:v>111</c:v>
                </c:pt>
                <c:pt idx="5">
                  <c:v>199.8</c:v>
                </c:pt>
                <c:pt idx="6">
                  <c:v>266.4</c:v>
                </c:pt>
                <c:pt idx="7">
                  <c:v>321.9</c:v>
                </c:pt>
              </c:numCache>
            </c:numRef>
          </c:val>
        </c:ser>
        <c:ser>
          <c:idx val="3"/>
          <c:order val="3"/>
          <c:tx>
            <c:strRef>
              <c:f>Sheet1!$E$1</c:f>
              <c:strCache>
                <c:ptCount val="1"/>
                <c:pt idx="0">
                  <c:v>Gen. Wealth Deflection</c:v>
                </c:pt>
              </c:strCache>
            </c:strRef>
          </c:tx>
          <c:spPr>
            <a:solidFill>
              <a:srgbClr val="0F3D8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Q3 FY26</c:v>
                  </c:pt>
                  <c:pt idx="1">
                    <c:v>Q4 FY26</c:v>
                  </c:pt>
                  <c:pt idx="2">
                    <c:v>Q1 FY27</c:v>
                  </c:pt>
                  <c:pt idx="3">
                    <c:v>Q2 FY27</c:v>
                  </c:pt>
                  <c:pt idx="4">
                    <c:v>Q3 FY27</c:v>
                  </c:pt>
                  <c:pt idx="5">
                    <c:v>Q4 FY27 ★</c:v>
                  </c:pt>
                  <c:pt idx="6">
                    <c:v>Q1 FY28</c:v>
                  </c:pt>
                  <c:pt idx="7">
                    <c:v>Q2 FY28</c:v>
                  </c:pt>
                </c:lvl>
              </c:multiLvlStrCache>
            </c:multiLvlStrRef>
          </c:cat>
          <c:val>
            <c:numRef>
              <c:f>Sheet1!$E$2:$E$9</c:f>
              <c:numCache>
                <c:formatCode>General</c:formatCode>
                <c:ptCount val="8"/>
                <c:pt idx="0">
                  <c:v>0</c:v>
                </c:pt>
                <c:pt idx="1">
                  <c:v>0</c:v>
                </c:pt>
                <c:pt idx="2">
                  <c:v>0</c:v>
                </c:pt>
                <c:pt idx="3">
                  <c:v>0</c:v>
                </c:pt>
                <c:pt idx="4">
                  <c:v>0</c:v>
                </c:pt>
                <c:pt idx="5">
                  <c:v>0</c:v>
                </c:pt>
                <c:pt idx="6">
                  <c:v>95.2</c:v>
                </c:pt>
                <c:pt idx="7">
                  <c:v>163.2</c:v>
                </c:pt>
              </c:numCache>
            </c:numRef>
          </c:val>
        </c:ser>
        <c:ser>
          <c:idx val="4"/>
          <c:order val="4"/>
          <c:tx>
            <c:strRef>
              <c:f>Sheet1!$F$1</c:f>
              <c:strCache>
                <c:ptCount val="1"/>
                <c:pt idx="0">
                  <c:v>Anomaly Detection</c:v>
                </c:pt>
              </c:strCache>
            </c:strRef>
          </c:tx>
          <c:spPr>
            <a:solidFill>
              <a:srgbClr val="575A5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Q3 FY26</c:v>
                  </c:pt>
                  <c:pt idx="1">
                    <c:v>Q4 FY26</c:v>
                  </c:pt>
                  <c:pt idx="2">
                    <c:v>Q1 FY27</c:v>
                  </c:pt>
                  <c:pt idx="3">
                    <c:v>Q2 FY27</c:v>
                  </c:pt>
                  <c:pt idx="4">
                    <c:v>Q3 FY27</c:v>
                  </c:pt>
                  <c:pt idx="5">
                    <c:v>Q4 FY27 ★</c:v>
                  </c:pt>
                  <c:pt idx="6">
                    <c:v>Q1 FY28</c:v>
                  </c:pt>
                  <c:pt idx="7">
                    <c:v>Q2 FY28</c:v>
                  </c:pt>
                </c:lvl>
              </c:multiLvlStrCache>
            </c:multiLvlStrRef>
          </c:cat>
          <c:val>
            <c:numRef>
              <c:f>Sheet1!$F$2:$F$9</c:f>
              <c:numCache>
                <c:formatCode>General</c:formatCode>
                <c:ptCount val="8"/>
                <c:pt idx="0">
                  <c:v>0</c:v>
                </c:pt>
                <c:pt idx="1">
                  <c:v>0</c:v>
                </c:pt>
                <c:pt idx="2">
                  <c:v>0</c:v>
                </c:pt>
                <c:pt idx="3">
                  <c:v>0</c:v>
                </c:pt>
                <c:pt idx="4">
                  <c:v>0</c:v>
                </c:pt>
                <c:pt idx="5">
                  <c:v>0</c:v>
                </c:pt>
                <c:pt idx="6">
                  <c:v>0</c:v>
                </c:pt>
                <c:pt idx="7">
                  <c:v>117.6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75A5D"/>
                </a:solidFill>
                <a:latin typeface="Arial"/>
              </a:defRPr>
            </a:pPr>
            <a:endParaRPr lang="en-US"/>
          </a:p>
        </c:txPr>
        <c:crossAx val="2094734552"/>
        <c:crosses val="autoZero"/>
        <c:auto val="1"/>
        <c:lblAlgn val="ctr"/>
        <c:noMultiLvlLbl val="1"/>
      </c:catAx>
      <c:valAx>
        <c:axId val="2094734552"/>
        <c:scaling>
          <c:orientation val="minMax"/>
          <c:max val="180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75A5D"/>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PATH TO $1M ARR — Presenter Talking Points
OPENING FRAME (30 seconds):
"This slide answers the question we always get from leadership: what's the return? The answer is $1M in ARR by Q4 FY27 — that's April through June of next year — driven by just three apps and less than five percent penetration of our existing FI base."
THE MODEL STRUCTURE:
• This is not a top-down market-sizing exercise. It's a bottoms-up, account-by-account model built on JH's actual 1,660 contracted FIs.
• We segmented those FIs by asset tier and CU/bank split (44% CU / 56% bank). CUs get a 12% pricing accommodation for cooperative budget structures.
• Each app has a blended average price — weighted across tiers — that we used to project ARR as FIs onboard quarterly.
• We applied an 8% annual subscription churn rate (2% per quarter) to model attrition realistically.
THE RAMP (walk the chart left to right):
• Q3–Q4 FY26: Build quarters — no revenue. The team is building Churn Sentinel ACH pipeline.
• Q1 FY27: Zelle Memo Intelligence launches. 12 FIs in first quarter → $116K ARR. Zelle-enabled FIs only (~580 addressable).
• Q2 FY27: Churn Sentinel launches. 15 new FIs added. Total ARR crosses $400K.
• Q3 FY27: CommercialSignal adds to the stack. Three apps running simultaneously → $762K.
• Q4 FY27 ★: The milestone quarter. $1.04M ARR. Three apps, ~81 active subscribers.
• Q1–Q2 FY28: Gen. Wealth Deflection and Anomaly Detection come online. Trajectory toward $1.7M.
WHAT MAKES THIS CREDIBLE:
• 4.9% penetration of our own customer base is extremely achievable — we already have the relationships, the contracts, and the data pipelines. This is not cold outreach. These are existing JHBI clients we upsell.
• Churn Sentinel has the broadest addressability (all 1,660 FIs), which is why it becomes the largest revenue line by Q2 FY28.
• The model is conservative: no bundle pricing, no cross-sell acceleration, no partner channel.
KEY RISK AND MITIGATION:
• Biggest risk is sales cycle length — community FIs can have 6-12 month procurement cycles. Mitigation: build the pilot program (3–5 anchor FIs) into the Phase 1 plan to generate reference customers quickly.
• "What if we miss the 12-FI launch target for Zelle Memo?" — model holds above $700K in Q3 FY27 even if launch numbers are 30% lower.
CLOSE:
"The Excel model behind this is available for review. Every assumption is documented, all formulas are live, and we built it so leadership can stress-test any variable — penetration rate, pricing, churn. The path to $1M is conservative and achievable within our existing FI base without adding a single new JH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DS APP PRICING — Presenter Talking Points
FRAMING (15 seconds):
"These are annual add-on subscriptions priced on top of the JHBI platform fee. We're not replacing JHBI revenue — we're extending it. Every existing JHBI client is a potential buyer. No new sales motion required, just a product upsell."
THE PRICING RATIONALE:
• Pricing scales with institution size — smaller FIs (&lt;$250M) pay entry-level rates; larger FIs ($5B+) pay rates commensurate with the value at scale (a 5B+ bank protecting even 0.5% churn = multi-million dollar impact).
• The blended average prices used in the revenue model account for our 44/56 CU/bank mix and the 12% cooperative discount for CUs.
• Why a 12% CU discount? Credit unions run on NCUA-regulated capital ratios and cooperative surplus rules — budget flexibility is genuinely lower. A modest discount maintains the relationship without giving away margin; we're still above SAAS rule-of-thumb economics.
TIER POSITIONING:
• &lt;$250M tier: Entry point. $5–9K is a rounding error relative to the potential churn or fraud loss at this asset size. Easy approval cycle.
• $250M–$1B tier: Core community bank/CU market — most of our base sits here. $8–14K annually is a 1–2 month subscriptions to a junior analyst. Model ROI is obvious.
• $1B–$5B: Larger regional. $15–24K. These FIs often have internal analytics teams; our angle is "complement your team with JH network intelligence you can't build yourself."
• $5B+: Strategic accounts. $25–40K. Require more complex sales cycle but anchor client wins drive brand credibility. Prioritize 1–2 pilot partners here early.
LAUNCH SEQUENCING (connect back to the roadmap):
• Zelle Memo launches first (Q1 FY27) because the payments pipeline is being built anyway — it's the lowest incremental lift.
• Churn Sentinel follows in Q2 FY27 and has the broadest addressability — all 1,660 FIs, no Zelle dependency.
• CommercialSignal Q3 FY27, Gen. Wealth and Anomaly Detection in FY28 as the model suite matures.
ON BUNDLING:
"We're not offering bundles at launch — we want clean per-app economics to understand what the market actually values. Once we have 4–5 apps live and 50+ FI subscribers, bundling becomes a natural conversation to drive expansion revenue. That option is built into the model as a future lever."
ANTICIPATED QUESTION: "Why not price per-account or per-user?"
Answer: Per-FI annual subscription is the dominant SaaS model in fintech B2B. It's predictable, easy for FI budget owners to approve (single line item), and doesn't require us to instrument usage metering in Year 1. We can layer consumption pricing in Year 2 once instrumentation is in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ARCU &amp; JHAKnow → JHBI TRANSITION — Presenter Talking Points
OPENING FRAME:
"This slide addresses a question leadership will ask: what happens to our existing ARCU and JHAKnow customers? The answer is: they get the better product at their current price, and we grow from there."
THE TRANSITION STORY:
• ARCU and JHAKnow are being replaced by JHBI — Jack Henry's next-generation intelligence platform. JHBI is the unified successor, combining the capabilities of both into a single platform with a richer data model.
• 720 credit unions currently on ARCU. 940 banks on JHAKnow. Total: 1,660 core FIs — all of whom are JHBI's addressable base for Day 1.
• The migration is structured as a wave-based program over 4 quarters (Fall 2026 through Spring 2027), with pilot cohorts in Q1 FY27 to work out onboarding issues before scale.
PRICING CONTINUITY — THE KEY MESSAGE:
• Existing subscribers get JHBI at their current rate. This is a loyalty signal and removes friction from the migration conversation.
• Net-new FIs (any FI joining JHBI that was NOT on ARCU or JHAKnow) pay JHBI platform rates — which is how we grow revenue without raising prices on existing clients.
• DS apps are add-on subscriptions for ALL clients regardless of migration status. Zelle Memo Intelligence is available from Day 1.
THE CU TRACK:
• 720 ARCU credit unions. Pilot cohort of 50 in Q1 FY27 — focused on digital-forward CUs with Zelle enabled (strongest immediate DS app fit).
• Waves 1 and 2 (Q2-Q3 FY27) convert the bulk of the base. By Q4 FY27, all 720 CUs are on JHBI.
• Key hooks: Zelle Memo Intelligence (Q1), Churn Sentinel (Q2), CommercialSignal (Q3).
THE BANK TRACK:
• 940 JHAKnow banks. Pilot cohort of 30 — focus on mid-size community banks ($250M–$1B) with the clearest ROI profile for DS apps.
• Bank waves follow the same timing. By Q4 FY27, full bank base is on JHBI.
• JHAKnow banks tend to have stronger commercial banking activity — CommercialSignal and Churn Sentinel are the strongest initial DS app conversations.
ANTICIPATED OBJECTION: "Won't existing clients feel shortchanged if new clients get a better deal?"
Answer: No — existing clients get price protection AND access to the new platform. The premium pricing is for net-new relationships. This is standard SaaS migration practice (Salesforce, HubSpot all do this).
REVENUE IMPLICATION:
• As the existing base migrates, DS add-on revenue builds. The path to $1M ARR we showed (4.9% penetration) is achievable entirely within the migrating base — no net-new JH client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185F"/>
        </a:solidFill>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85CE5"/>
          </a:solidFill>
          <a:ln w="12700">
            <a:solidFill>
              <a:srgbClr val="085CE5"/>
            </a:solidFill>
            <a:prstDash val="solid"/>
          </a:ln>
        </p:spPr>
      </p:sp>
      <p:sp>
        <p:nvSpPr>
          <p:cNvPr id="3" name="Shape 1"/>
          <p:cNvSpPr/>
          <p:nvPr/>
        </p:nvSpPr>
        <p:spPr>
          <a:xfrm>
            <a:off x="6400800" y="2103120"/>
            <a:ext cx="4114800" cy="4114800"/>
          </a:xfrm>
          <a:prstGeom prst="ellipse">
            <a:avLst/>
          </a:prstGeom>
          <a:solidFill>
            <a:srgbClr val="085CE5">
              <a:alpha val="15000"/>
            </a:srgbClr>
          </a:solidFill>
          <a:ln w="12700">
            <a:solidFill>
              <a:srgbClr val="085CE5">
                <a:alpha val="25000"/>
              </a:srgbClr>
            </a:solidFill>
            <a:prstDash val="solid"/>
          </a:ln>
        </p:spPr>
      </p:sp>
      <p:sp>
        <p:nvSpPr>
          <p:cNvPr id="4" name="Shape 2"/>
          <p:cNvSpPr/>
          <p:nvPr/>
        </p:nvSpPr>
        <p:spPr>
          <a:xfrm>
            <a:off x="7315200" y="2834640"/>
            <a:ext cx="2560320" cy="2560320"/>
          </a:xfrm>
          <a:prstGeom prst="ellipse">
            <a:avLst/>
          </a:prstGeom>
          <a:solidFill>
            <a:srgbClr val="76DCFD">
              <a:alpha val="25000"/>
            </a:srgbClr>
          </a:solidFill>
          <a:ln w="12700">
            <a:solidFill>
              <a:srgbClr val="76DCFD">
                <a:alpha val="35000"/>
              </a:srgbClr>
            </a:solidFill>
            <a:prstDash val="solid"/>
          </a:ln>
        </p:spPr>
      </p:sp>
      <p:sp>
        <p:nvSpPr>
          <p:cNvPr id="5" name="Text 3"/>
          <p:cNvSpPr/>
          <p:nvPr/>
        </p:nvSpPr>
        <p:spPr>
          <a:xfrm>
            <a:off x="365760" y="502920"/>
            <a:ext cx="8412480" cy="320040"/>
          </a:xfrm>
          <a:prstGeom prst="rect">
            <a:avLst/>
          </a:prstGeom>
          <a:noFill/>
          <a:ln/>
        </p:spPr>
        <p:txBody>
          <a:bodyPr wrap="square" lIns="0" tIns="0" rIns="0" bIns="0" rtlCol="0" anchor="ctr"/>
          <a:lstStyle/>
          <a:p>
            <a:pPr indent="0" marL="0">
              <a:buNone/>
            </a:pPr>
            <a:r>
              <a:rPr lang="en-US" sz="1100" spc="100" kern="0" dirty="0">
                <a:solidFill>
                  <a:srgbClr val="76DCFD"/>
                </a:solidFill>
                <a:latin typeface="Calibri" pitchFamily="34" charset="0"/>
                <a:ea typeface="Calibri" pitchFamily="34" charset="-122"/>
                <a:cs typeface="Calibri" pitchFamily="34" charset="-120"/>
              </a:rPr>
              <a:t>JHBI  ·  Data Science Platform Investment Brief</a:t>
            </a:r>
            <a:endParaRPr lang="en-US" sz="1100" dirty="0"/>
          </a:p>
        </p:txBody>
      </p:sp>
      <p:sp>
        <p:nvSpPr>
          <p:cNvPr id="6" name="Text 4"/>
          <p:cNvSpPr/>
          <p:nvPr/>
        </p:nvSpPr>
        <p:spPr>
          <a:xfrm>
            <a:off x="365760" y="960120"/>
            <a:ext cx="7315200" cy="19202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Data Science</a:t>
            </a:r>
            <a:endParaRPr lang="en-US" sz="4800" dirty="0"/>
          </a:p>
          <a:p>
            <a:pPr indent="0" marL="0">
              <a:buNone/>
            </a:pPr>
            <a:r>
              <a:rPr lang="en-US" sz="4800" b="1" dirty="0">
                <a:solidFill>
                  <a:srgbClr val="FFFFFF"/>
                </a:solidFill>
                <a:latin typeface="Calibri" pitchFamily="34" charset="0"/>
                <a:ea typeface="Calibri" pitchFamily="34" charset="-122"/>
                <a:cs typeface="Calibri" pitchFamily="34" charset="-120"/>
              </a:rPr>
              <a:t>Platform Strategy</a:t>
            </a:r>
            <a:endParaRPr lang="en-US" sz="4800" dirty="0"/>
          </a:p>
        </p:txBody>
      </p:sp>
      <p:sp>
        <p:nvSpPr>
          <p:cNvPr id="7" name="Text 5"/>
          <p:cNvSpPr/>
          <p:nvPr/>
        </p:nvSpPr>
        <p:spPr>
          <a:xfrm>
            <a:off x="365760" y="2971800"/>
            <a:ext cx="7680960" cy="457200"/>
          </a:xfrm>
          <a:prstGeom prst="rect">
            <a:avLst/>
          </a:prstGeom>
          <a:noFill/>
          <a:ln/>
        </p:spPr>
        <p:txBody>
          <a:bodyPr wrap="square" lIns="0" tIns="0" rIns="0" bIns="0" rtlCol="0" anchor="ctr"/>
          <a:lstStyle/>
          <a:p>
            <a:pPr indent="0" marL="0">
              <a:buNone/>
            </a:pPr>
            <a:r>
              <a:rPr lang="en-US" sz="1600" i="1" dirty="0">
                <a:solidFill>
                  <a:srgbClr val="76DCFD"/>
                </a:solidFill>
                <a:latin typeface="Calibri" pitchFamily="34" charset="0"/>
                <a:ea typeface="Calibri" pitchFamily="34" charset="-122"/>
                <a:cs typeface="Calibri" pitchFamily="34" charset="-120"/>
              </a:rPr>
              <a:t>Building AI-Powered Applications for Jack Henry's Financial Institution Clients</a:t>
            </a:r>
            <a:endParaRPr lang="en-US" sz="1600" dirty="0"/>
          </a:p>
        </p:txBody>
      </p:sp>
      <p:sp>
        <p:nvSpPr>
          <p:cNvPr id="8" name="Shape 6"/>
          <p:cNvSpPr/>
          <p:nvPr/>
        </p:nvSpPr>
        <p:spPr>
          <a:xfrm>
            <a:off x="365760" y="3547872"/>
            <a:ext cx="2286000" cy="45720"/>
          </a:xfrm>
          <a:prstGeom prst="rect">
            <a:avLst/>
          </a:prstGeom>
          <a:solidFill>
            <a:srgbClr val="085CE5"/>
          </a:solidFill>
          <a:ln w="12700">
            <a:solidFill>
              <a:srgbClr val="085CE5"/>
            </a:solidFill>
            <a:prstDash val="solid"/>
          </a:ln>
        </p:spPr>
      </p:sp>
      <p:sp>
        <p:nvSpPr>
          <p:cNvPr id="9" name="Text 7"/>
          <p:cNvSpPr/>
          <p:nvPr/>
        </p:nvSpPr>
        <p:spPr>
          <a:xfrm>
            <a:off x="365760" y="3703320"/>
            <a:ext cx="5486400" cy="320040"/>
          </a:xfrm>
          <a:prstGeom prst="rect">
            <a:avLst/>
          </a:prstGeom>
          <a:noFill/>
          <a:ln/>
        </p:spPr>
        <p:txBody>
          <a:bodyPr wrap="square" lIns="0" tIns="0" rIns="0" bIns="0" rtlCol="0" anchor="ctr"/>
          <a:lstStyle/>
          <a:p>
            <a:pPr indent="0" marL="0">
              <a:buNone/>
            </a:pPr>
            <a:r>
              <a:rPr lang="en-US" sz="1200" dirty="0">
                <a:solidFill>
                  <a:srgbClr val="B6BBC0"/>
                </a:solidFill>
                <a:latin typeface="Calibri" pitchFamily="34" charset="0"/>
                <a:ea typeface="Calibri" pitchFamily="34" charset="-122"/>
                <a:cs typeface="Calibri" pitchFamily="34" charset="-120"/>
              </a:rPr>
              <a:t>Data &amp; Analytics Team  |  March 2026</a:t>
            </a:r>
            <a:endParaRPr lang="en-US" sz="1200" dirty="0"/>
          </a:p>
        </p:txBody>
      </p:sp>
      <p:sp>
        <p:nvSpPr>
          <p:cNvPr id="10" name="Text 8"/>
          <p:cNvSpPr/>
          <p:nvPr/>
        </p:nvSpPr>
        <p:spPr>
          <a:xfrm>
            <a:off x="365760" y="4800600"/>
            <a:ext cx="3657600" cy="237744"/>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Powering the Financial World™</a:t>
            </a:r>
            <a:endParaRPr lang="en-US" sz="900" dirty="0"/>
          </a:p>
        </p:txBody>
      </p:sp>
      <p:sp>
        <p:nvSpPr>
          <p:cNvPr id="11" name="Text 9"/>
          <p:cNvSpPr/>
          <p:nvPr/>
        </p:nvSpPr>
        <p:spPr>
          <a:xfrm>
            <a:off x="7132320" y="4828032"/>
            <a:ext cx="1828800" cy="228600"/>
          </a:xfrm>
          <a:prstGeom prst="rect">
            <a:avLst/>
          </a:prstGeom>
          <a:noFill/>
          <a:ln/>
        </p:spPr>
        <p:txBody>
          <a:bodyPr wrap="square" lIns="0" tIns="0" rIns="0" bIns="0" rtlCol="0" anchor="ctr"/>
          <a:lstStyle/>
          <a:p>
            <a:pPr algn="r" indent="0" marL="0">
              <a:buNone/>
            </a:pPr>
            <a:r>
              <a:rPr lang="en-US" sz="900" spc="100" kern="0" dirty="0">
                <a:solidFill>
                  <a:srgbClr val="B6BBC0"/>
                </a:solidFill>
                <a:latin typeface="Calibri" pitchFamily="34" charset="0"/>
                <a:ea typeface="Calibri" pitchFamily="34" charset="-122"/>
                <a:cs typeface="Calibri" pitchFamily="34" charset="-120"/>
              </a:rPr>
              <a:t>CONFIDENTIAL</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The Market Opportunity for Jack Henry</a:t>
            </a:r>
            <a:endParaRPr lang="en-US" sz="2200" dirty="0"/>
          </a:p>
        </p:txBody>
      </p:sp>
      <p:sp>
        <p:nvSpPr>
          <p:cNvPr id="4" name="Text 2"/>
          <p:cNvSpPr/>
          <p:nvPr/>
        </p:nvSpPr>
        <p:spPr>
          <a:xfrm>
            <a:off x="365760" y="777240"/>
            <a:ext cx="8412480" cy="566928"/>
          </a:xfrm>
          <a:prstGeom prst="rect">
            <a:avLst/>
          </a:prstGeom>
          <a:noFill/>
          <a:ln/>
        </p:spPr>
        <p:txBody>
          <a:bodyPr wrap="square" lIns="0" tIns="0" rIns="0" bIns="0" rtlCol="0" anchor="ctr"/>
          <a:lstStyle/>
          <a:p>
            <a:pPr indent="0" marL="0">
              <a:buNone/>
            </a:pPr>
            <a:r>
              <a:rPr lang="en-US" sz="1250" dirty="0">
                <a:solidFill>
                  <a:srgbClr val="575A5D"/>
                </a:solidFill>
                <a:latin typeface="Calibri" pitchFamily="34" charset="0"/>
                <a:ea typeface="Calibri" pitchFamily="34" charset="-122"/>
                <a:cs typeface="Calibri" pitchFamily="34" charset="-120"/>
              </a:rPr>
              <a:t>Jack Henry serves 1,660 financial institutions on core platforms and 7,500+ across its full ecosystem — institutions that collectively manage trillions in assets. By embedding AI-driven analytics directly into our platform, we can transform how every FI client makes decisions on retention, risk, compliance, and growth.</a:t>
            </a:r>
            <a:endParaRPr lang="en-US" sz="1250" dirty="0"/>
          </a:p>
        </p:txBody>
      </p:sp>
      <p:sp>
        <p:nvSpPr>
          <p:cNvPr id="5" name="Shape 3"/>
          <p:cNvSpPr/>
          <p:nvPr/>
        </p:nvSpPr>
        <p:spPr>
          <a:xfrm>
            <a:off x="365760" y="1463040"/>
            <a:ext cx="2651760" cy="24688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365760" y="1463040"/>
            <a:ext cx="2651760" cy="91440"/>
          </a:xfrm>
          <a:prstGeom prst="rect">
            <a:avLst/>
          </a:prstGeom>
          <a:solidFill>
            <a:srgbClr val="085CE5"/>
          </a:solidFill>
          <a:ln w="12700">
            <a:solidFill>
              <a:srgbClr val="085CE5"/>
            </a:solidFill>
            <a:prstDash val="solid"/>
          </a:ln>
        </p:spPr>
      </p:sp>
      <p:pic>
        <p:nvPicPr>
          <p:cNvPr id="7" name="Image 0" descr="preencoded.png">    </p:cNvPr>
          <p:cNvPicPr>
            <a:picLocks noChangeAspect="1"/>
          </p:cNvPicPr>
          <p:nvPr/>
        </p:nvPicPr>
        <p:blipFill>
          <a:blip r:embed="rId1"/>
          <a:stretch>
            <a:fillRect/>
          </a:stretch>
        </p:blipFill>
        <p:spPr>
          <a:xfrm>
            <a:off x="1444752" y="1618488"/>
            <a:ext cx="475488" cy="475488"/>
          </a:xfrm>
          <a:prstGeom prst="rect">
            <a:avLst/>
          </a:prstGeom>
        </p:spPr>
      </p:pic>
      <p:sp>
        <p:nvSpPr>
          <p:cNvPr id="8" name="Text 5"/>
          <p:cNvSpPr/>
          <p:nvPr/>
        </p:nvSpPr>
        <p:spPr>
          <a:xfrm>
            <a:off x="457200" y="2139696"/>
            <a:ext cx="2468880" cy="804672"/>
          </a:xfrm>
          <a:prstGeom prst="rect">
            <a:avLst/>
          </a:prstGeom>
          <a:noFill/>
          <a:ln/>
        </p:spPr>
        <p:txBody>
          <a:bodyPr wrap="square" lIns="0" tIns="0" rIns="0" bIns="0" rtlCol="0" anchor="ctr"/>
          <a:lstStyle/>
          <a:p>
            <a:pPr algn="ctr" indent="0" marL="0">
              <a:buNone/>
            </a:pPr>
            <a:r>
              <a:rPr lang="en-US" sz="4200" b="1" dirty="0">
                <a:solidFill>
                  <a:srgbClr val="085CE5"/>
                </a:solidFill>
                <a:latin typeface="Calibri" pitchFamily="34" charset="0"/>
                <a:ea typeface="Calibri" pitchFamily="34" charset="-122"/>
                <a:cs typeface="Calibri" pitchFamily="34" charset="-120"/>
              </a:rPr>
              <a:t>1,660</a:t>
            </a:r>
            <a:endParaRPr lang="en-US" sz="4200" dirty="0"/>
          </a:p>
        </p:txBody>
      </p:sp>
      <p:sp>
        <p:nvSpPr>
          <p:cNvPr id="9" name="Text 6"/>
          <p:cNvSpPr/>
          <p:nvPr/>
        </p:nvSpPr>
        <p:spPr>
          <a:xfrm>
            <a:off x="457200" y="2962656"/>
            <a:ext cx="2468880" cy="685800"/>
          </a:xfrm>
          <a:prstGeom prst="rect">
            <a:avLst/>
          </a:prstGeom>
          <a:noFill/>
          <a:ln/>
        </p:spPr>
        <p:txBody>
          <a:bodyPr wrap="square" lIns="0" tIns="0" rIns="0" bIns="0" rtlCol="0" anchor="ctr"/>
          <a:lstStyle/>
          <a:p>
            <a:pPr algn="ctr" indent="0" marL="0">
              <a:buNone/>
            </a:pPr>
            <a:r>
              <a:rPr lang="en-US" sz="1150" dirty="0">
                <a:solidFill>
                  <a:srgbClr val="575A5D"/>
                </a:solidFill>
                <a:latin typeface="Calibri" pitchFamily="34" charset="0"/>
                <a:ea typeface="Calibri" pitchFamily="34" charset="-122"/>
                <a:cs typeface="Calibri" pitchFamily="34" charset="-120"/>
              </a:rPr>
              <a:t>Core FI clients — banks &amp; CUs</a:t>
            </a:r>
            <a:endParaRPr lang="en-US" sz="1150" dirty="0"/>
          </a:p>
          <a:p>
            <a:pPr algn="ctr" indent="0" marL="0">
              <a:buNone/>
            </a:pPr>
            <a:r>
              <a:rPr lang="en-US" sz="1150" dirty="0">
                <a:solidFill>
                  <a:srgbClr val="575A5D"/>
                </a:solidFill>
                <a:latin typeface="Calibri" pitchFamily="34" charset="0"/>
                <a:ea typeface="Calibri" pitchFamily="34" charset="-122"/>
                <a:cs typeface="Calibri" pitchFamily="34" charset="-120"/>
              </a:rPr>
              <a:t>with deepest JH data access</a:t>
            </a:r>
            <a:endParaRPr lang="en-US" sz="1150" dirty="0"/>
          </a:p>
        </p:txBody>
      </p:sp>
      <p:sp>
        <p:nvSpPr>
          <p:cNvPr id="10" name="Shape 7"/>
          <p:cNvSpPr/>
          <p:nvPr/>
        </p:nvSpPr>
        <p:spPr>
          <a:xfrm>
            <a:off x="3182112" y="1463040"/>
            <a:ext cx="2651760" cy="24688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1" name="Shape 8"/>
          <p:cNvSpPr/>
          <p:nvPr/>
        </p:nvSpPr>
        <p:spPr>
          <a:xfrm>
            <a:off x="3182112" y="1463040"/>
            <a:ext cx="2651760" cy="91440"/>
          </a:xfrm>
          <a:prstGeom prst="rect">
            <a:avLst/>
          </a:prstGeom>
          <a:solidFill>
            <a:srgbClr val="06185F"/>
          </a:solidFill>
          <a:ln w="12700">
            <a:solidFill>
              <a:srgbClr val="06185F"/>
            </a:solidFill>
            <a:prstDash val="solid"/>
          </a:ln>
        </p:spPr>
      </p:sp>
      <p:pic>
        <p:nvPicPr>
          <p:cNvPr id="12" name="Image 1" descr="preencoded.png">    </p:cNvPr>
          <p:cNvPicPr>
            <a:picLocks noChangeAspect="1"/>
          </p:cNvPicPr>
          <p:nvPr/>
        </p:nvPicPr>
        <p:blipFill>
          <a:blip r:embed="rId2"/>
          <a:stretch>
            <a:fillRect/>
          </a:stretch>
        </p:blipFill>
        <p:spPr>
          <a:xfrm>
            <a:off x="4261104" y="1618488"/>
            <a:ext cx="475488" cy="475488"/>
          </a:xfrm>
          <a:prstGeom prst="rect">
            <a:avLst/>
          </a:prstGeom>
        </p:spPr>
      </p:pic>
      <p:sp>
        <p:nvSpPr>
          <p:cNvPr id="13" name="Text 9"/>
          <p:cNvSpPr/>
          <p:nvPr/>
        </p:nvSpPr>
        <p:spPr>
          <a:xfrm>
            <a:off x="3273552" y="2139696"/>
            <a:ext cx="2468880" cy="804672"/>
          </a:xfrm>
          <a:prstGeom prst="rect">
            <a:avLst/>
          </a:prstGeom>
          <a:noFill/>
          <a:ln/>
        </p:spPr>
        <p:txBody>
          <a:bodyPr wrap="square" lIns="0" tIns="0" rIns="0" bIns="0" rtlCol="0" anchor="ctr"/>
          <a:lstStyle/>
          <a:p>
            <a:pPr algn="ctr" indent="0" marL="0">
              <a:buNone/>
            </a:pPr>
            <a:r>
              <a:rPr lang="en-US" sz="4200" b="1" dirty="0">
                <a:solidFill>
                  <a:srgbClr val="06185F"/>
                </a:solidFill>
                <a:latin typeface="Calibri" pitchFamily="34" charset="0"/>
                <a:ea typeface="Calibri" pitchFamily="34" charset="-122"/>
                <a:cs typeface="Calibri" pitchFamily="34" charset="-120"/>
              </a:rPr>
              <a:t>$6.2B</a:t>
            </a:r>
            <a:endParaRPr lang="en-US" sz="4200" dirty="0"/>
          </a:p>
        </p:txBody>
      </p:sp>
      <p:sp>
        <p:nvSpPr>
          <p:cNvPr id="14" name="Text 10"/>
          <p:cNvSpPr/>
          <p:nvPr/>
        </p:nvSpPr>
        <p:spPr>
          <a:xfrm>
            <a:off x="3273552" y="2962656"/>
            <a:ext cx="2468880" cy="685800"/>
          </a:xfrm>
          <a:prstGeom prst="rect">
            <a:avLst/>
          </a:prstGeom>
          <a:noFill/>
          <a:ln/>
        </p:spPr>
        <p:txBody>
          <a:bodyPr wrap="square" lIns="0" tIns="0" rIns="0" bIns="0" rtlCol="0" anchor="ctr"/>
          <a:lstStyle/>
          <a:p>
            <a:pPr algn="ctr" indent="0" marL="0">
              <a:buNone/>
            </a:pPr>
            <a:r>
              <a:rPr lang="en-US" sz="1150" dirty="0">
                <a:solidFill>
                  <a:srgbClr val="575A5D"/>
                </a:solidFill>
                <a:latin typeface="Calibri" pitchFamily="34" charset="0"/>
                <a:ea typeface="Calibri" pitchFamily="34" charset="-122"/>
                <a:cs typeface="Calibri" pitchFamily="34" charset="-120"/>
              </a:rPr>
              <a:t>projected AI banking analytics</a:t>
            </a:r>
            <a:endParaRPr lang="en-US" sz="1150" dirty="0"/>
          </a:p>
          <a:p>
            <a:pPr algn="ctr" indent="0" marL="0">
              <a:buNone/>
            </a:pPr>
            <a:r>
              <a:rPr lang="en-US" sz="1150" dirty="0">
                <a:solidFill>
                  <a:srgbClr val="575A5D"/>
                </a:solidFill>
                <a:latin typeface="Calibri" pitchFamily="34" charset="0"/>
                <a:ea typeface="Calibri" pitchFamily="34" charset="-122"/>
                <a:cs typeface="Calibri" pitchFamily="34" charset="-120"/>
              </a:rPr>
              <a:t>market by 2028 (Mordor Intel.)</a:t>
            </a:r>
            <a:endParaRPr lang="en-US" sz="1150" dirty="0"/>
          </a:p>
        </p:txBody>
      </p:sp>
      <p:sp>
        <p:nvSpPr>
          <p:cNvPr id="15" name="Shape 11"/>
          <p:cNvSpPr/>
          <p:nvPr/>
        </p:nvSpPr>
        <p:spPr>
          <a:xfrm>
            <a:off x="5998464" y="1463040"/>
            <a:ext cx="2651760" cy="24688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6" name="Shape 12"/>
          <p:cNvSpPr/>
          <p:nvPr/>
        </p:nvSpPr>
        <p:spPr>
          <a:xfrm>
            <a:off x="5998464" y="1463040"/>
            <a:ext cx="2651760" cy="91440"/>
          </a:xfrm>
          <a:prstGeom prst="rect">
            <a:avLst/>
          </a:prstGeom>
          <a:solidFill>
            <a:srgbClr val="073FA8"/>
          </a:solidFill>
          <a:ln w="12700">
            <a:solidFill>
              <a:srgbClr val="073FA8"/>
            </a:solidFill>
            <a:prstDash val="solid"/>
          </a:ln>
        </p:spPr>
      </p:sp>
      <p:pic>
        <p:nvPicPr>
          <p:cNvPr id="17" name="Image 2" descr="preencoded.png">    </p:cNvPr>
          <p:cNvPicPr>
            <a:picLocks noChangeAspect="1"/>
          </p:cNvPicPr>
          <p:nvPr/>
        </p:nvPicPr>
        <p:blipFill>
          <a:blip r:embed="rId3"/>
          <a:stretch>
            <a:fillRect/>
          </a:stretch>
        </p:blipFill>
        <p:spPr>
          <a:xfrm>
            <a:off x="7077456" y="1618488"/>
            <a:ext cx="475488" cy="475488"/>
          </a:xfrm>
          <a:prstGeom prst="rect">
            <a:avLst/>
          </a:prstGeom>
        </p:spPr>
      </p:pic>
      <p:sp>
        <p:nvSpPr>
          <p:cNvPr id="18" name="Text 13"/>
          <p:cNvSpPr/>
          <p:nvPr/>
        </p:nvSpPr>
        <p:spPr>
          <a:xfrm>
            <a:off x="6089904" y="2139696"/>
            <a:ext cx="2468880" cy="804672"/>
          </a:xfrm>
          <a:prstGeom prst="rect">
            <a:avLst/>
          </a:prstGeom>
          <a:noFill/>
          <a:ln/>
        </p:spPr>
        <p:txBody>
          <a:bodyPr wrap="square" lIns="0" tIns="0" rIns="0" bIns="0" rtlCol="0" anchor="ctr"/>
          <a:lstStyle/>
          <a:p>
            <a:pPr algn="ctr" indent="0" marL="0">
              <a:buNone/>
            </a:pPr>
            <a:r>
              <a:rPr lang="en-US" sz="4200" b="1" dirty="0">
                <a:solidFill>
                  <a:srgbClr val="073FA8"/>
                </a:solidFill>
                <a:latin typeface="Calibri" pitchFamily="34" charset="0"/>
                <a:ea typeface="Calibri" pitchFamily="34" charset="-122"/>
                <a:cs typeface="Calibri" pitchFamily="34" charset="-120"/>
              </a:rPr>
              <a:t>74%</a:t>
            </a:r>
            <a:endParaRPr lang="en-US" sz="4200" dirty="0"/>
          </a:p>
        </p:txBody>
      </p:sp>
      <p:sp>
        <p:nvSpPr>
          <p:cNvPr id="19" name="Text 14"/>
          <p:cNvSpPr/>
          <p:nvPr/>
        </p:nvSpPr>
        <p:spPr>
          <a:xfrm>
            <a:off x="6089904" y="2962656"/>
            <a:ext cx="2468880" cy="685800"/>
          </a:xfrm>
          <a:prstGeom prst="rect">
            <a:avLst/>
          </a:prstGeom>
          <a:noFill/>
          <a:ln/>
        </p:spPr>
        <p:txBody>
          <a:bodyPr wrap="square" lIns="0" tIns="0" rIns="0" bIns="0" rtlCol="0" anchor="ctr"/>
          <a:lstStyle/>
          <a:p>
            <a:pPr algn="ctr" indent="0" marL="0">
              <a:buNone/>
            </a:pPr>
            <a:r>
              <a:rPr lang="en-US" sz="1150" dirty="0">
                <a:solidFill>
                  <a:srgbClr val="575A5D"/>
                </a:solidFill>
                <a:latin typeface="Calibri" pitchFamily="34" charset="0"/>
                <a:ea typeface="Calibri" pitchFamily="34" charset="-122"/>
                <a:cs typeface="Calibri" pitchFamily="34" charset="-120"/>
              </a:rPr>
              <a:t>of FIs cite AI/ML tools as a</a:t>
            </a:r>
            <a:endParaRPr lang="en-US" sz="1150" dirty="0"/>
          </a:p>
          <a:p>
            <a:pPr algn="ctr" indent="0" marL="0">
              <a:buNone/>
            </a:pPr>
            <a:r>
              <a:rPr lang="en-US" sz="1150" dirty="0">
                <a:solidFill>
                  <a:srgbClr val="575A5D"/>
                </a:solidFill>
                <a:latin typeface="Calibri" pitchFamily="34" charset="0"/>
                <a:ea typeface="Calibri" pitchFamily="34" charset="-122"/>
                <a:cs typeface="Calibri" pitchFamily="34" charset="-120"/>
              </a:rPr>
              <a:t>top 3 technology priority*</a:t>
            </a:r>
            <a:endParaRPr lang="en-US" sz="1150" dirty="0"/>
          </a:p>
        </p:txBody>
      </p:sp>
      <p:sp>
        <p:nvSpPr>
          <p:cNvPr id="20" name="Text 15"/>
          <p:cNvSpPr/>
          <p:nvPr/>
        </p:nvSpPr>
        <p:spPr>
          <a:xfrm>
            <a:off x="365760" y="4005072"/>
            <a:ext cx="8412480" cy="256032"/>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 ICBA / Cornerstone Advisors 2025 What's Going On In Banking survey</a:t>
            </a:r>
            <a:endParaRPr lang="en-US" sz="900" dirty="0"/>
          </a:p>
        </p:txBody>
      </p:sp>
      <p:sp>
        <p:nvSpPr>
          <p:cNvPr id="21" name="Shape 16"/>
          <p:cNvSpPr/>
          <p:nvPr/>
        </p:nvSpPr>
        <p:spPr>
          <a:xfrm>
            <a:off x="365760" y="4315968"/>
            <a:ext cx="8412480" cy="658368"/>
          </a:xfrm>
          <a:prstGeom prst="rect">
            <a:avLst/>
          </a:prstGeom>
          <a:solidFill>
            <a:srgbClr val="06185F"/>
          </a:solidFill>
          <a:ln w="12700">
            <a:solidFill>
              <a:srgbClr val="06185F"/>
            </a:solidFill>
            <a:prstDash val="solid"/>
          </a:ln>
        </p:spPr>
      </p:sp>
      <p:sp>
        <p:nvSpPr>
          <p:cNvPr id="22" name="Text 17"/>
          <p:cNvSpPr/>
          <p:nvPr/>
        </p:nvSpPr>
        <p:spPr>
          <a:xfrm>
            <a:off x="548640" y="4352544"/>
            <a:ext cx="8046720" cy="58521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We are requesting budget and headcount to build the team and platform to deliver this value — starting with our 1,660 core FI clients, expanding across the full JH ecosystem.</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The Real Market Opportunity — Grounded in JH's Actual Footprint</a:t>
            </a:r>
            <a:endParaRPr lang="en-US" sz="2000" dirty="0"/>
          </a:p>
        </p:txBody>
      </p:sp>
      <p:sp>
        <p:nvSpPr>
          <p:cNvPr id="4" name="Text 2"/>
          <p:cNvSpPr/>
          <p:nvPr/>
        </p:nvSpPr>
        <p:spPr>
          <a:xfrm>
            <a:off x="365760" y="749808"/>
            <a:ext cx="8412480" cy="365760"/>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Jack Henry's FY2024 10-K reports 1,660 FIs on core processing — 940 banks and 720 credit unions. The remaining ~5,870 clients use payment and complementary products only. This is the true addressable base for the AI platform.</a:t>
            </a:r>
            <a:endParaRPr lang="en-US" sz="1000" dirty="0"/>
          </a:p>
        </p:txBody>
      </p:sp>
      <p:sp>
        <p:nvSpPr>
          <p:cNvPr id="5" name="Shape 3"/>
          <p:cNvSpPr/>
          <p:nvPr/>
        </p:nvSpPr>
        <p:spPr>
          <a:xfrm>
            <a:off x="274320" y="1188720"/>
            <a:ext cx="2834640" cy="33101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274320" y="1188720"/>
            <a:ext cx="2834640" cy="54864"/>
          </a:xfrm>
          <a:prstGeom prst="rect">
            <a:avLst/>
          </a:prstGeom>
          <a:solidFill>
            <a:srgbClr val="085CE5"/>
          </a:solidFill>
          <a:ln w="12700">
            <a:solidFill>
              <a:srgbClr val="085CE5"/>
            </a:solidFill>
            <a:prstDash val="solid"/>
          </a:ln>
        </p:spPr>
      </p:sp>
      <p:sp>
        <p:nvSpPr>
          <p:cNvPr id="7" name="Shape 5"/>
          <p:cNvSpPr/>
          <p:nvPr/>
        </p:nvSpPr>
        <p:spPr>
          <a:xfrm>
            <a:off x="420624" y="1298448"/>
            <a:ext cx="1005840" cy="201168"/>
          </a:xfrm>
          <a:prstGeom prst="rect">
            <a:avLst/>
          </a:prstGeom>
          <a:solidFill>
            <a:srgbClr val="085CE5"/>
          </a:solidFill>
          <a:ln w="12700">
            <a:solidFill>
              <a:srgbClr val="085CE5"/>
            </a:solidFill>
            <a:prstDash val="solid"/>
          </a:ln>
        </p:spPr>
      </p:sp>
      <p:sp>
        <p:nvSpPr>
          <p:cNvPr id="8" name="Text 6"/>
          <p:cNvSpPr/>
          <p:nvPr/>
        </p:nvSpPr>
        <p:spPr>
          <a:xfrm>
            <a:off x="420624" y="1298448"/>
            <a:ext cx="100584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PRIMARY</a:t>
            </a:r>
            <a:endParaRPr lang="en-US" sz="750" dirty="0"/>
          </a:p>
        </p:txBody>
      </p:sp>
      <p:sp>
        <p:nvSpPr>
          <p:cNvPr id="9" name="Text 7"/>
          <p:cNvSpPr/>
          <p:nvPr/>
        </p:nvSpPr>
        <p:spPr>
          <a:xfrm>
            <a:off x="420624" y="1554480"/>
            <a:ext cx="2542032" cy="256032"/>
          </a:xfrm>
          <a:prstGeom prst="rect">
            <a:avLst/>
          </a:prstGeom>
          <a:noFill/>
          <a:ln/>
        </p:spPr>
        <p:txBody>
          <a:bodyPr wrap="square" lIns="0" tIns="0" rIns="0" bIns="0" rtlCol="0" anchor="ctr"/>
          <a:lstStyle/>
          <a:p>
            <a:pPr indent="0" marL="0">
              <a:buNone/>
            </a:pPr>
            <a:r>
              <a:rPr lang="en-US" sz="1200" b="1" dirty="0">
                <a:solidFill>
                  <a:srgbClr val="06185F"/>
                </a:solidFill>
                <a:latin typeface="Calibri" pitchFamily="34" charset="0"/>
                <a:ea typeface="Calibri" pitchFamily="34" charset="-122"/>
                <a:cs typeface="Calibri" pitchFamily="34" charset="-120"/>
              </a:rPr>
              <a:t>Core Platform FIs</a:t>
            </a:r>
            <a:endParaRPr lang="en-US" sz="1200" dirty="0"/>
          </a:p>
        </p:txBody>
      </p:sp>
      <p:sp>
        <p:nvSpPr>
          <p:cNvPr id="10" name="Text 8"/>
          <p:cNvSpPr/>
          <p:nvPr/>
        </p:nvSpPr>
        <p:spPr>
          <a:xfrm>
            <a:off x="420624" y="1828800"/>
            <a:ext cx="2542032" cy="694944"/>
          </a:xfrm>
          <a:prstGeom prst="rect">
            <a:avLst/>
          </a:prstGeom>
          <a:noFill/>
          <a:ln/>
        </p:spPr>
        <p:txBody>
          <a:bodyPr wrap="square" lIns="0" tIns="0" rIns="0" bIns="0" rtlCol="0" anchor="ctr"/>
          <a:lstStyle/>
          <a:p>
            <a:pPr indent="0" marL="0">
              <a:buNone/>
            </a:pPr>
            <a:r>
              <a:rPr lang="en-US" sz="4600" b="1" dirty="0">
                <a:solidFill>
                  <a:srgbClr val="085CE5"/>
                </a:solidFill>
                <a:latin typeface="Calibri" pitchFamily="34" charset="0"/>
                <a:ea typeface="Calibri" pitchFamily="34" charset="-122"/>
                <a:cs typeface="Calibri" pitchFamily="34" charset="-120"/>
              </a:rPr>
              <a:t>1,660</a:t>
            </a:r>
            <a:endParaRPr lang="en-US" sz="4600" dirty="0"/>
          </a:p>
        </p:txBody>
      </p:sp>
      <p:sp>
        <p:nvSpPr>
          <p:cNvPr id="11" name="Text 9"/>
          <p:cNvSpPr/>
          <p:nvPr/>
        </p:nvSpPr>
        <p:spPr>
          <a:xfrm>
            <a:off x="420624" y="2523744"/>
            <a:ext cx="2542032" cy="219456"/>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940 banks  ·  720 credit unions</a:t>
            </a:r>
            <a:endParaRPr lang="en-US" sz="900" dirty="0"/>
          </a:p>
        </p:txBody>
      </p:sp>
      <p:sp>
        <p:nvSpPr>
          <p:cNvPr id="12" name="Shape 10"/>
          <p:cNvSpPr/>
          <p:nvPr/>
        </p:nvSpPr>
        <p:spPr>
          <a:xfrm>
            <a:off x="420624" y="2798064"/>
            <a:ext cx="2542032" cy="18288"/>
          </a:xfrm>
          <a:prstGeom prst="rect">
            <a:avLst/>
          </a:prstGeom>
          <a:solidFill>
            <a:srgbClr val="E7ECF0"/>
          </a:solidFill>
          <a:ln w="12700">
            <a:solidFill>
              <a:srgbClr val="E7ECF0"/>
            </a:solidFill>
            <a:prstDash val="solid"/>
          </a:ln>
        </p:spPr>
      </p:sp>
      <p:sp>
        <p:nvSpPr>
          <p:cNvPr id="13" name="Text 11"/>
          <p:cNvSpPr/>
          <p:nvPr/>
        </p:nvSpPr>
        <p:spPr>
          <a:xfrm>
            <a:off x="420624" y="2871216"/>
            <a:ext cx="2542032" cy="1463040"/>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Full data access: core transactions, deposits, lending, digital. Highest AI value — all 5 Phase 1 apps apply. JH has 25% of target bank market and ~17% of US CU market on core.</a:t>
            </a:r>
            <a:endParaRPr lang="en-US" sz="950" dirty="0"/>
          </a:p>
        </p:txBody>
      </p:sp>
      <p:sp>
        <p:nvSpPr>
          <p:cNvPr id="14" name="Shape 12"/>
          <p:cNvSpPr/>
          <p:nvPr/>
        </p:nvSpPr>
        <p:spPr>
          <a:xfrm>
            <a:off x="3218688" y="1188720"/>
            <a:ext cx="2834640" cy="33101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5" name="Shape 13"/>
          <p:cNvSpPr/>
          <p:nvPr/>
        </p:nvSpPr>
        <p:spPr>
          <a:xfrm>
            <a:off x="3218688" y="1188720"/>
            <a:ext cx="2834640" cy="54864"/>
          </a:xfrm>
          <a:prstGeom prst="rect">
            <a:avLst/>
          </a:prstGeom>
          <a:solidFill>
            <a:srgbClr val="073FA8"/>
          </a:solidFill>
          <a:ln w="12700">
            <a:solidFill>
              <a:srgbClr val="073FA8"/>
            </a:solidFill>
            <a:prstDash val="solid"/>
          </a:ln>
        </p:spPr>
      </p:sp>
      <p:sp>
        <p:nvSpPr>
          <p:cNvPr id="16" name="Shape 14"/>
          <p:cNvSpPr/>
          <p:nvPr/>
        </p:nvSpPr>
        <p:spPr>
          <a:xfrm>
            <a:off x="3364992" y="1298448"/>
            <a:ext cx="1005840" cy="201168"/>
          </a:xfrm>
          <a:prstGeom prst="rect">
            <a:avLst/>
          </a:prstGeom>
          <a:solidFill>
            <a:srgbClr val="073FA8"/>
          </a:solidFill>
          <a:ln w="12700">
            <a:solidFill>
              <a:srgbClr val="073FA8"/>
            </a:solidFill>
            <a:prstDash val="solid"/>
          </a:ln>
        </p:spPr>
      </p:sp>
      <p:sp>
        <p:nvSpPr>
          <p:cNvPr id="17" name="Text 15"/>
          <p:cNvSpPr/>
          <p:nvPr/>
        </p:nvSpPr>
        <p:spPr>
          <a:xfrm>
            <a:off x="3364992" y="1298448"/>
            <a:ext cx="100584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SECONDARY</a:t>
            </a:r>
            <a:endParaRPr lang="en-US" sz="750" dirty="0"/>
          </a:p>
        </p:txBody>
      </p:sp>
      <p:sp>
        <p:nvSpPr>
          <p:cNvPr id="18" name="Text 16"/>
          <p:cNvSpPr/>
          <p:nvPr/>
        </p:nvSpPr>
        <p:spPr>
          <a:xfrm>
            <a:off x="3364992" y="1554480"/>
            <a:ext cx="2542032" cy="256032"/>
          </a:xfrm>
          <a:prstGeom prst="rect">
            <a:avLst/>
          </a:prstGeom>
          <a:noFill/>
          <a:ln/>
        </p:spPr>
        <p:txBody>
          <a:bodyPr wrap="square" lIns="0" tIns="0" rIns="0" bIns="0" rtlCol="0" anchor="ctr"/>
          <a:lstStyle/>
          <a:p>
            <a:pPr indent="0" marL="0">
              <a:buNone/>
            </a:pPr>
            <a:r>
              <a:rPr lang="en-US" sz="1200" b="1" dirty="0">
                <a:solidFill>
                  <a:srgbClr val="06185F"/>
                </a:solidFill>
                <a:latin typeface="Calibri" pitchFamily="34" charset="0"/>
                <a:ea typeface="Calibri" pitchFamily="34" charset="-122"/>
                <a:cs typeface="Calibri" pitchFamily="34" charset="-120"/>
              </a:rPr>
              <a:t>Payment / Complementary FIs</a:t>
            </a:r>
            <a:endParaRPr lang="en-US" sz="1200" dirty="0"/>
          </a:p>
        </p:txBody>
      </p:sp>
      <p:sp>
        <p:nvSpPr>
          <p:cNvPr id="19" name="Text 17"/>
          <p:cNvSpPr/>
          <p:nvPr/>
        </p:nvSpPr>
        <p:spPr>
          <a:xfrm>
            <a:off x="3364992" y="1828800"/>
            <a:ext cx="2542032" cy="694944"/>
          </a:xfrm>
          <a:prstGeom prst="rect">
            <a:avLst/>
          </a:prstGeom>
          <a:noFill/>
          <a:ln/>
        </p:spPr>
        <p:txBody>
          <a:bodyPr wrap="square" lIns="0" tIns="0" rIns="0" bIns="0" rtlCol="0" anchor="ctr"/>
          <a:lstStyle/>
          <a:p>
            <a:pPr indent="0" marL="0">
              <a:buNone/>
            </a:pPr>
            <a:r>
              <a:rPr lang="en-US" sz="4600" b="1" dirty="0">
                <a:solidFill>
                  <a:srgbClr val="073FA8"/>
                </a:solidFill>
                <a:latin typeface="Calibri" pitchFamily="34" charset="0"/>
                <a:ea typeface="Calibri" pitchFamily="34" charset="-122"/>
                <a:cs typeface="Calibri" pitchFamily="34" charset="-120"/>
              </a:rPr>
              <a:t>5,870</a:t>
            </a:r>
            <a:endParaRPr lang="en-US" sz="4600" dirty="0"/>
          </a:p>
        </p:txBody>
      </p:sp>
      <p:sp>
        <p:nvSpPr>
          <p:cNvPr id="20" name="Text 18"/>
          <p:cNvSpPr/>
          <p:nvPr/>
        </p:nvSpPr>
        <p:spPr>
          <a:xfrm>
            <a:off x="3364992" y="2523744"/>
            <a:ext cx="2542032" cy="219456"/>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Payments, digital, card, bill pay</a:t>
            </a:r>
            <a:endParaRPr lang="en-US" sz="900" dirty="0"/>
          </a:p>
        </p:txBody>
      </p:sp>
      <p:sp>
        <p:nvSpPr>
          <p:cNvPr id="21" name="Shape 19"/>
          <p:cNvSpPr/>
          <p:nvPr/>
        </p:nvSpPr>
        <p:spPr>
          <a:xfrm>
            <a:off x="3364992" y="2798064"/>
            <a:ext cx="2542032" cy="18288"/>
          </a:xfrm>
          <a:prstGeom prst="rect">
            <a:avLst/>
          </a:prstGeom>
          <a:solidFill>
            <a:srgbClr val="E7ECF0"/>
          </a:solidFill>
          <a:ln w="12700">
            <a:solidFill>
              <a:srgbClr val="E7ECF0"/>
            </a:solidFill>
            <a:prstDash val="solid"/>
          </a:ln>
        </p:spPr>
      </p:sp>
      <p:sp>
        <p:nvSpPr>
          <p:cNvPr id="22" name="Text 20"/>
          <p:cNvSpPr/>
          <p:nvPr/>
        </p:nvSpPr>
        <p:spPr>
          <a:xfrm>
            <a:off x="3364992" y="2871216"/>
            <a:ext cx="2542032" cy="1463040"/>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Payment data only — no core relationship. Zelle Memo Intelligence and Anomaly Detection apply directly. Broader sales motion; lighter data integration per FI.</a:t>
            </a:r>
            <a:endParaRPr lang="en-US" sz="950" dirty="0"/>
          </a:p>
        </p:txBody>
      </p:sp>
      <p:sp>
        <p:nvSpPr>
          <p:cNvPr id="23" name="Shape 21"/>
          <p:cNvSpPr/>
          <p:nvPr/>
        </p:nvSpPr>
        <p:spPr>
          <a:xfrm>
            <a:off x="6163056" y="1188720"/>
            <a:ext cx="2834640" cy="33101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4" name="Shape 22"/>
          <p:cNvSpPr/>
          <p:nvPr/>
        </p:nvSpPr>
        <p:spPr>
          <a:xfrm>
            <a:off x="6163056" y="1188720"/>
            <a:ext cx="2834640" cy="54864"/>
          </a:xfrm>
          <a:prstGeom prst="rect">
            <a:avLst/>
          </a:prstGeom>
          <a:solidFill>
            <a:srgbClr val="575A5D"/>
          </a:solidFill>
          <a:ln w="12700">
            <a:solidFill>
              <a:srgbClr val="575A5D"/>
            </a:solidFill>
            <a:prstDash val="solid"/>
          </a:ln>
        </p:spPr>
      </p:sp>
      <p:sp>
        <p:nvSpPr>
          <p:cNvPr id="25" name="Shape 23"/>
          <p:cNvSpPr/>
          <p:nvPr/>
        </p:nvSpPr>
        <p:spPr>
          <a:xfrm>
            <a:off x="6309360" y="1298448"/>
            <a:ext cx="1005840" cy="201168"/>
          </a:xfrm>
          <a:prstGeom prst="rect">
            <a:avLst/>
          </a:prstGeom>
          <a:solidFill>
            <a:srgbClr val="575A5D"/>
          </a:solidFill>
          <a:ln w="12700">
            <a:solidFill>
              <a:srgbClr val="575A5D"/>
            </a:solidFill>
            <a:prstDash val="solid"/>
          </a:ln>
        </p:spPr>
      </p:sp>
      <p:sp>
        <p:nvSpPr>
          <p:cNvPr id="26" name="Text 24"/>
          <p:cNvSpPr/>
          <p:nvPr/>
        </p:nvSpPr>
        <p:spPr>
          <a:xfrm>
            <a:off x="6309360" y="1298448"/>
            <a:ext cx="100584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FUTURE</a:t>
            </a:r>
            <a:endParaRPr lang="en-US" sz="750" dirty="0"/>
          </a:p>
        </p:txBody>
      </p:sp>
      <p:sp>
        <p:nvSpPr>
          <p:cNvPr id="27" name="Text 25"/>
          <p:cNvSpPr/>
          <p:nvPr/>
        </p:nvSpPr>
        <p:spPr>
          <a:xfrm>
            <a:off x="6309360" y="1554480"/>
            <a:ext cx="2542032" cy="256032"/>
          </a:xfrm>
          <a:prstGeom prst="rect">
            <a:avLst/>
          </a:prstGeom>
          <a:noFill/>
          <a:ln/>
        </p:spPr>
        <p:txBody>
          <a:bodyPr wrap="square" lIns="0" tIns="0" rIns="0" bIns="0" rtlCol="0" anchor="ctr"/>
          <a:lstStyle/>
          <a:p>
            <a:pPr indent="0" marL="0">
              <a:buNone/>
            </a:pPr>
            <a:r>
              <a:rPr lang="en-US" sz="1200" b="1" dirty="0">
                <a:solidFill>
                  <a:srgbClr val="06185F"/>
                </a:solidFill>
                <a:latin typeface="Calibri" pitchFamily="34" charset="0"/>
                <a:ea typeface="Calibri" pitchFamily="34" charset="-122"/>
                <a:cs typeface="Calibri" pitchFamily="34" charset="-120"/>
              </a:rPr>
              <a:t>All U.S. Credit Unions</a:t>
            </a:r>
            <a:endParaRPr lang="en-US" sz="1200" dirty="0"/>
          </a:p>
        </p:txBody>
      </p:sp>
      <p:sp>
        <p:nvSpPr>
          <p:cNvPr id="28" name="Text 26"/>
          <p:cNvSpPr/>
          <p:nvPr/>
        </p:nvSpPr>
        <p:spPr>
          <a:xfrm>
            <a:off x="6309360" y="1828800"/>
            <a:ext cx="2542032" cy="694944"/>
          </a:xfrm>
          <a:prstGeom prst="rect">
            <a:avLst/>
          </a:prstGeom>
          <a:noFill/>
          <a:ln/>
        </p:spPr>
        <p:txBody>
          <a:bodyPr wrap="square" lIns="0" tIns="0" rIns="0" bIns="0" rtlCol="0" anchor="ctr"/>
          <a:lstStyle/>
          <a:p>
            <a:pPr indent="0" marL="0">
              <a:buNone/>
            </a:pPr>
            <a:r>
              <a:rPr lang="en-US" sz="4600" b="1" dirty="0">
                <a:solidFill>
                  <a:srgbClr val="575A5D"/>
                </a:solidFill>
                <a:latin typeface="Calibri" pitchFamily="34" charset="0"/>
                <a:ea typeface="Calibri" pitchFamily="34" charset="-122"/>
                <a:cs typeface="Calibri" pitchFamily="34" charset="-120"/>
              </a:rPr>
              <a:t>4,374</a:t>
            </a:r>
            <a:endParaRPr lang="en-US" sz="4600" dirty="0"/>
          </a:p>
        </p:txBody>
      </p:sp>
      <p:sp>
        <p:nvSpPr>
          <p:cNvPr id="29" name="Text 27"/>
          <p:cNvSpPr/>
          <p:nvPr/>
        </p:nvSpPr>
        <p:spPr>
          <a:xfrm>
            <a:off x="6309360" y="2523744"/>
            <a:ext cx="2542032" cy="219456"/>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NCUA 5300 — public regulatory data</a:t>
            </a:r>
            <a:endParaRPr lang="en-US" sz="900" dirty="0"/>
          </a:p>
        </p:txBody>
      </p:sp>
      <p:sp>
        <p:nvSpPr>
          <p:cNvPr id="30" name="Shape 28"/>
          <p:cNvSpPr/>
          <p:nvPr/>
        </p:nvSpPr>
        <p:spPr>
          <a:xfrm>
            <a:off x="6309360" y="2798064"/>
            <a:ext cx="2542032" cy="18288"/>
          </a:xfrm>
          <a:prstGeom prst="rect">
            <a:avLst/>
          </a:prstGeom>
          <a:solidFill>
            <a:srgbClr val="E7ECF0"/>
          </a:solidFill>
          <a:ln w="12700">
            <a:solidFill>
              <a:srgbClr val="E7ECF0"/>
            </a:solidFill>
            <a:prstDash val="solid"/>
          </a:ln>
        </p:spPr>
      </p:sp>
      <p:sp>
        <p:nvSpPr>
          <p:cNvPr id="31" name="Text 29"/>
          <p:cNvSpPr/>
          <p:nvPr/>
        </p:nvSpPr>
        <p:spPr>
          <a:xfrm>
            <a:off x="6309360" y="2871216"/>
            <a:ext cx="2542032" cy="1463040"/>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Future open-data opportunity: NCUA 5300 regulatory intelligence requires no JH relationship. Any of the 4,374 U.S. CUs with $2.5T in assets is addressable — a long-tail expansion lever after core FI penetration.</a:t>
            </a:r>
            <a:endParaRPr lang="en-US" sz="950" dirty="0"/>
          </a:p>
        </p:txBody>
      </p:sp>
      <p:sp>
        <p:nvSpPr>
          <p:cNvPr id="32" name="Shape 30"/>
          <p:cNvSpPr/>
          <p:nvPr/>
        </p:nvSpPr>
        <p:spPr>
          <a:xfrm>
            <a:off x="274320" y="4572000"/>
            <a:ext cx="8595360" cy="457200"/>
          </a:xfrm>
          <a:prstGeom prst="rect">
            <a:avLst/>
          </a:prstGeom>
          <a:solidFill>
            <a:srgbClr val="06185F"/>
          </a:solidFill>
          <a:ln w="12700">
            <a:solidFill>
              <a:srgbClr val="06185F"/>
            </a:solidFill>
            <a:prstDash val="solid"/>
          </a:ln>
        </p:spPr>
      </p:sp>
      <p:sp>
        <p:nvSpPr>
          <p:cNvPr id="33" name="Text 31"/>
          <p:cNvSpPr/>
          <p:nvPr/>
        </p:nvSpPr>
        <p:spPr>
          <a:xfrm>
            <a:off x="457200" y="4599432"/>
            <a:ext cx="8229600" cy="40233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Phase 1 targets the 1,660 core FIs first — Zelle Memo Intelligence launching now, then expanding across DS apps and payment-only FIs as pipelines mature.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6185F"/>
        </a:solidFill>
      </p:bgPr>
    </p:bg>
    <p:spTree>
      <p:nvGrpSpPr>
        <p:cNvPr id="1" name=""/>
        <p:cNvGrpSpPr/>
        <p:nvPr/>
      </p:nvGrpSpPr>
      <p:grpSpPr>
        <a:xfrm>
          <a:off x="0" y="0"/>
          <a:ext cx="0" cy="0"/>
          <a:chOff x="0" y="0"/>
          <a:chExt cx="0" cy="0"/>
        </a:xfrm>
      </p:grpSpPr>
      <p:sp>
        <p:nvSpPr>
          <p:cNvPr id="2" name="Shape 0"/>
          <p:cNvSpPr/>
          <p:nvPr/>
        </p:nvSpPr>
        <p:spPr>
          <a:xfrm>
            <a:off x="5303520" y="-1828800"/>
            <a:ext cx="6400800" cy="6400800"/>
          </a:xfrm>
          <a:prstGeom prst="ellipse">
            <a:avLst/>
          </a:prstGeom>
          <a:solidFill>
            <a:srgbClr val="085CE5">
              <a:alpha val="10000"/>
            </a:srgbClr>
          </a:solidFill>
          <a:ln w="12700">
            <a:solidFill>
              <a:srgbClr val="085CE5">
                <a:alpha val="18000"/>
              </a:srgbClr>
            </a:solidFill>
            <a:prstDash val="solid"/>
          </a:ln>
        </p:spPr>
      </p:sp>
      <p:sp>
        <p:nvSpPr>
          <p:cNvPr id="3" name="Shape 1"/>
          <p:cNvSpPr/>
          <p:nvPr/>
        </p:nvSpPr>
        <p:spPr>
          <a:xfrm>
            <a:off x="6583680" y="914400"/>
            <a:ext cx="3200400" cy="3200400"/>
          </a:xfrm>
          <a:prstGeom prst="ellipse">
            <a:avLst/>
          </a:prstGeom>
          <a:solidFill>
            <a:srgbClr val="76DCFD">
              <a:alpha val="12000"/>
            </a:srgbClr>
          </a:solidFill>
          <a:ln w="12700">
            <a:solidFill>
              <a:srgbClr val="76DCFD">
                <a:alpha val="20000"/>
              </a:srgbClr>
            </a:solidFill>
            <a:prstDash val="solid"/>
          </a:ln>
        </p:spPr>
      </p:sp>
      <p:sp>
        <p:nvSpPr>
          <p:cNvPr id="4" name="Shape 2"/>
          <p:cNvSpPr/>
          <p:nvPr/>
        </p:nvSpPr>
        <p:spPr>
          <a:xfrm>
            <a:off x="0" y="0"/>
            <a:ext cx="137160" cy="5143500"/>
          </a:xfrm>
          <a:prstGeom prst="rect">
            <a:avLst/>
          </a:prstGeom>
          <a:solidFill>
            <a:srgbClr val="085CE5"/>
          </a:solidFill>
          <a:ln w="12700">
            <a:solidFill>
              <a:srgbClr val="085CE5"/>
            </a:solidFill>
            <a:prstDash val="solid"/>
          </a:ln>
        </p:spPr>
      </p:sp>
      <p:sp>
        <p:nvSpPr>
          <p:cNvPr id="5" name="Text 3"/>
          <p:cNvSpPr/>
          <p:nvPr/>
        </p:nvSpPr>
        <p:spPr>
          <a:xfrm>
            <a:off x="365760" y="457200"/>
            <a:ext cx="5486400" cy="347472"/>
          </a:xfrm>
          <a:prstGeom prst="rect">
            <a:avLst/>
          </a:prstGeom>
          <a:noFill/>
          <a:ln/>
        </p:spPr>
        <p:txBody>
          <a:bodyPr wrap="square" lIns="0" tIns="0" rIns="0" bIns="0" rtlCol="0" anchor="ctr"/>
          <a:lstStyle/>
          <a:p>
            <a:pPr indent="0" marL="0">
              <a:buNone/>
            </a:pPr>
            <a:r>
              <a:rPr lang="en-US" sz="1100" b="1" spc="400" kern="0" dirty="0">
                <a:solidFill>
                  <a:srgbClr val="76DCFD"/>
                </a:solidFill>
                <a:latin typeface="Calibri" pitchFamily="34" charset="0"/>
                <a:ea typeface="Calibri" pitchFamily="34" charset="-122"/>
                <a:cs typeface="Calibri" pitchFamily="34" charset="-120"/>
              </a:rPr>
              <a:t>OUR VISION</a:t>
            </a:r>
            <a:endParaRPr lang="en-US" sz="1100" dirty="0"/>
          </a:p>
        </p:txBody>
      </p:sp>
      <p:sp>
        <p:nvSpPr>
          <p:cNvPr id="6" name="Text 4"/>
          <p:cNvSpPr/>
          <p:nvPr/>
        </p:nvSpPr>
        <p:spPr>
          <a:xfrm>
            <a:off x="365760" y="868680"/>
            <a:ext cx="6400800" cy="169164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Make Jack Henry the AI-First</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Platform Partner for Every</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Community FI in America</a:t>
            </a:r>
            <a:endParaRPr lang="en-US" sz="3400" dirty="0"/>
          </a:p>
        </p:txBody>
      </p:sp>
      <p:sp>
        <p:nvSpPr>
          <p:cNvPr id="7" name="Text 5"/>
          <p:cNvSpPr/>
          <p:nvPr/>
        </p:nvSpPr>
        <p:spPr>
          <a:xfrm>
            <a:off x="365760" y="2651760"/>
            <a:ext cx="5852160" cy="960120"/>
          </a:xfrm>
          <a:prstGeom prst="rect">
            <a:avLst/>
          </a:prstGeom>
          <a:noFill/>
          <a:ln/>
        </p:spPr>
        <p:txBody>
          <a:bodyPr wrap="square" lIns="0" tIns="0" rIns="0" bIns="0" rtlCol="0" anchor="ctr"/>
          <a:lstStyle/>
          <a:p>
            <a:pPr indent="0" marL="0">
              <a:buNone/>
            </a:pPr>
            <a:r>
              <a:rPr lang="en-US" sz="1300" dirty="0">
                <a:solidFill>
                  <a:srgbClr val="E7ECF0"/>
                </a:solidFill>
                <a:latin typeface="Calibri" pitchFamily="34" charset="0"/>
                <a:ea typeface="Calibri" pitchFamily="34" charset="-122"/>
                <a:cs typeface="Calibri" pitchFamily="34" charset="-120"/>
              </a:rPr>
              <a:t>By embedding AI-powered analytics and decision intelligence directly into the JH platform ecosystem, we deepen client stickiness, create new revenue streams, and establish an insurmountable competitive moat versus FIS, Fiserv, and niche challengers.</a:t>
            </a:r>
            <a:endParaRPr lang="en-US" sz="1300" dirty="0"/>
          </a:p>
        </p:txBody>
      </p:sp>
      <p:sp>
        <p:nvSpPr>
          <p:cNvPr id="8" name="Text 6"/>
          <p:cNvSpPr/>
          <p:nvPr/>
        </p:nvSpPr>
        <p:spPr>
          <a:xfrm>
            <a:off x="365760" y="3730752"/>
            <a:ext cx="5486400" cy="256032"/>
          </a:xfrm>
          <a:prstGeom prst="rect">
            <a:avLst/>
          </a:prstGeom>
          <a:noFill/>
          <a:ln/>
        </p:spPr>
        <p:txBody>
          <a:bodyPr wrap="square" lIns="0" tIns="0" rIns="0" bIns="0" rtlCol="0" anchor="ctr"/>
          <a:lstStyle/>
          <a:p>
            <a:pPr indent="0" marL="0">
              <a:buNone/>
            </a:pPr>
            <a:r>
              <a:rPr lang="en-US" sz="900" b="1" spc="150" kern="0" dirty="0">
                <a:solidFill>
                  <a:srgbClr val="B6BBC0"/>
                </a:solidFill>
                <a:latin typeface="Calibri" pitchFamily="34" charset="0"/>
                <a:ea typeface="Calibri" pitchFamily="34" charset="-122"/>
                <a:cs typeface="Calibri" pitchFamily="34" charset="-120"/>
              </a:rPr>
              <a:t>FOUR INVESTMENT PILLARS</a:t>
            </a:r>
            <a:endParaRPr lang="en-US" sz="900" dirty="0"/>
          </a:p>
        </p:txBody>
      </p:sp>
      <p:sp>
        <p:nvSpPr>
          <p:cNvPr id="9" name="Shape 7"/>
          <p:cNvSpPr/>
          <p:nvPr/>
        </p:nvSpPr>
        <p:spPr>
          <a:xfrm>
            <a:off x="365760" y="4041648"/>
            <a:ext cx="1993392" cy="457200"/>
          </a:xfrm>
          <a:prstGeom prst="rect">
            <a:avLst/>
          </a:prstGeom>
          <a:solidFill>
            <a:srgbClr val="085CE5">
              <a:alpha val="35000"/>
            </a:srgbClr>
          </a:solidFill>
          <a:ln w="12700">
            <a:solidFill>
              <a:srgbClr val="085CE5"/>
            </a:solidFill>
            <a:prstDash val="solid"/>
          </a:ln>
        </p:spPr>
      </p:sp>
      <p:sp>
        <p:nvSpPr>
          <p:cNvPr id="10" name="Text 8"/>
          <p:cNvSpPr/>
          <p:nvPr/>
        </p:nvSpPr>
        <p:spPr>
          <a:xfrm>
            <a:off x="411480"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Data Acquisition</a:t>
            </a:r>
            <a:endParaRPr lang="en-US" sz="1150" dirty="0"/>
          </a:p>
        </p:txBody>
      </p:sp>
      <p:sp>
        <p:nvSpPr>
          <p:cNvPr id="11" name="Shape 9"/>
          <p:cNvSpPr/>
          <p:nvPr/>
        </p:nvSpPr>
        <p:spPr>
          <a:xfrm>
            <a:off x="2487168" y="4041648"/>
            <a:ext cx="1993392" cy="457200"/>
          </a:xfrm>
          <a:prstGeom prst="rect">
            <a:avLst/>
          </a:prstGeom>
          <a:solidFill>
            <a:srgbClr val="0D2E7A">
              <a:alpha val="35000"/>
            </a:srgbClr>
          </a:solidFill>
          <a:ln w="12700">
            <a:solidFill>
              <a:srgbClr val="0D2E7A"/>
            </a:solidFill>
            <a:prstDash val="solid"/>
          </a:ln>
        </p:spPr>
      </p:sp>
      <p:sp>
        <p:nvSpPr>
          <p:cNvPr id="12" name="Text 10"/>
          <p:cNvSpPr/>
          <p:nvPr/>
        </p:nvSpPr>
        <p:spPr>
          <a:xfrm>
            <a:off x="2532888"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DS Buildout</a:t>
            </a:r>
            <a:endParaRPr lang="en-US" sz="1150" dirty="0"/>
          </a:p>
        </p:txBody>
      </p:sp>
      <p:sp>
        <p:nvSpPr>
          <p:cNvPr id="13" name="Shape 11"/>
          <p:cNvSpPr/>
          <p:nvPr/>
        </p:nvSpPr>
        <p:spPr>
          <a:xfrm>
            <a:off x="4608576" y="4041648"/>
            <a:ext cx="1993392" cy="457200"/>
          </a:xfrm>
          <a:prstGeom prst="rect">
            <a:avLst/>
          </a:prstGeom>
          <a:solidFill>
            <a:srgbClr val="073FA8">
              <a:alpha val="35000"/>
            </a:srgbClr>
          </a:solidFill>
          <a:ln w="12700">
            <a:solidFill>
              <a:srgbClr val="073FA8"/>
            </a:solidFill>
            <a:prstDash val="solid"/>
          </a:ln>
        </p:spPr>
      </p:sp>
      <p:sp>
        <p:nvSpPr>
          <p:cNvPr id="14" name="Text 12"/>
          <p:cNvSpPr/>
          <p:nvPr/>
        </p:nvSpPr>
        <p:spPr>
          <a:xfrm>
            <a:off x="4654296"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Visualizations</a:t>
            </a:r>
            <a:endParaRPr lang="en-US" sz="1150" dirty="0"/>
          </a:p>
        </p:txBody>
      </p:sp>
      <p:sp>
        <p:nvSpPr>
          <p:cNvPr id="15" name="Shape 13"/>
          <p:cNvSpPr/>
          <p:nvPr/>
        </p:nvSpPr>
        <p:spPr>
          <a:xfrm>
            <a:off x="6729984" y="4041648"/>
            <a:ext cx="1993392" cy="457200"/>
          </a:xfrm>
          <a:prstGeom prst="rect">
            <a:avLst/>
          </a:prstGeom>
          <a:solidFill>
            <a:srgbClr val="575A5D">
              <a:alpha val="35000"/>
            </a:srgbClr>
          </a:solidFill>
          <a:ln w="12700">
            <a:solidFill>
              <a:srgbClr val="575A5D"/>
            </a:solidFill>
            <a:prstDash val="solid"/>
          </a:ln>
        </p:spPr>
      </p:sp>
      <p:sp>
        <p:nvSpPr>
          <p:cNvPr id="16" name="Text 14"/>
          <p:cNvSpPr/>
          <p:nvPr/>
        </p:nvSpPr>
        <p:spPr>
          <a:xfrm>
            <a:off x="6775704"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App / API Dev</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JH Platform AI — Six Core Applications</a:t>
            </a:r>
            <a:endParaRPr lang="en-US" sz="2200" dirty="0"/>
          </a:p>
        </p:txBody>
      </p:sp>
      <p:sp>
        <p:nvSpPr>
          <p:cNvPr id="4" name="Shape 2"/>
          <p:cNvSpPr/>
          <p:nvPr/>
        </p:nvSpPr>
        <p:spPr>
          <a:xfrm>
            <a:off x="320040" y="777240"/>
            <a:ext cx="2706624" cy="20116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320040" y="777240"/>
            <a:ext cx="2706624" cy="658368"/>
          </a:xfrm>
          <a:prstGeom prst="rect">
            <a:avLst/>
          </a:prstGeom>
          <a:solidFill>
            <a:srgbClr val="06185F"/>
          </a:solidFill>
          <a:ln w="12700">
            <a:solidFill>
              <a:srgbClr val="06185F"/>
            </a:solidFill>
            <a:prstDash val="solid"/>
          </a:ln>
        </p:spPr>
      </p:sp>
      <p:pic>
        <p:nvPicPr>
          <p:cNvPr id="6" name="Image 0" descr="preencoded.png">    </p:cNvPr>
          <p:cNvPicPr>
            <a:picLocks noChangeAspect="1"/>
          </p:cNvPicPr>
          <p:nvPr/>
        </p:nvPicPr>
        <p:blipFill>
          <a:blip r:embed="rId1"/>
          <a:stretch>
            <a:fillRect/>
          </a:stretch>
        </p:blipFill>
        <p:spPr>
          <a:xfrm>
            <a:off x="457200" y="905256"/>
            <a:ext cx="384048" cy="384048"/>
          </a:xfrm>
          <a:prstGeom prst="rect">
            <a:avLst/>
          </a:prstGeom>
        </p:spPr>
      </p:pic>
      <p:sp>
        <p:nvSpPr>
          <p:cNvPr id="7" name="Text 4"/>
          <p:cNvSpPr/>
          <p:nvPr/>
        </p:nvSpPr>
        <p:spPr>
          <a:xfrm>
            <a:off x="914400" y="850392"/>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Zelle Memo</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Intelligence</a:t>
            </a:r>
            <a:endParaRPr lang="en-US" sz="1150" dirty="0"/>
          </a:p>
        </p:txBody>
      </p:sp>
      <p:sp>
        <p:nvSpPr>
          <p:cNvPr id="8" name="Text 5"/>
          <p:cNvSpPr/>
          <p:nvPr/>
        </p:nvSpPr>
        <p:spPr>
          <a:xfrm>
            <a:off x="429768" y="1508760"/>
            <a:ext cx="2487168"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NLP pipeline to classify Zelle memos for fraud patterns, elder abuse, and compliance flags — automatically.</a:t>
            </a:r>
            <a:endParaRPr lang="en-US" sz="1050" dirty="0"/>
          </a:p>
        </p:txBody>
      </p:sp>
      <p:sp>
        <p:nvSpPr>
          <p:cNvPr id="9" name="Shape 6"/>
          <p:cNvSpPr/>
          <p:nvPr/>
        </p:nvSpPr>
        <p:spPr>
          <a:xfrm>
            <a:off x="2313432" y="777240"/>
            <a:ext cx="713232" cy="256032"/>
          </a:xfrm>
          <a:prstGeom prst="rect">
            <a:avLst/>
          </a:prstGeom>
          <a:solidFill>
            <a:srgbClr val="76DCFD"/>
          </a:solidFill>
          <a:ln w="12700">
            <a:solidFill>
              <a:srgbClr val="76DCFD"/>
            </a:solidFill>
            <a:prstDash val="solid"/>
          </a:ln>
        </p:spPr>
      </p:sp>
      <p:sp>
        <p:nvSpPr>
          <p:cNvPr id="10" name="Text 7"/>
          <p:cNvSpPr/>
          <p:nvPr/>
        </p:nvSpPr>
        <p:spPr>
          <a:xfrm>
            <a:off x="2313432" y="777240"/>
            <a:ext cx="713232" cy="256032"/>
          </a:xfrm>
          <a:prstGeom prst="rect">
            <a:avLst/>
          </a:prstGeom>
          <a:noFill/>
          <a:ln/>
        </p:spPr>
        <p:txBody>
          <a:bodyPr wrap="square" lIns="0" tIns="0" rIns="0" bIns="0" rtlCol="0" anchor="ctr"/>
          <a:lstStyle/>
          <a:p>
            <a:pPr algn="ctr" indent="0" marL="0">
              <a:buNone/>
            </a:pPr>
            <a:r>
              <a:rPr lang="en-US" sz="850" b="1" spc="100" kern="0" dirty="0">
                <a:solidFill>
                  <a:srgbClr val="06185F"/>
                </a:solidFill>
                <a:latin typeface="Calibri" pitchFamily="34" charset="0"/>
                <a:ea typeface="Calibri" pitchFamily="34" charset="-122"/>
                <a:cs typeface="Calibri" pitchFamily="34" charset="-120"/>
              </a:rPr>
              <a:t>NOW</a:t>
            </a:r>
            <a:endParaRPr lang="en-US" sz="850" dirty="0"/>
          </a:p>
        </p:txBody>
      </p:sp>
      <p:sp>
        <p:nvSpPr>
          <p:cNvPr id="11" name="Shape 8"/>
          <p:cNvSpPr/>
          <p:nvPr/>
        </p:nvSpPr>
        <p:spPr>
          <a:xfrm>
            <a:off x="3172968" y="777240"/>
            <a:ext cx="2706624" cy="20116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2" name="Shape 9"/>
          <p:cNvSpPr/>
          <p:nvPr/>
        </p:nvSpPr>
        <p:spPr>
          <a:xfrm>
            <a:off x="3172968" y="777240"/>
            <a:ext cx="2706624" cy="658368"/>
          </a:xfrm>
          <a:prstGeom prst="rect">
            <a:avLst/>
          </a:prstGeom>
          <a:solidFill>
            <a:srgbClr val="085CE5"/>
          </a:solidFill>
          <a:ln w="12700">
            <a:solidFill>
              <a:srgbClr val="085CE5"/>
            </a:solidFill>
            <a:prstDash val="solid"/>
          </a:ln>
        </p:spPr>
      </p:sp>
      <p:pic>
        <p:nvPicPr>
          <p:cNvPr id="13" name="Image 1" descr="preencoded.png">    </p:cNvPr>
          <p:cNvPicPr>
            <a:picLocks noChangeAspect="1"/>
          </p:cNvPicPr>
          <p:nvPr/>
        </p:nvPicPr>
        <p:blipFill>
          <a:blip r:embed="rId2"/>
          <a:stretch>
            <a:fillRect/>
          </a:stretch>
        </p:blipFill>
        <p:spPr>
          <a:xfrm>
            <a:off x="3310128" y="905256"/>
            <a:ext cx="384048" cy="384048"/>
          </a:xfrm>
          <a:prstGeom prst="rect">
            <a:avLst/>
          </a:prstGeom>
        </p:spPr>
      </p:pic>
      <p:sp>
        <p:nvSpPr>
          <p:cNvPr id="14" name="Text 10"/>
          <p:cNvSpPr/>
          <p:nvPr/>
        </p:nvSpPr>
        <p:spPr>
          <a:xfrm>
            <a:off x="3767328" y="850392"/>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Churn</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Sentinel</a:t>
            </a:r>
            <a:endParaRPr lang="en-US" sz="1150" dirty="0"/>
          </a:p>
        </p:txBody>
      </p:sp>
      <p:sp>
        <p:nvSpPr>
          <p:cNvPr id="15" name="Text 11"/>
          <p:cNvSpPr/>
          <p:nvPr/>
        </p:nvSpPr>
        <p:spPr>
          <a:xfrm>
            <a:off x="3282696" y="1508760"/>
            <a:ext cx="2487168"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ML scoring to identify at-risk FI customers weekly and power proactive retention workflows before churn occurs.</a:t>
            </a:r>
            <a:endParaRPr lang="en-US" sz="1050" dirty="0"/>
          </a:p>
        </p:txBody>
      </p:sp>
      <p:sp>
        <p:nvSpPr>
          <p:cNvPr id="16" name="Shape 12"/>
          <p:cNvSpPr/>
          <p:nvPr/>
        </p:nvSpPr>
        <p:spPr>
          <a:xfrm>
            <a:off x="6025896" y="777240"/>
            <a:ext cx="2706624" cy="20116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7" name="Shape 13"/>
          <p:cNvSpPr/>
          <p:nvPr/>
        </p:nvSpPr>
        <p:spPr>
          <a:xfrm>
            <a:off x="6025896" y="777240"/>
            <a:ext cx="2706624" cy="658368"/>
          </a:xfrm>
          <a:prstGeom prst="rect">
            <a:avLst/>
          </a:prstGeom>
          <a:solidFill>
            <a:srgbClr val="073FA8"/>
          </a:solidFill>
          <a:ln w="12700">
            <a:solidFill>
              <a:srgbClr val="073FA8"/>
            </a:solidFill>
            <a:prstDash val="solid"/>
          </a:ln>
        </p:spPr>
      </p:sp>
      <p:pic>
        <p:nvPicPr>
          <p:cNvPr id="18" name="Image 2" descr="preencoded.png">    </p:cNvPr>
          <p:cNvPicPr>
            <a:picLocks noChangeAspect="1"/>
          </p:cNvPicPr>
          <p:nvPr/>
        </p:nvPicPr>
        <p:blipFill>
          <a:blip r:embed="rId3"/>
          <a:stretch>
            <a:fillRect/>
          </a:stretch>
        </p:blipFill>
        <p:spPr>
          <a:xfrm>
            <a:off x="6163056" y="905256"/>
            <a:ext cx="384048" cy="384048"/>
          </a:xfrm>
          <a:prstGeom prst="rect">
            <a:avLst/>
          </a:prstGeom>
        </p:spPr>
      </p:pic>
      <p:sp>
        <p:nvSpPr>
          <p:cNvPr id="19" name="Text 14"/>
          <p:cNvSpPr/>
          <p:nvPr/>
        </p:nvSpPr>
        <p:spPr>
          <a:xfrm>
            <a:off x="6620256" y="850392"/>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Anomaly</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Detection</a:t>
            </a:r>
            <a:endParaRPr lang="en-US" sz="1150" dirty="0"/>
          </a:p>
        </p:txBody>
      </p:sp>
      <p:sp>
        <p:nvSpPr>
          <p:cNvPr id="20" name="Text 15"/>
          <p:cNvSpPr/>
          <p:nvPr/>
        </p:nvSpPr>
        <p:spPr>
          <a:xfrm>
            <a:off x="6135624" y="1508760"/>
            <a:ext cx="2487168"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Real-time ML detection of unusual account behavior and transaction patterns across JH-powered institutions.</a:t>
            </a:r>
            <a:endParaRPr lang="en-US" sz="1050" dirty="0"/>
          </a:p>
        </p:txBody>
      </p:sp>
      <p:sp>
        <p:nvSpPr>
          <p:cNvPr id="21" name="Shape 16"/>
          <p:cNvSpPr/>
          <p:nvPr/>
        </p:nvSpPr>
        <p:spPr>
          <a:xfrm>
            <a:off x="320040" y="2953512"/>
            <a:ext cx="2706624" cy="20116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2" name="Shape 17"/>
          <p:cNvSpPr/>
          <p:nvPr/>
        </p:nvSpPr>
        <p:spPr>
          <a:xfrm>
            <a:off x="320040" y="2953512"/>
            <a:ext cx="2706624" cy="658368"/>
          </a:xfrm>
          <a:prstGeom prst="rect">
            <a:avLst/>
          </a:prstGeom>
          <a:solidFill>
            <a:srgbClr val="0D2E7A"/>
          </a:solidFill>
          <a:ln w="12700">
            <a:solidFill>
              <a:srgbClr val="0D2E7A"/>
            </a:solidFill>
            <a:prstDash val="solid"/>
          </a:ln>
        </p:spPr>
      </p:sp>
      <p:pic>
        <p:nvPicPr>
          <p:cNvPr id="23" name="Image 3" descr="preencoded.png">    </p:cNvPr>
          <p:cNvPicPr>
            <a:picLocks noChangeAspect="1"/>
          </p:cNvPicPr>
          <p:nvPr/>
        </p:nvPicPr>
        <p:blipFill>
          <a:blip r:embed="rId4"/>
          <a:stretch>
            <a:fillRect/>
          </a:stretch>
        </p:blipFill>
        <p:spPr>
          <a:xfrm>
            <a:off x="457200" y="3081528"/>
            <a:ext cx="384048" cy="384048"/>
          </a:xfrm>
          <a:prstGeom prst="rect">
            <a:avLst/>
          </a:prstGeom>
        </p:spPr>
      </p:pic>
      <p:sp>
        <p:nvSpPr>
          <p:cNvPr id="24" name="Text 18"/>
          <p:cNvSpPr/>
          <p:nvPr/>
        </p:nvSpPr>
        <p:spPr>
          <a:xfrm>
            <a:off x="914400" y="3026664"/>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FI Decision</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Studio</a:t>
            </a:r>
            <a:endParaRPr lang="en-US" sz="1150" dirty="0"/>
          </a:p>
        </p:txBody>
      </p:sp>
      <p:sp>
        <p:nvSpPr>
          <p:cNvPr id="25" name="Text 19"/>
          <p:cNvSpPr/>
          <p:nvPr/>
        </p:nvSpPr>
        <p:spPr>
          <a:xfrm>
            <a:off x="429768" y="3685032"/>
            <a:ext cx="2487168"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No-code AutoML for FIs: upload data, train custom models, explain with SHAP, author rules, deploy as API, monitor drift.</a:t>
            </a:r>
            <a:endParaRPr lang="en-US" sz="1050" dirty="0"/>
          </a:p>
        </p:txBody>
      </p:sp>
      <p:sp>
        <p:nvSpPr>
          <p:cNvPr id="26" name="Shape 20"/>
          <p:cNvSpPr/>
          <p:nvPr/>
        </p:nvSpPr>
        <p:spPr>
          <a:xfrm>
            <a:off x="3172968" y="2953512"/>
            <a:ext cx="2706624" cy="20116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7" name="Shape 21"/>
          <p:cNvSpPr/>
          <p:nvPr/>
        </p:nvSpPr>
        <p:spPr>
          <a:xfrm>
            <a:off x="3172968" y="2953512"/>
            <a:ext cx="2706624" cy="658368"/>
          </a:xfrm>
          <a:prstGeom prst="rect">
            <a:avLst/>
          </a:prstGeom>
          <a:solidFill>
            <a:srgbClr val="0A52C4"/>
          </a:solidFill>
          <a:ln w="12700">
            <a:solidFill>
              <a:srgbClr val="0A52C4"/>
            </a:solidFill>
            <a:prstDash val="solid"/>
          </a:ln>
        </p:spPr>
      </p:sp>
      <p:pic>
        <p:nvPicPr>
          <p:cNvPr id="28" name="Image 4" descr="preencoded.png">    </p:cNvPr>
          <p:cNvPicPr>
            <a:picLocks noChangeAspect="1"/>
          </p:cNvPicPr>
          <p:nvPr/>
        </p:nvPicPr>
        <p:blipFill>
          <a:blip r:embed="rId5"/>
          <a:stretch>
            <a:fillRect/>
          </a:stretch>
        </p:blipFill>
        <p:spPr>
          <a:xfrm>
            <a:off x="3310128" y="3081528"/>
            <a:ext cx="384048" cy="384048"/>
          </a:xfrm>
          <a:prstGeom prst="rect">
            <a:avLst/>
          </a:prstGeom>
        </p:spPr>
      </p:pic>
      <p:sp>
        <p:nvSpPr>
          <p:cNvPr id="29" name="Text 22"/>
          <p:cNvSpPr/>
          <p:nvPr/>
        </p:nvSpPr>
        <p:spPr>
          <a:xfrm>
            <a:off x="3767328" y="3026664"/>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CommercialSignal</a:t>
            </a:r>
            <a:endParaRPr lang="en-US" sz="1150" dirty="0"/>
          </a:p>
        </p:txBody>
      </p:sp>
      <p:sp>
        <p:nvSpPr>
          <p:cNvPr id="30" name="Text 23"/>
          <p:cNvSpPr/>
          <p:nvPr/>
        </p:nvSpPr>
        <p:spPr>
          <a:xfrm>
            <a:off x="3282696" y="3685032"/>
            <a:ext cx="2487168"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ML classifier surfacing personal accounts with commercial transaction signatures — converting hidden SMB relationships to business banking.</a:t>
            </a:r>
            <a:endParaRPr lang="en-US" sz="1050" dirty="0"/>
          </a:p>
        </p:txBody>
      </p:sp>
      <p:sp>
        <p:nvSpPr>
          <p:cNvPr id="31" name="Shape 24"/>
          <p:cNvSpPr/>
          <p:nvPr/>
        </p:nvSpPr>
        <p:spPr>
          <a:xfrm>
            <a:off x="6025896" y="2953512"/>
            <a:ext cx="2706624" cy="20116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32" name="Shape 25"/>
          <p:cNvSpPr/>
          <p:nvPr/>
        </p:nvSpPr>
        <p:spPr>
          <a:xfrm>
            <a:off x="6025896" y="2953512"/>
            <a:ext cx="2706624" cy="658368"/>
          </a:xfrm>
          <a:prstGeom prst="rect">
            <a:avLst/>
          </a:prstGeom>
          <a:solidFill>
            <a:srgbClr val="0F3D8A"/>
          </a:solidFill>
          <a:ln w="12700">
            <a:solidFill>
              <a:srgbClr val="0F3D8A"/>
            </a:solidFill>
            <a:prstDash val="solid"/>
          </a:ln>
        </p:spPr>
      </p:sp>
      <p:pic>
        <p:nvPicPr>
          <p:cNvPr id="33" name="Image 5" descr="preencoded.png">    </p:cNvPr>
          <p:cNvPicPr>
            <a:picLocks noChangeAspect="1"/>
          </p:cNvPicPr>
          <p:nvPr/>
        </p:nvPicPr>
        <p:blipFill>
          <a:blip r:embed="rId6"/>
          <a:stretch>
            <a:fillRect/>
          </a:stretch>
        </p:blipFill>
        <p:spPr>
          <a:xfrm>
            <a:off x="6163056" y="3081528"/>
            <a:ext cx="384048" cy="384048"/>
          </a:xfrm>
          <a:prstGeom prst="rect">
            <a:avLst/>
          </a:prstGeom>
        </p:spPr>
      </p:pic>
      <p:sp>
        <p:nvSpPr>
          <p:cNvPr id="34" name="Text 26"/>
          <p:cNvSpPr/>
          <p:nvPr/>
        </p:nvSpPr>
        <p:spPr>
          <a:xfrm>
            <a:off x="6620256" y="3026664"/>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Generational</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Wealth Deflection</a:t>
            </a:r>
            <a:endParaRPr lang="en-US" sz="1150" dirty="0"/>
          </a:p>
        </p:txBody>
      </p:sp>
      <p:sp>
        <p:nvSpPr>
          <p:cNvPr id="35" name="Text 27"/>
          <p:cNvSpPr/>
          <p:nvPr/>
        </p:nvSpPr>
        <p:spPr>
          <a:xfrm>
            <a:off x="6135624" y="3685032"/>
            <a:ext cx="2487168"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Household coverage scoring to identify single-holder wealth concentration and expand FI relationships to next-generation family members.</a:t>
            </a:r>
            <a:endParaRPr lang="en-US" sz="1050" dirty="0"/>
          </a:p>
        </p:txBody>
      </p:sp>
      <p:sp>
        <p:nvSpPr>
          <p:cNvPr id="36" name="Shape 28"/>
          <p:cNvSpPr/>
          <p:nvPr/>
        </p:nvSpPr>
        <p:spPr>
          <a:xfrm>
            <a:off x="320040" y="4718304"/>
            <a:ext cx="8503920" cy="329184"/>
          </a:xfrm>
          <a:prstGeom prst="rect">
            <a:avLst/>
          </a:prstGeom>
          <a:solidFill>
            <a:srgbClr val="E8F7F7"/>
          </a:solidFill>
          <a:ln w="12700">
            <a:solidFill>
              <a:srgbClr val="085CE5"/>
            </a:solidFill>
            <a:prstDash val="solid"/>
          </a:ln>
        </p:spPr>
      </p:sp>
      <p:sp>
        <p:nvSpPr>
          <p:cNvPr id="37" name="Text 29"/>
          <p:cNvSpPr/>
          <p:nvPr/>
        </p:nvSpPr>
        <p:spPr>
          <a:xfrm>
            <a:off x="475488" y="4736592"/>
            <a:ext cx="8229600" cy="274320"/>
          </a:xfrm>
          <a:prstGeom prst="rect">
            <a:avLst/>
          </a:prstGeom>
          <a:noFill/>
          <a:ln/>
        </p:spPr>
        <p:txBody>
          <a:bodyPr wrap="square" lIns="0" tIns="0" rIns="0" bIns="0" rtlCol="0" anchor="ctr"/>
          <a:lstStyle/>
          <a:p>
            <a:pPr indent="0" marL="0">
              <a:buNone/>
            </a:pPr>
            <a:r>
              <a:rPr lang="en-US" sz="950" i="1" dirty="0">
                <a:solidFill>
                  <a:srgbClr val="085CE5"/>
                </a:solidFill>
                <a:latin typeface="Calibri" pitchFamily="34" charset="0"/>
                <a:ea typeface="Calibri" pitchFamily="34" charset="-122"/>
                <a:cs typeface="Calibri" pitchFamily="34" charset="-120"/>
              </a:rPr>
              <a:t>Horizon Pipeline includes Year 2 opportunities: Cross-Sell Propensity  ·  Fraud Ring Detection  ·  Deposit Runoff  ·  Overdraft Prediction  ·  and more →  see Horizon slide</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6185F"/>
          </a:solidFill>
          <a:ln w="12700">
            <a:solidFill>
              <a:srgbClr val="06185F"/>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Zelle Memo Intelligence</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6185F"/>
          </a:solidFill>
          <a:ln w="12700">
            <a:solidFill>
              <a:srgbClr val="06185F"/>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6185F"/>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Zelle transaction volumes across JH-powered institutions have grown 40%+ year-over-year. Free-text memos contain fraud signals, elder abuse patterns, and compliance triggers — but manual review at scale is impossible and static rules miss adaptive language.</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Manual memo review is expensive and impossible to scale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Pattern-based rules miss novel language and obfuscation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systemic link between memo text and SAR filings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Compliance exposure growing with every Zelle transaction</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An NLP classification and entity-extraction pipeline using fine-tuned transformer models — deployed within JH's compliance infrastructure to classify Zelle memos in near-real-time and surface risk-ranked alerts for examiner review.</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Fine-tuned DistilBERT / RoBERTa on labeled memo corpus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Entity extraction: amounts, counterparties, intent signals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Risk score → automated alert queue integration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Attention visualization for compliance examiner review</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60%</a:t>
            </a:r>
            <a:endParaRPr lang="en-US" sz="3000" dirty="0"/>
          </a:p>
        </p:txBody>
      </p:sp>
      <p:sp>
        <p:nvSpPr>
          <p:cNvPr id="20" name="Text 17"/>
          <p:cNvSpPr/>
          <p:nvPr/>
        </p:nvSpPr>
        <p:spPr>
          <a:xfrm>
            <a:off x="43891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Reduction in manual</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memo review hours per FI</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$250K+</a:t>
            </a:r>
            <a:endParaRPr lang="en-US" sz="3000" dirty="0"/>
          </a:p>
        </p:txBody>
      </p:sp>
      <p:sp>
        <p:nvSpPr>
          <p:cNvPr id="23" name="Text 20"/>
          <p:cNvSpPr/>
          <p:nvPr/>
        </p:nvSpPr>
        <p:spPr>
          <a:xfrm>
            <a:off x="336499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compliance cost</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savings per FI (est.)</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Q4 2026</a:t>
            </a:r>
            <a:endParaRPr lang="en-US" sz="3000" dirty="0"/>
          </a:p>
        </p:txBody>
      </p:sp>
      <p:sp>
        <p:nvSpPr>
          <p:cNvPr id="26" name="Text 23"/>
          <p:cNvSpPr/>
          <p:nvPr/>
        </p:nvSpPr>
        <p:spPr>
          <a:xfrm>
            <a:off x="629107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85CE5"/>
          </a:solidFill>
          <a:ln w="12700">
            <a:solidFill>
              <a:srgbClr val="085CE5"/>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Churn Sentinel</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85CE5"/>
          </a:solidFill>
          <a:ln w="12700">
            <a:solidFill>
              <a:srgbClr val="085CE5"/>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Community banks and credit unions lose 8–12% of their customer base annually — but the signal is hiding in plain sight. Direct deposit cadence changes, ACH originator shifts, and balance migration patterns in payments data telegraph defection weeks before an account closes. By the time staff react, the relationship is already gone.</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Direct deposit moves are the #1 churn signal — caught only after the fact</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ACH cadence breaks (frequency, amount, originator) go unmonitored</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Relationship managers have no behavioral risk score to prioritize outreach</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Reactive retention is expensive — proactive saves cost a fraction</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Churn Sentinel is a two-phase signal model built on JH's network data — Phase 1 launches on ACH payments signals (direct deposit monitoring, cadence anomalies, originator changes) and Phase 2 enriches with core banking and Banno digital signals as those pipelines come online. The model trains on JH's full FI network regardless of per-FI adoption.</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Phase 1 — ACH Sentinel: direct deposit cadence + originator change detection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Phase 2 — Core + Digital: balance trends, product thinning, Banno session signals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CatBoost survival model · SHAP explainability for banker-facing scores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Weekly scores pushed to JH CRM → automated outreach workflow triggers</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$1–3M</a:t>
            </a:r>
            <a:endParaRPr lang="en-US" sz="3000" dirty="0"/>
          </a:p>
        </p:txBody>
      </p:sp>
      <p:sp>
        <p:nvSpPr>
          <p:cNvPr id="20" name="Text 17"/>
          <p:cNvSpPr/>
          <p:nvPr/>
        </p:nvSpPr>
        <p:spPr>
          <a:xfrm>
            <a:off x="43891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revenue protected</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 FI ($1B deposits)</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15–25%</a:t>
            </a:r>
            <a:endParaRPr lang="en-US" sz="3000" dirty="0"/>
          </a:p>
        </p:txBody>
      </p:sp>
      <p:sp>
        <p:nvSpPr>
          <p:cNvPr id="23" name="Text 20"/>
          <p:cNvSpPr/>
          <p:nvPr/>
        </p:nvSpPr>
        <p:spPr>
          <a:xfrm>
            <a:off x="336499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Reduction in churn</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rate for FI clients</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Q3 FY26</a:t>
            </a:r>
            <a:endParaRPr lang="en-US" sz="3000" dirty="0"/>
          </a:p>
        </p:txBody>
      </p:sp>
      <p:sp>
        <p:nvSpPr>
          <p:cNvPr id="26" name="Text 23"/>
          <p:cNvSpPr/>
          <p:nvPr/>
        </p:nvSpPr>
        <p:spPr>
          <a:xfrm>
            <a:off x="629107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Phase 1 ACH Sentinel</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target launch</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73FA8"/>
          </a:solidFill>
          <a:ln w="12700">
            <a:solidFill>
              <a:srgbClr val="073FA8"/>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Anomaly Detection</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73FA8"/>
          </a:solidFill>
          <a:ln w="12700">
            <a:solidFill>
              <a:srgbClr val="073FA8"/>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73FA8"/>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Fraud and operational anomalies across JH-powered FIs are caught only by static rules — generating massive false positive rates that exhaust alert teams, while sophisticated multi-account patterns, account takeover signals, and operational errors slip through undetected.</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Static rules generate excessive false positive alert volume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Novel fraud patterns evade threshold-based logic</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unsupervised learning across multi-account behavior</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Operational anomalies (data gaps, system errors) undetected</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An unsupervised anomaly detection platform using Isolation Forest, DBSCAN, and autoencoder neural networks — deployed as a JH platform service scoring transactions and behavioral signals across all connected FI institutions in near real-time.</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Isolation Forest + autoencoder ensemble architecture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Streaming Kafka pipeline for near-real-time scoring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Multi-entity context: account, customer, branch, channel</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anomaly scores surfaced in JH analyst dashboard</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$1–2M</a:t>
            </a:r>
            <a:endParaRPr lang="en-US" sz="3000" dirty="0"/>
          </a:p>
        </p:txBody>
      </p:sp>
      <p:sp>
        <p:nvSpPr>
          <p:cNvPr id="20" name="Text 17"/>
          <p:cNvSpPr/>
          <p:nvPr/>
        </p:nvSpPr>
        <p:spPr>
          <a:xfrm>
            <a:off x="43891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fraud loss saved</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 FI (est.)</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70%</a:t>
            </a:r>
            <a:endParaRPr lang="en-US" sz="3000" dirty="0"/>
          </a:p>
        </p:txBody>
      </p:sp>
      <p:sp>
        <p:nvSpPr>
          <p:cNvPr id="23" name="Text 20"/>
          <p:cNvSpPr/>
          <p:nvPr/>
        </p:nvSpPr>
        <p:spPr>
          <a:xfrm>
            <a:off x="336499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False positive</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reduction target</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A52C4"/>
          </a:solidFill>
          <a:ln w="12700">
            <a:solidFill>
              <a:srgbClr val="0A52C4"/>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CommercialSignal</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A52C4"/>
          </a:solidFill>
          <a:ln w="12700">
            <a:solidFill>
              <a:srgbClr val="0A52C4"/>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A52C4"/>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Business owners run commercial operations through personal accounts daily — creating BSA/AML blind spots, Reg E gaps, and hiding SMB relationships that belong in business banking generating fee income, treasury products, and SBA loan revenue.</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Commercial cash flows in consumer accounts invisible to business banking teams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BSA/AML programs miss commercial-risk patterns governed by Reg E frameworks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FIs lose fee income, treasury products, and SBA loan opportunities from hidden SMBs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Sole proprietors remain in consumer tiers with no differentiated service or depth</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An ML classification model analyzing transaction velocity, ACH vendor/payroll signatures, payee diversity, and cash flow patterns to score personal accounts for commercial usage probability — surfacing them for business banking outreach and revenue conversion.</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CatBoost classifier: transaction velocity, ACH pattern, payee diversity, cash flow features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feature attribution for banker review and Regulation E compliance documentation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Integration with JH CRM for segmented SMB conversion outreach campaigns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Automated monitoring for commercial activity thresholds with alert triggers</a:t>
            </a:r>
            <a:endParaRPr lang="en-US" sz="1050" dirty="0"/>
          </a:p>
        </p:txBody>
      </p:sp>
      <p:sp>
        <p:nvSpPr>
          <p:cNvPr id="18" name="Shape 15"/>
          <p:cNvSpPr/>
          <p:nvPr/>
        </p:nvSpPr>
        <p:spPr>
          <a:xfrm>
            <a:off x="36576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$22T</a:t>
            </a:r>
            <a:endParaRPr lang="en-US" sz="3000" dirty="0"/>
          </a:p>
        </p:txBody>
      </p:sp>
      <p:sp>
        <p:nvSpPr>
          <p:cNvPr id="20" name="Text 17"/>
          <p:cNvSpPr/>
          <p:nvPr/>
        </p:nvSpPr>
        <p:spPr>
          <a:xfrm>
            <a:off x="43891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business payments</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flowing through personal accounts</a:t>
            </a:r>
            <a:endParaRPr lang="en-US" sz="1050" dirty="0"/>
          </a:p>
        </p:txBody>
      </p:sp>
      <p:sp>
        <p:nvSpPr>
          <p:cNvPr id="21" name="Shape 18"/>
          <p:cNvSpPr/>
          <p:nvPr/>
        </p:nvSpPr>
        <p:spPr>
          <a:xfrm>
            <a:off x="329184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30–40%</a:t>
            </a:r>
            <a:endParaRPr lang="en-US" sz="3000" dirty="0"/>
          </a:p>
        </p:txBody>
      </p:sp>
      <p:sp>
        <p:nvSpPr>
          <p:cNvPr id="23" name="Text 20"/>
          <p:cNvSpPr/>
          <p:nvPr/>
        </p:nvSpPr>
        <p:spPr>
          <a:xfrm>
            <a:off x="336499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Small business owners use</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personal accounts commercially</a:t>
            </a:r>
            <a:endParaRPr lang="en-US" sz="1050" dirty="0"/>
          </a:p>
        </p:txBody>
      </p:sp>
      <p:sp>
        <p:nvSpPr>
          <p:cNvPr id="24" name="Shape 21"/>
          <p:cNvSpPr/>
          <p:nvPr/>
        </p:nvSpPr>
        <p:spPr>
          <a:xfrm>
            <a:off x="621792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
        <p:nvSpPr>
          <p:cNvPr id="27" name="Shape 24"/>
          <p:cNvSpPr/>
          <p:nvPr/>
        </p:nvSpPr>
        <p:spPr>
          <a:xfrm>
            <a:off x="256032" y="4791456"/>
            <a:ext cx="8631936" cy="146304"/>
          </a:xfrm>
          <a:prstGeom prst="rect">
            <a:avLst/>
          </a:prstGeom>
          <a:solidFill>
            <a:srgbClr val="E7ECF0"/>
          </a:solidFill>
          <a:ln w="12700">
            <a:solidFill>
              <a:srgbClr val="E7ECF0"/>
            </a:solidFill>
            <a:prstDash val="solid"/>
          </a:ln>
        </p:spPr>
      </p:sp>
      <p:sp>
        <p:nvSpPr>
          <p:cNvPr id="28" name="Shape 25"/>
          <p:cNvSpPr/>
          <p:nvPr/>
        </p:nvSpPr>
        <p:spPr>
          <a:xfrm>
            <a:off x="256032" y="4791456"/>
            <a:ext cx="54864" cy="146304"/>
          </a:xfrm>
          <a:prstGeom prst="rect">
            <a:avLst/>
          </a:prstGeom>
          <a:solidFill>
            <a:srgbClr val="0A52C4"/>
          </a:solidFill>
          <a:ln w="12700">
            <a:solidFill>
              <a:srgbClr val="0A52C4"/>
            </a:solidFill>
            <a:prstDash val="solid"/>
          </a:ln>
        </p:spPr>
      </p:sp>
      <p:sp>
        <p:nvSpPr>
          <p:cNvPr id="29" name="Text 26"/>
          <p:cNvSpPr/>
          <p:nvPr/>
        </p:nvSpPr>
        <p:spPr>
          <a:xfrm>
            <a:off x="384048" y="4791456"/>
            <a:ext cx="8467344" cy="146304"/>
          </a:xfrm>
          <a:prstGeom prst="rect">
            <a:avLst/>
          </a:prstGeom>
          <a:noFill/>
          <a:ln/>
        </p:spPr>
        <p:txBody>
          <a:bodyPr wrap="square" lIns="0" tIns="0" rIns="0" bIns="0" rtlCol="0" anchor="ctr"/>
          <a:lstStyle/>
          <a:p>
            <a:pPr indent="0" marL="0">
              <a:buNone/>
            </a:pPr>
            <a:r>
              <a:rPr lang="en-US" sz="700" i="1" dirty="0">
                <a:solidFill>
                  <a:srgbClr val="575A5D"/>
                </a:solidFill>
                <a:latin typeface="Calibri" pitchFamily="34" charset="0"/>
                <a:ea typeface="Calibri" pitchFamily="34" charset="-122"/>
                <a:cs typeface="Calibri" pitchFamily="34" charset="-120"/>
              </a:rPr>
              <a:t>Bank Director — 'The Untapped Market Hiding in Consumer Bank Accounts' (bankdirector.com/article/the-untapped-market-hiding-in-consumer-bank-accounts)  ·  Datos Insights — 'Bank Wealth Managers: Business Owner Client Opportunity' (datos-insights.com)</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F3D8A"/>
          </a:solidFill>
          <a:ln w="12700">
            <a:solidFill>
              <a:srgbClr val="0F3D8A"/>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Generational Wealth Deflection</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F3D8A"/>
          </a:solidFill>
          <a:ln w="12700">
            <a:solidFill>
              <a:srgbClr val="0F3D8A"/>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F3D8A"/>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FIs manage individual accounts but have no household model — so when wealth concentrates in a single-holder account with no family ties at the FI, a life event sends those assets to a competitor who already has the relationship with the heirs.</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FI relationships are account-level, not household- or family-level</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model for identifying households with single-point-of-relationship risk</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Wealth transfer triggers reactive outreach — typically too late to retain assets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Next-gen account holders are captured by digital-first competitors before FI engages</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 household coverage scoring model that identifies existing accounts with concentrated wealth and no generational relationship depth — scoring deflection risk and triggering proactive family outreach campaigns to build multi-generational FI relationships before wealth transitions.</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Household linkage model: address, name, and account relationship graph from core data</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Wealth concentration + relationship density scoring per household</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Proactive outreach triggers: next-gen Banno digital invites, relationship banker introductions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Household coverage rate tracked as FI performance KPI in JH executive dashboard</a:t>
            </a:r>
            <a:endParaRPr lang="en-US" sz="1050" dirty="0"/>
          </a:p>
        </p:txBody>
      </p:sp>
      <p:sp>
        <p:nvSpPr>
          <p:cNvPr id="18" name="Shape 15"/>
          <p:cNvSpPr/>
          <p:nvPr/>
        </p:nvSpPr>
        <p:spPr>
          <a:xfrm>
            <a:off x="36576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$84T</a:t>
            </a:r>
            <a:endParaRPr lang="en-US" sz="3000" dirty="0"/>
          </a:p>
        </p:txBody>
      </p:sp>
      <p:sp>
        <p:nvSpPr>
          <p:cNvPr id="20" name="Text 17"/>
          <p:cNvSpPr/>
          <p:nvPr/>
        </p:nvSpPr>
        <p:spPr>
          <a:xfrm>
            <a:off x="43891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U.S. household wealth</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transferring by 2045 (Cerulli)</a:t>
            </a:r>
            <a:endParaRPr lang="en-US" sz="1050" dirty="0"/>
          </a:p>
        </p:txBody>
      </p:sp>
      <p:sp>
        <p:nvSpPr>
          <p:cNvPr id="21" name="Shape 18"/>
          <p:cNvSpPr/>
          <p:nvPr/>
        </p:nvSpPr>
        <p:spPr>
          <a:xfrm>
            <a:off x="329184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40%</a:t>
            </a:r>
            <a:endParaRPr lang="en-US" sz="3000" dirty="0"/>
          </a:p>
        </p:txBody>
      </p:sp>
      <p:sp>
        <p:nvSpPr>
          <p:cNvPr id="23" name="Text 20"/>
          <p:cNvSpPr/>
          <p:nvPr/>
        </p:nvSpPr>
        <p:spPr>
          <a:xfrm>
            <a:off x="336499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Of transferred wealth changes</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financial institutions</a:t>
            </a:r>
            <a:endParaRPr lang="en-US" sz="1050" dirty="0"/>
          </a:p>
        </p:txBody>
      </p:sp>
      <p:sp>
        <p:nvSpPr>
          <p:cNvPr id="24" name="Shape 21"/>
          <p:cNvSpPr/>
          <p:nvPr/>
        </p:nvSpPr>
        <p:spPr>
          <a:xfrm>
            <a:off x="621792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
        <p:nvSpPr>
          <p:cNvPr id="27" name="Shape 24"/>
          <p:cNvSpPr/>
          <p:nvPr/>
        </p:nvSpPr>
        <p:spPr>
          <a:xfrm>
            <a:off x="256032" y="4791456"/>
            <a:ext cx="8631936" cy="146304"/>
          </a:xfrm>
          <a:prstGeom prst="rect">
            <a:avLst/>
          </a:prstGeom>
          <a:solidFill>
            <a:srgbClr val="E7ECF0"/>
          </a:solidFill>
          <a:ln w="12700">
            <a:solidFill>
              <a:srgbClr val="E7ECF0"/>
            </a:solidFill>
            <a:prstDash val="solid"/>
          </a:ln>
        </p:spPr>
      </p:sp>
      <p:sp>
        <p:nvSpPr>
          <p:cNvPr id="28" name="Shape 25"/>
          <p:cNvSpPr/>
          <p:nvPr/>
        </p:nvSpPr>
        <p:spPr>
          <a:xfrm>
            <a:off x="256032" y="4791456"/>
            <a:ext cx="54864" cy="146304"/>
          </a:xfrm>
          <a:prstGeom prst="rect">
            <a:avLst/>
          </a:prstGeom>
          <a:solidFill>
            <a:srgbClr val="0F3D8A"/>
          </a:solidFill>
          <a:ln w="12700">
            <a:solidFill>
              <a:srgbClr val="0F3D8A"/>
            </a:solidFill>
            <a:prstDash val="solid"/>
          </a:ln>
        </p:spPr>
      </p:sp>
      <p:sp>
        <p:nvSpPr>
          <p:cNvPr id="29" name="Text 26"/>
          <p:cNvSpPr/>
          <p:nvPr/>
        </p:nvSpPr>
        <p:spPr>
          <a:xfrm>
            <a:off x="384048" y="4791456"/>
            <a:ext cx="8467344" cy="146304"/>
          </a:xfrm>
          <a:prstGeom prst="rect">
            <a:avLst/>
          </a:prstGeom>
          <a:noFill/>
          <a:ln/>
        </p:spPr>
        <p:txBody>
          <a:bodyPr wrap="square" lIns="0" tIns="0" rIns="0" bIns="0" rtlCol="0" anchor="ctr"/>
          <a:lstStyle/>
          <a:p>
            <a:pPr indent="0" marL="0">
              <a:buNone/>
            </a:pPr>
            <a:r>
              <a:rPr lang="en-US" sz="700" i="1" dirty="0">
                <a:solidFill>
                  <a:srgbClr val="575A5D"/>
                </a:solidFill>
                <a:latin typeface="Calibri" pitchFamily="34" charset="0"/>
                <a:ea typeface="Calibri" pitchFamily="34" charset="-122"/>
                <a:cs typeface="Calibri" pitchFamily="34" charset="-120"/>
              </a:rPr>
              <a:t>Cerulli Associates — 'U.S. High-Net-Worth and Ultra-High-Net-Worth Markets 2023'  ·  McKinsey — 'The Great Wealth Transfer' (2023)  ·  LIMRA — Intergenerational Wealth Transfer Research</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969264"/>
          </a:xfrm>
          <a:prstGeom prst="rect">
            <a:avLst/>
          </a:prstGeom>
          <a:solidFill>
            <a:srgbClr val="0D2E7A"/>
          </a:solidFill>
          <a:ln w="12700">
            <a:solidFill>
              <a:srgbClr val="0D2E7A"/>
            </a:solidFill>
            <a:prstDash val="solid"/>
          </a:ln>
        </p:spPr>
      </p:sp>
      <p:pic>
        <p:nvPicPr>
          <p:cNvPr id="3" name="Image 0" descr="preencoded.png">    </p:cNvPr>
          <p:cNvPicPr>
            <a:picLocks noChangeAspect="1"/>
          </p:cNvPicPr>
          <p:nvPr/>
        </p:nvPicPr>
        <p:blipFill>
          <a:blip r:embed="rId1"/>
          <a:stretch>
            <a:fillRect/>
          </a:stretch>
        </p:blipFill>
        <p:spPr>
          <a:xfrm>
            <a:off x="347472" y="146304"/>
            <a:ext cx="621792" cy="621792"/>
          </a:xfrm>
          <a:prstGeom prst="rect">
            <a:avLst/>
          </a:prstGeom>
        </p:spPr>
      </p:pic>
      <p:sp>
        <p:nvSpPr>
          <p:cNvPr id="4" name="Text 1"/>
          <p:cNvSpPr/>
          <p:nvPr/>
        </p:nvSpPr>
        <p:spPr>
          <a:xfrm>
            <a:off x="1078992" y="73152"/>
            <a:ext cx="6858000" cy="50292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FI Decision Studio</a:t>
            </a:r>
            <a:endParaRPr lang="en-US" sz="2800" dirty="0"/>
          </a:p>
        </p:txBody>
      </p:sp>
      <p:sp>
        <p:nvSpPr>
          <p:cNvPr id="5" name="Text 2"/>
          <p:cNvSpPr/>
          <p:nvPr/>
        </p:nvSpPr>
        <p:spPr>
          <a:xfrm>
            <a:off x="1078992" y="576072"/>
            <a:ext cx="7772400" cy="292608"/>
          </a:xfrm>
          <a:prstGeom prst="rect">
            <a:avLst/>
          </a:prstGeom>
          <a:noFill/>
          <a:ln/>
        </p:spPr>
        <p:txBody>
          <a:bodyPr wrap="square" lIns="0" tIns="0" rIns="0" bIns="0" rtlCol="0" anchor="ctr"/>
          <a:lstStyle/>
          <a:p>
            <a:pPr indent="0" marL="0">
              <a:buNone/>
            </a:pPr>
            <a:r>
              <a:rPr lang="en-US" sz="1050" i="1" dirty="0">
                <a:solidFill>
                  <a:srgbClr val="FFFFFF"/>
                </a:solidFill>
                <a:latin typeface="Calibri" pitchFamily="34" charset="0"/>
                <a:ea typeface="Calibri" pitchFamily="34" charset="-122"/>
                <a:cs typeface="Calibri" pitchFamily="34" charset="-120"/>
              </a:rPr>
              <a:t>AutoML · SHAP Explainability · Rule Authoring · API Hosting · Drift Monitoring</a:t>
            </a:r>
            <a:endParaRPr lang="en-US" sz="1050" dirty="0"/>
          </a:p>
        </p:txBody>
      </p:sp>
      <p:sp>
        <p:nvSpPr>
          <p:cNvPr id="6" name="Shape 3"/>
          <p:cNvSpPr/>
          <p:nvPr/>
        </p:nvSpPr>
        <p:spPr>
          <a:xfrm>
            <a:off x="320040" y="1078992"/>
            <a:ext cx="54864" cy="256032"/>
          </a:xfrm>
          <a:prstGeom prst="rect">
            <a:avLst/>
          </a:prstGeom>
          <a:solidFill>
            <a:srgbClr val="0D2E7A"/>
          </a:solidFill>
          <a:ln w="12700">
            <a:solidFill>
              <a:srgbClr val="0D2E7A"/>
            </a:solidFill>
            <a:prstDash val="solid"/>
          </a:ln>
        </p:spPr>
      </p:sp>
      <p:sp>
        <p:nvSpPr>
          <p:cNvPr id="7" name="Text 4"/>
          <p:cNvSpPr/>
          <p:nvPr/>
        </p:nvSpPr>
        <p:spPr>
          <a:xfrm>
            <a:off x="438912" y="1078992"/>
            <a:ext cx="2286000" cy="256032"/>
          </a:xfrm>
          <a:prstGeom prst="rect">
            <a:avLst/>
          </a:prstGeom>
          <a:noFill/>
          <a:ln/>
        </p:spPr>
        <p:txBody>
          <a:bodyPr wrap="square" lIns="0" tIns="0" rIns="0" bIns="0" rtlCol="0" anchor="ctr"/>
          <a:lstStyle/>
          <a:p>
            <a:pPr indent="0" marL="0">
              <a:buNone/>
            </a:pPr>
            <a:r>
              <a:rPr lang="en-US" sz="900" b="1" spc="100" kern="0" dirty="0">
                <a:solidFill>
                  <a:srgbClr val="0D2E7A"/>
                </a:solidFill>
                <a:latin typeface="Calibri" pitchFamily="34" charset="0"/>
                <a:ea typeface="Calibri" pitchFamily="34" charset="-122"/>
                <a:cs typeface="Calibri" pitchFamily="34" charset="-120"/>
              </a:rPr>
              <a:t>THE PROBLEM</a:t>
            </a:r>
            <a:endParaRPr lang="en-US" sz="900" dirty="0"/>
          </a:p>
        </p:txBody>
      </p:sp>
      <p:sp>
        <p:nvSpPr>
          <p:cNvPr id="8" name="Text 5"/>
          <p:cNvSpPr/>
          <p:nvPr/>
        </p:nvSpPr>
        <p:spPr>
          <a:xfrm>
            <a:off x="320040" y="1353312"/>
            <a:ext cx="4160520" cy="107899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Community FIs have transaction data, behavioral signals, and fraud intuition built up over decades — but no way to turn it into models. Vendor AI is a black box that doesn't reflect local market dynamics and can't be explained to regulators under SR 11-7 model risk management guidelines. Building custom ML requires data science talent most FIs can't hire or afford.</a:t>
            </a:r>
            <a:endParaRPr lang="en-US" sz="1050" dirty="0"/>
          </a:p>
        </p:txBody>
      </p:sp>
      <p:sp>
        <p:nvSpPr>
          <p:cNvPr id="9" name="Shape 6"/>
          <p:cNvSpPr/>
          <p:nvPr/>
        </p:nvSpPr>
        <p:spPr>
          <a:xfrm>
            <a:off x="347472" y="2523744"/>
            <a:ext cx="146304" cy="146304"/>
          </a:xfrm>
          <a:prstGeom prst="ellipse">
            <a:avLst/>
          </a:prstGeom>
          <a:solidFill>
            <a:srgbClr val="0D2E7A"/>
          </a:solidFill>
          <a:ln w="12700">
            <a:solidFill>
              <a:srgbClr val="0D2E7A"/>
            </a:solidFill>
            <a:prstDash val="solid"/>
          </a:ln>
        </p:spPr>
      </p:sp>
      <p:sp>
        <p:nvSpPr>
          <p:cNvPr id="10" name="Text 7"/>
          <p:cNvSpPr/>
          <p:nvPr/>
        </p:nvSpPr>
        <p:spPr>
          <a:xfrm>
            <a:off x="566928" y="2468880"/>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No labeled data to train supervised models — FIs can't even start</a:t>
            </a:r>
            <a:endParaRPr lang="en-US" sz="1000" dirty="0"/>
          </a:p>
        </p:txBody>
      </p:sp>
      <p:sp>
        <p:nvSpPr>
          <p:cNvPr id="11" name="Shape 8"/>
          <p:cNvSpPr/>
          <p:nvPr/>
        </p:nvSpPr>
        <p:spPr>
          <a:xfrm>
            <a:off x="347472" y="2852928"/>
            <a:ext cx="146304" cy="146304"/>
          </a:xfrm>
          <a:prstGeom prst="ellipse">
            <a:avLst/>
          </a:prstGeom>
          <a:solidFill>
            <a:srgbClr val="0D2E7A"/>
          </a:solidFill>
          <a:ln w="12700">
            <a:solidFill>
              <a:srgbClr val="0D2E7A"/>
            </a:solidFill>
            <a:prstDash val="solid"/>
          </a:ln>
        </p:spPr>
      </p:sp>
      <p:sp>
        <p:nvSpPr>
          <p:cNvPr id="12" name="Text 9"/>
          <p:cNvSpPr/>
          <p:nvPr/>
        </p:nvSpPr>
        <p:spPr>
          <a:xfrm>
            <a:off x="566928" y="2798064"/>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Vendor scores can't be explained to the board or examiners</a:t>
            </a:r>
            <a:endParaRPr lang="en-US" sz="1000" dirty="0"/>
          </a:p>
        </p:txBody>
      </p:sp>
      <p:sp>
        <p:nvSpPr>
          <p:cNvPr id="13" name="Shape 10"/>
          <p:cNvSpPr/>
          <p:nvPr/>
        </p:nvSpPr>
        <p:spPr>
          <a:xfrm>
            <a:off x="347472" y="3182112"/>
            <a:ext cx="146304" cy="146304"/>
          </a:xfrm>
          <a:prstGeom prst="ellipse">
            <a:avLst/>
          </a:prstGeom>
          <a:solidFill>
            <a:srgbClr val="0D2E7A"/>
          </a:solidFill>
          <a:ln w="12700">
            <a:solidFill>
              <a:srgbClr val="0D2E7A"/>
            </a:solidFill>
            <a:prstDash val="solid"/>
          </a:ln>
        </p:spPr>
      </p:sp>
      <p:sp>
        <p:nvSpPr>
          <p:cNvPr id="14" name="Text 11"/>
          <p:cNvSpPr/>
          <p:nvPr/>
        </p:nvSpPr>
        <p:spPr>
          <a:xfrm>
            <a:off x="566928" y="3127248"/>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No rule authoring — compliance teams can't tune or override ML output</a:t>
            </a:r>
            <a:endParaRPr lang="en-US" sz="1000" dirty="0"/>
          </a:p>
        </p:txBody>
      </p:sp>
      <p:sp>
        <p:nvSpPr>
          <p:cNvPr id="15" name="Shape 12"/>
          <p:cNvSpPr/>
          <p:nvPr/>
        </p:nvSpPr>
        <p:spPr>
          <a:xfrm>
            <a:off x="347472" y="3511296"/>
            <a:ext cx="146304" cy="146304"/>
          </a:xfrm>
          <a:prstGeom prst="ellipse">
            <a:avLst/>
          </a:prstGeom>
          <a:solidFill>
            <a:srgbClr val="0D2E7A"/>
          </a:solidFill>
          <a:ln w="12700">
            <a:solidFill>
              <a:srgbClr val="0D2E7A"/>
            </a:solidFill>
            <a:prstDash val="solid"/>
          </a:ln>
        </p:spPr>
      </p:sp>
      <p:sp>
        <p:nvSpPr>
          <p:cNvPr id="16" name="Text 13"/>
          <p:cNvSpPr/>
          <p:nvPr/>
        </p:nvSpPr>
        <p:spPr>
          <a:xfrm>
            <a:off x="566928" y="3456432"/>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Model deployment requires engineering resources FIs don't have</a:t>
            </a:r>
            <a:endParaRPr lang="en-US" sz="1000" dirty="0"/>
          </a:p>
        </p:txBody>
      </p:sp>
      <p:sp>
        <p:nvSpPr>
          <p:cNvPr id="17" name="Shape 14"/>
          <p:cNvSpPr/>
          <p:nvPr/>
        </p:nvSpPr>
        <p:spPr>
          <a:xfrm>
            <a:off x="4663440" y="1078992"/>
            <a:ext cx="36576" cy="3273552"/>
          </a:xfrm>
          <a:prstGeom prst="rect">
            <a:avLst/>
          </a:prstGeom>
          <a:solidFill>
            <a:srgbClr val="E7ECF0"/>
          </a:solidFill>
          <a:ln w="12700">
            <a:solidFill>
              <a:srgbClr val="E7ECF0"/>
            </a:solidFill>
            <a:prstDash val="solid"/>
          </a:ln>
        </p:spPr>
      </p:sp>
      <p:sp>
        <p:nvSpPr>
          <p:cNvPr id="18" name="Shape 15"/>
          <p:cNvSpPr/>
          <p:nvPr/>
        </p:nvSpPr>
        <p:spPr>
          <a:xfrm>
            <a:off x="4828032" y="1078992"/>
            <a:ext cx="54864" cy="256032"/>
          </a:xfrm>
          <a:prstGeom prst="rect">
            <a:avLst/>
          </a:prstGeom>
          <a:solidFill>
            <a:srgbClr val="0D2E7A"/>
          </a:solidFill>
          <a:ln w="12700">
            <a:solidFill>
              <a:srgbClr val="0D2E7A"/>
            </a:solidFill>
            <a:prstDash val="solid"/>
          </a:ln>
        </p:spPr>
      </p:sp>
      <p:sp>
        <p:nvSpPr>
          <p:cNvPr id="19" name="Text 16"/>
          <p:cNvSpPr/>
          <p:nvPr/>
        </p:nvSpPr>
        <p:spPr>
          <a:xfrm>
            <a:off x="4956048" y="1078992"/>
            <a:ext cx="2286000" cy="256032"/>
          </a:xfrm>
          <a:prstGeom prst="rect">
            <a:avLst/>
          </a:prstGeom>
          <a:noFill/>
          <a:ln/>
        </p:spPr>
        <p:txBody>
          <a:bodyPr wrap="square" lIns="0" tIns="0" rIns="0" bIns="0" rtlCol="0" anchor="ctr"/>
          <a:lstStyle/>
          <a:p>
            <a:pPr indent="0" marL="0">
              <a:buNone/>
            </a:pPr>
            <a:r>
              <a:rPr lang="en-US" sz="900" b="1" spc="100" kern="0" dirty="0">
                <a:solidFill>
                  <a:srgbClr val="0D2E7A"/>
                </a:solidFill>
                <a:latin typeface="Calibri" pitchFamily="34" charset="0"/>
                <a:ea typeface="Calibri" pitchFamily="34" charset="-122"/>
                <a:cs typeface="Calibri" pitchFamily="34" charset="-120"/>
              </a:rPr>
              <a:t>THE SOLUTION</a:t>
            </a:r>
            <a:endParaRPr lang="en-US" sz="900" dirty="0"/>
          </a:p>
        </p:txBody>
      </p:sp>
      <p:sp>
        <p:nvSpPr>
          <p:cNvPr id="20" name="Text 17"/>
          <p:cNvSpPr/>
          <p:nvPr/>
        </p:nvSpPr>
        <p:spPr>
          <a:xfrm>
            <a:off x="4828032" y="1353312"/>
            <a:ext cx="3977640"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FI Decision Studio meets every FI at their label maturity. Start with zero labels — the platform detects anomalies with unsupervised ML. As analysts review and tag cases, it tracks label maturity and offers a one-click upgrade to a full AutoGluon supervised ensemble. Tree SHAP explains every prediction, a rule authoring layer converts model insights into editable human decisions, and one-click API deployment puts models into production without engineering support.</a:t>
            </a:r>
            <a:endParaRPr lang="en-US" sz="1050" dirty="0"/>
          </a:p>
        </p:txBody>
      </p:sp>
      <p:sp>
        <p:nvSpPr>
          <p:cNvPr id="21" name="Shape 18"/>
          <p:cNvSpPr/>
          <p:nvPr/>
        </p:nvSpPr>
        <p:spPr>
          <a:xfrm>
            <a:off x="4828032" y="2596896"/>
            <a:ext cx="54864" cy="256032"/>
          </a:xfrm>
          <a:prstGeom prst="rect">
            <a:avLst/>
          </a:prstGeom>
          <a:solidFill>
            <a:srgbClr val="0D2E7A"/>
          </a:solidFill>
          <a:ln w="12700">
            <a:solidFill>
              <a:srgbClr val="0D2E7A"/>
            </a:solidFill>
            <a:prstDash val="solid"/>
          </a:ln>
        </p:spPr>
      </p:sp>
      <p:sp>
        <p:nvSpPr>
          <p:cNvPr id="22" name="Text 19"/>
          <p:cNvSpPr/>
          <p:nvPr/>
        </p:nvSpPr>
        <p:spPr>
          <a:xfrm>
            <a:off x="4956048" y="2596896"/>
            <a:ext cx="3200400" cy="256032"/>
          </a:xfrm>
          <a:prstGeom prst="rect">
            <a:avLst/>
          </a:prstGeom>
          <a:noFill/>
          <a:ln/>
        </p:spPr>
        <p:txBody>
          <a:bodyPr wrap="square" lIns="0" tIns="0" rIns="0" bIns="0" rtlCol="0" anchor="ctr"/>
          <a:lstStyle/>
          <a:p>
            <a:pPr indent="0" marL="0">
              <a:buNone/>
            </a:pPr>
            <a:r>
              <a:rPr lang="en-US" sz="900" b="1" spc="100" kern="0" dirty="0">
                <a:solidFill>
                  <a:srgbClr val="0D2E7A"/>
                </a:solidFill>
                <a:latin typeface="Calibri" pitchFamily="34" charset="0"/>
                <a:ea typeface="Calibri" pitchFamily="34" charset="-122"/>
                <a:cs typeface="Calibri" pitchFamily="34" charset="-120"/>
              </a:rPr>
              <a:t>PLATFORM PILLARS</a:t>
            </a:r>
            <a:endParaRPr lang="en-US" sz="900" dirty="0"/>
          </a:p>
        </p:txBody>
      </p:sp>
      <p:sp>
        <p:nvSpPr>
          <p:cNvPr id="23" name="Text 20"/>
          <p:cNvSpPr/>
          <p:nvPr/>
        </p:nvSpPr>
        <p:spPr>
          <a:xfrm>
            <a:off x="4828032" y="2907792"/>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Unsupervised → Supervised: Isolation Forest until labels mature; AutoGluon (CatBoost + XGBoost) ensemble when ready</a:t>
            </a:r>
            <a:endParaRPr lang="en-US" sz="950" dirty="0"/>
          </a:p>
        </p:txBody>
      </p:sp>
      <p:sp>
        <p:nvSpPr>
          <p:cNvPr id="24" name="Text 21"/>
          <p:cNvSpPr/>
          <p:nvPr/>
        </p:nvSpPr>
        <p:spPr>
          <a:xfrm>
            <a:off x="4828032" y="3255264"/>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Tree SHAP on every prediction: top feature drivers, directional impact, plain-English output — SR 11-7 defensible</a:t>
            </a:r>
            <a:endParaRPr lang="en-US" sz="950" dirty="0"/>
          </a:p>
        </p:txBody>
      </p:sp>
      <p:sp>
        <p:nvSpPr>
          <p:cNvPr id="25" name="Text 22"/>
          <p:cNvSpPr/>
          <p:nvPr/>
        </p:nvSpPr>
        <p:spPr>
          <a:xfrm>
            <a:off x="4828032" y="3602736"/>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Rule Authoring: model insights → editable decision rules with visual threshold sliders and backtest on historical data</a:t>
            </a:r>
            <a:endParaRPr lang="en-US" sz="950" dirty="0"/>
          </a:p>
        </p:txBody>
      </p:sp>
      <p:sp>
        <p:nvSpPr>
          <p:cNvPr id="26" name="Text 23"/>
          <p:cNvSpPr/>
          <p:nvPr/>
        </p:nvSpPr>
        <p:spPr>
          <a:xfrm>
            <a:off x="4828032" y="3950208"/>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One-click API: versioned REST endpoint deployment; JH hosts, manages, and monitors — no FI engineering required</a:t>
            </a:r>
            <a:endParaRPr lang="en-US" sz="950" dirty="0"/>
          </a:p>
        </p:txBody>
      </p:sp>
      <p:sp>
        <p:nvSpPr>
          <p:cNvPr id="27" name="Text 24"/>
          <p:cNvSpPr/>
          <p:nvPr/>
        </p:nvSpPr>
        <p:spPr>
          <a:xfrm>
            <a:off x="4828032" y="4297680"/>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Drift Monitoring: PSI on feature distributions weekly; prediction drift alerts; automated retraining recommendations</a:t>
            </a:r>
            <a:endParaRPr lang="en-US" sz="950" dirty="0"/>
          </a:p>
        </p:txBody>
      </p:sp>
      <p:sp>
        <p:nvSpPr>
          <p:cNvPr id="28" name="Shape 25"/>
          <p:cNvSpPr/>
          <p:nvPr/>
        </p:nvSpPr>
        <p:spPr>
          <a:xfrm>
            <a:off x="365760" y="4224528"/>
            <a:ext cx="2560320" cy="877824"/>
          </a:xfrm>
          <a:prstGeom prst="rect">
            <a:avLst/>
          </a:prstGeom>
          <a:solidFill>
            <a:srgbClr val="0D2E7A"/>
          </a:solidFill>
          <a:ln w="12700">
            <a:solidFill>
              <a:srgbClr val="0D2E7A"/>
            </a:solidFill>
            <a:prstDash val="solid"/>
          </a:ln>
        </p:spPr>
      </p:sp>
      <p:sp>
        <p:nvSpPr>
          <p:cNvPr id="29" name="Text 26"/>
          <p:cNvSpPr/>
          <p:nvPr/>
        </p:nvSpPr>
        <p:spPr>
          <a:xfrm>
            <a:off x="365760" y="4242816"/>
            <a:ext cx="2560320" cy="438912"/>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&lt; 2 hrs</a:t>
            </a:r>
            <a:endParaRPr lang="en-US" sz="2400" dirty="0"/>
          </a:p>
        </p:txBody>
      </p:sp>
      <p:sp>
        <p:nvSpPr>
          <p:cNvPr id="30" name="Text 27"/>
          <p:cNvSpPr/>
          <p:nvPr/>
        </p:nvSpPr>
        <p:spPr>
          <a:xfrm>
            <a:off x="365760" y="4663440"/>
            <a:ext cx="2560320" cy="420624"/>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Data upload → first</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trained model deployed</a:t>
            </a:r>
            <a:endParaRPr lang="en-US" sz="950" dirty="0"/>
          </a:p>
        </p:txBody>
      </p:sp>
      <p:sp>
        <p:nvSpPr>
          <p:cNvPr id="31" name="Shape 28"/>
          <p:cNvSpPr/>
          <p:nvPr/>
        </p:nvSpPr>
        <p:spPr>
          <a:xfrm>
            <a:off x="3291840" y="4224528"/>
            <a:ext cx="2560320" cy="877824"/>
          </a:xfrm>
          <a:prstGeom prst="rect">
            <a:avLst/>
          </a:prstGeom>
          <a:solidFill>
            <a:srgbClr val="0D2E7A"/>
          </a:solidFill>
          <a:ln w="12700">
            <a:solidFill>
              <a:srgbClr val="0D2E7A"/>
            </a:solidFill>
            <a:prstDash val="solid"/>
          </a:ln>
        </p:spPr>
      </p:sp>
      <p:sp>
        <p:nvSpPr>
          <p:cNvPr id="32" name="Text 29"/>
          <p:cNvSpPr/>
          <p:nvPr/>
        </p:nvSpPr>
        <p:spPr>
          <a:xfrm>
            <a:off x="3291840" y="4242816"/>
            <a:ext cx="2560320" cy="438912"/>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SR 11-7</a:t>
            </a:r>
            <a:endParaRPr lang="en-US" sz="2400" dirty="0"/>
          </a:p>
        </p:txBody>
      </p:sp>
      <p:sp>
        <p:nvSpPr>
          <p:cNvPr id="33" name="Text 30"/>
          <p:cNvSpPr/>
          <p:nvPr/>
        </p:nvSpPr>
        <p:spPr>
          <a:xfrm>
            <a:off x="3291840" y="4663440"/>
            <a:ext cx="2560320" cy="420624"/>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Model risk compliance</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out of the box with SHAP</a:t>
            </a:r>
            <a:endParaRPr lang="en-US" sz="950" dirty="0"/>
          </a:p>
        </p:txBody>
      </p:sp>
      <p:sp>
        <p:nvSpPr>
          <p:cNvPr id="34" name="Shape 31"/>
          <p:cNvSpPr/>
          <p:nvPr/>
        </p:nvSpPr>
        <p:spPr>
          <a:xfrm>
            <a:off x="6217920" y="4224528"/>
            <a:ext cx="2560320" cy="877824"/>
          </a:xfrm>
          <a:prstGeom prst="rect">
            <a:avLst/>
          </a:prstGeom>
          <a:solidFill>
            <a:srgbClr val="0D2E7A"/>
          </a:solidFill>
          <a:ln w="12700">
            <a:solidFill>
              <a:srgbClr val="0D2E7A"/>
            </a:solidFill>
            <a:prstDash val="solid"/>
          </a:ln>
        </p:spPr>
      </p:sp>
      <p:sp>
        <p:nvSpPr>
          <p:cNvPr id="35" name="Text 32"/>
          <p:cNvSpPr/>
          <p:nvPr/>
        </p:nvSpPr>
        <p:spPr>
          <a:xfrm>
            <a:off x="6217920" y="4242816"/>
            <a:ext cx="2560320" cy="438912"/>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 paths</a:t>
            </a:r>
            <a:endParaRPr lang="en-US" sz="2400" dirty="0"/>
          </a:p>
        </p:txBody>
      </p:sp>
      <p:sp>
        <p:nvSpPr>
          <p:cNvPr id="36" name="Text 33"/>
          <p:cNvSpPr/>
          <p:nvPr/>
        </p:nvSpPr>
        <p:spPr>
          <a:xfrm>
            <a:off x="6217920" y="4663440"/>
            <a:ext cx="2560320" cy="420624"/>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Unsupervised · supervised</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 hybrid label progression</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Financial Impact for FI Clients — Across the JH Platform</a:t>
            </a:r>
            <a:endParaRPr lang="en-US" sz="2200" dirty="0"/>
          </a:p>
        </p:txBody>
      </p:sp>
      <p:sp>
        <p:nvSpPr>
          <p:cNvPr id="4" name="Text 2"/>
          <p:cNvSpPr/>
          <p:nvPr/>
        </p:nvSpPr>
        <p:spPr>
          <a:xfrm>
            <a:off x="365760" y="768096"/>
            <a:ext cx="8412480" cy="411480"/>
          </a:xfrm>
          <a:prstGeom prst="rect">
            <a:avLst/>
          </a:prstGeom>
          <a:noFill/>
          <a:ln/>
        </p:spPr>
        <p:txBody>
          <a:bodyPr wrap="square" lIns="0" tIns="0" rIns="0" bIns="0" rtlCol="0" anchor="ctr"/>
          <a:lstStyle/>
          <a:p>
            <a:pPr indent="0" marL="0">
              <a:buNone/>
            </a:pPr>
            <a:r>
              <a:rPr lang="en-US" sz="1200" dirty="0">
                <a:solidFill>
                  <a:srgbClr val="575A5D"/>
                </a:solidFill>
                <a:latin typeface="Calibri" pitchFamily="34" charset="0"/>
                <a:ea typeface="Calibri" pitchFamily="34" charset="-122"/>
                <a:cs typeface="Calibri" pitchFamily="34" charset="-120"/>
              </a:rPr>
              <a:t>Conservative estimates for a mid-size community bank ($1B deposits / $800M assets). Across 1,660 core FI clients — and 7,500+ across the broader JH ecosystem — these represent transformative market value.</a:t>
            </a:r>
            <a:endParaRPr lang="en-US" sz="1200" dirty="0"/>
          </a:p>
        </p:txBody>
      </p:sp>
      <p:sp>
        <p:nvSpPr>
          <p:cNvPr id="5" name="Shape 3"/>
          <p:cNvSpPr/>
          <p:nvPr/>
        </p:nvSpPr>
        <p:spPr>
          <a:xfrm>
            <a:off x="365760" y="1243584"/>
            <a:ext cx="8412480" cy="347472"/>
          </a:xfrm>
          <a:prstGeom prst="rect">
            <a:avLst/>
          </a:prstGeom>
          <a:solidFill>
            <a:srgbClr val="06185F"/>
          </a:solidFill>
          <a:ln w="12700">
            <a:solidFill>
              <a:srgbClr val="06185F"/>
            </a:solidFill>
            <a:prstDash val="solid"/>
          </a:ln>
        </p:spPr>
      </p:sp>
      <p:sp>
        <p:nvSpPr>
          <p:cNvPr id="6" name="Text 4"/>
          <p:cNvSpPr/>
          <p:nvPr/>
        </p:nvSpPr>
        <p:spPr>
          <a:xfrm>
            <a:off x="457200" y="1280160"/>
            <a:ext cx="256032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Application</a:t>
            </a:r>
            <a:endParaRPr lang="en-US" sz="1100" dirty="0"/>
          </a:p>
        </p:txBody>
      </p:sp>
      <p:sp>
        <p:nvSpPr>
          <p:cNvPr id="7" name="Text 5"/>
          <p:cNvSpPr/>
          <p:nvPr/>
        </p:nvSpPr>
        <p:spPr>
          <a:xfrm>
            <a:off x="3108960" y="1280160"/>
            <a:ext cx="18288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Est. Annual FI Value</a:t>
            </a:r>
            <a:endParaRPr lang="en-US" sz="1100" dirty="0"/>
          </a:p>
        </p:txBody>
      </p:sp>
      <p:sp>
        <p:nvSpPr>
          <p:cNvPr id="8" name="Text 6"/>
          <p:cNvSpPr/>
          <p:nvPr/>
        </p:nvSpPr>
        <p:spPr>
          <a:xfrm>
            <a:off x="5029200" y="1280160"/>
            <a:ext cx="36576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Value Driver</a:t>
            </a:r>
            <a:endParaRPr lang="en-US" sz="1100" dirty="0"/>
          </a:p>
        </p:txBody>
      </p:sp>
      <p:sp>
        <p:nvSpPr>
          <p:cNvPr id="9" name="Shape 7"/>
          <p:cNvSpPr/>
          <p:nvPr/>
        </p:nvSpPr>
        <p:spPr>
          <a:xfrm>
            <a:off x="365760" y="1627632"/>
            <a:ext cx="8412480" cy="374904"/>
          </a:xfrm>
          <a:prstGeom prst="rect">
            <a:avLst/>
          </a:prstGeom>
          <a:solidFill>
            <a:srgbClr val="FFFFFF"/>
          </a:solidFill>
          <a:ln w="12700">
            <a:solidFill>
              <a:srgbClr val="E7ECF0"/>
            </a:solidFill>
            <a:prstDash val="solid"/>
          </a:ln>
        </p:spPr>
      </p:sp>
      <p:sp>
        <p:nvSpPr>
          <p:cNvPr id="10" name="Shape 8"/>
          <p:cNvSpPr/>
          <p:nvPr/>
        </p:nvSpPr>
        <p:spPr>
          <a:xfrm>
            <a:off x="365760" y="1627632"/>
            <a:ext cx="91440" cy="374904"/>
          </a:xfrm>
          <a:prstGeom prst="rect">
            <a:avLst/>
          </a:prstGeom>
          <a:solidFill>
            <a:srgbClr val="085CE5"/>
          </a:solidFill>
          <a:ln w="12700">
            <a:solidFill>
              <a:srgbClr val="085CE5"/>
            </a:solidFill>
            <a:prstDash val="solid"/>
          </a:ln>
        </p:spPr>
      </p:sp>
      <p:sp>
        <p:nvSpPr>
          <p:cNvPr id="11" name="Text 9"/>
          <p:cNvSpPr/>
          <p:nvPr/>
        </p:nvSpPr>
        <p:spPr>
          <a:xfrm>
            <a:off x="502920" y="1655064"/>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Churn Sentinel</a:t>
            </a:r>
            <a:endParaRPr lang="en-US" sz="950" dirty="0"/>
          </a:p>
        </p:txBody>
      </p:sp>
      <p:sp>
        <p:nvSpPr>
          <p:cNvPr id="12" name="Text 10"/>
          <p:cNvSpPr/>
          <p:nvPr/>
        </p:nvSpPr>
        <p:spPr>
          <a:xfrm>
            <a:off x="3108960" y="1655064"/>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$1–3M / year</a:t>
            </a:r>
            <a:endParaRPr lang="en-US" sz="950" dirty="0"/>
          </a:p>
        </p:txBody>
      </p:sp>
      <p:sp>
        <p:nvSpPr>
          <p:cNvPr id="13" name="Text 11"/>
          <p:cNvSpPr/>
          <p:nvPr/>
        </p:nvSpPr>
        <p:spPr>
          <a:xfrm>
            <a:off x="5029200" y="1655064"/>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15–25% churn reduction × avg. customer revenue of $400–$600/yr</a:t>
            </a:r>
            <a:endParaRPr lang="en-US" sz="850" dirty="0"/>
          </a:p>
        </p:txBody>
      </p:sp>
      <p:sp>
        <p:nvSpPr>
          <p:cNvPr id="14" name="Shape 12"/>
          <p:cNvSpPr/>
          <p:nvPr/>
        </p:nvSpPr>
        <p:spPr>
          <a:xfrm>
            <a:off x="365760" y="2029968"/>
            <a:ext cx="8412480" cy="374904"/>
          </a:xfrm>
          <a:prstGeom prst="rect">
            <a:avLst/>
          </a:prstGeom>
          <a:solidFill>
            <a:srgbClr val="E7ECF0"/>
          </a:solidFill>
          <a:ln w="12700">
            <a:solidFill>
              <a:srgbClr val="E7ECF0"/>
            </a:solidFill>
            <a:prstDash val="solid"/>
          </a:ln>
        </p:spPr>
      </p:sp>
      <p:sp>
        <p:nvSpPr>
          <p:cNvPr id="15" name="Shape 13"/>
          <p:cNvSpPr/>
          <p:nvPr/>
        </p:nvSpPr>
        <p:spPr>
          <a:xfrm>
            <a:off x="365760" y="2029968"/>
            <a:ext cx="91440" cy="374904"/>
          </a:xfrm>
          <a:prstGeom prst="rect">
            <a:avLst/>
          </a:prstGeom>
          <a:solidFill>
            <a:srgbClr val="06185F"/>
          </a:solidFill>
          <a:ln w="12700">
            <a:solidFill>
              <a:srgbClr val="06185F"/>
            </a:solidFill>
            <a:prstDash val="solid"/>
          </a:ln>
        </p:spPr>
      </p:sp>
      <p:sp>
        <p:nvSpPr>
          <p:cNvPr id="16" name="Text 14"/>
          <p:cNvSpPr/>
          <p:nvPr/>
        </p:nvSpPr>
        <p:spPr>
          <a:xfrm>
            <a:off x="502920" y="2057400"/>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Zelle Memo Intelligence</a:t>
            </a:r>
            <a:endParaRPr lang="en-US" sz="950" dirty="0"/>
          </a:p>
        </p:txBody>
      </p:sp>
      <p:sp>
        <p:nvSpPr>
          <p:cNvPr id="17" name="Text 15"/>
          <p:cNvSpPr/>
          <p:nvPr/>
        </p:nvSpPr>
        <p:spPr>
          <a:xfrm>
            <a:off x="3108960" y="2057400"/>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$250K–$600K / year</a:t>
            </a:r>
            <a:endParaRPr lang="en-US" sz="950" dirty="0"/>
          </a:p>
        </p:txBody>
      </p:sp>
      <p:sp>
        <p:nvSpPr>
          <p:cNvPr id="18" name="Text 16"/>
          <p:cNvSpPr/>
          <p:nvPr/>
        </p:nvSpPr>
        <p:spPr>
          <a:xfrm>
            <a:off x="5029200" y="2057400"/>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60% reduction in manual review hours + SAR accuracy / regulatory risk avoidance</a:t>
            </a:r>
            <a:endParaRPr lang="en-US" sz="850" dirty="0"/>
          </a:p>
        </p:txBody>
      </p:sp>
      <p:sp>
        <p:nvSpPr>
          <p:cNvPr id="19" name="Shape 17"/>
          <p:cNvSpPr/>
          <p:nvPr/>
        </p:nvSpPr>
        <p:spPr>
          <a:xfrm>
            <a:off x="365760" y="2432304"/>
            <a:ext cx="8412480" cy="374904"/>
          </a:xfrm>
          <a:prstGeom prst="rect">
            <a:avLst/>
          </a:prstGeom>
          <a:solidFill>
            <a:srgbClr val="FFFFFF"/>
          </a:solidFill>
          <a:ln w="12700">
            <a:solidFill>
              <a:srgbClr val="E7ECF0"/>
            </a:solidFill>
            <a:prstDash val="solid"/>
          </a:ln>
        </p:spPr>
      </p:sp>
      <p:sp>
        <p:nvSpPr>
          <p:cNvPr id="20" name="Shape 18"/>
          <p:cNvSpPr/>
          <p:nvPr/>
        </p:nvSpPr>
        <p:spPr>
          <a:xfrm>
            <a:off x="365760" y="2432304"/>
            <a:ext cx="91440" cy="374904"/>
          </a:xfrm>
          <a:prstGeom prst="rect">
            <a:avLst/>
          </a:prstGeom>
          <a:solidFill>
            <a:srgbClr val="073FA8"/>
          </a:solidFill>
          <a:ln w="12700">
            <a:solidFill>
              <a:srgbClr val="073FA8"/>
            </a:solidFill>
            <a:prstDash val="solid"/>
          </a:ln>
        </p:spPr>
      </p:sp>
      <p:sp>
        <p:nvSpPr>
          <p:cNvPr id="21" name="Text 19"/>
          <p:cNvSpPr/>
          <p:nvPr/>
        </p:nvSpPr>
        <p:spPr>
          <a:xfrm>
            <a:off x="502920" y="2459736"/>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Anomaly Detection</a:t>
            </a:r>
            <a:endParaRPr lang="en-US" sz="950" dirty="0"/>
          </a:p>
        </p:txBody>
      </p:sp>
      <p:sp>
        <p:nvSpPr>
          <p:cNvPr id="22" name="Text 20"/>
          <p:cNvSpPr/>
          <p:nvPr/>
        </p:nvSpPr>
        <p:spPr>
          <a:xfrm>
            <a:off x="3108960" y="2459736"/>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$1–2M / year</a:t>
            </a:r>
            <a:endParaRPr lang="en-US" sz="950" dirty="0"/>
          </a:p>
        </p:txBody>
      </p:sp>
      <p:sp>
        <p:nvSpPr>
          <p:cNvPr id="23" name="Text 21"/>
          <p:cNvSpPr/>
          <p:nvPr/>
        </p:nvSpPr>
        <p:spPr>
          <a:xfrm>
            <a:off x="5029200" y="2459736"/>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Fraud loss prevention + 70% false positive reduction (analyst labor saved)</a:t>
            </a:r>
            <a:endParaRPr lang="en-US" sz="850" dirty="0"/>
          </a:p>
        </p:txBody>
      </p:sp>
      <p:sp>
        <p:nvSpPr>
          <p:cNvPr id="24" name="Shape 22"/>
          <p:cNvSpPr/>
          <p:nvPr/>
        </p:nvSpPr>
        <p:spPr>
          <a:xfrm>
            <a:off x="365760" y="2834640"/>
            <a:ext cx="8412480" cy="374904"/>
          </a:xfrm>
          <a:prstGeom prst="rect">
            <a:avLst/>
          </a:prstGeom>
          <a:solidFill>
            <a:srgbClr val="E7ECF0"/>
          </a:solidFill>
          <a:ln w="12700">
            <a:solidFill>
              <a:srgbClr val="E7ECF0"/>
            </a:solidFill>
            <a:prstDash val="solid"/>
          </a:ln>
        </p:spPr>
      </p:sp>
      <p:sp>
        <p:nvSpPr>
          <p:cNvPr id="25" name="Shape 23"/>
          <p:cNvSpPr/>
          <p:nvPr/>
        </p:nvSpPr>
        <p:spPr>
          <a:xfrm>
            <a:off x="365760" y="2834640"/>
            <a:ext cx="91440" cy="374904"/>
          </a:xfrm>
          <a:prstGeom prst="rect">
            <a:avLst/>
          </a:prstGeom>
          <a:solidFill>
            <a:srgbClr val="0A52C4"/>
          </a:solidFill>
          <a:ln w="12700">
            <a:solidFill>
              <a:srgbClr val="0A52C4"/>
            </a:solidFill>
            <a:prstDash val="solid"/>
          </a:ln>
        </p:spPr>
      </p:sp>
      <p:sp>
        <p:nvSpPr>
          <p:cNvPr id="26" name="Text 24"/>
          <p:cNvSpPr/>
          <p:nvPr/>
        </p:nvSpPr>
        <p:spPr>
          <a:xfrm>
            <a:off x="502920" y="2862072"/>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CommercialSignal</a:t>
            </a:r>
            <a:endParaRPr lang="en-US" sz="950" dirty="0"/>
          </a:p>
        </p:txBody>
      </p:sp>
      <p:sp>
        <p:nvSpPr>
          <p:cNvPr id="27" name="Text 25"/>
          <p:cNvSpPr/>
          <p:nvPr/>
        </p:nvSpPr>
        <p:spPr>
          <a:xfrm>
            <a:off x="3108960" y="2862072"/>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$400K–$1.2M / year</a:t>
            </a:r>
            <a:endParaRPr lang="en-US" sz="950" dirty="0"/>
          </a:p>
        </p:txBody>
      </p:sp>
      <p:sp>
        <p:nvSpPr>
          <p:cNvPr id="28" name="Text 26"/>
          <p:cNvSpPr/>
          <p:nvPr/>
        </p:nvSpPr>
        <p:spPr>
          <a:xfrm>
            <a:off x="5029200" y="2862072"/>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SMB conversion revenue from business checking, treasury, and SBA loans on identified commercial-use accounts</a:t>
            </a:r>
            <a:endParaRPr lang="en-US" sz="850" dirty="0"/>
          </a:p>
        </p:txBody>
      </p:sp>
      <p:sp>
        <p:nvSpPr>
          <p:cNvPr id="29" name="Shape 27"/>
          <p:cNvSpPr/>
          <p:nvPr/>
        </p:nvSpPr>
        <p:spPr>
          <a:xfrm>
            <a:off x="365760" y="3236976"/>
            <a:ext cx="8412480" cy="374904"/>
          </a:xfrm>
          <a:prstGeom prst="rect">
            <a:avLst/>
          </a:prstGeom>
          <a:solidFill>
            <a:srgbClr val="FFFFFF"/>
          </a:solidFill>
          <a:ln w="12700">
            <a:solidFill>
              <a:srgbClr val="E7ECF0"/>
            </a:solidFill>
            <a:prstDash val="solid"/>
          </a:ln>
        </p:spPr>
      </p:sp>
      <p:sp>
        <p:nvSpPr>
          <p:cNvPr id="30" name="Shape 28"/>
          <p:cNvSpPr/>
          <p:nvPr/>
        </p:nvSpPr>
        <p:spPr>
          <a:xfrm>
            <a:off x="365760" y="3236976"/>
            <a:ext cx="91440" cy="374904"/>
          </a:xfrm>
          <a:prstGeom prst="rect">
            <a:avLst/>
          </a:prstGeom>
          <a:solidFill>
            <a:srgbClr val="0F3D8A"/>
          </a:solidFill>
          <a:ln w="12700">
            <a:solidFill>
              <a:srgbClr val="0F3D8A"/>
            </a:solidFill>
            <a:prstDash val="solid"/>
          </a:ln>
        </p:spPr>
      </p:sp>
      <p:sp>
        <p:nvSpPr>
          <p:cNvPr id="31" name="Text 29"/>
          <p:cNvSpPr/>
          <p:nvPr/>
        </p:nvSpPr>
        <p:spPr>
          <a:xfrm>
            <a:off x="502920" y="3264408"/>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Generational Wealth Deflection</a:t>
            </a:r>
            <a:endParaRPr lang="en-US" sz="950" dirty="0"/>
          </a:p>
        </p:txBody>
      </p:sp>
      <p:sp>
        <p:nvSpPr>
          <p:cNvPr id="32" name="Text 30"/>
          <p:cNvSpPr/>
          <p:nvPr/>
        </p:nvSpPr>
        <p:spPr>
          <a:xfrm>
            <a:off x="3108960" y="3264408"/>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$500K–$2M+ / year</a:t>
            </a:r>
            <a:endParaRPr lang="en-US" sz="950" dirty="0"/>
          </a:p>
        </p:txBody>
      </p:sp>
      <p:sp>
        <p:nvSpPr>
          <p:cNvPr id="33" name="Text 31"/>
          <p:cNvSpPr/>
          <p:nvPr/>
        </p:nvSpPr>
        <p:spPr>
          <a:xfrm>
            <a:off x="5029200" y="3264408"/>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AUM retained at generational transition × avg. household deposit balance; one retained high-net-worth household can exceed full-year subscription cost</a:t>
            </a:r>
            <a:endParaRPr lang="en-US" sz="850" dirty="0"/>
          </a:p>
        </p:txBody>
      </p:sp>
      <p:sp>
        <p:nvSpPr>
          <p:cNvPr id="34" name="Shape 32"/>
          <p:cNvSpPr/>
          <p:nvPr/>
        </p:nvSpPr>
        <p:spPr>
          <a:xfrm>
            <a:off x="365760" y="4443984"/>
            <a:ext cx="8412480" cy="420624"/>
          </a:xfrm>
          <a:prstGeom prst="rect">
            <a:avLst/>
          </a:prstGeom>
          <a:solidFill>
            <a:srgbClr val="06185F"/>
          </a:solidFill>
          <a:ln w="12700">
            <a:solidFill>
              <a:srgbClr val="06185F"/>
            </a:solidFill>
            <a:prstDash val="solid"/>
          </a:ln>
        </p:spPr>
      </p:sp>
      <p:sp>
        <p:nvSpPr>
          <p:cNvPr id="35" name="Text 33"/>
          <p:cNvSpPr/>
          <p:nvPr/>
        </p:nvSpPr>
        <p:spPr>
          <a:xfrm>
            <a:off x="502920" y="4471416"/>
            <a:ext cx="2514600" cy="36576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COMBINED POTENTIAL VALUE PER FI</a:t>
            </a:r>
            <a:endParaRPr lang="en-US" sz="1000" dirty="0"/>
          </a:p>
        </p:txBody>
      </p:sp>
      <p:sp>
        <p:nvSpPr>
          <p:cNvPr id="36" name="Text 34"/>
          <p:cNvSpPr/>
          <p:nvPr/>
        </p:nvSpPr>
        <p:spPr>
          <a:xfrm>
            <a:off x="3108960" y="4471416"/>
            <a:ext cx="1783080" cy="365760"/>
          </a:xfrm>
          <a:prstGeom prst="rect">
            <a:avLst/>
          </a:prstGeom>
          <a:noFill/>
          <a:ln/>
        </p:spPr>
        <p:txBody>
          <a:bodyPr wrap="square" lIns="0" tIns="0" rIns="0" bIns="0" rtlCol="0" anchor="ctr"/>
          <a:lstStyle/>
          <a:p>
            <a:pPr indent="0" marL="0">
              <a:buNone/>
            </a:pPr>
            <a:r>
              <a:rPr lang="en-US" sz="1100" b="1" dirty="0">
                <a:solidFill>
                  <a:srgbClr val="76DCFD"/>
                </a:solidFill>
                <a:latin typeface="Calibri" pitchFamily="34" charset="0"/>
                <a:ea typeface="Calibri" pitchFamily="34" charset="-122"/>
                <a:cs typeface="Calibri" pitchFamily="34" charset="-120"/>
              </a:rPr>
              <a:t>$4–10M+ / year</a:t>
            </a:r>
            <a:endParaRPr lang="en-US" sz="1100" dirty="0"/>
          </a:p>
        </p:txBody>
      </p:sp>
      <p:sp>
        <p:nvSpPr>
          <p:cNvPr id="37" name="Text 35"/>
          <p:cNvSpPr/>
          <p:nvPr/>
        </p:nvSpPr>
        <p:spPr>
          <a:xfrm>
            <a:off x="5029200" y="4471416"/>
            <a:ext cx="3657600" cy="365760"/>
          </a:xfrm>
          <a:prstGeom prst="rect">
            <a:avLst/>
          </a:prstGeom>
          <a:noFill/>
          <a:ln/>
        </p:spPr>
        <p:txBody>
          <a:bodyPr wrap="square" lIns="0" tIns="0" rIns="0" bIns="0" rtlCol="0" anchor="ctr"/>
          <a:lstStyle/>
          <a:p>
            <a:pPr indent="0" marL="0">
              <a:buNone/>
            </a:pPr>
            <a:r>
              <a:rPr lang="en-US" sz="950" dirty="0">
                <a:solidFill>
                  <a:srgbClr val="E7ECF0"/>
                </a:solidFill>
                <a:latin typeface="Calibri" pitchFamily="34" charset="0"/>
                <a:ea typeface="Calibri" pitchFamily="34" charset="-122"/>
                <a:cs typeface="Calibri" pitchFamily="34" charset="-120"/>
              </a:rPr>
              <a:t>Conservative aggregate across all 7 Phase 1–2 applications</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Application Pricing — Full Platform Suite</a:t>
            </a:r>
            <a:endParaRPr lang="en-US" sz="2200" dirty="0"/>
          </a:p>
        </p:txBody>
      </p:sp>
      <p:sp>
        <p:nvSpPr>
          <p:cNvPr id="4" name="Text 2"/>
          <p:cNvSpPr/>
          <p:nvPr/>
        </p:nvSpPr>
        <p:spPr>
          <a:xfrm>
            <a:off x="365760" y="749808"/>
            <a:ext cx="8412480" cy="2560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Each application can be licensed standalone or bundled. Bundle pricing reflects the Intelligence tier — 20–30% below standalone sum.</a:t>
            </a:r>
            <a:endParaRPr lang="en-US" sz="1050" dirty="0"/>
          </a:p>
        </p:txBody>
      </p:sp>
      <p:sp>
        <p:nvSpPr>
          <p:cNvPr id="5" name="Text 3"/>
          <p:cNvSpPr/>
          <p:nvPr/>
        </p:nvSpPr>
        <p:spPr>
          <a:xfrm>
            <a:off x="320040" y="1078992"/>
            <a:ext cx="310896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APPLICATION</a:t>
            </a:r>
            <a:endParaRPr lang="en-US" sz="850" dirty="0"/>
          </a:p>
        </p:txBody>
      </p:sp>
      <p:sp>
        <p:nvSpPr>
          <p:cNvPr id="6" name="Text 4"/>
          <p:cNvSpPr/>
          <p:nvPr/>
        </p:nvSpPr>
        <p:spPr>
          <a:xfrm>
            <a:off x="3520440" y="1078992"/>
            <a:ext cx="274320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VALUE DRIVER</a:t>
            </a:r>
            <a:endParaRPr lang="en-US" sz="850" dirty="0"/>
          </a:p>
        </p:txBody>
      </p:sp>
      <p:sp>
        <p:nvSpPr>
          <p:cNvPr id="7" name="Text 5"/>
          <p:cNvSpPr/>
          <p:nvPr/>
        </p:nvSpPr>
        <p:spPr>
          <a:xfrm>
            <a:off x="6355080" y="1078992"/>
            <a:ext cx="141732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STANDALONE / MO</a:t>
            </a:r>
            <a:endParaRPr lang="en-US" sz="850" dirty="0"/>
          </a:p>
        </p:txBody>
      </p:sp>
      <p:sp>
        <p:nvSpPr>
          <p:cNvPr id="8" name="Text 6"/>
          <p:cNvSpPr/>
          <p:nvPr/>
        </p:nvSpPr>
        <p:spPr>
          <a:xfrm>
            <a:off x="7818120" y="1078992"/>
            <a:ext cx="123444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BUNDLE CREDIT</a:t>
            </a:r>
            <a:endParaRPr lang="en-US" sz="850" dirty="0"/>
          </a:p>
        </p:txBody>
      </p:sp>
      <p:sp>
        <p:nvSpPr>
          <p:cNvPr id="9" name="Shape 7"/>
          <p:cNvSpPr/>
          <p:nvPr/>
        </p:nvSpPr>
        <p:spPr>
          <a:xfrm>
            <a:off x="320040" y="1307592"/>
            <a:ext cx="8732520" cy="18288"/>
          </a:xfrm>
          <a:prstGeom prst="rect">
            <a:avLst/>
          </a:prstGeom>
          <a:solidFill>
            <a:srgbClr val="E7ECF0"/>
          </a:solidFill>
          <a:ln w="12700">
            <a:solidFill>
              <a:srgbClr val="E7ECF0"/>
            </a:solidFill>
            <a:prstDash val="solid"/>
          </a:ln>
        </p:spPr>
      </p:sp>
      <p:sp>
        <p:nvSpPr>
          <p:cNvPr id="10" name="Shape 8"/>
          <p:cNvSpPr/>
          <p:nvPr/>
        </p:nvSpPr>
        <p:spPr>
          <a:xfrm>
            <a:off x="320040" y="1298448"/>
            <a:ext cx="8732520" cy="411480"/>
          </a:xfrm>
          <a:prstGeom prst="rect">
            <a:avLst/>
          </a:prstGeom>
          <a:solidFill>
            <a:srgbClr val="FFFFFF"/>
          </a:solidFill>
          <a:ln w="12700">
            <a:solidFill>
              <a:srgbClr val="E7ECF0"/>
            </a:solidFill>
            <a:prstDash val="solid"/>
          </a:ln>
        </p:spPr>
      </p:sp>
      <p:sp>
        <p:nvSpPr>
          <p:cNvPr id="11" name="Shape 9"/>
          <p:cNvSpPr/>
          <p:nvPr/>
        </p:nvSpPr>
        <p:spPr>
          <a:xfrm>
            <a:off x="320040" y="1298448"/>
            <a:ext cx="73152" cy="411480"/>
          </a:xfrm>
          <a:prstGeom prst="rect">
            <a:avLst/>
          </a:prstGeom>
          <a:solidFill>
            <a:srgbClr val="085CE5"/>
          </a:solidFill>
          <a:ln w="12700">
            <a:solidFill>
              <a:srgbClr val="085CE5"/>
            </a:solidFill>
            <a:prstDash val="solid"/>
          </a:ln>
        </p:spPr>
      </p:sp>
      <p:sp>
        <p:nvSpPr>
          <p:cNvPr id="12" name="Text 10"/>
          <p:cNvSpPr/>
          <p:nvPr/>
        </p:nvSpPr>
        <p:spPr>
          <a:xfrm>
            <a:off x="475488" y="1325880"/>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Churn Sentinel</a:t>
            </a:r>
            <a:endParaRPr lang="en-US" sz="950" dirty="0"/>
          </a:p>
        </p:txBody>
      </p:sp>
      <p:sp>
        <p:nvSpPr>
          <p:cNvPr id="13" name="Text 11"/>
          <p:cNvSpPr/>
          <p:nvPr/>
        </p:nvSpPr>
        <p:spPr>
          <a:xfrm>
            <a:off x="475488" y="1517904"/>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ML churn scores + proactive retention triggers per member</a:t>
            </a:r>
            <a:endParaRPr lang="en-US" sz="750" dirty="0"/>
          </a:p>
        </p:txBody>
      </p:sp>
      <p:sp>
        <p:nvSpPr>
          <p:cNvPr id="14" name="Text 12"/>
          <p:cNvSpPr/>
          <p:nvPr/>
        </p:nvSpPr>
        <p:spPr>
          <a:xfrm>
            <a:off x="3520440" y="1335024"/>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15–25% reduction in member attrition · avg. $400–$600 LTV saved per retained account</a:t>
            </a:r>
            <a:endParaRPr lang="en-US" sz="750" dirty="0"/>
          </a:p>
        </p:txBody>
      </p:sp>
      <p:sp>
        <p:nvSpPr>
          <p:cNvPr id="15" name="Text 13"/>
          <p:cNvSpPr/>
          <p:nvPr/>
        </p:nvSpPr>
        <p:spPr>
          <a:xfrm>
            <a:off x="6355080" y="1325880"/>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$800 – $2,500</a:t>
            </a:r>
            <a:endParaRPr lang="en-US" sz="1050" dirty="0"/>
          </a:p>
        </p:txBody>
      </p:sp>
      <p:sp>
        <p:nvSpPr>
          <p:cNvPr id="16" name="Text 14"/>
          <p:cNvSpPr/>
          <p:nvPr/>
        </p:nvSpPr>
        <p:spPr>
          <a:xfrm>
            <a:off x="6355080" y="1572768"/>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17" name="Shape 15"/>
          <p:cNvSpPr/>
          <p:nvPr/>
        </p:nvSpPr>
        <p:spPr>
          <a:xfrm>
            <a:off x="7845552" y="1408176"/>
            <a:ext cx="1170432" cy="192024"/>
          </a:xfrm>
          <a:prstGeom prst="roundRect">
            <a:avLst>
              <a:gd name="adj" fmla="val 19048"/>
            </a:avLst>
          </a:prstGeom>
          <a:solidFill>
            <a:srgbClr val="E8F7F7"/>
          </a:solidFill>
          <a:ln w="12700">
            <a:solidFill>
              <a:srgbClr val="085CE5"/>
            </a:solidFill>
            <a:prstDash val="solid"/>
          </a:ln>
        </p:spPr>
      </p:sp>
      <p:sp>
        <p:nvSpPr>
          <p:cNvPr id="18" name="Text 16"/>
          <p:cNvSpPr/>
          <p:nvPr/>
        </p:nvSpPr>
        <p:spPr>
          <a:xfrm>
            <a:off x="7845552" y="1408176"/>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19" name="Shape 17"/>
          <p:cNvSpPr/>
          <p:nvPr/>
        </p:nvSpPr>
        <p:spPr>
          <a:xfrm>
            <a:off x="320040" y="1737360"/>
            <a:ext cx="8732520" cy="411480"/>
          </a:xfrm>
          <a:prstGeom prst="rect">
            <a:avLst/>
          </a:prstGeom>
          <a:solidFill>
            <a:srgbClr val="E7ECF0"/>
          </a:solidFill>
          <a:ln w="12700">
            <a:solidFill>
              <a:srgbClr val="E7ECF0"/>
            </a:solidFill>
            <a:prstDash val="solid"/>
          </a:ln>
        </p:spPr>
      </p:sp>
      <p:sp>
        <p:nvSpPr>
          <p:cNvPr id="20" name="Shape 18"/>
          <p:cNvSpPr/>
          <p:nvPr/>
        </p:nvSpPr>
        <p:spPr>
          <a:xfrm>
            <a:off x="320040" y="1737360"/>
            <a:ext cx="73152" cy="411480"/>
          </a:xfrm>
          <a:prstGeom prst="rect">
            <a:avLst/>
          </a:prstGeom>
          <a:solidFill>
            <a:srgbClr val="073FA8"/>
          </a:solidFill>
          <a:ln w="12700">
            <a:solidFill>
              <a:srgbClr val="073FA8"/>
            </a:solidFill>
            <a:prstDash val="solid"/>
          </a:ln>
        </p:spPr>
      </p:sp>
      <p:sp>
        <p:nvSpPr>
          <p:cNvPr id="21" name="Text 19"/>
          <p:cNvSpPr/>
          <p:nvPr/>
        </p:nvSpPr>
        <p:spPr>
          <a:xfrm>
            <a:off x="475488" y="1764792"/>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Zelle Memo Intelligence</a:t>
            </a:r>
            <a:endParaRPr lang="en-US" sz="950" dirty="0"/>
          </a:p>
        </p:txBody>
      </p:sp>
      <p:sp>
        <p:nvSpPr>
          <p:cNvPr id="22" name="Text 20"/>
          <p:cNvSpPr/>
          <p:nvPr/>
        </p:nvSpPr>
        <p:spPr>
          <a:xfrm>
            <a:off x="475488" y="1956816"/>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NLP + compliance risk scoring on every Zelle transaction</a:t>
            </a:r>
            <a:endParaRPr lang="en-US" sz="750" dirty="0"/>
          </a:p>
        </p:txBody>
      </p:sp>
      <p:sp>
        <p:nvSpPr>
          <p:cNvPr id="23" name="Text 21"/>
          <p:cNvSpPr/>
          <p:nvPr/>
        </p:nvSpPr>
        <p:spPr>
          <a:xfrm>
            <a:off x="3520440" y="1773936"/>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60% reduction in manual SAR review hours · improved FinCEN defensibility</a:t>
            </a:r>
            <a:endParaRPr lang="en-US" sz="750" dirty="0"/>
          </a:p>
        </p:txBody>
      </p:sp>
      <p:sp>
        <p:nvSpPr>
          <p:cNvPr id="24" name="Text 22"/>
          <p:cNvSpPr/>
          <p:nvPr/>
        </p:nvSpPr>
        <p:spPr>
          <a:xfrm>
            <a:off x="6355080" y="1764792"/>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$400 – $1,200</a:t>
            </a:r>
            <a:endParaRPr lang="en-US" sz="1050" dirty="0"/>
          </a:p>
        </p:txBody>
      </p:sp>
      <p:sp>
        <p:nvSpPr>
          <p:cNvPr id="25" name="Text 23"/>
          <p:cNvSpPr/>
          <p:nvPr/>
        </p:nvSpPr>
        <p:spPr>
          <a:xfrm>
            <a:off x="6355080" y="2011680"/>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26" name="Shape 24"/>
          <p:cNvSpPr/>
          <p:nvPr/>
        </p:nvSpPr>
        <p:spPr>
          <a:xfrm>
            <a:off x="7845552" y="1847088"/>
            <a:ext cx="1170432" cy="192024"/>
          </a:xfrm>
          <a:prstGeom prst="roundRect">
            <a:avLst>
              <a:gd name="adj" fmla="val 19048"/>
            </a:avLst>
          </a:prstGeom>
          <a:solidFill>
            <a:srgbClr val="FFFFFF"/>
          </a:solidFill>
          <a:ln w="12700">
            <a:solidFill>
              <a:srgbClr val="085CE5"/>
            </a:solidFill>
            <a:prstDash val="solid"/>
          </a:ln>
        </p:spPr>
      </p:sp>
      <p:sp>
        <p:nvSpPr>
          <p:cNvPr id="27" name="Text 25"/>
          <p:cNvSpPr/>
          <p:nvPr/>
        </p:nvSpPr>
        <p:spPr>
          <a:xfrm>
            <a:off x="7845552" y="1847088"/>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28" name="Shape 26"/>
          <p:cNvSpPr/>
          <p:nvPr/>
        </p:nvSpPr>
        <p:spPr>
          <a:xfrm>
            <a:off x="320040" y="2176272"/>
            <a:ext cx="8732520" cy="411480"/>
          </a:xfrm>
          <a:prstGeom prst="rect">
            <a:avLst/>
          </a:prstGeom>
          <a:solidFill>
            <a:srgbClr val="FFFFFF"/>
          </a:solidFill>
          <a:ln w="12700">
            <a:solidFill>
              <a:srgbClr val="E7ECF0"/>
            </a:solidFill>
            <a:prstDash val="solid"/>
          </a:ln>
        </p:spPr>
      </p:sp>
      <p:sp>
        <p:nvSpPr>
          <p:cNvPr id="29" name="Shape 27"/>
          <p:cNvSpPr/>
          <p:nvPr/>
        </p:nvSpPr>
        <p:spPr>
          <a:xfrm>
            <a:off x="320040" y="2176272"/>
            <a:ext cx="73152" cy="411480"/>
          </a:xfrm>
          <a:prstGeom prst="rect">
            <a:avLst/>
          </a:prstGeom>
          <a:solidFill>
            <a:srgbClr val="0D2E7A"/>
          </a:solidFill>
          <a:ln w="12700">
            <a:solidFill>
              <a:srgbClr val="0D2E7A"/>
            </a:solidFill>
            <a:prstDash val="solid"/>
          </a:ln>
        </p:spPr>
      </p:sp>
      <p:sp>
        <p:nvSpPr>
          <p:cNvPr id="30" name="Text 28"/>
          <p:cNvSpPr/>
          <p:nvPr/>
        </p:nvSpPr>
        <p:spPr>
          <a:xfrm>
            <a:off x="475488" y="2203704"/>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Anomaly Detection</a:t>
            </a:r>
            <a:endParaRPr lang="en-US" sz="950" dirty="0"/>
          </a:p>
        </p:txBody>
      </p:sp>
      <p:sp>
        <p:nvSpPr>
          <p:cNvPr id="31" name="Text 29"/>
          <p:cNvSpPr/>
          <p:nvPr/>
        </p:nvSpPr>
        <p:spPr>
          <a:xfrm>
            <a:off x="475488" y="2395728"/>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Real-time fraud + operational anomaly alerting across channels</a:t>
            </a:r>
            <a:endParaRPr lang="en-US" sz="750" dirty="0"/>
          </a:p>
        </p:txBody>
      </p:sp>
      <p:sp>
        <p:nvSpPr>
          <p:cNvPr id="32" name="Text 30"/>
          <p:cNvSpPr/>
          <p:nvPr/>
        </p:nvSpPr>
        <p:spPr>
          <a:xfrm>
            <a:off x="3520440" y="2212848"/>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70%+ false-positive reduction · analyst hours recaptured from alert triage</a:t>
            </a:r>
            <a:endParaRPr lang="en-US" sz="750" dirty="0"/>
          </a:p>
        </p:txBody>
      </p:sp>
      <p:sp>
        <p:nvSpPr>
          <p:cNvPr id="33" name="Text 31"/>
          <p:cNvSpPr/>
          <p:nvPr/>
        </p:nvSpPr>
        <p:spPr>
          <a:xfrm>
            <a:off x="6355080" y="2203704"/>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$600 – $2,000</a:t>
            </a:r>
            <a:endParaRPr lang="en-US" sz="1050" dirty="0"/>
          </a:p>
        </p:txBody>
      </p:sp>
      <p:sp>
        <p:nvSpPr>
          <p:cNvPr id="34" name="Text 32"/>
          <p:cNvSpPr/>
          <p:nvPr/>
        </p:nvSpPr>
        <p:spPr>
          <a:xfrm>
            <a:off x="6355080" y="2450592"/>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35" name="Shape 33"/>
          <p:cNvSpPr/>
          <p:nvPr/>
        </p:nvSpPr>
        <p:spPr>
          <a:xfrm>
            <a:off x="7845552" y="2286000"/>
            <a:ext cx="1170432" cy="192024"/>
          </a:xfrm>
          <a:prstGeom prst="roundRect">
            <a:avLst>
              <a:gd name="adj" fmla="val 19048"/>
            </a:avLst>
          </a:prstGeom>
          <a:solidFill>
            <a:srgbClr val="E8F7F7"/>
          </a:solidFill>
          <a:ln w="12700">
            <a:solidFill>
              <a:srgbClr val="085CE5"/>
            </a:solidFill>
            <a:prstDash val="solid"/>
          </a:ln>
        </p:spPr>
      </p:sp>
      <p:sp>
        <p:nvSpPr>
          <p:cNvPr id="36" name="Text 34"/>
          <p:cNvSpPr/>
          <p:nvPr/>
        </p:nvSpPr>
        <p:spPr>
          <a:xfrm>
            <a:off x="7845552" y="2286000"/>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37" name="Shape 35"/>
          <p:cNvSpPr/>
          <p:nvPr/>
        </p:nvSpPr>
        <p:spPr>
          <a:xfrm>
            <a:off x="320040" y="2615184"/>
            <a:ext cx="8732520" cy="411480"/>
          </a:xfrm>
          <a:prstGeom prst="rect">
            <a:avLst/>
          </a:prstGeom>
          <a:solidFill>
            <a:srgbClr val="E7ECF0"/>
          </a:solidFill>
          <a:ln w="12700">
            <a:solidFill>
              <a:srgbClr val="E7ECF0"/>
            </a:solidFill>
            <a:prstDash val="solid"/>
          </a:ln>
        </p:spPr>
      </p:sp>
      <p:sp>
        <p:nvSpPr>
          <p:cNvPr id="38" name="Shape 36"/>
          <p:cNvSpPr/>
          <p:nvPr/>
        </p:nvSpPr>
        <p:spPr>
          <a:xfrm>
            <a:off x="320040" y="2615184"/>
            <a:ext cx="73152" cy="411480"/>
          </a:xfrm>
          <a:prstGeom prst="rect">
            <a:avLst/>
          </a:prstGeom>
          <a:solidFill>
            <a:srgbClr val="0D2E7A"/>
          </a:solidFill>
          <a:ln w="12700">
            <a:solidFill>
              <a:srgbClr val="0D2E7A"/>
            </a:solidFill>
            <a:prstDash val="solid"/>
          </a:ln>
        </p:spPr>
      </p:sp>
      <p:sp>
        <p:nvSpPr>
          <p:cNvPr id="39" name="Text 37"/>
          <p:cNvSpPr/>
          <p:nvPr/>
        </p:nvSpPr>
        <p:spPr>
          <a:xfrm>
            <a:off x="475488" y="2642616"/>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FI Decision Studio</a:t>
            </a:r>
            <a:endParaRPr lang="en-US" sz="950" dirty="0"/>
          </a:p>
        </p:txBody>
      </p:sp>
      <p:sp>
        <p:nvSpPr>
          <p:cNvPr id="40" name="Text 38"/>
          <p:cNvSpPr/>
          <p:nvPr/>
        </p:nvSpPr>
        <p:spPr>
          <a:xfrm>
            <a:off x="475488" y="2834640"/>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No-code AutoML — unsupervised → supervised + rule authoring + API deploy</a:t>
            </a:r>
            <a:endParaRPr lang="en-US" sz="750" dirty="0"/>
          </a:p>
        </p:txBody>
      </p:sp>
      <p:sp>
        <p:nvSpPr>
          <p:cNvPr id="41" name="Text 39"/>
          <p:cNvSpPr/>
          <p:nvPr/>
        </p:nvSpPr>
        <p:spPr>
          <a:xfrm>
            <a:off x="3520440" y="2651760"/>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SR 11-7 defensible SHAP explainability · custom models on FI's own data · no ML team required</a:t>
            </a:r>
            <a:endParaRPr lang="en-US" sz="750" dirty="0"/>
          </a:p>
        </p:txBody>
      </p:sp>
      <p:sp>
        <p:nvSpPr>
          <p:cNvPr id="42" name="Text 40"/>
          <p:cNvSpPr/>
          <p:nvPr/>
        </p:nvSpPr>
        <p:spPr>
          <a:xfrm>
            <a:off x="6355080" y="2642616"/>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$1,000 – $3,500</a:t>
            </a:r>
            <a:endParaRPr lang="en-US" sz="1050" dirty="0"/>
          </a:p>
        </p:txBody>
      </p:sp>
      <p:sp>
        <p:nvSpPr>
          <p:cNvPr id="43" name="Text 41"/>
          <p:cNvSpPr/>
          <p:nvPr/>
        </p:nvSpPr>
        <p:spPr>
          <a:xfrm>
            <a:off x="6355080" y="2889504"/>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44" name="Shape 42"/>
          <p:cNvSpPr/>
          <p:nvPr/>
        </p:nvSpPr>
        <p:spPr>
          <a:xfrm>
            <a:off x="7845552" y="2724912"/>
            <a:ext cx="1170432" cy="192024"/>
          </a:xfrm>
          <a:prstGeom prst="roundRect">
            <a:avLst>
              <a:gd name="adj" fmla="val 19048"/>
            </a:avLst>
          </a:prstGeom>
          <a:solidFill>
            <a:srgbClr val="FFFFFF"/>
          </a:solidFill>
          <a:ln w="12700">
            <a:solidFill>
              <a:srgbClr val="085CE5"/>
            </a:solidFill>
            <a:prstDash val="solid"/>
          </a:ln>
        </p:spPr>
      </p:sp>
      <p:sp>
        <p:nvSpPr>
          <p:cNvPr id="45" name="Text 43"/>
          <p:cNvSpPr/>
          <p:nvPr/>
        </p:nvSpPr>
        <p:spPr>
          <a:xfrm>
            <a:off x="7845552" y="2724912"/>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Enterprise tier only</a:t>
            </a:r>
            <a:endParaRPr lang="en-US" sz="650" dirty="0"/>
          </a:p>
        </p:txBody>
      </p:sp>
      <p:sp>
        <p:nvSpPr>
          <p:cNvPr id="46" name="Shape 44"/>
          <p:cNvSpPr/>
          <p:nvPr/>
        </p:nvSpPr>
        <p:spPr>
          <a:xfrm>
            <a:off x="320040" y="3054096"/>
            <a:ext cx="8732520" cy="411480"/>
          </a:xfrm>
          <a:prstGeom prst="rect">
            <a:avLst/>
          </a:prstGeom>
          <a:solidFill>
            <a:srgbClr val="FFFFFF"/>
          </a:solidFill>
          <a:ln w="12700">
            <a:solidFill>
              <a:srgbClr val="E7ECF0"/>
            </a:solidFill>
            <a:prstDash val="solid"/>
          </a:ln>
        </p:spPr>
      </p:sp>
      <p:sp>
        <p:nvSpPr>
          <p:cNvPr id="47" name="Shape 45"/>
          <p:cNvSpPr/>
          <p:nvPr/>
        </p:nvSpPr>
        <p:spPr>
          <a:xfrm>
            <a:off x="320040" y="3054096"/>
            <a:ext cx="73152" cy="411480"/>
          </a:xfrm>
          <a:prstGeom prst="rect">
            <a:avLst/>
          </a:prstGeom>
          <a:solidFill>
            <a:srgbClr val="0A52C4"/>
          </a:solidFill>
          <a:ln w="12700">
            <a:solidFill>
              <a:srgbClr val="0A52C4"/>
            </a:solidFill>
            <a:prstDash val="solid"/>
          </a:ln>
        </p:spPr>
      </p:sp>
      <p:sp>
        <p:nvSpPr>
          <p:cNvPr id="48" name="Text 46"/>
          <p:cNvSpPr/>
          <p:nvPr/>
        </p:nvSpPr>
        <p:spPr>
          <a:xfrm>
            <a:off x="475488" y="3081528"/>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CommercialSignal</a:t>
            </a:r>
            <a:endParaRPr lang="en-US" sz="950" dirty="0"/>
          </a:p>
        </p:txBody>
      </p:sp>
      <p:sp>
        <p:nvSpPr>
          <p:cNvPr id="49" name="Text 47"/>
          <p:cNvSpPr/>
          <p:nvPr/>
        </p:nvSpPr>
        <p:spPr>
          <a:xfrm>
            <a:off x="475488" y="3273552"/>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ML scoring of personal accounts exhibiting commercial transaction signatures</a:t>
            </a:r>
            <a:endParaRPr lang="en-US" sz="750" dirty="0"/>
          </a:p>
        </p:txBody>
      </p:sp>
      <p:sp>
        <p:nvSpPr>
          <p:cNvPr id="50" name="Text 48"/>
          <p:cNvSpPr/>
          <p:nvPr/>
        </p:nvSpPr>
        <p:spPr>
          <a:xfrm>
            <a:off x="3520440" y="3090672"/>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Converts hidden SMB accounts to business banking — fee income, treasury products, SBA loans</a:t>
            </a:r>
            <a:endParaRPr lang="en-US" sz="750" dirty="0"/>
          </a:p>
        </p:txBody>
      </p:sp>
      <p:sp>
        <p:nvSpPr>
          <p:cNvPr id="51" name="Text 49"/>
          <p:cNvSpPr/>
          <p:nvPr/>
        </p:nvSpPr>
        <p:spPr>
          <a:xfrm>
            <a:off x="6355080" y="3081528"/>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$400 – $1,200</a:t>
            </a:r>
            <a:endParaRPr lang="en-US" sz="1050" dirty="0"/>
          </a:p>
        </p:txBody>
      </p:sp>
      <p:sp>
        <p:nvSpPr>
          <p:cNvPr id="52" name="Text 50"/>
          <p:cNvSpPr/>
          <p:nvPr/>
        </p:nvSpPr>
        <p:spPr>
          <a:xfrm>
            <a:off x="6355080" y="3328416"/>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53" name="Shape 51"/>
          <p:cNvSpPr/>
          <p:nvPr/>
        </p:nvSpPr>
        <p:spPr>
          <a:xfrm>
            <a:off x="7845552" y="3163824"/>
            <a:ext cx="1170432" cy="192024"/>
          </a:xfrm>
          <a:prstGeom prst="roundRect">
            <a:avLst>
              <a:gd name="adj" fmla="val 19048"/>
            </a:avLst>
          </a:prstGeom>
          <a:solidFill>
            <a:srgbClr val="E8F7F7"/>
          </a:solidFill>
          <a:ln w="12700">
            <a:solidFill>
              <a:srgbClr val="085CE5"/>
            </a:solidFill>
            <a:prstDash val="solid"/>
          </a:ln>
        </p:spPr>
      </p:sp>
      <p:sp>
        <p:nvSpPr>
          <p:cNvPr id="54" name="Text 52"/>
          <p:cNvSpPr/>
          <p:nvPr/>
        </p:nvSpPr>
        <p:spPr>
          <a:xfrm>
            <a:off x="7845552" y="3163824"/>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55" name="Shape 53"/>
          <p:cNvSpPr/>
          <p:nvPr/>
        </p:nvSpPr>
        <p:spPr>
          <a:xfrm>
            <a:off x="320040" y="3493008"/>
            <a:ext cx="8732520" cy="411480"/>
          </a:xfrm>
          <a:prstGeom prst="rect">
            <a:avLst/>
          </a:prstGeom>
          <a:solidFill>
            <a:srgbClr val="E7ECF0"/>
          </a:solidFill>
          <a:ln w="12700">
            <a:solidFill>
              <a:srgbClr val="E7ECF0"/>
            </a:solidFill>
            <a:prstDash val="solid"/>
          </a:ln>
        </p:spPr>
      </p:sp>
      <p:sp>
        <p:nvSpPr>
          <p:cNvPr id="56" name="Shape 54"/>
          <p:cNvSpPr/>
          <p:nvPr/>
        </p:nvSpPr>
        <p:spPr>
          <a:xfrm>
            <a:off x="320040" y="3493008"/>
            <a:ext cx="73152" cy="411480"/>
          </a:xfrm>
          <a:prstGeom prst="rect">
            <a:avLst/>
          </a:prstGeom>
          <a:solidFill>
            <a:srgbClr val="0F3D8A"/>
          </a:solidFill>
          <a:ln w="12700">
            <a:solidFill>
              <a:srgbClr val="0F3D8A"/>
            </a:solidFill>
            <a:prstDash val="solid"/>
          </a:ln>
        </p:spPr>
      </p:sp>
      <p:sp>
        <p:nvSpPr>
          <p:cNvPr id="57" name="Text 55"/>
          <p:cNvSpPr/>
          <p:nvPr/>
        </p:nvSpPr>
        <p:spPr>
          <a:xfrm>
            <a:off x="475488" y="3520440"/>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Generational Wealth Deflection</a:t>
            </a:r>
            <a:endParaRPr lang="en-US" sz="950" dirty="0"/>
          </a:p>
        </p:txBody>
      </p:sp>
      <p:sp>
        <p:nvSpPr>
          <p:cNvPr id="58" name="Text 56"/>
          <p:cNvSpPr/>
          <p:nvPr/>
        </p:nvSpPr>
        <p:spPr>
          <a:xfrm>
            <a:off x="475488" y="3712464"/>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Household coverage scoring · next-gen relationship expansion before wealth transfers</a:t>
            </a:r>
            <a:endParaRPr lang="en-US" sz="750" dirty="0"/>
          </a:p>
        </p:txBody>
      </p:sp>
      <p:sp>
        <p:nvSpPr>
          <p:cNvPr id="59" name="Text 57"/>
          <p:cNvSpPr/>
          <p:nvPr/>
        </p:nvSpPr>
        <p:spPr>
          <a:xfrm>
            <a:off x="3520440" y="3529584"/>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AUM retained at generational transition · multi-generational household relationships built proactively</a:t>
            </a:r>
            <a:endParaRPr lang="en-US" sz="750" dirty="0"/>
          </a:p>
        </p:txBody>
      </p:sp>
      <p:sp>
        <p:nvSpPr>
          <p:cNvPr id="60" name="Text 58"/>
          <p:cNvSpPr/>
          <p:nvPr/>
        </p:nvSpPr>
        <p:spPr>
          <a:xfrm>
            <a:off x="6355080" y="3520440"/>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$500 – $1,500</a:t>
            </a:r>
            <a:endParaRPr lang="en-US" sz="1050" dirty="0"/>
          </a:p>
        </p:txBody>
      </p:sp>
      <p:sp>
        <p:nvSpPr>
          <p:cNvPr id="61" name="Text 59"/>
          <p:cNvSpPr/>
          <p:nvPr/>
        </p:nvSpPr>
        <p:spPr>
          <a:xfrm>
            <a:off x="6355080" y="3767328"/>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62" name="Shape 60"/>
          <p:cNvSpPr/>
          <p:nvPr/>
        </p:nvSpPr>
        <p:spPr>
          <a:xfrm>
            <a:off x="7845552" y="3602736"/>
            <a:ext cx="1170432" cy="192024"/>
          </a:xfrm>
          <a:prstGeom prst="roundRect">
            <a:avLst>
              <a:gd name="adj" fmla="val 19048"/>
            </a:avLst>
          </a:prstGeom>
          <a:solidFill>
            <a:srgbClr val="FFFFFF"/>
          </a:solidFill>
          <a:ln w="12700">
            <a:solidFill>
              <a:srgbClr val="085CE5"/>
            </a:solidFill>
            <a:prstDash val="solid"/>
          </a:ln>
        </p:spPr>
      </p:sp>
      <p:sp>
        <p:nvSpPr>
          <p:cNvPr id="63" name="Text 61"/>
          <p:cNvSpPr/>
          <p:nvPr/>
        </p:nvSpPr>
        <p:spPr>
          <a:xfrm>
            <a:off x="7845552" y="3602736"/>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64" name="Shape 62"/>
          <p:cNvSpPr/>
          <p:nvPr/>
        </p:nvSpPr>
        <p:spPr>
          <a:xfrm>
            <a:off x="320040" y="3931920"/>
            <a:ext cx="8732520" cy="292608"/>
          </a:xfrm>
          <a:prstGeom prst="rect">
            <a:avLst/>
          </a:prstGeom>
          <a:solidFill>
            <a:srgbClr val="06185F"/>
          </a:solidFill>
          <a:ln w="12700">
            <a:solidFill>
              <a:srgbClr val="06185F"/>
            </a:solidFill>
            <a:prstDash val="solid"/>
          </a:ln>
        </p:spPr>
      </p:sp>
      <p:sp>
        <p:nvSpPr>
          <p:cNvPr id="65" name="Text 63"/>
          <p:cNvSpPr/>
          <p:nvPr/>
        </p:nvSpPr>
        <p:spPr>
          <a:xfrm>
            <a:off x="475488" y="3959352"/>
            <a:ext cx="4114800" cy="237744"/>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STANDALONE TOTAL — ALL SIX APPS (MID-MARKET FI)</a:t>
            </a:r>
            <a:endParaRPr lang="en-US" sz="900" dirty="0"/>
          </a:p>
        </p:txBody>
      </p:sp>
      <p:sp>
        <p:nvSpPr>
          <p:cNvPr id="66" name="Text 64"/>
          <p:cNvSpPr/>
          <p:nvPr/>
        </p:nvSpPr>
        <p:spPr>
          <a:xfrm>
            <a:off x="6355080" y="3959352"/>
            <a:ext cx="1417320" cy="237744"/>
          </a:xfrm>
          <a:prstGeom prst="rect">
            <a:avLst/>
          </a:prstGeom>
          <a:noFill/>
          <a:ln/>
        </p:spPr>
        <p:txBody>
          <a:bodyPr wrap="square" lIns="0" tIns="0" rIns="0" bIns="0" rtlCol="0" anchor="ctr"/>
          <a:lstStyle/>
          <a:p>
            <a:pPr algn="ctr" indent="0" marL="0">
              <a:buNone/>
            </a:pPr>
            <a:r>
              <a:rPr lang="en-US" sz="1200" b="1" dirty="0">
                <a:solidFill>
                  <a:srgbClr val="76DCFD"/>
                </a:solidFill>
                <a:latin typeface="Calibri" pitchFamily="34" charset="0"/>
                <a:ea typeface="Calibri" pitchFamily="34" charset="-122"/>
                <a:cs typeface="Calibri" pitchFamily="34" charset="-120"/>
              </a:rPr>
              <a:t>~$6,300 / mo</a:t>
            </a:r>
            <a:endParaRPr lang="en-US" sz="1200" dirty="0"/>
          </a:p>
        </p:txBody>
      </p:sp>
      <p:sp>
        <p:nvSpPr>
          <p:cNvPr id="67" name="Text 65"/>
          <p:cNvSpPr/>
          <p:nvPr/>
        </p:nvSpPr>
        <p:spPr>
          <a:xfrm>
            <a:off x="7635240" y="3968496"/>
            <a:ext cx="1389888" cy="201168"/>
          </a:xfrm>
          <a:prstGeom prst="rect">
            <a:avLst/>
          </a:prstGeom>
          <a:noFill/>
          <a:ln/>
        </p:spPr>
        <p:txBody>
          <a:bodyPr wrap="square" lIns="0" tIns="0" rIns="0" bIns="0" rtlCol="0" anchor="ctr"/>
          <a:lstStyle/>
          <a:p>
            <a:pPr algn="ctr" indent="0" marL="0">
              <a:buNone/>
            </a:pPr>
            <a:r>
              <a:rPr lang="en-US" sz="850" dirty="0">
                <a:solidFill>
                  <a:srgbClr val="76DCFD"/>
                </a:solidFill>
                <a:latin typeface="Calibri" pitchFamily="34" charset="0"/>
                <a:ea typeface="Calibri" pitchFamily="34" charset="-122"/>
                <a:cs typeface="Calibri" pitchFamily="34" charset="-120"/>
              </a:rPr>
              <a:t>bundling option in Year 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Revenue Scales With Every Data Source We Add</a:t>
            </a:r>
            <a:endParaRPr lang="en-US" sz="2200" dirty="0"/>
          </a:p>
        </p:txBody>
      </p:sp>
      <p:sp>
        <p:nvSpPr>
          <p:cNvPr id="4" name="Text 2"/>
          <p:cNvSpPr/>
          <p:nvPr/>
        </p:nvSpPr>
        <p:spPr>
          <a:xfrm>
            <a:off x="365760" y="768096"/>
            <a:ext cx="8412480" cy="347472"/>
          </a:xfrm>
          <a:prstGeom prst="rect">
            <a:avLst/>
          </a:prstGeom>
          <a:noFill/>
          <a:ln/>
        </p:spPr>
        <p:txBody>
          <a:bodyPr wrap="square" lIns="0" tIns="0" rIns="0" bIns="0" rtlCol="0" anchor="ctr"/>
          <a:lstStyle/>
          <a:p>
            <a:pPr indent="0" marL="0">
              <a:buNone/>
            </a:pPr>
            <a:r>
              <a:rPr lang="en-US" sz="1200" dirty="0">
                <a:solidFill>
                  <a:srgbClr val="575A5D"/>
                </a:solidFill>
                <a:latin typeface="Calibri" pitchFamily="34" charset="0"/>
                <a:ea typeface="Calibri" pitchFamily="34" charset="-122"/>
                <a:cs typeface="Calibri" pitchFamily="34" charset="-120"/>
              </a:rPr>
              <a:t>The JH Intelligence Platform is a modular expansion engine. Each new data source (Core, Payments, Digital) unlocks new applications and deepens revenue per FI client.</a:t>
            </a:r>
            <a:endParaRPr lang="en-US" sz="1200" dirty="0"/>
          </a:p>
        </p:txBody>
      </p:sp>
      <p:sp>
        <p:nvSpPr>
          <p:cNvPr id="5" name="Text 3"/>
          <p:cNvSpPr/>
          <p:nvPr/>
        </p:nvSpPr>
        <p:spPr>
          <a:xfrm>
            <a:off x="320040" y="1188720"/>
            <a:ext cx="4480560" cy="256032"/>
          </a:xfrm>
          <a:prstGeom prst="rect">
            <a:avLst/>
          </a:prstGeom>
          <a:noFill/>
          <a:ln/>
        </p:spPr>
        <p:txBody>
          <a:bodyPr wrap="square" lIns="0" tIns="0" rIns="0" bIns="0" rtlCol="0" anchor="ctr"/>
          <a:lstStyle/>
          <a:p>
            <a:pPr indent="0" marL="0">
              <a:buNone/>
            </a:pPr>
            <a:r>
              <a:rPr lang="en-US" sz="900" b="1" spc="100" kern="0" dirty="0">
                <a:solidFill>
                  <a:srgbClr val="B6BBC0"/>
                </a:solidFill>
                <a:latin typeface="Calibri" pitchFamily="34" charset="0"/>
                <a:ea typeface="Calibri" pitchFamily="34" charset="-122"/>
                <a:cs typeface="Calibri" pitchFamily="34" charset="-120"/>
              </a:rPr>
              <a:t>MODULE</a:t>
            </a:r>
            <a:endParaRPr lang="en-US" sz="900" dirty="0"/>
          </a:p>
        </p:txBody>
      </p:sp>
      <p:sp>
        <p:nvSpPr>
          <p:cNvPr id="6" name="Text 4"/>
          <p:cNvSpPr/>
          <p:nvPr/>
        </p:nvSpPr>
        <p:spPr>
          <a:xfrm>
            <a:off x="4919472" y="1188720"/>
            <a:ext cx="1298448" cy="256032"/>
          </a:xfrm>
          <a:prstGeom prst="rect">
            <a:avLst/>
          </a:prstGeom>
          <a:noFill/>
          <a:ln/>
        </p:spPr>
        <p:txBody>
          <a:bodyPr wrap="square" lIns="0" tIns="0" rIns="0" bIns="0" rtlCol="0" anchor="ctr"/>
          <a:lstStyle/>
          <a:p>
            <a:pPr algn="ctr" indent="0" marL="0">
              <a:buNone/>
            </a:pPr>
            <a:r>
              <a:rPr lang="en-US" sz="900" b="1" spc="50" kern="0" dirty="0">
                <a:solidFill>
                  <a:srgbClr val="B6BBC0"/>
                </a:solidFill>
                <a:latin typeface="Calibri" pitchFamily="34" charset="0"/>
                <a:ea typeface="Calibri" pitchFamily="34" charset="-122"/>
                <a:cs typeface="Calibri" pitchFamily="34" charset="-120"/>
              </a:rPr>
              <a:t>ARR @ 500 FIs</a:t>
            </a:r>
            <a:endParaRPr lang="en-US" sz="900" dirty="0"/>
          </a:p>
        </p:txBody>
      </p:sp>
      <p:sp>
        <p:nvSpPr>
          <p:cNvPr id="7" name="Text 5"/>
          <p:cNvSpPr/>
          <p:nvPr/>
        </p:nvSpPr>
        <p:spPr>
          <a:xfrm>
            <a:off x="6291072" y="1188720"/>
            <a:ext cx="1371600" cy="256032"/>
          </a:xfrm>
          <a:prstGeom prst="rect">
            <a:avLst/>
          </a:prstGeom>
          <a:noFill/>
          <a:ln/>
        </p:spPr>
        <p:txBody>
          <a:bodyPr wrap="square" lIns="0" tIns="0" rIns="0" bIns="0" rtlCol="0" anchor="ctr"/>
          <a:lstStyle/>
          <a:p>
            <a:pPr algn="ctr" indent="0" marL="0">
              <a:buNone/>
            </a:pPr>
            <a:r>
              <a:rPr lang="en-US" sz="900" b="1" spc="50" kern="0" dirty="0">
                <a:solidFill>
                  <a:srgbClr val="B6BBC0"/>
                </a:solidFill>
                <a:latin typeface="Calibri" pitchFamily="34" charset="0"/>
                <a:ea typeface="Calibri" pitchFamily="34" charset="-122"/>
                <a:cs typeface="Calibri" pitchFamily="34" charset="-120"/>
              </a:rPr>
              <a:t>ARR @ 1,000 FIs</a:t>
            </a:r>
            <a:endParaRPr lang="en-US" sz="900" dirty="0"/>
          </a:p>
        </p:txBody>
      </p:sp>
      <p:sp>
        <p:nvSpPr>
          <p:cNvPr id="8" name="Text 6"/>
          <p:cNvSpPr/>
          <p:nvPr/>
        </p:nvSpPr>
        <p:spPr>
          <a:xfrm>
            <a:off x="7726680" y="1188720"/>
            <a:ext cx="1325880" cy="256032"/>
          </a:xfrm>
          <a:prstGeom prst="rect">
            <a:avLst/>
          </a:prstGeom>
          <a:noFill/>
          <a:ln/>
        </p:spPr>
        <p:txBody>
          <a:bodyPr wrap="square" lIns="0" tIns="0" rIns="0" bIns="0" rtlCol="0" anchor="ctr"/>
          <a:lstStyle/>
          <a:p>
            <a:pPr algn="ctr" indent="0" marL="0">
              <a:buNone/>
            </a:pPr>
            <a:r>
              <a:rPr lang="en-US" sz="900" b="1" spc="50" kern="0" dirty="0">
                <a:solidFill>
                  <a:srgbClr val="B6BBC0"/>
                </a:solidFill>
                <a:latin typeface="Calibri" pitchFamily="34" charset="0"/>
                <a:ea typeface="Calibri" pitchFamily="34" charset="-122"/>
                <a:cs typeface="Calibri" pitchFamily="34" charset="-120"/>
              </a:rPr>
              <a:t>ARR @ 1,660 FIs</a:t>
            </a:r>
            <a:endParaRPr lang="en-US" sz="900" dirty="0"/>
          </a:p>
        </p:txBody>
      </p:sp>
      <p:sp>
        <p:nvSpPr>
          <p:cNvPr id="9" name="Shape 7"/>
          <p:cNvSpPr/>
          <p:nvPr/>
        </p:nvSpPr>
        <p:spPr>
          <a:xfrm>
            <a:off x="320040" y="1463040"/>
            <a:ext cx="8732520" cy="713232"/>
          </a:xfrm>
          <a:prstGeom prst="rect">
            <a:avLst/>
          </a:prstGeom>
          <a:solidFill>
            <a:srgbClr val="FFFFFF"/>
          </a:solidFill>
          <a:ln w="12700">
            <a:solidFill>
              <a:srgbClr val="E7ECF0"/>
            </a:solidFill>
            <a:prstDash val="solid"/>
          </a:ln>
        </p:spPr>
      </p:sp>
      <p:sp>
        <p:nvSpPr>
          <p:cNvPr id="10" name="Shape 8"/>
          <p:cNvSpPr/>
          <p:nvPr/>
        </p:nvSpPr>
        <p:spPr>
          <a:xfrm>
            <a:off x="320040" y="1463040"/>
            <a:ext cx="91440" cy="713232"/>
          </a:xfrm>
          <a:prstGeom prst="rect">
            <a:avLst/>
          </a:prstGeom>
          <a:solidFill>
            <a:srgbClr val="085CE5"/>
          </a:solidFill>
          <a:ln w="12700">
            <a:solidFill>
              <a:srgbClr val="085CE5"/>
            </a:solidFill>
            <a:prstDash val="solid"/>
          </a:ln>
        </p:spPr>
      </p:sp>
      <p:sp>
        <p:nvSpPr>
          <p:cNvPr id="11" name="Shape 9"/>
          <p:cNvSpPr/>
          <p:nvPr/>
        </p:nvSpPr>
        <p:spPr>
          <a:xfrm>
            <a:off x="475488" y="1572768"/>
            <a:ext cx="475488" cy="182880"/>
          </a:xfrm>
          <a:prstGeom prst="rect">
            <a:avLst/>
          </a:prstGeom>
          <a:solidFill>
            <a:srgbClr val="085CE5"/>
          </a:solidFill>
          <a:ln w="12700">
            <a:solidFill>
              <a:srgbClr val="085CE5"/>
            </a:solidFill>
            <a:prstDash val="solid"/>
          </a:ln>
        </p:spPr>
      </p:sp>
      <p:sp>
        <p:nvSpPr>
          <p:cNvPr id="12" name="Text 10"/>
          <p:cNvSpPr/>
          <p:nvPr/>
        </p:nvSpPr>
        <p:spPr>
          <a:xfrm>
            <a:off x="475488" y="1572768"/>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NOW</a:t>
            </a:r>
            <a:endParaRPr lang="en-US" sz="750" dirty="0"/>
          </a:p>
        </p:txBody>
      </p:sp>
      <p:sp>
        <p:nvSpPr>
          <p:cNvPr id="13" name="Text 11"/>
          <p:cNvSpPr/>
          <p:nvPr/>
        </p:nvSpPr>
        <p:spPr>
          <a:xfrm>
            <a:off x="1024128" y="1517904"/>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Regulatory Intelligence</a:t>
            </a:r>
            <a:endParaRPr lang="en-US" sz="1100" dirty="0"/>
          </a:p>
        </p:txBody>
      </p:sp>
      <p:sp>
        <p:nvSpPr>
          <p:cNvPr id="14" name="Text 12"/>
          <p:cNvSpPr/>
          <p:nvPr/>
        </p:nvSpPr>
        <p:spPr>
          <a:xfrm>
            <a:off x="1024128" y="1746504"/>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JHA PayCenter  ·  ACH / Zelle transaction feeds</a:t>
            </a:r>
            <a:endParaRPr lang="en-US" sz="850" dirty="0"/>
          </a:p>
        </p:txBody>
      </p:sp>
      <p:sp>
        <p:nvSpPr>
          <p:cNvPr id="15" name="Text 13"/>
          <p:cNvSpPr/>
          <p:nvPr/>
        </p:nvSpPr>
        <p:spPr>
          <a:xfrm>
            <a:off x="1024128" y="1920240"/>
            <a:ext cx="3749040" cy="182880"/>
          </a:xfrm>
          <a:prstGeom prst="rect">
            <a:avLst/>
          </a:prstGeom>
          <a:noFill/>
          <a:ln/>
        </p:spPr>
        <p:txBody>
          <a:bodyPr wrap="square" lIns="0" tIns="0" rIns="0" bIns="0" rtlCol="0" anchor="ctr"/>
          <a:lstStyle/>
          <a:p>
            <a:pPr indent="0" marL="0">
              <a:buNone/>
            </a:pPr>
            <a:r>
              <a:rPr lang="en-US" sz="850" i="1" dirty="0">
                <a:solidFill>
                  <a:srgbClr val="085CE5"/>
                </a:solidFill>
                <a:latin typeface="Calibri" pitchFamily="34" charset="0"/>
                <a:ea typeface="Calibri" pitchFamily="34" charset="-122"/>
                <a:cs typeface="Calibri" pitchFamily="34" charset="-120"/>
              </a:rPr>
              <a:t>Zelle Memo Intelligence  ·  Compliance Monitoring</a:t>
            </a:r>
            <a:endParaRPr lang="en-US" sz="850" dirty="0"/>
          </a:p>
        </p:txBody>
      </p:sp>
      <p:sp>
        <p:nvSpPr>
          <p:cNvPr id="16" name="Text 14"/>
          <p:cNvSpPr/>
          <p:nvPr/>
        </p:nvSpPr>
        <p:spPr>
          <a:xfrm>
            <a:off x="4919472" y="1627632"/>
            <a:ext cx="1298448" cy="347472"/>
          </a:xfrm>
          <a:prstGeom prst="rect">
            <a:avLst/>
          </a:prstGeom>
          <a:noFill/>
          <a:ln/>
        </p:spPr>
        <p:txBody>
          <a:bodyPr wrap="square" lIns="0" tIns="0" rIns="0" bIns="0" rtlCol="0" anchor="ctr"/>
          <a:lstStyle/>
          <a:p>
            <a:pPr algn="ctr" indent="0" marL="0">
              <a:buNone/>
            </a:pPr>
            <a:r>
              <a:rPr lang="en-US" sz="1700" b="1" dirty="0">
                <a:solidFill>
                  <a:srgbClr val="085CE5"/>
                </a:solidFill>
                <a:latin typeface="Calibri" pitchFamily="34" charset="0"/>
                <a:ea typeface="Calibri" pitchFamily="34" charset="-122"/>
                <a:cs typeface="Calibri" pitchFamily="34" charset="-120"/>
              </a:rPr>
              <a:t>$4.5M</a:t>
            </a:r>
            <a:endParaRPr lang="en-US" sz="1700" dirty="0"/>
          </a:p>
        </p:txBody>
      </p:sp>
      <p:sp>
        <p:nvSpPr>
          <p:cNvPr id="17" name="Text 15"/>
          <p:cNvSpPr/>
          <p:nvPr/>
        </p:nvSpPr>
        <p:spPr>
          <a:xfrm>
            <a:off x="6291072" y="1627632"/>
            <a:ext cx="1371600" cy="347472"/>
          </a:xfrm>
          <a:prstGeom prst="rect">
            <a:avLst/>
          </a:prstGeom>
          <a:noFill/>
          <a:ln/>
        </p:spPr>
        <p:txBody>
          <a:bodyPr wrap="square" lIns="0" tIns="0" rIns="0" bIns="0" rtlCol="0" anchor="ctr"/>
          <a:lstStyle/>
          <a:p>
            <a:pPr algn="ctr" indent="0" marL="0">
              <a:buNone/>
            </a:pPr>
            <a:r>
              <a:rPr lang="en-US" sz="1700" b="1" dirty="0">
                <a:solidFill>
                  <a:srgbClr val="085CE5"/>
                </a:solidFill>
                <a:latin typeface="Calibri" pitchFamily="34" charset="0"/>
                <a:ea typeface="Calibri" pitchFamily="34" charset="-122"/>
                <a:cs typeface="Calibri" pitchFamily="34" charset="-120"/>
              </a:rPr>
              <a:t>$9M</a:t>
            </a:r>
            <a:endParaRPr lang="en-US" sz="1700" dirty="0"/>
          </a:p>
        </p:txBody>
      </p:sp>
      <p:sp>
        <p:nvSpPr>
          <p:cNvPr id="18" name="Text 16"/>
          <p:cNvSpPr/>
          <p:nvPr/>
        </p:nvSpPr>
        <p:spPr>
          <a:xfrm>
            <a:off x="7726680" y="1627632"/>
            <a:ext cx="1325880" cy="347472"/>
          </a:xfrm>
          <a:prstGeom prst="rect">
            <a:avLst/>
          </a:prstGeom>
          <a:noFill/>
          <a:ln/>
        </p:spPr>
        <p:txBody>
          <a:bodyPr wrap="square" lIns="0" tIns="0" rIns="0" bIns="0" rtlCol="0" anchor="ctr"/>
          <a:lstStyle/>
          <a:p>
            <a:pPr algn="ctr" indent="0" marL="0">
              <a:buNone/>
            </a:pPr>
            <a:r>
              <a:rPr lang="en-US" sz="1700" b="1" dirty="0">
                <a:solidFill>
                  <a:srgbClr val="085CE5"/>
                </a:solidFill>
                <a:latin typeface="Calibri" pitchFamily="34" charset="0"/>
                <a:ea typeface="Calibri" pitchFamily="34" charset="-122"/>
                <a:cs typeface="Calibri" pitchFamily="34" charset="-120"/>
              </a:rPr>
              <a:t>$15M</a:t>
            </a:r>
            <a:endParaRPr lang="en-US" sz="1700" dirty="0"/>
          </a:p>
        </p:txBody>
      </p:sp>
      <p:sp>
        <p:nvSpPr>
          <p:cNvPr id="19" name="Shape 17"/>
          <p:cNvSpPr/>
          <p:nvPr/>
        </p:nvSpPr>
        <p:spPr>
          <a:xfrm>
            <a:off x="320040" y="2231136"/>
            <a:ext cx="8732520" cy="713232"/>
          </a:xfrm>
          <a:prstGeom prst="rect">
            <a:avLst/>
          </a:prstGeom>
          <a:solidFill>
            <a:srgbClr val="E7ECF0"/>
          </a:solidFill>
          <a:ln w="12700">
            <a:solidFill>
              <a:srgbClr val="E7ECF0"/>
            </a:solidFill>
            <a:prstDash val="solid"/>
          </a:ln>
        </p:spPr>
      </p:sp>
      <p:sp>
        <p:nvSpPr>
          <p:cNvPr id="20" name="Shape 18"/>
          <p:cNvSpPr/>
          <p:nvPr/>
        </p:nvSpPr>
        <p:spPr>
          <a:xfrm>
            <a:off x="320040" y="2231136"/>
            <a:ext cx="91440" cy="713232"/>
          </a:xfrm>
          <a:prstGeom prst="rect">
            <a:avLst/>
          </a:prstGeom>
          <a:solidFill>
            <a:srgbClr val="073FA8"/>
          </a:solidFill>
          <a:ln w="12700">
            <a:solidFill>
              <a:srgbClr val="073FA8"/>
            </a:solidFill>
            <a:prstDash val="solid"/>
          </a:ln>
        </p:spPr>
      </p:sp>
      <p:sp>
        <p:nvSpPr>
          <p:cNvPr id="21" name="Shape 19"/>
          <p:cNvSpPr/>
          <p:nvPr/>
        </p:nvSpPr>
        <p:spPr>
          <a:xfrm>
            <a:off x="475488" y="2340864"/>
            <a:ext cx="475488" cy="182880"/>
          </a:xfrm>
          <a:prstGeom prst="rect">
            <a:avLst/>
          </a:prstGeom>
          <a:solidFill>
            <a:srgbClr val="073FA8"/>
          </a:solidFill>
          <a:ln w="12700">
            <a:solidFill>
              <a:srgbClr val="073FA8"/>
            </a:solidFill>
            <a:prstDash val="solid"/>
          </a:ln>
        </p:spPr>
      </p:sp>
      <p:sp>
        <p:nvSpPr>
          <p:cNvPr id="22" name="Text 20"/>
          <p:cNvSpPr/>
          <p:nvPr/>
        </p:nvSpPr>
        <p:spPr>
          <a:xfrm>
            <a:off x="475488" y="2340864"/>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NEXT</a:t>
            </a:r>
            <a:endParaRPr lang="en-US" sz="750" dirty="0"/>
          </a:p>
        </p:txBody>
      </p:sp>
      <p:sp>
        <p:nvSpPr>
          <p:cNvPr id="23" name="Text 21"/>
          <p:cNvSpPr/>
          <p:nvPr/>
        </p:nvSpPr>
        <p:spPr>
          <a:xfrm>
            <a:off x="1024128" y="2286000"/>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 Core Banking Intelligence</a:t>
            </a:r>
            <a:endParaRPr lang="en-US" sz="1100" dirty="0"/>
          </a:p>
        </p:txBody>
      </p:sp>
      <p:sp>
        <p:nvSpPr>
          <p:cNvPr id="24" name="Text 22"/>
          <p:cNvSpPr/>
          <p:nvPr/>
        </p:nvSpPr>
        <p:spPr>
          <a:xfrm>
            <a:off x="1024128" y="2514600"/>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jhaEnterprise  ·  Symitar  ·  Core Transactions</a:t>
            </a:r>
            <a:endParaRPr lang="en-US" sz="850" dirty="0"/>
          </a:p>
        </p:txBody>
      </p:sp>
      <p:sp>
        <p:nvSpPr>
          <p:cNvPr id="25" name="Text 23"/>
          <p:cNvSpPr/>
          <p:nvPr/>
        </p:nvSpPr>
        <p:spPr>
          <a:xfrm>
            <a:off x="1024128" y="2688336"/>
            <a:ext cx="3749040" cy="182880"/>
          </a:xfrm>
          <a:prstGeom prst="rect">
            <a:avLst/>
          </a:prstGeom>
          <a:noFill/>
          <a:ln/>
        </p:spPr>
        <p:txBody>
          <a:bodyPr wrap="square" lIns="0" tIns="0" rIns="0" bIns="0" rtlCol="0" anchor="ctr"/>
          <a:lstStyle/>
          <a:p>
            <a:pPr indent="0" marL="0">
              <a:buNone/>
            </a:pPr>
            <a:r>
              <a:rPr lang="en-US" sz="850" i="1" dirty="0">
                <a:solidFill>
                  <a:srgbClr val="073FA8"/>
                </a:solidFill>
                <a:latin typeface="Calibri" pitchFamily="34" charset="0"/>
                <a:ea typeface="Calibri" pitchFamily="34" charset="-122"/>
                <a:cs typeface="Calibri" pitchFamily="34" charset="-120"/>
              </a:rPr>
              <a:t>Churn Sentinel  ·  Cross-Sell Propensity</a:t>
            </a:r>
            <a:endParaRPr lang="en-US" sz="850" dirty="0"/>
          </a:p>
        </p:txBody>
      </p:sp>
      <p:sp>
        <p:nvSpPr>
          <p:cNvPr id="26" name="Text 24"/>
          <p:cNvSpPr/>
          <p:nvPr/>
        </p:nvSpPr>
        <p:spPr>
          <a:xfrm>
            <a:off x="4919472" y="2395728"/>
            <a:ext cx="1298448"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+$6M</a:t>
            </a:r>
            <a:endParaRPr lang="en-US" sz="1700" dirty="0"/>
          </a:p>
        </p:txBody>
      </p:sp>
      <p:sp>
        <p:nvSpPr>
          <p:cNvPr id="27" name="Text 25"/>
          <p:cNvSpPr/>
          <p:nvPr/>
        </p:nvSpPr>
        <p:spPr>
          <a:xfrm>
            <a:off x="6291072" y="2395728"/>
            <a:ext cx="137160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+$12M</a:t>
            </a:r>
            <a:endParaRPr lang="en-US" sz="1700" dirty="0"/>
          </a:p>
        </p:txBody>
      </p:sp>
      <p:sp>
        <p:nvSpPr>
          <p:cNvPr id="28" name="Text 26"/>
          <p:cNvSpPr/>
          <p:nvPr/>
        </p:nvSpPr>
        <p:spPr>
          <a:xfrm>
            <a:off x="7726680" y="2395728"/>
            <a:ext cx="132588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+$20M</a:t>
            </a:r>
            <a:endParaRPr lang="en-US" sz="1700" dirty="0"/>
          </a:p>
        </p:txBody>
      </p:sp>
      <p:sp>
        <p:nvSpPr>
          <p:cNvPr id="29" name="Shape 27"/>
          <p:cNvSpPr/>
          <p:nvPr/>
        </p:nvSpPr>
        <p:spPr>
          <a:xfrm>
            <a:off x="320040" y="2999232"/>
            <a:ext cx="8732520" cy="713232"/>
          </a:xfrm>
          <a:prstGeom prst="rect">
            <a:avLst/>
          </a:prstGeom>
          <a:solidFill>
            <a:srgbClr val="FFFFFF"/>
          </a:solidFill>
          <a:ln w="12700">
            <a:solidFill>
              <a:srgbClr val="E7ECF0"/>
            </a:solidFill>
            <a:prstDash val="solid"/>
          </a:ln>
        </p:spPr>
      </p:sp>
      <p:sp>
        <p:nvSpPr>
          <p:cNvPr id="30" name="Shape 28"/>
          <p:cNvSpPr/>
          <p:nvPr/>
        </p:nvSpPr>
        <p:spPr>
          <a:xfrm>
            <a:off x="320040" y="2999232"/>
            <a:ext cx="91440" cy="713232"/>
          </a:xfrm>
          <a:prstGeom prst="rect">
            <a:avLst/>
          </a:prstGeom>
          <a:solidFill>
            <a:srgbClr val="575A5D"/>
          </a:solidFill>
          <a:ln w="12700">
            <a:solidFill>
              <a:srgbClr val="575A5D"/>
            </a:solidFill>
            <a:prstDash val="solid"/>
          </a:ln>
        </p:spPr>
      </p:sp>
      <p:sp>
        <p:nvSpPr>
          <p:cNvPr id="31" name="Shape 29"/>
          <p:cNvSpPr/>
          <p:nvPr/>
        </p:nvSpPr>
        <p:spPr>
          <a:xfrm>
            <a:off x="475488" y="3108960"/>
            <a:ext cx="475488" cy="182880"/>
          </a:xfrm>
          <a:prstGeom prst="rect">
            <a:avLst/>
          </a:prstGeom>
          <a:solidFill>
            <a:srgbClr val="073FA8"/>
          </a:solidFill>
          <a:ln w="12700">
            <a:solidFill>
              <a:srgbClr val="073FA8"/>
            </a:solidFill>
            <a:prstDash val="solid"/>
          </a:ln>
        </p:spPr>
      </p:sp>
      <p:sp>
        <p:nvSpPr>
          <p:cNvPr id="32" name="Text 30"/>
          <p:cNvSpPr/>
          <p:nvPr/>
        </p:nvSpPr>
        <p:spPr>
          <a:xfrm>
            <a:off x="475488" y="3108960"/>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NEXT</a:t>
            </a:r>
            <a:endParaRPr lang="en-US" sz="750" dirty="0"/>
          </a:p>
        </p:txBody>
      </p:sp>
      <p:sp>
        <p:nvSpPr>
          <p:cNvPr id="33" name="Text 31"/>
          <p:cNvSpPr/>
          <p:nvPr/>
        </p:nvSpPr>
        <p:spPr>
          <a:xfrm>
            <a:off x="1024128" y="3054096"/>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 Payments Intelligence</a:t>
            </a:r>
            <a:endParaRPr lang="en-US" sz="1100" dirty="0"/>
          </a:p>
        </p:txBody>
      </p:sp>
      <p:sp>
        <p:nvSpPr>
          <p:cNvPr id="34" name="Text 32"/>
          <p:cNvSpPr/>
          <p:nvPr/>
        </p:nvSpPr>
        <p:spPr>
          <a:xfrm>
            <a:off x="1024128" y="3282696"/>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Zelle  ·  ACH  ·  Card  ·  Wire</a:t>
            </a:r>
            <a:endParaRPr lang="en-US" sz="850" dirty="0"/>
          </a:p>
        </p:txBody>
      </p:sp>
      <p:sp>
        <p:nvSpPr>
          <p:cNvPr id="35" name="Text 33"/>
          <p:cNvSpPr/>
          <p:nvPr/>
        </p:nvSpPr>
        <p:spPr>
          <a:xfrm>
            <a:off x="1024128" y="3456432"/>
            <a:ext cx="3749040" cy="182880"/>
          </a:xfrm>
          <a:prstGeom prst="rect">
            <a:avLst/>
          </a:prstGeom>
          <a:noFill/>
          <a:ln/>
        </p:spPr>
        <p:txBody>
          <a:bodyPr wrap="square" lIns="0" tIns="0" rIns="0" bIns="0" rtlCol="0" anchor="ctr"/>
          <a:lstStyle/>
          <a:p>
            <a:pPr indent="0" marL="0">
              <a:buNone/>
            </a:pPr>
            <a:r>
              <a:rPr lang="en-US" sz="850" i="1" dirty="0">
                <a:solidFill>
                  <a:srgbClr val="575A5D"/>
                </a:solidFill>
                <a:latin typeface="Calibri" pitchFamily="34" charset="0"/>
                <a:ea typeface="Calibri" pitchFamily="34" charset="-122"/>
                <a:cs typeface="Calibri" pitchFamily="34" charset="-120"/>
              </a:rPr>
              <a:t>Zelle Memo Intelligence  ·  Anomaly Detection  ·  Fraud Ring Detection</a:t>
            </a:r>
            <a:endParaRPr lang="en-US" sz="850" dirty="0"/>
          </a:p>
        </p:txBody>
      </p:sp>
      <p:sp>
        <p:nvSpPr>
          <p:cNvPr id="36" name="Text 34"/>
          <p:cNvSpPr/>
          <p:nvPr/>
        </p:nvSpPr>
        <p:spPr>
          <a:xfrm>
            <a:off x="4919472" y="3163824"/>
            <a:ext cx="1298448"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+$5M</a:t>
            </a:r>
            <a:endParaRPr lang="en-US" sz="1700" dirty="0"/>
          </a:p>
        </p:txBody>
      </p:sp>
      <p:sp>
        <p:nvSpPr>
          <p:cNvPr id="37" name="Text 35"/>
          <p:cNvSpPr/>
          <p:nvPr/>
        </p:nvSpPr>
        <p:spPr>
          <a:xfrm>
            <a:off x="6291072" y="3163824"/>
            <a:ext cx="137160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+$10M</a:t>
            </a:r>
            <a:endParaRPr lang="en-US" sz="1700" dirty="0"/>
          </a:p>
        </p:txBody>
      </p:sp>
      <p:sp>
        <p:nvSpPr>
          <p:cNvPr id="38" name="Text 36"/>
          <p:cNvSpPr/>
          <p:nvPr/>
        </p:nvSpPr>
        <p:spPr>
          <a:xfrm>
            <a:off x="7726680" y="3163824"/>
            <a:ext cx="132588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+$17M</a:t>
            </a:r>
            <a:endParaRPr lang="en-US" sz="1700" dirty="0"/>
          </a:p>
        </p:txBody>
      </p:sp>
      <p:sp>
        <p:nvSpPr>
          <p:cNvPr id="39" name="Shape 37"/>
          <p:cNvSpPr/>
          <p:nvPr/>
        </p:nvSpPr>
        <p:spPr>
          <a:xfrm>
            <a:off x="320040" y="3767328"/>
            <a:ext cx="8732520" cy="713232"/>
          </a:xfrm>
          <a:prstGeom prst="rect">
            <a:avLst/>
          </a:prstGeom>
          <a:solidFill>
            <a:srgbClr val="E7ECF0"/>
          </a:solidFill>
          <a:ln w="12700">
            <a:solidFill>
              <a:srgbClr val="E7ECF0"/>
            </a:solidFill>
            <a:prstDash val="solid"/>
          </a:ln>
        </p:spPr>
      </p:sp>
      <p:sp>
        <p:nvSpPr>
          <p:cNvPr id="40" name="Shape 38"/>
          <p:cNvSpPr/>
          <p:nvPr/>
        </p:nvSpPr>
        <p:spPr>
          <a:xfrm>
            <a:off x="320040" y="3767328"/>
            <a:ext cx="91440" cy="713232"/>
          </a:xfrm>
          <a:prstGeom prst="rect">
            <a:avLst/>
          </a:prstGeom>
          <a:solidFill>
            <a:srgbClr val="0B68D4"/>
          </a:solidFill>
          <a:ln w="12700">
            <a:solidFill>
              <a:srgbClr val="0B68D4"/>
            </a:solidFill>
            <a:prstDash val="solid"/>
          </a:ln>
        </p:spPr>
      </p:sp>
      <p:sp>
        <p:nvSpPr>
          <p:cNvPr id="41" name="Shape 39"/>
          <p:cNvSpPr/>
          <p:nvPr/>
        </p:nvSpPr>
        <p:spPr>
          <a:xfrm>
            <a:off x="475488" y="3877056"/>
            <a:ext cx="475488" cy="182880"/>
          </a:xfrm>
          <a:prstGeom prst="rect">
            <a:avLst/>
          </a:prstGeom>
          <a:solidFill>
            <a:srgbClr val="B6BBC0"/>
          </a:solidFill>
          <a:ln w="12700">
            <a:solidFill>
              <a:srgbClr val="B6BBC0"/>
            </a:solidFill>
            <a:prstDash val="solid"/>
          </a:ln>
        </p:spPr>
      </p:sp>
      <p:sp>
        <p:nvSpPr>
          <p:cNvPr id="42" name="Text 40"/>
          <p:cNvSpPr/>
          <p:nvPr/>
        </p:nvSpPr>
        <p:spPr>
          <a:xfrm>
            <a:off x="475488" y="3877056"/>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FUTURE</a:t>
            </a:r>
            <a:endParaRPr lang="en-US" sz="750" dirty="0"/>
          </a:p>
        </p:txBody>
      </p:sp>
      <p:sp>
        <p:nvSpPr>
          <p:cNvPr id="43" name="Text 41"/>
          <p:cNvSpPr/>
          <p:nvPr/>
        </p:nvSpPr>
        <p:spPr>
          <a:xfrm>
            <a:off x="1024128" y="3822192"/>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 Digital / Banno Intelligence</a:t>
            </a:r>
            <a:endParaRPr lang="en-US" sz="1100" dirty="0"/>
          </a:p>
        </p:txBody>
      </p:sp>
      <p:sp>
        <p:nvSpPr>
          <p:cNvPr id="44" name="Text 42"/>
          <p:cNvSpPr/>
          <p:nvPr/>
        </p:nvSpPr>
        <p:spPr>
          <a:xfrm>
            <a:off x="1024128" y="4050792"/>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Banno  ·  Digital Engagement  ·  Session Behavior</a:t>
            </a:r>
            <a:endParaRPr lang="en-US" sz="850" dirty="0"/>
          </a:p>
        </p:txBody>
      </p:sp>
      <p:sp>
        <p:nvSpPr>
          <p:cNvPr id="45" name="Text 43"/>
          <p:cNvSpPr/>
          <p:nvPr/>
        </p:nvSpPr>
        <p:spPr>
          <a:xfrm>
            <a:off x="1024128" y="4224528"/>
            <a:ext cx="3749040" cy="182880"/>
          </a:xfrm>
          <a:prstGeom prst="rect">
            <a:avLst/>
          </a:prstGeom>
          <a:noFill/>
          <a:ln/>
        </p:spPr>
        <p:txBody>
          <a:bodyPr wrap="square" lIns="0" tIns="0" rIns="0" bIns="0" rtlCol="0" anchor="ctr"/>
          <a:lstStyle/>
          <a:p>
            <a:pPr indent="0" marL="0">
              <a:buNone/>
            </a:pPr>
            <a:r>
              <a:rPr lang="en-US" sz="850" i="1" dirty="0">
                <a:solidFill>
                  <a:srgbClr val="0B68D4"/>
                </a:solidFill>
                <a:latin typeface="Calibri" pitchFamily="34" charset="0"/>
                <a:ea typeface="Calibri" pitchFamily="34" charset="-122"/>
                <a:cs typeface="Calibri" pitchFamily="34" charset="-120"/>
              </a:rPr>
              <a:t>Sentiment Engine  ·  Next Best Action  ·  Overdraft Prediction</a:t>
            </a:r>
            <a:endParaRPr lang="en-US" sz="850" dirty="0"/>
          </a:p>
        </p:txBody>
      </p:sp>
      <p:sp>
        <p:nvSpPr>
          <p:cNvPr id="46" name="Text 44"/>
          <p:cNvSpPr/>
          <p:nvPr/>
        </p:nvSpPr>
        <p:spPr>
          <a:xfrm>
            <a:off x="4919472" y="3931920"/>
            <a:ext cx="1298448"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+$4M</a:t>
            </a:r>
            <a:endParaRPr lang="en-US" sz="1700" dirty="0"/>
          </a:p>
        </p:txBody>
      </p:sp>
      <p:sp>
        <p:nvSpPr>
          <p:cNvPr id="47" name="Text 45"/>
          <p:cNvSpPr/>
          <p:nvPr/>
        </p:nvSpPr>
        <p:spPr>
          <a:xfrm>
            <a:off x="6291072" y="3931920"/>
            <a:ext cx="137160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+$8M</a:t>
            </a:r>
            <a:endParaRPr lang="en-US" sz="1700" dirty="0"/>
          </a:p>
        </p:txBody>
      </p:sp>
      <p:sp>
        <p:nvSpPr>
          <p:cNvPr id="48" name="Text 46"/>
          <p:cNvSpPr/>
          <p:nvPr/>
        </p:nvSpPr>
        <p:spPr>
          <a:xfrm>
            <a:off x="7726680" y="3931920"/>
            <a:ext cx="132588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+$13M</a:t>
            </a:r>
            <a:endParaRPr lang="en-US" sz="1700" dirty="0"/>
          </a:p>
        </p:txBody>
      </p:sp>
      <p:sp>
        <p:nvSpPr>
          <p:cNvPr id="49" name="Shape 47"/>
          <p:cNvSpPr/>
          <p:nvPr/>
        </p:nvSpPr>
        <p:spPr>
          <a:xfrm>
            <a:off x="320040" y="4535424"/>
            <a:ext cx="8732520" cy="402336"/>
          </a:xfrm>
          <a:prstGeom prst="rect">
            <a:avLst/>
          </a:prstGeom>
          <a:solidFill>
            <a:srgbClr val="06185F"/>
          </a:solidFill>
          <a:ln w="12700">
            <a:solidFill>
              <a:srgbClr val="06185F"/>
            </a:solidFill>
            <a:prstDash val="solid"/>
          </a:ln>
        </p:spPr>
      </p:sp>
      <p:sp>
        <p:nvSpPr>
          <p:cNvPr id="50" name="Text 48"/>
          <p:cNvSpPr/>
          <p:nvPr/>
        </p:nvSpPr>
        <p:spPr>
          <a:xfrm>
            <a:off x="475488" y="4562856"/>
            <a:ext cx="4297680" cy="34747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FULL PLATFORM ARR POTENTIAL</a:t>
            </a:r>
            <a:endParaRPr lang="en-US" sz="1100" dirty="0"/>
          </a:p>
        </p:txBody>
      </p:sp>
      <p:sp>
        <p:nvSpPr>
          <p:cNvPr id="51" name="Text 49"/>
          <p:cNvSpPr/>
          <p:nvPr/>
        </p:nvSpPr>
        <p:spPr>
          <a:xfrm>
            <a:off x="4919472" y="4562856"/>
            <a:ext cx="1298448" cy="347472"/>
          </a:xfrm>
          <a:prstGeom prst="rect">
            <a:avLst/>
          </a:prstGeom>
          <a:noFill/>
          <a:ln/>
        </p:spPr>
        <p:txBody>
          <a:bodyPr wrap="square" lIns="0" tIns="0" rIns="0" bIns="0" rtlCol="0" anchor="ctr"/>
          <a:lstStyle/>
          <a:p>
            <a:pPr algn="ctr" indent="0" marL="0">
              <a:buNone/>
            </a:pPr>
            <a:r>
              <a:rPr lang="en-US" sz="1400" b="1" dirty="0">
                <a:solidFill>
                  <a:srgbClr val="76DCFD"/>
                </a:solidFill>
                <a:latin typeface="Calibri" pitchFamily="34" charset="0"/>
                <a:ea typeface="Calibri" pitchFamily="34" charset="-122"/>
                <a:cs typeface="Calibri" pitchFamily="34" charset="-120"/>
              </a:rPr>
              <a:t>$19.5M</a:t>
            </a:r>
            <a:endParaRPr lang="en-US" sz="1400" dirty="0"/>
          </a:p>
        </p:txBody>
      </p:sp>
      <p:sp>
        <p:nvSpPr>
          <p:cNvPr id="52" name="Text 50"/>
          <p:cNvSpPr/>
          <p:nvPr/>
        </p:nvSpPr>
        <p:spPr>
          <a:xfrm>
            <a:off x="6291072" y="4562856"/>
            <a:ext cx="1371600" cy="347472"/>
          </a:xfrm>
          <a:prstGeom prst="rect">
            <a:avLst/>
          </a:prstGeom>
          <a:noFill/>
          <a:ln/>
        </p:spPr>
        <p:txBody>
          <a:bodyPr wrap="square" lIns="0" tIns="0" rIns="0" bIns="0" rtlCol="0" anchor="ctr"/>
          <a:lstStyle/>
          <a:p>
            <a:pPr algn="ctr" indent="0" marL="0">
              <a:buNone/>
            </a:pPr>
            <a:r>
              <a:rPr lang="en-US" sz="1400" b="1" dirty="0">
                <a:solidFill>
                  <a:srgbClr val="76DCFD"/>
                </a:solidFill>
                <a:latin typeface="Calibri" pitchFamily="34" charset="0"/>
                <a:ea typeface="Calibri" pitchFamily="34" charset="-122"/>
                <a:cs typeface="Calibri" pitchFamily="34" charset="-120"/>
              </a:rPr>
              <a:t>$39M</a:t>
            </a:r>
            <a:endParaRPr lang="en-US" sz="1400" dirty="0"/>
          </a:p>
        </p:txBody>
      </p:sp>
      <p:sp>
        <p:nvSpPr>
          <p:cNvPr id="53" name="Text 51"/>
          <p:cNvSpPr/>
          <p:nvPr/>
        </p:nvSpPr>
        <p:spPr>
          <a:xfrm>
            <a:off x="7726680" y="4562856"/>
            <a:ext cx="1325880" cy="347472"/>
          </a:xfrm>
          <a:prstGeom prst="rect">
            <a:avLst/>
          </a:prstGeom>
          <a:noFill/>
          <a:ln/>
        </p:spPr>
        <p:txBody>
          <a:bodyPr wrap="square" lIns="0" tIns="0" rIns="0" bIns="0" rtlCol="0" anchor="ctr"/>
          <a:lstStyle/>
          <a:p>
            <a:pPr algn="ctr" indent="0" marL="0">
              <a:buNone/>
            </a:pPr>
            <a:r>
              <a:rPr lang="en-US" sz="1400" b="1" dirty="0">
                <a:solidFill>
                  <a:srgbClr val="76DCFD"/>
                </a:solidFill>
                <a:latin typeface="Calibri" pitchFamily="34" charset="0"/>
                <a:ea typeface="Calibri" pitchFamily="34" charset="-122"/>
                <a:cs typeface="Calibri" pitchFamily="34" charset="-120"/>
              </a:rPr>
              <a:t>$65M+</a:t>
            </a:r>
            <a:endParaRPr lang="en-US" sz="1400" dirty="0"/>
          </a:p>
        </p:txBody>
      </p:sp>
      <p:sp>
        <p:nvSpPr>
          <p:cNvPr id="54" name="Text 52"/>
          <p:cNvSpPr/>
          <p:nvPr/>
        </p:nvSpPr>
        <p:spPr>
          <a:xfrm>
            <a:off x="365760" y="4974336"/>
            <a:ext cx="8412480" cy="164592"/>
          </a:xfrm>
          <a:prstGeom prst="rect">
            <a:avLst/>
          </a:prstGeom>
          <a:noFill/>
          <a:ln/>
        </p:spPr>
        <p:txBody>
          <a:bodyPr wrap="square" lIns="0" tIns="0" rIns="0" bIns="0" rtlCol="0" anchor="ctr"/>
          <a:lstStyle/>
          <a:p>
            <a:pPr indent="0" marL="0">
              <a:buNone/>
            </a:pPr>
            <a:r>
              <a:rPr lang="en-US" sz="800" i="1" dirty="0">
                <a:solidFill>
                  <a:srgbClr val="B6BBC0"/>
                </a:solidFill>
                <a:latin typeface="Calibri" pitchFamily="34" charset="0"/>
                <a:ea typeface="Calibri" pitchFamily="34" charset="-122"/>
                <a:cs typeface="Calibri" pitchFamily="34" charset="-120"/>
              </a:rPr>
              <a:t>ARR estimates based on avg. subscription value across tiers. Columns reflect 30%, 60%, and 100% penetration of JH's 1,660 core FI clients (940 banks + 720 CUs). Source: JH 10-K FY2024.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Horizon Pipeline — Phase 2 &amp; Year 2 Platform Opportunities</a:t>
            </a:r>
            <a:endParaRPr lang="en-US" sz="2000" dirty="0"/>
          </a:p>
        </p:txBody>
      </p:sp>
      <p:sp>
        <p:nvSpPr>
          <p:cNvPr id="4" name="Shape 2"/>
          <p:cNvSpPr/>
          <p:nvPr/>
        </p:nvSpPr>
        <p:spPr>
          <a:xfrm>
            <a:off x="128016" y="786384"/>
            <a:ext cx="2798064"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128016" y="786384"/>
            <a:ext cx="2798064" cy="73152"/>
          </a:xfrm>
          <a:prstGeom prst="rect">
            <a:avLst/>
          </a:prstGeom>
          <a:solidFill>
            <a:srgbClr val="085CE5"/>
          </a:solidFill>
          <a:ln w="12700">
            <a:solidFill>
              <a:srgbClr val="085CE5"/>
            </a:solidFill>
            <a:prstDash val="solid"/>
          </a:ln>
        </p:spPr>
      </p:sp>
      <p:sp>
        <p:nvSpPr>
          <p:cNvPr id="6" name="Shape 4"/>
          <p:cNvSpPr/>
          <p:nvPr/>
        </p:nvSpPr>
        <p:spPr>
          <a:xfrm>
            <a:off x="2322576" y="914400"/>
            <a:ext cx="548640" cy="182880"/>
          </a:xfrm>
          <a:prstGeom prst="rect">
            <a:avLst/>
          </a:prstGeom>
          <a:solidFill>
            <a:srgbClr val="085CE5"/>
          </a:solidFill>
          <a:ln w="12700">
            <a:solidFill>
              <a:srgbClr val="085CE5"/>
            </a:solidFill>
            <a:prstDash val="solid"/>
          </a:ln>
        </p:spPr>
      </p:sp>
      <p:sp>
        <p:nvSpPr>
          <p:cNvPr id="7" name="Text 5"/>
          <p:cNvSpPr/>
          <p:nvPr/>
        </p:nvSpPr>
        <p:spPr>
          <a:xfrm>
            <a:off x="2322576" y="914400"/>
            <a:ext cx="548640" cy="182880"/>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Year 2</a:t>
            </a:r>
            <a:endParaRPr lang="en-US" sz="650" dirty="0"/>
          </a:p>
        </p:txBody>
      </p:sp>
      <p:pic>
        <p:nvPicPr>
          <p:cNvPr id="8" name="Image 0" descr="preencoded.png">    </p:cNvPr>
          <p:cNvPicPr>
            <a:picLocks noChangeAspect="1"/>
          </p:cNvPicPr>
          <p:nvPr/>
        </p:nvPicPr>
        <p:blipFill>
          <a:blip r:embed="rId1"/>
          <a:stretch>
            <a:fillRect/>
          </a:stretch>
        </p:blipFill>
        <p:spPr>
          <a:xfrm>
            <a:off x="256032" y="969264"/>
            <a:ext cx="310896" cy="310896"/>
          </a:xfrm>
          <a:prstGeom prst="rect">
            <a:avLst/>
          </a:prstGeom>
        </p:spPr>
      </p:pic>
      <p:sp>
        <p:nvSpPr>
          <p:cNvPr id="9" name="Text 6"/>
          <p:cNvSpPr/>
          <p:nvPr/>
        </p:nvSpPr>
        <p:spPr>
          <a:xfrm>
            <a:off x="621792" y="914400"/>
            <a:ext cx="1645920" cy="4023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Cross-Sell Propensity</a:t>
            </a:r>
            <a:endParaRPr lang="en-US" sz="950" dirty="0"/>
          </a:p>
        </p:txBody>
      </p:sp>
      <p:sp>
        <p:nvSpPr>
          <p:cNvPr id="10" name="Text 7"/>
          <p:cNvSpPr/>
          <p:nvPr/>
        </p:nvSpPr>
        <p:spPr>
          <a:xfrm>
            <a:off x="237744" y="1389888"/>
            <a:ext cx="2578608" cy="1225296"/>
          </a:xfrm>
          <a:prstGeom prst="rect">
            <a:avLst/>
          </a:prstGeom>
          <a:noFill/>
          <a:ln/>
        </p:spPr>
        <p:txBody>
          <a:bodyPr wrap="square" lIns="0" tIns="0" rIns="0" bIns="0" rtlCol="0" anchor="ctr"/>
          <a:lstStyle/>
          <a:p>
            <a:pPr indent="0" marL="0">
              <a:buNone/>
            </a:pPr>
            <a:r>
              <a:rPr lang="en-US" sz="900" dirty="0">
                <a:solidFill>
                  <a:srgbClr val="575A5D"/>
                </a:solidFill>
                <a:latin typeface="Calibri" pitchFamily="34" charset="0"/>
                <a:ea typeface="Calibri" pitchFamily="34" charset="-122"/>
                <a:cs typeface="Calibri" pitchFamily="34" charset="-120"/>
              </a:rPr>
              <a:t>ML model scoring each FI customer's likelihood to open savings, CDs, credit cards, or mortgage — enabling timed, personalized offers embedded in Banno.</a:t>
            </a:r>
            <a:endParaRPr lang="en-US" sz="900" dirty="0"/>
          </a:p>
        </p:txBody>
      </p:sp>
      <p:sp>
        <p:nvSpPr>
          <p:cNvPr id="11" name="Shape 8"/>
          <p:cNvSpPr/>
          <p:nvPr/>
        </p:nvSpPr>
        <p:spPr>
          <a:xfrm>
            <a:off x="3072384" y="786384"/>
            <a:ext cx="2798064"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2" name="Shape 9"/>
          <p:cNvSpPr/>
          <p:nvPr/>
        </p:nvSpPr>
        <p:spPr>
          <a:xfrm>
            <a:off x="3072384" y="786384"/>
            <a:ext cx="2798064" cy="73152"/>
          </a:xfrm>
          <a:prstGeom prst="rect">
            <a:avLst/>
          </a:prstGeom>
          <a:solidFill>
            <a:srgbClr val="06185F"/>
          </a:solidFill>
          <a:ln w="12700">
            <a:solidFill>
              <a:srgbClr val="06185F"/>
            </a:solidFill>
            <a:prstDash val="solid"/>
          </a:ln>
        </p:spPr>
      </p:sp>
      <p:sp>
        <p:nvSpPr>
          <p:cNvPr id="13" name="Shape 10"/>
          <p:cNvSpPr/>
          <p:nvPr/>
        </p:nvSpPr>
        <p:spPr>
          <a:xfrm>
            <a:off x="5266944" y="914400"/>
            <a:ext cx="548640" cy="182880"/>
          </a:xfrm>
          <a:prstGeom prst="rect">
            <a:avLst/>
          </a:prstGeom>
          <a:solidFill>
            <a:srgbClr val="06185F"/>
          </a:solidFill>
          <a:ln w="12700">
            <a:solidFill>
              <a:srgbClr val="06185F"/>
            </a:solidFill>
            <a:prstDash val="solid"/>
          </a:ln>
        </p:spPr>
      </p:sp>
      <p:sp>
        <p:nvSpPr>
          <p:cNvPr id="14" name="Text 11"/>
          <p:cNvSpPr/>
          <p:nvPr/>
        </p:nvSpPr>
        <p:spPr>
          <a:xfrm>
            <a:off x="5266944" y="914400"/>
            <a:ext cx="548640" cy="182880"/>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Year 2</a:t>
            </a:r>
            <a:endParaRPr lang="en-US" sz="650" dirty="0"/>
          </a:p>
        </p:txBody>
      </p:sp>
      <p:pic>
        <p:nvPicPr>
          <p:cNvPr id="15" name="Image 1" descr="preencoded.png">    </p:cNvPr>
          <p:cNvPicPr>
            <a:picLocks noChangeAspect="1"/>
          </p:cNvPicPr>
          <p:nvPr/>
        </p:nvPicPr>
        <p:blipFill>
          <a:blip r:embed="rId2"/>
          <a:stretch>
            <a:fillRect/>
          </a:stretch>
        </p:blipFill>
        <p:spPr>
          <a:xfrm>
            <a:off x="3200400" y="969264"/>
            <a:ext cx="310896" cy="310896"/>
          </a:xfrm>
          <a:prstGeom prst="rect">
            <a:avLst/>
          </a:prstGeom>
        </p:spPr>
      </p:pic>
      <p:sp>
        <p:nvSpPr>
          <p:cNvPr id="16" name="Text 12"/>
          <p:cNvSpPr/>
          <p:nvPr/>
        </p:nvSpPr>
        <p:spPr>
          <a:xfrm>
            <a:off x="3566160" y="914400"/>
            <a:ext cx="1645920" cy="4023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Fraud Ring Detection</a:t>
            </a:r>
            <a:endParaRPr lang="en-US" sz="950" dirty="0"/>
          </a:p>
        </p:txBody>
      </p:sp>
      <p:sp>
        <p:nvSpPr>
          <p:cNvPr id="17" name="Text 13"/>
          <p:cNvSpPr/>
          <p:nvPr/>
        </p:nvSpPr>
        <p:spPr>
          <a:xfrm>
            <a:off x="3182112" y="1389888"/>
            <a:ext cx="2578608" cy="1225296"/>
          </a:xfrm>
          <a:prstGeom prst="rect">
            <a:avLst/>
          </a:prstGeom>
          <a:noFill/>
          <a:ln/>
        </p:spPr>
        <p:txBody>
          <a:bodyPr wrap="square" lIns="0" tIns="0" rIns="0" bIns="0" rtlCol="0" anchor="ctr"/>
          <a:lstStyle/>
          <a:p>
            <a:pPr indent="0" marL="0">
              <a:buNone/>
            </a:pPr>
            <a:r>
              <a:rPr lang="en-US" sz="900" dirty="0">
                <a:solidFill>
                  <a:srgbClr val="575A5D"/>
                </a:solidFill>
                <a:latin typeface="Calibri" pitchFamily="34" charset="0"/>
                <a:ea typeface="Calibri" pitchFamily="34" charset="-122"/>
                <a:cs typeface="Calibri" pitchFamily="34" charset="-120"/>
              </a:rPr>
              <a:t>Graph-based ML to identify coordinated fraud across linked accounts, shared devices, and IP clusters — across the entire JH network for cross-institution signals.</a:t>
            </a:r>
            <a:endParaRPr lang="en-US" sz="900" dirty="0"/>
          </a:p>
        </p:txBody>
      </p:sp>
      <p:sp>
        <p:nvSpPr>
          <p:cNvPr id="18" name="Shape 14"/>
          <p:cNvSpPr/>
          <p:nvPr/>
        </p:nvSpPr>
        <p:spPr>
          <a:xfrm>
            <a:off x="6016752" y="786384"/>
            <a:ext cx="2798064"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9" name="Shape 15"/>
          <p:cNvSpPr/>
          <p:nvPr/>
        </p:nvSpPr>
        <p:spPr>
          <a:xfrm>
            <a:off x="6016752" y="786384"/>
            <a:ext cx="2798064" cy="73152"/>
          </a:xfrm>
          <a:prstGeom prst="rect">
            <a:avLst/>
          </a:prstGeom>
          <a:solidFill>
            <a:srgbClr val="073FA8"/>
          </a:solidFill>
          <a:ln w="12700">
            <a:solidFill>
              <a:srgbClr val="073FA8"/>
            </a:solidFill>
            <a:prstDash val="solid"/>
          </a:ln>
        </p:spPr>
      </p:sp>
      <p:sp>
        <p:nvSpPr>
          <p:cNvPr id="20" name="Shape 16"/>
          <p:cNvSpPr/>
          <p:nvPr/>
        </p:nvSpPr>
        <p:spPr>
          <a:xfrm>
            <a:off x="8211312" y="914400"/>
            <a:ext cx="548640" cy="182880"/>
          </a:xfrm>
          <a:prstGeom prst="rect">
            <a:avLst/>
          </a:prstGeom>
          <a:solidFill>
            <a:srgbClr val="073FA8"/>
          </a:solidFill>
          <a:ln w="12700">
            <a:solidFill>
              <a:srgbClr val="073FA8"/>
            </a:solidFill>
            <a:prstDash val="solid"/>
          </a:ln>
        </p:spPr>
      </p:sp>
      <p:sp>
        <p:nvSpPr>
          <p:cNvPr id="21" name="Text 17"/>
          <p:cNvSpPr/>
          <p:nvPr/>
        </p:nvSpPr>
        <p:spPr>
          <a:xfrm>
            <a:off x="8211312" y="914400"/>
            <a:ext cx="548640" cy="182880"/>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Year 2</a:t>
            </a:r>
            <a:endParaRPr lang="en-US" sz="650" dirty="0"/>
          </a:p>
        </p:txBody>
      </p:sp>
      <p:pic>
        <p:nvPicPr>
          <p:cNvPr id="22" name="Image 2" descr="preencoded.png">    </p:cNvPr>
          <p:cNvPicPr>
            <a:picLocks noChangeAspect="1"/>
          </p:cNvPicPr>
          <p:nvPr/>
        </p:nvPicPr>
        <p:blipFill>
          <a:blip r:embed="rId3"/>
          <a:stretch>
            <a:fillRect/>
          </a:stretch>
        </p:blipFill>
        <p:spPr>
          <a:xfrm>
            <a:off x="6144768" y="969264"/>
            <a:ext cx="310896" cy="310896"/>
          </a:xfrm>
          <a:prstGeom prst="rect">
            <a:avLst/>
          </a:prstGeom>
        </p:spPr>
      </p:pic>
      <p:sp>
        <p:nvSpPr>
          <p:cNvPr id="23" name="Text 18"/>
          <p:cNvSpPr/>
          <p:nvPr/>
        </p:nvSpPr>
        <p:spPr>
          <a:xfrm>
            <a:off x="6510528" y="914400"/>
            <a:ext cx="1645920" cy="4023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Deposit Runoff Forecasting</a:t>
            </a:r>
            <a:endParaRPr lang="en-US" sz="950" dirty="0"/>
          </a:p>
        </p:txBody>
      </p:sp>
      <p:sp>
        <p:nvSpPr>
          <p:cNvPr id="24" name="Text 19"/>
          <p:cNvSpPr/>
          <p:nvPr/>
        </p:nvSpPr>
        <p:spPr>
          <a:xfrm>
            <a:off x="6126480" y="1389888"/>
            <a:ext cx="2578608" cy="1225296"/>
          </a:xfrm>
          <a:prstGeom prst="rect">
            <a:avLst/>
          </a:prstGeom>
          <a:noFill/>
          <a:ln/>
        </p:spPr>
        <p:txBody>
          <a:bodyPr wrap="square" lIns="0" tIns="0" rIns="0" bIns="0" rtlCol="0" anchor="ctr"/>
          <a:lstStyle/>
          <a:p>
            <a:pPr indent="0" marL="0">
              <a:buNone/>
            </a:pPr>
            <a:r>
              <a:rPr lang="en-US" sz="900" dirty="0">
                <a:solidFill>
                  <a:srgbClr val="575A5D"/>
                </a:solidFill>
                <a:latin typeface="Calibri" pitchFamily="34" charset="0"/>
                <a:ea typeface="Calibri" pitchFamily="34" charset="-122"/>
                <a:cs typeface="Calibri" pitchFamily="34" charset="-120"/>
              </a:rPr>
              <a:t>Portfolio-level deposit attrition prediction to support FI clients' ALM, liquidity stress testing, and treasury planning with 90-day forward visibility.</a:t>
            </a:r>
            <a:endParaRPr lang="en-US" sz="900" dirty="0"/>
          </a:p>
        </p:txBody>
      </p:sp>
      <p:sp>
        <p:nvSpPr>
          <p:cNvPr id="25" name="Shape 20"/>
          <p:cNvSpPr/>
          <p:nvPr/>
        </p:nvSpPr>
        <p:spPr>
          <a:xfrm>
            <a:off x="128016" y="2889504"/>
            <a:ext cx="2798064"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6" name="Shape 21"/>
          <p:cNvSpPr/>
          <p:nvPr/>
        </p:nvSpPr>
        <p:spPr>
          <a:xfrm>
            <a:off x="128016" y="2889504"/>
            <a:ext cx="2798064" cy="73152"/>
          </a:xfrm>
          <a:prstGeom prst="rect">
            <a:avLst/>
          </a:prstGeom>
          <a:solidFill>
            <a:srgbClr val="575A5D"/>
          </a:solidFill>
          <a:ln w="12700">
            <a:solidFill>
              <a:srgbClr val="575A5D"/>
            </a:solidFill>
            <a:prstDash val="solid"/>
          </a:ln>
        </p:spPr>
      </p:sp>
      <p:sp>
        <p:nvSpPr>
          <p:cNvPr id="27" name="Shape 22"/>
          <p:cNvSpPr/>
          <p:nvPr/>
        </p:nvSpPr>
        <p:spPr>
          <a:xfrm>
            <a:off x="2322576" y="3017520"/>
            <a:ext cx="548640" cy="182880"/>
          </a:xfrm>
          <a:prstGeom prst="rect">
            <a:avLst/>
          </a:prstGeom>
          <a:solidFill>
            <a:srgbClr val="575A5D"/>
          </a:solidFill>
          <a:ln w="12700">
            <a:solidFill>
              <a:srgbClr val="575A5D"/>
            </a:solidFill>
            <a:prstDash val="solid"/>
          </a:ln>
        </p:spPr>
      </p:sp>
      <p:sp>
        <p:nvSpPr>
          <p:cNvPr id="28" name="Text 23"/>
          <p:cNvSpPr/>
          <p:nvPr/>
        </p:nvSpPr>
        <p:spPr>
          <a:xfrm>
            <a:off x="2322576" y="3017520"/>
            <a:ext cx="548640" cy="182880"/>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Year 2</a:t>
            </a:r>
            <a:endParaRPr lang="en-US" sz="650" dirty="0"/>
          </a:p>
        </p:txBody>
      </p:sp>
      <p:pic>
        <p:nvPicPr>
          <p:cNvPr id="29" name="Image 3" descr="preencoded.png">    </p:cNvPr>
          <p:cNvPicPr>
            <a:picLocks noChangeAspect="1"/>
          </p:cNvPicPr>
          <p:nvPr/>
        </p:nvPicPr>
        <p:blipFill>
          <a:blip r:embed="rId4"/>
          <a:stretch>
            <a:fillRect/>
          </a:stretch>
        </p:blipFill>
        <p:spPr>
          <a:xfrm>
            <a:off x="256032" y="3072384"/>
            <a:ext cx="310896" cy="310896"/>
          </a:xfrm>
          <a:prstGeom prst="rect">
            <a:avLst/>
          </a:prstGeom>
        </p:spPr>
      </p:pic>
      <p:sp>
        <p:nvSpPr>
          <p:cNvPr id="30" name="Text 24"/>
          <p:cNvSpPr/>
          <p:nvPr/>
        </p:nvSpPr>
        <p:spPr>
          <a:xfrm>
            <a:off x="621792" y="3017520"/>
            <a:ext cx="1645920" cy="4023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Overdraft Prediction</a:t>
            </a:r>
            <a:endParaRPr lang="en-US" sz="950" dirty="0"/>
          </a:p>
        </p:txBody>
      </p:sp>
      <p:sp>
        <p:nvSpPr>
          <p:cNvPr id="31" name="Text 25"/>
          <p:cNvSpPr/>
          <p:nvPr/>
        </p:nvSpPr>
        <p:spPr>
          <a:xfrm>
            <a:off x="237744" y="3493008"/>
            <a:ext cx="2578608" cy="1225296"/>
          </a:xfrm>
          <a:prstGeom prst="rect">
            <a:avLst/>
          </a:prstGeom>
          <a:noFill/>
          <a:ln/>
        </p:spPr>
        <p:txBody>
          <a:bodyPr wrap="square" lIns="0" tIns="0" rIns="0" bIns="0" rtlCol="0" anchor="ctr"/>
          <a:lstStyle/>
          <a:p>
            <a:pPr indent="0" marL="0">
              <a:buNone/>
            </a:pPr>
            <a:r>
              <a:rPr lang="en-US" sz="900" dirty="0">
                <a:solidFill>
                  <a:srgbClr val="575A5D"/>
                </a:solidFill>
                <a:latin typeface="Calibri" pitchFamily="34" charset="0"/>
                <a:ea typeface="Calibri" pitchFamily="34" charset="-122"/>
                <a:cs typeface="Calibri" pitchFamily="34" charset="-120"/>
              </a:rPr>
              <a:t>Anticipate overdraft events before they occur and surface proactive micro-loan offers or alerts in Banno — improving CX while reducing NSF fee risk for FIs.</a:t>
            </a:r>
            <a:endParaRPr lang="en-US" sz="900" dirty="0"/>
          </a:p>
        </p:txBody>
      </p:sp>
      <p:sp>
        <p:nvSpPr>
          <p:cNvPr id="32" name="Shape 26"/>
          <p:cNvSpPr/>
          <p:nvPr/>
        </p:nvSpPr>
        <p:spPr>
          <a:xfrm>
            <a:off x="3072384" y="2889504"/>
            <a:ext cx="2798064"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33" name="Shape 27"/>
          <p:cNvSpPr/>
          <p:nvPr/>
        </p:nvSpPr>
        <p:spPr>
          <a:xfrm>
            <a:off x="3072384" y="2889504"/>
            <a:ext cx="2798064" cy="73152"/>
          </a:xfrm>
          <a:prstGeom prst="rect">
            <a:avLst/>
          </a:prstGeom>
          <a:solidFill>
            <a:srgbClr val="0B68D4"/>
          </a:solidFill>
          <a:ln w="12700">
            <a:solidFill>
              <a:srgbClr val="0B68D4"/>
            </a:solidFill>
            <a:prstDash val="solid"/>
          </a:ln>
        </p:spPr>
      </p:sp>
      <p:sp>
        <p:nvSpPr>
          <p:cNvPr id="34" name="Shape 28"/>
          <p:cNvSpPr/>
          <p:nvPr/>
        </p:nvSpPr>
        <p:spPr>
          <a:xfrm>
            <a:off x="5266944" y="3017520"/>
            <a:ext cx="548640" cy="182880"/>
          </a:xfrm>
          <a:prstGeom prst="rect">
            <a:avLst/>
          </a:prstGeom>
          <a:solidFill>
            <a:srgbClr val="0B68D4"/>
          </a:solidFill>
          <a:ln w="12700">
            <a:solidFill>
              <a:srgbClr val="0B68D4"/>
            </a:solidFill>
            <a:prstDash val="solid"/>
          </a:ln>
        </p:spPr>
      </p:sp>
      <p:sp>
        <p:nvSpPr>
          <p:cNvPr id="35" name="Text 29"/>
          <p:cNvSpPr/>
          <p:nvPr/>
        </p:nvSpPr>
        <p:spPr>
          <a:xfrm>
            <a:off x="5266944" y="3017520"/>
            <a:ext cx="548640" cy="182880"/>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Year 2</a:t>
            </a:r>
            <a:endParaRPr lang="en-US" sz="650" dirty="0"/>
          </a:p>
        </p:txBody>
      </p:sp>
      <p:pic>
        <p:nvPicPr>
          <p:cNvPr id="36" name="Image 4" descr="preencoded.png">    </p:cNvPr>
          <p:cNvPicPr>
            <a:picLocks noChangeAspect="1"/>
          </p:cNvPicPr>
          <p:nvPr/>
        </p:nvPicPr>
        <p:blipFill>
          <a:blip r:embed="rId5"/>
          <a:stretch>
            <a:fillRect/>
          </a:stretch>
        </p:blipFill>
        <p:spPr>
          <a:xfrm>
            <a:off x="3200400" y="3072384"/>
            <a:ext cx="310896" cy="310896"/>
          </a:xfrm>
          <a:prstGeom prst="rect">
            <a:avLst/>
          </a:prstGeom>
        </p:spPr>
      </p:pic>
      <p:sp>
        <p:nvSpPr>
          <p:cNvPr id="37" name="Text 30"/>
          <p:cNvSpPr/>
          <p:nvPr/>
        </p:nvSpPr>
        <p:spPr>
          <a:xfrm>
            <a:off x="3566160" y="3017520"/>
            <a:ext cx="1645920" cy="4023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Customer Sentiment Engine</a:t>
            </a:r>
            <a:endParaRPr lang="en-US" sz="950" dirty="0"/>
          </a:p>
        </p:txBody>
      </p:sp>
      <p:sp>
        <p:nvSpPr>
          <p:cNvPr id="38" name="Text 31"/>
          <p:cNvSpPr/>
          <p:nvPr/>
        </p:nvSpPr>
        <p:spPr>
          <a:xfrm>
            <a:off x="3182112" y="3493008"/>
            <a:ext cx="2578608" cy="1225296"/>
          </a:xfrm>
          <a:prstGeom prst="rect">
            <a:avLst/>
          </a:prstGeom>
          <a:noFill/>
          <a:ln/>
        </p:spPr>
        <p:txBody>
          <a:bodyPr wrap="square" lIns="0" tIns="0" rIns="0" bIns="0" rtlCol="0" anchor="ctr"/>
          <a:lstStyle/>
          <a:p>
            <a:pPr indent="0" marL="0">
              <a:buNone/>
            </a:pPr>
            <a:r>
              <a:rPr lang="en-US" sz="900" dirty="0">
                <a:solidFill>
                  <a:srgbClr val="575A5D"/>
                </a:solidFill>
                <a:latin typeface="Calibri" pitchFamily="34" charset="0"/>
                <a:ea typeface="Calibri" pitchFamily="34" charset="-122"/>
                <a:cs typeface="Calibri" pitchFamily="34" charset="-120"/>
              </a:rPr>
              <a:t>NLP analysis of call transcripts and CFPB complaints to generate real-time CX health scores — helping FIs identify and route at-risk relationships before escalation.</a:t>
            </a:r>
            <a:endParaRPr lang="en-US" sz="900" dirty="0"/>
          </a:p>
        </p:txBody>
      </p:sp>
      <p:sp>
        <p:nvSpPr>
          <p:cNvPr id="39" name="Shape 32"/>
          <p:cNvSpPr/>
          <p:nvPr/>
        </p:nvSpPr>
        <p:spPr>
          <a:xfrm>
            <a:off x="6016752" y="2889504"/>
            <a:ext cx="2798064"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40" name="Shape 33"/>
          <p:cNvSpPr/>
          <p:nvPr/>
        </p:nvSpPr>
        <p:spPr>
          <a:xfrm>
            <a:off x="6016752" y="2889504"/>
            <a:ext cx="2798064" cy="73152"/>
          </a:xfrm>
          <a:prstGeom prst="rect">
            <a:avLst/>
          </a:prstGeom>
          <a:solidFill>
            <a:srgbClr val="0D2E7A"/>
          </a:solidFill>
          <a:ln w="12700">
            <a:solidFill>
              <a:srgbClr val="0D2E7A"/>
            </a:solidFill>
            <a:prstDash val="solid"/>
          </a:ln>
        </p:spPr>
      </p:sp>
      <p:sp>
        <p:nvSpPr>
          <p:cNvPr id="41" name="Shape 34"/>
          <p:cNvSpPr/>
          <p:nvPr/>
        </p:nvSpPr>
        <p:spPr>
          <a:xfrm>
            <a:off x="8211312" y="3017520"/>
            <a:ext cx="548640" cy="182880"/>
          </a:xfrm>
          <a:prstGeom prst="rect">
            <a:avLst/>
          </a:prstGeom>
          <a:solidFill>
            <a:srgbClr val="0D2E7A"/>
          </a:solidFill>
          <a:ln w="12700">
            <a:solidFill>
              <a:srgbClr val="0D2E7A"/>
            </a:solidFill>
            <a:prstDash val="solid"/>
          </a:ln>
        </p:spPr>
      </p:sp>
      <p:sp>
        <p:nvSpPr>
          <p:cNvPr id="42" name="Text 35"/>
          <p:cNvSpPr/>
          <p:nvPr/>
        </p:nvSpPr>
        <p:spPr>
          <a:xfrm>
            <a:off x="8211312" y="3017520"/>
            <a:ext cx="548640" cy="182880"/>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Year 2</a:t>
            </a:r>
            <a:endParaRPr lang="en-US" sz="650" dirty="0"/>
          </a:p>
        </p:txBody>
      </p:sp>
      <p:pic>
        <p:nvPicPr>
          <p:cNvPr id="43" name="Image 5" descr="preencoded.png">    </p:cNvPr>
          <p:cNvPicPr>
            <a:picLocks noChangeAspect="1"/>
          </p:cNvPicPr>
          <p:nvPr/>
        </p:nvPicPr>
        <p:blipFill>
          <a:blip r:embed="rId6"/>
          <a:stretch>
            <a:fillRect/>
          </a:stretch>
        </p:blipFill>
        <p:spPr>
          <a:xfrm>
            <a:off x="6144768" y="3072384"/>
            <a:ext cx="310896" cy="310896"/>
          </a:xfrm>
          <a:prstGeom prst="rect">
            <a:avLst/>
          </a:prstGeom>
        </p:spPr>
      </p:pic>
      <p:sp>
        <p:nvSpPr>
          <p:cNvPr id="44" name="Text 36"/>
          <p:cNvSpPr/>
          <p:nvPr/>
        </p:nvSpPr>
        <p:spPr>
          <a:xfrm>
            <a:off x="6510528" y="3017520"/>
            <a:ext cx="1645920" cy="4023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Next Best Action Platform</a:t>
            </a:r>
            <a:endParaRPr lang="en-US" sz="950" dirty="0"/>
          </a:p>
        </p:txBody>
      </p:sp>
      <p:sp>
        <p:nvSpPr>
          <p:cNvPr id="45" name="Text 37"/>
          <p:cNvSpPr/>
          <p:nvPr/>
        </p:nvSpPr>
        <p:spPr>
          <a:xfrm>
            <a:off x="6126480" y="3493008"/>
            <a:ext cx="2578608" cy="1225296"/>
          </a:xfrm>
          <a:prstGeom prst="rect">
            <a:avLst/>
          </a:prstGeom>
          <a:noFill/>
          <a:ln/>
        </p:spPr>
        <p:txBody>
          <a:bodyPr wrap="square" lIns="0" tIns="0" rIns="0" bIns="0" rtlCol="0" anchor="ctr"/>
          <a:lstStyle/>
          <a:p>
            <a:pPr indent="0" marL="0">
              <a:buNone/>
            </a:pPr>
            <a:r>
              <a:rPr lang="en-US" sz="900" dirty="0">
                <a:solidFill>
                  <a:srgbClr val="575A5D"/>
                </a:solidFill>
                <a:latin typeface="Calibri" pitchFamily="34" charset="0"/>
                <a:ea typeface="Calibri" pitchFamily="34" charset="-122"/>
                <a:cs typeface="Calibri" pitchFamily="34" charset="-120"/>
              </a:rPr>
              <a:t>Unified orchestration engine synthesizing all model outputs — churn score, LTV, propensity, sentiment — into a single ranked recommendation per customer per channel.</a:t>
            </a:r>
            <a:endParaRPr lang="en-US" sz="900" dirty="0"/>
          </a:p>
        </p:txBody>
      </p:sp>
      <p:sp>
        <p:nvSpPr>
          <p:cNvPr id="46" name="Text 38"/>
          <p:cNvSpPr/>
          <p:nvPr/>
        </p:nvSpPr>
        <p:spPr>
          <a:xfrm>
            <a:off x="365760" y="4773168"/>
            <a:ext cx="8412480" cy="256032"/>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Year 2 opportunities contingent on Phase 1 &amp; Phase 2 delivery and continued investment approval.</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Four Investment Pillars — What We Are Building</a:t>
            </a:r>
            <a:endParaRPr lang="en-US" sz="2200" dirty="0"/>
          </a:p>
        </p:txBody>
      </p:sp>
      <p:sp>
        <p:nvSpPr>
          <p:cNvPr id="4" name="Shape 2"/>
          <p:cNvSpPr/>
          <p:nvPr/>
        </p:nvSpPr>
        <p:spPr>
          <a:xfrm>
            <a:off x="256032"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256032" y="749808"/>
            <a:ext cx="2048256" cy="475488"/>
          </a:xfrm>
          <a:prstGeom prst="rect">
            <a:avLst/>
          </a:prstGeom>
          <a:solidFill>
            <a:srgbClr val="085CE5"/>
          </a:solidFill>
          <a:ln w="12700">
            <a:solidFill>
              <a:srgbClr val="085CE5"/>
            </a:solidFill>
            <a:prstDash val="solid"/>
          </a:ln>
        </p:spPr>
      </p:sp>
      <p:pic>
        <p:nvPicPr>
          <p:cNvPr id="6" name="Image 0" descr="preencoded.png">    </p:cNvPr>
          <p:cNvPicPr>
            <a:picLocks noChangeAspect="1"/>
          </p:cNvPicPr>
          <p:nvPr/>
        </p:nvPicPr>
        <p:blipFill>
          <a:blip r:embed="rId1"/>
          <a:stretch>
            <a:fillRect/>
          </a:stretch>
        </p:blipFill>
        <p:spPr>
          <a:xfrm>
            <a:off x="1078992" y="795528"/>
            <a:ext cx="384048" cy="384048"/>
          </a:xfrm>
          <a:prstGeom prst="rect">
            <a:avLst/>
          </a:prstGeom>
        </p:spPr>
      </p:pic>
      <p:sp>
        <p:nvSpPr>
          <p:cNvPr id="7" name="Text 4"/>
          <p:cNvSpPr/>
          <p:nvPr/>
        </p:nvSpPr>
        <p:spPr>
          <a:xfrm>
            <a:off x="310896"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085CE5"/>
                </a:solidFill>
                <a:latin typeface="Calibri" pitchFamily="34" charset="0"/>
                <a:ea typeface="Calibri" pitchFamily="34" charset="-122"/>
                <a:cs typeface="Calibri" pitchFamily="34" charset="-120"/>
              </a:rPr>
              <a:t>THE FOUNDATION</a:t>
            </a:r>
            <a:endParaRPr lang="en-US" sz="750" dirty="0"/>
          </a:p>
        </p:txBody>
      </p:sp>
      <p:sp>
        <p:nvSpPr>
          <p:cNvPr id="8" name="Text 5"/>
          <p:cNvSpPr/>
          <p:nvPr/>
        </p:nvSpPr>
        <p:spPr>
          <a:xfrm>
            <a:off x="310896"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Data Acquisition</a:t>
            </a:r>
            <a:endParaRPr lang="en-US" sz="1350" dirty="0"/>
          </a:p>
        </p:txBody>
      </p:sp>
      <p:sp>
        <p:nvSpPr>
          <p:cNvPr id="9" name="Shape 6"/>
          <p:cNvSpPr/>
          <p:nvPr/>
        </p:nvSpPr>
        <p:spPr>
          <a:xfrm>
            <a:off x="758952" y="1975104"/>
            <a:ext cx="1024128" cy="36576"/>
          </a:xfrm>
          <a:prstGeom prst="rect">
            <a:avLst/>
          </a:prstGeom>
          <a:solidFill>
            <a:srgbClr val="E7ECF0"/>
          </a:solidFill>
          <a:ln w="12700">
            <a:solidFill>
              <a:srgbClr val="E7ECF0"/>
            </a:solidFill>
            <a:prstDash val="solid"/>
          </a:ln>
        </p:spPr>
      </p:sp>
      <p:sp>
        <p:nvSpPr>
          <p:cNvPr id="10" name="Text 7"/>
          <p:cNvSpPr/>
          <p:nvPr/>
        </p:nvSpPr>
        <p:spPr>
          <a:xfrm>
            <a:off x="347472"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FI behavioral data pipelines from JH core systems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Real-time streaming infrastructure (Kafka / event bus)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Data quality monitoring &amp; lineage tracking</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Enterprise data catalog and governance framework</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Aggregated cross-FI benchmarking data (anonymized)</a:t>
            </a:r>
            <a:endParaRPr lang="en-US" sz="950" dirty="0"/>
          </a:p>
        </p:txBody>
      </p:sp>
      <p:sp>
        <p:nvSpPr>
          <p:cNvPr id="11" name="Shape 8"/>
          <p:cNvSpPr/>
          <p:nvPr/>
        </p:nvSpPr>
        <p:spPr>
          <a:xfrm>
            <a:off x="2432304"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2" name="Shape 9"/>
          <p:cNvSpPr/>
          <p:nvPr/>
        </p:nvSpPr>
        <p:spPr>
          <a:xfrm>
            <a:off x="2432304" y="749808"/>
            <a:ext cx="2048256" cy="475488"/>
          </a:xfrm>
          <a:prstGeom prst="rect">
            <a:avLst/>
          </a:prstGeom>
          <a:solidFill>
            <a:srgbClr val="073FA8"/>
          </a:solidFill>
          <a:ln w="12700">
            <a:solidFill>
              <a:srgbClr val="073FA8"/>
            </a:solidFill>
            <a:prstDash val="solid"/>
          </a:ln>
        </p:spPr>
      </p:sp>
      <p:pic>
        <p:nvPicPr>
          <p:cNvPr id="13" name="Image 1" descr="preencoded.png">    </p:cNvPr>
          <p:cNvPicPr>
            <a:picLocks noChangeAspect="1"/>
          </p:cNvPicPr>
          <p:nvPr/>
        </p:nvPicPr>
        <p:blipFill>
          <a:blip r:embed="rId2"/>
          <a:stretch>
            <a:fillRect/>
          </a:stretch>
        </p:blipFill>
        <p:spPr>
          <a:xfrm>
            <a:off x="3255264" y="795528"/>
            <a:ext cx="384048" cy="384048"/>
          </a:xfrm>
          <a:prstGeom prst="rect">
            <a:avLst/>
          </a:prstGeom>
        </p:spPr>
      </p:pic>
      <p:sp>
        <p:nvSpPr>
          <p:cNvPr id="14" name="Text 10"/>
          <p:cNvSpPr/>
          <p:nvPr/>
        </p:nvSpPr>
        <p:spPr>
          <a:xfrm>
            <a:off x="2487168"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073FA8"/>
                </a:solidFill>
                <a:latin typeface="Calibri" pitchFamily="34" charset="0"/>
                <a:ea typeface="Calibri" pitchFamily="34" charset="-122"/>
                <a:cs typeface="Calibri" pitchFamily="34" charset="-120"/>
              </a:rPr>
              <a:t>THE ENGINE</a:t>
            </a:r>
            <a:endParaRPr lang="en-US" sz="750" dirty="0"/>
          </a:p>
        </p:txBody>
      </p:sp>
      <p:sp>
        <p:nvSpPr>
          <p:cNvPr id="15" name="Text 11"/>
          <p:cNvSpPr/>
          <p:nvPr/>
        </p:nvSpPr>
        <p:spPr>
          <a:xfrm>
            <a:off x="2487168"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DS Buildout</a:t>
            </a:r>
            <a:endParaRPr lang="en-US" sz="1350" dirty="0"/>
          </a:p>
        </p:txBody>
      </p:sp>
      <p:sp>
        <p:nvSpPr>
          <p:cNvPr id="16" name="Shape 12"/>
          <p:cNvSpPr/>
          <p:nvPr/>
        </p:nvSpPr>
        <p:spPr>
          <a:xfrm>
            <a:off x="2935224" y="1975104"/>
            <a:ext cx="1024128" cy="36576"/>
          </a:xfrm>
          <a:prstGeom prst="rect">
            <a:avLst/>
          </a:prstGeom>
          <a:solidFill>
            <a:srgbClr val="E7ECF0"/>
          </a:solidFill>
          <a:ln w="12700">
            <a:solidFill>
              <a:srgbClr val="E7ECF0"/>
            </a:solidFill>
            <a:prstDash val="solid"/>
          </a:ln>
        </p:spPr>
      </p:sp>
      <p:sp>
        <p:nvSpPr>
          <p:cNvPr id="17" name="Text 13"/>
          <p:cNvSpPr/>
          <p:nvPr/>
        </p:nvSpPr>
        <p:spPr>
          <a:xfrm>
            <a:off x="2523744"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ML platform: feature store + experiment tracking</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AutoGluon, CatBoost, XGBoost model training at scale</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SHAP explainability layer across all deployed models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MLOps: CI/CD, model registry, drift monitoring</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Model governance, bias review, and model card process</a:t>
            </a:r>
            <a:endParaRPr lang="en-US" sz="950" dirty="0"/>
          </a:p>
        </p:txBody>
      </p:sp>
      <p:sp>
        <p:nvSpPr>
          <p:cNvPr id="18" name="Shape 14"/>
          <p:cNvSpPr/>
          <p:nvPr/>
        </p:nvSpPr>
        <p:spPr>
          <a:xfrm>
            <a:off x="4608576"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9" name="Shape 15"/>
          <p:cNvSpPr/>
          <p:nvPr/>
        </p:nvSpPr>
        <p:spPr>
          <a:xfrm>
            <a:off x="4608576" y="749808"/>
            <a:ext cx="2048256" cy="475488"/>
          </a:xfrm>
          <a:prstGeom prst="rect">
            <a:avLst/>
          </a:prstGeom>
          <a:solidFill>
            <a:srgbClr val="0D2E7A"/>
          </a:solidFill>
          <a:ln w="12700">
            <a:solidFill>
              <a:srgbClr val="0D2E7A"/>
            </a:solidFill>
            <a:prstDash val="solid"/>
          </a:ln>
        </p:spPr>
      </p:sp>
      <p:pic>
        <p:nvPicPr>
          <p:cNvPr id="20" name="Image 2" descr="preencoded.png">    </p:cNvPr>
          <p:cNvPicPr>
            <a:picLocks noChangeAspect="1"/>
          </p:cNvPicPr>
          <p:nvPr/>
        </p:nvPicPr>
        <p:blipFill>
          <a:blip r:embed="rId3"/>
          <a:stretch>
            <a:fillRect/>
          </a:stretch>
        </p:blipFill>
        <p:spPr>
          <a:xfrm>
            <a:off x="5431536" y="795528"/>
            <a:ext cx="384048" cy="384048"/>
          </a:xfrm>
          <a:prstGeom prst="rect">
            <a:avLst/>
          </a:prstGeom>
        </p:spPr>
      </p:pic>
      <p:sp>
        <p:nvSpPr>
          <p:cNvPr id="21" name="Text 16"/>
          <p:cNvSpPr/>
          <p:nvPr/>
        </p:nvSpPr>
        <p:spPr>
          <a:xfrm>
            <a:off x="4663440"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0D2E7A"/>
                </a:solidFill>
                <a:latin typeface="Calibri" pitchFamily="34" charset="0"/>
                <a:ea typeface="Calibri" pitchFamily="34" charset="-122"/>
                <a:cs typeface="Calibri" pitchFamily="34" charset="-120"/>
              </a:rPr>
              <a:t>THE LENS</a:t>
            </a:r>
            <a:endParaRPr lang="en-US" sz="750" dirty="0"/>
          </a:p>
        </p:txBody>
      </p:sp>
      <p:sp>
        <p:nvSpPr>
          <p:cNvPr id="22" name="Text 17"/>
          <p:cNvSpPr/>
          <p:nvPr/>
        </p:nvSpPr>
        <p:spPr>
          <a:xfrm>
            <a:off x="4663440"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Visualizations</a:t>
            </a:r>
            <a:endParaRPr lang="en-US" sz="1350" dirty="0"/>
          </a:p>
        </p:txBody>
      </p:sp>
      <p:sp>
        <p:nvSpPr>
          <p:cNvPr id="23" name="Shape 18"/>
          <p:cNvSpPr/>
          <p:nvPr/>
        </p:nvSpPr>
        <p:spPr>
          <a:xfrm>
            <a:off x="5111496" y="1975104"/>
            <a:ext cx="1024128" cy="36576"/>
          </a:xfrm>
          <a:prstGeom prst="rect">
            <a:avLst/>
          </a:prstGeom>
          <a:solidFill>
            <a:srgbClr val="E7ECF0"/>
          </a:solidFill>
          <a:ln w="12700">
            <a:solidFill>
              <a:srgbClr val="E7ECF0"/>
            </a:solidFill>
            <a:prstDash val="solid"/>
          </a:ln>
        </p:spPr>
      </p:sp>
      <p:sp>
        <p:nvSpPr>
          <p:cNvPr id="24" name="Text 19"/>
          <p:cNvSpPr/>
          <p:nvPr/>
        </p:nvSpPr>
        <p:spPr>
          <a:xfrm>
            <a:off x="4700016"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Executive KPI dashboards embedded in JH platform</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Model performance and drift monitoring views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FI client-facing risk score explorer (banker tool)</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Anomaly alert investigation and triage interface</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Self-serve analytics surface for business stakeholders</a:t>
            </a:r>
            <a:endParaRPr lang="en-US" sz="950" dirty="0"/>
          </a:p>
        </p:txBody>
      </p:sp>
      <p:sp>
        <p:nvSpPr>
          <p:cNvPr id="25" name="Shape 20"/>
          <p:cNvSpPr/>
          <p:nvPr/>
        </p:nvSpPr>
        <p:spPr>
          <a:xfrm>
            <a:off x="6784848"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6" name="Shape 21"/>
          <p:cNvSpPr/>
          <p:nvPr/>
        </p:nvSpPr>
        <p:spPr>
          <a:xfrm>
            <a:off x="6784848" y="749808"/>
            <a:ext cx="2048256" cy="475488"/>
          </a:xfrm>
          <a:prstGeom prst="rect">
            <a:avLst/>
          </a:prstGeom>
          <a:solidFill>
            <a:srgbClr val="575A5D"/>
          </a:solidFill>
          <a:ln w="12700">
            <a:solidFill>
              <a:srgbClr val="575A5D"/>
            </a:solidFill>
            <a:prstDash val="solid"/>
          </a:ln>
        </p:spPr>
      </p:sp>
      <p:pic>
        <p:nvPicPr>
          <p:cNvPr id="27" name="Image 3" descr="preencoded.png">    </p:cNvPr>
          <p:cNvPicPr>
            <a:picLocks noChangeAspect="1"/>
          </p:cNvPicPr>
          <p:nvPr/>
        </p:nvPicPr>
        <p:blipFill>
          <a:blip r:embed="rId4"/>
          <a:stretch>
            <a:fillRect/>
          </a:stretch>
        </p:blipFill>
        <p:spPr>
          <a:xfrm>
            <a:off x="7607808" y="795528"/>
            <a:ext cx="384048" cy="384048"/>
          </a:xfrm>
          <a:prstGeom prst="rect">
            <a:avLst/>
          </a:prstGeom>
        </p:spPr>
      </p:pic>
      <p:sp>
        <p:nvSpPr>
          <p:cNvPr id="28" name="Text 22"/>
          <p:cNvSpPr/>
          <p:nvPr/>
        </p:nvSpPr>
        <p:spPr>
          <a:xfrm>
            <a:off x="6839712"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575A5D"/>
                </a:solidFill>
                <a:latin typeface="Calibri" pitchFamily="34" charset="0"/>
                <a:ea typeface="Calibri" pitchFamily="34" charset="-122"/>
                <a:cs typeface="Calibri" pitchFamily="34" charset="-120"/>
              </a:rPr>
              <a:t>THE INTERFACE</a:t>
            </a:r>
            <a:endParaRPr lang="en-US" sz="750" dirty="0"/>
          </a:p>
        </p:txBody>
      </p:sp>
      <p:sp>
        <p:nvSpPr>
          <p:cNvPr id="29" name="Text 23"/>
          <p:cNvSpPr/>
          <p:nvPr/>
        </p:nvSpPr>
        <p:spPr>
          <a:xfrm>
            <a:off x="6839712"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App / API Development</a:t>
            </a:r>
            <a:endParaRPr lang="en-US" sz="1350" dirty="0"/>
          </a:p>
        </p:txBody>
      </p:sp>
      <p:sp>
        <p:nvSpPr>
          <p:cNvPr id="30" name="Shape 24"/>
          <p:cNvSpPr/>
          <p:nvPr/>
        </p:nvSpPr>
        <p:spPr>
          <a:xfrm>
            <a:off x="7287768" y="1975104"/>
            <a:ext cx="1024128" cy="36576"/>
          </a:xfrm>
          <a:prstGeom prst="rect">
            <a:avLst/>
          </a:prstGeom>
          <a:solidFill>
            <a:srgbClr val="E7ECF0"/>
          </a:solidFill>
          <a:ln w="12700">
            <a:solidFill>
              <a:srgbClr val="E7ECF0"/>
            </a:solidFill>
            <a:prstDash val="solid"/>
          </a:ln>
        </p:spPr>
      </p:sp>
      <p:sp>
        <p:nvSpPr>
          <p:cNvPr id="31" name="Text 25"/>
          <p:cNvSpPr/>
          <p:nvPr/>
        </p:nvSpPr>
        <p:spPr>
          <a:xfrm>
            <a:off x="6876288"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Lightweight internal AI apps embedded in JH ecosystem</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REST APIs distributing model scores to JH products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Banno + JH Enterprise integration for score consumption</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Alerting and workflow orchestration service layer</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Role-based access control and full audit logging</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What We're Asking For: JHBI Investment</a:t>
            </a:r>
            <a:endParaRPr lang="en-US" sz="2200" dirty="0"/>
          </a:p>
        </p:txBody>
      </p:sp>
      <p:sp>
        <p:nvSpPr>
          <p:cNvPr id="4" name="Text 2"/>
          <p:cNvSpPr/>
          <p:nvPr/>
        </p:nvSpPr>
        <p:spPr>
          <a:xfrm>
            <a:off x="365760" y="768096"/>
            <a:ext cx="8412480" cy="347472"/>
          </a:xfrm>
          <a:prstGeom prst="rect">
            <a:avLst/>
          </a:prstGeom>
          <a:noFill/>
          <a:ln/>
        </p:spPr>
        <p:txBody>
          <a:bodyPr wrap="square" lIns="0" tIns="0" rIns="0" bIns="0" rtlCol="0" anchor="ctr"/>
          <a:lstStyle/>
          <a:p>
            <a:pPr indent="0" marL="0">
              <a:buNone/>
            </a:pPr>
            <a:r>
              <a:rPr lang="en-US" sz="1250" dirty="0">
                <a:solidFill>
                  <a:srgbClr val="575A5D"/>
                </a:solidFill>
                <a:latin typeface="Calibri" pitchFamily="34" charset="0"/>
                <a:ea typeface="Calibri" pitchFamily="34" charset="-122"/>
                <a:cs typeface="Calibri" pitchFamily="34" charset="-120"/>
              </a:rPr>
              <a:t>To execute this roadmap and embed AI capabilities across the JH platform, we are requesting the following headcount and infrastructure investment:</a:t>
            </a:r>
            <a:endParaRPr lang="en-US" sz="12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170432"/>
          <a:ext cx="8412480" cy="914400"/>
        </p:xfrm>
        <a:graphic>
          <a:graphicData uri="http://schemas.openxmlformats.org/drawingml/2006/table">
            <a:tbl>
              <a:tblPr/>
              <a:tblGrid>
                <a:gridCol w="2148840"/>
                <a:gridCol w="841248"/>
                <a:gridCol w="1627632"/>
                <a:gridCol w="3794760"/>
              </a:tblGrid>
              <a:tr h="37490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FTEs</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Pillar</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Rationale</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Data Engineer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Data Acquisition</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Build and maintain FI data pipelines from JH core banking systems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ML Engineer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DS Buildout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Model training, MLOps pipeline, feature store, drift monitoring</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Applied Data Scientist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DS Buildout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Feature engineering, SHAP explainability, model research and validation</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Full-Stack / API Developer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App / API Dev</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JH platform AI app development and model API integration layer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BI / Viz Developer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Visualizations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Embedded analytics surfaces in JH platform and client-facing dashboards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DS Product Manager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All Pillars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Roadmap ownership, FI client discovery, stakeholder alignment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50" b="1" dirty="0">
                          <a:solidFill>
                            <a:srgbClr val="575A5D"/>
                          </a:solidFill>
                          <a:latin typeface="Calibri" pitchFamily="34" charset="0"/>
                          <a:ea typeface="Calibri" pitchFamily="34" charset="-122"/>
                          <a:cs typeface="Calibri" pitchFamily="34" charset="-120"/>
                        </a:rPr>
                        <a:t>TOTAL</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c>
                  <a:txBody>
                    <a:bodyPr/>
                    <a:lstStyle/>
                    <a:p>
                      <a:pPr algn="ctr" indent="0" marL="0">
                        <a:buNone/>
                      </a:pPr>
                      <a:r>
                        <a:rPr lang="en-US" sz="1200" b="1" dirty="0">
                          <a:solidFill>
                            <a:srgbClr val="06185F"/>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c>
                  <a:txBody>
                    <a:bodyPr/>
                    <a:lstStyle/>
                    <a:p>
                      <a:pPr indent="0" marL="0">
                        <a:buNone/>
                      </a:pP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c>
                  <a:txBody>
                    <a:bodyPr/>
                    <a:lstStyle/>
                    <a:p>
                      <a:pPr indent="0" marL="0">
                        <a:buNone/>
                      </a:pPr>
                      <a:r>
                        <a:rPr lang="en-US" sz="1050" i="1" dirty="0">
                          <a:solidFill>
                            <a:srgbClr val="B6BBC0"/>
                          </a:solidFill>
                          <a:latin typeface="Calibri" pitchFamily="34" charset="0"/>
                          <a:ea typeface="Calibri" pitchFamily="34" charset="-122"/>
                          <a:cs typeface="Calibri" pitchFamily="34" charset="-120"/>
                        </a:rPr>
                        <a:t>Full-time equivalents across all four investment pillars</a:t>
                      </a:r>
                      <a:endParaRPr lang="en-US" sz="10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r>
            </a:tbl>
          </a:graphicData>
        </a:graphic>
      </p:graphicFrame>
      <p:sp>
        <p:nvSpPr>
          <p:cNvPr id="6" name="Shape 3"/>
          <p:cNvSpPr/>
          <p:nvPr/>
        </p:nvSpPr>
        <p:spPr>
          <a:xfrm>
            <a:off x="365760" y="4617720"/>
            <a:ext cx="8412480" cy="402336"/>
          </a:xfrm>
          <a:prstGeom prst="rect">
            <a:avLst/>
          </a:prstGeom>
          <a:solidFill>
            <a:srgbClr val="E8F7F7"/>
          </a:solidFill>
          <a:ln w="12700">
            <a:solidFill>
              <a:srgbClr val="085CE5"/>
            </a:solidFill>
            <a:prstDash val="solid"/>
          </a:ln>
        </p:spPr>
      </p:sp>
      <p:sp>
        <p:nvSpPr>
          <p:cNvPr id="7" name="Text 4"/>
          <p:cNvSpPr/>
          <p:nvPr/>
        </p:nvSpPr>
        <p:spPr>
          <a:xfrm>
            <a:off x="502920" y="4645152"/>
            <a:ext cx="8138160" cy="347472"/>
          </a:xfrm>
          <a:prstGeom prst="rect">
            <a:avLst/>
          </a:prstGeom>
          <a:noFill/>
          <a:ln/>
        </p:spPr>
        <p:txBody>
          <a:bodyPr wrap="square" lIns="0" tIns="0" rIns="0" bIns="0" rtlCol="0" anchor="ctr"/>
          <a:lstStyle/>
          <a:p>
            <a:pPr indent="0" marL="0">
              <a:buNone/>
            </a:pPr>
            <a:r>
              <a:rPr lang="en-US" sz="1050" dirty="0">
                <a:solidFill>
                  <a:srgbClr val="06185F"/>
                </a:solidFill>
                <a:latin typeface="Calibri" pitchFamily="34" charset="0"/>
                <a:ea typeface="Calibri" pitchFamily="34" charset="-122"/>
                <a:cs typeface="Calibri" pitchFamily="34" charset="-120"/>
              </a:rPr>
              <a:t>Infrastructure ask (separate from headcount): Cloud data platform (Snowflake / Databricks), ML tooling (MLflow / SageMaker), BI licensing (Tableau / Power BI), DevOps / CI-CD environment.</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Data Source Ingestion Roadmap — Payments First, Core &amp; Digital Next</a:t>
            </a:r>
            <a:endParaRPr lang="en-US" sz="2000" dirty="0"/>
          </a:p>
        </p:txBody>
      </p:sp>
      <p:sp>
        <p:nvSpPr>
          <p:cNvPr id="4" name="Text 2"/>
          <p:cNvSpPr/>
          <p:nvPr/>
        </p:nvSpPr>
        <p:spPr>
          <a:xfrm>
            <a:off x="365760" y="713232"/>
            <a:ext cx="8412480" cy="256032"/>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Phase 1 activates all JH payment rails (CPS excluded). Core banking, Banno digital, and lending data follow in Phase 2–3 once the pipeline is proven.</a:t>
            </a:r>
            <a:endParaRPr lang="en-US" sz="1000" dirty="0"/>
          </a:p>
        </p:txBody>
      </p:sp>
      <p:sp>
        <p:nvSpPr>
          <p:cNvPr id="5" name="Shape 3"/>
          <p:cNvSpPr/>
          <p:nvPr/>
        </p:nvSpPr>
        <p:spPr>
          <a:xfrm>
            <a:off x="2468880" y="1133856"/>
            <a:ext cx="1577340" cy="237744"/>
          </a:xfrm>
          <a:prstGeom prst="rect">
            <a:avLst/>
          </a:prstGeom>
          <a:solidFill>
            <a:srgbClr val="085CE5"/>
          </a:solidFill>
          <a:ln w="12700">
            <a:solidFill>
              <a:srgbClr val="085CE5"/>
            </a:solidFill>
            <a:prstDash val="solid"/>
          </a:ln>
        </p:spPr>
      </p:sp>
      <p:sp>
        <p:nvSpPr>
          <p:cNvPr id="6" name="Text 4"/>
          <p:cNvSpPr/>
          <p:nvPr/>
        </p:nvSpPr>
        <p:spPr>
          <a:xfrm>
            <a:off x="2514600" y="1133856"/>
            <a:ext cx="1485900"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1 — All Payment Rails  (Q3–Q4 FY26)</a:t>
            </a:r>
            <a:endParaRPr lang="en-US" sz="750" dirty="0"/>
          </a:p>
        </p:txBody>
      </p:sp>
      <p:sp>
        <p:nvSpPr>
          <p:cNvPr id="7" name="Shape 5"/>
          <p:cNvSpPr/>
          <p:nvPr/>
        </p:nvSpPr>
        <p:spPr>
          <a:xfrm>
            <a:off x="4046220" y="1133856"/>
            <a:ext cx="1577340" cy="237744"/>
          </a:xfrm>
          <a:prstGeom prst="rect">
            <a:avLst/>
          </a:prstGeom>
          <a:solidFill>
            <a:srgbClr val="073FA8"/>
          </a:solidFill>
          <a:ln w="12700">
            <a:solidFill>
              <a:srgbClr val="073FA8"/>
            </a:solidFill>
            <a:prstDash val="solid"/>
          </a:ln>
        </p:spPr>
      </p:sp>
      <p:sp>
        <p:nvSpPr>
          <p:cNvPr id="8" name="Text 6"/>
          <p:cNvSpPr/>
          <p:nvPr/>
        </p:nvSpPr>
        <p:spPr>
          <a:xfrm>
            <a:off x="4091940" y="1133856"/>
            <a:ext cx="1485900"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2 — Core Banking  (Q1–Q2 FY27)</a:t>
            </a:r>
            <a:endParaRPr lang="en-US" sz="750" dirty="0"/>
          </a:p>
        </p:txBody>
      </p:sp>
      <p:sp>
        <p:nvSpPr>
          <p:cNvPr id="9" name="Shape 7"/>
          <p:cNvSpPr/>
          <p:nvPr/>
        </p:nvSpPr>
        <p:spPr>
          <a:xfrm>
            <a:off x="5623560" y="1133856"/>
            <a:ext cx="3154680" cy="237744"/>
          </a:xfrm>
          <a:prstGeom prst="rect">
            <a:avLst/>
          </a:prstGeom>
          <a:solidFill>
            <a:srgbClr val="575A5D"/>
          </a:solidFill>
          <a:ln w="12700">
            <a:solidFill>
              <a:srgbClr val="575A5D"/>
            </a:solidFill>
            <a:prstDash val="solid"/>
          </a:ln>
        </p:spPr>
      </p:sp>
      <p:sp>
        <p:nvSpPr>
          <p:cNvPr id="10" name="Text 8"/>
          <p:cNvSpPr/>
          <p:nvPr/>
        </p:nvSpPr>
        <p:spPr>
          <a:xfrm>
            <a:off x="5669280" y="1133856"/>
            <a:ext cx="3063240"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3 — Digital &amp; Lending  (Q3 FY27+)</a:t>
            </a:r>
            <a:endParaRPr lang="en-US" sz="750" dirty="0"/>
          </a:p>
        </p:txBody>
      </p:sp>
      <p:sp>
        <p:nvSpPr>
          <p:cNvPr id="11" name="Shape 9"/>
          <p:cNvSpPr/>
          <p:nvPr/>
        </p:nvSpPr>
        <p:spPr>
          <a:xfrm>
            <a:off x="2468880" y="1389888"/>
            <a:ext cx="6309360" cy="256032"/>
          </a:xfrm>
          <a:prstGeom prst="rect">
            <a:avLst/>
          </a:prstGeom>
          <a:solidFill>
            <a:srgbClr val="E7ECF0"/>
          </a:solidFill>
          <a:ln w="12700">
            <a:solidFill>
              <a:srgbClr val="E7ECF0"/>
            </a:solidFill>
            <a:prstDash val="solid"/>
          </a:ln>
        </p:spPr>
      </p:sp>
      <p:sp>
        <p:nvSpPr>
          <p:cNvPr id="12" name="Shape 10"/>
          <p:cNvSpPr/>
          <p:nvPr/>
        </p:nvSpPr>
        <p:spPr>
          <a:xfrm>
            <a:off x="2468880" y="1664208"/>
            <a:ext cx="788670" cy="3456432"/>
          </a:xfrm>
          <a:prstGeom prst="rect">
            <a:avLst/>
          </a:prstGeom>
          <a:solidFill>
            <a:srgbClr val="F4F6F8"/>
          </a:solidFill>
          <a:ln w="12700">
            <a:solidFill>
              <a:srgbClr val="F4F6F8"/>
            </a:solidFill>
            <a:prstDash val="solid"/>
          </a:ln>
        </p:spPr>
      </p:sp>
      <p:sp>
        <p:nvSpPr>
          <p:cNvPr id="13" name="Text 11"/>
          <p:cNvSpPr/>
          <p:nvPr/>
        </p:nvSpPr>
        <p:spPr>
          <a:xfrm>
            <a:off x="246888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Q3 FY26</a:t>
            </a:r>
            <a:endParaRPr lang="en-US" sz="750" dirty="0"/>
          </a:p>
        </p:txBody>
      </p:sp>
      <p:sp>
        <p:nvSpPr>
          <p:cNvPr id="14" name="Shape 12"/>
          <p:cNvSpPr/>
          <p:nvPr/>
        </p:nvSpPr>
        <p:spPr>
          <a:xfrm>
            <a:off x="2468880" y="1133856"/>
            <a:ext cx="13716" cy="3986784"/>
          </a:xfrm>
          <a:prstGeom prst="rect">
            <a:avLst/>
          </a:prstGeom>
          <a:solidFill>
            <a:srgbClr val="B6BBC0"/>
          </a:solidFill>
          <a:ln w="12700">
            <a:solidFill>
              <a:srgbClr val="B6BBC0"/>
            </a:solidFill>
            <a:prstDash val="solid"/>
          </a:ln>
        </p:spPr>
      </p:sp>
      <p:sp>
        <p:nvSpPr>
          <p:cNvPr id="15" name="Text 13"/>
          <p:cNvSpPr/>
          <p:nvPr/>
        </p:nvSpPr>
        <p:spPr>
          <a:xfrm>
            <a:off x="325755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Q4 FY26</a:t>
            </a:r>
            <a:endParaRPr lang="en-US" sz="750" dirty="0"/>
          </a:p>
        </p:txBody>
      </p:sp>
      <p:sp>
        <p:nvSpPr>
          <p:cNvPr id="16" name="Shape 14"/>
          <p:cNvSpPr/>
          <p:nvPr/>
        </p:nvSpPr>
        <p:spPr>
          <a:xfrm>
            <a:off x="3257550" y="1133856"/>
            <a:ext cx="13716" cy="3986784"/>
          </a:xfrm>
          <a:prstGeom prst="rect">
            <a:avLst/>
          </a:prstGeom>
          <a:solidFill>
            <a:srgbClr val="B6BBC0"/>
          </a:solidFill>
          <a:ln w="12700">
            <a:solidFill>
              <a:srgbClr val="B6BBC0"/>
            </a:solidFill>
            <a:prstDash val="solid"/>
          </a:ln>
        </p:spPr>
      </p:sp>
      <p:sp>
        <p:nvSpPr>
          <p:cNvPr id="17" name="Shape 15"/>
          <p:cNvSpPr/>
          <p:nvPr/>
        </p:nvSpPr>
        <p:spPr>
          <a:xfrm>
            <a:off x="4046220" y="1664208"/>
            <a:ext cx="788670" cy="3456432"/>
          </a:xfrm>
          <a:prstGeom prst="rect">
            <a:avLst/>
          </a:prstGeom>
          <a:solidFill>
            <a:srgbClr val="F4F6F8"/>
          </a:solidFill>
          <a:ln w="12700">
            <a:solidFill>
              <a:srgbClr val="F4F6F8"/>
            </a:solidFill>
            <a:prstDash val="solid"/>
          </a:ln>
        </p:spPr>
      </p:sp>
      <p:sp>
        <p:nvSpPr>
          <p:cNvPr id="18" name="Text 16"/>
          <p:cNvSpPr/>
          <p:nvPr/>
        </p:nvSpPr>
        <p:spPr>
          <a:xfrm>
            <a:off x="404622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Q1 FY27</a:t>
            </a:r>
            <a:endParaRPr lang="en-US" sz="750" dirty="0"/>
          </a:p>
        </p:txBody>
      </p:sp>
      <p:sp>
        <p:nvSpPr>
          <p:cNvPr id="19" name="Shape 17"/>
          <p:cNvSpPr/>
          <p:nvPr/>
        </p:nvSpPr>
        <p:spPr>
          <a:xfrm>
            <a:off x="4046220" y="1133856"/>
            <a:ext cx="13716" cy="3986784"/>
          </a:xfrm>
          <a:prstGeom prst="rect">
            <a:avLst/>
          </a:prstGeom>
          <a:solidFill>
            <a:srgbClr val="B6BBC0"/>
          </a:solidFill>
          <a:ln w="12700">
            <a:solidFill>
              <a:srgbClr val="B6BBC0"/>
            </a:solidFill>
            <a:prstDash val="solid"/>
          </a:ln>
        </p:spPr>
      </p:sp>
      <p:sp>
        <p:nvSpPr>
          <p:cNvPr id="20" name="Text 18"/>
          <p:cNvSpPr/>
          <p:nvPr/>
        </p:nvSpPr>
        <p:spPr>
          <a:xfrm>
            <a:off x="483489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Q2 FY27</a:t>
            </a:r>
            <a:endParaRPr lang="en-US" sz="750" dirty="0"/>
          </a:p>
        </p:txBody>
      </p:sp>
      <p:sp>
        <p:nvSpPr>
          <p:cNvPr id="21" name="Shape 19"/>
          <p:cNvSpPr/>
          <p:nvPr/>
        </p:nvSpPr>
        <p:spPr>
          <a:xfrm>
            <a:off x="4834890" y="1133856"/>
            <a:ext cx="13716" cy="3986784"/>
          </a:xfrm>
          <a:prstGeom prst="rect">
            <a:avLst/>
          </a:prstGeom>
          <a:solidFill>
            <a:srgbClr val="B6BBC0"/>
          </a:solidFill>
          <a:ln w="12700">
            <a:solidFill>
              <a:srgbClr val="B6BBC0"/>
            </a:solidFill>
            <a:prstDash val="solid"/>
          </a:ln>
        </p:spPr>
      </p:sp>
      <p:sp>
        <p:nvSpPr>
          <p:cNvPr id="22" name="Shape 20"/>
          <p:cNvSpPr/>
          <p:nvPr/>
        </p:nvSpPr>
        <p:spPr>
          <a:xfrm>
            <a:off x="5623560" y="1664208"/>
            <a:ext cx="788670" cy="3456432"/>
          </a:xfrm>
          <a:prstGeom prst="rect">
            <a:avLst/>
          </a:prstGeom>
          <a:solidFill>
            <a:srgbClr val="F4F6F8"/>
          </a:solidFill>
          <a:ln w="12700">
            <a:solidFill>
              <a:srgbClr val="F4F6F8"/>
            </a:solidFill>
            <a:prstDash val="solid"/>
          </a:ln>
        </p:spPr>
      </p:sp>
      <p:sp>
        <p:nvSpPr>
          <p:cNvPr id="23" name="Text 21"/>
          <p:cNvSpPr/>
          <p:nvPr/>
        </p:nvSpPr>
        <p:spPr>
          <a:xfrm>
            <a:off x="562356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Q3 FY27</a:t>
            </a:r>
            <a:endParaRPr lang="en-US" sz="750" dirty="0"/>
          </a:p>
        </p:txBody>
      </p:sp>
      <p:sp>
        <p:nvSpPr>
          <p:cNvPr id="24" name="Shape 22"/>
          <p:cNvSpPr/>
          <p:nvPr/>
        </p:nvSpPr>
        <p:spPr>
          <a:xfrm>
            <a:off x="5623560" y="1133856"/>
            <a:ext cx="13716" cy="3986784"/>
          </a:xfrm>
          <a:prstGeom prst="rect">
            <a:avLst/>
          </a:prstGeom>
          <a:solidFill>
            <a:srgbClr val="B6BBC0"/>
          </a:solidFill>
          <a:ln w="12700">
            <a:solidFill>
              <a:srgbClr val="B6BBC0"/>
            </a:solidFill>
            <a:prstDash val="solid"/>
          </a:ln>
        </p:spPr>
      </p:sp>
      <p:sp>
        <p:nvSpPr>
          <p:cNvPr id="25" name="Text 23"/>
          <p:cNvSpPr/>
          <p:nvPr/>
        </p:nvSpPr>
        <p:spPr>
          <a:xfrm>
            <a:off x="641223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Q4 FY27</a:t>
            </a:r>
            <a:endParaRPr lang="en-US" sz="750" dirty="0"/>
          </a:p>
        </p:txBody>
      </p:sp>
      <p:sp>
        <p:nvSpPr>
          <p:cNvPr id="26" name="Shape 24"/>
          <p:cNvSpPr/>
          <p:nvPr/>
        </p:nvSpPr>
        <p:spPr>
          <a:xfrm>
            <a:off x="6412230" y="1133856"/>
            <a:ext cx="13716" cy="3986784"/>
          </a:xfrm>
          <a:prstGeom prst="rect">
            <a:avLst/>
          </a:prstGeom>
          <a:solidFill>
            <a:srgbClr val="B6BBC0"/>
          </a:solidFill>
          <a:ln w="12700">
            <a:solidFill>
              <a:srgbClr val="B6BBC0"/>
            </a:solidFill>
            <a:prstDash val="solid"/>
          </a:ln>
        </p:spPr>
      </p:sp>
      <p:sp>
        <p:nvSpPr>
          <p:cNvPr id="27" name="Shape 25"/>
          <p:cNvSpPr/>
          <p:nvPr/>
        </p:nvSpPr>
        <p:spPr>
          <a:xfrm>
            <a:off x="7200900" y="1664208"/>
            <a:ext cx="788670" cy="3456432"/>
          </a:xfrm>
          <a:prstGeom prst="rect">
            <a:avLst/>
          </a:prstGeom>
          <a:solidFill>
            <a:srgbClr val="F4F6F8"/>
          </a:solidFill>
          <a:ln w="12700">
            <a:solidFill>
              <a:srgbClr val="F4F6F8"/>
            </a:solidFill>
            <a:prstDash val="solid"/>
          </a:ln>
        </p:spPr>
      </p:sp>
      <p:sp>
        <p:nvSpPr>
          <p:cNvPr id="28" name="Text 26"/>
          <p:cNvSpPr/>
          <p:nvPr/>
        </p:nvSpPr>
        <p:spPr>
          <a:xfrm>
            <a:off x="720090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Q1 FY28</a:t>
            </a:r>
            <a:endParaRPr lang="en-US" sz="750" dirty="0"/>
          </a:p>
        </p:txBody>
      </p:sp>
      <p:sp>
        <p:nvSpPr>
          <p:cNvPr id="29" name="Shape 27"/>
          <p:cNvSpPr/>
          <p:nvPr/>
        </p:nvSpPr>
        <p:spPr>
          <a:xfrm>
            <a:off x="7200900" y="1133856"/>
            <a:ext cx="13716" cy="3986784"/>
          </a:xfrm>
          <a:prstGeom prst="rect">
            <a:avLst/>
          </a:prstGeom>
          <a:solidFill>
            <a:srgbClr val="B6BBC0"/>
          </a:solidFill>
          <a:ln w="12700">
            <a:solidFill>
              <a:srgbClr val="B6BBC0"/>
            </a:solidFill>
            <a:prstDash val="solid"/>
          </a:ln>
        </p:spPr>
      </p:sp>
      <p:sp>
        <p:nvSpPr>
          <p:cNvPr id="30" name="Text 28"/>
          <p:cNvSpPr/>
          <p:nvPr/>
        </p:nvSpPr>
        <p:spPr>
          <a:xfrm>
            <a:off x="798957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Q2 FY28</a:t>
            </a:r>
            <a:endParaRPr lang="en-US" sz="750" dirty="0"/>
          </a:p>
        </p:txBody>
      </p:sp>
      <p:sp>
        <p:nvSpPr>
          <p:cNvPr id="31" name="Shape 29"/>
          <p:cNvSpPr/>
          <p:nvPr/>
        </p:nvSpPr>
        <p:spPr>
          <a:xfrm>
            <a:off x="7989570" y="1133856"/>
            <a:ext cx="13716" cy="3986784"/>
          </a:xfrm>
          <a:prstGeom prst="rect">
            <a:avLst/>
          </a:prstGeom>
          <a:solidFill>
            <a:srgbClr val="B6BBC0"/>
          </a:solidFill>
          <a:ln w="12700">
            <a:solidFill>
              <a:srgbClr val="B6BBC0"/>
            </a:solidFill>
            <a:prstDash val="solid"/>
          </a:ln>
        </p:spPr>
      </p:sp>
      <p:sp>
        <p:nvSpPr>
          <p:cNvPr id="32" name="Shape 30"/>
          <p:cNvSpPr/>
          <p:nvPr/>
        </p:nvSpPr>
        <p:spPr>
          <a:xfrm>
            <a:off x="274320" y="1664208"/>
            <a:ext cx="8503920" cy="356616"/>
          </a:xfrm>
          <a:prstGeom prst="rect">
            <a:avLst/>
          </a:prstGeom>
          <a:solidFill>
            <a:srgbClr val="FFFFFF"/>
          </a:solidFill>
          <a:ln w="12700">
            <a:solidFill>
              <a:srgbClr val="E7ECF0"/>
            </a:solidFill>
            <a:prstDash val="solid"/>
          </a:ln>
        </p:spPr>
      </p:sp>
      <p:sp>
        <p:nvSpPr>
          <p:cNvPr id="33" name="Shape 31"/>
          <p:cNvSpPr/>
          <p:nvPr/>
        </p:nvSpPr>
        <p:spPr>
          <a:xfrm>
            <a:off x="274320" y="1664208"/>
            <a:ext cx="54864" cy="356616"/>
          </a:xfrm>
          <a:prstGeom prst="rect">
            <a:avLst/>
          </a:prstGeom>
          <a:solidFill>
            <a:srgbClr val="085CE5"/>
          </a:solidFill>
          <a:ln w="12700">
            <a:solidFill>
              <a:srgbClr val="085CE5"/>
            </a:solidFill>
            <a:prstDash val="solid"/>
          </a:ln>
        </p:spPr>
      </p:sp>
      <p:sp>
        <p:nvSpPr>
          <p:cNvPr id="34" name="Text 32"/>
          <p:cNvSpPr/>
          <p:nvPr/>
        </p:nvSpPr>
        <p:spPr>
          <a:xfrm>
            <a:off x="384048" y="1691640"/>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ACH / EPS</a:t>
            </a:r>
            <a:endParaRPr lang="en-US" sz="850" dirty="0"/>
          </a:p>
        </p:txBody>
      </p:sp>
      <p:sp>
        <p:nvSpPr>
          <p:cNvPr id="35" name="Text 33"/>
          <p:cNvSpPr/>
          <p:nvPr/>
        </p:nvSpPr>
        <p:spPr>
          <a:xfrm>
            <a:off x="384048" y="1883664"/>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ACH credits, debits, RDC</a:t>
            </a:r>
            <a:endParaRPr lang="en-US" sz="750" dirty="0"/>
          </a:p>
        </p:txBody>
      </p:sp>
      <p:sp>
        <p:nvSpPr>
          <p:cNvPr id="36" name="Shape 34"/>
          <p:cNvSpPr/>
          <p:nvPr/>
        </p:nvSpPr>
        <p:spPr>
          <a:xfrm>
            <a:off x="2505456" y="1737360"/>
            <a:ext cx="1504188" cy="182880"/>
          </a:xfrm>
          <a:prstGeom prst="rect">
            <a:avLst/>
          </a:prstGeom>
          <a:solidFill>
            <a:srgbClr val="085CE5"/>
          </a:solidFill>
          <a:ln w="12700">
            <a:solidFill>
              <a:srgbClr val="085CE5"/>
            </a:solidFill>
            <a:prstDash val="solid"/>
          </a:ln>
        </p:spPr>
      </p:sp>
      <p:sp>
        <p:nvSpPr>
          <p:cNvPr id="37" name="Text 35"/>
          <p:cNvSpPr/>
          <p:nvPr/>
        </p:nvSpPr>
        <p:spPr>
          <a:xfrm>
            <a:off x="2569464" y="1737360"/>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Anomaly Detection</a:t>
            </a:r>
            <a:endParaRPr lang="en-US" sz="750" dirty="0"/>
          </a:p>
        </p:txBody>
      </p:sp>
      <p:sp>
        <p:nvSpPr>
          <p:cNvPr id="38" name="Shape 36"/>
          <p:cNvSpPr/>
          <p:nvPr/>
        </p:nvSpPr>
        <p:spPr>
          <a:xfrm>
            <a:off x="274320" y="2048256"/>
            <a:ext cx="8503920" cy="356616"/>
          </a:xfrm>
          <a:prstGeom prst="rect">
            <a:avLst/>
          </a:prstGeom>
          <a:solidFill>
            <a:srgbClr val="F8F9FA"/>
          </a:solidFill>
          <a:ln w="12700">
            <a:solidFill>
              <a:srgbClr val="E7ECF0"/>
            </a:solidFill>
            <a:prstDash val="solid"/>
          </a:ln>
        </p:spPr>
      </p:sp>
      <p:sp>
        <p:nvSpPr>
          <p:cNvPr id="39" name="Shape 37"/>
          <p:cNvSpPr/>
          <p:nvPr/>
        </p:nvSpPr>
        <p:spPr>
          <a:xfrm>
            <a:off x="274320" y="2048256"/>
            <a:ext cx="54864" cy="356616"/>
          </a:xfrm>
          <a:prstGeom prst="rect">
            <a:avLst/>
          </a:prstGeom>
          <a:solidFill>
            <a:srgbClr val="085CE5"/>
          </a:solidFill>
          <a:ln w="12700">
            <a:solidFill>
              <a:srgbClr val="085CE5"/>
            </a:solidFill>
            <a:prstDash val="solid"/>
          </a:ln>
        </p:spPr>
      </p:sp>
      <p:sp>
        <p:nvSpPr>
          <p:cNvPr id="40" name="Text 38"/>
          <p:cNvSpPr/>
          <p:nvPr/>
        </p:nvSpPr>
        <p:spPr>
          <a:xfrm>
            <a:off x="384048" y="2075688"/>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Zelle / JHA PayCenter</a:t>
            </a:r>
            <a:endParaRPr lang="en-US" sz="850" dirty="0"/>
          </a:p>
        </p:txBody>
      </p:sp>
      <p:sp>
        <p:nvSpPr>
          <p:cNvPr id="41" name="Text 39"/>
          <p:cNvSpPr/>
          <p:nvPr/>
        </p:nvSpPr>
        <p:spPr>
          <a:xfrm>
            <a:off x="384048" y="2267712"/>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P2P, Zelle, RTP, FedNow</a:t>
            </a:r>
            <a:endParaRPr lang="en-US" sz="750" dirty="0"/>
          </a:p>
        </p:txBody>
      </p:sp>
      <p:sp>
        <p:nvSpPr>
          <p:cNvPr id="42" name="Shape 40"/>
          <p:cNvSpPr/>
          <p:nvPr/>
        </p:nvSpPr>
        <p:spPr>
          <a:xfrm>
            <a:off x="2505456" y="2121408"/>
            <a:ext cx="1504188" cy="182880"/>
          </a:xfrm>
          <a:prstGeom prst="rect">
            <a:avLst/>
          </a:prstGeom>
          <a:solidFill>
            <a:srgbClr val="085CE5"/>
          </a:solidFill>
          <a:ln w="12700">
            <a:solidFill>
              <a:srgbClr val="085CE5"/>
            </a:solidFill>
            <a:prstDash val="solid"/>
          </a:ln>
        </p:spPr>
      </p:sp>
      <p:sp>
        <p:nvSpPr>
          <p:cNvPr id="43" name="Text 41"/>
          <p:cNvSpPr/>
          <p:nvPr/>
        </p:nvSpPr>
        <p:spPr>
          <a:xfrm>
            <a:off x="2569464" y="2121408"/>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Zelle Memo Intelligence · Anomaly</a:t>
            </a:r>
            <a:endParaRPr lang="en-US" sz="750" dirty="0"/>
          </a:p>
        </p:txBody>
      </p:sp>
      <p:sp>
        <p:nvSpPr>
          <p:cNvPr id="44" name="Shape 42"/>
          <p:cNvSpPr/>
          <p:nvPr/>
        </p:nvSpPr>
        <p:spPr>
          <a:xfrm>
            <a:off x="274320" y="2432304"/>
            <a:ext cx="8503920" cy="356616"/>
          </a:xfrm>
          <a:prstGeom prst="rect">
            <a:avLst/>
          </a:prstGeom>
          <a:solidFill>
            <a:srgbClr val="FFFFFF"/>
          </a:solidFill>
          <a:ln w="12700">
            <a:solidFill>
              <a:srgbClr val="E7ECF0"/>
            </a:solidFill>
            <a:prstDash val="solid"/>
          </a:ln>
        </p:spPr>
      </p:sp>
      <p:sp>
        <p:nvSpPr>
          <p:cNvPr id="45" name="Shape 43"/>
          <p:cNvSpPr/>
          <p:nvPr/>
        </p:nvSpPr>
        <p:spPr>
          <a:xfrm>
            <a:off x="274320" y="2432304"/>
            <a:ext cx="54864" cy="356616"/>
          </a:xfrm>
          <a:prstGeom prst="rect">
            <a:avLst/>
          </a:prstGeom>
          <a:solidFill>
            <a:srgbClr val="085CE5"/>
          </a:solidFill>
          <a:ln w="12700">
            <a:solidFill>
              <a:srgbClr val="085CE5"/>
            </a:solidFill>
            <a:prstDash val="solid"/>
          </a:ln>
        </p:spPr>
      </p:sp>
      <p:sp>
        <p:nvSpPr>
          <p:cNvPr id="46" name="Text 44"/>
          <p:cNvSpPr/>
          <p:nvPr/>
        </p:nvSpPr>
        <p:spPr>
          <a:xfrm>
            <a:off x="384048" y="2459736"/>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Jack Henry Wires</a:t>
            </a:r>
            <a:endParaRPr lang="en-US" sz="850" dirty="0"/>
          </a:p>
        </p:txBody>
      </p:sp>
      <p:sp>
        <p:nvSpPr>
          <p:cNvPr id="47" name="Text 45"/>
          <p:cNvSpPr/>
          <p:nvPr/>
        </p:nvSpPr>
        <p:spPr>
          <a:xfrm>
            <a:off x="384048" y="2651760"/>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Domestic FedWire + Intl</a:t>
            </a:r>
            <a:endParaRPr lang="en-US" sz="750" dirty="0"/>
          </a:p>
        </p:txBody>
      </p:sp>
      <p:sp>
        <p:nvSpPr>
          <p:cNvPr id="48" name="Shape 46"/>
          <p:cNvSpPr/>
          <p:nvPr/>
        </p:nvSpPr>
        <p:spPr>
          <a:xfrm>
            <a:off x="2505456" y="2505456"/>
            <a:ext cx="1504188" cy="182880"/>
          </a:xfrm>
          <a:prstGeom prst="rect">
            <a:avLst/>
          </a:prstGeom>
          <a:solidFill>
            <a:srgbClr val="085CE5"/>
          </a:solidFill>
          <a:ln w="12700">
            <a:solidFill>
              <a:srgbClr val="085CE5"/>
            </a:solidFill>
            <a:prstDash val="solid"/>
          </a:ln>
        </p:spPr>
      </p:sp>
      <p:sp>
        <p:nvSpPr>
          <p:cNvPr id="49" name="Text 47"/>
          <p:cNvSpPr/>
          <p:nvPr/>
        </p:nvSpPr>
        <p:spPr>
          <a:xfrm>
            <a:off x="2569464" y="2505456"/>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Anomaly Detection (wire fraud)</a:t>
            </a:r>
            <a:endParaRPr lang="en-US" sz="750" dirty="0"/>
          </a:p>
        </p:txBody>
      </p:sp>
      <p:sp>
        <p:nvSpPr>
          <p:cNvPr id="50" name="Shape 48"/>
          <p:cNvSpPr/>
          <p:nvPr/>
        </p:nvSpPr>
        <p:spPr>
          <a:xfrm>
            <a:off x="274320" y="2816352"/>
            <a:ext cx="8503920" cy="356616"/>
          </a:xfrm>
          <a:prstGeom prst="rect">
            <a:avLst/>
          </a:prstGeom>
          <a:solidFill>
            <a:srgbClr val="F8F9FA"/>
          </a:solidFill>
          <a:ln w="12700">
            <a:solidFill>
              <a:srgbClr val="E7ECF0"/>
            </a:solidFill>
            <a:prstDash val="solid"/>
          </a:ln>
        </p:spPr>
      </p:sp>
      <p:sp>
        <p:nvSpPr>
          <p:cNvPr id="51" name="Shape 49"/>
          <p:cNvSpPr/>
          <p:nvPr/>
        </p:nvSpPr>
        <p:spPr>
          <a:xfrm>
            <a:off x="274320" y="2816352"/>
            <a:ext cx="54864" cy="356616"/>
          </a:xfrm>
          <a:prstGeom prst="rect">
            <a:avLst/>
          </a:prstGeom>
          <a:solidFill>
            <a:srgbClr val="085CE5"/>
          </a:solidFill>
          <a:ln w="12700">
            <a:solidFill>
              <a:srgbClr val="085CE5"/>
            </a:solidFill>
            <a:prstDash val="solid"/>
          </a:ln>
        </p:spPr>
      </p:sp>
      <p:sp>
        <p:nvSpPr>
          <p:cNvPr id="52" name="Text 50"/>
          <p:cNvSpPr/>
          <p:nvPr/>
        </p:nvSpPr>
        <p:spPr>
          <a:xfrm>
            <a:off x="384048" y="2843784"/>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iPay Bill Pay</a:t>
            </a:r>
            <a:endParaRPr lang="en-US" sz="850" dirty="0"/>
          </a:p>
        </p:txBody>
      </p:sp>
      <p:sp>
        <p:nvSpPr>
          <p:cNvPr id="53" name="Text 51"/>
          <p:cNvSpPr/>
          <p:nvPr/>
        </p:nvSpPr>
        <p:spPr>
          <a:xfrm>
            <a:off x="384048" y="3035808"/>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Consumer + Business bill pay</a:t>
            </a:r>
            <a:endParaRPr lang="en-US" sz="750" dirty="0"/>
          </a:p>
        </p:txBody>
      </p:sp>
      <p:sp>
        <p:nvSpPr>
          <p:cNvPr id="54" name="Shape 52"/>
          <p:cNvSpPr/>
          <p:nvPr/>
        </p:nvSpPr>
        <p:spPr>
          <a:xfrm>
            <a:off x="2505456" y="2889504"/>
            <a:ext cx="1504188" cy="182880"/>
          </a:xfrm>
          <a:prstGeom prst="rect">
            <a:avLst/>
          </a:prstGeom>
          <a:solidFill>
            <a:srgbClr val="085CE5"/>
          </a:solidFill>
          <a:ln w="12700">
            <a:solidFill>
              <a:srgbClr val="085CE5"/>
            </a:solidFill>
            <a:prstDash val="solid"/>
          </a:ln>
        </p:spPr>
      </p:sp>
      <p:sp>
        <p:nvSpPr>
          <p:cNvPr id="55" name="Text 53"/>
          <p:cNvSpPr/>
          <p:nvPr/>
        </p:nvSpPr>
        <p:spPr>
          <a:xfrm>
            <a:off x="2569464" y="2889504"/>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Cross-Sell Propensity</a:t>
            </a:r>
            <a:endParaRPr lang="en-US" sz="750" dirty="0"/>
          </a:p>
        </p:txBody>
      </p:sp>
      <p:sp>
        <p:nvSpPr>
          <p:cNvPr id="56" name="Shape 54"/>
          <p:cNvSpPr/>
          <p:nvPr/>
        </p:nvSpPr>
        <p:spPr>
          <a:xfrm>
            <a:off x="274320" y="3200400"/>
            <a:ext cx="8503920" cy="356616"/>
          </a:xfrm>
          <a:prstGeom prst="rect">
            <a:avLst/>
          </a:prstGeom>
          <a:solidFill>
            <a:srgbClr val="FFFFFF"/>
          </a:solidFill>
          <a:ln w="12700">
            <a:solidFill>
              <a:srgbClr val="E7ECF0"/>
            </a:solidFill>
            <a:prstDash val="solid"/>
          </a:ln>
        </p:spPr>
      </p:sp>
      <p:sp>
        <p:nvSpPr>
          <p:cNvPr id="57" name="Shape 55"/>
          <p:cNvSpPr/>
          <p:nvPr/>
        </p:nvSpPr>
        <p:spPr>
          <a:xfrm>
            <a:off x="274320" y="3200400"/>
            <a:ext cx="54864" cy="356616"/>
          </a:xfrm>
          <a:prstGeom prst="rect">
            <a:avLst/>
          </a:prstGeom>
          <a:solidFill>
            <a:srgbClr val="085CE5"/>
          </a:solidFill>
          <a:ln w="12700">
            <a:solidFill>
              <a:srgbClr val="085CE5"/>
            </a:solidFill>
            <a:prstDash val="solid"/>
          </a:ln>
        </p:spPr>
      </p:sp>
      <p:sp>
        <p:nvSpPr>
          <p:cNvPr id="58" name="Text 56"/>
          <p:cNvSpPr/>
          <p:nvPr/>
        </p:nvSpPr>
        <p:spPr>
          <a:xfrm>
            <a:off x="384048" y="3227832"/>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JHA SmartPay / Biz Payments</a:t>
            </a:r>
            <a:endParaRPr lang="en-US" sz="850" dirty="0"/>
          </a:p>
        </p:txBody>
      </p:sp>
      <p:sp>
        <p:nvSpPr>
          <p:cNvPr id="59" name="Text 57"/>
          <p:cNvSpPr/>
          <p:nvPr/>
        </p:nvSpPr>
        <p:spPr>
          <a:xfrm>
            <a:off x="384048" y="3419856"/>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B2B ACH, vendor, remittance</a:t>
            </a:r>
            <a:endParaRPr lang="en-US" sz="750" dirty="0"/>
          </a:p>
        </p:txBody>
      </p:sp>
      <p:sp>
        <p:nvSpPr>
          <p:cNvPr id="60" name="Shape 58"/>
          <p:cNvSpPr/>
          <p:nvPr/>
        </p:nvSpPr>
        <p:spPr>
          <a:xfrm>
            <a:off x="2505456" y="3273552"/>
            <a:ext cx="1504188" cy="182880"/>
          </a:xfrm>
          <a:prstGeom prst="rect">
            <a:avLst/>
          </a:prstGeom>
          <a:solidFill>
            <a:srgbClr val="085CE5"/>
          </a:solidFill>
          <a:ln w="12700">
            <a:solidFill>
              <a:srgbClr val="085CE5"/>
            </a:solidFill>
            <a:prstDash val="solid"/>
          </a:ln>
        </p:spPr>
      </p:sp>
      <p:sp>
        <p:nvSpPr>
          <p:cNvPr id="61" name="Text 59"/>
          <p:cNvSpPr/>
          <p:nvPr/>
        </p:nvSpPr>
        <p:spPr>
          <a:xfrm>
            <a:off x="2569464" y="3273552"/>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Overdraft Prediction</a:t>
            </a:r>
            <a:endParaRPr lang="en-US" sz="750" dirty="0"/>
          </a:p>
        </p:txBody>
      </p:sp>
      <p:sp>
        <p:nvSpPr>
          <p:cNvPr id="62" name="Shape 60"/>
          <p:cNvSpPr/>
          <p:nvPr/>
        </p:nvSpPr>
        <p:spPr>
          <a:xfrm>
            <a:off x="274320" y="3584448"/>
            <a:ext cx="8503920" cy="356616"/>
          </a:xfrm>
          <a:prstGeom prst="rect">
            <a:avLst/>
          </a:prstGeom>
          <a:solidFill>
            <a:srgbClr val="F8F9FA"/>
          </a:solidFill>
          <a:ln w="12700">
            <a:solidFill>
              <a:srgbClr val="E7ECF0"/>
            </a:solidFill>
            <a:prstDash val="solid"/>
          </a:ln>
        </p:spPr>
      </p:sp>
      <p:sp>
        <p:nvSpPr>
          <p:cNvPr id="63" name="Shape 61"/>
          <p:cNvSpPr/>
          <p:nvPr/>
        </p:nvSpPr>
        <p:spPr>
          <a:xfrm>
            <a:off x="274320" y="3584448"/>
            <a:ext cx="54864" cy="356616"/>
          </a:xfrm>
          <a:prstGeom prst="rect">
            <a:avLst/>
          </a:prstGeom>
          <a:solidFill>
            <a:srgbClr val="085CE5"/>
          </a:solidFill>
          <a:ln w="12700">
            <a:solidFill>
              <a:srgbClr val="085CE5"/>
            </a:solidFill>
            <a:prstDash val="solid"/>
          </a:ln>
        </p:spPr>
      </p:sp>
      <p:sp>
        <p:nvSpPr>
          <p:cNvPr id="64" name="Text 62"/>
          <p:cNvSpPr/>
          <p:nvPr/>
        </p:nvSpPr>
        <p:spPr>
          <a:xfrm>
            <a:off x="384048" y="3611880"/>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Payrailz (P2P / A2A)</a:t>
            </a:r>
            <a:endParaRPr lang="en-US" sz="850" dirty="0"/>
          </a:p>
        </p:txBody>
      </p:sp>
      <p:sp>
        <p:nvSpPr>
          <p:cNvPr id="65" name="Text 63"/>
          <p:cNvSpPr/>
          <p:nvPr/>
        </p:nvSpPr>
        <p:spPr>
          <a:xfrm>
            <a:off x="384048" y="3803904"/>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Pay a Person, Transfer Money</a:t>
            </a:r>
            <a:endParaRPr lang="en-US" sz="750" dirty="0"/>
          </a:p>
        </p:txBody>
      </p:sp>
      <p:sp>
        <p:nvSpPr>
          <p:cNvPr id="66" name="Shape 64"/>
          <p:cNvSpPr/>
          <p:nvPr/>
        </p:nvSpPr>
        <p:spPr>
          <a:xfrm>
            <a:off x="2505456" y="3657600"/>
            <a:ext cx="1504188" cy="182880"/>
          </a:xfrm>
          <a:prstGeom prst="rect">
            <a:avLst/>
          </a:prstGeom>
          <a:solidFill>
            <a:srgbClr val="085CE5"/>
          </a:solidFill>
          <a:ln w="12700">
            <a:solidFill>
              <a:srgbClr val="085CE5"/>
            </a:solidFill>
            <a:prstDash val="solid"/>
          </a:ln>
        </p:spPr>
      </p:sp>
      <p:sp>
        <p:nvSpPr>
          <p:cNvPr id="67" name="Text 65"/>
          <p:cNvSpPr/>
          <p:nvPr/>
        </p:nvSpPr>
        <p:spPr>
          <a:xfrm>
            <a:off x="2569464" y="3657600"/>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Fraud Ring Detection</a:t>
            </a:r>
            <a:endParaRPr lang="en-US" sz="750" dirty="0"/>
          </a:p>
        </p:txBody>
      </p:sp>
      <p:sp>
        <p:nvSpPr>
          <p:cNvPr id="68" name="Shape 66"/>
          <p:cNvSpPr/>
          <p:nvPr/>
        </p:nvSpPr>
        <p:spPr>
          <a:xfrm>
            <a:off x="274320" y="3968496"/>
            <a:ext cx="8503920" cy="356616"/>
          </a:xfrm>
          <a:prstGeom prst="rect">
            <a:avLst/>
          </a:prstGeom>
          <a:solidFill>
            <a:srgbClr val="FFFFFF"/>
          </a:solidFill>
          <a:ln w="12700">
            <a:solidFill>
              <a:srgbClr val="E7ECF0"/>
            </a:solidFill>
            <a:prstDash val="solid"/>
          </a:ln>
        </p:spPr>
      </p:sp>
      <p:sp>
        <p:nvSpPr>
          <p:cNvPr id="69" name="Shape 67"/>
          <p:cNvSpPr/>
          <p:nvPr/>
        </p:nvSpPr>
        <p:spPr>
          <a:xfrm>
            <a:off x="274320" y="3968496"/>
            <a:ext cx="54864" cy="356616"/>
          </a:xfrm>
          <a:prstGeom prst="rect">
            <a:avLst/>
          </a:prstGeom>
          <a:solidFill>
            <a:srgbClr val="073FA8"/>
          </a:solidFill>
          <a:ln w="12700">
            <a:solidFill>
              <a:srgbClr val="073FA8"/>
            </a:solidFill>
            <a:prstDash val="solid"/>
          </a:ln>
        </p:spPr>
      </p:sp>
      <p:sp>
        <p:nvSpPr>
          <p:cNvPr id="70" name="Text 68"/>
          <p:cNvSpPr/>
          <p:nvPr/>
        </p:nvSpPr>
        <p:spPr>
          <a:xfrm>
            <a:off x="384048" y="3995928"/>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Core Banking (jhaEnterprise / Symitar)</a:t>
            </a:r>
            <a:endParaRPr lang="en-US" sz="850" dirty="0"/>
          </a:p>
        </p:txBody>
      </p:sp>
      <p:sp>
        <p:nvSpPr>
          <p:cNvPr id="71" name="Text 69"/>
          <p:cNvSpPr/>
          <p:nvPr/>
        </p:nvSpPr>
        <p:spPr>
          <a:xfrm>
            <a:off x="384048" y="4187952"/>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Core txns, deposits, loans</a:t>
            </a:r>
            <a:endParaRPr lang="en-US" sz="750" dirty="0"/>
          </a:p>
        </p:txBody>
      </p:sp>
      <p:sp>
        <p:nvSpPr>
          <p:cNvPr id="72" name="Shape 70"/>
          <p:cNvSpPr/>
          <p:nvPr/>
        </p:nvSpPr>
        <p:spPr>
          <a:xfrm>
            <a:off x="4082796" y="4041648"/>
            <a:ext cx="1504188" cy="182880"/>
          </a:xfrm>
          <a:prstGeom prst="rect">
            <a:avLst/>
          </a:prstGeom>
          <a:solidFill>
            <a:srgbClr val="073FA8"/>
          </a:solidFill>
          <a:ln w="12700">
            <a:solidFill>
              <a:srgbClr val="073FA8"/>
            </a:solidFill>
            <a:prstDash val="solid"/>
          </a:ln>
        </p:spPr>
      </p:sp>
      <p:sp>
        <p:nvSpPr>
          <p:cNvPr id="73" name="Text 71"/>
          <p:cNvSpPr/>
          <p:nvPr/>
        </p:nvSpPr>
        <p:spPr>
          <a:xfrm>
            <a:off x="4146804" y="4041648"/>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Churn Sentinel · Acct Opening LTV · CommercialSignal · Wealth Deflection</a:t>
            </a:r>
            <a:endParaRPr lang="en-US" sz="750" dirty="0"/>
          </a:p>
        </p:txBody>
      </p:sp>
      <p:sp>
        <p:nvSpPr>
          <p:cNvPr id="74" name="Shape 72"/>
          <p:cNvSpPr/>
          <p:nvPr/>
        </p:nvSpPr>
        <p:spPr>
          <a:xfrm>
            <a:off x="274320" y="4352544"/>
            <a:ext cx="8503920" cy="356616"/>
          </a:xfrm>
          <a:prstGeom prst="rect">
            <a:avLst/>
          </a:prstGeom>
          <a:solidFill>
            <a:srgbClr val="F8F9FA"/>
          </a:solidFill>
          <a:ln w="12700">
            <a:solidFill>
              <a:srgbClr val="E7ECF0"/>
            </a:solidFill>
            <a:prstDash val="solid"/>
          </a:ln>
        </p:spPr>
      </p:sp>
      <p:sp>
        <p:nvSpPr>
          <p:cNvPr id="75" name="Shape 73"/>
          <p:cNvSpPr/>
          <p:nvPr/>
        </p:nvSpPr>
        <p:spPr>
          <a:xfrm>
            <a:off x="274320" y="4352544"/>
            <a:ext cx="54864" cy="356616"/>
          </a:xfrm>
          <a:prstGeom prst="rect">
            <a:avLst/>
          </a:prstGeom>
          <a:solidFill>
            <a:srgbClr val="575A5D"/>
          </a:solidFill>
          <a:ln w="12700">
            <a:solidFill>
              <a:srgbClr val="575A5D"/>
            </a:solidFill>
            <a:prstDash val="solid"/>
          </a:ln>
        </p:spPr>
      </p:sp>
      <p:sp>
        <p:nvSpPr>
          <p:cNvPr id="76" name="Text 74"/>
          <p:cNvSpPr/>
          <p:nvPr/>
        </p:nvSpPr>
        <p:spPr>
          <a:xfrm>
            <a:off x="384048" y="4379976"/>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Banno Digital + Lending</a:t>
            </a:r>
            <a:endParaRPr lang="en-US" sz="850" dirty="0"/>
          </a:p>
        </p:txBody>
      </p:sp>
      <p:sp>
        <p:nvSpPr>
          <p:cNvPr id="77" name="Text 75"/>
          <p:cNvSpPr/>
          <p:nvPr/>
        </p:nvSpPr>
        <p:spPr>
          <a:xfrm>
            <a:off x="384048" y="4572000"/>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Session behavior, loan data</a:t>
            </a:r>
            <a:endParaRPr lang="en-US" sz="750" dirty="0"/>
          </a:p>
        </p:txBody>
      </p:sp>
      <p:sp>
        <p:nvSpPr>
          <p:cNvPr id="78" name="Shape 76"/>
          <p:cNvSpPr/>
          <p:nvPr/>
        </p:nvSpPr>
        <p:spPr>
          <a:xfrm>
            <a:off x="5660136" y="4425696"/>
            <a:ext cx="2292858" cy="182880"/>
          </a:xfrm>
          <a:prstGeom prst="rect">
            <a:avLst/>
          </a:prstGeom>
          <a:solidFill>
            <a:srgbClr val="575A5D"/>
          </a:solidFill>
          <a:ln w="12700">
            <a:solidFill>
              <a:srgbClr val="575A5D"/>
            </a:solidFill>
            <a:prstDash val="solid"/>
          </a:ln>
        </p:spPr>
      </p:sp>
      <p:sp>
        <p:nvSpPr>
          <p:cNvPr id="79" name="Text 77"/>
          <p:cNvSpPr/>
          <p:nvPr/>
        </p:nvSpPr>
        <p:spPr>
          <a:xfrm>
            <a:off x="5724144" y="4425696"/>
            <a:ext cx="218313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Sentiment · Next Best Action · FI Decision Studio</a:t>
            </a:r>
            <a:endParaRPr lang="en-US" sz="750" dirty="0"/>
          </a:p>
        </p:txBody>
      </p:sp>
      <p:sp>
        <p:nvSpPr>
          <p:cNvPr id="80" name="Shape 78"/>
          <p:cNvSpPr/>
          <p:nvPr/>
        </p:nvSpPr>
        <p:spPr>
          <a:xfrm>
            <a:off x="2482596" y="1115568"/>
            <a:ext cx="36576" cy="4005072"/>
          </a:xfrm>
          <a:prstGeom prst="rect">
            <a:avLst/>
          </a:prstGeom>
          <a:solidFill>
            <a:srgbClr val="76DCFD"/>
          </a:solidFill>
          <a:ln w="12700">
            <a:solidFill>
              <a:srgbClr val="76DCFD"/>
            </a:solidFill>
            <a:prstDash val="solid"/>
          </a:ln>
        </p:spPr>
      </p:sp>
      <p:sp>
        <p:nvSpPr>
          <p:cNvPr id="81" name="Text 79"/>
          <p:cNvSpPr/>
          <p:nvPr/>
        </p:nvSpPr>
        <p:spPr>
          <a:xfrm>
            <a:off x="2359152" y="1097280"/>
            <a:ext cx="502920" cy="219456"/>
          </a:xfrm>
          <a:prstGeom prst="rect">
            <a:avLst/>
          </a:prstGeom>
          <a:noFill/>
          <a:ln/>
        </p:spPr>
        <p:txBody>
          <a:bodyPr wrap="square" lIns="0" tIns="0" rIns="0" bIns="0" rtlCol="0" anchor="ctr"/>
          <a:lstStyle/>
          <a:p>
            <a:pPr algn="ctr" indent="0" marL="0">
              <a:buNone/>
            </a:pPr>
            <a:r>
              <a:rPr lang="en-US" sz="700" b="1" dirty="0">
                <a:solidFill>
                  <a:srgbClr val="76DCFD"/>
                </a:solidFill>
                <a:latin typeface="Calibri" pitchFamily="34" charset="0"/>
                <a:ea typeface="Calibri" pitchFamily="34" charset="-122"/>
                <a:cs typeface="Calibri" pitchFamily="34" charset="-120"/>
              </a:rPr>
              <a:t>NOW</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Application Delivery Roadmap — Build &amp; Launch Timeline</a:t>
            </a:r>
            <a:endParaRPr lang="en-US" sz="2000" dirty="0"/>
          </a:p>
        </p:txBody>
      </p:sp>
      <p:sp>
        <p:nvSpPr>
          <p:cNvPr id="4" name="Text 2"/>
          <p:cNvSpPr/>
          <p:nvPr/>
        </p:nvSpPr>
        <p:spPr>
          <a:xfrm>
            <a:off x="365760" y="713232"/>
            <a:ext cx="8412480" cy="256032"/>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Eight applications sequenced across three phases. Each bar spans the active build and validation window; wider bars reflect higher integration complexity.</a:t>
            </a:r>
            <a:endParaRPr lang="en-US" sz="1000" dirty="0"/>
          </a:p>
        </p:txBody>
      </p:sp>
      <p:sp>
        <p:nvSpPr>
          <p:cNvPr id="5" name="Shape 3"/>
          <p:cNvSpPr/>
          <p:nvPr/>
        </p:nvSpPr>
        <p:spPr>
          <a:xfrm>
            <a:off x="2505456" y="1133856"/>
            <a:ext cx="1568196" cy="237744"/>
          </a:xfrm>
          <a:prstGeom prst="rect">
            <a:avLst/>
          </a:prstGeom>
          <a:solidFill>
            <a:srgbClr val="085CE5"/>
          </a:solidFill>
          <a:ln w="12700">
            <a:solidFill>
              <a:srgbClr val="085CE5"/>
            </a:solidFill>
            <a:prstDash val="solid"/>
          </a:ln>
        </p:spPr>
      </p:sp>
      <p:sp>
        <p:nvSpPr>
          <p:cNvPr id="6" name="Text 4"/>
          <p:cNvSpPr/>
          <p:nvPr/>
        </p:nvSpPr>
        <p:spPr>
          <a:xfrm>
            <a:off x="2551176" y="1133856"/>
            <a:ext cx="1476756"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1 — Foundation  (Q3–Q4 FY26)</a:t>
            </a:r>
            <a:endParaRPr lang="en-US" sz="750" dirty="0"/>
          </a:p>
        </p:txBody>
      </p:sp>
      <p:sp>
        <p:nvSpPr>
          <p:cNvPr id="7" name="Shape 5"/>
          <p:cNvSpPr/>
          <p:nvPr/>
        </p:nvSpPr>
        <p:spPr>
          <a:xfrm>
            <a:off x="4073652" y="1133856"/>
            <a:ext cx="1568196" cy="237744"/>
          </a:xfrm>
          <a:prstGeom prst="rect">
            <a:avLst/>
          </a:prstGeom>
          <a:solidFill>
            <a:srgbClr val="073FA8"/>
          </a:solidFill>
          <a:ln w="12700">
            <a:solidFill>
              <a:srgbClr val="073FA8"/>
            </a:solidFill>
            <a:prstDash val="solid"/>
          </a:ln>
        </p:spPr>
      </p:sp>
      <p:sp>
        <p:nvSpPr>
          <p:cNvPr id="8" name="Text 6"/>
          <p:cNvSpPr/>
          <p:nvPr/>
        </p:nvSpPr>
        <p:spPr>
          <a:xfrm>
            <a:off x="4119372" y="1133856"/>
            <a:ext cx="1476756"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2 — Core Applications  (Q1–Q2 FY27)</a:t>
            </a:r>
            <a:endParaRPr lang="en-US" sz="750" dirty="0"/>
          </a:p>
        </p:txBody>
      </p:sp>
      <p:sp>
        <p:nvSpPr>
          <p:cNvPr id="9" name="Shape 7"/>
          <p:cNvSpPr/>
          <p:nvPr/>
        </p:nvSpPr>
        <p:spPr>
          <a:xfrm>
            <a:off x="5641848" y="1133856"/>
            <a:ext cx="3136392" cy="237744"/>
          </a:xfrm>
          <a:prstGeom prst="rect">
            <a:avLst/>
          </a:prstGeom>
          <a:solidFill>
            <a:srgbClr val="575A5D"/>
          </a:solidFill>
          <a:ln w="12700">
            <a:solidFill>
              <a:srgbClr val="575A5D"/>
            </a:solidFill>
            <a:prstDash val="solid"/>
          </a:ln>
        </p:spPr>
      </p:sp>
      <p:sp>
        <p:nvSpPr>
          <p:cNvPr id="10" name="Text 8"/>
          <p:cNvSpPr/>
          <p:nvPr/>
        </p:nvSpPr>
        <p:spPr>
          <a:xfrm>
            <a:off x="5687568" y="1133856"/>
            <a:ext cx="3044952"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3 — Scale &amp; Expand  (Q3 FY27+)</a:t>
            </a:r>
            <a:endParaRPr lang="en-US" sz="750" dirty="0"/>
          </a:p>
        </p:txBody>
      </p:sp>
      <p:sp>
        <p:nvSpPr>
          <p:cNvPr id="11" name="Shape 9"/>
          <p:cNvSpPr/>
          <p:nvPr/>
        </p:nvSpPr>
        <p:spPr>
          <a:xfrm>
            <a:off x="2505456" y="1389888"/>
            <a:ext cx="6272784" cy="256032"/>
          </a:xfrm>
          <a:prstGeom prst="rect">
            <a:avLst/>
          </a:prstGeom>
          <a:solidFill>
            <a:srgbClr val="E7ECF0"/>
          </a:solidFill>
          <a:ln w="12700">
            <a:solidFill>
              <a:srgbClr val="E7ECF0"/>
            </a:solidFill>
            <a:prstDash val="solid"/>
          </a:ln>
        </p:spPr>
      </p:sp>
      <p:sp>
        <p:nvSpPr>
          <p:cNvPr id="12" name="Shape 10"/>
          <p:cNvSpPr/>
          <p:nvPr/>
        </p:nvSpPr>
        <p:spPr>
          <a:xfrm>
            <a:off x="2505456" y="1664208"/>
            <a:ext cx="784098" cy="3218688"/>
          </a:xfrm>
          <a:prstGeom prst="rect">
            <a:avLst/>
          </a:prstGeom>
          <a:solidFill>
            <a:srgbClr val="F4F6F8"/>
          </a:solidFill>
          <a:ln w="12700">
            <a:solidFill>
              <a:srgbClr val="F4F6F8"/>
            </a:solidFill>
            <a:prstDash val="solid"/>
          </a:ln>
        </p:spPr>
      </p:sp>
      <p:sp>
        <p:nvSpPr>
          <p:cNvPr id="13" name="Text 11"/>
          <p:cNvSpPr/>
          <p:nvPr/>
        </p:nvSpPr>
        <p:spPr>
          <a:xfrm>
            <a:off x="2505456"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Q3 FY26</a:t>
            </a:r>
            <a:endParaRPr lang="en-US" sz="750" dirty="0"/>
          </a:p>
        </p:txBody>
      </p:sp>
      <p:sp>
        <p:nvSpPr>
          <p:cNvPr id="14" name="Shape 12"/>
          <p:cNvSpPr/>
          <p:nvPr/>
        </p:nvSpPr>
        <p:spPr>
          <a:xfrm>
            <a:off x="2505456" y="1133856"/>
            <a:ext cx="13716" cy="3749040"/>
          </a:xfrm>
          <a:prstGeom prst="rect">
            <a:avLst/>
          </a:prstGeom>
          <a:solidFill>
            <a:srgbClr val="B6BBC0"/>
          </a:solidFill>
          <a:ln w="12700">
            <a:solidFill>
              <a:srgbClr val="B6BBC0"/>
            </a:solidFill>
            <a:prstDash val="solid"/>
          </a:ln>
        </p:spPr>
      </p:sp>
      <p:sp>
        <p:nvSpPr>
          <p:cNvPr id="15" name="Text 13"/>
          <p:cNvSpPr/>
          <p:nvPr/>
        </p:nvSpPr>
        <p:spPr>
          <a:xfrm>
            <a:off x="3289554"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Q4 FY26</a:t>
            </a:r>
            <a:endParaRPr lang="en-US" sz="750" dirty="0"/>
          </a:p>
        </p:txBody>
      </p:sp>
      <p:sp>
        <p:nvSpPr>
          <p:cNvPr id="16" name="Shape 14"/>
          <p:cNvSpPr/>
          <p:nvPr/>
        </p:nvSpPr>
        <p:spPr>
          <a:xfrm>
            <a:off x="3289554" y="1133856"/>
            <a:ext cx="13716" cy="3749040"/>
          </a:xfrm>
          <a:prstGeom prst="rect">
            <a:avLst/>
          </a:prstGeom>
          <a:solidFill>
            <a:srgbClr val="B6BBC0"/>
          </a:solidFill>
          <a:ln w="12700">
            <a:solidFill>
              <a:srgbClr val="B6BBC0"/>
            </a:solidFill>
            <a:prstDash val="solid"/>
          </a:ln>
        </p:spPr>
      </p:sp>
      <p:sp>
        <p:nvSpPr>
          <p:cNvPr id="17" name="Shape 15"/>
          <p:cNvSpPr/>
          <p:nvPr/>
        </p:nvSpPr>
        <p:spPr>
          <a:xfrm>
            <a:off x="4073652" y="1664208"/>
            <a:ext cx="784098" cy="3218688"/>
          </a:xfrm>
          <a:prstGeom prst="rect">
            <a:avLst/>
          </a:prstGeom>
          <a:solidFill>
            <a:srgbClr val="F4F6F8"/>
          </a:solidFill>
          <a:ln w="12700">
            <a:solidFill>
              <a:srgbClr val="F4F6F8"/>
            </a:solidFill>
            <a:prstDash val="solid"/>
          </a:ln>
        </p:spPr>
      </p:sp>
      <p:sp>
        <p:nvSpPr>
          <p:cNvPr id="18" name="Text 16"/>
          <p:cNvSpPr/>
          <p:nvPr/>
        </p:nvSpPr>
        <p:spPr>
          <a:xfrm>
            <a:off x="4073652"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Q1 FY27</a:t>
            </a:r>
            <a:endParaRPr lang="en-US" sz="750" dirty="0"/>
          </a:p>
        </p:txBody>
      </p:sp>
      <p:sp>
        <p:nvSpPr>
          <p:cNvPr id="19" name="Shape 17"/>
          <p:cNvSpPr/>
          <p:nvPr/>
        </p:nvSpPr>
        <p:spPr>
          <a:xfrm>
            <a:off x="4073652" y="1133856"/>
            <a:ext cx="13716" cy="3749040"/>
          </a:xfrm>
          <a:prstGeom prst="rect">
            <a:avLst/>
          </a:prstGeom>
          <a:solidFill>
            <a:srgbClr val="B6BBC0"/>
          </a:solidFill>
          <a:ln w="12700">
            <a:solidFill>
              <a:srgbClr val="B6BBC0"/>
            </a:solidFill>
            <a:prstDash val="solid"/>
          </a:ln>
        </p:spPr>
      </p:sp>
      <p:sp>
        <p:nvSpPr>
          <p:cNvPr id="20" name="Text 18"/>
          <p:cNvSpPr/>
          <p:nvPr/>
        </p:nvSpPr>
        <p:spPr>
          <a:xfrm>
            <a:off x="4857750"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Q2 FY27</a:t>
            </a:r>
            <a:endParaRPr lang="en-US" sz="750" dirty="0"/>
          </a:p>
        </p:txBody>
      </p:sp>
      <p:sp>
        <p:nvSpPr>
          <p:cNvPr id="21" name="Shape 19"/>
          <p:cNvSpPr/>
          <p:nvPr/>
        </p:nvSpPr>
        <p:spPr>
          <a:xfrm>
            <a:off x="4857750" y="1133856"/>
            <a:ext cx="13716" cy="3749040"/>
          </a:xfrm>
          <a:prstGeom prst="rect">
            <a:avLst/>
          </a:prstGeom>
          <a:solidFill>
            <a:srgbClr val="B6BBC0"/>
          </a:solidFill>
          <a:ln w="12700">
            <a:solidFill>
              <a:srgbClr val="B6BBC0"/>
            </a:solidFill>
            <a:prstDash val="solid"/>
          </a:ln>
        </p:spPr>
      </p:sp>
      <p:sp>
        <p:nvSpPr>
          <p:cNvPr id="22" name="Shape 20"/>
          <p:cNvSpPr/>
          <p:nvPr/>
        </p:nvSpPr>
        <p:spPr>
          <a:xfrm>
            <a:off x="5641848" y="1664208"/>
            <a:ext cx="784098" cy="3218688"/>
          </a:xfrm>
          <a:prstGeom prst="rect">
            <a:avLst/>
          </a:prstGeom>
          <a:solidFill>
            <a:srgbClr val="F4F6F8"/>
          </a:solidFill>
          <a:ln w="12700">
            <a:solidFill>
              <a:srgbClr val="F4F6F8"/>
            </a:solidFill>
            <a:prstDash val="solid"/>
          </a:ln>
        </p:spPr>
      </p:sp>
      <p:sp>
        <p:nvSpPr>
          <p:cNvPr id="23" name="Text 21"/>
          <p:cNvSpPr/>
          <p:nvPr/>
        </p:nvSpPr>
        <p:spPr>
          <a:xfrm>
            <a:off x="5641848"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Q3 FY27</a:t>
            </a:r>
            <a:endParaRPr lang="en-US" sz="750" dirty="0"/>
          </a:p>
        </p:txBody>
      </p:sp>
      <p:sp>
        <p:nvSpPr>
          <p:cNvPr id="24" name="Shape 22"/>
          <p:cNvSpPr/>
          <p:nvPr/>
        </p:nvSpPr>
        <p:spPr>
          <a:xfrm>
            <a:off x="5641848" y="1133856"/>
            <a:ext cx="13716" cy="3749040"/>
          </a:xfrm>
          <a:prstGeom prst="rect">
            <a:avLst/>
          </a:prstGeom>
          <a:solidFill>
            <a:srgbClr val="B6BBC0"/>
          </a:solidFill>
          <a:ln w="12700">
            <a:solidFill>
              <a:srgbClr val="B6BBC0"/>
            </a:solidFill>
            <a:prstDash val="solid"/>
          </a:ln>
        </p:spPr>
      </p:sp>
      <p:sp>
        <p:nvSpPr>
          <p:cNvPr id="25" name="Text 23"/>
          <p:cNvSpPr/>
          <p:nvPr/>
        </p:nvSpPr>
        <p:spPr>
          <a:xfrm>
            <a:off x="6425946"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Q4 FY27</a:t>
            </a:r>
            <a:endParaRPr lang="en-US" sz="750" dirty="0"/>
          </a:p>
        </p:txBody>
      </p:sp>
      <p:sp>
        <p:nvSpPr>
          <p:cNvPr id="26" name="Shape 24"/>
          <p:cNvSpPr/>
          <p:nvPr/>
        </p:nvSpPr>
        <p:spPr>
          <a:xfrm>
            <a:off x="6425946" y="1133856"/>
            <a:ext cx="13716" cy="3749040"/>
          </a:xfrm>
          <a:prstGeom prst="rect">
            <a:avLst/>
          </a:prstGeom>
          <a:solidFill>
            <a:srgbClr val="B6BBC0"/>
          </a:solidFill>
          <a:ln w="12700">
            <a:solidFill>
              <a:srgbClr val="B6BBC0"/>
            </a:solidFill>
            <a:prstDash val="solid"/>
          </a:ln>
        </p:spPr>
      </p:sp>
      <p:sp>
        <p:nvSpPr>
          <p:cNvPr id="27" name="Shape 25"/>
          <p:cNvSpPr/>
          <p:nvPr/>
        </p:nvSpPr>
        <p:spPr>
          <a:xfrm>
            <a:off x="7210044" y="1664208"/>
            <a:ext cx="784098" cy="3218688"/>
          </a:xfrm>
          <a:prstGeom prst="rect">
            <a:avLst/>
          </a:prstGeom>
          <a:solidFill>
            <a:srgbClr val="F4F6F8"/>
          </a:solidFill>
          <a:ln w="12700">
            <a:solidFill>
              <a:srgbClr val="F4F6F8"/>
            </a:solidFill>
            <a:prstDash val="solid"/>
          </a:ln>
        </p:spPr>
      </p:sp>
      <p:sp>
        <p:nvSpPr>
          <p:cNvPr id="28" name="Text 26"/>
          <p:cNvSpPr/>
          <p:nvPr/>
        </p:nvSpPr>
        <p:spPr>
          <a:xfrm>
            <a:off x="7210044"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Q1 FY28</a:t>
            </a:r>
            <a:endParaRPr lang="en-US" sz="750" dirty="0"/>
          </a:p>
        </p:txBody>
      </p:sp>
      <p:sp>
        <p:nvSpPr>
          <p:cNvPr id="29" name="Shape 27"/>
          <p:cNvSpPr/>
          <p:nvPr/>
        </p:nvSpPr>
        <p:spPr>
          <a:xfrm>
            <a:off x="7210044" y="1133856"/>
            <a:ext cx="13716" cy="3749040"/>
          </a:xfrm>
          <a:prstGeom prst="rect">
            <a:avLst/>
          </a:prstGeom>
          <a:solidFill>
            <a:srgbClr val="B6BBC0"/>
          </a:solidFill>
          <a:ln w="12700">
            <a:solidFill>
              <a:srgbClr val="B6BBC0"/>
            </a:solidFill>
            <a:prstDash val="solid"/>
          </a:ln>
        </p:spPr>
      </p:sp>
      <p:sp>
        <p:nvSpPr>
          <p:cNvPr id="30" name="Text 28"/>
          <p:cNvSpPr/>
          <p:nvPr/>
        </p:nvSpPr>
        <p:spPr>
          <a:xfrm>
            <a:off x="7994142"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Q2 FY28</a:t>
            </a:r>
            <a:endParaRPr lang="en-US" sz="750" dirty="0"/>
          </a:p>
        </p:txBody>
      </p:sp>
      <p:sp>
        <p:nvSpPr>
          <p:cNvPr id="31" name="Shape 29"/>
          <p:cNvSpPr/>
          <p:nvPr/>
        </p:nvSpPr>
        <p:spPr>
          <a:xfrm>
            <a:off x="7994142" y="1133856"/>
            <a:ext cx="13716" cy="3749040"/>
          </a:xfrm>
          <a:prstGeom prst="rect">
            <a:avLst/>
          </a:prstGeom>
          <a:solidFill>
            <a:srgbClr val="B6BBC0"/>
          </a:solidFill>
          <a:ln w="12700">
            <a:solidFill>
              <a:srgbClr val="B6BBC0"/>
            </a:solidFill>
            <a:prstDash val="solid"/>
          </a:ln>
        </p:spPr>
      </p:sp>
      <p:sp>
        <p:nvSpPr>
          <p:cNvPr id="32" name="Shape 30"/>
          <p:cNvSpPr/>
          <p:nvPr/>
        </p:nvSpPr>
        <p:spPr>
          <a:xfrm>
            <a:off x="274320" y="1664208"/>
            <a:ext cx="8503920" cy="374904"/>
          </a:xfrm>
          <a:prstGeom prst="rect">
            <a:avLst/>
          </a:prstGeom>
          <a:solidFill>
            <a:srgbClr val="FFFFFF"/>
          </a:solidFill>
          <a:ln w="12700">
            <a:solidFill>
              <a:srgbClr val="E7ECF0"/>
            </a:solidFill>
            <a:prstDash val="solid"/>
          </a:ln>
        </p:spPr>
      </p:sp>
      <p:sp>
        <p:nvSpPr>
          <p:cNvPr id="33" name="Shape 31"/>
          <p:cNvSpPr/>
          <p:nvPr/>
        </p:nvSpPr>
        <p:spPr>
          <a:xfrm>
            <a:off x="274320" y="1664208"/>
            <a:ext cx="54864" cy="374904"/>
          </a:xfrm>
          <a:prstGeom prst="rect">
            <a:avLst/>
          </a:prstGeom>
          <a:solidFill>
            <a:srgbClr val="085CE5"/>
          </a:solidFill>
          <a:ln w="12700">
            <a:solidFill>
              <a:srgbClr val="085CE5"/>
            </a:solidFill>
            <a:prstDash val="solid"/>
          </a:ln>
        </p:spPr>
      </p:sp>
      <p:sp>
        <p:nvSpPr>
          <p:cNvPr id="34" name="Text 32"/>
          <p:cNvSpPr/>
          <p:nvPr/>
        </p:nvSpPr>
        <p:spPr>
          <a:xfrm>
            <a:off x="384048" y="1691640"/>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Churn Sentinel</a:t>
            </a:r>
            <a:endParaRPr lang="en-US" sz="850" dirty="0"/>
          </a:p>
        </p:txBody>
      </p:sp>
      <p:sp>
        <p:nvSpPr>
          <p:cNvPr id="35" name="Text 33"/>
          <p:cNvSpPr/>
          <p:nvPr/>
        </p:nvSpPr>
        <p:spPr>
          <a:xfrm>
            <a:off x="384048" y="1892808"/>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ACH signals  ·  Phase 1</a:t>
            </a:r>
            <a:endParaRPr lang="en-US" sz="750" dirty="0"/>
          </a:p>
        </p:txBody>
      </p:sp>
      <p:sp>
        <p:nvSpPr>
          <p:cNvPr id="36" name="Shape 34"/>
          <p:cNvSpPr/>
          <p:nvPr/>
        </p:nvSpPr>
        <p:spPr>
          <a:xfrm>
            <a:off x="2542032" y="1755648"/>
            <a:ext cx="1495044" cy="182880"/>
          </a:xfrm>
          <a:prstGeom prst="rect">
            <a:avLst/>
          </a:prstGeom>
          <a:solidFill>
            <a:srgbClr val="085CE5">
              <a:alpha val="70000"/>
            </a:srgbClr>
          </a:solidFill>
          <a:ln w="12700">
            <a:solidFill>
              <a:srgbClr val="085CE5">
                <a:alpha val="90000"/>
              </a:srgbClr>
            </a:solidFill>
            <a:prstDash val="solid"/>
          </a:ln>
        </p:spPr>
      </p:sp>
      <p:sp>
        <p:nvSpPr>
          <p:cNvPr id="37" name="Shape 35"/>
          <p:cNvSpPr/>
          <p:nvPr/>
        </p:nvSpPr>
        <p:spPr>
          <a:xfrm>
            <a:off x="3618464" y="1755648"/>
            <a:ext cx="418612" cy="182880"/>
          </a:xfrm>
          <a:prstGeom prst="rect">
            <a:avLst/>
          </a:prstGeom>
          <a:solidFill>
            <a:srgbClr val="085CE5"/>
          </a:solidFill>
          <a:ln w="12700">
            <a:solidFill>
              <a:srgbClr val="085CE5"/>
            </a:solidFill>
            <a:prstDash val="solid"/>
          </a:ln>
        </p:spPr>
      </p:sp>
      <p:sp>
        <p:nvSpPr>
          <p:cNvPr id="38" name="Text 36"/>
          <p:cNvSpPr/>
          <p:nvPr/>
        </p:nvSpPr>
        <p:spPr>
          <a:xfrm>
            <a:off x="2606040" y="1755648"/>
            <a:ext cx="1367028"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ACH Sentinel  ·  Phase 1 launch</a:t>
            </a:r>
            <a:endParaRPr lang="en-US" sz="750" dirty="0"/>
          </a:p>
        </p:txBody>
      </p:sp>
      <p:sp>
        <p:nvSpPr>
          <p:cNvPr id="39" name="Shape 37"/>
          <p:cNvSpPr/>
          <p:nvPr/>
        </p:nvSpPr>
        <p:spPr>
          <a:xfrm>
            <a:off x="274320" y="2066544"/>
            <a:ext cx="8503920" cy="374904"/>
          </a:xfrm>
          <a:prstGeom prst="rect">
            <a:avLst/>
          </a:prstGeom>
          <a:solidFill>
            <a:srgbClr val="F8F9FA"/>
          </a:solidFill>
          <a:ln w="12700">
            <a:solidFill>
              <a:srgbClr val="E7ECF0"/>
            </a:solidFill>
            <a:prstDash val="solid"/>
          </a:ln>
        </p:spPr>
      </p:sp>
      <p:sp>
        <p:nvSpPr>
          <p:cNvPr id="40" name="Shape 38"/>
          <p:cNvSpPr/>
          <p:nvPr/>
        </p:nvSpPr>
        <p:spPr>
          <a:xfrm>
            <a:off x="274320" y="2066544"/>
            <a:ext cx="54864" cy="374904"/>
          </a:xfrm>
          <a:prstGeom prst="rect">
            <a:avLst/>
          </a:prstGeom>
          <a:solidFill>
            <a:srgbClr val="085CE5"/>
          </a:solidFill>
          <a:ln w="12700">
            <a:solidFill>
              <a:srgbClr val="085CE5"/>
            </a:solidFill>
            <a:prstDash val="solid"/>
          </a:ln>
        </p:spPr>
      </p:sp>
      <p:sp>
        <p:nvSpPr>
          <p:cNvPr id="41" name="Text 39"/>
          <p:cNvSpPr/>
          <p:nvPr/>
        </p:nvSpPr>
        <p:spPr>
          <a:xfrm>
            <a:off x="384048" y="2093976"/>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Churn Sentinel +</a:t>
            </a:r>
            <a:endParaRPr lang="en-US" sz="850" dirty="0"/>
          </a:p>
        </p:txBody>
      </p:sp>
      <p:sp>
        <p:nvSpPr>
          <p:cNvPr id="42" name="Text 40"/>
          <p:cNvSpPr/>
          <p:nvPr/>
        </p:nvSpPr>
        <p:spPr>
          <a:xfrm>
            <a:off x="384048" y="2295144"/>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Core + digital enrichment</a:t>
            </a:r>
            <a:endParaRPr lang="en-US" sz="750" dirty="0"/>
          </a:p>
        </p:txBody>
      </p:sp>
      <p:sp>
        <p:nvSpPr>
          <p:cNvPr id="43" name="Shape 41"/>
          <p:cNvSpPr/>
          <p:nvPr/>
        </p:nvSpPr>
        <p:spPr>
          <a:xfrm>
            <a:off x="4110228" y="2157984"/>
            <a:ext cx="1495044" cy="182880"/>
          </a:xfrm>
          <a:prstGeom prst="rect">
            <a:avLst/>
          </a:prstGeom>
          <a:solidFill>
            <a:srgbClr val="085CE5">
              <a:alpha val="70000"/>
            </a:srgbClr>
          </a:solidFill>
          <a:ln w="12700">
            <a:solidFill>
              <a:srgbClr val="085CE5">
                <a:alpha val="90000"/>
              </a:srgbClr>
            </a:solidFill>
            <a:prstDash val="solid"/>
          </a:ln>
        </p:spPr>
      </p:sp>
      <p:sp>
        <p:nvSpPr>
          <p:cNvPr id="44" name="Shape 42"/>
          <p:cNvSpPr/>
          <p:nvPr/>
        </p:nvSpPr>
        <p:spPr>
          <a:xfrm>
            <a:off x="5186660" y="2157984"/>
            <a:ext cx="418612" cy="182880"/>
          </a:xfrm>
          <a:prstGeom prst="rect">
            <a:avLst/>
          </a:prstGeom>
          <a:solidFill>
            <a:srgbClr val="085CE5"/>
          </a:solidFill>
          <a:ln w="12700">
            <a:solidFill>
              <a:srgbClr val="085CE5"/>
            </a:solidFill>
            <a:prstDash val="solid"/>
          </a:ln>
        </p:spPr>
      </p:sp>
      <p:sp>
        <p:nvSpPr>
          <p:cNvPr id="45" name="Text 43"/>
          <p:cNvSpPr/>
          <p:nvPr/>
        </p:nvSpPr>
        <p:spPr>
          <a:xfrm>
            <a:off x="4174236" y="2157984"/>
            <a:ext cx="1367028"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Core &amp; Banno signals  →  Phase 2</a:t>
            </a:r>
            <a:endParaRPr lang="en-US" sz="750" dirty="0"/>
          </a:p>
        </p:txBody>
      </p:sp>
      <p:sp>
        <p:nvSpPr>
          <p:cNvPr id="46" name="Shape 44"/>
          <p:cNvSpPr/>
          <p:nvPr/>
        </p:nvSpPr>
        <p:spPr>
          <a:xfrm>
            <a:off x="274320" y="2468880"/>
            <a:ext cx="8503920" cy="374904"/>
          </a:xfrm>
          <a:prstGeom prst="rect">
            <a:avLst/>
          </a:prstGeom>
          <a:solidFill>
            <a:srgbClr val="FFFFFF"/>
          </a:solidFill>
          <a:ln w="12700">
            <a:solidFill>
              <a:srgbClr val="E7ECF0"/>
            </a:solidFill>
            <a:prstDash val="solid"/>
          </a:ln>
        </p:spPr>
      </p:sp>
      <p:sp>
        <p:nvSpPr>
          <p:cNvPr id="47" name="Shape 45"/>
          <p:cNvSpPr/>
          <p:nvPr/>
        </p:nvSpPr>
        <p:spPr>
          <a:xfrm>
            <a:off x="274320" y="2468880"/>
            <a:ext cx="54864" cy="374904"/>
          </a:xfrm>
          <a:prstGeom prst="rect">
            <a:avLst/>
          </a:prstGeom>
          <a:solidFill>
            <a:srgbClr val="06185F"/>
          </a:solidFill>
          <a:ln w="12700">
            <a:solidFill>
              <a:srgbClr val="06185F"/>
            </a:solidFill>
            <a:prstDash val="solid"/>
          </a:ln>
        </p:spPr>
      </p:sp>
      <p:sp>
        <p:nvSpPr>
          <p:cNvPr id="48" name="Text 46"/>
          <p:cNvSpPr/>
          <p:nvPr/>
        </p:nvSpPr>
        <p:spPr>
          <a:xfrm>
            <a:off x="384048" y="2496312"/>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Zelle Memo Intelligence</a:t>
            </a:r>
            <a:endParaRPr lang="en-US" sz="850" dirty="0"/>
          </a:p>
        </p:txBody>
      </p:sp>
      <p:sp>
        <p:nvSpPr>
          <p:cNvPr id="49" name="Text 47"/>
          <p:cNvSpPr/>
          <p:nvPr/>
        </p:nvSpPr>
        <p:spPr>
          <a:xfrm>
            <a:off x="384048" y="2697480"/>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NLP compliance pipeline</a:t>
            </a:r>
            <a:endParaRPr lang="en-US" sz="750" dirty="0"/>
          </a:p>
        </p:txBody>
      </p:sp>
      <p:sp>
        <p:nvSpPr>
          <p:cNvPr id="50" name="Shape 48"/>
          <p:cNvSpPr/>
          <p:nvPr/>
        </p:nvSpPr>
        <p:spPr>
          <a:xfrm>
            <a:off x="4110228" y="2560320"/>
            <a:ext cx="1495044" cy="182880"/>
          </a:xfrm>
          <a:prstGeom prst="rect">
            <a:avLst/>
          </a:prstGeom>
          <a:solidFill>
            <a:srgbClr val="06185F">
              <a:alpha val="70000"/>
            </a:srgbClr>
          </a:solidFill>
          <a:ln w="12700">
            <a:solidFill>
              <a:srgbClr val="06185F">
                <a:alpha val="90000"/>
              </a:srgbClr>
            </a:solidFill>
            <a:prstDash val="solid"/>
          </a:ln>
        </p:spPr>
      </p:sp>
      <p:sp>
        <p:nvSpPr>
          <p:cNvPr id="51" name="Shape 49"/>
          <p:cNvSpPr/>
          <p:nvPr/>
        </p:nvSpPr>
        <p:spPr>
          <a:xfrm>
            <a:off x="5186660" y="2560320"/>
            <a:ext cx="418612" cy="182880"/>
          </a:xfrm>
          <a:prstGeom prst="rect">
            <a:avLst/>
          </a:prstGeom>
          <a:solidFill>
            <a:srgbClr val="06185F"/>
          </a:solidFill>
          <a:ln w="12700">
            <a:solidFill>
              <a:srgbClr val="06185F"/>
            </a:solidFill>
            <a:prstDash val="solid"/>
          </a:ln>
        </p:spPr>
      </p:sp>
      <p:sp>
        <p:nvSpPr>
          <p:cNvPr id="52" name="Text 50"/>
          <p:cNvSpPr/>
          <p:nvPr/>
        </p:nvSpPr>
        <p:spPr>
          <a:xfrm>
            <a:off x="4174236" y="2560320"/>
            <a:ext cx="1367028"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Build  →  Phase 2 launch</a:t>
            </a:r>
            <a:endParaRPr lang="en-US" sz="750" dirty="0"/>
          </a:p>
        </p:txBody>
      </p:sp>
      <p:sp>
        <p:nvSpPr>
          <p:cNvPr id="53" name="Shape 51"/>
          <p:cNvSpPr/>
          <p:nvPr/>
        </p:nvSpPr>
        <p:spPr>
          <a:xfrm>
            <a:off x="274320" y="2871216"/>
            <a:ext cx="8503920" cy="374904"/>
          </a:xfrm>
          <a:prstGeom prst="rect">
            <a:avLst/>
          </a:prstGeom>
          <a:solidFill>
            <a:srgbClr val="F8F9FA"/>
          </a:solidFill>
          <a:ln w="12700">
            <a:solidFill>
              <a:srgbClr val="E7ECF0"/>
            </a:solidFill>
            <a:prstDash val="solid"/>
          </a:ln>
        </p:spPr>
      </p:sp>
      <p:sp>
        <p:nvSpPr>
          <p:cNvPr id="54" name="Shape 52"/>
          <p:cNvSpPr/>
          <p:nvPr/>
        </p:nvSpPr>
        <p:spPr>
          <a:xfrm>
            <a:off x="274320" y="2871216"/>
            <a:ext cx="54864" cy="374904"/>
          </a:xfrm>
          <a:prstGeom prst="rect">
            <a:avLst/>
          </a:prstGeom>
          <a:solidFill>
            <a:srgbClr val="0A52C4"/>
          </a:solidFill>
          <a:ln w="12700">
            <a:solidFill>
              <a:srgbClr val="0A52C4"/>
            </a:solidFill>
            <a:prstDash val="solid"/>
          </a:ln>
        </p:spPr>
      </p:sp>
      <p:sp>
        <p:nvSpPr>
          <p:cNvPr id="55" name="Text 53"/>
          <p:cNvSpPr/>
          <p:nvPr/>
        </p:nvSpPr>
        <p:spPr>
          <a:xfrm>
            <a:off x="384048" y="2898648"/>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CommercialSignal</a:t>
            </a:r>
            <a:endParaRPr lang="en-US" sz="850" dirty="0"/>
          </a:p>
        </p:txBody>
      </p:sp>
      <p:sp>
        <p:nvSpPr>
          <p:cNvPr id="56" name="Text 54"/>
          <p:cNvSpPr/>
          <p:nvPr/>
        </p:nvSpPr>
        <p:spPr>
          <a:xfrm>
            <a:off x="384048" y="3099816"/>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SMB conversion model</a:t>
            </a:r>
            <a:endParaRPr lang="en-US" sz="750" dirty="0"/>
          </a:p>
        </p:txBody>
      </p:sp>
      <p:sp>
        <p:nvSpPr>
          <p:cNvPr id="57" name="Shape 55"/>
          <p:cNvSpPr/>
          <p:nvPr/>
        </p:nvSpPr>
        <p:spPr>
          <a:xfrm>
            <a:off x="4110228" y="2962656"/>
            <a:ext cx="1495044" cy="182880"/>
          </a:xfrm>
          <a:prstGeom prst="rect">
            <a:avLst/>
          </a:prstGeom>
          <a:solidFill>
            <a:srgbClr val="0A52C4">
              <a:alpha val="70000"/>
            </a:srgbClr>
          </a:solidFill>
          <a:ln w="12700">
            <a:solidFill>
              <a:srgbClr val="0A52C4">
                <a:alpha val="90000"/>
              </a:srgbClr>
            </a:solidFill>
            <a:prstDash val="solid"/>
          </a:ln>
        </p:spPr>
      </p:sp>
      <p:sp>
        <p:nvSpPr>
          <p:cNvPr id="58" name="Shape 56"/>
          <p:cNvSpPr/>
          <p:nvPr/>
        </p:nvSpPr>
        <p:spPr>
          <a:xfrm>
            <a:off x="5186660" y="2962656"/>
            <a:ext cx="418612" cy="182880"/>
          </a:xfrm>
          <a:prstGeom prst="rect">
            <a:avLst/>
          </a:prstGeom>
          <a:solidFill>
            <a:srgbClr val="0A52C4"/>
          </a:solidFill>
          <a:ln w="12700">
            <a:solidFill>
              <a:srgbClr val="0A52C4"/>
            </a:solidFill>
            <a:prstDash val="solid"/>
          </a:ln>
        </p:spPr>
      </p:sp>
      <p:sp>
        <p:nvSpPr>
          <p:cNvPr id="59" name="Text 57"/>
          <p:cNvSpPr/>
          <p:nvPr/>
        </p:nvSpPr>
        <p:spPr>
          <a:xfrm>
            <a:off x="4174236" y="2962656"/>
            <a:ext cx="1367028"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Build  →  Phase 2 launch</a:t>
            </a:r>
            <a:endParaRPr lang="en-US" sz="750" dirty="0"/>
          </a:p>
        </p:txBody>
      </p:sp>
      <p:sp>
        <p:nvSpPr>
          <p:cNvPr id="60" name="Shape 58"/>
          <p:cNvSpPr/>
          <p:nvPr/>
        </p:nvSpPr>
        <p:spPr>
          <a:xfrm>
            <a:off x="274320" y="3273552"/>
            <a:ext cx="8503920" cy="374904"/>
          </a:xfrm>
          <a:prstGeom prst="rect">
            <a:avLst/>
          </a:prstGeom>
          <a:solidFill>
            <a:srgbClr val="FFFFFF"/>
          </a:solidFill>
          <a:ln w="12700">
            <a:solidFill>
              <a:srgbClr val="E7ECF0"/>
            </a:solidFill>
            <a:prstDash val="solid"/>
          </a:ln>
        </p:spPr>
      </p:sp>
      <p:sp>
        <p:nvSpPr>
          <p:cNvPr id="61" name="Shape 59"/>
          <p:cNvSpPr/>
          <p:nvPr/>
        </p:nvSpPr>
        <p:spPr>
          <a:xfrm>
            <a:off x="274320" y="3273552"/>
            <a:ext cx="54864" cy="374904"/>
          </a:xfrm>
          <a:prstGeom prst="rect">
            <a:avLst/>
          </a:prstGeom>
          <a:solidFill>
            <a:srgbClr val="0F3D8A"/>
          </a:solidFill>
          <a:ln w="12700">
            <a:solidFill>
              <a:srgbClr val="0F3D8A"/>
            </a:solidFill>
            <a:prstDash val="solid"/>
          </a:ln>
        </p:spPr>
      </p:sp>
      <p:sp>
        <p:nvSpPr>
          <p:cNvPr id="62" name="Text 60"/>
          <p:cNvSpPr/>
          <p:nvPr/>
        </p:nvSpPr>
        <p:spPr>
          <a:xfrm>
            <a:off x="384048" y="3300984"/>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Gen. Wealth Deflection</a:t>
            </a:r>
            <a:endParaRPr lang="en-US" sz="850" dirty="0"/>
          </a:p>
        </p:txBody>
      </p:sp>
      <p:sp>
        <p:nvSpPr>
          <p:cNvPr id="63" name="Text 61"/>
          <p:cNvSpPr/>
          <p:nvPr/>
        </p:nvSpPr>
        <p:spPr>
          <a:xfrm>
            <a:off x="384048" y="3502152"/>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Household coverage model</a:t>
            </a:r>
            <a:endParaRPr lang="en-US" sz="750" dirty="0"/>
          </a:p>
        </p:txBody>
      </p:sp>
      <p:sp>
        <p:nvSpPr>
          <p:cNvPr id="64" name="Shape 62"/>
          <p:cNvSpPr/>
          <p:nvPr/>
        </p:nvSpPr>
        <p:spPr>
          <a:xfrm>
            <a:off x="4110228" y="3364992"/>
            <a:ext cx="2279142" cy="182880"/>
          </a:xfrm>
          <a:prstGeom prst="rect">
            <a:avLst/>
          </a:prstGeom>
          <a:solidFill>
            <a:srgbClr val="0F3D8A">
              <a:alpha val="70000"/>
            </a:srgbClr>
          </a:solidFill>
          <a:ln w="12700">
            <a:solidFill>
              <a:srgbClr val="0F3D8A">
                <a:alpha val="90000"/>
              </a:srgbClr>
            </a:solidFill>
            <a:prstDash val="solid"/>
          </a:ln>
        </p:spPr>
      </p:sp>
      <p:sp>
        <p:nvSpPr>
          <p:cNvPr id="65" name="Shape 63"/>
          <p:cNvSpPr/>
          <p:nvPr/>
        </p:nvSpPr>
        <p:spPr>
          <a:xfrm>
            <a:off x="5751210" y="3364992"/>
            <a:ext cx="638160" cy="182880"/>
          </a:xfrm>
          <a:prstGeom prst="rect">
            <a:avLst/>
          </a:prstGeom>
          <a:solidFill>
            <a:srgbClr val="0F3D8A"/>
          </a:solidFill>
          <a:ln w="12700">
            <a:solidFill>
              <a:srgbClr val="0F3D8A"/>
            </a:solidFill>
            <a:prstDash val="solid"/>
          </a:ln>
        </p:spPr>
      </p:sp>
      <p:sp>
        <p:nvSpPr>
          <p:cNvPr id="66" name="Text 64"/>
          <p:cNvSpPr/>
          <p:nvPr/>
        </p:nvSpPr>
        <p:spPr>
          <a:xfrm>
            <a:off x="4174236" y="3364992"/>
            <a:ext cx="2151126"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Phase 2 build  →  Phase 3</a:t>
            </a:r>
            <a:endParaRPr lang="en-US" sz="750" dirty="0"/>
          </a:p>
        </p:txBody>
      </p:sp>
      <p:sp>
        <p:nvSpPr>
          <p:cNvPr id="67" name="Shape 65"/>
          <p:cNvSpPr/>
          <p:nvPr/>
        </p:nvSpPr>
        <p:spPr>
          <a:xfrm>
            <a:off x="274320" y="3675888"/>
            <a:ext cx="8503920" cy="374904"/>
          </a:xfrm>
          <a:prstGeom prst="rect">
            <a:avLst/>
          </a:prstGeom>
          <a:solidFill>
            <a:srgbClr val="F8F9FA"/>
          </a:solidFill>
          <a:ln w="12700">
            <a:solidFill>
              <a:srgbClr val="E7ECF0"/>
            </a:solidFill>
            <a:prstDash val="solid"/>
          </a:ln>
        </p:spPr>
      </p:sp>
      <p:sp>
        <p:nvSpPr>
          <p:cNvPr id="68" name="Shape 66"/>
          <p:cNvSpPr/>
          <p:nvPr/>
        </p:nvSpPr>
        <p:spPr>
          <a:xfrm>
            <a:off x="274320" y="3675888"/>
            <a:ext cx="54864" cy="374904"/>
          </a:xfrm>
          <a:prstGeom prst="rect">
            <a:avLst/>
          </a:prstGeom>
          <a:solidFill>
            <a:srgbClr val="073FA8"/>
          </a:solidFill>
          <a:ln w="12700">
            <a:solidFill>
              <a:srgbClr val="073FA8"/>
            </a:solidFill>
            <a:prstDash val="solid"/>
          </a:ln>
        </p:spPr>
      </p:sp>
      <p:sp>
        <p:nvSpPr>
          <p:cNvPr id="69" name="Text 67"/>
          <p:cNvSpPr/>
          <p:nvPr/>
        </p:nvSpPr>
        <p:spPr>
          <a:xfrm>
            <a:off x="384048" y="3703320"/>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Anomaly Detection</a:t>
            </a:r>
            <a:endParaRPr lang="en-US" sz="850" dirty="0"/>
          </a:p>
        </p:txBody>
      </p:sp>
      <p:sp>
        <p:nvSpPr>
          <p:cNvPr id="70" name="Text 68"/>
          <p:cNvSpPr/>
          <p:nvPr/>
        </p:nvSpPr>
        <p:spPr>
          <a:xfrm>
            <a:off x="384048" y="3904488"/>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Real-time fraud engine</a:t>
            </a:r>
            <a:endParaRPr lang="en-US" sz="750" dirty="0"/>
          </a:p>
        </p:txBody>
      </p:sp>
      <p:sp>
        <p:nvSpPr>
          <p:cNvPr id="71" name="Shape 69"/>
          <p:cNvSpPr/>
          <p:nvPr/>
        </p:nvSpPr>
        <p:spPr>
          <a:xfrm>
            <a:off x="5678424" y="3767328"/>
            <a:ext cx="2279142" cy="182880"/>
          </a:xfrm>
          <a:prstGeom prst="rect">
            <a:avLst/>
          </a:prstGeom>
          <a:solidFill>
            <a:srgbClr val="073FA8">
              <a:alpha val="70000"/>
            </a:srgbClr>
          </a:solidFill>
          <a:ln w="12700">
            <a:solidFill>
              <a:srgbClr val="073FA8">
                <a:alpha val="90000"/>
              </a:srgbClr>
            </a:solidFill>
            <a:prstDash val="solid"/>
          </a:ln>
        </p:spPr>
      </p:sp>
      <p:sp>
        <p:nvSpPr>
          <p:cNvPr id="72" name="Shape 70"/>
          <p:cNvSpPr/>
          <p:nvPr/>
        </p:nvSpPr>
        <p:spPr>
          <a:xfrm>
            <a:off x="7319406" y="3767328"/>
            <a:ext cx="638160" cy="182880"/>
          </a:xfrm>
          <a:prstGeom prst="rect">
            <a:avLst/>
          </a:prstGeom>
          <a:solidFill>
            <a:srgbClr val="073FA8"/>
          </a:solidFill>
          <a:ln w="12700">
            <a:solidFill>
              <a:srgbClr val="073FA8"/>
            </a:solidFill>
            <a:prstDash val="solid"/>
          </a:ln>
        </p:spPr>
      </p:sp>
      <p:sp>
        <p:nvSpPr>
          <p:cNvPr id="73" name="Text 71"/>
          <p:cNvSpPr/>
          <p:nvPr/>
        </p:nvSpPr>
        <p:spPr>
          <a:xfrm>
            <a:off x="5742432" y="3767328"/>
            <a:ext cx="2151126"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Build  →  Phase 3 launch</a:t>
            </a:r>
            <a:endParaRPr lang="en-US" sz="750" dirty="0"/>
          </a:p>
        </p:txBody>
      </p:sp>
      <p:sp>
        <p:nvSpPr>
          <p:cNvPr id="74" name="Shape 72"/>
          <p:cNvSpPr/>
          <p:nvPr/>
        </p:nvSpPr>
        <p:spPr>
          <a:xfrm>
            <a:off x="274320" y="4078224"/>
            <a:ext cx="8503920" cy="374904"/>
          </a:xfrm>
          <a:prstGeom prst="rect">
            <a:avLst/>
          </a:prstGeom>
          <a:solidFill>
            <a:srgbClr val="FFFFFF"/>
          </a:solidFill>
          <a:ln w="12700">
            <a:solidFill>
              <a:srgbClr val="E7ECF0"/>
            </a:solidFill>
            <a:prstDash val="solid"/>
          </a:ln>
        </p:spPr>
      </p:sp>
      <p:sp>
        <p:nvSpPr>
          <p:cNvPr id="75" name="Shape 73"/>
          <p:cNvSpPr/>
          <p:nvPr/>
        </p:nvSpPr>
        <p:spPr>
          <a:xfrm>
            <a:off x="274320" y="4078224"/>
            <a:ext cx="54864" cy="374904"/>
          </a:xfrm>
          <a:prstGeom prst="rect">
            <a:avLst/>
          </a:prstGeom>
          <a:solidFill>
            <a:srgbClr val="0D2E7A"/>
          </a:solidFill>
          <a:ln w="12700">
            <a:solidFill>
              <a:srgbClr val="0D2E7A"/>
            </a:solidFill>
            <a:prstDash val="solid"/>
          </a:ln>
        </p:spPr>
      </p:sp>
      <p:sp>
        <p:nvSpPr>
          <p:cNvPr id="76" name="Text 74"/>
          <p:cNvSpPr/>
          <p:nvPr/>
        </p:nvSpPr>
        <p:spPr>
          <a:xfrm>
            <a:off x="384048" y="4105656"/>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FI Decision Studio</a:t>
            </a:r>
            <a:endParaRPr lang="en-US" sz="850" dirty="0"/>
          </a:p>
        </p:txBody>
      </p:sp>
      <p:sp>
        <p:nvSpPr>
          <p:cNvPr id="77" name="Text 75"/>
          <p:cNvSpPr/>
          <p:nvPr/>
        </p:nvSpPr>
        <p:spPr>
          <a:xfrm>
            <a:off x="384048" y="4306824"/>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AutoML platform  ·  GA</a:t>
            </a:r>
            <a:endParaRPr lang="en-US" sz="750" dirty="0"/>
          </a:p>
        </p:txBody>
      </p:sp>
      <p:sp>
        <p:nvSpPr>
          <p:cNvPr id="78" name="Shape 76"/>
          <p:cNvSpPr/>
          <p:nvPr/>
        </p:nvSpPr>
        <p:spPr>
          <a:xfrm>
            <a:off x="5678424" y="4169664"/>
            <a:ext cx="3063240" cy="182880"/>
          </a:xfrm>
          <a:prstGeom prst="rect">
            <a:avLst/>
          </a:prstGeom>
          <a:solidFill>
            <a:srgbClr val="0D2E7A">
              <a:alpha val="70000"/>
            </a:srgbClr>
          </a:solidFill>
          <a:ln w="12700">
            <a:solidFill>
              <a:srgbClr val="0D2E7A">
                <a:alpha val="90000"/>
              </a:srgbClr>
            </a:solidFill>
            <a:prstDash val="solid"/>
          </a:ln>
        </p:spPr>
      </p:sp>
      <p:sp>
        <p:nvSpPr>
          <p:cNvPr id="79" name="Shape 77"/>
          <p:cNvSpPr/>
          <p:nvPr/>
        </p:nvSpPr>
        <p:spPr>
          <a:xfrm>
            <a:off x="8030718" y="4169664"/>
            <a:ext cx="710946" cy="182880"/>
          </a:xfrm>
          <a:prstGeom prst="rect">
            <a:avLst/>
          </a:prstGeom>
          <a:solidFill>
            <a:srgbClr val="0D2E7A"/>
          </a:solidFill>
          <a:ln w="12700">
            <a:solidFill>
              <a:srgbClr val="0D2E7A"/>
            </a:solidFill>
            <a:prstDash val="solid"/>
          </a:ln>
        </p:spPr>
      </p:sp>
      <p:sp>
        <p:nvSpPr>
          <p:cNvPr id="80" name="Text 78"/>
          <p:cNvSpPr/>
          <p:nvPr/>
        </p:nvSpPr>
        <p:spPr>
          <a:xfrm>
            <a:off x="5742432" y="4169664"/>
            <a:ext cx="2935224"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Platform build  →  Phase 3 GA</a:t>
            </a:r>
            <a:endParaRPr lang="en-US" sz="750" dirty="0"/>
          </a:p>
        </p:txBody>
      </p:sp>
      <p:sp>
        <p:nvSpPr>
          <p:cNvPr id="81" name="Shape 79"/>
          <p:cNvSpPr/>
          <p:nvPr/>
        </p:nvSpPr>
        <p:spPr>
          <a:xfrm>
            <a:off x="384048" y="4919472"/>
            <a:ext cx="457200" cy="128016"/>
          </a:xfrm>
          <a:prstGeom prst="rect">
            <a:avLst/>
          </a:prstGeom>
          <a:solidFill>
            <a:srgbClr val="085CE5">
              <a:alpha val="70000"/>
            </a:srgbClr>
          </a:solidFill>
          <a:ln w="12700">
            <a:solidFill>
              <a:srgbClr val="085CE5"/>
            </a:solidFill>
            <a:prstDash val="solid"/>
          </a:ln>
        </p:spPr>
      </p:sp>
      <p:sp>
        <p:nvSpPr>
          <p:cNvPr id="82" name="Text 80"/>
          <p:cNvSpPr/>
          <p:nvPr/>
        </p:nvSpPr>
        <p:spPr>
          <a:xfrm>
            <a:off x="896112" y="4919472"/>
            <a:ext cx="1280160" cy="128016"/>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Build / validate</a:t>
            </a:r>
            <a:endParaRPr lang="en-US" sz="750" dirty="0"/>
          </a:p>
        </p:txBody>
      </p:sp>
      <p:sp>
        <p:nvSpPr>
          <p:cNvPr id="83" name="Shape 81"/>
          <p:cNvSpPr/>
          <p:nvPr/>
        </p:nvSpPr>
        <p:spPr>
          <a:xfrm>
            <a:off x="2304288" y="4919472"/>
            <a:ext cx="457200" cy="128016"/>
          </a:xfrm>
          <a:prstGeom prst="rect">
            <a:avLst/>
          </a:prstGeom>
          <a:solidFill>
            <a:srgbClr val="085CE5"/>
          </a:solidFill>
          <a:ln w="12700">
            <a:solidFill>
              <a:srgbClr val="085CE5"/>
            </a:solidFill>
            <a:prstDash val="solid"/>
          </a:ln>
        </p:spPr>
      </p:sp>
      <p:sp>
        <p:nvSpPr>
          <p:cNvPr id="84" name="Text 82"/>
          <p:cNvSpPr/>
          <p:nvPr/>
        </p:nvSpPr>
        <p:spPr>
          <a:xfrm>
            <a:off x="2816352" y="4919472"/>
            <a:ext cx="1280160" cy="128016"/>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Launch window</a:t>
            </a:r>
            <a:endParaRPr lang="en-US" sz="750" dirty="0"/>
          </a:p>
        </p:txBody>
      </p:sp>
      <p:sp>
        <p:nvSpPr>
          <p:cNvPr id="85" name="Shape 83"/>
          <p:cNvSpPr/>
          <p:nvPr/>
        </p:nvSpPr>
        <p:spPr>
          <a:xfrm>
            <a:off x="2519172" y="1115568"/>
            <a:ext cx="36576" cy="3767328"/>
          </a:xfrm>
          <a:prstGeom prst="rect">
            <a:avLst/>
          </a:prstGeom>
          <a:solidFill>
            <a:srgbClr val="76DCFD"/>
          </a:solidFill>
          <a:ln w="12700">
            <a:solidFill>
              <a:srgbClr val="76DCFD"/>
            </a:solidFill>
            <a:prstDash val="solid"/>
          </a:ln>
        </p:spPr>
      </p:sp>
      <p:sp>
        <p:nvSpPr>
          <p:cNvPr id="86" name="Text 84"/>
          <p:cNvSpPr/>
          <p:nvPr/>
        </p:nvSpPr>
        <p:spPr>
          <a:xfrm>
            <a:off x="2395728" y="1097280"/>
            <a:ext cx="502920" cy="219456"/>
          </a:xfrm>
          <a:prstGeom prst="rect">
            <a:avLst/>
          </a:prstGeom>
          <a:noFill/>
          <a:ln/>
        </p:spPr>
        <p:txBody>
          <a:bodyPr wrap="square" lIns="0" tIns="0" rIns="0" bIns="0" rtlCol="0" anchor="ctr"/>
          <a:lstStyle/>
          <a:p>
            <a:pPr algn="ctr" indent="0" marL="0">
              <a:buNone/>
            </a:pPr>
            <a:r>
              <a:rPr lang="en-US" sz="700" b="1" dirty="0">
                <a:solidFill>
                  <a:srgbClr val="76DCFD"/>
                </a:solidFill>
                <a:latin typeface="Calibri" pitchFamily="34" charset="0"/>
                <a:ea typeface="Calibri" pitchFamily="34" charset="-122"/>
                <a:cs typeface="Calibri" pitchFamily="34" charset="-120"/>
              </a:rPr>
              <a:t>NOW</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Phased Delivery Roadmap — FY26 Q3 through FY28 Q2</a:t>
            </a:r>
            <a:endParaRPr lang="en-US" sz="2200" dirty="0"/>
          </a:p>
        </p:txBody>
      </p:sp>
      <p:sp>
        <p:nvSpPr>
          <p:cNvPr id="4" name="Shape 2"/>
          <p:cNvSpPr/>
          <p:nvPr/>
        </p:nvSpPr>
        <p:spPr>
          <a:xfrm>
            <a:off x="256032" y="749808"/>
            <a:ext cx="2816352" cy="41330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256032" y="749808"/>
            <a:ext cx="2816352" cy="804672"/>
          </a:xfrm>
          <a:prstGeom prst="rect">
            <a:avLst/>
          </a:prstGeom>
          <a:solidFill>
            <a:srgbClr val="085CE5"/>
          </a:solidFill>
          <a:ln w="12700">
            <a:solidFill>
              <a:srgbClr val="085CE5"/>
            </a:solidFill>
            <a:prstDash val="solid"/>
          </a:ln>
        </p:spPr>
      </p:sp>
      <p:sp>
        <p:nvSpPr>
          <p:cNvPr id="6" name="Text 4"/>
          <p:cNvSpPr/>
          <p:nvPr/>
        </p:nvSpPr>
        <p:spPr>
          <a:xfrm>
            <a:off x="365760" y="804672"/>
            <a:ext cx="621792" cy="658368"/>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01</a:t>
            </a:r>
            <a:endParaRPr lang="en-US" sz="3600" dirty="0"/>
          </a:p>
        </p:txBody>
      </p:sp>
      <p:sp>
        <p:nvSpPr>
          <p:cNvPr id="7" name="Shape 5"/>
          <p:cNvSpPr/>
          <p:nvPr/>
        </p:nvSpPr>
        <p:spPr>
          <a:xfrm>
            <a:off x="1024128" y="896112"/>
            <a:ext cx="36576" cy="475488"/>
          </a:xfrm>
          <a:prstGeom prst="rect">
            <a:avLst/>
          </a:prstGeom>
          <a:solidFill>
            <a:srgbClr val="FFFFFF">
              <a:alpha val="60000"/>
            </a:srgbClr>
          </a:solidFill>
          <a:ln w="12700">
            <a:solidFill>
              <a:srgbClr val="FFFFFF">
                <a:alpha val="60000"/>
              </a:srgbClr>
            </a:solidFill>
            <a:prstDash val="solid"/>
          </a:ln>
        </p:spPr>
      </p:sp>
      <p:sp>
        <p:nvSpPr>
          <p:cNvPr id="8" name="Text 6"/>
          <p:cNvSpPr/>
          <p:nvPr/>
        </p:nvSpPr>
        <p:spPr>
          <a:xfrm>
            <a:off x="1133856" y="822960"/>
            <a:ext cx="18288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Foundation</a:t>
            </a:r>
            <a:endParaRPr lang="en-US" sz="1500" dirty="0"/>
          </a:p>
        </p:txBody>
      </p:sp>
      <p:sp>
        <p:nvSpPr>
          <p:cNvPr id="9" name="Text 7"/>
          <p:cNvSpPr/>
          <p:nvPr/>
        </p:nvSpPr>
        <p:spPr>
          <a:xfrm>
            <a:off x="1133856" y="1188720"/>
            <a:ext cx="182880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Q3–Q4 FY26  (Jan–Jun 2026)</a:t>
            </a:r>
            <a:endParaRPr lang="en-US" sz="1000" dirty="0"/>
          </a:p>
        </p:txBody>
      </p:sp>
      <p:sp>
        <p:nvSpPr>
          <p:cNvPr id="10" name="Text 8"/>
          <p:cNvSpPr/>
          <p:nvPr/>
        </p:nvSpPr>
        <p:spPr>
          <a:xfrm>
            <a:off x="420624" y="1664208"/>
            <a:ext cx="2542032" cy="1938528"/>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Hire core team: Data Engineers + ML Engineers</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Stand up cloud data platform and ML infrastructure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Ingest ACH payment rails — direct deposit monitoring live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Churn Sentinel Phase 1: ACH cadence + originator change alerts</a:t>
            </a:r>
            <a:endParaRPr lang="en-US" sz="1000" dirty="0"/>
          </a:p>
        </p:txBody>
      </p:sp>
      <p:sp>
        <p:nvSpPr>
          <p:cNvPr id="11" name="Shape 9"/>
          <p:cNvSpPr/>
          <p:nvPr/>
        </p:nvSpPr>
        <p:spPr>
          <a:xfrm>
            <a:off x="256032" y="3675888"/>
            <a:ext cx="2816352" cy="237744"/>
          </a:xfrm>
          <a:prstGeom prst="rect">
            <a:avLst/>
          </a:prstGeom>
          <a:solidFill>
            <a:srgbClr val="085CE5">
              <a:alpha val="12000"/>
            </a:srgbClr>
          </a:solidFill>
          <a:ln w="12700">
            <a:solidFill>
              <a:srgbClr val="085CE5">
                <a:alpha val="30000"/>
              </a:srgbClr>
            </a:solidFill>
            <a:prstDash val="solid"/>
          </a:ln>
        </p:spPr>
      </p:sp>
      <p:sp>
        <p:nvSpPr>
          <p:cNvPr id="12" name="Shape 10"/>
          <p:cNvSpPr/>
          <p:nvPr/>
        </p:nvSpPr>
        <p:spPr>
          <a:xfrm>
            <a:off x="256032" y="3675888"/>
            <a:ext cx="54864" cy="237744"/>
          </a:xfrm>
          <a:prstGeom prst="rect">
            <a:avLst/>
          </a:prstGeom>
          <a:solidFill>
            <a:srgbClr val="085CE5"/>
          </a:solidFill>
          <a:ln w="12700">
            <a:solidFill>
              <a:srgbClr val="085CE5"/>
            </a:solidFill>
            <a:prstDash val="solid"/>
          </a:ln>
        </p:spPr>
      </p:sp>
      <p:sp>
        <p:nvSpPr>
          <p:cNvPr id="13" name="Text 11"/>
          <p:cNvSpPr/>
          <p:nvPr/>
        </p:nvSpPr>
        <p:spPr>
          <a:xfrm>
            <a:off x="384048" y="3675888"/>
            <a:ext cx="2651760" cy="237744"/>
          </a:xfrm>
          <a:prstGeom prst="rect">
            <a:avLst/>
          </a:prstGeom>
          <a:noFill/>
          <a:ln/>
        </p:spPr>
        <p:txBody>
          <a:bodyPr wrap="square" lIns="0" tIns="0" rIns="0" bIns="0" rtlCol="0" anchor="ctr"/>
          <a:lstStyle/>
          <a:p>
            <a:pPr indent="0" marL="0">
              <a:buNone/>
            </a:pPr>
            <a:r>
              <a:rPr lang="en-US" sz="750" b="1" spc="50" kern="0" dirty="0">
                <a:solidFill>
                  <a:srgbClr val="085CE5"/>
                </a:solidFill>
                <a:latin typeface="Calibri" pitchFamily="34" charset="0"/>
                <a:ea typeface="Calibri" pitchFamily="34" charset="-122"/>
                <a:cs typeface="Calibri" pitchFamily="34" charset="-120"/>
              </a:rPr>
              <a:t>APPS DELIVERING THIS PHASE</a:t>
            </a:r>
            <a:endParaRPr lang="en-US" sz="750" dirty="0"/>
          </a:p>
        </p:txBody>
      </p:sp>
      <p:sp>
        <p:nvSpPr>
          <p:cNvPr id="14" name="Shape 12"/>
          <p:cNvSpPr/>
          <p:nvPr/>
        </p:nvSpPr>
        <p:spPr>
          <a:xfrm>
            <a:off x="384048" y="3950208"/>
            <a:ext cx="2523744" cy="256032"/>
          </a:xfrm>
          <a:prstGeom prst="rect">
            <a:avLst/>
          </a:prstGeom>
          <a:solidFill>
            <a:srgbClr val="085CE5"/>
          </a:solidFill>
          <a:ln w="12700">
            <a:solidFill>
              <a:srgbClr val="085CE5"/>
            </a:solidFill>
            <a:prstDash val="solid"/>
          </a:ln>
        </p:spPr>
      </p:sp>
      <p:sp>
        <p:nvSpPr>
          <p:cNvPr id="15" name="Shape 13"/>
          <p:cNvSpPr/>
          <p:nvPr/>
        </p:nvSpPr>
        <p:spPr>
          <a:xfrm>
            <a:off x="438912" y="4014216"/>
            <a:ext cx="128016" cy="128016"/>
          </a:xfrm>
          <a:prstGeom prst="ellipse">
            <a:avLst/>
          </a:prstGeom>
          <a:solidFill>
            <a:srgbClr val="FFFFFF">
              <a:alpha val="70000"/>
            </a:srgbClr>
          </a:solidFill>
          <a:ln w="12700">
            <a:solidFill>
              <a:srgbClr val="FFFFFF">
                <a:alpha val="70000"/>
              </a:srgbClr>
            </a:solidFill>
            <a:prstDash val="solid"/>
          </a:ln>
        </p:spPr>
      </p:sp>
      <p:sp>
        <p:nvSpPr>
          <p:cNvPr id="16" name="Text 14"/>
          <p:cNvSpPr/>
          <p:nvPr/>
        </p:nvSpPr>
        <p:spPr>
          <a:xfrm>
            <a:off x="621792" y="3950208"/>
            <a:ext cx="155448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Churn Sentinel</a:t>
            </a:r>
            <a:endParaRPr lang="en-US" sz="900" dirty="0"/>
          </a:p>
        </p:txBody>
      </p:sp>
      <p:sp>
        <p:nvSpPr>
          <p:cNvPr id="17" name="Shape 15"/>
          <p:cNvSpPr/>
          <p:nvPr/>
        </p:nvSpPr>
        <p:spPr>
          <a:xfrm>
            <a:off x="2029968" y="3977640"/>
            <a:ext cx="749808" cy="201168"/>
          </a:xfrm>
          <a:prstGeom prst="rect">
            <a:avLst/>
          </a:prstGeom>
          <a:solidFill>
            <a:srgbClr val="FFFFFF">
              <a:alpha val="80000"/>
            </a:srgbClr>
          </a:solidFill>
          <a:ln w="12700">
            <a:solidFill>
              <a:srgbClr val="FFFFFF">
                <a:alpha val="60000"/>
              </a:srgbClr>
            </a:solidFill>
            <a:prstDash val="solid"/>
          </a:ln>
        </p:spPr>
      </p:sp>
      <p:sp>
        <p:nvSpPr>
          <p:cNvPr id="18" name="Text 16"/>
          <p:cNvSpPr/>
          <p:nvPr/>
        </p:nvSpPr>
        <p:spPr>
          <a:xfrm>
            <a:off x="2029968" y="3977640"/>
            <a:ext cx="749808"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ACH</a:t>
            </a:r>
            <a:endParaRPr lang="en-US" sz="700" dirty="0"/>
          </a:p>
        </p:txBody>
      </p:sp>
      <p:sp>
        <p:nvSpPr>
          <p:cNvPr id="19" name="Shape 17"/>
          <p:cNvSpPr/>
          <p:nvPr/>
        </p:nvSpPr>
        <p:spPr>
          <a:xfrm>
            <a:off x="3200400" y="749808"/>
            <a:ext cx="2816352" cy="41330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0" name="Shape 18"/>
          <p:cNvSpPr/>
          <p:nvPr/>
        </p:nvSpPr>
        <p:spPr>
          <a:xfrm>
            <a:off x="3200400" y="749808"/>
            <a:ext cx="2816352" cy="804672"/>
          </a:xfrm>
          <a:prstGeom prst="rect">
            <a:avLst/>
          </a:prstGeom>
          <a:solidFill>
            <a:srgbClr val="073FA8"/>
          </a:solidFill>
          <a:ln w="12700">
            <a:solidFill>
              <a:srgbClr val="073FA8"/>
            </a:solidFill>
            <a:prstDash val="solid"/>
          </a:ln>
        </p:spPr>
      </p:sp>
      <p:sp>
        <p:nvSpPr>
          <p:cNvPr id="21" name="Text 19"/>
          <p:cNvSpPr/>
          <p:nvPr/>
        </p:nvSpPr>
        <p:spPr>
          <a:xfrm>
            <a:off x="3310128" y="804672"/>
            <a:ext cx="621792" cy="658368"/>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02</a:t>
            </a:r>
            <a:endParaRPr lang="en-US" sz="3600" dirty="0"/>
          </a:p>
        </p:txBody>
      </p:sp>
      <p:sp>
        <p:nvSpPr>
          <p:cNvPr id="22" name="Shape 20"/>
          <p:cNvSpPr/>
          <p:nvPr/>
        </p:nvSpPr>
        <p:spPr>
          <a:xfrm>
            <a:off x="3968496" y="896112"/>
            <a:ext cx="36576" cy="475488"/>
          </a:xfrm>
          <a:prstGeom prst="rect">
            <a:avLst/>
          </a:prstGeom>
          <a:solidFill>
            <a:srgbClr val="FFFFFF">
              <a:alpha val="60000"/>
            </a:srgbClr>
          </a:solidFill>
          <a:ln w="12700">
            <a:solidFill>
              <a:srgbClr val="FFFFFF">
                <a:alpha val="60000"/>
              </a:srgbClr>
            </a:solidFill>
            <a:prstDash val="solid"/>
          </a:ln>
        </p:spPr>
      </p:sp>
      <p:sp>
        <p:nvSpPr>
          <p:cNvPr id="23" name="Text 21"/>
          <p:cNvSpPr/>
          <p:nvPr/>
        </p:nvSpPr>
        <p:spPr>
          <a:xfrm>
            <a:off x="4078224" y="822960"/>
            <a:ext cx="18288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Core Applications</a:t>
            </a:r>
            <a:endParaRPr lang="en-US" sz="1500" dirty="0"/>
          </a:p>
        </p:txBody>
      </p:sp>
      <p:sp>
        <p:nvSpPr>
          <p:cNvPr id="24" name="Text 22"/>
          <p:cNvSpPr/>
          <p:nvPr/>
        </p:nvSpPr>
        <p:spPr>
          <a:xfrm>
            <a:off x="4078224" y="1188720"/>
            <a:ext cx="182880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Q1–Q2 FY27  (Jul–Dec 2026)</a:t>
            </a:r>
            <a:endParaRPr lang="en-US" sz="1000" dirty="0"/>
          </a:p>
        </p:txBody>
      </p:sp>
      <p:sp>
        <p:nvSpPr>
          <p:cNvPr id="25" name="Text 23"/>
          <p:cNvSpPr/>
          <p:nvPr/>
        </p:nvSpPr>
        <p:spPr>
          <a:xfrm>
            <a:off x="3364992" y="1664208"/>
            <a:ext cx="2542032" cy="1938528"/>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Churn Sentinel Phase 2: core banking + Banno digital signals</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CommercialSignal: personal-to-business conversion model</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Generational Wealth household relationship engine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Exec dashboards + FI banker score explorer live</a:t>
            </a:r>
            <a:endParaRPr lang="en-US" sz="1000" dirty="0"/>
          </a:p>
        </p:txBody>
      </p:sp>
      <p:sp>
        <p:nvSpPr>
          <p:cNvPr id="26" name="Shape 24"/>
          <p:cNvSpPr/>
          <p:nvPr/>
        </p:nvSpPr>
        <p:spPr>
          <a:xfrm>
            <a:off x="3200400" y="3438144"/>
            <a:ext cx="2816352" cy="237744"/>
          </a:xfrm>
          <a:prstGeom prst="rect">
            <a:avLst/>
          </a:prstGeom>
          <a:solidFill>
            <a:srgbClr val="073FA8">
              <a:alpha val="12000"/>
            </a:srgbClr>
          </a:solidFill>
          <a:ln w="12700">
            <a:solidFill>
              <a:srgbClr val="073FA8">
                <a:alpha val="30000"/>
              </a:srgbClr>
            </a:solidFill>
            <a:prstDash val="solid"/>
          </a:ln>
        </p:spPr>
      </p:sp>
      <p:sp>
        <p:nvSpPr>
          <p:cNvPr id="27" name="Shape 25"/>
          <p:cNvSpPr/>
          <p:nvPr/>
        </p:nvSpPr>
        <p:spPr>
          <a:xfrm>
            <a:off x="3200400" y="3438144"/>
            <a:ext cx="54864" cy="237744"/>
          </a:xfrm>
          <a:prstGeom prst="rect">
            <a:avLst/>
          </a:prstGeom>
          <a:solidFill>
            <a:srgbClr val="073FA8"/>
          </a:solidFill>
          <a:ln w="12700">
            <a:solidFill>
              <a:srgbClr val="073FA8"/>
            </a:solidFill>
            <a:prstDash val="solid"/>
          </a:ln>
        </p:spPr>
      </p:sp>
      <p:sp>
        <p:nvSpPr>
          <p:cNvPr id="28" name="Text 26"/>
          <p:cNvSpPr/>
          <p:nvPr/>
        </p:nvSpPr>
        <p:spPr>
          <a:xfrm>
            <a:off x="3328416" y="3438144"/>
            <a:ext cx="2651760" cy="237744"/>
          </a:xfrm>
          <a:prstGeom prst="rect">
            <a:avLst/>
          </a:prstGeom>
          <a:noFill/>
          <a:ln/>
        </p:spPr>
        <p:txBody>
          <a:bodyPr wrap="square" lIns="0" tIns="0" rIns="0" bIns="0" rtlCol="0" anchor="ctr"/>
          <a:lstStyle/>
          <a:p>
            <a:pPr indent="0" marL="0">
              <a:buNone/>
            </a:pPr>
            <a:r>
              <a:rPr lang="en-US" sz="750" b="1" spc="50" kern="0" dirty="0">
                <a:solidFill>
                  <a:srgbClr val="073FA8"/>
                </a:solidFill>
                <a:latin typeface="Calibri" pitchFamily="34" charset="0"/>
                <a:ea typeface="Calibri" pitchFamily="34" charset="-122"/>
                <a:cs typeface="Calibri" pitchFamily="34" charset="-120"/>
              </a:rPr>
              <a:t>APPS DELIVERING THIS PHASE</a:t>
            </a:r>
            <a:endParaRPr lang="en-US" sz="750" dirty="0"/>
          </a:p>
        </p:txBody>
      </p:sp>
      <p:sp>
        <p:nvSpPr>
          <p:cNvPr id="29" name="Shape 27"/>
          <p:cNvSpPr/>
          <p:nvPr/>
        </p:nvSpPr>
        <p:spPr>
          <a:xfrm>
            <a:off x="3328416" y="3712464"/>
            <a:ext cx="2523744" cy="219456"/>
          </a:xfrm>
          <a:prstGeom prst="rect">
            <a:avLst/>
          </a:prstGeom>
          <a:solidFill>
            <a:srgbClr val="085CE5"/>
          </a:solidFill>
          <a:ln w="12700">
            <a:solidFill>
              <a:srgbClr val="085CE5"/>
            </a:solidFill>
            <a:prstDash val="solid"/>
          </a:ln>
        </p:spPr>
      </p:sp>
      <p:sp>
        <p:nvSpPr>
          <p:cNvPr id="30" name="Shape 28"/>
          <p:cNvSpPr/>
          <p:nvPr/>
        </p:nvSpPr>
        <p:spPr>
          <a:xfrm>
            <a:off x="3383280" y="3758184"/>
            <a:ext cx="128016" cy="128016"/>
          </a:xfrm>
          <a:prstGeom prst="ellipse">
            <a:avLst/>
          </a:prstGeom>
          <a:solidFill>
            <a:srgbClr val="FFFFFF">
              <a:alpha val="70000"/>
            </a:srgbClr>
          </a:solidFill>
          <a:ln w="12700">
            <a:solidFill>
              <a:srgbClr val="FFFFFF">
                <a:alpha val="70000"/>
              </a:srgbClr>
            </a:solidFill>
            <a:prstDash val="solid"/>
          </a:ln>
        </p:spPr>
      </p:sp>
      <p:sp>
        <p:nvSpPr>
          <p:cNvPr id="31" name="Text 29"/>
          <p:cNvSpPr/>
          <p:nvPr/>
        </p:nvSpPr>
        <p:spPr>
          <a:xfrm>
            <a:off x="3566160" y="3712464"/>
            <a:ext cx="1554480" cy="219456"/>
          </a:xfrm>
          <a:prstGeom prst="rect">
            <a:avLst/>
          </a:prstGeom>
          <a:noFill/>
          <a:ln/>
        </p:spPr>
        <p:txBody>
          <a:bodyPr wrap="square" lIns="0" tIns="0" rIns="0" bIns="0" rtlCol="0" anchor="ctr"/>
          <a:lstStyle/>
          <a:p>
            <a:pPr indent="0" marL="0">
              <a:buNone/>
            </a:pPr>
            <a:r>
              <a:rPr lang="en-US" sz="800" b="1" dirty="0">
                <a:solidFill>
                  <a:srgbClr val="FFFFFF"/>
                </a:solidFill>
                <a:latin typeface="Calibri" pitchFamily="34" charset="0"/>
                <a:ea typeface="Calibri" pitchFamily="34" charset="-122"/>
                <a:cs typeface="Calibri" pitchFamily="34" charset="-120"/>
              </a:rPr>
              <a:t>Churn Sentinel +</a:t>
            </a:r>
            <a:endParaRPr lang="en-US" sz="800" dirty="0"/>
          </a:p>
        </p:txBody>
      </p:sp>
      <p:sp>
        <p:nvSpPr>
          <p:cNvPr id="32" name="Shape 30"/>
          <p:cNvSpPr/>
          <p:nvPr/>
        </p:nvSpPr>
        <p:spPr>
          <a:xfrm>
            <a:off x="4974336" y="3739896"/>
            <a:ext cx="749808" cy="164592"/>
          </a:xfrm>
          <a:prstGeom prst="rect">
            <a:avLst/>
          </a:prstGeom>
          <a:solidFill>
            <a:srgbClr val="FFFFFF">
              <a:alpha val="80000"/>
            </a:srgbClr>
          </a:solidFill>
          <a:ln w="12700">
            <a:solidFill>
              <a:srgbClr val="FFFFFF">
                <a:alpha val="60000"/>
              </a:srgbClr>
            </a:solidFill>
            <a:prstDash val="solid"/>
          </a:ln>
        </p:spPr>
      </p:sp>
      <p:sp>
        <p:nvSpPr>
          <p:cNvPr id="33" name="Text 31"/>
          <p:cNvSpPr/>
          <p:nvPr/>
        </p:nvSpPr>
        <p:spPr>
          <a:xfrm>
            <a:off x="4974336" y="3739896"/>
            <a:ext cx="749808" cy="164592"/>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Core+Digital</a:t>
            </a:r>
            <a:endParaRPr lang="en-US" sz="700" dirty="0"/>
          </a:p>
        </p:txBody>
      </p:sp>
      <p:sp>
        <p:nvSpPr>
          <p:cNvPr id="34" name="Shape 32"/>
          <p:cNvSpPr/>
          <p:nvPr/>
        </p:nvSpPr>
        <p:spPr>
          <a:xfrm>
            <a:off x="3328416" y="3968496"/>
            <a:ext cx="2523744" cy="219456"/>
          </a:xfrm>
          <a:prstGeom prst="rect">
            <a:avLst/>
          </a:prstGeom>
          <a:solidFill>
            <a:srgbClr val="06185F"/>
          </a:solidFill>
          <a:ln w="12700">
            <a:solidFill>
              <a:srgbClr val="06185F"/>
            </a:solidFill>
            <a:prstDash val="solid"/>
          </a:ln>
        </p:spPr>
      </p:sp>
      <p:sp>
        <p:nvSpPr>
          <p:cNvPr id="35" name="Shape 33"/>
          <p:cNvSpPr/>
          <p:nvPr/>
        </p:nvSpPr>
        <p:spPr>
          <a:xfrm>
            <a:off x="3383280" y="4014216"/>
            <a:ext cx="128016" cy="128016"/>
          </a:xfrm>
          <a:prstGeom prst="ellipse">
            <a:avLst/>
          </a:prstGeom>
          <a:solidFill>
            <a:srgbClr val="FFFFFF">
              <a:alpha val="70000"/>
            </a:srgbClr>
          </a:solidFill>
          <a:ln w="12700">
            <a:solidFill>
              <a:srgbClr val="FFFFFF">
                <a:alpha val="70000"/>
              </a:srgbClr>
            </a:solidFill>
            <a:prstDash val="solid"/>
          </a:ln>
        </p:spPr>
      </p:sp>
      <p:sp>
        <p:nvSpPr>
          <p:cNvPr id="36" name="Text 34"/>
          <p:cNvSpPr/>
          <p:nvPr/>
        </p:nvSpPr>
        <p:spPr>
          <a:xfrm>
            <a:off x="3566160" y="3968496"/>
            <a:ext cx="2231136" cy="219456"/>
          </a:xfrm>
          <a:prstGeom prst="rect">
            <a:avLst/>
          </a:prstGeom>
          <a:noFill/>
          <a:ln/>
        </p:spPr>
        <p:txBody>
          <a:bodyPr wrap="square" lIns="0" tIns="0" rIns="0" bIns="0" rtlCol="0" anchor="ctr"/>
          <a:lstStyle/>
          <a:p>
            <a:pPr indent="0" marL="0">
              <a:buNone/>
            </a:pPr>
            <a:r>
              <a:rPr lang="en-US" sz="800" b="1" dirty="0">
                <a:solidFill>
                  <a:srgbClr val="FFFFFF"/>
                </a:solidFill>
                <a:latin typeface="Calibri" pitchFamily="34" charset="0"/>
                <a:ea typeface="Calibri" pitchFamily="34" charset="-122"/>
                <a:cs typeface="Calibri" pitchFamily="34" charset="-120"/>
              </a:rPr>
              <a:t>Zelle Memo Intelligence</a:t>
            </a:r>
            <a:endParaRPr lang="en-US" sz="800" dirty="0"/>
          </a:p>
        </p:txBody>
      </p:sp>
      <p:sp>
        <p:nvSpPr>
          <p:cNvPr id="37" name="Shape 35"/>
          <p:cNvSpPr/>
          <p:nvPr/>
        </p:nvSpPr>
        <p:spPr>
          <a:xfrm>
            <a:off x="3328416" y="4224528"/>
            <a:ext cx="2523744" cy="219456"/>
          </a:xfrm>
          <a:prstGeom prst="rect">
            <a:avLst/>
          </a:prstGeom>
          <a:solidFill>
            <a:srgbClr val="0A52C4"/>
          </a:solidFill>
          <a:ln w="12700">
            <a:solidFill>
              <a:srgbClr val="0A52C4"/>
            </a:solidFill>
            <a:prstDash val="solid"/>
          </a:ln>
        </p:spPr>
      </p:sp>
      <p:sp>
        <p:nvSpPr>
          <p:cNvPr id="38" name="Shape 36"/>
          <p:cNvSpPr/>
          <p:nvPr/>
        </p:nvSpPr>
        <p:spPr>
          <a:xfrm>
            <a:off x="3383280" y="4270248"/>
            <a:ext cx="128016" cy="128016"/>
          </a:xfrm>
          <a:prstGeom prst="ellipse">
            <a:avLst/>
          </a:prstGeom>
          <a:solidFill>
            <a:srgbClr val="FFFFFF">
              <a:alpha val="70000"/>
            </a:srgbClr>
          </a:solidFill>
          <a:ln w="12700">
            <a:solidFill>
              <a:srgbClr val="FFFFFF">
                <a:alpha val="70000"/>
              </a:srgbClr>
            </a:solidFill>
            <a:prstDash val="solid"/>
          </a:ln>
        </p:spPr>
      </p:sp>
      <p:sp>
        <p:nvSpPr>
          <p:cNvPr id="39" name="Text 37"/>
          <p:cNvSpPr/>
          <p:nvPr/>
        </p:nvSpPr>
        <p:spPr>
          <a:xfrm>
            <a:off x="3566160" y="4224528"/>
            <a:ext cx="2231136" cy="219456"/>
          </a:xfrm>
          <a:prstGeom prst="rect">
            <a:avLst/>
          </a:prstGeom>
          <a:noFill/>
          <a:ln/>
        </p:spPr>
        <p:txBody>
          <a:bodyPr wrap="square" lIns="0" tIns="0" rIns="0" bIns="0" rtlCol="0" anchor="ctr"/>
          <a:lstStyle/>
          <a:p>
            <a:pPr indent="0" marL="0">
              <a:buNone/>
            </a:pPr>
            <a:r>
              <a:rPr lang="en-US" sz="800" b="1" dirty="0">
                <a:solidFill>
                  <a:srgbClr val="FFFFFF"/>
                </a:solidFill>
                <a:latin typeface="Calibri" pitchFamily="34" charset="0"/>
                <a:ea typeface="Calibri" pitchFamily="34" charset="-122"/>
                <a:cs typeface="Calibri" pitchFamily="34" charset="-120"/>
              </a:rPr>
              <a:t>CommercialSignal</a:t>
            </a:r>
            <a:endParaRPr lang="en-US" sz="800" dirty="0"/>
          </a:p>
        </p:txBody>
      </p:sp>
      <p:sp>
        <p:nvSpPr>
          <p:cNvPr id="40" name="Shape 38"/>
          <p:cNvSpPr/>
          <p:nvPr/>
        </p:nvSpPr>
        <p:spPr>
          <a:xfrm>
            <a:off x="3328416" y="4480560"/>
            <a:ext cx="2523744" cy="219456"/>
          </a:xfrm>
          <a:prstGeom prst="rect">
            <a:avLst/>
          </a:prstGeom>
          <a:solidFill>
            <a:srgbClr val="0F3D8A"/>
          </a:solidFill>
          <a:ln w="12700">
            <a:solidFill>
              <a:srgbClr val="0F3D8A"/>
            </a:solidFill>
            <a:prstDash val="solid"/>
          </a:ln>
        </p:spPr>
      </p:sp>
      <p:sp>
        <p:nvSpPr>
          <p:cNvPr id="41" name="Shape 39"/>
          <p:cNvSpPr/>
          <p:nvPr/>
        </p:nvSpPr>
        <p:spPr>
          <a:xfrm>
            <a:off x="3383280" y="4526280"/>
            <a:ext cx="128016" cy="128016"/>
          </a:xfrm>
          <a:prstGeom prst="ellipse">
            <a:avLst/>
          </a:prstGeom>
          <a:solidFill>
            <a:srgbClr val="FFFFFF">
              <a:alpha val="70000"/>
            </a:srgbClr>
          </a:solidFill>
          <a:ln w="12700">
            <a:solidFill>
              <a:srgbClr val="FFFFFF">
                <a:alpha val="70000"/>
              </a:srgbClr>
            </a:solidFill>
            <a:prstDash val="solid"/>
          </a:ln>
        </p:spPr>
      </p:sp>
      <p:sp>
        <p:nvSpPr>
          <p:cNvPr id="42" name="Text 40"/>
          <p:cNvSpPr/>
          <p:nvPr/>
        </p:nvSpPr>
        <p:spPr>
          <a:xfrm>
            <a:off x="3566160" y="4480560"/>
            <a:ext cx="2231136" cy="219456"/>
          </a:xfrm>
          <a:prstGeom prst="rect">
            <a:avLst/>
          </a:prstGeom>
          <a:noFill/>
          <a:ln/>
        </p:spPr>
        <p:txBody>
          <a:bodyPr wrap="square" lIns="0" tIns="0" rIns="0" bIns="0" rtlCol="0" anchor="ctr"/>
          <a:lstStyle/>
          <a:p>
            <a:pPr indent="0" marL="0">
              <a:buNone/>
            </a:pPr>
            <a:r>
              <a:rPr lang="en-US" sz="800" b="1" dirty="0">
                <a:solidFill>
                  <a:srgbClr val="FFFFFF"/>
                </a:solidFill>
                <a:latin typeface="Calibri" pitchFamily="34" charset="0"/>
                <a:ea typeface="Calibri" pitchFamily="34" charset="-122"/>
                <a:cs typeface="Calibri" pitchFamily="34" charset="-120"/>
              </a:rPr>
              <a:t>Generational Wealth Deflection</a:t>
            </a:r>
            <a:endParaRPr lang="en-US" sz="800" dirty="0"/>
          </a:p>
        </p:txBody>
      </p:sp>
      <p:sp>
        <p:nvSpPr>
          <p:cNvPr id="43" name="Shape 41"/>
          <p:cNvSpPr/>
          <p:nvPr/>
        </p:nvSpPr>
        <p:spPr>
          <a:xfrm>
            <a:off x="6144768" y="749808"/>
            <a:ext cx="2816352" cy="41330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44" name="Shape 42"/>
          <p:cNvSpPr/>
          <p:nvPr/>
        </p:nvSpPr>
        <p:spPr>
          <a:xfrm>
            <a:off x="6144768" y="749808"/>
            <a:ext cx="2816352" cy="804672"/>
          </a:xfrm>
          <a:prstGeom prst="rect">
            <a:avLst/>
          </a:prstGeom>
          <a:solidFill>
            <a:srgbClr val="575A5D"/>
          </a:solidFill>
          <a:ln w="12700">
            <a:solidFill>
              <a:srgbClr val="575A5D"/>
            </a:solidFill>
            <a:prstDash val="solid"/>
          </a:ln>
        </p:spPr>
      </p:sp>
      <p:sp>
        <p:nvSpPr>
          <p:cNvPr id="45" name="Text 43"/>
          <p:cNvSpPr/>
          <p:nvPr/>
        </p:nvSpPr>
        <p:spPr>
          <a:xfrm>
            <a:off x="6254496" y="804672"/>
            <a:ext cx="621792" cy="658368"/>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03</a:t>
            </a:r>
            <a:endParaRPr lang="en-US" sz="3600" dirty="0"/>
          </a:p>
        </p:txBody>
      </p:sp>
      <p:sp>
        <p:nvSpPr>
          <p:cNvPr id="46" name="Shape 44"/>
          <p:cNvSpPr/>
          <p:nvPr/>
        </p:nvSpPr>
        <p:spPr>
          <a:xfrm>
            <a:off x="6912864" y="896112"/>
            <a:ext cx="36576" cy="475488"/>
          </a:xfrm>
          <a:prstGeom prst="rect">
            <a:avLst/>
          </a:prstGeom>
          <a:solidFill>
            <a:srgbClr val="FFFFFF">
              <a:alpha val="60000"/>
            </a:srgbClr>
          </a:solidFill>
          <a:ln w="12700">
            <a:solidFill>
              <a:srgbClr val="FFFFFF">
                <a:alpha val="60000"/>
              </a:srgbClr>
            </a:solidFill>
            <a:prstDash val="solid"/>
          </a:ln>
        </p:spPr>
      </p:sp>
      <p:sp>
        <p:nvSpPr>
          <p:cNvPr id="47" name="Text 45"/>
          <p:cNvSpPr/>
          <p:nvPr/>
        </p:nvSpPr>
        <p:spPr>
          <a:xfrm>
            <a:off x="7022592" y="822960"/>
            <a:ext cx="18288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Scale &amp; Expand</a:t>
            </a:r>
            <a:endParaRPr lang="en-US" sz="1500" dirty="0"/>
          </a:p>
        </p:txBody>
      </p:sp>
      <p:sp>
        <p:nvSpPr>
          <p:cNvPr id="48" name="Text 46"/>
          <p:cNvSpPr/>
          <p:nvPr/>
        </p:nvSpPr>
        <p:spPr>
          <a:xfrm>
            <a:off x="7022592" y="1188720"/>
            <a:ext cx="182880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Q3 FY27–Q2 FY28  (Jan–Jun 2027+)</a:t>
            </a:r>
            <a:endParaRPr lang="en-US" sz="1000" dirty="0"/>
          </a:p>
        </p:txBody>
      </p:sp>
      <p:sp>
        <p:nvSpPr>
          <p:cNvPr id="49" name="Text 47"/>
          <p:cNvSpPr/>
          <p:nvPr/>
        </p:nvSpPr>
        <p:spPr>
          <a:xfrm>
            <a:off x="6309360" y="1664208"/>
            <a:ext cx="2542032" cy="1938528"/>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Anomaly Detection: real-time streaming fraud engine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FI Decision Studio: AutoML platform GA release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Core + Payments data modules fully activated</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Horizon apps: Cross-Sell, Overdraft, Sentiment (pilot)</a:t>
            </a:r>
            <a:endParaRPr lang="en-US" sz="1000" dirty="0"/>
          </a:p>
        </p:txBody>
      </p:sp>
      <p:sp>
        <p:nvSpPr>
          <p:cNvPr id="50" name="Shape 48"/>
          <p:cNvSpPr/>
          <p:nvPr/>
        </p:nvSpPr>
        <p:spPr>
          <a:xfrm>
            <a:off x="6144768" y="3675888"/>
            <a:ext cx="2816352" cy="237744"/>
          </a:xfrm>
          <a:prstGeom prst="rect">
            <a:avLst/>
          </a:prstGeom>
          <a:solidFill>
            <a:srgbClr val="575A5D">
              <a:alpha val="12000"/>
            </a:srgbClr>
          </a:solidFill>
          <a:ln w="12700">
            <a:solidFill>
              <a:srgbClr val="575A5D">
                <a:alpha val="30000"/>
              </a:srgbClr>
            </a:solidFill>
            <a:prstDash val="solid"/>
          </a:ln>
        </p:spPr>
      </p:sp>
      <p:sp>
        <p:nvSpPr>
          <p:cNvPr id="51" name="Shape 49"/>
          <p:cNvSpPr/>
          <p:nvPr/>
        </p:nvSpPr>
        <p:spPr>
          <a:xfrm>
            <a:off x="6144768" y="3675888"/>
            <a:ext cx="54864" cy="237744"/>
          </a:xfrm>
          <a:prstGeom prst="rect">
            <a:avLst/>
          </a:prstGeom>
          <a:solidFill>
            <a:srgbClr val="575A5D"/>
          </a:solidFill>
          <a:ln w="12700">
            <a:solidFill>
              <a:srgbClr val="575A5D"/>
            </a:solidFill>
            <a:prstDash val="solid"/>
          </a:ln>
        </p:spPr>
      </p:sp>
      <p:sp>
        <p:nvSpPr>
          <p:cNvPr id="52" name="Text 50"/>
          <p:cNvSpPr/>
          <p:nvPr/>
        </p:nvSpPr>
        <p:spPr>
          <a:xfrm>
            <a:off x="6272784" y="3675888"/>
            <a:ext cx="2651760" cy="237744"/>
          </a:xfrm>
          <a:prstGeom prst="rect">
            <a:avLst/>
          </a:prstGeom>
          <a:noFill/>
          <a:ln/>
        </p:spPr>
        <p:txBody>
          <a:bodyPr wrap="square" lIns="0" tIns="0" rIns="0" bIns="0" rtlCol="0" anchor="ctr"/>
          <a:lstStyle/>
          <a:p>
            <a:pPr indent="0" marL="0">
              <a:buNone/>
            </a:pPr>
            <a:r>
              <a:rPr lang="en-US" sz="750" b="1" spc="50" kern="0" dirty="0">
                <a:solidFill>
                  <a:srgbClr val="575A5D"/>
                </a:solidFill>
                <a:latin typeface="Calibri" pitchFamily="34" charset="0"/>
                <a:ea typeface="Calibri" pitchFamily="34" charset="-122"/>
                <a:cs typeface="Calibri" pitchFamily="34" charset="-120"/>
              </a:rPr>
              <a:t>APPS DELIVERING THIS PHASE</a:t>
            </a:r>
            <a:endParaRPr lang="en-US" sz="750" dirty="0"/>
          </a:p>
        </p:txBody>
      </p:sp>
      <p:sp>
        <p:nvSpPr>
          <p:cNvPr id="53" name="Shape 51"/>
          <p:cNvSpPr/>
          <p:nvPr/>
        </p:nvSpPr>
        <p:spPr>
          <a:xfrm>
            <a:off x="6272784" y="3950208"/>
            <a:ext cx="2523744" cy="256032"/>
          </a:xfrm>
          <a:prstGeom prst="rect">
            <a:avLst/>
          </a:prstGeom>
          <a:solidFill>
            <a:srgbClr val="073FA8"/>
          </a:solidFill>
          <a:ln w="12700">
            <a:solidFill>
              <a:srgbClr val="073FA8"/>
            </a:solidFill>
            <a:prstDash val="solid"/>
          </a:ln>
        </p:spPr>
      </p:sp>
      <p:sp>
        <p:nvSpPr>
          <p:cNvPr id="54" name="Shape 52"/>
          <p:cNvSpPr/>
          <p:nvPr/>
        </p:nvSpPr>
        <p:spPr>
          <a:xfrm>
            <a:off x="6327648" y="4014216"/>
            <a:ext cx="128016" cy="128016"/>
          </a:xfrm>
          <a:prstGeom prst="ellipse">
            <a:avLst/>
          </a:prstGeom>
          <a:solidFill>
            <a:srgbClr val="FFFFFF">
              <a:alpha val="70000"/>
            </a:srgbClr>
          </a:solidFill>
          <a:ln w="12700">
            <a:solidFill>
              <a:srgbClr val="FFFFFF">
                <a:alpha val="70000"/>
              </a:srgbClr>
            </a:solidFill>
            <a:prstDash val="solid"/>
          </a:ln>
        </p:spPr>
      </p:sp>
      <p:sp>
        <p:nvSpPr>
          <p:cNvPr id="55" name="Text 53"/>
          <p:cNvSpPr/>
          <p:nvPr/>
        </p:nvSpPr>
        <p:spPr>
          <a:xfrm>
            <a:off x="6510528" y="3950208"/>
            <a:ext cx="2231136"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Anomaly Detection</a:t>
            </a:r>
            <a:endParaRPr lang="en-US" sz="900" dirty="0"/>
          </a:p>
        </p:txBody>
      </p:sp>
      <p:sp>
        <p:nvSpPr>
          <p:cNvPr id="56" name="Shape 54"/>
          <p:cNvSpPr/>
          <p:nvPr/>
        </p:nvSpPr>
        <p:spPr>
          <a:xfrm>
            <a:off x="6272784" y="4279392"/>
            <a:ext cx="2523744" cy="256032"/>
          </a:xfrm>
          <a:prstGeom prst="rect">
            <a:avLst/>
          </a:prstGeom>
          <a:solidFill>
            <a:srgbClr val="0D2E7A"/>
          </a:solidFill>
          <a:ln w="12700">
            <a:solidFill>
              <a:srgbClr val="0D2E7A"/>
            </a:solidFill>
            <a:prstDash val="solid"/>
          </a:ln>
        </p:spPr>
      </p:sp>
      <p:sp>
        <p:nvSpPr>
          <p:cNvPr id="57" name="Shape 55"/>
          <p:cNvSpPr/>
          <p:nvPr/>
        </p:nvSpPr>
        <p:spPr>
          <a:xfrm>
            <a:off x="6327648" y="4343400"/>
            <a:ext cx="128016" cy="128016"/>
          </a:xfrm>
          <a:prstGeom prst="ellipse">
            <a:avLst/>
          </a:prstGeom>
          <a:solidFill>
            <a:srgbClr val="FFFFFF">
              <a:alpha val="70000"/>
            </a:srgbClr>
          </a:solidFill>
          <a:ln w="12700">
            <a:solidFill>
              <a:srgbClr val="FFFFFF">
                <a:alpha val="70000"/>
              </a:srgbClr>
            </a:solidFill>
            <a:prstDash val="solid"/>
          </a:ln>
        </p:spPr>
      </p:sp>
      <p:sp>
        <p:nvSpPr>
          <p:cNvPr id="58" name="Text 56"/>
          <p:cNvSpPr/>
          <p:nvPr/>
        </p:nvSpPr>
        <p:spPr>
          <a:xfrm>
            <a:off x="6510528" y="4279392"/>
            <a:ext cx="155448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FI Decision Studio</a:t>
            </a:r>
            <a:endParaRPr lang="en-US" sz="900" dirty="0"/>
          </a:p>
        </p:txBody>
      </p:sp>
      <p:sp>
        <p:nvSpPr>
          <p:cNvPr id="59" name="Shape 57"/>
          <p:cNvSpPr/>
          <p:nvPr/>
        </p:nvSpPr>
        <p:spPr>
          <a:xfrm>
            <a:off x="7918704" y="4306824"/>
            <a:ext cx="749808" cy="201168"/>
          </a:xfrm>
          <a:prstGeom prst="rect">
            <a:avLst/>
          </a:prstGeom>
          <a:solidFill>
            <a:srgbClr val="FFFFFF">
              <a:alpha val="80000"/>
            </a:srgbClr>
          </a:solidFill>
          <a:ln w="12700">
            <a:solidFill>
              <a:srgbClr val="FFFFFF">
                <a:alpha val="60000"/>
              </a:srgbClr>
            </a:solidFill>
            <a:prstDash val="solid"/>
          </a:ln>
        </p:spPr>
      </p:sp>
      <p:sp>
        <p:nvSpPr>
          <p:cNvPr id="60" name="Text 58"/>
          <p:cNvSpPr/>
          <p:nvPr/>
        </p:nvSpPr>
        <p:spPr>
          <a:xfrm>
            <a:off x="7918704" y="4306824"/>
            <a:ext cx="749808"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Platform</a:t>
            </a:r>
            <a:endParaRPr lang="en-US" sz="700" dirty="0"/>
          </a:p>
        </p:txBody>
      </p:sp>
      <p:sp>
        <p:nvSpPr>
          <p:cNvPr id="61" name="Shape 59"/>
          <p:cNvSpPr/>
          <p:nvPr/>
        </p:nvSpPr>
        <p:spPr>
          <a:xfrm>
            <a:off x="6272784" y="4608576"/>
            <a:ext cx="2523744" cy="256032"/>
          </a:xfrm>
          <a:prstGeom prst="rect">
            <a:avLst/>
          </a:prstGeom>
          <a:solidFill>
            <a:srgbClr val="073FA8"/>
          </a:solidFill>
          <a:ln w="12700">
            <a:solidFill>
              <a:srgbClr val="073FA8"/>
            </a:solidFill>
            <a:prstDash val="solid"/>
          </a:ln>
        </p:spPr>
      </p:sp>
      <p:sp>
        <p:nvSpPr>
          <p:cNvPr id="62" name="Shape 60"/>
          <p:cNvSpPr/>
          <p:nvPr/>
        </p:nvSpPr>
        <p:spPr>
          <a:xfrm>
            <a:off x="6327648" y="4672584"/>
            <a:ext cx="128016" cy="128016"/>
          </a:xfrm>
          <a:prstGeom prst="ellipse">
            <a:avLst/>
          </a:prstGeom>
          <a:solidFill>
            <a:srgbClr val="FFFFFF">
              <a:alpha val="70000"/>
            </a:srgbClr>
          </a:solidFill>
          <a:ln w="12700">
            <a:solidFill>
              <a:srgbClr val="FFFFFF">
                <a:alpha val="70000"/>
              </a:srgbClr>
            </a:solidFill>
            <a:prstDash val="solid"/>
          </a:ln>
        </p:spPr>
      </p:sp>
      <p:sp>
        <p:nvSpPr>
          <p:cNvPr id="63" name="Text 61"/>
          <p:cNvSpPr/>
          <p:nvPr/>
        </p:nvSpPr>
        <p:spPr>
          <a:xfrm>
            <a:off x="6510528" y="4608576"/>
            <a:ext cx="155448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 Horizon Pipeline</a:t>
            </a:r>
            <a:endParaRPr lang="en-US" sz="900" dirty="0"/>
          </a:p>
        </p:txBody>
      </p:sp>
      <p:sp>
        <p:nvSpPr>
          <p:cNvPr id="64" name="Shape 62"/>
          <p:cNvSpPr/>
          <p:nvPr/>
        </p:nvSpPr>
        <p:spPr>
          <a:xfrm>
            <a:off x="7918704" y="4636008"/>
            <a:ext cx="749808" cy="201168"/>
          </a:xfrm>
          <a:prstGeom prst="rect">
            <a:avLst/>
          </a:prstGeom>
          <a:solidFill>
            <a:srgbClr val="FFFFFF">
              <a:alpha val="80000"/>
            </a:srgbClr>
          </a:solidFill>
          <a:ln w="12700">
            <a:solidFill>
              <a:srgbClr val="FFFFFF">
                <a:alpha val="60000"/>
              </a:srgbClr>
            </a:solidFill>
            <a:prstDash val="solid"/>
          </a:ln>
        </p:spPr>
      </p:sp>
      <p:sp>
        <p:nvSpPr>
          <p:cNvPr id="65" name="Text 63"/>
          <p:cNvSpPr/>
          <p:nvPr/>
        </p:nvSpPr>
        <p:spPr>
          <a:xfrm>
            <a:off x="7918704" y="4636008"/>
            <a:ext cx="749808"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Pilot</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85CE5"/>
          </a:solidFill>
          <a:ln w="12700">
            <a:solidFill>
              <a:srgbClr val="085CE5"/>
            </a:solidFill>
            <a:prstDash val="solid"/>
          </a:ln>
        </p:spPr>
      </p:sp>
      <p:sp>
        <p:nvSpPr>
          <p:cNvPr id="3" name="Shape 1"/>
          <p:cNvSpPr/>
          <p:nvPr/>
        </p:nvSpPr>
        <p:spPr>
          <a:xfrm>
            <a:off x="0" y="0"/>
            <a:ext cx="137160" cy="5143500"/>
          </a:xfrm>
          <a:prstGeom prst="rect">
            <a:avLst/>
          </a:prstGeom>
          <a:solidFill>
            <a:srgbClr val="085CE5"/>
          </a:solidFill>
          <a:ln w="12700">
            <a:solidFill>
              <a:srgbClr val="085CE5"/>
            </a:solidFill>
            <a:prstDash val="solid"/>
          </a:ln>
        </p:spPr>
      </p:sp>
      <p:sp>
        <p:nvSpPr>
          <p:cNvPr id="4" name="Text 2"/>
          <p:cNvSpPr/>
          <p:nvPr/>
        </p:nvSpPr>
        <p:spPr>
          <a:xfrm>
            <a:off x="365760" y="164592"/>
            <a:ext cx="8229600" cy="256032"/>
          </a:xfrm>
          <a:prstGeom prst="rect">
            <a:avLst/>
          </a:prstGeom>
          <a:noFill/>
          <a:ln/>
        </p:spPr>
        <p:txBody>
          <a:bodyPr wrap="square" lIns="0" tIns="0" rIns="0" bIns="0" rtlCol="0" anchor="ctr"/>
          <a:lstStyle/>
          <a:p>
            <a:pPr indent="0" marL="0">
              <a:buNone/>
            </a:pPr>
            <a:r>
              <a:rPr lang="en-US" sz="900" b="1" spc="400" kern="0" dirty="0">
                <a:solidFill>
                  <a:srgbClr val="085CE5"/>
                </a:solidFill>
                <a:latin typeface="Calibri" pitchFamily="34" charset="0"/>
                <a:ea typeface="Calibri" pitchFamily="34" charset="-122"/>
                <a:cs typeface="Calibri" pitchFamily="34" charset="-120"/>
              </a:rPr>
              <a:t>REVENUE MODEL</a:t>
            </a:r>
            <a:endParaRPr lang="en-US" sz="900" dirty="0"/>
          </a:p>
        </p:txBody>
      </p:sp>
      <p:sp>
        <p:nvSpPr>
          <p:cNvPr id="5" name="Text 3"/>
          <p:cNvSpPr/>
          <p:nvPr/>
        </p:nvSpPr>
        <p:spPr>
          <a:xfrm>
            <a:off x="365760" y="475488"/>
            <a:ext cx="8229600" cy="457200"/>
          </a:xfrm>
          <a:prstGeom prst="rect">
            <a:avLst/>
          </a:prstGeom>
          <a:noFill/>
          <a:ln/>
        </p:spPr>
        <p:txBody>
          <a:bodyPr wrap="square" lIns="0" tIns="0" rIns="0" bIns="0" rtlCol="0" anchor="ctr"/>
          <a:lstStyle/>
          <a:p>
            <a:pPr indent="0" marL="0">
              <a:buNone/>
            </a:pPr>
            <a:r>
              <a:rPr lang="en-US" sz="2400" b="1" dirty="0">
                <a:solidFill>
                  <a:srgbClr val="06185F"/>
                </a:solidFill>
                <a:latin typeface="Calibri" pitchFamily="34" charset="0"/>
                <a:ea typeface="Calibri" pitchFamily="34" charset="-122"/>
                <a:cs typeface="Calibri" pitchFamily="34" charset="-120"/>
              </a:rPr>
              <a:t>Path to $1M ARR — DS App Add-On Revenue</a:t>
            </a:r>
            <a:endParaRPr lang="en-US" sz="2400" dirty="0"/>
          </a:p>
        </p:txBody>
      </p:sp>
      <p:sp>
        <p:nvSpPr>
          <p:cNvPr id="6" name="Text 4"/>
          <p:cNvSpPr/>
          <p:nvPr/>
        </p:nvSpPr>
        <p:spPr>
          <a:xfrm>
            <a:off x="365760" y="960120"/>
            <a:ext cx="8229600" cy="25603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5 apps · Add-on to JHBI platform · ~1,660 addressable FIs · Blended bank/CU pricing</a:t>
            </a:r>
            <a:endParaRPr lang="en-US" sz="1100" dirty="0"/>
          </a:p>
        </p:txBody>
      </p:sp>
      <p:graphicFrame>
        <p:nvGraphicFramePr>
          <p:cNvPr id="7" name="Chart 0" descr=""/>
          <p:cNvGraphicFramePr/>
          <p:nvPr/>
        </p:nvGraphicFramePr>
        <p:xfrm>
          <a:off x="320040" y="1298448"/>
          <a:ext cx="6035040" cy="35204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320040" y="2651760"/>
            <a:ext cx="6035040" cy="0"/>
          </a:xfrm>
          <a:prstGeom prst="line">
            <a:avLst/>
          </a:prstGeom>
          <a:noFill/>
          <a:ln w="19050">
            <a:solidFill>
              <a:srgbClr val="E53030"/>
            </a:solidFill>
            <a:prstDash val="dash"/>
          </a:ln>
        </p:spPr>
      </p:sp>
      <p:sp>
        <p:nvSpPr>
          <p:cNvPr id="9" name="Text 6"/>
          <p:cNvSpPr/>
          <p:nvPr/>
        </p:nvSpPr>
        <p:spPr>
          <a:xfrm>
            <a:off x="6382512" y="2523744"/>
            <a:ext cx="1920240" cy="256032"/>
          </a:xfrm>
          <a:prstGeom prst="rect">
            <a:avLst/>
          </a:prstGeom>
          <a:noFill/>
          <a:ln/>
        </p:spPr>
        <p:txBody>
          <a:bodyPr wrap="square" lIns="0" tIns="0" rIns="0" bIns="0" rtlCol="0" anchor="ctr"/>
          <a:lstStyle/>
          <a:p>
            <a:pPr indent="0" marL="0">
              <a:buNone/>
            </a:pPr>
            <a:r>
              <a:rPr lang="en-US" sz="900" b="1" dirty="0">
                <a:solidFill>
                  <a:srgbClr val="E53030"/>
                </a:solidFill>
                <a:latin typeface="Calibri" pitchFamily="34" charset="0"/>
                <a:ea typeface="Calibri" pitchFamily="34" charset="-122"/>
                <a:cs typeface="Calibri" pitchFamily="34" charset="-120"/>
              </a:rPr>
              <a:t>$1M ARR milestone</a:t>
            </a:r>
            <a:endParaRPr lang="en-US" sz="900" dirty="0"/>
          </a:p>
        </p:txBody>
      </p:sp>
      <p:sp>
        <p:nvSpPr>
          <p:cNvPr id="10" name="Shape 7"/>
          <p:cNvSpPr/>
          <p:nvPr/>
        </p:nvSpPr>
        <p:spPr>
          <a:xfrm>
            <a:off x="6400800" y="1298448"/>
            <a:ext cx="2606040" cy="3520440"/>
          </a:xfrm>
          <a:prstGeom prst="roundRect">
            <a:avLst>
              <a:gd name="adj" fmla="val 2105"/>
            </a:avLst>
          </a:prstGeom>
          <a:solidFill>
            <a:srgbClr val="06185F"/>
          </a:solidFill>
          <a:ln w="12700">
            <a:solidFill>
              <a:srgbClr val="06185F"/>
            </a:solidFill>
            <a:prstDash val="solid"/>
          </a:ln>
        </p:spPr>
      </p:sp>
      <p:sp>
        <p:nvSpPr>
          <p:cNvPr id="11" name="Text 8"/>
          <p:cNvSpPr/>
          <p:nvPr/>
        </p:nvSpPr>
        <p:spPr>
          <a:xfrm>
            <a:off x="6400800" y="1417320"/>
            <a:ext cx="2606040" cy="347472"/>
          </a:xfrm>
          <a:prstGeom prst="rect">
            <a:avLst/>
          </a:prstGeom>
          <a:noFill/>
          <a:ln/>
        </p:spPr>
        <p:txBody>
          <a:bodyPr wrap="square" lIns="0" tIns="0" rIns="0" bIns="0" rtlCol="0" anchor="ctr"/>
          <a:lstStyle/>
          <a:p>
            <a:pPr algn="ctr" indent="0" marL="0">
              <a:buNone/>
            </a:pPr>
            <a:r>
              <a:rPr lang="en-US" sz="1300" b="1" dirty="0">
                <a:solidFill>
                  <a:srgbClr val="76DCFD"/>
                </a:solidFill>
                <a:latin typeface="Calibri" pitchFamily="34" charset="0"/>
                <a:ea typeface="Calibri" pitchFamily="34" charset="-122"/>
                <a:cs typeface="Calibri" pitchFamily="34" charset="-120"/>
              </a:rPr>
              <a:t>Q4 FY27</a:t>
            </a:r>
            <a:endParaRPr lang="en-US" sz="1300" dirty="0"/>
          </a:p>
        </p:txBody>
      </p:sp>
      <p:sp>
        <p:nvSpPr>
          <p:cNvPr id="12" name="Text 9"/>
          <p:cNvSpPr/>
          <p:nvPr/>
        </p:nvSpPr>
        <p:spPr>
          <a:xfrm>
            <a:off x="6400800" y="1792224"/>
            <a:ext cx="2606040" cy="566928"/>
          </a:xfrm>
          <a:prstGeom prst="rect">
            <a:avLst/>
          </a:prstGeom>
          <a:noFill/>
          <a:ln/>
        </p:spPr>
        <p:txBody>
          <a:bodyPr wrap="square" lIns="0" tIns="0" rIns="0" bIns="0" rtlCol="0" anchor="ctr"/>
          <a:lstStyle/>
          <a:p>
            <a:pPr algn="ctr" indent="0" marL="0">
              <a:buNone/>
            </a:pPr>
            <a:r>
              <a:rPr lang="en-US" sz="3200" b="1" dirty="0">
                <a:solidFill>
                  <a:srgbClr val="FFFFFF"/>
                </a:solidFill>
                <a:latin typeface="Calibri" pitchFamily="34" charset="0"/>
                <a:ea typeface="Calibri" pitchFamily="34" charset="-122"/>
                <a:cs typeface="Calibri" pitchFamily="34" charset="-120"/>
              </a:rPr>
              <a:t>$1.04M</a:t>
            </a:r>
            <a:endParaRPr lang="en-US" sz="3200" dirty="0"/>
          </a:p>
        </p:txBody>
      </p:sp>
      <p:sp>
        <p:nvSpPr>
          <p:cNvPr id="13" name="Text 10"/>
          <p:cNvSpPr/>
          <p:nvPr/>
        </p:nvSpPr>
        <p:spPr>
          <a:xfrm>
            <a:off x="6400800" y="2340864"/>
            <a:ext cx="2606040" cy="256032"/>
          </a:xfrm>
          <a:prstGeom prst="rect">
            <a:avLst/>
          </a:prstGeom>
          <a:noFill/>
          <a:ln/>
        </p:spPr>
        <p:txBody>
          <a:bodyPr wrap="square" lIns="0" tIns="0" rIns="0" bIns="0" rtlCol="0" anchor="ctr"/>
          <a:lstStyle/>
          <a:p>
            <a:pPr algn="ctr" indent="0" marL="0">
              <a:buNone/>
            </a:pPr>
            <a:r>
              <a:rPr lang="en-US" sz="1300" dirty="0">
                <a:solidFill>
                  <a:srgbClr val="B6BBC0"/>
                </a:solidFill>
                <a:latin typeface="Calibri" pitchFamily="34" charset="0"/>
                <a:ea typeface="Calibri" pitchFamily="34" charset="-122"/>
                <a:cs typeface="Calibri" pitchFamily="34" charset="-120"/>
              </a:rPr>
              <a:t>ARR</a:t>
            </a:r>
            <a:endParaRPr lang="en-US" sz="1300" dirty="0"/>
          </a:p>
        </p:txBody>
      </p:sp>
      <p:sp>
        <p:nvSpPr>
          <p:cNvPr id="14" name="Shape 11"/>
          <p:cNvSpPr/>
          <p:nvPr/>
        </p:nvSpPr>
        <p:spPr>
          <a:xfrm>
            <a:off x="6601968" y="2670048"/>
            <a:ext cx="2212848" cy="9144"/>
          </a:xfrm>
          <a:prstGeom prst="rect">
            <a:avLst/>
          </a:prstGeom>
          <a:solidFill>
            <a:srgbClr val="0A52C4"/>
          </a:solidFill>
          <a:ln w="12700">
            <a:solidFill>
              <a:srgbClr val="0A52C4"/>
            </a:solidFill>
            <a:prstDash val="solid"/>
          </a:ln>
        </p:spPr>
      </p:sp>
      <p:sp>
        <p:nvSpPr>
          <p:cNvPr id="15" name="Text 12"/>
          <p:cNvSpPr/>
          <p:nvPr/>
        </p:nvSpPr>
        <p:spPr>
          <a:xfrm>
            <a:off x="6400800" y="2798064"/>
            <a:ext cx="2606040" cy="329184"/>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~81</a:t>
            </a:r>
            <a:endParaRPr lang="en-US" sz="1800" dirty="0"/>
          </a:p>
        </p:txBody>
      </p:sp>
      <p:sp>
        <p:nvSpPr>
          <p:cNvPr id="16" name="Text 13"/>
          <p:cNvSpPr/>
          <p:nvPr/>
        </p:nvSpPr>
        <p:spPr>
          <a:xfrm>
            <a:off x="6400800" y="3127248"/>
            <a:ext cx="2606040" cy="201168"/>
          </a:xfrm>
          <a:prstGeom prst="rect">
            <a:avLst/>
          </a:prstGeom>
          <a:noFill/>
          <a:ln/>
        </p:spPr>
        <p:txBody>
          <a:bodyPr wrap="square" lIns="0" tIns="0" rIns="0" bIns="0" rtlCol="0" anchor="ctr"/>
          <a:lstStyle/>
          <a:p>
            <a:pPr algn="ctr" indent="0" marL="0">
              <a:buNone/>
            </a:pPr>
            <a:r>
              <a:rPr lang="en-US" sz="900" dirty="0">
                <a:solidFill>
                  <a:srgbClr val="B6BBC0"/>
                </a:solidFill>
                <a:latin typeface="Calibri" pitchFamily="34" charset="0"/>
                <a:ea typeface="Calibri" pitchFamily="34" charset="-122"/>
                <a:cs typeface="Calibri" pitchFamily="34" charset="-120"/>
              </a:rPr>
              <a:t>active FI subscriptions</a:t>
            </a:r>
            <a:endParaRPr lang="en-US" sz="900" dirty="0"/>
          </a:p>
        </p:txBody>
      </p:sp>
      <p:sp>
        <p:nvSpPr>
          <p:cNvPr id="17" name="Text 14"/>
          <p:cNvSpPr/>
          <p:nvPr/>
        </p:nvSpPr>
        <p:spPr>
          <a:xfrm>
            <a:off x="6400800" y="3456432"/>
            <a:ext cx="2606040" cy="329184"/>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4.9%</a:t>
            </a:r>
            <a:endParaRPr lang="en-US" sz="1800" dirty="0"/>
          </a:p>
        </p:txBody>
      </p:sp>
      <p:sp>
        <p:nvSpPr>
          <p:cNvPr id="18" name="Text 15"/>
          <p:cNvSpPr/>
          <p:nvPr/>
        </p:nvSpPr>
        <p:spPr>
          <a:xfrm>
            <a:off x="6400800" y="3785616"/>
            <a:ext cx="2606040" cy="201168"/>
          </a:xfrm>
          <a:prstGeom prst="rect">
            <a:avLst/>
          </a:prstGeom>
          <a:noFill/>
          <a:ln/>
        </p:spPr>
        <p:txBody>
          <a:bodyPr wrap="square" lIns="0" tIns="0" rIns="0" bIns="0" rtlCol="0" anchor="ctr"/>
          <a:lstStyle/>
          <a:p>
            <a:pPr algn="ctr" indent="0" marL="0">
              <a:buNone/>
            </a:pPr>
            <a:r>
              <a:rPr lang="en-US" sz="900" dirty="0">
                <a:solidFill>
                  <a:srgbClr val="B6BBC0"/>
                </a:solidFill>
                <a:latin typeface="Calibri" pitchFamily="34" charset="0"/>
                <a:ea typeface="Calibri" pitchFamily="34" charset="-122"/>
                <a:cs typeface="Calibri" pitchFamily="34" charset="-120"/>
              </a:rPr>
              <a:t>of 1,660-FI base</a:t>
            </a:r>
            <a:endParaRPr lang="en-US" sz="900" dirty="0"/>
          </a:p>
        </p:txBody>
      </p:sp>
      <p:sp>
        <p:nvSpPr>
          <p:cNvPr id="19" name="Text 16"/>
          <p:cNvSpPr/>
          <p:nvPr/>
        </p:nvSpPr>
        <p:spPr>
          <a:xfrm>
            <a:off x="6400800" y="4114800"/>
            <a:ext cx="2606040" cy="329184"/>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 apps</a:t>
            </a:r>
            <a:endParaRPr lang="en-US" sz="1800" dirty="0"/>
          </a:p>
        </p:txBody>
      </p:sp>
      <p:sp>
        <p:nvSpPr>
          <p:cNvPr id="20" name="Text 17"/>
          <p:cNvSpPr/>
          <p:nvPr/>
        </p:nvSpPr>
        <p:spPr>
          <a:xfrm>
            <a:off x="6400800" y="4443984"/>
            <a:ext cx="2606040" cy="201168"/>
          </a:xfrm>
          <a:prstGeom prst="rect">
            <a:avLst/>
          </a:prstGeom>
          <a:noFill/>
          <a:ln/>
        </p:spPr>
        <p:txBody>
          <a:bodyPr wrap="square" lIns="0" tIns="0" rIns="0" bIns="0" rtlCol="0" anchor="ctr"/>
          <a:lstStyle/>
          <a:p>
            <a:pPr algn="ctr" indent="0" marL="0">
              <a:buNone/>
            </a:pPr>
            <a:r>
              <a:rPr lang="en-US" sz="900" dirty="0">
                <a:solidFill>
                  <a:srgbClr val="B6BBC0"/>
                </a:solidFill>
                <a:latin typeface="Calibri" pitchFamily="34" charset="0"/>
                <a:ea typeface="Calibri" pitchFamily="34" charset="-122"/>
                <a:cs typeface="Calibri" pitchFamily="34" charset="-120"/>
              </a:rPr>
              <a:t>driving first $1M</a:t>
            </a:r>
            <a:endParaRPr lang="en-US" sz="900" dirty="0"/>
          </a:p>
        </p:txBody>
      </p:sp>
      <p:sp>
        <p:nvSpPr>
          <p:cNvPr id="21" name="Text 18"/>
          <p:cNvSpPr/>
          <p:nvPr/>
        </p:nvSpPr>
        <p:spPr>
          <a:xfrm>
            <a:off x="320040" y="4882896"/>
            <a:ext cx="8595360" cy="201168"/>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 Q4 FY27 = Apr–Jun 2027  ·  ARR values are model projections; actual results depend on FI adoption and sales cycle timing</a:t>
            </a:r>
            <a:endParaRPr lang="en-US" sz="7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85CE5"/>
          </a:solidFill>
          <a:ln w="12700">
            <a:solidFill>
              <a:srgbClr val="085CE5"/>
            </a:solidFill>
            <a:prstDash val="solid"/>
          </a:ln>
        </p:spPr>
      </p:sp>
      <p:sp>
        <p:nvSpPr>
          <p:cNvPr id="3" name="Shape 1"/>
          <p:cNvSpPr/>
          <p:nvPr/>
        </p:nvSpPr>
        <p:spPr>
          <a:xfrm>
            <a:off x="0" y="0"/>
            <a:ext cx="137160" cy="5143500"/>
          </a:xfrm>
          <a:prstGeom prst="rect">
            <a:avLst/>
          </a:prstGeom>
          <a:solidFill>
            <a:srgbClr val="085CE5"/>
          </a:solidFill>
          <a:ln w="12700">
            <a:solidFill>
              <a:srgbClr val="085CE5"/>
            </a:solidFill>
            <a:prstDash val="solid"/>
          </a:ln>
        </p:spPr>
      </p:sp>
      <p:sp>
        <p:nvSpPr>
          <p:cNvPr id="4" name="Text 2"/>
          <p:cNvSpPr/>
          <p:nvPr/>
        </p:nvSpPr>
        <p:spPr>
          <a:xfrm>
            <a:off x="365760" y="164592"/>
            <a:ext cx="8229600" cy="256032"/>
          </a:xfrm>
          <a:prstGeom prst="rect">
            <a:avLst/>
          </a:prstGeom>
          <a:noFill/>
          <a:ln/>
        </p:spPr>
        <p:txBody>
          <a:bodyPr wrap="square" lIns="0" tIns="0" rIns="0" bIns="0" rtlCol="0" anchor="ctr"/>
          <a:lstStyle/>
          <a:p>
            <a:pPr indent="0" marL="0">
              <a:buNone/>
            </a:pPr>
            <a:r>
              <a:rPr lang="en-US" sz="900" b="1" spc="400" kern="0" dirty="0">
                <a:solidFill>
                  <a:srgbClr val="085CE5"/>
                </a:solidFill>
                <a:latin typeface="Calibri" pitchFamily="34" charset="0"/>
                <a:ea typeface="Calibri" pitchFamily="34" charset="-122"/>
                <a:cs typeface="Calibri" pitchFamily="34" charset="-120"/>
              </a:rPr>
              <a:t>REVENUE MODEL</a:t>
            </a:r>
            <a:endParaRPr lang="en-US" sz="900" dirty="0"/>
          </a:p>
        </p:txBody>
      </p:sp>
      <p:sp>
        <p:nvSpPr>
          <p:cNvPr id="5" name="Text 3"/>
          <p:cNvSpPr/>
          <p:nvPr/>
        </p:nvSpPr>
        <p:spPr>
          <a:xfrm>
            <a:off x="365760" y="475488"/>
            <a:ext cx="7315200" cy="457200"/>
          </a:xfrm>
          <a:prstGeom prst="rect">
            <a:avLst/>
          </a:prstGeom>
          <a:noFill/>
          <a:ln/>
        </p:spPr>
        <p:txBody>
          <a:bodyPr wrap="square" lIns="0" tIns="0" rIns="0" bIns="0" rtlCol="0" anchor="ctr"/>
          <a:lstStyle/>
          <a:p>
            <a:pPr indent="0" marL="0">
              <a:buNone/>
            </a:pPr>
            <a:r>
              <a:rPr lang="en-US" sz="2400" b="1" dirty="0">
                <a:solidFill>
                  <a:srgbClr val="06185F"/>
                </a:solidFill>
                <a:latin typeface="Calibri" pitchFamily="34" charset="0"/>
                <a:ea typeface="Calibri" pitchFamily="34" charset="-122"/>
                <a:cs typeface="Calibri" pitchFamily="34" charset="-120"/>
              </a:rPr>
              <a:t>DS App Pricing — Annual Add-On per FI</a:t>
            </a:r>
            <a:endParaRPr lang="en-US" sz="2400" dirty="0"/>
          </a:p>
        </p:txBody>
      </p:sp>
      <p:sp>
        <p:nvSpPr>
          <p:cNvPr id="6" name="Text 4"/>
          <p:cNvSpPr/>
          <p:nvPr/>
        </p:nvSpPr>
        <p:spPr>
          <a:xfrm>
            <a:off x="365760" y="960120"/>
            <a:ext cx="8229600" cy="25603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Priced as annual subscriptions, add-on to JHBI platform fee  ·  CUs receive 12% pricing accommodation</a:t>
            </a:r>
            <a:endParaRPr lang="en-US" sz="1100" dirty="0"/>
          </a:p>
        </p:txBody>
      </p:sp>
      <p:sp>
        <p:nvSpPr>
          <p:cNvPr id="7" name="Shape 5"/>
          <p:cNvSpPr/>
          <p:nvPr/>
        </p:nvSpPr>
        <p:spPr>
          <a:xfrm>
            <a:off x="320040" y="1298448"/>
            <a:ext cx="1828800" cy="347472"/>
          </a:xfrm>
          <a:prstGeom prst="rect">
            <a:avLst/>
          </a:prstGeom>
          <a:solidFill>
            <a:srgbClr val="06185F"/>
          </a:solidFill>
          <a:ln w="12700">
            <a:solidFill>
              <a:srgbClr val="06185F"/>
            </a:solidFill>
            <a:prstDash val="solid"/>
          </a:ln>
        </p:spPr>
      </p:sp>
      <p:sp>
        <p:nvSpPr>
          <p:cNvPr id="8" name="Text 6"/>
          <p:cNvSpPr/>
          <p:nvPr/>
        </p:nvSpPr>
        <p:spPr>
          <a:xfrm>
            <a:off x="320040" y="1298448"/>
            <a:ext cx="182880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DS App</a:t>
            </a:r>
            <a:endParaRPr lang="en-US" sz="950" dirty="0"/>
          </a:p>
        </p:txBody>
      </p:sp>
      <p:sp>
        <p:nvSpPr>
          <p:cNvPr id="9" name="Shape 7"/>
          <p:cNvSpPr/>
          <p:nvPr/>
        </p:nvSpPr>
        <p:spPr>
          <a:xfrm>
            <a:off x="2194560" y="1298448"/>
            <a:ext cx="1325880" cy="347472"/>
          </a:xfrm>
          <a:prstGeom prst="rect">
            <a:avLst/>
          </a:prstGeom>
          <a:solidFill>
            <a:srgbClr val="06185F"/>
          </a:solidFill>
          <a:ln w="12700">
            <a:solidFill>
              <a:srgbClr val="06185F"/>
            </a:solidFill>
            <a:prstDash val="solid"/>
          </a:ln>
        </p:spPr>
      </p:sp>
      <p:sp>
        <p:nvSpPr>
          <p:cNvPr id="10" name="Text 8"/>
          <p:cNvSpPr/>
          <p:nvPr/>
        </p:nvSpPr>
        <p:spPr>
          <a:xfrm>
            <a:off x="2194560" y="1298448"/>
            <a:ext cx="132588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&lt;$250M</a:t>
            </a:r>
            <a:endParaRPr lang="en-US" sz="950" dirty="0"/>
          </a:p>
        </p:txBody>
      </p:sp>
      <p:sp>
        <p:nvSpPr>
          <p:cNvPr id="11" name="Shape 9"/>
          <p:cNvSpPr/>
          <p:nvPr/>
        </p:nvSpPr>
        <p:spPr>
          <a:xfrm>
            <a:off x="3566160" y="1298448"/>
            <a:ext cx="1316736" cy="347472"/>
          </a:xfrm>
          <a:prstGeom prst="rect">
            <a:avLst/>
          </a:prstGeom>
          <a:solidFill>
            <a:srgbClr val="06185F"/>
          </a:solidFill>
          <a:ln w="12700">
            <a:solidFill>
              <a:srgbClr val="06185F"/>
            </a:solidFill>
            <a:prstDash val="solid"/>
          </a:ln>
        </p:spPr>
      </p:sp>
      <p:sp>
        <p:nvSpPr>
          <p:cNvPr id="12" name="Text 10"/>
          <p:cNvSpPr/>
          <p:nvPr/>
        </p:nvSpPr>
        <p:spPr>
          <a:xfrm>
            <a:off x="3566160" y="1298448"/>
            <a:ext cx="1316736"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$250M–$1B</a:t>
            </a:r>
            <a:endParaRPr lang="en-US" sz="950" dirty="0"/>
          </a:p>
        </p:txBody>
      </p:sp>
      <p:sp>
        <p:nvSpPr>
          <p:cNvPr id="13" name="Shape 11"/>
          <p:cNvSpPr/>
          <p:nvPr/>
        </p:nvSpPr>
        <p:spPr>
          <a:xfrm>
            <a:off x="4919472" y="1298448"/>
            <a:ext cx="1316736" cy="347472"/>
          </a:xfrm>
          <a:prstGeom prst="rect">
            <a:avLst/>
          </a:prstGeom>
          <a:solidFill>
            <a:srgbClr val="06185F"/>
          </a:solidFill>
          <a:ln w="12700">
            <a:solidFill>
              <a:srgbClr val="06185F"/>
            </a:solidFill>
            <a:prstDash val="solid"/>
          </a:ln>
        </p:spPr>
      </p:sp>
      <p:sp>
        <p:nvSpPr>
          <p:cNvPr id="14" name="Text 12"/>
          <p:cNvSpPr/>
          <p:nvPr/>
        </p:nvSpPr>
        <p:spPr>
          <a:xfrm>
            <a:off x="4919472" y="1298448"/>
            <a:ext cx="1316736"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$1B–$5B</a:t>
            </a:r>
            <a:endParaRPr lang="en-US" sz="950" dirty="0"/>
          </a:p>
        </p:txBody>
      </p:sp>
      <p:sp>
        <p:nvSpPr>
          <p:cNvPr id="15" name="Shape 13"/>
          <p:cNvSpPr/>
          <p:nvPr/>
        </p:nvSpPr>
        <p:spPr>
          <a:xfrm>
            <a:off x="6272784" y="1298448"/>
            <a:ext cx="1143000" cy="347472"/>
          </a:xfrm>
          <a:prstGeom prst="rect">
            <a:avLst/>
          </a:prstGeom>
          <a:solidFill>
            <a:srgbClr val="06185F"/>
          </a:solidFill>
          <a:ln w="12700">
            <a:solidFill>
              <a:srgbClr val="06185F"/>
            </a:solidFill>
            <a:prstDash val="solid"/>
          </a:ln>
        </p:spPr>
      </p:sp>
      <p:sp>
        <p:nvSpPr>
          <p:cNvPr id="16" name="Text 14"/>
          <p:cNvSpPr/>
          <p:nvPr/>
        </p:nvSpPr>
        <p:spPr>
          <a:xfrm>
            <a:off x="6272784" y="1298448"/>
            <a:ext cx="114300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$5B+</a:t>
            </a:r>
            <a:endParaRPr lang="en-US" sz="950" dirty="0"/>
          </a:p>
        </p:txBody>
      </p:sp>
      <p:sp>
        <p:nvSpPr>
          <p:cNvPr id="17" name="Shape 15"/>
          <p:cNvSpPr/>
          <p:nvPr/>
        </p:nvSpPr>
        <p:spPr>
          <a:xfrm>
            <a:off x="7452360" y="1298448"/>
            <a:ext cx="1508760" cy="347472"/>
          </a:xfrm>
          <a:prstGeom prst="rect">
            <a:avLst/>
          </a:prstGeom>
          <a:solidFill>
            <a:srgbClr val="06185F"/>
          </a:solidFill>
          <a:ln w="12700">
            <a:solidFill>
              <a:srgbClr val="06185F"/>
            </a:solidFill>
            <a:prstDash val="solid"/>
          </a:ln>
        </p:spPr>
      </p:sp>
      <p:sp>
        <p:nvSpPr>
          <p:cNvPr id="18" name="Text 16"/>
          <p:cNvSpPr/>
          <p:nvPr/>
        </p:nvSpPr>
        <p:spPr>
          <a:xfrm>
            <a:off x="7452360" y="1298448"/>
            <a:ext cx="150876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Launch</a:t>
            </a:r>
            <a:endParaRPr lang="en-US" sz="950" dirty="0"/>
          </a:p>
        </p:txBody>
      </p:sp>
      <p:sp>
        <p:nvSpPr>
          <p:cNvPr id="19" name="Shape 17"/>
          <p:cNvSpPr/>
          <p:nvPr/>
        </p:nvSpPr>
        <p:spPr>
          <a:xfrm>
            <a:off x="320040" y="1645920"/>
            <a:ext cx="73152" cy="493776"/>
          </a:xfrm>
          <a:prstGeom prst="rect">
            <a:avLst/>
          </a:prstGeom>
          <a:solidFill>
            <a:srgbClr val="085CE5"/>
          </a:solidFill>
          <a:ln w="12700">
            <a:solidFill>
              <a:srgbClr val="085CE5"/>
            </a:solidFill>
            <a:prstDash val="solid"/>
          </a:ln>
        </p:spPr>
      </p:sp>
      <p:sp>
        <p:nvSpPr>
          <p:cNvPr id="20" name="Shape 18"/>
          <p:cNvSpPr/>
          <p:nvPr/>
        </p:nvSpPr>
        <p:spPr>
          <a:xfrm>
            <a:off x="393192" y="1645920"/>
            <a:ext cx="1755648" cy="493776"/>
          </a:xfrm>
          <a:prstGeom prst="rect">
            <a:avLst/>
          </a:prstGeom>
          <a:solidFill>
            <a:srgbClr val="F4F6FA"/>
          </a:solidFill>
          <a:ln w="12700">
            <a:solidFill>
              <a:srgbClr val="E7ECF0"/>
            </a:solidFill>
            <a:prstDash val="solid"/>
          </a:ln>
        </p:spPr>
      </p:sp>
      <p:sp>
        <p:nvSpPr>
          <p:cNvPr id="21" name="Text 19"/>
          <p:cNvSpPr/>
          <p:nvPr/>
        </p:nvSpPr>
        <p:spPr>
          <a:xfrm>
            <a:off x="448056" y="1645920"/>
            <a:ext cx="1700784" cy="493776"/>
          </a:xfrm>
          <a:prstGeom prst="rect">
            <a:avLst/>
          </a:prstGeom>
          <a:noFill/>
          <a:ln/>
        </p:spPr>
        <p:txBody>
          <a:bodyPr wrap="square" lIns="0" tIns="5080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Zelle Memo Intelligence</a:t>
            </a:r>
            <a:endParaRPr lang="en-US" sz="950" dirty="0"/>
          </a:p>
        </p:txBody>
      </p:sp>
      <p:sp>
        <p:nvSpPr>
          <p:cNvPr id="22" name="Shape 20"/>
          <p:cNvSpPr/>
          <p:nvPr/>
        </p:nvSpPr>
        <p:spPr>
          <a:xfrm>
            <a:off x="2194560" y="1645920"/>
            <a:ext cx="1325880" cy="493776"/>
          </a:xfrm>
          <a:prstGeom prst="rect">
            <a:avLst/>
          </a:prstGeom>
          <a:solidFill>
            <a:srgbClr val="F4F6FA"/>
          </a:solidFill>
          <a:ln w="12700">
            <a:solidFill>
              <a:srgbClr val="E7ECF0"/>
            </a:solidFill>
            <a:prstDash val="solid"/>
          </a:ln>
        </p:spPr>
      </p:sp>
      <p:sp>
        <p:nvSpPr>
          <p:cNvPr id="23" name="Text 21"/>
          <p:cNvSpPr/>
          <p:nvPr/>
        </p:nvSpPr>
        <p:spPr>
          <a:xfrm>
            <a:off x="2194560" y="1645920"/>
            <a:ext cx="1325880"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$5,000</a:t>
            </a:r>
            <a:endParaRPr lang="en-US" sz="1000" dirty="0"/>
          </a:p>
        </p:txBody>
      </p:sp>
      <p:sp>
        <p:nvSpPr>
          <p:cNvPr id="24" name="Shape 22"/>
          <p:cNvSpPr/>
          <p:nvPr/>
        </p:nvSpPr>
        <p:spPr>
          <a:xfrm>
            <a:off x="3566160" y="1645920"/>
            <a:ext cx="1316736" cy="493776"/>
          </a:xfrm>
          <a:prstGeom prst="rect">
            <a:avLst/>
          </a:prstGeom>
          <a:solidFill>
            <a:srgbClr val="F4F6FA"/>
          </a:solidFill>
          <a:ln w="12700">
            <a:solidFill>
              <a:srgbClr val="E7ECF0"/>
            </a:solidFill>
            <a:prstDash val="solid"/>
          </a:ln>
        </p:spPr>
      </p:sp>
      <p:sp>
        <p:nvSpPr>
          <p:cNvPr id="25" name="Text 23"/>
          <p:cNvSpPr/>
          <p:nvPr/>
        </p:nvSpPr>
        <p:spPr>
          <a:xfrm>
            <a:off x="3566160" y="1645920"/>
            <a:ext cx="1316736"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$8,000</a:t>
            </a:r>
            <a:endParaRPr lang="en-US" sz="1000" dirty="0"/>
          </a:p>
        </p:txBody>
      </p:sp>
      <p:sp>
        <p:nvSpPr>
          <p:cNvPr id="26" name="Shape 24"/>
          <p:cNvSpPr/>
          <p:nvPr/>
        </p:nvSpPr>
        <p:spPr>
          <a:xfrm>
            <a:off x="4919472" y="1645920"/>
            <a:ext cx="1316736" cy="493776"/>
          </a:xfrm>
          <a:prstGeom prst="rect">
            <a:avLst/>
          </a:prstGeom>
          <a:solidFill>
            <a:srgbClr val="F4F6FA"/>
          </a:solidFill>
          <a:ln w="12700">
            <a:solidFill>
              <a:srgbClr val="E7ECF0"/>
            </a:solidFill>
            <a:prstDash val="solid"/>
          </a:ln>
        </p:spPr>
      </p:sp>
      <p:sp>
        <p:nvSpPr>
          <p:cNvPr id="27" name="Text 25"/>
          <p:cNvSpPr/>
          <p:nvPr/>
        </p:nvSpPr>
        <p:spPr>
          <a:xfrm>
            <a:off x="4919472" y="1645920"/>
            <a:ext cx="1316736"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$15,000</a:t>
            </a:r>
            <a:endParaRPr lang="en-US" sz="1000" dirty="0"/>
          </a:p>
        </p:txBody>
      </p:sp>
      <p:sp>
        <p:nvSpPr>
          <p:cNvPr id="28" name="Shape 26"/>
          <p:cNvSpPr/>
          <p:nvPr/>
        </p:nvSpPr>
        <p:spPr>
          <a:xfrm>
            <a:off x="6272784" y="1645920"/>
            <a:ext cx="1143000" cy="493776"/>
          </a:xfrm>
          <a:prstGeom prst="rect">
            <a:avLst/>
          </a:prstGeom>
          <a:solidFill>
            <a:srgbClr val="F4F6FA"/>
          </a:solidFill>
          <a:ln w="12700">
            <a:solidFill>
              <a:srgbClr val="E7ECF0"/>
            </a:solidFill>
            <a:prstDash val="solid"/>
          </a:ln>
        </p:spPr>
      </p:sp>
      <p:sp>
        <p:nvSpPr>
          <p:cNvPr id="29" name="Text 27"/>
          <p:cNvSpPr/>
          <p:nvPr/>
        </p:nvSpPr>
        <p:spPr>
          <a:xfrm>
            <a:off x="6272784" y="1645920"/>
            <a:ext cx="1143000"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$25,000</a:t>
            </a:r>
            <a:endParaRPr lang="en-US" sz="1000" dirty="0"/>
          </a:p>
        </p:txBody>
      </p:sp>
      <p:sp>
        <p:nvSpPr>
          <p:cNvPr id="30" name="Shape 28"/>
          <p:cNvSpPr/>
          <p:nvPr/>
        </p:nvSpPr>
        <p:spPr>
          <a:xfrm>
            <a:off x="7452360" y="1645920"/>
            <a:ext cx="1508760" cy="493776"/>
          </a:xfrm>
          <a:prstGeom prst="rect">
            <a:avLst/>
          </a:prstGeom>
          <a:solidFill>
            <a:srgbClr val="F4F6FA"/>
          </a:solidFill>
          <a:ln w="12700">
            <a:solidFill>
              <a:srgbClr val="E7ECF0"/>
            </a:solidFill>
            <a:prstDash val="solid"/>
          </a:ln>
        </p:spPr>
      </p:sp>
      <p:sp>
        <p:nvSpPr>
          <p:cNvPr id="31" name="Text 29"/>
          <p:cNvSpPr/>
          <p:nvPr/>
        </p:nvSpPr>
        <p:spPr>
          <a:xfrm>
            <a:off x="7452360" y="1682496"/>
            <a:ext cx="1508760" cy="219456"/>
          </a:xfrm>
          <a:prstGeom prst="rect">
            <a:avLst/>
          </a:prstGeom>
          <a:noFill/>
          <a:ln/>
        </p:spPr>
        <p:txBody>
          <a:bodyPr wrap="square" lIns="0" tIns="0" rIns="0" bIns="0" rtlCol="0" anchor="ctr"/>
          <a:lstStyle/>
          <a:p>
            <a:pPr algn="ctr" indent="0" marL="0">
              <a:buNone/>
            </a:pPr>
            <a:r>
              <a:rPr lang="en-US" sz="950" b="1" dirty="0">
                <a:solidFill>
                  <a:srgbClr val="06185F"/>
                </a:solidFill>
                <a:latin typeface="Calibri" pitchFamily="34" charset="0"/>
                <a:ea typeface="Calibri" pitchFamily="34" charset="-122"/>
                <a:cs typeface="Calibri" pitchFamily="34" charset="-120"/>
              </a:rPr>
              <a:t>Q1 FY27</a:t>
            </a:r>
            <a:endParaRPr lang="en-US" sz="950" dirty="0"/>
          </a:p>
        </p:txBody>
      </p:sp>
      <p:sp>
        <p:nvSpPr>
          <p:cNvPr id="32" name="Text 30"/>
          <p:cNvSpPr/>
          <p:nvPr/>
        </p:nvSpPr>
        <p:spPr>
          <a:xfrm>
            <a:off x="7452360" y="1892808"/>
            <a:ext cx="1508760" cy="219456"/>
          </a:xfrm>
          <a:prstGeom prst="rect">
            <a:avLst/>
          </a:prstGeom>
          <a:noFill/>
          <a:ln/>
        </p:spPr>
        <p:txBody>
          <a:bodyPr wrap="square" lIns="0" tIns="0" rIns="0" bIns="0" rtlCol="0" anchor="ctr"/>
          <a:lstStyle/>
          <a:p>
            <a:pPr algn="ctr" indent="0" marL="0">
              <a:buNone/>
            </a:pPr>
            <a:r>
              <a:rPr lang="en-US" sz="750" dirty="0">
                <a:solidFill>
                  <a:srgbClr val="575A5D"/>
                </a:solidFill>
                <a:latin typeface="Calibri" pitchFamily="34" charset="0"/>
                <a:ea typeface="Calibri" pitchFamily="34" charset="-122"/>
                <a:cs typeface="Calibri" pitchFamily="34" charset="-120"/>
              </a:rPr>
              <a:t>Zelle FIs only</a:t>
            </a:r>
            <a:endParaRPr lang="en-US" sz="750" dirty="0"/>
          </a:p>
          <a:p>
            <a:pPr algn="ctr" indent="0" marL="0">
              <a:buNone/>
            </a:pPr>
            <a:r>
              <a:rPr lang="en-US" sz="750" dirty="0">
                <a:solidFill>
                  <a:srgbClr val="575A5D"/>
                </a:solidFill>
                <a:latin typeface="Calibri" pitchFamily="34" charset="0"/>
                <a:ea typeface="Calibri" pitchFamily="34" charset="-122"/>
                <a:cs typeface="Calibri" pitchFamily="34" charset="-120"/>
              </a:rPr>
              <a:t>(~580 addressable)</a:t>
            </a:r>
            <a:endParaRPr lang="en-US" sz="750" dirty="0"/>
          </a:p>
        </p:txBody>
      </p:sp>
      <p:sp>
        <p:nvSpPr>
          <p:cNvPr id="33" name="Shape 31"/>
          <p:cNvSpPr/>
          <p:nvPr/>
        </p:nvSpPr>
        <p:spPr>
          <a:xfrm>
            <a:off x="320040" y="2139696"/>
            <a:ext cx="73152" cy="493776"/>
          </a:xfrm>
          <a:prstGeom prst="rect">
            <a:avLst/>
          </a:prstGeom>
          <a:solidFill>
            <a:srgbClr val="06185F"/>
          </a:solidFill>
          <a:ln w="12700">
            <a:solidFill>
              <a:srgbClr val="06185F"/>
            </a:solidFill>
            <a:prstDash val="solid"/>
          </a:ln>
        </p:spPr>
      </p:sp>
      <p:sp>
        <p:nvSpPr>
          <p:cNvPr id="34" name="Shape 32"/>
          <p:cNvSpPr/>
          <p:nvPr/>
        </p:nvSpPr>
        <p:spPr>
          <a:xfrm>
            <a:off x="393192" y="2139696"/>
            <a:ext cx="1755648" cy="493776"/>
          </a:xfrm>
          <a:prstGeom prst="rect">
            <a:avLst/>
          </a:prstGeom>
          <a:solidFill>
            <a:srgbClr val="FFFFFF"/>
          </a:solidFill>
          <a:ln w="12700">
            <a:solidFill>
              <a:srgbClr val="E7ECF0"/>
            </a:solidFill>
            <a:prstDash val="solid"/>
          </a:ln>
        </p:spPr>
      </p:sp>
      <p:sp>
        <p:nvSpPr>
          <p:cNvPr id="35" name="Text 33"/>
          <p:cNvSpPr/>
          <p:nvPr/>
        </p:nvSpPr>
        <p:spPr>
          <a:xfrm>
            <a:off x="448056" y="2139696"/>
            <a:ext cx="1700784" cy="493776"/>
          </a:xfrm>
          <a:prstGeom prst="rect">
            <a:avLst/>
          </a:prstGeom>
          <a:noFill/>
          <a:ln/>
        </p:spPr>
        <p:txBody>
          <a:bodyPr wrap="square" lIns="0" tIns="5080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Churn Sentinel</a:t>
            </a:r>
            <a:endParaRPr lang="en-US" sz="950" dirty="0"/>
          </a:p>
        </p:txBody>
      </p:sp>
      <p:sp>
        <p:nvSpPr>
          <p:cNvPr id="36" name="Shape 34"/>
          <p:cNvSpPr/>
          <p:nvPr/>
        </p:nvSpPr>
        <p:spPr>
          <a:xfrm>
            <a:off x="2194560" y="2139696"/>
            <a:ext cx="1325880" cy="493776"/>
          </a:xfrm>
          <a:prstGeom prst="rect">
            <a:avLst/>
          </a:prstGeom>
          <a:solidFill>
            <a:srgbClr val="FFFFFF"/>
          </a:solidFill>
          <a:ln w="12700">
            <a:solidFill>
              <a:srgbClr val="E7ECF0"/>
            </a:solidFill>
            <a:prstDash val="solid"/>
          </a:ln>
        </p:spPr>
      </p:sp>
      <p:sp>
        <p:nvSpPr>
          <p:cNvPr id="37" name="Text 35"/>
          <p:cNvSpPr/>
          <p:nvPr/>
        </p:nvSpPr>
        <p:spPr>
          <a:xfrm>
            <a:off x="2194560" y="2139696"/>
            <a:ext cx="1325880"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$8,000</a:t>
            </a:r>
            <a:endParaRPr lang="en-US" sz="1000" dirty="0"/>
          </a:p>
        </p:txBody>
      </p:sp>
      <p:sp>
        <p:nvSpPr>
          <p:cNvPr id="38" name="Shape 36"/>
          <p:cNvSpPr/>
          <p:nvPr/>
        </p:nvSpPr>
        <p:spPr>
          <a:xfrm>
            <a:off x="3566160" y="2139696"/>
            <a:ext cx="1316736" cy="493776"/>
          </a:xfrm>
          <a:prstGeom prst="rect">
            <a:avLst/>
          </a:prstGeom>
          <a:solidFill>
            <a:srgbClr val="FFFFFF"/>
          </a:solidFill>
          <a:ln w="12700">
            <a:solidFill>
              <a:srgbClr val="E7ECF0"/>
            </a:solidFill>
            <a:prstDash val="solid"/>
          </a:ln>
        </p:spPr>
      </p:sp>
      <p:sp>
        <p:nvSpPr>
          <p:cNvPr id="39" name="Text 37"/>
          <p:cNvSpPr/>
          <p:nvPr/>
        </p:nvSpPr>
        <p:spPr>
          <a:xfrm>
            <a:off x="3566160" y="2139696"/>
            <a:ext cx="1316736"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$12,000</a:t>
            </a:r>
            <a:endParaRPr lang="en-US" sz="1000" dirty="0"/>
          </a:p>
        </p:txBody>
      </p:sp>
      <p:sp>
        <p:nvSpPr>
          <p:cNvPr id="40" name="Shape 38"/>
          <p:cNvSpPr/>
          <p:nvPr/>
        </p:nvSpPr>
        <p:spPr>
          <a:xfrm>
            <a:off x="4919472" y="2139696"/>
            <a:ext cx="1316736" cy="493776"/>
          </a:xfrm>
          <a:prstGeom prst="rect">
            <a:avLst/>
          </a:prstGeom>
          <a:solidFill>
            <a:srgbClr val="FFFFFF"/>
          </a:solidFill>
          <a:ln w="12700">
            <a:solidFill>
              <a:srgbClr val="E7ECF0"/>
            </a:solidFill>
            <a:prstDash val="solid"/>
          </a:ln>
        </p:spPr>
      </p:sp>
      <p:sp>
        <p:nvSpPr>
          <p:cNvPr id="41" name="Text 39"/>
          <p:cNvSpPr/>
          <p:nvPr/>
        </p:nvSpPr>
        <p:spPr>
          <a:xfrm>
            <a:off x="4919472" y="2139696"/>
            <a:ext cx="1316736"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$22,000</a:t>
            </a:r>
            <a:endParaRPr lang="en-US" sz="1000" dirty="0"/>
          </a:p>
        </p:txBody>
      </p:sp>
      <p:sp>
        <p:nvSpPr>
          <p:cNvPr id="42" name="Shape 40"/>
          <p:cNvSpPr/>
          <p:nvPr/>
        </p:nvSpPr>
        <p:spPr>
          <a:xfrm>
            <a:off x="6272784" y="2139696"/>
            <a:ext cx="1143000" cy="493776"/>
          </a:xfrm>
          <a:prstGeom prst="rect">
            <a:avLst/>
          </a:prstGeom>
          <a:solidFill>
            <a:srgbClr val="FFFFFF"/>
          </a:solidFill>
          <a:ln w="12700">
            <a:solidFill>
              <a:srgbClr val="E7ECF0"/>
            </a:solidFill>
            <a:prstDash val="solid"/>
          </a:ln>
        </p:spPr>
      </p:sp>
      <p:sp>
        <p:nvSpPr>
          <p:cNvPr id="43" name="Text 41"/>
          <p:cNvSpPr/>
          <p:nvPr/>
        </p:nvSpPr>
        <p:spPr>
          <a:xfrm>
            <a:off x="6272784" y="2139696"/>
            <a:ext cx="1143000"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$35,000</a:t>
            </a:r>
            <a:endParaRPr lang="en-US" sz="1000" dirty="0"/>
          </a:p>
        </p:txBody>
      </p:sp>
      <p:sp>
        <p:nvSpPr>
          <p:cNvPr id="44" name="Shape 42"/>
          <p:cNvSpPr/>
          <p:nvPr/>
        </p:nvSpPr>
        <p:spPr>
          <a:xfrm>
            <a:off x="7452360" y="2139696"/>
            <a:ext cx="1508760" cy="493776"/>
          </a:xfrm>
          <a:prstGeom prst="rect">
            <a:avLst/>
          </a:prstGeom>
          <a:solidFill>
            <a:srgbClr val="FFFFFF"/>
          </a:solidFill>
          <a:ln w="12700">
            <a:solidFill>
              <a:srgbClr val="E7ECF0"/>
            </a:solidFill>
            <a:prstDash val="solid"/>
          </a:ln>
        </p:spPr>
      </p:sp>
      <p:sp>
        <p:nvSpPr>
          <p:cNvPr id="45" name="Text 43"/>
          <p:cNvSpPr/>
          <p:nvPr/>
        </p:nvSpPr>
        <p:spPr>
          <a:xfrm>
            <a:off x="7452360" y="2176272"/>
            <a:ext cx="1508760" cy="219456"/>
          </a:xfrm>
          <a:prstGeom prst="rect">
            <a:avLst/>
          </a:prstGeom>
          <a:noFill/>
          <a:ln/>
        </p:spPr>
        <p:txBody>
          <a:bodyPr wrap="square" lIns="0" tIns="0" rIns="0" bIns="0" rtlCol="0" anchor="ctr"/>
          <a:lstStyle/>
          <a:p>
            <a:pPr algn="ctr" indent="0" marL="0">
              <a:buNone/>
            </a:pPr>
            <a:r>
              <a:rPr lang="en-US" sz="950" b="1" dirty="0">
                <a:solidFill>
                  <a:srgbClr val="06185F"/>
                </a:solidFill>
                <a:latin typeface="Calibri" pitchFamily="34" charset="0"/>
                <a:ea typeface="Calibri" pitchFamily="34" charset="-122"/>
                <a:cs typeface="Calibri" pitchFamily="34" charset="-120"/>
              </a:rPr>
              <a:t>Q2 FY27</a:t>
            </a:r>
            <a:endParaRPr lang="en-US" sz="950" dirty="0"/>
          </a:p>
        </p:txBody>
      </p:sp>
      <p:sp>
        <p:nvSpPr>
          <p:cNvPr id="46" name="Text 44"/>
          <p:cNvSpPr/>
          <p:nvPr/>
        </p:nvSpPr>
        <p:spPr>
          <a:xfrm>
            <a:off x="7452360" y="2386584"/>
            <a:ext cx="1508760" cy="219456"/>
          </a:xfrm>
          <a:prstGeom prst="rect">
            <a:avLst/>
          </a:prstGeom>
          <a:noFill/>
          <a:ln/>
        </p:spPr>
        <p:txBody>
          <a:bodyPr wrap="square" lIns="0" tIns="0" rIns="0" bIns="0" rtlCol="0" anchor="ctr"/>
          <a:lstStyle/>
          <a:p>
            <a:pPr algn="ctr" indent="0" marL="0">
              <a:buNone/>
            </a:pPr>
            <a:r>
              <a:rPr lang="en-US" sz="750" dirty="0">
                <a:solidFill>
                  <a:srgbClr val="575A5D"/>
                </a:solidFill>
                <a:latin typeface="Calibri" pitchFamily="34" charset="0"/>
                <a:ea typeface="Calibri" pitchFamily="34" charset="-122"/>
                <a:cs typeface="Calibri" pitchFamily="34" charset="-120"/>
              </a:rPr>
              <a:t>Universal · all FIs</a:t>
            </a:r>
            <a:endParaRPr lang="en-US" sz="750" dirty="0"/>
          </a:p>
        </p:txBody>
      </p:sp>
      <p:sp>
        <p:nvSpPr>
          <p:cNvPr id="47" name="Shape 45"/>
          <p:cNvSpPr/>
          <p:nvPr/>
        </p:nvSpPr>
        <p:spPr>
          <a:xfrm>
            <a:off x="320040" y="2633472"/>
            <a:ext cx="73152" cy="493776"/>
          </a:xfrm>
          <a:prstGeom prst="rect">
            <a:avLst/>
          </a:prstGeom>
          <a:solidFill>
            <a:srgbClr val="0A52C4"/>
          </a:solidFill>
          <a:ln w="12700">
            <a:solidFill>
              <a:srgbClr val="0A52C4"/>
            </a:solidFill>
            <a:prstDash val="solid"/>
          </a:ln>
        </p:spPr>
      </p:sp>
      <p:sp>
        <p:nvSpPr>
          <p:cNvPr id="48" name="Shape 46"/>
          <p:cNvSpPr/>
          <p:nvPr/>
        </p:nvSpPr>
        <p:spPr>
          <a:xfrm>
            <a:off x="393192" y="2633472"/>
            <a:ext cx="1755648" cy="493776"/>
          </a:xfrm>
          <a:prstGeom prst="rect">
            <a:avLst/>
          </a:prstGeom>
          <a:solidFill>
            <a:srgbClr val="F4F6FA"/>
          </a:solidFill>
          <a:ln w="12700">
            <a:solidFill>
              <a:srgbClr val="E7ECF0"/>
            </a:solidFill>
            <a:prstDash val="solid"/>
          </a:ln>
        </p:spPr>
      </p:sp>
      <p:sp>
        <p:nvSpPr>
          <p:cNvPr id="49" name="Text 47"/>
          <p:cNvSpPr/>
          <p:nvPr/>
        </p:nvSpPr>
        <p:spPr>
          <a:xfrm>
            <a:off x="448056" y="2633472"/>
            <a:ext cx="1700784" cy="493776"/>
          </a:xfrm>
          <a:prstGeom prst="rect">
            <a:avLst/>
          </a:prstGeom>
          <a:noFill/>
          <a:ln/>
        </p:spPr>
        <p:txBody>
          <a:bodyPr wrap="square" lIns="0" tIns="5080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CommercialSignal</a:t>
            </a:r>
            <a:endParaRPr lang="en-US" sz="950" dirty="0"/>
          </a:p>
        </p:txBody>
      </p:sp>
      <p:sp>
        <p:nvSpPr>
          <p:cNvPr id="50" name="Shape 48"/>
          <p:cNvSpPr/>
          <p:nvPr/>
        </p:nvSpPr>
        <p:spPr>
          <a:xfrm>
            <a:off x="2194560" y="2633472"/>
            <a:ext cx="1325880" cy="493776"/>
          </a:xfrm>
          <a:prstGeom prst="rect">
            <a:avLst/>
          </a:prstGeom>
          <a:solidFill>
            <a:srgbClr val="F4F6FA"/>
          </a:solidFill>
          <a:ln w="12700">
            <a:solidFill>
              <a:srgbClr val="E7ECF0"/>
            </a:solidFill>
            <a:prstDash val="solid"/>
          </a:ln>
        </p:spPr>
      </p:sp>
      <p:sp>
        <p:nvSpPr>
          <p:cNvPr id="51" name="Text 49"/>
          <p:cNvSpPr/>
          <p:nvPr/>
        </p:nvSpPr>
        <p:spPr>
          <a:xfrm>
            <a:off x="2194560" y="2633472"/>
            <a:ext cx="1325880"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$6,000</a:t>
            </a:r>
            <a:endParaRPr lang="en-US" sz="1000" dirty="0"/>
          </a:p>
        </p:txBody>
      </p:sp>
      <p:sp>
        <p:nvSpPr>
          <p:cNvPr id="52" name="Shape 50"/>
          <p:cNvSpPr/>
          <p:nvPr/>
        </p:nvSpPr>
        <p:spPr>
          <a:xfrm>
            <a:off x="3566160" y="2633472"/>
            <a:ext cx="1316736" cy="493776"/>
          </a:xfrm>
          <a:prstGeom prst="rect">
            <a:avLst/>
          </a:prstGeom>
          <a:solidFill>
            <a:srgbClr val="F4F6FA"/>
          </a:solidFill>
          <a:ln w="12700">
            <a:solidFill>
              <a:srgbClr val="E7ECF0"/>
            </a:solidFill>
            <a:prstDash val="solid"/>
          </a:ln>
        </p:spPr>
      </p:sp>
      <p:sp>
        <p:nvSpPr>
          <p:cNvPr id="53" name="Text 51"/>
          <p:cNvSpPr/>
          <p:nvPr/>
        </p:nvSpPr>
        <p:spPr>
          <a:xfrm>
            <a:off x="3566160" y="2633472"/>
            <a:ext cx="1316736"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$10,000</a:t>
            </a:r>
            <a:endParaRPr lang="en-US" sz="1000" dirty="0"/>
          </a:p>
        </p:txBody>
      </p:sp>
      <p:sp>
        <p:nvSpPr>
          <p:cNvPr id="54" name="Shape 52"/>
          <p:cNvSpPr/>
          <p:nvPr/>
        </p:nvSpPr>
        <p:spPr>
          <a:xfrm>
            <a:off x="4919472" y="2633472"/>
            <a:ext cx="1316736" cy="493776"/>
          </a:xfrm>
          <a:prstGeom prst="rect">
            <a:avLst/>
          </a:prstGeom>
          <a:solidFill>
            <a:srgbClr val="F4F6FA"/>
          </a:solidFill>
          <a:ln w="12700">
            <a:solidFill>
              <a:srgbClr val="E7ECF0"/>
            </a:solidFill>
            <a:prstDash val="solid"/>
          </a:ln>
        </p:spPr>
      </p:sp>
      <p:sp>
        <p:nvSpPr>
          <p:cNvPr id="55" name="Text 53"/>
          <p:cNvSpPr/>
          <p:nvPr/>
        </p:nvSpPr>
        <p:spPr>
          <a:xfrm>
            <a:off x="4919472" y="2633472"/>
            <a:ext cx="1316736"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$18,000</a:t>
            </a:r>
            <a:endParaRPr lang="en-US" sz="1000" dirty="0"/>
          </a:p>
        </p:txBody>
      </p:sp>
      <p:sp>
        <p:nvSpPr>
          <p:cNvPr id="56" name="Shape 54"/>
          <p:cNvSpPr/>
          <p:nvPr/>
        </p:nvSpPr>
        <p:spPr>
          <a:xfrm>
            <a:off x="6272784" y="2633472"/>
            <a:ext cx="1143000" cy="493776"/>
          </a:xfrm>
          <a:prstGeom prst="rect">
            <a:avLst/>
          </a:prstGeom>
          <a:solidFill>
            <a:srgbClr val="F4F6FA"/>
          </a:solidFill>
          <a:ln w="12700">
            <a:solidFill>
              <a:srgbClr val="E7ECF0"/>
            </a:solidFill>
            <a:prstDash val="solid"/>
          </a:ln>
        </p:spPr>
      </p:sp>
      <p:sp>
        <p:nvSpPr>
          <p:cNvPr id="57" name="Text 55"/>
          <p:cNvSpPr/>
          <p:nvPr/>
        </p:nvSpPr>
        <p:spPr>
          <a:xfrm>
            <a:off x="6272784" y="2633472"/>
            <a:ext cx="1143000"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$28,000</a:t>
            </a:r>
            <a:endParaRPr lang="en-US" sz="1000" dirty="0"/>
          </a:p>
        </p:txBody>
      </p:sp>
      <p:sp>
        <p:nvSpPr>
          <p:cNvPr id="58" name="Shape 56"/>
          <p:cNvSpPr/>
          <p:nvPr/>
        </p:nvSpPr>
        <p:spPr>
          <a:xfrm>
            <a:off x="7452360" y="2633472"/>
            <a:ext cx="1508760" cy="493776"/>
          </a:xfrm>
          <a:prstGeom prst="rect">
            <a:avLst/>
          </a:prstGeom>
          <a:solidFill>
            <a:srgbClr val="F4F6FA"/>
          </a:solidFill>
          <a:ln w="12700">
            <a:solidFill>
              <a:srgbClr val="E7ECF0"/>
            </a:solidFill>
            <a:prstDash val="solid"/>
          </a:ln>
        </p:spPr>
      </p:sp>
      <p:sp>
        <p:nvSpPr>
          <p:cNvPr id="59" name="Text 57"/>
          <p:cNvSpPr/>
          <p:nvPr/>
        </p:nvSpPr>
        <p:spPr>
          <a:xfrm>
            <a:off x="7452360" y="2670048"/>
            <a:ext cx="1508760" cy="219456"/>
          </a:xfrm>
          <a:prstGeom prst="rect">
            <a:avLst/>
          </a:prstGeom>
          <a:noFill/>
          <a:ln/>
        </p:spPr>
        <p:txBody>
          <a:bodyPr wrap="square" lIns="0" tIns="0" rIns="0" bIns="0" rtlCol="0" anchor="ctr"/>
          <a:lstStyle/>
          <a:p>
            <a:pPr algn="ctr" indent="0" marL="0">
              <a:buNone/>
            </a:pPr>
            <a:r>
              <a:rPr lang="en-US" sz="950" b="1" dirty="0">
                <a:solidFill>
                  <a:srgbClr val="06185F"/>
                </a:solidFill>
                <a:latin typeface="Calibri" pitchFamily="34" charset="0"/>
                <a:ea typeface="Calibri" pitchFamily="34" charset="-122"/>
                <a:cs typeface="Calibri" pitchFamily="34" charset="-120"/>
              </a:rPr>
              <a:t>Q3 FY27</a:t>
            </a:r>
            <a:endParaRPr lang="en-US" sz="950" dirty="0"/>
          </a:p>
        </p:txBody>
      </p:sp>
      <p:sp>
        <p:nvSpPr>
          <p:cNvPr id="60" name="Text 58"/>
          <p:cNvSpPr/>
          <p:nvPr/>
        </p:nvSpPr>
        <p:spPr>
          <a:xfrm>
            <a:off x="7452360" y="2880360"/>
            <a:ext cx="1508760" cy="219456"/>
          </a:xfrm>
          <a:prstGeom prst="rect">
            <a:avLst/>
          </a:prstGeom>
          <a:noFill/>
          <a:ln/>
        </p:spPr>
        <p:txBody>
          <a:bodyPr wrap="square" lIns="0" tIns="0" rIns="0" bIns="0" rtlCol="0" anchor="ctr"/>
          <a:lstStyle/>
          <a:p>
            <a:pPr algn="ctr" indent="0" marL="0">
              <a:buNone/>
            </a:pPr>
            <a:r>
              <a:rPr lang="en-US" sz="750" dirty="0">
                <a:solidFill>
                  <a:srgbClr val="575A5D"/>
                </a:solidFill>
                <a:latin typeface="Calibri" pitchFamily="34" charset="0"/>
                <a:ea typeface="Calibri" pitchFamily="34" charset="-122"/>
                <a:cs typeface="Calibri" pitchFamily="34" charset="-120"/>
              </a:rPr>
              <a:t>Universal · ACH data</a:t>
            </a:r>
            <a:endParaRPr lang="en-US" sz="750" dirty="0"/>
          </a:p>
        </p:txBody>
      </p:sp>
      <p:sp>
        <p:nvSpPr>
          <p:cNvPr id="61" name="Shape 59"/>
          <p:cNvSpPr/>
          <p:nvPr/>
        </p:nvSpPr>
        <p:spPr>
          <a:xfrm>
            <a:off x="320040" y="3127248"/>
            <a:ext cx="73152" cy="493776"/>
          </a:xfrm>
          <a:prstGeom prst="rect">
            <a:avLst/>
          </a:prstGeom>
          <a:solidFill>
            <a:srgbClr val="0F3D8A"/>
          </a:solidFill>
          <a:ln w="12700">
            <a:solidFill>
              <a:srgbClr val="0F3D8A"/>
            </a:solidFill>
            <a:prstDash val="solid"/>
          </a:ln>
        </p:spPr>
      </p:sp>
      <p:sp>
        <p:nvSpPr>
          <p:cNvPr id="62" name="Shape 60"/>
          <p:cNvSpPr/>
          <p:nvPr/>
        </p:nvSpPr>
        <p:spPr>
          <a:xfrm>
            <a:off x="393192" y="3127248"/>
            <a:ext cx="1755648" cy="493776"/>
          </a:xfrm>
          <a:prstGeom prst="rect">
            <a:avLst/>
          </a:prstGeom>
          <a:solidFill>
            <a:srgbClr val="FFFFFF"/>
          </a:solidFill>
          <a:ln w="12700">
            <a:solidFill>
              <a:srgbClr val="E7ECF0"/>
            </a:solidFill>
            <a:prstDash val="solid"/>
          </a:ln>
        </p:spPr>
      </p:sp>
      <p:sp>
        <p:nvSpPr>
          <p:cNvPr id="63" name="Text 61"/>
          <p:cNvSpPr/>
          <p:nvPr/>
        </p:nvSpPr>
        <p:spPr>
          <a:xfrm>
            <a:off x="448056" y="3127248"/>
            <a:ext cx="1700784" cy="493776"/>
          </a:xfrm>
          <a:prstGeom prst="rect">
            <a:avLst/>
          </a:prstGeom>
          <a:noFill/>
          <a:ln/>
        </p:spPr>
        <p:txBody>
          <a:bodyPr wrap="square" lIns="0" tIns="5080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Gen. Wealth Deflection</a:t>
            </a:r>
            <a:endParaRPr lang="en-US" sz="950" dirty="0"/>
          </a:p>
        </p:txBody>
      </p:sp>
      <p:sp>
        <p:nvSpPr>
          <p:cNvPr id="64" name="Shape 62"/>
          <p:cNvSpPr/>
          <p:nvPr/>
        </p:nvSpPr>
        <p:spPr>
          <a:xfrm>
            <a:off x="2194560" y="3127248"/>
            <a:ext cx="1325880" cy="493776"/>
          </a:xfrm>
          <a:prstGeom prst="rect">
            <a:avLst/>
          </a:prstGeom>
          <a:solidFill>
            <a:srgbClr val="FFFFFF"/>
          </a:solidFill>
          <a:ln w="12700">
            <a:solidFill>
              <a:srgbClr val="E7ECF0"/>
            </a:solidFill>
            <a:prstDash val="solid"/>
          </a:ln>
        </p:spPr>
      </p:sp>
      <p:sp>
        <p:nvSpPr>
          <p:cNvPr id="65" name="Text 63"/>
          <p:cNvSpPr/>
          <p:nvPr/>
        </p:nvSpPr>
        <p:spPr>
          <a:xfrm>
            <a:off x="2194560" y="3127248"/>
            <a:ext cx="1325880"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$8,000</a:t>
            </a:r>
            <a:endParaRPr lang="en-US" sz="1000" dirty="0"/>
          </a:p>
        </p:txBody>
      </p:sp>
      <p:sp>
        <p:nvSpPr>
          <p:cNvPr id="66" name="Shape 64"/>
          <p:cNvSpPr/>
          <p:nvPr/>
        </p:nvSpPr>
        <p:spPr>
          <a:xfrm>
            <a:off x="3566160" y="3127248"/>
            <a:ext cx="1316736" cy="493776"/>
          </a:xfrm>
          <a:prstGeom prst="rect">
            <a:avLst/>
          </a:prstGeom>
          <a:solidFill>
            <a:srgbClr val="FFFFFF"/>
          </a:solidFill>
          <a:ln w="12700">
            <a:solidFill>
              <a:srgbClr val="E7ECF0"/>
            </a:solidFill>
            <a:prstDash val="solid"/>
          </a:ln>
        </p:spPr>
      </p:sp>
      <p:sp>
        <p:nvSpPr>
          <p:cNvPr id="67" name="Text 65"/>
          <p:cNvSpPr/>
          <p:nvPr/>
        </p:nvSpPr>
        <p:spPr>
          <a:xfrm>
            <a:off x="3566160" y="3127248"/>
            <a:ext cx="1316736"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$12,000</a:t>
            </a:r>
            <a:endParaRPr lang="en-US" sz="1000" dirty="0"/>
          </a:p>
        </p:txBody>
      </p:sp>
      <p:sp>
        <p:nvSpPr>
          <p:cNvPr id="68" name="Shape 66"/>
          <p:cNvSpPr/>
          <p:nvPr/>
        </p:nvSpPr>
        <p:spPr>
          <a:xfrm>
            <a:off x="4919472" y="3127248"/>
            <a:ext cx="1316736" cy="493776"/>
          </a:xfrm>
          <a:prstGeom prst="rect">
            <a:avLst/>
          </a:prstGeom>
          <a:solidFill>
            <a:srgbClr val="FFFFFF"/>
          </a:solidFill>
          <a:ln w="12700">
            <a:solidFill>
              <a:srgbClr val="E7ECF0"/>
            </a:solidFill>
            <a:prstDash val="solid"/>
          </a:ln>
        </p:spPr>
      </p:sp>
      <p:sp>
        <p:nvSpPr>
          <p:cNvPr id="69" name="Text 67"/>
          <p:cNvSpPr/>
          <p:nvPr/>
        </p:nvSpPr>
        <p:spPr>
          <a:xfrm>
            <a:off x="4919472" y="3127248"/>
            <a:ext cx="1316736"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$20,000</a:t>
            </a:r>
            <a:endParaRPr lang="en-US" sz="1000" dirty="0"/>
          </a:p>
        </p:txBody>
      </p:sp>
      <p:sp>
        <p:nvSpPr>
          <p:cNvPr id="70" name="Shape 68"/>
          <p:cNvSpPr/>
          <p:nvPr/>
        </p:nvSpPr>
        <p:spPr>
          <a:xfrm>
            <a:off x="6272784" y="3127248"/>
            <a:ext cx="1143000" cy="493776"/>
          </a:xfrm>
          <a:prstGeom prst="rect">
            <a:avLst/>
          </a:prstGeom>
          <a:solidFill>
            <a:srgbClr val="FFFFFF"/>
          </a:solidFill>
          <a:ln w="12700">
            <a:solidFill>
              <a:srgbClr val="E7ECF0"/>
            </a:solidFill>
            <a:prstDash val="solid"/>
          </a:ln>
        </p:spPr>
      </p:sp>
      <p:sp>
        <p:nvSpPr>
          <p:cNvPr id="71" name="Text 69"/>
          <p:cNvSpPr/>
          <p:nvPr/>
        </p:nvSpPr>
        <p:spPr>
          <a:xfrm>
            <a:off x="6272784" y="3127248"/>
            <a:ext cx="1143000"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$30,000</a:t>
            </a:r>
            <a:endParaRPr lang="en-US" sz="1000" dirty="0"/>
          </a:p>
        </p:txBody>
      </p:sp>
      <p:sp>
        <p:nvSpPr>
          <p:cNvPr id="72" name="Shape 70"/>
          <p:cNvSpPr/>
          <p:nvPr/>
        </p:nvSpPr>
        <p:spPr>
          <a:xfrm>
            <a:off x="7452360" y="3127248"/>
            <a:ext cx="1508760" cy="493776"/>
          </a:xfrm>
          <a:prstGeom prst="rect">
            <a:avLst/>
          </a:prstGeom>
          <a:solidFill>
            <a:srgbClr val="FFFFFF"/>
          </a:solidFill>
          <a:ln w="12700">
            <a:solidFill>
              <a:srgbClr val="E7ECF0"/>
            </a:solidFill>
            <a:prstDash val="solid"/>
          </a:ln>
        </p:spPr>
      </p:sp>
      <p:sp>
        <p:nvSpPr>
          <p:cNvPr id="73" name="Text 71"/>
          <p:cNvSpPr/>
          <p:nvPr/>
        </p:nvSpPr>
        <p:spPr>
          <a:xfrm>
            <a:off x="7452360" y="3163824"/>
            <a:ext cx="1508760" cy="219456"/>
          </a:xfrm>
          <a:prstGeom prst="rect">
            <a:avLst/>
          </a:prstGeom>
          <a:noFill/>
          <a:ln/>
        </p:spPr>
        <p:txBody>
          <a:bodyPr wrap="square" lIns="0" tIns="0" rIns="0" bIns="0" rtlCol="0" anchor="ctr"/>
          <a:lstStyle/>
          <a:p>
            <a:pPr algn="ctr" indent="0" marL="0">
              <a:buNone/>
            </a:pPr>
            <a:r>
              <a:rPr lang="en-US" sz="950" b="1" dirty="0">
                <a:solidFill>
                  <a:srgbClr val="06185F"/>
                </a:solidFill>
                <a:latin typeface="Calibri" pitchFamily="34" charset="0"/>
                <a:ea typeface="Calibri" pitchFamily="34" charset="-122"/>
                <a:cs typeface="Calibri" pitchFamily="34" charset="-120"/>
              </a:rPr>
              <a:t>Q1 FY28</a:t>
            </a:r>
            <a:endParaRPr lang="en-US" sz="950" dirty="0"/>
          </a:p>
        </p:txBody>
      </p:sp>
      <p:sp>
        <p:nvSpPr>
          <p:cNvPr id="74" name="Text 72"/>
          <p:cNvSpPr/>
          <p:nvPr/>
        </p:nvSpPr>
        <p:spPr>
          <a:xfrm>
            <a:off x="7452360" y="3374136"/>
            <a:ext cx="1508760" cy="219456"/>
          </a:xfrm>
          <a:prstGeom prst="rect">
            <a:avLst/>
          </a:prstGeom>
          <a:noFill/>
          <a:ln/>
        </p:spPr>
        <p:txBody>
          <a:bodyPr wrap="square" lIns="0" tIns="0" rIns="0" bIns="0" rtlCol="0" anchor="ctr"/>
          <a:lstStyle/>
          <a:p>
            <a:pPr algn="ctr" indent="0" marL="0">
              <a:buNone/>
            </a:pPr>
            <a:r>
              <a:rPr lang="en-US" sz="750" dirty="0">
                <a:solidFill>
                  <a:srgbClr val="575A5D"/>
                </a:solidFill>
                <a:latin typeface="Calibri" pitchFamily="34" charset="0"/>
                <a:ea typeface="Calibri" pitchFamily="34" charset="-122"/>
                <a:cs typeface="Calibri" pitchFamily="34" charset="-120"/>
              </a:rPr>
              <a:t>Requires core+</a:t>
            </a:r>
            <a:endParaRPr lang="en-US" sz="750" dirty="0"/>
          </a:p>
          <a:p>
            <a:pPr algn="ctr" indent="0" marL="0">
              <a:buNone/>
            </a:pPr>
            <a:r>
              <a:rPr lang="en-US" sz="750" dirty="0">
                <a:solidFill>
                  <a:srgbClr val="575A5D"/>
                </a:solidFill>
                <a:latin typeface="Calibri" pitchFamily="34" charset="0"/>
                <a:ea typeface="Calibri" pitchFamily="34" charset="-122"/>
                <a:cs typeface="Calibri" pitchFamily="34" charset="-120"/>
              </a:rPr>
              <a:t>household data</a:t>
            </a:r>
            <a:endParaRPr lang="en-US" sz="750" dirty="0"/>
          </a:p>
        </p:txBody>
      </p:sp>
      <p:sp>
        <p:nvSpPr>
          <p:cNvPr id="75" name="Shape 73"/>
          <p:cNvSpPr/>
          <p:nvPr/>
        </p:nvSpPr>
        <p:spPr>
          <a:xfrm>
            <a:off x="320040" y="3621024"/>
            <a:ext cx="73152" cy="493776"/>
          </a:xfrm>
          <a:prstGeom prst="rect">
            <a:avLst/>
          </a:prstGeom>
          <a:solidFill>
            <a:srgbClr val="575A5D"/>
          </a:solidFill>
          <a:ln w="12700">
            <a:solidFill>
              <a:srgbClr val="575A5D"/>
            </a:solidFill>
            <a:prstDash val="solid"/>
          </a:ln>
        </p:spPr>
      </p:sp>
      <p:sp>
        <p:nvSpPr>
          <p:cNvPr id="76" name="Shape 74"/>
          <p:cNvSpPr/>
          <p:nvPr/>
        </p:nvSpPr>
        <p:spPr>
          <a:xfrm>
            <a:off x="393192" y="3621024"/>
            <a:ext cx="1755648" cy="493776"/>
          </a:xfrm>
          <a:prstGeom prst="rect">
            <a:avLst/>
          </a:prstGeom>
          <a:solidFill>
            <a:srgbClr val="F4F6FA"/>
          </a:solidFill>
          <a:ln w="12700">
            <a:solidFill>
              <a:srgbClr val="E7ECF0"/>
            </a:solidFill>
            <a:prstDash val="solid"/>
          </a:ln>
        </p:spPr>
      </p:sp>
      <p:sp>
        <p:nvSpPr>
          <p:cNvPr id="77" name="Text 75"/>
          <p:cNvSpPr/>
          <p:nvPr/>
        </p:nvSpPr>
        <p:spPr>
          <a:xfrm>
            <a:off x="448056" y="3621024"/>
            <a:ext cx="1700784" cy="493776"/>
          </a:xfrm>
          <a:prstGeom prst="rect">
            <a:avLst/>
          </a:prstGeom>
          <a:noFill/>
          <a:ln/>
        </p:spPr>
        <p:txBody>
          <a:bodyPr wrap="square" lIns="0" tIns="5080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Anomaly Detection</a:t>
            </a:r>
            <a:endParaRPr lang="en-US" sz="950" dirty="0"/>
          </a:p>
        </p:txBody>
      </p:sp>
      <p:sp>
        <p:nvSpPr>
          <p:cNvPr id="78" name="Shape 76"/>
          <p:cNvSpPr/>
          <p:nvPr/>
        </p:nvSpPr>
        <p:spPr>
          <a:xfrm>
            <a:off x="2194560" y="3621024"/>
            <a:ext cx="1325880" cy="493776"/>
          </a:xfrm>
          <a:prstGeom prst="rect">
            <a:avLst/>
          </a:prstGeom>
          <a:solidFill>
            <a:srgbClr val="F4F6FA"/>
          </a:solidFill>
          <a:ln w="12700">
            <a:solidFill>
              <a:srgbClr val="E7ECF0"/>
            </a:solidFill>
            <a:prstDash val="solid"/>
          </a:ln>
        </p:spPr>
      </p:sp>
      <p:sp>
        <p:nvSpPr>
          <p:cNvPr id="79" name="Text 77"/>
          <p:cNvSpPr/>
          <p:nvPr/>
        </p:nvSpPr>
        <p:spPr>
          <a:xfrm>
            <a:off x="2194560" y="3621024"/>
            <a:ext cx="1325880"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$9,000</a:t>
            </a:r>
            <a:endParaRPr lang="en-US" sz="1000" dirty="0"/>
          </a:p>
        </p:txBody>
      </p:sp>
      <p:sp>
        <p:nvSpPr>
          <p:cNvPr id="80" name="Shape 78"/>
          <p:cNvSpPr/>
          <p:nvPr/>
        </p:nvSpPr>
        <p:spPr>
          <a:xfrm>
            <a:off x="3566160" y="3621024"/>
            <a:ext cx="1316736" cy="493776"/>
          </a:xfrm>
          <a:prstGeom prst="rect">
            <a:avLst/>
          </a:prstGeom>
          <a:solidFill>
            <a:srgbClr val="F4F6FA"/>
          </a:solidFill>
          <a:ln w="12700">
            <a:solidFill>
              <a:srgbClr val="E7ECF0"/>
            </a:solidFill>
            <a:prstDash val="solid"/>
          </a:ln>
        </p:spPr>
      </p:sp>
      <p:sp>
        <p:nvSpPr>
          <p:cNvPr id="81" name="Text 79"/>
          <p:cNvSpPr/>
          <p:nvPr/>
        </p:nvSpPr>
        <p:spPr>
          <a:xfrm>
            <a:off x="3566160" y="3621024"/>
            <a:ext cx="1316736"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$14,000</a:t>
            </a:r>
            <a:endParaRPr lang="en-US" sz="1000" dirty="0"/>
          </a:p>
        </p:txBody>
      </p:sp>
      <p:sp>
        <p:nvSpPr>
          <p:cNvPr id="82" name="Shape 80"/>
          <p:cNvSpPr/>
          <p:nvPr/>
        </p:nvSpPr>
        <p:spPr>
          <a:xfrm>
            <a:off x="4919472" y="3621024"/>
            <a:ext cx="1316736" cy="493776"/>
          </a:xfrm>
          <a:prstGeom prst="rect">
            <a:avLst/>
          </a:prstGeom>
          <a:solidFill>
            <a:srgbClr val="F4F6FA"/>
          </a:solidFill>
          <a:ln w="12700">
            <a:solidFill>
              <a:srgbClr val="E7ECF0"/>
            </a:solidFill>
            <a:prstDash val="solid"/>
          </a:ln>
        </p:spPr>
      </p:sp>
      <p:sp>
        <p:nvSpPr>
          <p:cNvPr id="83" name="Text 81"/>
          <p:cNvSpPr/>
          <p:nvPr/>
        </p:nvSpPr>
        <p:spPr>
          <a:xfrm>
            <a:off x="4919472" y="3621024"/>
            <a:ext cx="1316736"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$24,000</a:t>
            </a:r>
            <a:endParaRPr lang="en-US" sz="1000" dirty="0"/>
          </a:p>
        </p:txBody>
      </p:sp>
      <p:sp>
        <p:nvSpPr>
          <p:cNvPr id="84" name="Shape 82"/>
          <p:cNvSpPr/>
          <p:nvPr/>
        </p:nvSpPr>
        <p:spPr>
          <a:xfrm>
            <a:off x="6272784" y="3621024"/>
            <a:ext cx="1143000" cy="493776"/>
          </a:xfrm>
          <a:prstGeom prst="rect">
            <a:avLst/>
          </a:prstGeom>
          <a:solidFill>
            <a:srgbClr val="F4F6FA"/>
          </a:solidFill>
          <a:ln w="12700">
            <a:solidFill>
              <a:srgbClr val="E7ECF0"/>
            </a:solidFill>
            <a:prstDash val="solid"/>
          </a:ln>
        </p:spPr>
      </p:sp>
      <p:sp>
        <p:nvSpPr>
          <p:cNvPr id="85" name="Text 83"/>
          <p:cNvSpPr/>
          <p:nvPr/>
        </p:nvSpPr>
        <p:spPr>
          <a:xfrm>
            <a:off x="6272784" y="3621024"/>
            <a:ext cx="1143000"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$40,000</a:t>
            </a:r>
            <a:endParaRPr lang="en-US" sz="1000" dirty="0"/>
          </a:p>
        </p:txBody>
      </p:sp>
      <p:sp>
        <p:nvSpPr>
          <p:cNvPr id="86" name="Shape 84"/>
          <p:cNvSpPr/>
          <p:nvPr/>
        </p:nvSpPr>
        <p:spPr>
          <a:xfrm>
            <a:off x="7452360" y="3621024"/>
            <a:ext cx="1508760" cy="493776"/>
          </a:xfrm>
          <a:prstGeom prst="rect">
            <a:avLst/>
          </a:prstGeom>
          <a:solidFill>
            <a:srgbClr val="F4F6FA"/>
          </a:solidFill>
          <a:ln w="12700">
            <a:solidFill>
              <a:srgbClr val="E7ECF0"/>
            </a:solidFill>
            <a:prstDash val="solid"/>
          </a:ln>
        </p:spPr>
      </p:sp>
      <p:sp>
        <p:nvSpPr>
          <p:cNvPr id="87" name="Text 85"/>
          <p:cNvSpPr/>
          <p:nvPr/>
        </p:nvSpPr>
        <p:spPr>
          <a:xfrm>
            <a:off x="7452360" y="3657600"/>
            <a:ext cx="1508760" cy="219456"/>
          </a:xfrm>
          <a:prstGeom prst="rect">
            <a:avLst/>
          </a:prstGeom>
          <a:noFill/>
          <a:ln/>
        </p:spPr>
        <p:txBody>
          <a:bodyPr wrap="square" lIns="0" tIns="0" rIns="0" bIns="0" rtlCol="0" anchor="ctr"/>
          <a:lstStyle/>
          <a:p>
            <a:pPr algn="ctr" indent="0" marL="0">
              <a:buNone/>
            </a:pPr>
            <a:r>
              <a:rPr lang="en-US" sz="950" b="1" dirty="0">
                <a:solidFill>
                  <a:srgbClr val="06185F"/>
                </a:solidFill>
                <a:latin typeface="Calibri" pitchFamily="34" charset="0"/>
                <a:ea typeface="Calibri" pitchFamily="34" charset="-122"/>
                <a:cs typeface="Calibri" pitchFamily="34" charset="-120"/>
              </a:rPr>
              <a:t>Q2 FY28</a:t>
            </a:r>
            <a:endParaRPr lang="en-US" sz="950" dirty="0"/>
          </a:p>
        </p:txBody>
      </p:sp>
      <p:sp>
        <p:nvSpPr>
          <p:cNvPr id="88" name="Text 86"/>
          <p:cNvSpPr/>
          <p:nvPr/>
        </p:nvSpPr>
        <p:spPr>
          <a:xfrm>
            <a:off x="7452360" y="3867912"/>
            <a:ext cx="1508760" cy="219456"/>
          </a:xfrm>
          <a:prstGeom prst="rect">
            <a:avLst/>
          </a:prstGeom>
          <a:noFill/>
          <a:ln/>
        </p:spPr>
        <p:txBody>
          <a:bodyPr wrap="square" lIns="0" tIns="0" rIns="0" bIns="0" rtlCol="0" anchor="ctr"/>
          <a:lstStyle/>
          <a:p>
            <a:pPr algn="ctr" indent="0" marL="0">
              <a:buNone/>
            </a:pPr>
            <a:r>
              <a:rPr lang="en-US" sz="750" dirty="0">
                <a:solidFill>
                  <a:srgbClr val="575A5D"/>
                </a:solidFill>
                <a:latin typeface="Calibri" pitchFamily="34" charset="0"/>
                <a:ea typeface="Calibri" pitchFamily="34" charset="-122"/>
                <a:cs typeface="Calibri" pitchFamily="34" charset="-120"/>
              </a:rPr>
              <a:t>Phase 3 · real-time</a:t>
            </a:r>
            <a:endParaRPr lang="en-US" sz="750" dirty="0"/>
          </a:p>
          <a:p>
            <a:pPr algn="ctr" indent="0" marL="0">
              <a:buNone/>
            </a:pPr>
            <a:r>
              <a:rPr lang="en-US" sz="750" dirty="0">
                <a:solidFill>
                  <a:srgbClr val="575A5D"/>
                </a:solidFill>
                <a:latin typeface="Calibri" pitchFamily="34" charset="0"/>
                <a:ea typeface="Calibri" pitchFamily="34" charset="-122"/>
                <a:cs typeface="Calibri" pitchFamily="34" charset="-120"/>
              </a:rPr>
              <a:t>fraud engine</a:t>
            </a:r>
            <a:endParaRPr lang="en-US" sz="750" dirty="0"/>
          </a:p>
        </p:txBody>
      </p:sp>
      <p:sp>
        <p:nvSpPr>
          <p:cNvPr id="89" name="Shape 87"/>
          <p:cNvSpPr/>
          <p:nvPr/>
        </p:nvSpPr>
        <p:spPr>
          <a:xfrm>
            <a:off x="320040" y="4279392"/>
            <a:ext cx="8686800" cy="658368"/>
          </a:xfrm>
          <a:prstGeom prst="roundRect">
            <a:avLst>
              <a:gd name="adj" fmla="val 6944"/>
            </a:avLst>
          </a:prstGeom>
          <a:solidFill>
            <a:srgbClr val="E8F0FD"/>
          </a:solidFill>
          <a:ln w="12700">
            <a:solidFill>
              <a:srgbClr val="BCD0F5"/>
            </a:solidFill>
            <a:prstDash val="solid"/>
          </a:ln>
        </p:spPr>
      </p:sp>
      <p:sp>
        <p:nvSpPr>
          <p:cNvPr id="90" name="Text 88"/>
          <p:cNvSpPr/>
          <p:nvPr/>
        </p:nvSpPr>
        <p:spPr>
          <a:xfrm>
            <a:off x="448056" y="4334256"/>
            <a:ext cx="1463040" cy="201168"/>
          </a:xfrm>
          <a:prstGeom prst="rect">
            <a:avLst/>
          </a:prstGeom>
          <a:noFill/>
          <a:ln/>
        </p:spPr>
        <p:txBody>
          <a:bodyPr wrap="square" lIns="0" tIns="0" rIns="0" bIns="0" rtlCol="0" anchor="ctr"/>
          <a:lstStyle/>
          <a:p>
            <a:pPr indent="0" marL="0">
              <a:buNone/>
            </a:pPr>
            <a:r>
              <a:rPr lang="en-US" sz="800" b="1" spc="100" kern="0" dirty="0">
                <a:solidFill>
                  <a:srgbClr val="085CE5"/>
                </a:solidFill>
                <a:latin typeface="Calibri" pitchFamily="34" charset="0"/>
                <a:ea typeface="Calibri" pitchFamily="34" charset="-122"/>
                <a:cs typeface="Calibri" pitchFamily="34" charset="-120"/>
              </a:rPr>
              <a:t>KEY ASSUMPTIONS</a:t>
            </a:r>
            <a:endParaRPr lang="en-US" sz="800" dirty="0"/>
          </a:p>
        </p:txBody>
      </p:sp>
      <p:sp>
        <p:nvSpPr>
          <p:cNvPr id="91" name="Text 89"/>
          <p:cNvSpPr/>
          <p:nvPr/>
        </p:nvSpPr>
        <p:spPr>
          <a:xfrm>
            <a:off x="448056" y="4517136"/>
            <a:ext cx="8412480" cy="173736"/>
          </a:xfrm>
          <a:prstGeom prst="rect">
            <a:avLst/>
          </a:prstGeom>
          <a:noFill/>
          <a:ln/>
        </p:spPr>
        <p:txBody>
          <a:bodyPr wrap="square" lIns="0" tIns="0" rIns="0" bIns="0" rtlCol="0" anchor="ctr"/>
          <a:lstStyle/>
          <a:p>
            <a:pPr indent="0" marL="0">
              <a:buNone/>
            </a:pPr>
            <a:r>
              <a:rPr lang="en-US" sz="850" dirty="0">
                <a:solidFill>
                  <a:srgbClr val="334466"/>
                </a:solidFill>
                <a:latin typeface="Calibri" pitchFamily="34" charset="0"/>
                <a:ea typeface="Calibri" pitchFamily="34" charset="-122"/>
                <a:cs typeface="Calibri" pitchFamily="34" charset="-120"/>
              </a:rPr>
              <a:t>Blended avg price (bank/CU mix):  Zelle $9.7K  ·  Churn $13.7K  ·  CommercialSignal $11.1K  ·  Gen. Wealth $13.6K  ·  Anomaly $16.8K</a:t>
            </a:r>
            <a:endParaRPr lang="en-US" sz="850" dirty="0"/>
          </a:p>
        </p:txBody>
      </p:sp>
      <p:sp>
        <p:nvSpPr>
          <p:cNvPr id="92" name="Text 90"/>
          <p:cNvSpPr/>
          <p:nvPr/>
        </p:nvSpPr>
        <p:spPr>
          <a:xfrm>
            <a:off x="448056" y="4690872"/>
            <a:ext cx="8412480" cy="173736"/>
          </a:xfrm>
          <a:prstGeom prst="rect">
            <a:avLst/>
          </a:prstGeom>
          <a:noFill/>
          <a:ln/>
        </p:spPr>
        <p:txBody>
          <a:bodyPr wrap="square" lIns="0" tIns="0" rIns="0" bIns="0" rtlCol="0" anchor="ctr"/>
          <a:lstStyle/>
          <a:p>
            <a:pPr indent="0" marL="0">
              <a:buNone/>
            </a:pPr>
            <a:r>
              <a:rPr lang="en-US" sz="850" dirty="0">
                <a:solidFill>
                  <a:srgbClr val="334466"/>
                </a:solidFill>
                <a:latin typeface="Calibri" pitchFamily="34" charset="0"/>
                <a:ea typeface="Calibri" pitchFamily="34" charset="-122"/>
                <a:cs typeface="Calibri" pitchFamily="34" charset="-120"/>
              </a:rPr>
              <a:t>44% CU / 56% bank mix  ·  12% CU discount applied  ·  8% annual subscription churn  ·  No bundle pricing (future option)</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85CE5"/>
          </a:solidFill>
          <a:ln w="12700">
            <a:solidFill>
              <a:srgbClr val="085CE5"/>
            </a:solidFill>
            <a:prstDash val="solid"/>
          </a:ln>
        </p:spPr>
      </p:sp>
      <p:sp>
        <p:nvSpPr>
          <p:cNvPr id="3" name="Shape 1"/>
          <p:cNvSpPr/>
          <p:nvPr/>
        </p:nvSpPr>
        <p:spPr>
          <a:xfrm>
            <a:off x="0" y="0"/>
            <a:ext cx="137160" cy="5143500"/>
          </a:xfrm>
          <a:prstGeom prst="rect">
            <a:avLst/>
          </a:prstGeom>
          <a:solidFill>
            <a:srgbClr val="085CE5"/>
          </a:solidFill>
          <a:ln w="12700">
            <a:solidFill>
              <a:srgbClr val="085CE5"/>
            </a:solidFill>
            <a:prstDash val="solid"/>
          </a:ln>
        </p:spPr>
      </p:sp>
      <p:sp>
        <p:nvSpPr>
          <p:cNvPr id="4" name="Text 2"/>
          <p:cNvSpPr/>
          <p:nvPr/>
        </p:nvSpPr>
        <p:spPr>
          <a:xfrm>
            <a:off x="365760" y="164592"/>
            <a:ext cx="8229600" cy="256032"/>
          </a:xfrm>
          <a:prstGeom prst="rect">
            <a:avLst/>
          </a:prstGeom>
          <a:noFill/>
          <a:ln/>
        </p:spPr>
        <p:txBody>
          <a:bodyPr wrap="square" lIns="0" tIns="0" rIns="0" bIns="0" rtlCol="0" anchor="ctr"/>
          <a:lstStyle/>
          <a:p>
            <a:pPr indent="0" marL="0">
              <a:buNone/>
            </a:pPr>
            <a:r>
              <a:rPr lang="en-US" sz="900" b="1" spc="400" kern="0" dirty="0">
                <a:solidFill>
                  <a:srgbClr val="085CE5"/>
                </a:solidFill>
                <a:latin typeface="Calibri" pitchFamily="34" charset="0"/>
                <a:ea typeface="Calibri" pitchFamily="34" charset="-122"/>
                <a:cs typeface="Calibri" pitchFamily="34" charset="-120"/>
              </a:rPr>
              <a:t>PLATFORM TRANSITION</a:t>
            </a:r>
            <a:endParaRPr lang="en-US" sz="900" dirty="0"/>
          </a:p>
        </p:txBody>
      </p:sp>
      <p:sp>
        <p:nvSpPr>
          <p:cNvPr id="5" name="Text 3"/>
          <p:cNvSpPr/>
          <p:nvPr/>
        </p:nvSpPr>
        <p:spPr>
          <a:xfrm>
            <a:off x="365760" y="475488"/>
            <a:ext cx="8229600" cy="457200"/>
          </a:xfrm>
          <a:prstGeom prst="rect">
            <a:avLst/>
          </a:prstGeom>
          <a:noFill/>
          <a:ln/>
        </p:spPr>
        <p:txBody>
          <a:bodyPr wrap="square" lIns="0" tIns="0" rIns="0" bIns="0" rtlCol="0" anchor="ctr"/>
          <a:lstStyle/>
          <a:p>
            <a:pPr indent="0" marL="0">
              <a:buNone/>
            </a:pPr>
            <a:r>
              <a:rPr lang="en-US" sz="2400" b="1" dirty="0">
                <a:solidFill>
                  <a:srgbClr val="06185F"/>
                </a:solidFill>
                <a:latin typeface="Calibri" pitchFamily="34" charset="0"/>
                <a:ea typeface="Calibri" pitchFamily="34" charset="-122"/>
                <a:cs typeface="Calibri" pitchFamily="34" charset="-120"/>
              </a:rPr>
              <a:t>ARCU &amp; JHAKnow → JHBI: Four-Quarter Migration</a:t>
            </a:r>
            <a:endParaRPr lang="en-US" sz="2400" dirty="0"/>
          </a:p>
        </p:txBody>
      </p:sp>
      <p:sp>
        <p:nvSpPr>
          <p:cNvPr id="6" name="Text 4"/>
          <p:cNvSpPr/>
          <p:nvPr/>
        </p:nvSpPr>
        <p:spPr>
          <a:xfrm>
            <a:off x="365760" y="978408"/>
            <a:ext cx="8595360" cy="2560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Existing ARCU and JHAKnow subscribers migrate to JHBI at current pricing  ·  Net-new JHBI clients enter at platform rates  ·  DS apps available as add-ons from Day 1</a:t>
            </a:r>
            <a:endParaRPr lang="en-US" sz="1050" dirty="0"/>
          </a:p>
        </p:txBody>
      </p:sp>
      <p:sp>
        <p:nvSpPr>
          <p:cNvPr id="7" name="Shape 5"/>
          <p:cNvSpPr/>
          <p:nvPr/>
        </p:nvSpPr>
        <p:spPr>
          <a:xfrm>
            <a:off x="320040" y="1325880"/>
            <a:ext cx="2103120" cy="475488"/>
          </a:xfrm>
          <a:prstGeom prst="roundRect">
            <a:avLst>
              <a:gd name="adj" fmla="val 11538"/>
            </a:avLst>
          </a:prstGeom>
          <a:solidFill>
            <a:srgbClr val="085CE5"/>
          </a:solidFill>
          <a:ln w="12700">
            <a:solidFill>
              <a:srgbClr val="085CE5"/>
            </a:solidFill>
            <a:prstDash val="solid"/>
          </a:ln>
        </p:spPr>
      </p:sp>
      <p:sp>
        <p:nvSpPr>
          <p:cNvPr id="8" name="Text 6"/>
          <p:cNvSpPr/>
          <p:nvPr/>
        </p:nvSpPr>
        <p:spPr>
          <a:xfrm>
            <a:off x="320040" y="1344168"/>
            <a:ext cx="2103120"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Q1 FY27</a:t>
            </a:r>
            <a:endParaRPr lang="en-US" sz="1200" dirty="0"/>
          </a:p>
        </p:txBody>
      </p:sp>
      <p:sp>
        <p:nvSpPr>
          <p:cNvPr id="9" name="Text 7"/>
          <p:cNvSpPr/>
          <p:nvPr/>
        </p:nvSpPr>
        <p:spPr>
          <a:xfrm>
            <a:off x="320040" y="1581912"/>
            <a:ext cx="2103120" cy="182880"/>
          </a:xfrm>
          <a:prstGeom prst="rect">
            <a:avLst/>
          </a:prstGeom>
          <a:noFill/>
          <a:ln/>
        </p:spPr>
        <p:txBody>
          <a:bodyPr wrap="square" lIns="0" tIns="0" rIns="0" bIns="0" rtlCol="0" anchor="ctr"/>
          <a:lstStyle/>
          <a:p>
            <a:pPr algn="ctr" indent="0" marL="0">
              <a:buNone/>
            </a:pPr>
            <a:r>
              <a:rPr lang="en-US" sz="850" dirty="0">
                <a:solidFill>
                  <a:srgbClr val="BCD4FF"/>
                </a:solidFill>
                <a:latin typeface="Calibri" pitchFamily="34" charset="0"/>
                <a:ea typeface="Calibri" pitchFamily="34" charset="-122"/>
                <a:cs typeface="Calibri" pitchFamily="34" charset="-120"/>
              </a:rPr>
              <a:t>Jul–Sep 2026</a:t>
            </a:r>
            <a:endParaRPr lang="en-US" sz="850" dirty="0"/>
          </a:p>
        </p:txBody>
      </p:sp>
      <p:sp>
        <p:nvSpPr>
          <p:cNvPr id="10" name="Shape 8"/>
          <p:cNvSpPr/>
          <p:nvPr/>
        </p:nvSpPr>
        <p:spPr>
          <a:xfrm>
            <a:off x="822960" y="1837944"/>
            <a:ext cx="1097280" cy="201168"/>
          </a:xfrm>
          <a:prstGeom prst="rect">
            <a:avLst/>
          </a:prstGeom>
          <a:solidFill>
            <a:srgbClr val="76DCFD"/>
          </a:solidFill>
          <a:ln w="12700">
            <a:solidFill>
              <a:srgbClr val="76DCFD"/>
            </a:solidFill>
            <a:prstDash val="solid"/>
          </a:ln>
        </p:spPr>
      </p:sp>
      <p:sp>
        <p:nvSpPr>
          <p:cNvPr id="11" name="Text 9"/>
          <p:cNvSpPr/>
          <p:nvPr/>
        </p:nvSpPr>
        <p:spPr>
          <a:xfrm>
            <a:off x="822960" y="1837944"/>
            <a:ext cx="1097280" cy="201168"/>
          </a:xfrm>
          <a:prstGeom prst="rect">
            <a:avLst/>
          </a:prstGeom>
          <a:noFill/>
          <a:ln/>
        </p:spPr>
        <p:txBody>
          <a:bodyPr wrap="square" lIns="0" tIns="0" rIns="0" bIns="0" rtlCol="0" anchor="ctr"/>
          <a:lstStyle/>
          <a:p>
            <a:pPr algn="ctr" indent="0" marL="0">
              <a:buNone/>
            </a:pPr>
            <a:r>
              <a:rPr lang="en-US" sz="750" b="1" spc="50" kern="0" dirty="0">
                <a:solidFill>
                  <a:srgbClr val="06185F"/>
                </a:solidFill>
                <a:latin typeface="Calibri" pitchFamily="34" charset="0"/>
                <a:ea typeface="Calibri" pitchFamily="34" charset="-122"/>
                <a:cs typeface="Calibri" pitchFamily="34" charset="-120"/>
              </a:rPr>
              <a:t>FALL LAUNCH</a:t>
            </a:r>
            <a:endParaRPr lang="en-US" sz="750" dirty="0"/>
          </a:p>
        </p:txBody>
      </p:sp>
      <p:sp>
        <p:nvSpPr>
          <p:cNvPr id="12" name="Shape 10"/>
          <p:cNvSpPr/>
          <p:nvPr/>
        </p:nvSpPr>
        <p:spPr>
          <a:xfrm>
            <a:off x="2514600" y="1325880"/>
            <a:ext cx="2103120" cy="475488"/>
          </a:xfrm>
          <a:prstGeom prst="roundRect">
            <a:avLst>
              <a:gd name="adj" fmla="val 11538"/>
            </a:avLst>
          </a:prstGeom>
          <a:solidFill>
            <a:srgbClr val="073FA8"/>
          </a:solidFill>
          <a:ln w="12700">
            <a:solidFill>
              <a:srgbClr val="073FA8"/>
            </a:solidFill>
            <a:prstDash val="solid"/>
          </a:ln>
        </p:spPr>
      </p:sp>
      <p:sp>
        <p:nvSpPr>
          <p:cNvPr id="13" name="Text 11"/>
          <p:cNvSpPr/>
          <p:nvPr/>
        </p:nvSpPr>
        <p:spPr>
          <a:xfrm>
            <a:off x="2514600" y="1344168"/>
            <a:ext cx="2103120"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Q2 FY27</a:t>
            </a:r>
            <a:endParaRPr lang="en-US" sz="1200" dirty="0"/>
          </a:p>
        </p:txBody>
      </p:sp>
      <p:sp>
        <p:nvSpPr>
          <p:cNvPr id="14" name="Text 12"/>
          <p:cNvSpPr/>
          <p:nvPr/>
        </p:nvSpPr>
        <p:spPr>
          <a:xfrm>
            <a:off x="2514600" y="1581912"/>
            <a:ext cx="2103120" cy="182880"/>
          </a:xfrm>
          <a:prstGeom prst="rect">
            <a:avLst/>
          </a:prstGeom>
          <a:noFill/>
          <a:ln/>
        </p:spPr>
        <p:txBody>
          <a:bodyPr wrap="square" lIns="0" tIns="0" rIns="0" bIns="0" rtlCol="0" anchor="ctr"/>
          <a:lstStyle/>
          <a:p>
            <a:pPr algn="ctr" indent="0" marL="0">
              <a:buNone/>
            </a:pPr>
            <a:r>
              <a:rPr lang="en-US" sz="850" dirty="0">
                <a:solidFill>
                  <a:srgbClr val="BCD4FF"/>
                </a:solidFill>
                <a:latin typeface="Calibri" pitchFamily="34" charset="0"/>
                <a:ea typeface="Calibri" pitchFamily="34" charset="-122"/>
                <a:cs typeface="Calibri" pitchFamily="34" charset="-120"/>
              </a:rPr>
              <a:t>Oct–Dec 2026</a:t>
            </a:r>
            <a:endParaRPr lang="en-US" sz="850" dirty="0"/>
          </a:p>
        </p:txBody>
      </p:sp>
      <p:sp>
        <p:nvSpPr>
          <p:cNvPr id="15" name="Shape 13"/>
          <p:cNvSpPr/>
          <p:nvPr/>
        </p:nvSpPr>
        <p:spPr>
          <a:xfrm>
            <a:off x="3017520" y="1837944"/>
            <a:ext cx="1097280" cy="201168"/>
          </a:xfrm>
          <a:prstGeom prst="rect">
            <a:avLst/>
          </a:prstGeom>
          <a:solidFill>
            <a:srgbClr val="76DCFD"/>
          </a:solidFill>
          <a:ln w="12700">
            <a:solidFill>
              <a:srgbClr val="76DCFD"/>
            </a:solidFill>
            <a:prstDash val="solid"/>
          </a:ln>
        </p:spPr>
      </p:sp>
      <p:sp>
        <p:nvSpPr>
          <p:cNvPr id="16" name="Text 14"/>
          <p:cNvSpPr/>
          <p:nvPr/>
        </p:nvSpPr>
        <p:spPr>
          <a:xfrm>
            <a:off x="3017520" y="1837944"/>
            <a:ext cx="1097280" cy="201168"/>
          </a:xfrm>
          <a:prstGeom prst="rect">
            <a:avLst/>
          </a:prstGeom>
          <a:noFill/>
          <a:ln/>
        </p:spPr>
        <p:txBody>
          <a:bodyPr wrap="square" lIns="0" tIns="0" rIns="0" bIns="0" rtlCol="0" anchor="ctr"/>
          <a:lstStyle/>
          <a:p>
            <a:pPr algn="ctr" indent="0" marL="0">
              <a:buNone/>
            </a:pPr>
            <a:r>
              <a:rPr lang="en-US" sz="750" b="1" spc="50" kern="0" dirty="0">
                <a:solidFill>
                  <a:srgbClr val="06185F"/>
                </a:solidFill>
                <a:latin typeface="Calibri" pitchFamily="34" charset="0"/>
                <a:ea typeface="Calibri" pitchFamily="34" charset="-122"/>
                <a:cs typeface="Calibri" pitchFamily="34" charset="-120"/>
              </a:rPr>
              <a:t>WAVE 1</a:t>
            </a:r>
            <a:endParaRPr lang="en-US" sz="750" dirty="0"/>
          </a:p>
        </p:txBody>
      </p:sp>
      <p:sp>
        <p:nvSpPr>
          <p:cNvPr id="17" name="Shape 15"/>
          <p:cNvSpPr/>
          <p:nvPr/>
        </p:nvSpPr>
        <p:spPr>
          <a:xfrm>
            <a:off x="4709160" y="1325880"/>
            <a:ext cx="2103120" cy="475488"/>
          </a:xfrm>
          <a:prstGeom prst="roundRect">
            <a:avLst>
              <a:gd name="adj" fmla="val 11538"/>
            </a:avLst>
          </a:prstGeom>
          <a:solidFill>
            <a:srgbClr val="0A52C4"/>
          </a:solidFill>
          <a:ln w="12700">
            <a:solidFill>
              <a:srgbClr val="0A52C4"/>
            </a:solidFill>
            <a:prstDash val="solid"/>
          </a:ln>
        </p:spPr>
      </p:sp>
      <p:sp>
        <p:nvSpPr>
          <p:cNvPr id="18" name="Text 16"/>
          <p:cNvSpPr/>
          <p:nvPr/>
        </p:nvSpPr>
        <p:spPr>
          <a:xfrm>
            <a:off x="4709160" y="1344168"/>
            <a:ext cx="2103120"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Q3 FY27</a:t>
            </a:r>
            <a:endParaRPr lang="en-US" sz="1200" dirty="0"/>
          </a:p>
        </p:txBody>
      </p:sp>
      <p:sp>
        <p:nvSpPr>
          <p:cNvPr id="19" name="Text 17"/>
          <p:cNvSpPr/>
          <p:nvPr/>
        </p:nvSpPr>
        <p:spPr>
          <a:xfrm>
            <a:off x="4709160" y="1581912"/>
            <a:ext cx="2103120" cy="182880"/>
          </a:xfrm>
          <a:prstGeom prst="rect">
            <a:avLst/>
          </a:prstGeom>
          <a:noFill/>
          <a:ln/>
        </p:spPr>
        <p:txBody>
          <a:bodyPr wrap="square" lIns="0" tIns="0" rIns="0" bIns="0" rtlCol="0" anchor="ctr"/>
          <a:lstStyle/>
          <a:p>
            <a:pPr algn="ctr" indent="0" marL="0">
              <a:buNone/>
            </a:pPr>
            <a:r>
              <a:rPr lang="en-US" sz="850" dirty="0">
                <a:solidFill>
                  <a:srgbClr val="BCD4FF"/>
                </a:solidFill>
                <a:latin typeface="Calibri" pitchFamily="34" charset="0"/>
                <a:ea typeface="Calibri" pitchFamily="34" charset="-122"/>
                <a:cs typeface="Calibri" pitchFamily="34" charset="-120"/>
              </a:rPr>
              <a:t>Jan–Mar 2027</a:t>
            </a:r>
            <a:endParaRPr lang="en-US" sz="850" dirty="0"/>
          </a:p>
        </p:txBody>
      </p:sp>
      <p:sp>
        <p:nvSpPr>
          <p:cNvPr id="20" name="Shape 18"/>
          <p:cNvSpPr/>
          <p:nvPr/>
        </p:nvSpPr>
        <p:spPr>
          <a:xfrm>
            <a:off x="5212080" y="1837944"/>
            <a:ext cx="1097280" cy="201168"/>
          </a:xfrm>
          <a:prstGeom prst="rect">
            <a:avLst/>
          </a:prstGeom>
          <a:solidFill>
            <a:srgbClr val="76DCFD"/>
          </a:solidFill>
          <a:ln w="12700">
            <a:solidFill>
              <a:srgbClr val="76DCFD"/>
            </a:solidFill>
            <a:prstDash val="solid"/>
          </a:ln>
        </p:spPr>
      </p:sp>
      <p:sp>
        <p:nvSpPr>
          <p:cNvPr id="21" name="Text 19"/>
          <p:cNvSpPr/>
          <p:nvPr/>
        </p:nvSpPr>
        <p:spPr>
          <a:xfrm>
            <a:off x="5212080" y="1837944"/>
            <a:ext cx="1097280" cy="201168"/>
          </a:xfrm>
          <a:prstGeom prst="rect">
            <a:avLst/>
          </a:prstGeom>
          <a:noFill/>
          <a:ln/>
        </p:spPr>
        <p:txBody>
          <a:bodyPr wrap="square" lIns="0" tIns="0" rIns="0" bIns="0" rtlCol="0" anchor="ctr"/>
          <a:lstStyle/>
          <a:p>
            <a:pPr algn="ctr" indent="0" marL="0">
              <a:buNone/>
            </a:pPr>
            <a:r>
              <a:rPr lang="en-US" sz="750" b="1" spc="50" kern="0" dirty="0">
                <a:solidFill>
                  <a:srgbClr val="06185F"/>
                </a:solidFill>
                <a:latin typeface="Calibri" pitchFamily="34" charset="0"/>
                <a:ea typeface="Calibri" pitchFamily="34" charset="-122"/>
                <a:cs typeface="Calibri" pitchFamily="34" charset="-120"/>
              </a:rPr>
              <a:t>WAVE 2</a:t>
            </a:r>
            <a:endParaRPr lang="en-US" sz="750" dirty="0"/>
          </a:p>
        </p:txBody>
      </p:sp>
      <p:sp>
        <p:nvSpPr>
          <p:cNvPr id="22" name="Shape 20"/>
          <p:cNvSpPr/>
          <p:nvPr/>
        </p:nvSpPr>
        <p:spPr>
          <a:xfrm>
            <a:off x="6903720" y="1325880"/>
            <a:ext cx="2103120" cy="475488"/>
          </a:xfrm>
          <a:prstGeom prst="roundRect">
            <a:avLst>
              <a:gd name="adj" fmla="val 11538"/>
            </a:avLst>
          </a:prstGeom>
          <a:solidFill>
            <a:srgbClr val="06185F"/>
          </a:solidFill>
          <a:ln w="12700">
            <a:solidFill>
              <a:srgbClr val="06185F"/>
            </a:solidFill>
            <a:prstDash val="solid"/>
          </a:ln>
        </p:spPr>
      </p:sp>
      <p:sp>
        <p:nvSpPr>
          <p:cNvPr id="23" name="Text 21"/>
          <p:cNvSpPr/>
          <p:nvPr/>
        </p:nvSpPr>
        <p:spPr>
          <a:xfrm>
            <a:off x="6903720" y="1344168"/>
            <a:ext cx="2103120"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Q4 FY27</a:t>
            </a:r>
            <a:endParaRPr lang="en-US" sz="1200" dirty="0"/>
          </a:p>
        </p:txBody>
      </p:sp>
      <p:sp>
        <p:nvSpPr>
          <p:cNvPr id="24" name="Text 22"/>
          <p:cNvSpPr/>
          <p:nvPr/>
        </p:nvSpPr>
        <p:spPr>
          <a:xfrm>
            <a:off x="6903720" y="1581912"/>
            <a:ext cx="2103120" cy="182880"/>
          </a:xfrm>
          <a:prstGeom prst="rect">
            <a:avLst/>
          </a:prstGeom>
          <a:noFill/>
          <a:ln/>
        </p:spPr>
        <p:txBody>
          <a:bodyPr wrap="square" lIns="0" tIns="0" rIns="0" bIns="0" rtlCol="0" anchor="ctr"/>
          <a:lstStyle/>
          <a:p>
            <a:pPr algn="ctr" indent="0" marL="0">
              <a:buNone/>
            </a:pPr>
            <a:r>
              <a:rPr lang="en-US" sz="850" dirty="0">
                <a:solidFill>
                  <a:srgbClr val="BCD4FF"/>
                </a:solidFill>
                <a:latin typeface="Calibri" pitchFamily="34" charset="0"/>
                <a:ea typeface="Calibri" pitchFamily="34" charset="-122"/>
                <a:cs typeface="Calibri" pitchFamily="34" charset="-120"/>
              </a:rPr>
              <a:t>Apr–Jun 2027</a:t>
            </a:r>
            <a:endParaRPr lang="en-US" sz="850" dirty="0"/>
          </a:p>
        </p:txBody>
      </p:sp>
      <p:sp>
        <p:nvSpPr>
          <p:cNvPr id="25" name="Shape 23"/>
          <p:cNvSpPr/>
          <p:nvPr/>
        </p:nvSpPr>
        <p:spPr>
          <a:xfrm>
            <a:off x="7406640" y="1837944"/>
            <a:ext cx="1097280" cy="201168"/>
          </a:xfrm>
          <a:prstGeom prst="rect">
            <a:avLst/>
          </a:prstGeom>
          <a:solidFill>
            <a:srgbClr val="76DCFD"/>
          </a:solidFill>
          <a:ln w="12700">
            <a:solidFill>
              <a:srgbClr val="76DCFD"/>
            </a:solidFill>
            <a:prstDash val="solid"/>
          </a:ln>
        </p:spPr>
      </p:sp>
      <p:sp>
        <p:nvSpPr>
          <p:cNvPr id="26" name="Text 24"/>
          <p:cNvSpPr/>
          <p:nvPr/>
        </p:nvSpPr>
        <p:spPr>
          <a:xfrm>
            <a:off x="7406640" y="1837944"/>
            <a:ext cx="1097280" cy="201168"/>
          </a:xfrm>
          <a:prstGeom prst="rect">
            <a:avLst/>
          </a:prstGeom>
          <a:noFill/>
          <a:ln/>
        </p:spPr>
        <p:txBody>
          <a:bodyPr wrap="square" lIns="0" tIns="0" rIns="0" bIns="0" rtlCol="0" anchor="ctr"/>
          <a:lstStyle/>
          <a:p>
            <a:pPr algn="ctr" indent="0" marL="0">
              <a:buNone/>
            </a:pPr>
            <a:r>
              <a:rPr lang="en-US" sz="750" b="1" spc="50" kern="0" dirty="0">
                <a:solidFill>
                  <a:srgbClr val="06185F"/>
                </a:solidFill>
                <a:latin typeface="Calibri" pitchFamily="34" charset="0"/>
                <a:ea typeface="Calibri" pitchFamily="34" charset="-122"/>
                <a:cs typeface="Calibri" pitchFamily="34" charset="-120"/>
              </a:rPr>
              <a:t>FULL BASE</a:t>
            </a:r>
            <a:endParaRPr lang="en-US" sz="750" dirty="0"/>
          </a:p>
        </p:txBody>
      </p:sp>
      <p:sp>
        <p:nvSpPr>
          <p:cNvPr id="27" name="Shape 25"/>
          <p:cNvSpPr/>
          <p:nvPr/>
        </p:nvSpPr>
        <p:spPr>
          <a:xfrm>
            <a:off x="320040" y="2176272"/>
            <a:ext cx="8686800" cy="237744"/>
          </a:xfrm>
          <a:prstGeom prst="rect">
            <a:avLst/>
          </a:prstGeom>
          <a:solidFill>
            <a:srgbClr val="085CE5"/>
          </a:solidFill>
          <a:ln w="12700">
            <a:solidFill>
              <a:srgbClr val="085CE5"/>
            </a:solidFill>
            <a:prstDash val="solid"/>
          </a:ln>
        </p:spPr>
      </p:sp>
      <p:sp>
        <p:nvSpPr>
          <p:cNvPr id="28" name="Text 26"/>
          <p:cNvSpPr/>
          <p:nvPr/>
        </p:nvSpPr>
        <p:spPr>
          <a:xfrm>
            <a:off x="448056" y="2176272"/>
            <a:ext cx="8412480" cy="237744"/>
          </a:xfrm>
          <a:prstGeom prst="rect">
            <a:avLst/>
          </a:prstGeom>
          <a:noFill/>
          <a:ln/>
        </p:spPr>
        <p:txBody>
          <a:bodyPr wrap="square" lIns="0" tIns="0" rIns="0" bIns="0" rtlCol="0" anchor="ctr"/>
          <a:lstStyle/>
          <a:p>
            <a:pPr indent="0" marL="0">
              <a:buNone/>
            </a:pPr>
            <a:r>
              <a:rPr lang="en-US" sz="900" b="1" spc="50" kern="0" dirty="0">
                <a:solidFill>
                  <a:srgbClr val="FFFFFF"/>
                </a:solidFill>
                <a:latin typeface="Calibri" pitchFamily="34" charset="0"/>
                <a:ea typeface="Calibri" pitchFamily="34" charset="-122"/>
                <a:cs typeface="Calibri" pitchFamily="34" charset="-120"/>
              </a:rPr>
              <a:t>CU TRACK  ·  ARCU → JHBI  ·  720 credit unions</a:t>
            </a:r>
            <a:endParaRPr lang="en-US" sz="900" dirty="0"/>
          </a:p>
        </p:txBody>
      </p:sp>
      <p:sp>
        <p:nvSpPr>
          <p:cNvPr id="29" name="Shape 27"/>
          <p:cNvSpPr/>
          <p:nvPr/>
        </p:nvSpPr>
        <p:spPr>
          <a:xfrm>
            <a:off x="320040" y="2414016"/>
            <a:ext cx="2103120" cy="1188720"/>
          </a:xfrm>
          <a:prstGeom prst="rect">
            <a:avLst/>
          </a:prstGeom>
          <a:solidFill>
            <a:srgbClr val="F4F7FE"/>
          </a:solidFill>
          <a:ln w="12700">
            <a:solidFill>
              <a:srgbClr val="E7ECF0"/>
            </a:solidFill>
            <a:prstDash val="solid"/>
          </a:ln>
        </p:spPr>
      </p:sp>
      <p:sp>
        <p:nvSpPr>
          <p:cNvPr id="30" name="Text 28"/>
          <p:cNvSpPr/>
          <p:nvPr/>
        </p:nvSpPr>
        <p:spPr>
          <a:xfrm>
            <a:off x="411480" y="2468880"/>
            <a:ext cx="1920240" cy="21945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Pilot Cohort</a:t>
            </a:r>
            <a:endParaRPr lang="en-US" sz="950" dirty="0"/>
          </a:p>
        </p:txBody>
      </p:sp>
      <p:sp>
        <p:nvSpPr>
          <p:cNvPr id="31" name="Text 29"/>
          <p:cNvSpPr/>
          <p:nvPr/>
        </p:nvSpPr>
        <p:spPr>
          <a:xfrm>
            <a:off x="411480" y="2706624"/>
            <a:ext cx="1920240" cy="859536"/>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50 ARCU CUs invited to JHBI preview</a:t>
            </a:r>
            <a:endParaRPr lang="en-US" sz="850" dirty="0"/>
          </a:p>
          <a:p>
            <a:pPr indent="0" marL="0">
              <a:buNone/>
            </a:pPr>
            <a:r>
              <a:rPr lang="en-US" sz="850" dirty="0">
                <a:solidFill>
                  <a:srgbClr val="575A5D"/>
                </a:solidFill>
                <a:latin typeface="Calibri" pitchFamily="34" charset="0"/>
                <a:ea typeface="Calibri" pitchFamily="34" charset="-122"/>
                <a:cs typeface="Calibri" pitchFamily="34" charset="-120"/>
              </a:rPr>
              <a:t>Grandfathered pricing locked in</a:t>
            </a:r>
            <a:endParaRPr lang="en-US" sz="850" dirty="0"/>
          </a:p>
          <a:p>
            <a:pPr indent="0" marL="0">
              <a:buNone/>
            </a:pPr>
            <a:r>
              <a:rPr lang="en-US" sz="850" dirty="0">
                <a:solidFill>
                  <a:srgbClr val="575A5D"/>
                </a:solidFill>
                <a:latin typeface="Calibri" pitchFamily="34" charset="0"/>
                <a:ea typeface="Calibri" pitchFamily="34" charset="-122"/>
                <a:cs typeface="Calibri" pitchFamily="34" charset="-120"/>
              </a:rPr>
              <a:t>Zelle Memo Intelligence available Day 1</a:t>
            </a:r>
            <a:endParaRPr lang="en-US" sz="850" dirty="0"/>
          </a:p>
        </p:txBody>
      </p:sp>
      <p:sp>
        <p:nvSpPr>
          <p:cNvPr id="32" name="Shape 30"/>
          <p:cNvSpPr/>
          <p:nvPr/>
        </p:nvSpPr>
        <p:spPr>
          <a:xfrm>
            <a:off x="2514600" y="2414016"/>
            <a:ext cx="2103120" cy="1188720"/>
          </a:xfrm>
          <a:prstGeom prst="rect">
            <a:avLst/>
          </a:prstGeom>
          <a:solidFill>
            <a:srgbClr val="F4F7FE"/>
          </a:solidFill>
          <a:ln w="12700">
            <a:solidFill>
              <a:srgbClr val="E7ECF0"/>
            </a:solidFill>
            <a:prstDash val="solid"/>
          </a:ln>
        </p:spPr>
      </p:sp>
      <p:sp>
        <p:nvSpPr>
          <p:cNvPr id="33" name="Text 31"/>
          <p:cNvSpPr/>
          <p:nvPr/>
        </p:nvSpPr>
        <p:spPr>
          <a:xfrm>
            <a:off x="2606040" y="2468880"/>
            <a:ext cx="1920240" cy="21945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Wave 1 Migration</a:t>
            </a:r>
            <a:endParaRPr lang="en-US" sz="950" dirty="0"/>
          </a:p>
        </p:txBody>
      </p:sp>
      <p:sp>
        <p:nvSpPr>
          <p:cNvPr id="34" name="Text 32"/>
          <p:cNvSpPr/>
          <p:nvPr/>
        </p:nvSpPr>
        <p:spPr>
          <a:xfrm>
            <a:off x="2606040" y="2706624"/>
            <a:ext cx="1920240" cy="859536"/>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~200 ARCU CUs converted to JHBI</a:t>
            </a:r>
            <a:endParaRPr lang="en-US" sz="850" dirty="0"/>
          </a:p>
          <a:p>
            <a:pPr indent="0" marL="0">
              <a:buNone/>
            </a:pPr>
            <a:r>
              <a:rPr lang="en-US" sz="850" dirty="0">
                <a:solidFill>
                  <a:srgbClr val="575A5D"/>
                </a:solidFill>
                <a:latin typeface="Calibri" pitchFamily="34" charset="0"/>
                <a:ea typeface="Calibri" pitchFamily="34" charset="-122"/>
                <a:cs typeface="Calibri" pitchFamily="34" charset="-120"/>
              </a:rPr>
              <a:t>Self-service portal launched</a:t>
            </a:r>
            <a:endParaRPr lang="en-US" sz="850" dirty="0"/>
          </a:p>
          <a:p>
            <a:pPr indent="0" marL="0">
              <a:buNone/>
            </a:pPr>
            <a:r>
              <a:rPr lang="en-US" sz="850" dirty="0">
                <a:solidFill>
                  <a:srgbClr val="575A5D"/>
                </a:solidFill>
                <a:latin typeface="Calibri" pitchFamily="34" charset="0"/>
                <a:ea typeface="Calibri" pitchFamily="34" charset="-122"/>
                <a:cs typeface="Calibri" pitchFamily="34" charset="-120"/>
              </a:rPr>
              <a:t>Churn Sentinel add-on available</a:t>
            </a:r>
            <a:endParaRPr lang="en-US" sz="850" dirty="0"/>
          </a:p>
        </p:txBody>
      </p:sp>
      <p:sp>
        <p:nvSpPr>
          <p:cNvPr id="35" name="Shape 33"/>
          <p:cNvSpPr/>
          <p:nvPr/>
        </p:nvSpPr>
        <p:spPr>
          <a:xfrm>
            <a:off x="4709160" y="2414016"/>
            <a:ext cx="2103120" cy="1188720"/>
          </a:xfrm>
          <a:prstGeom prst="rect">
            <a:avLst/>
          </a:prstGeom>
          <a:solidFill>
            <a:srgbClr val="F4F7FE"/>
          </a:solidFill>
          <a:ln w="12700">
            <a:solidFill>
              <a:srgbClr val="E7ECF0"/>
            </a:solidFill>
            <a:prstDash val="solid"/>
          </a:ln>
        </p:spPr>
      </p:sp>
      <p:sp>
        <p:nvSpPr>
          <p:cNvPr id="36" name="Text 34"/>
          <p:cNvSpPr/>
          <p:nvPr/>
        </p:nvSpPr>
        <p:spPr>
          <a:xfrm>
            <a:off x="4800600" y="2468880"/>
            <a:ext cx="1920240" cy="21945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Wave 2 Migration</a:t>
            </a:r>
            <a:endParaRPr lang="en-US" sz="950" dirty="0"/>
          </a:p>
        </p:txBody>
      </p:sp>
      <p:sp>
        <p:nvSpPr>
          <p:cNvPr id="37" name="Text 35"/>
          <p:cNvSpPr/>
          <p:nvPr/>
        </p:nvSpPr>
        <p:spPr>
          <a:xfrm>
            <a:off x="4800600" y="2706624"/>
            <a:ext cx="1920240" cy="859536"/>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~350 ARCU CUs onboarded</a:t>
            </a:r>
            <a:endParaRPr lang="en-US" sz="850" dirty="0"/>
          </a:p>
          <a:p>
            <a:pPr indent="0" marL="0">
              <a:buNone/>
            </a:pPr>
            <a:r>
              <a:rPr lang="en-US" sz="850" dirty="0">
                <a:solidFill>
                  <a:srgbClr val="575A5D"/>
                </a:solidFill>
                <a:latin typeface="Calibri" pitchFamily="34" charset="0"/>
                <a:ea typeface="Calibri" pitchFamily="34" charset="-122"/>
                <a:cs typeface="Calibri" pitchFamily="34" charset="-120"/>
              </a:rPr>
              <a:t>CommercialSignal add-on active</a:t>
            </a:r>
            <a:endParaRPr lang="en-US" sz="850" dirty="0"/>
          </a:p>
          <a:p>
            <a:pPr indent="0" marL="0">
              <a:buNone/>
            </a:pPr>
            <a:r>
              <a:rPr lang="en-US" sz="850" dirty="0">
                <a:solidFill>
                  <a:srgbClr val="575A5D"/>
                </a:solidFill>
                <a:latin typeface="Calibri" pitchFamily="34" charset="0"/>
                <a:ea typeface="Calibri" pitchFamily="34" charset="-122"/>
                <a:cs typeface="Calibri" pitchFamily="34" charset="-120"/>
              </a:rPr>
              <a:t>Full ARCU base substantially migrated</a:t>
            </a:r>
            <a:endParaRPr lang="en-US" sz="850" dirty="0"/>
          </a:p>
        </p:txBody>
      </p:sp>
      <p:sp>
        <p:nvSpPr>
          <p:cNvPr id="38" name="Shape 36"/>
          <p:cNvSpPr/>
          <p:nvPr/>
        </p:nvSpPr>
        <p:spPr>
          <a:xfrm>
            <a:off x="6903720" y="2414016"/>
            <a:ext cx="2103120" cy="1188720"/>
          </a:xfrm>
          <a:prstGeom prst="rect">
            <a:avLst/>
          </a:prstGeom>
          <a:solidFill>
            <a:srgbClr val="F4F7FE"/>
          </a:solidFill>
          <a:ln w="12700">
            <a:solidFill>
              <a:srgbClr val="E7ECF0"/>
            </a:solidFill>
            <a:prstDash val="solid"/>
          </a:ln>
        </p:spPr>
      </p:sp>
      <p:sp>
        <p:nvSpPr>
          <p:cNvPr id="39" name="Text 37"/>
          <p:cNvSpPr/>
          <p:nvPr/>
        </p:nvSpPr>
        <p:spPr>
          <a:xfrm>
            <a:off x="6995160" y="2468880"/>
            <a:ext cx="1920240" cy="21945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Migration Complete</a:t>
            </a:r>
            <a:endParaRPr lang="en-US" sz="950" dirty="0"/>
          </a:p>
        </p:txBody>
      </p:sp>
      <p:sp>
        <p:nvSpPr>
          <p:cNvPr id="40" name="Text 38"/>
          <p:cNvSpPr/>
          <p:nvPr/>
        </p:nvSpPr>
        <p:spPr>
          <a:xfrm>
            <a:off x="6995160" y="2706624"/>
            <a:ext cx="1920240" cy="859536"/>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All 720 CUs on JHBI platform</a:t>
            </a:r>
            <a:endParaRPr lang="en-US" sz="850" dirty="0"/>
          </a:p>
          <a:p>
            <a:pPr indent="0" marL="0">
              <a:buNone/>
            </a:pPr>
            <a:r>
              <a:rPr lang="en-US" sz="850" dirty="0">
                <a:solidFill>
                  <a:srgbClr val="575A5D"/>
                </a:solidFill>
                <a:latin typeface="Calibri" pitchFamily="34" charset="0"/>
                <a:ea typeface="Calibri" pitchFamily="34" charset="-122"/>
                <a:cs typeface="Calibri" pitchFamily="34" charset="-120"/>
              </a:rPr>
              <a:t>Net-new CU acquisition at JHBI rates</a:t>
            </a:r>
            <a:endParaRPr lang="en-US" sz="850" dirty="0"/>
          </a:p>
          <a:p>
            <a:pPr indent="0" marL="0">
              <a:buNone/>
            </a:pPr>
            <a:r>
              <a:rPr lang="en-US" sz="850" dirty="0">
                <a:solidFill>
                  <a:srgbClr val="575A5D"/>
                </a:solidFill>
                <a:latin typeface="Calibri" pitchFamily="34" charset="0"/>
                <a:ea typeface="Calibri" pitchFamily="34" charset="-122"/>
                <a:cs typeface="Calibri" pitchFamily="34" charset="-120"/>
              </a:rPr>
              <a:t>DS app bundling conversation begins</a:t>
            </a:r>
            <a:endParaRPr lang="en-US" sz="850" dirty="0"/>
          </a:p>
        </p:txBody>
      </p:sp>
      <p:sp>
        <p:nvSpPr>
          <p:cNvPr id="41" name="Shape 39"/>
          <p:cNvSpPr/>
          <p:nvPr/>
        </p:nvSpPr>
        <p:spPr>
          <a:xfrm>
            <a:off x="320040" y="3639312"/>
            <a:ext cx="8686800" cy="237744"/>
          </a:xfrm>
          <a:prstGeom prst="rect">
            <a:avLst/>
          </a:prstGeom>
          <a:solidFill>
            <a:srgbClr val="06185F"/>
          </a:solidFill>
          <a:ln w="12700">
            <a:solidFill>
              <a:srgbClr val="06185F"/>
            </a:solidFill>
            <a:prstDash val="solid"/>
          </a:ln>
        </p:spPr>
      </p:sp>
      <p:sp>
        <p:nvSpPr>
          <p:cNvPr id="42" name="Text 40"/>
          <p:cNvSpPr/>
          <p:nvPr/>
        </p:nvSpPr>
        <p:spPr>
          <a:xfrm>
            <a:off x="448056" y="3639312"/>
            <a:ext cx="8412480" cy="237744"/>
          </a:xfrm>
          <a:prstGeom prst="rect">
            <a:avLst/>
          </a:prstGeom>
          <a:noFill/>
          <a:ln/>
        </p:spPr>
        <p:txBody>
          <a:bodyPr wrap="square" lIns="0" tIns="0" rIns="0" bIns="0" rtlCol="0" anchor="ctr"/>
          <a:lstStyle/>
          <a:p>
            <a:pPr indent="0" marL="0">
              <a:buNone/>
            </a:pPr>
            <a:r>
              <a:rPr lang="en-US" sz="900" b="1" spc="50" kern="0" dirty="0">
                <a:solidFill>
                  <a:srgbClr val="FFFFFF"/>
                </a:solidFill>
                <a:latin typeface="Calibri" pitchFamily="34" charset="0"/>
                <a:ea typeface="Calibri" pitchFamily="34" charset="-122"/>
                <a:cs typeface="Calibri" pitchFamily="34" charset="-120"/>
              </a:rPr>
              <a:t>BANK TRACK  ·  JHAKnow → JHBI  ·  940 banks</a:t>
            </a:r>
            <a:endParaRPr lang="en-US" sz="900" dirty="0"/>
          </a:p>
        </p:txBody>
      </p:sp>
      <p:sp>
        <p:nvSpPr>
          <p:cNvPr id="43" name="Shape 41"/>
          <p:cNvSpPr/>
          <p:nvPr/>
        </p:nvSpPr>
        <p:spPr>
          <a:xfrm>
            <a:off x="320040" y="3877056"/>
            <a:ext cx="2103120" cy="1188720"/>
          </a:xfrm>
          <a:prstGeom prst="rect">
            <a:avLst/>
          </a:prstGeom>
          <a:solidFill>
            <a:srgbClr val="F4F7FE"/>
          </a:solidFill>
          <a:ln w="12700">
            <a:solidFill>
              <a:srgbClr val="E7ECF0"/>
            </a:solidFill>
            <a:prstDash val="solid"/>
          </a:ln>
        </p:spPr>
      </p:sp>
      <p:sp>
        <p:nvSpPr>
          <p:cNvPr id="44" name="Text 42"/>
          <p:cNvSpPr/>
          <p:nvPr/>
        </p:nvSpPr>
        <p:spPr>
          <a:xfrm>
            <a:off x="411480" y="3931920"/>
            <a:ext cx="1920240" cy="21945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Pilot Cohort</a:t>
            </a:r>
            <a:endParaRPr lang="en-US" sz="950" dirty="0"/>
          </a:p>
        </p:txBody>
      </p:sp>
      <p:sp>
        <p:nvSpPr>
          <p:cNvPr id="45" name="Text 43"/>
          <p:cNvSpPr/>
          <p:nvPr/>
        </p:nvSpPr>
        <p:spPr>
          <a:xfrm>
            <a:off x="411480" y="4169664"/>
            <a:ext cx="1920240" cy="859536"/>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30 JHAKnow banks invited to JHBI preview</a:t>
            </a:r>
            <a:endParaRPr lang="en-US" sz="850" dirty="0"/>
          </a:p>
          <a:p>
            <a:pPr indent="0" marL="0">
              <a:buNone/>
            </a:pPr>
            <a:r>
              <a:rPr lang="en-US" sz="850" dirty="0">
                <a:solidFill>
                  <a:srgbClr val="575A5D"/>
                </a:solidFill>
                <a:latin typeface="Calibri" pitchFamily="34" charset="0"/>
                <a:ea typeface="Calibri" pitchFamily="34" charset="-122"/>
                <a:cs typeface="Calibri" pitchFamily="34" charset="-120"/>
              </a:rPr>
              <a:t>Grandfathered pricing confirmed</a:t>
            </a:r>
            <a:endParaRPr lang="en-US" sz="850" dirty="0"/>
          </a:p>
          <a:p>
            <a:pPr indent="0" marL="0">
              <a:buNone/>
            </a:pPr>
            <a:r>
              <a:rPr lang="en-US" sz="850" dirty="0">
                <a:solidFill>
                  <a:srgbClr val="575A5D"/>
                </a:solidFill>
                <a:latin typeface="Calibri" pitchFamily="34" charset="0"/>
                <a:ea typeface="Calibri" pitchFamily="34" charset="-122"/>
                <a:cs typeface="Calibri" pitchFamily="34" charset="-120"/>
              </a:rPr>
              <a:t>Zelle Memo Intelligence available</a:t>
            </a:r>
            <a:endParaRPr lang="en-US" sz="850" dirty="0"/>
          </a:p>
        </p:txBody>
      </p:sp>
      <p:sp>
        <p:nvSpPr>
          <p:cNvPr id="46" name="Shape 44"/>
          <p:cNvSpPr/>
          <p:nvPr/>
        </p:nvSpPr>
        <p:spPr>
          <a:xfrm>
            <a:off x="2514600" y="3877056"/>
            <a:ext cx="2103120" cy="1188720"/>
          </a:xfrm>
          <a:prstGeom prst="rect">
            <a:avLst/>
          </a:prstGeom>
          <a:solidFill>
            <a:srgbClr val="F4F7FE"/>
          </a:solidFill>
          <a:ln w="12700">
            <a:solidFill>
              <a:srgbClr val="E7ECF0"/>
            </a:solidFill>
            <a:prstDash val="solid"/>
          </a:ln>
        </p:spPr>
      </p:sp>
      <p:sp>
        <p:nvSpPr>
          <p:cNvPr id="47" name="Text 45"/>
          <p:cNvSpPr/>
          <p:nvPr/>
        </p:nvSpPr>
        <p:spPr>
          <a:xfrm>
            <a:off x="2606040" y="3931920"/>
            <a:ext cx="1920240" cy="21945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Wave 1 Migration</a:t>
            </a:r>
            <a:endParaRPr lang="en-US" sz="950" dirty="0"/>
          </a:p>
        </p:txBody>
      </p:sp>
      <p:sp>
        <p:nvSpPr>
          <p:cNvPr id="48" name="Text 46"/>
          <p:cNvSpPr/>
          <p:nvPr/>
        </p:nvSpPr>
        <p:spPr>
          <a:xfrm>
            <a:off x="2606040" y="4169664"/>
            <a:ext cx="1920240" cy="859536"/>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~250 JHAKnow banks converted</a:t>
            </a:r>
            <a:endParaRPr lang="en-US" sz="850" dirty="0"/>
          </a:p>
          <a:p>
            <a:pPr indent="0" marL="0">
              <a:buNone/>
            </a:pPr>
            <a:r>
              <a:rPr lang="en-US" sz="850" dirty="0">
                <a:solidFill>
                  <a:srgbClr val="575A5D"/>
                </a:solidFill>
                <a:latin typeface="Calibri" pitchFamily="34" charset="0"/>
                <a:ea typeface="Calibri" pitchFamily="34" charset="-122"/>
                <a:cs typeface="Calibri" pitchFamily="34" charset="-120"/>
              </a:rPr>
              <a:t>Core + Banno data pipelines enabled</a:t>
            </a:r>
            <a:endParaRPr lang="en-US" sz="850" dirty="0"/>
          </a:p>
          <a:p>
            <a:pPr indent="0" marL="0">
              <a:buNone/>
            </a:pPr>
            <a:r>
              <a:rPr lang="en-US" sz="850" dirty="0">
                <a:solidFill>
                  <a:srgbClr val="575A5D"/>
                </a:solidFill>
                <a:latin typeface="Calibri" pitchFamily="34" charset="0"/>
                <a:ea typeface="Calibri" pitchFamily="34" charset="-122"/>
                <a:cs typeface="Calibri" pitchFamily="34" charset="-120"/>
              </a:rPr>
              <a:t>Churn Sentinel Phase 2 signals</a:t>
            </a:r>
            <a:endParaRPr lang="en-US" sz="850" dirty="0"/>
          </a:p>
        </p:txBody>
      </p:sp>
      <p:sp>
        <p:nvSpPr>
          <p:cNvPr id="49" name="Shape 47"/>
          <p:cNvSpPr/>
          <p:nvPr/>
        </p:nvSpPr>
        <p:spPr>
          <a:xfrm>
            <a:off x="4709160" y="3877056"/>
            <a:ext cx="2103120" cy="1188720"/>
          </a:xfrm>
          <a:prstGeom prst="rect">
            <a:avLst/>
          </a:prstGeom>
          <a:solidFill>
            <a:srgbClr val="F4F7FE"/>
          </a:solidFill>
          <a:ln w="12700">
            <a:solidFill>
              <a:srgbClr val="E7ECF0"/>
            </a:solidFill>
            <a:prstDash val="solid"/>
          </a:ln>
        </p:spPr>
      </p:sp>
      <p:sp>
        <p:nvSpPr>
          <p:cNvPr id="50" name="Text 48"/>
          <p:cNvSpPr/>
          <p:nvPr/>
        </p:nvSpPr>
        <p:spPr>
          <a:xfrm>
            <a:off x="4800600" y="3931920"/>
            <a:ext cx="1920240" cy="21945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Wave 2 Migration</a:t>
            </a:r>
            <a:endParaRPr lang="en-US" sz="950" dirty="0"/>
          </a:p>
        </p:txBody>
      </p:sp>
      <p:sp>
        <p:nvSpPr>
          <p:cNvPr id="51" name="Text 49"/>
          <p:cNvSpPr/>
          <p:nvPr/>
        </p:nvSpPr>
        <p:spPr>
          <a:xfrm>
            <a:off x="4800600" y="4169664"/>
            <a:ext cx="1920240" cy="859536"/>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~400 banks onboarded to JHBI</a:t>
            </a:r>
            <a:endParaRPr lang="en-US" sz="850" dirty="0"/>
          </a:p>
          <a:p>
            <a:pPr indent="0" marL="0">
              <a:buNone/>
            </a:pPr>
            <a:r>
              <a:rPr lang="en-US" sz="850" dirty="0">
                <a:solidFill>
                  <a:srgbClr val="575A5D"/>
                </a:solidFill>
                <a:latin typeface="Calibri" pitchFamily="34" charset="0"/>
                <a:ea typeface="Calibri" pitchFamily="34" charset="-122"/>
                <a:cs typeface="Calibri" pitchFamily="34" charset="-120"/>
              </a:rPr>
              <a:t>CommercialSignal add-on active</a:t>
            </a:r>
            <a:endParaRPr lang="en-US" sz="850" dirty="0"/>
          </a:p>
          <a:p>
            <a:pPr indent="0" marL="0">
              <a:buNone/>
            </a:pPr>
            <a:r>
              <a:rPr lang="en-US" sz="850" dirty="0">
                <a:solidFill>
                  <a:srgbClr val="575A5D"/>
                </a:solidFill>
                <a:latin typeface="Calibri" pitchFamily="34" charset="0"/>
                <a:ea typeface="Calibri" pitchFamily="34" charset="-122"/>
                <a:cs typeface="Calibri" pitchFamily="34" charset="-120"/>
              </a:rPr>
              <a:t>JHAKnow base ~70% migrated</a:t>
            </a:r>
            <a:endParaRPr lang="en-US" sz="850" dirty="0"/>
          </a:p>
        </p:txBody>
      </p:sp>
      <p:sp>
        <p:nvSpPr>
          <p:cNvPr id="52" name="Shape 50"/>
          <p:cNvSpPr/>
          <p:nvPr/>
        </p:nvSpPr>
        <p:spPr>
          <a:xfrm>
            <a:off x="6903720" y="3877056"/>
            <a:ext cx="2103120" cy="1188720"/>
          </a:xfrm>
          <a:prstGeom prst="rect">
            <a:avLst/>
          </a:prstGeom>
          <a:solidFill>
            <a:srgbClr val="F4F7FE"/>
          </a:solidFill>
          <a:ln w="12700">
            <a:solidFill>
              <a:srgbClr val="E7ECF0"/>
            </a:solidFill>
            <a:prstDash val="solid"/>
          </a:ln>
        </p:spPr>
      </p:sp>
      <p:sp>
        <p:nvSpPr>
          <p:cNvPr id="53" name="Text 51"/>
          <p:cNvSpPr/>
          <p:nvPr/>
        </p:nvSpPr>
        <p:spPr>
          <a:xfrm>
            <a:off x="6995160" y="3931920"/>
            <a:ext cx="1920240" cy="21945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Migration Complete</a:t>
            </a:r>
            <a:endParaRPr lang="en-US" sz="950" dirty="0"/>
          </a:p>
        </p:txBody>
      </p:sp>
      <p:sp>
        <p:nvSpPr>
          <p:cNvPr id="54" name="Text 52"/>
          <p:cNvSpPr/>
          <p:nvPr/>
        </p:nvSpPr>
        <p:spPr>
          <a:xfrm>
            <a:off x="6995160" y="4169664"/>
            <a:ext cx="1920240" cy="859536"/>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All 940 banks on JHBI platform</a:t>
            </a:r>
            <a:endParaRPr lang="en-US" sz="850" dirty="0"/>
          </a:p>
          <a:p>
            <a:pPr indent="0" marL="0">
              <a:buNone/>
            </a:pPr>
            <a:r>
              <a:rPr lang="en-US" sz="850" dirty="0">
                <a:solidFill>
                  <a:srgbClr val="575A5D"/>
                </a:solidFill>
                <a:latin typeface="Calibri" pitchFamily="34" charset="0"/>
                <a:ea typeface="Calibri" pitchFamily="34" charset="-122"/>
                <a:cs typeface="Calibri" pitchFamily="34" charset="-120"/>
              </a:rPr>
              <a:t>Net-new bank acquisition at JHBI rates</a:t>
            </a:r>
            <a:endParaRPr lang="en-US" sz="850" dirty="0"/>
          </a:p>
          <a:p>
            <a:pPr indent="0" marL="0">
              <a:buNone/>
            </a:pPr>
            <a:r>
              <a:rPr lang="en-US" sz="850" dirty="0">
                <a:solidFill>
                  <a:srgbClr val="575A5D"/>
                </a:solidFill>
                <a:latin typeface="Calibri" pitchFamily="34" charset="0"/>
                <a:ea typeface="Calibri" pitchFamily="34" charset="-122"/>
                <a:cs typeface="Calibri" pitchFamily="34" charset="-120"/>
              </a:rPr>
              <a:t>Full DS add-on suite available</a:t>
            </a:r>
            <a:endParaRPr lang="en-US" sz="850" dirty="0"/>
          </a:p>
        </p:txBody>
      </p:sp>
      <p:sp>
        <p:nvSpPr>
          <p:cNvPr id="55" name="Shape 53"/>
          <p:cNvSpPr/>
          <p:nvPr/>
        </p:nvSpPr>
        <p:spPr>
          <a:xfrm>
            <a:off x="320040" y="4828032"/>
            <a:ext cx="8503920" cy="237744"/>
          </a:xfrm>
          <a:prstGeom prst="roundRect">
            <a:avLst>
              <a:gd name="adj" fmla="val 15385"/>
            </a:avLst>
          </a:prstGeom>
          <a:solidFill>
            <a:srgbClr val="E8F0FD"/>
          </a:solidFill>
          <a:ln w="12700">
            <a:solidFill>
              <a:srgbClr val="BCD0F5"/>
            </a:solidFill>
            <a:prstDash val="solid"/>
          </a:ln>
        </p:spPr>
      </p:sp>
      <p:sp>
        <p:nvSpPr>
          <p:cNvPr id="56" name="Text 54"/>
          <p:cNvSpPr/>
          <p:nvPr/>
        </p:nvSpPr>
        <p:spPr>
          <a:xfrm>
            <a:off x="457200" y="4846320"/>
            <a:ext cx="8321040" cy="201168"/>
          </a:xfrm>
          <a:prstGeom prst="rect">
            <a:avLst/>
          </a:prstGeom>
          <a:noFill/>
          <a:ln/>
        </p:spPr>
        <p:txBody>
          <a:bodyPr wrap="square" lIns="0" tIns="0" rIns="0" bIns="0" rtlCol="0" anchor="ctr"/>
          <a:lstStyle/>
          <a:p>
            <a:pPr indent="0" marL="0">
              <a:buNone/>
            </a:pPr>
            <a:r>
              <a:rPr lang="en-US" sz="850" dirty="0">
                <a:solidFill>
                  <a:srgbClr val="085CE5"/>
                </a:solidFill>
                <a:latin typeface="Calibri" pitchFamily="34" charset="0"/>
                <a:ea typeface="Calibri" pitchFamily="34" charset="-122"/>
                <a:cs typeface="Calibri" pitchFamily="34" charset="-120"/>
              </a:rPr>
              <a:t>PRICING CONTINUITY: Existing ARCU/JHAKnow subscribers lock in current rates. Net-new JHBI clients pay platform pricing. DS apps are incremental add-ons for all.</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6185F"/>
        </a:solidFill>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85CE5"/>
          </a:solidFill>
          <a:ln w="12700">
            <a:solidFill>
              <a:srgbClr val="085CE5"/>
            </a:solidFill>
            <a:prstDash val="solid"/>
          </a:ln>
        </p:spPr>
      </p:sp>
      <p:sp>
        <p:nvSpPr>
          <p:cNvPr id="3" name="Text 1"/>
          <p:cNvSpPr/>
          <p:nvPr/>
        </p:nvSpPr>
        <p:spPr>
          <a:xfrm>
            <a:off x="365760" y="2194560"/>
            <a:ext cx="8229600" cy="548640"/>
          </a:xfrm>
          <a:prstGeom prst="rect">
            <a:avLst/>
          </a:prstGeom>
          <a:noFill/>
          <a:ln/>
        </p:spPr>
        <p:txBody>
          <a:bodyPr wrap="square" lIns="0" tIns="0" rIns="0" bIns="0" rtlCol="0" anchor="ctr"/>
          <a:lstStyle/>
          <a:p>
            <a:pPr algn="ctr" indent="0" marL="0">
              <a:buNone/>
            </a:pPr>
            <a:r>
              <a:rPr lang="en-US" sz="3600" b="1" spc="600" kern="0" dirty="0">
                <a:solidFill>
                  <a:srgbClr val="FFFFFF"/>
                </a:solidFill>
                <a:latin typeface="Calibri" pitchFamily="34" charset="0"/>
                <a:ea typeface="Calibri" pitchFamily="34" charset="-122"/>
                <a:cs typeface="Calibri" pitchFamily="34" charset="-120"/>
              </a:rPr>
              <a:t>APPENDIX</a:t>
            </a:r>
            <a:endParaRPr lang="en-US" sz="3600" dirty="0"/>
          </a:p>
        </p:txBody>
      </p:sp>
      <p:sp>
        <p:nvSpPr>
          <p:cNvPr id="4" name="Text 2"/>
          <p:cNvSpPr/>
          <p:nvPr/>
        </p:nvSpPr>
        <p:spPr>
          <a:xfrm>
            <a:off x="365760" y="2834640"/>
            <a:ext cx="8229600" cy="329184"/>
          </a:xfrm>
          <a:prstGeom prst="rect">
            <a:avLst/>
          </a:prstGeom>
          <a:noFill/>
          <a:ln/>
        </p:spPr>
        <p:txBody>
          <a:bodyPr wrap="square" lIns="0" tIns="0" rIns="0" bIns="0" rtlCol="0" anchor="ctr"/>
          <a:lstStyle/>
          <a:p>
            <a:pPr algn="ctr" indent="0" marL="0">
              <a:buNone/>
            </a:pPr>
            <a:r>
              <a:rPr lang="en-US" sz="1600" dirty="0">
                <a:solidFill>
                  <a:srgbClr val="B6BBC0"/>
                </a:solidFill>
                <a:latin typeface="Calibri" pitchFamily="34" charset="0"/>
                <a:ea typeface="Calibri" pitchFamily="34" charset="-122"/>
                <a:cs typeface="Calibri" pitchFamily="34" charset="-120"/>
              </a:rPr>
              <a:t>Pricing Tier Architecture — Reference</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Appendix: JH Intelligence Platform — Pricing Architecture</a:t>
            </a:r>
            <a:endParaRPr lang="en-US" sz="2200" dirty="0"/>
          </a:p>
        </p:txBody>
      </p:sp>
      <p:sp>
        <p:nvSpPr>
          <p:cNvPr id="4" name="Text 2"/>
          <p:cNvSpPr/>
          <p:nvPr/>
        </p:nvSpPr>
        <p:spPr>
          <a:xfrm>
            <a:off x="365760" y="768096"/>
            <a:ext cx="8412480" cy="347472"/>
          </a:xfrm>
          <a:prstGeom prst="rect">
            <a:avLst/>
          </a:prstGeom>
          <a:noFill/>
          <a:ln/>
        </p:spPr>
        <p:txBody>
          <a:bodyPr wrap="square" lIns="0" tIns="0" rIns="0" bIns="0" rtlCol="0" anchor="ctr"/>
          <a:lstStyle/>
          <a:p>
            <a:pPr indent="0" marL="0">
              <a:buNone/>
            </a:pPr>
            <a:r>
              <a:rPr lang="en-US" sz="1200" dirty="0">
                <a:solidFill>
                  <a:srgbClr val="575A5D"/>
                </a:solidFill>
                <a:latin typeface="Calibri" pitchFamily="34" charset="0"/>
                <a:ea typeface="Calibri" pitchFamily="34" charset="-122"/>
                <a:cs typeface="Calibri" pitchFamily="34" charset="-120"/>
              </a:rPr>
              <a:t>Asset-tiered SaaS subscription — priced to fit every institution from $50M community CUs to $200B+ tier-1 FIs, with modules that expand as JH adds data sources.</a:t>
            </a:r>
            <a:endParaRPr lang="en-US" sz="1200" dirty="0"/>
          </a:p>
        </p:txBody>
      </p:sp>
      <p:sp>
        <p:nvSpPr>
          <p:cNvPr id="5" name="Shape 3"/>
          <p:cNvSpPr/>
          <p:nvPr/>
        </p:nvSpPr>
        <p:spPr>
          <a:xfrm>
            <a:off x="274320" y="1207008"/>
            <a:ext cx="2788920" cy="37947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274320" y="1207008"/>
            <a:ext cx="2788920" cy="475488"/>
          </a:xfrm>
          <a:prstGeom prst="rect">
            <a:avLst/>
          </a:prstGeom>
          <a:solidFill>
            <a:srgbClr val="0B68D4"/>
          </a:solidFill>
          <a:ln w="12700">
            <a:solidFill>
              <a:srgbClr val="0B68D4"/>
            </a:solidFill>
            <a:prstDash val="solid"/>
          </a:ln>
        </p:spPr>
      </p:sp>
      <p:sp>
        <p:nvSpPr>
          <p:cNvPr id="7" name="Text 5"/>
          <p:cNvSpPr/>
          <p:nvPr/>
        </p:nvSpPr>
        <p:spPr>
          <a:xfrm>
            <a:off x="411480" y="1252728"/>
            <a:ext cx="2514600" cy="384048"/>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INSIGHT</a:t>
            </a:r>
            <a:endParaRPr lang="en-US" sz="1400" dirty="0"/>
          </a:p>
        </p:txBody>
      </p:sp>
      <p:sp>
        <p:nvSpPr>
          <p:cNvPr id="8" name="Text 6"/>
          <p:cNvSpPr/>
          <p:nvPr/>
        </p:nvSpPr>
        <p:spPr>
          <a:xfrm>
            <a:off x="384048" y="1737360"/>
            <a:ext cx="2578608" cy="256032"/>
          </a:xfrm>
          <a:prstGeom prst="rect">
            <a:avLst/>
          </a:prstGeom>
          <a:noFill/>
          <a:ln/>
        </p:spPr>
        <p:txBody>
          <a:bodyPr wrap="square" lIns="0" tIns="0" rIns="0" bIns="0" rtlCol="0" anchor="ctr"/>
          <a:lstStyle/>
          <a:p>
            <a:pPr indent="0" marL="0">
              <a:buNone/>
            </a:pPr>
            <a:r>
              <a:rPr lang="en-US" sz="950" b="1" dirty="0">
                <a:solidFill>
                  <a:srgbClr val="0B68D4"/>
                </a:solidFill>
                <a:latin typeface="Calibri" pitchFamily="34" charset="0"/>
                <a:ea typeface="Calibri" pitchFamily="34" charset="-122"/>
                <a:cs typeface="Calibri" pitchFamily="34" charset="-120"/>
              </a:rPr>
              <a:t>Institutions &lt; $500M assets</a:t>
            </a:r>
            <a:endParaRPr lang="en-US" sz="950" dirty="0"/>
          </a:p>
        </p:txBody>
      </p:sp>
      <p:sp>
        <p:nvSpPr>
          <p:cNvPr id="9" name="Text 7"/>
          <p:cNvSpPr/>
          <p:nvPr/>
        </p:nvSpPr>
        <p:spPr>
          <a:xfrm>
            <a:off x="384048" y="2011680"/>
            <a:ext cx="2578608" cy="502920"/>
          </a:xfrm>
          <a:prstGeom prst="rect">
            <a:avLst/>
          </a:prstGeom>
          <a:noFill/>
          <a:ln/>
        </p:spPr>
        <p:txBody>
          <a:bodyPr wrap="square" lIns="0" tIns="0" rIns="0" bIns="0" rtlCol="0" anchor="ctr"/>
          <a:lstStyle/>
          <a:p>
            <a:pPr indent="0" marL="0">
              <a:buNone/>
            </a:pPr>
            <a:r>
              <a:rPr lang="en-US" sz="2600" b="1" dirty="0">
                <a:solidFill>
                  <a:srgbClr val="085CE5"/>
                </a:solidFill>
                <a:latin typeface="Calibri" pitchFamily="34" charset="0"/>
                <a:ea typeface="Calibri" pitchFamily="34" charset="-122"/>
                <a:cs typeface="Calibri" pitchFamily="34" charset="-120"/>
              </a:rPr>
              <a:t>$750 – $2,500</a:t>
            </a:r>
            <a:endParaRPr lang="en-US" sz="2600" dirty="0"/>
          </a:p>
        </p:txBody>
      </p:sp>
      <p:sp>
        <p:nvSpPr>
          <p:cNvPr id="10" name="Text 8"/>
          <p:cNvSpPr/>
          <p:nvPr/>
        </p:nvSpPr>
        <p:spPr>
          <a:xfrm>
            <a:off x="384048" y="2523744"/>
            <a:ext cx="2578608" cy="228600"/>
          </a:xfrm>
          <a:prstGeom prst="rect">
            <a:avLst/>
          </a:prstGeom>
          <a:noFill/>
          <a:ln/>
        </p:spPr>
        <p:txBody>
          <a:bodyPr wrap="square" lIns="0" tIns="0" rIns="0" bIns="0" rtlCol="0" anchor="ctr"/>
          <a:lstStyle/>
          <a:p>
            <a:pPr indent="0" marL="0">
              <a:buNone/>
            </a:pPr>
            <a:r>
              <a:rPr lang="en-US" sz="950" dirty="0">
                <a:solidFill>
                  <a:srgbClr val="B6BBC0"/>
                </a:solidFill>
                <a:latin typeface="Calibri" pitchFamily="34" charset="0"/>
                <a:ea typeface="Calibri" pitchFamily="34" charset="-122"/>
                <a:cs typeface="Calibri" pitchFamily="34" charset="-120"/>
              </a:rPr>
              <a:t>/ month per institution</a:t>
            </a:r>
            <a:endParaRPr lang="en-US" sz="950" dirty="0"/>
          </a:p>
        </p:txBody>
      </p:sp>
      <p:sp>
        <p:nvSpPr>
          <p:cNvPr id="11" name="Shape 9"/>
          <p:cNvSpPr/>
          <p:nvPr/>
        </p:nvSpPr>
        <p:spPr>
          <a:xfrm>
            <a:off x="384048" y="2798064"/>
            <a:ext cx="2578608" cy="36576"/>
          </a:xfrm>
          <a:prstGeom prst="rect">
            <a:avLst/>
          </a:prstGeom>
          <a:solidFill>
            <a:srgbClr val="E7ECF0"/>
          </a:solidFill>
          <a:ln w="12700">
            <a:solidFill>
              <a:srgbClr val="E7ECF0"/>
            </a:solidFill>
            <a:prstDash val="solid"/>
          </a:ln>
        </p:spPr>
      </p:sp>
      <p:sp>
        <p:nvSpPr>
          <p:cNvPr id="12" name="Text 10"/>
          <p:cNvSpPr/>
          <p:nvPr/>
        </p:nvSpPr>
        <p:spPr>
          <a:xfrm>
            <a:off x="384048" y="2871216"/>
            <a:ext cx="2578608"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CallRpt AI — NCUA 5300 intelligence</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Market Pulse dashboard (industry KPIs)</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Peer benchmarking (10 comparisons / mo)</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AI Q&amp;A — 100 queries / month</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Standard executive brief templates</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Email support</a:t>
            </a:r>
            <a:endParaRPr lang="en-US" sz="950" dirty="0"/>
          </a:p>
        </p:txBody>
      </p:sp>
      <p:sp>
        <p:nvSpPr>
          <p:cNvPr id="13" name="Shape 11"/>
          <p:cNvSpPr/>
          <p:nvPr/>
        </p:nvSpPr>
        <p:spPr>
          <a:xfrm>
            <a:off x="3182112" y="1207008"/>
            <a:ext cx="2788920" cy="3794760"/>
          </a:xfrm>
          <a:prstGeom prst="rect">
            <a:avLst/>
          </a:prstGeom>
          <a:solidFill>
            <a:srgbClr val="06185F"/>
          </a:solidFill>
          <a:ln w="12700">
            <a:solidFill>
              <a:srgbClr val="085CE5"/>
            </a:solidFill>
            <a:prstDash val="solid"/>
          </a:ln>
          <a:effectLst>
            <a:outerShdw sx="100000" sy="100000" kx="0" ky="0" algn="bl" rotWithShape="0" blurRad="101600" dist="38100" dir="8100000">
              <a:srgbClr val="000000">
                <a:alpha val="10000"/>
              </a:srgbClr>
            </a:outerShdw>
          </a:effectLst>
        </p:spPr>
      </p:sp>
      <p:sp>
        <p:nvSpPr>
          <p:cNvPr id="14" name="Shape 12"/>
          <p:cNvSpPr/>
          <p:nvPr/>
        </p:nvSpPr>
        <p:spPr>
          <a:xfrm>
            <a:off x="3182112" y="1207008"/>
            <a:ext cx="2788920" cy="475488"/>
          </a:xfrm>
          <a:prstGeom prst="rect">
            <a:avLst/>
          </a:prstGeom>
          <a:solidFill>
            <a:srgbClr val="085CE5"/>
          </a:solidFill>
          <a:ln w="12700">
            <a:solidFill>
              <a:srgbClr val="085CE5"/>
            </a:solidFill>
            <a:prstDash val="solid"/>
          </a:ln>
        </p:spPr>
      </p:sp>
      <p:sp>
        <p:nvSpPr>
          <p:cNvPr id="15" name="Text 13"/>
          <p:cNvSpPr/>
          <p:nvPr/>
        </p:nvSpPr>
        <p:spPr>
          <a:xfrm>
            <a:off x="3319272" y="1252728"/>
            <a:ext cx="1645920" cy="384048"/>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INTELLIGENCE</a:t>
            </a:r>
            <a:endParaRPr lang="en-US" sz="1400" dirty="0"/>
          </a:p>
        </p:txBody>
      </p:sp>
      <p:sp>
        <p:nvSpPr>
          <p:cNvPr id="16" name="Shape 14"/>
          <p:cNvSpPr/>
          <p:nvPr/>
        </p:nvSpPr>
        <p:spPr>
          <a:xfrm>
            <a:off x="4992624" y="1298448"/>
            <a:ext cx="914400" cy="274320"/>
          </a:xfrm>
          <a:prstGeom prst="rect">
            <a:avLst/>
          </a:prstGeom>
          <a:solidFill>
            <a:srgbClr val="76DCFD"/>
          </a:solidFill>
          <a:ln w="12700">
            <a:solidFill>
              <a:srgbClr val="76DCFD"/>
            </a:solidFill>
            <a:prstDash val="solid"/>
          </a:ln>
        </p:spPr>
      </p:sp>
      <p:sp>
        <p:nvSpPr>
          <p:cNvPr id="17" name="Text 15"/>
          <p:cNvSpPr/>
          <p:nvPr/>
        </p:nvSpPr>
        <p:spPr>
          <a:xfrm>
            <a:off x="4992624" y="1298448"/>
            <a:ext cx="914400" cy="274320"/>
          </a:xfrm>
          <a:prstGeom prst="rect">
            <a:avLst/>
          </a:prstGeom>
          <a:noFill/>
          <a:ln/>
        </p:spPr>
        <p:txBody>
          <a:bodyPr wrap="square" lIns="0" tIns="0" rIns="0" bIns="0" rtlCol="0" anchor="ctr"/>
          <a:lstStyle/>
          <a:p>
            <a:pPr algn="ctr" indent="0" marL="0">
              <a:buNone/>
            </a:pPr>
            <a:r>
              <a:rPr lang="en-US" sz="700" b="1" spc="50" kern="0" dirty="0">
                <a:solidFill>
                  <a:srgbClr val="06185F"/>
                </a:solidFill>
                <a:latin typeface="Calibri" pitchFamily="34" charset="0"/>
                <a:ea typeface="Calibri" pitchFamily="34" charset="-122"/>
                <a:cs typeface="Calibri" pitchFamily="34" charset="-120"/>
              </a:rPr>
              <a:t>RECOMMENDED</a:t>
            </a:r>
            <a:endParaRPr lang="en-US" sz="700" dirty="0"/>
          </a:p>
        </p:txBody>
      </p:sp>
      <p:sp>
        <p:nvSpPr>
          <p:cNvPr id="18" name="Text 16"/>
          <p:cNvSpPr/>
          <p:nvPr/>
        </p:nvSpPr>
        <p:spPr>
          <a:xfrm>
            <a:off x="3291840" y="1737360"/>
            <a:ext cx="2578608" cy="256032"/>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$500M – $5B assets</a:t>
            </a:r>
            <a:endParaRPr lang="en-US" sz="950" dirty="0"/>
          </a:p>
        </p:txBody>
      </p:sp>
      <p:sp>
        <p:nvSpPr>
          <p:cNvPr id="19" name="Text 17"/>
          <p:cNvSpPr/>
          <p:nvPr/>
        </p:nvSpPr>
        <p:spPr>
          <a:xfrm>
            <a:off x="3291840" y="2011680"/>
            <a:ext cx="2578608" cy="502920"/>
          </a:xfrm>
          <a:prstGeom prst="rect">
            <a:avLst/>
          </a:prstGeom>
          <a:noFill/>
          <a:ln/>
        </p:spPr>
        <p:txBody>
          <a:bodyPr wrap="square" lIns="0" tIns="0" rIns="0" bIns="0" rtlCol="0" anchor="ctr"/>
          <a:lstStyle/>
          <a:p>
            <a:pPr indent="0" marL="0">
              <a:buNone/>
            </a:pPr>
            <a:r>
              <a:rPr lang="en-US" sz="2600" b="1" dirty="0">
                <a:solidFill>
                  <a:srgbClr val="76DCFD"/>
                </a:solidFill>
                <a:latin typeface="Calibri" pitchFamily="34" charset="0"/>
                <a:ea typeface="Calibri" pitchFamily="34" charset="-122"/>
                <a:cs typeface="Calibri" pitchFamily="34" charset="-120"/>
              </a:rPr>
              <a:t>$2,500 – $8,000</a:t>
            </a:r>
            <a:endParaRPr lang="en-US" sz="2600" dirty="0"/>
          </a:p>
        </p:txBody>
      </p:sp>
      <p:sp>
        <p:nvSpPr>
          <p:cNvPr id="20" name="Text 18"/>
          <p:cNvSpPr/>
          <p:nvPr/>
        </p:nvSpPr>
        <p:spPr>
          <a:xfrm>
            <a:off x="3291840" y="2523744"/>
            <a:ext cx="2578608" cy="228600"/>
          </a:xfrm>
          <a:prstGeom prst="rect">
            <a:avLst/>
          </a:prstGeom>
          <a:noFill/>
          <a:ln/>
        </p:spPr>
        <p:txBody>
          <a:bodyPr wrap="square" lIns="0" tIns="0" rIns="0" bIns="0" rtlCol="0" anchor="ctr"/>
          <a:lstStyle/>
          <a:p>
            <a:pPr indent="0" marL="0">
              <a:buNone/>
            </a:pPr>
            <a:r>
              <a:rPr lang="en-US" sz="950" dirty="0">
                <a:solidFill>
                  <a:srgbClr val="E7ECF0"/>
                </a:solidFill>
                <a:latin typeface="Calibri" pitchFamily="34" charset="0"/>
                <a:ea typeface="Calibri" pitchFamily="34" charset="-122"/>
                <a:cs typeface="Calibri" pitchFamily="34" charset="-120"/>
              </a:rPr>
              <a:t>/ month per institution</a:t>
            </a:r>
            <a:endParaRPr lang="en-US" sz="950" dirty="0"/>
          </a:p>
        </p:txBody>
      </p:sp>
      <p:sp>
        <p:nvSpPr>
          <p:cNvPr id="21" name="Shape 19"/>
          <p:cNvSpPr/>
          <p:nvPr/>
        </p:nvSpPr>
        <p:spPr>
          <a:xfrm>
            <a:off x="3291840" y="2798064"/>
            <a:ext cx="2578608" cy="36576"/>
          </a:xfrm>
          <a:prstGeom prst="rect">
            <a:avLst/>
          </a:prstGeom>
          <a:solidFill>
            <a:srgbClr val="0B68D4"/>
          </a:solidFill>
          <a:ln w="12700">
            <a:solidFill>
              <a:srgbClr val="0B68D4"/>
            </a:solidFill>
            <a:prstDash val="solid"/>
          </a:ln>
        </p:spPr>
      </p:sp>
      <p:sp>
        <p:nvSpPr>
          <p:cNvPr id="22" name="Text 20"/>
          <p:cNvSpPr/>
          <p:nvPr/>
        </p:nvSpPr>
        <p:spPr>
          <a:xfrm>
            <a:off x="3291840" y="2871216"/>
            <a:ext cx="2578608"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Everything in Insight</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Churn / Attrition Mediation scores</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Account Opening Lifetime Value model</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Unlimited peer benchmarking + API</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AI Q&amp;A — unlimited queries</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CRM integration + outreach triggers</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Dedicated onboarding support</a:t>
            </a:r>
            <a:endParaRPr lang="en-US" sz="950" dirty="0"/>
          </a:p>
        </p:txBody>
      </p:sp>
      <p:sp>
        <p:nvSpPr>
          <p:cNvPr id="23" name="Shape 21"/>
          <p:cNvSpPr/>
          <p:nvPr/>
        </p:nvSpPr>
        <p:spPr>
          <a:xfrm>
            <a:off x="6089904" y="1207008"/>
            <a:ext cx="2788920" cy="37947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4" name="Shape 22"/>
          <p:cNvSpPr/>
          <p:nvPr/>
        </p:nvSpPr>
        <p:spPr>
          <a:xfrm>
            <a:off x="6089904" y="1207008"/>
            <a:ext cx="2788920" cy="475488"/>
          </a:xfrm>
          <a:prstGeom prst="rect">
            <a:avLst/>
          </a:prstGeom>
          <a:solidFill>
            <a:srgbClr val="06185F"/>
          </a:solidFill>
          <a:ln w="12700">
            <a:solidFill>
              <a:srgbClr val="06185F"/>
            </a:solidFill>
            <a:prstDash val="solid"/>
          </a:ln>
        </p:spPr>
      </p:sp>
      <p:sp>
        <p:nvSpPr>
          <p:cNvPr id="25" name="Text 23"/>
          <p:cNvSpPr/>
          <p:nvPr/>
        </p:nvSpPr>
        <p:spPr>
          <a:xfrm>
            <a:off x="6227064" y="1252728"/>
            <a:ext cx="2514600" cy="384048"/>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ENTERPRISE</a:t>
            </a:r>
            <a:endParaRPr lang="en-US" sz="1400" dirty="0"/>
          </a:p>
        </p:txBody>
      </p:sp>
      <p:sp>
        <p:nvSpPr>
          <p:cNvPr id="26" name="Text 24"/>
          <p:cNvSpPr/>
          <p:nvPr/>
        </p:nvSpPr>
        <p:spPr>
          <a:xfrm>
            <a:off x="6199632" y="1737360"/>
            <a:ext cx="2578608" cy="256032"/>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$5B+ assets</a:t>
            </a:r>
            <a:endParaRPr lang="en-US" sz="950" dirty="0"/>
          </a:p>
        </p:txBody>
      </p:sp>
      <p:sp>
        <p:nvSpPr>
          <p:cNvPr id="27" name="Text 25"/>
          <p:cNvSpPr/>
          <p:nvPr/>
        </p:nvSpPr>
        <p:spPr>
          <a:xfrm>
            <a:off x="6199632" y="2011680"/>
            <a:ext cx="2578608" cy="502920"/>
          </a:xfrm>
          <a:prstGeom prst="rect">
            <a:avLst/>
          </a:prstGeom>
          <a:noFill/>
          <a:ln/>
        </p:spPr>
        <p:txBody>
          <a:bodyPr wrap="square" lIns="0" tIns="0" rIns="0" bIns="0" rtlCol="0" anchor="ctr"/>
          <a:lstStyle/>
          <a:p>
            <a:pPr indent="0" marL="0">
              <a:buNone/>
            </a:pPr>
            <a:r>
              <a:rPr lang="en-US" sz="2600" b="1" dirty="0">
                <a:solidFill>
                  <a:srgbClr val="085CE5"/>
                </a:solidFill>
                <a:latin typeface="Calibri" pitchFamily="34" charset="0"/>
                <a:ea typeface="Calibri" pitchFamily="34" charset="-122"/>
                <a:cs typeface="Calibri" pitchFamily="34" charset="-120"/>
              </a:rPr>
              <a:t>$10,000+</a:t>
            </a:r>
            <a:endParaRPr lang="en-US" sz="2600" dirty="0"/>
          </a:p>
        </p:txBody>
      </p:sp>
      <p:sp>
        <p:nvSpPr>
          <p:cNvPr id="28" name="Text 26"/>
          <p:cNvSpPr/>
          <p:nvPr/>
        </p:nvSpPr>
        <p:spPr>
          <a:xfrm>
            <a:off x="6199632" y="2523744"/>
            <a:ext cx="2578608" cy="228600"/>
          </a:xfrm>
          <a:prstGeom prst="rect">
            <a:avLst/>
          </a:prstGeom>
          <a:noFill/>
          <a:ln/>
        </p:spPr>
        <p:txBody>
          <a:bodyPr wrap="square" lIns="0" tIns="0" rIns="0" bIns="0" rtlCol="0" anchor="ctr"/>
          <a:lstStyle/>
          <a:p>
            <a:pPr indent="0" marL="0">
              <a:buNone/>
            </a:pPr>
            <a:r>
              <a:rPr lang="en-US" sz="950" dirty="0">
                <a:solidFill>
                  <a:srgbClr val="B6BBC0"/>
                </a:solidFill>
                <a:latin typeface="Calibri" pitchFamily="34" charset="0"/>
                <a:ea typeface="Calibri" pitchFamily="34" charset="-122"/>
                <a:cs typeface="Calibri" pitchFamily="34" charset="-120"/>
              </a:rPr>
              <a:t>/ month — custom scoped</a:t>
            </a:r>
            <a:endParaRPr lang="en-US" sz="950" dirty="0"/>
          </a:p>
        </p:txBody>
      </p:sp>
      <p:sp>
        <p:nvSpPr>
          <p:cNvPr id="29" name="Shape 27"/>
          <p:cNvSpPr/>
          <p:nvPr/>
        </p:nvSpPr>
        <p:spPr>
          <a:xfrm>
            <a:off x="6199632" y="2798064"/>
            <a:ext cx="2578608" cy="36576"/>
          </a:xfrm>
          <a:prstGeom prst="rect">
            <a:avLst/>
          </a:prstGeom>
          <a:solidFill>
            <a:srgbClr val="E7ECF0"/>
          </a:solidFill>
          <a:ln w="12700">
            <a:solidFill>
              <a:srgbClr val="E7ECF0"/>
            </a:solidFill>
            <a:prstDash val="solid"/>
          </a:ln>
        </p:spPr>
      </p:sp>
      <p:sp>
        <p:nvSpPr>
          <p:cNvPr id="30" name="Text 28"/>
          <p:cNvSpPr/>
          <p:nvPr/>
        </p:nvSpPr>
        <p:spPr>
          <a:xfrm>
            <a:off x="6199632" y="2871216"/>
            <a:ext cx="2578608"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Everything in Intelligence</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Zelle Memo Intelligence pipeline</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Anomaly Detection (real-time streaming)</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White-labeled client-facing portal</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Full REST API suite + webhooks</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Custom model training on FI data</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Dedicated success manager</a:t>
            </a:r>
            <a:endParaRPr lang="en-US" sz="950" dirty="0"/>
          </a:p>
        </p:txBody>
      </p:sp>
      <p:sp>
        <p:nvSpPr>
          <p:cNvPr id="31" name="Text 29"/>
          <p:cNvSpPr/>
          <p:nvPr/>
        </p:nvSpPr>
        <p:spPr>
          <a:xfrm>
            <a:off x="365760" y="4992624"/>
            <a:ext cx="8412480" cy="201168"/>
          </a:xfrm>
          <a:prstGeom prst="rect">
            <a:avLst/>
          </a:prstGeom>
          <a:noFill/>
          <a:ln/>
        </p:spPr>
        <p:txBody>
          <a:bodyPr wrap="square" lIns="0" tIns="0" rIns="0" bIns="0" rtlCol="0" anchor="ctr"/>
          <a:lstStyle/>
          <a:p>
            <a:pPr algn="ctr" indent="0" marL="0">
              <a:buNone/>
            </a:pPr>
            <a:r>
              <a:rPr lang="en-US" sz="850" i="1" dirty="0">
                <a:solidFill>
                  <a:srgbClr val="B6BBC0"/>
                </a:solidFill>
                <a:latin typeface="Calibri" pitchFamily="34" charset="0"/>
                <a:ea typeface="Calibri" pitchFamily="34" charset="-122"/>
                <a:cs typeface="Calibri" pitchFamily="34" charset="-120"/>
              </a:rPr>
              <a:t>All tiers include: SOC 2 compliant data handling · NCUA 5300 + FFIEC base dataset · 99.9% SLA · Quarterly model updates</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2026-04-03T16:28:43Z</dcterms:created>
  <dcterms:modified xsi:type="dcterms:W3CDTF">2026-04-03T16:28:43Z</dcterms:modified>
</cp:coreProperties>
</file>