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Application Suite — Eight Strategic Products</a:t>
            </a:r>
            <a:endParaRPr lang="en-US" sz="2200" dirty="0"/>
          </a:p>
        </p:txBody>
      </p:sp>
      <p:sp>
        <p:nvSpPr>
          <p:cNvPr id="4" name="Shape 2"/>
          <p:cNvSpPr/>
          <p:nvPr/>
        </p:nvSpPr>
        <p:spPr>
          <a:xfrm>
            <a:off x="128016"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77240"/>
            <a:ext cx="2084832" cy="585216"/>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237744" y="886968"/>
            <a:ext cx="347472" cy="347472"/>
          </a:xfrm>
          <a:prstGeom prst="rect">
            <a:avLst/>
          </a:prstGeom>
        </p:spPr>
      </p:pic>
      <p:sp>
        <p:nvSpPr>
          <p:cNvPr id="7" name="Text 4"/>
          <p:cNvSpPr/>
          <p:nvPr/>
        </p:nvSpPr>
        <p:spPr>
          <a:xfrm>
            <a:off x="640080"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Attrition /</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Churn Mediation</a:t>
            </a:r>
            <a:endParaRPr lang="en-US" sz="1000" dirty="0"/>
          </a:p>
        </p:txBody>
      </p:sp>
      <p:sp>
        <p:nvSpPr>
          <p:cNvPr id="8" name="Text 5"/>
          <p:cNvSpPr/>
          <p:nvPr/>
        </p:nvSpPr>
        <p:spPr>
          <a:xfrm>
            <a:off x="219456"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950" dirty="0"/>
          </a:p>
        </p:txBody>
      </p:sp>
      <p:sp>
        <p:nvSpPr>
          <p:cNvPr id="9" name="Shape 6"/>
          <p:cNvSpPr/>
          <p:nvPr/>
        </p:nvSpPr>
        <p:spPr>
          <a:xfrm>
            <a:off x="2350008"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2350008" y="777240"/>
            <a:ext cx="2084832" cy="585216"/>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2459736" y="886968"/>
            <a:ext cx="347472" cy="347472"/>
          </a:xfrm>
          <a:prstGeom prst="rect">
            <a:avLst/>
          </a:prstGeom>
        </p:spPr>
      </p:pic>
      <p:sp>
        <p:nvSpPr>
          <p:cNvPr id="12" name="Text 8"/>
          <p:cNvSpPr/>
          <p:nvPr/>
        </p:nvSpPr>
        <p:spPr>
          <a:xfrm>
            <a:off x="2862072"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Zelle Memo</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Intelligence</a:t>
            </a:r>
            <a:endParaRPr lang="en-US" sz="1000" dirty="0"/>
          </a:p>
        </p:txBody>
      </p:sp>
      <p:sp>
        <p:nvSpPr>
          <p:cNvPr id="13" name="Text 9"/>
          <p:cNvSpPr/>
          <p:nvPr/>
        </p:nvSpPr>
        <p:spPr>
          <a:xfrm>
            <a:off x="2441448"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950" dirty="0"/>
          </a:p>
        </p:txBody>
      </p:sp>
      <p:sp>
        <p:nvSpPr>
          <p:cNvPr id="14" name="Shape 10"/>
          <p:cNvSpPr/>
          <p:nvPr/>
        </p:nvSpPr>
        <p:spPr>
          <a:xfrm>
            <a:off x="4572000"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4572000" y="777240"/>
            <a:ext cx="2084832" cy="585216"/>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4681728" y="886968"/>
            <a:ext cx="347472" cy="347472"/>
          </a:xfrm>
          <a:prstGeom prst="rect">
            <a:avLst/>
          </a:prstGeom>
        </p:spPr>
      </p:pic>
      <p:sp>
        <p:nvSpPr>
          <p:cNvPr id="17" name="Text 12"/>
          <p:cNvSpPr/>
          <p:nvPr/>
        </p:nvSpPr>
        <p:spPr>
          <a:xfrm>
            <a:off x="5084064"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Anomaly</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Detection</a:t>
            </a:r>
            <a:endParaRPr lang="en-US" sz="1000" dirty="0"/>
          </a:p>
        </p:txBody>
      </p:sp>
      <p:sp>
        <p:nvSpPr>
          <p:cNvPr id="18" name="Text 13"/>
          <p:cNvSpPr/>
          <p:nvPr/>
        </p:nvSpPr>
        <p:spPr>
          <a:xfrm>
            <a:off x="4663440"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950" dirty="0"/>
          </a:p>
        </p:txBody>
      </p:sp>
      <p:sp>
        <p:nvSpPr>
          <p:cNvPr id="19" name="Shape 14"/>
          <p:cNvSpPr/>
          <p:nvPr/>
        </p:nvSpPr>
        <p:spPr>
          <a:xfrm>
            <a:off x="6793992"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6793992" y="777240"/>
            <a:ext cx="2084832" cy="585216"/>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6903720" y="886968"/>
            <a:ext cx="347472" cy="347472"/>
          </a:xfrm>
          <a:prstGeom prst="rect">
            <a:avLst/>
          </a:prstGeom>
        </p:spPr>
      </p:pic>
      <p:sp>
        <p:nvSpPr>
          <p:cNvPr id="22" name="Text 16"/>
          <p:cNvSpPr/>
          <p:nvPr/>
        </p:nvSpPr>
        <p:spPr>
          <a:xfrm>
            <a:off x="7306056"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Call Report AI</a:t>
            </a:r>
            <a:endParaRPr lang="en-US" sz="1000" dirty="0"/>
          </a:p>
        </p:txBody>
      </p:sp>
      <p:sp>
        <p:nvSpPr>
          <p:cNvPr id="23" name="Text 17"/>
          <p:cNvSpPr/>
          <p:nvPr/>
        </p:nvSpPr>
        <p:spPr>
          <a:xfrm>
            <a:off x="6885432"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Claude-powered NCUA 5300 intelligence: market pulse, NL Q&amp;A, and peer benchmarking for CU executives. Aug/Sept 2026 launch.</a:t>
            </a:r>
            <a:endParaRPr lang="en-US" sz="950" dirty="0"/>
          </a:p>
        </p:txBody>
      </p:sp>
      <p:sp>
        <p:nvSpPr>
          <p:cNvPr id="24" name="Shape 18"/>
          <p:cNvSpPr/>
          <p:nvPr/>
        </p:nvSpPr>
        <p:spPr>
          <a:xfrm>
            <a:off x="128016"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128016" y="2880360"/>
            <a:ext cx="2084832" cy="585216"/>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237744" y="2990088"/>
            <a:ext cx="347472" cy="347472"/>
          </a:xfrm>
          <a:prstGeom prst="rect">
            <a:avLst/>
          </a:prstGeom>
        </p:spPr>
      </p:pic>
      <p:sp>
        <p:nvSpPr>
          <p:cNvPr id="27" name="Text 20"/>
          <p:cNvSpPr/>
          <p:nvPr/>
        </p:nvSpPr>
        <p:spPr>
          <a:xfrm>
            <a:off x="640080"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Account Opening</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Lifetime Value</a:t>
            </a:r>
            <a:endParaRPr lang="en-US" sz="1000" dirty="0"/>
          </a:p>
        </p:txBody>
      </p:sp>
      <p:sp>
        <p:nvSpPr>
          <p:cNvPr id="28" name="Text 21"/>
          <p:cNvSpPr/>
          <p:nvPr/>
        </p:nvSpPr>
        <p:spPr>
          <a:xfrm>
            <a:off x="219456"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Score new accounts by predicted LTV at opening to optimize onboarding resources and cross-sell sequencing.</a:t>
            </a:r>
            <a:endParaRPr lang="en-US" sz="950" dirty="0"/>
          </a:p>
        </p:txBody>
      </p:sp>
      <p:sp>
        <p:nvSpPr>
          <p:cNvPr id="29" name="Shape 22"/>
          <p:cNvSpPr/>
          <p:nvPr/>
        </p:nvSpPr>
        <p:spPr>
          <a:xfrm>
            <a:off x="2350008"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2350008" y="2880360"/>
            <a:ext cx="2084832" cy="585216"/>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2459736" y="2990088"/>
            <a:ext cx="347472" cy="347472"/>
          </a:xfrm>
          <a:prstGeom prst="rect">
            <a:avLst/>
          </a:prstGeom>
        </p:spPr>
      </p:pic>
      <p:sp>
        <p:nvSpPr>
          <p:cNvPr id="32" name="Text 24"/>
          <p:cNvSpPr/>
          <p:nvPr/>
        </p:nvSpPr>
        <p:spPr>
          <a:xfrm>
            <a:off x="2862072"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FI Decision</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Studio</a:t>
            </a:r>
            <a:endParaRPr lang="en-US" sz="1000" dirty="0"/>
          </a:p>
        </p:txBody>
      </p:sp>
      <p:sp>
        <p:nvSpPr>
          <p:cNvPr id="33" name="Text 25"/>
          <p:cNvSpPr/>
          <p:nvPr/>
        </p:nvSpPr>
        <p:spPr>
          <a:xfrm>
            <a:off x="2441448"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950" dirty="0"/>
          </a:p>
        </p:txBody>
      </p:sp>
      <p:sp>
        <p:nvSpPr>
          <p:cNvPr id="34" name="Shape 26"/>
          <p:cNvSpPr/>
          <p:nvPr/>
        </p:nvSpPr>
        <p:spPr>
          <a:xfrm>
            <a:off x="4572000"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5" name="Shape 27"/>
          <p:cNvSpPr/>
          <p:nvPr/>
        </p:nvSpPr>
        <p:spPr>
          <a:xfrm>
            <a:off x="4572000" y="2880360"/>
            <a:ext cx="2084832" cy="585216"/>
          </a:xfrm>
          <a:prstGeom prst="rect">
            <a:avLst/>
          </a:prstGeom>
          <a:solidFill>
            <a:srgbClr val="0A52C4"/>
          </a:solidFill>
          <a:ln w="12700">
            <a:solidFill>
              <a:srgbClr val="0A52C4"/>
            </a:solidFill>
            <a:prstDash val="solid"/>
          </a:ln>
        </p:spPr>
      </p:sp>
      <p:pic>
        <p:nvPicPr>
          <p:cNvPr id="36" name="Image 6" descr="preencoded.png">    </p:cNvPr>
          <p:cNvPicPr>
            <a:picLocks noChangeAspect="1"/>
          </p:cNvPicPr>
          <p:nvPr/>
        </p:nvPicPr>
        <p:blipFill>
          <a:blip r:embed="rId7"/>
          <a:stretch>
            <a:fillRect/>
          </a:stretch>
        </p:blipFill>
        <p:spPr>
          <a:xfrm>
            <a:off x="4681728" y="2990088"/>
            <a:ext cx="347472" cy="347472"/>
          </a:xfrm>
          <a:prstGeom prst="rect">
            <a:avLst/>
          </a:prstGeom>
        </p:spPr>
      </p:pic>
      <p:sp>
        <p:nvSpPr>
          <p:cNvPr id="37" name="Text 28"/>
          <p:cNvSpPr/>
          <p:nvPr/>
        </p:nvSpPr>
        <p:spPr>
          <a:xfrm>
            <a:off x="5084064"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Personal-as-</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Commercial Detection</a:t>
            </a:r>
            <a:endParaRPr lang="en-US" sz="1000" dirty="0"/>
          </a:p>
        </p:txBody>
      </p:sp>
      <p:sp>
        <p:nvSpPr>
          <p:cNvPr id="38" name="Text 29"/>
          <p:cNvSpPr/>
          <p:nvPr/>
        </p:nvSpPr>
        <p:spPr>
          <a:xfrm>
            <a:off x="4663440"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950" dirty="0"/>
          </a:p>
        </p:txBody>
      </p:sp>
      <p:sp>
        <p:nvSpPr>
          <p:cNvPr id="39" name="Shape 30"/>
          <p:cNvSpPr/>
          <p:nvPr/>
        </p:nvSpPr>
        <p:spPr>
          <a:xfrm>
            <a:off x="6793992"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1"/>
          <p:cNvSpPr/>
          <p:nvPr/>
        </p:nvSpPr>
        <p:spPr>
          <a:xfrm>
            <a:off x="6793992" y="2880360"/>
            <a:ext cx="2084832" cy="585216"/>
          </a:xfrm>
          <a:prstGeom prst="rect">
            <a:avLst/>
          </a:prstGeom>
          <a:solidFill>
            <a:srgbClr val="0F3D8A"/>
          </a:solidFill>
          <a:ln w="12700">
            <a:solidFill>
              <a:srgbClr val="0F3D8A"/>
            </a:solidFill>
            <a:prstDash val="solid"/>
          </a:ln>
        </p:spPr>
      </p:sp>
      <p:pic>
        <p:nvPicPr>
          <p:cNvPr id="41" name="Image 7" descr="preencoded.png">    </p:cNvPr>
          <p:cNvPicPr>
            <a:picLocks noChangeAspect="1"/>
          </p:cNvPicPr>
          <p:nvPr/>
        </p:nvPicPr>
        <p:blipFill>
          <a:blip r:embed="rId8"/>
          <a:stretch>
            <a:fillRect/>
          </a:stretch>
        </p:blipFill>
        <p:spPr>
          <a:xfrm>
            <a:off x="6903720" y="2990088"/>
            <a:ext cx="347472" cy="347472"/>
          </a:xfrm>
          <a:prstGeom prst="rect">
            <a:avLst/>
          </a:prstGeom>
        </p:spPr>
      </p:pic>
      <p:sp>
        <p:nvSpPr>
          <p:cNvPr id="42" name="Text 32"/>
          <p:cNvSpPr/>
          <p:nvPr/>
        </p:nvSpPr>
        <p:spPr>
          <a:xfrm>
            <a:off x="7306056"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Generational</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Wealth Deflection</a:t>
            </a:r>
            <a:endParaRPr lang="en-US" sz="1000" dirty="0"/>
          </a:p>
        </p:txBody>
      </p:sp>
      <p:sp>
        <p:nvSpPr>
          <p:cNvPr id="43" name="Text 33"/>
          <p:cNvSpPr/>
          <p:nvPr/>
        </p:nvSpPr>
        <p:spPr>
          <a:xfrm>
            <a:off x="6885432"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Personal-as-Commercial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Horizon Pipeline: Year 2 Platform Opportunities</a:t>
            </a:r>
            <a:endParaRPr lang="en-US" sz="2200" dirty="0"/>
          </a:p>
        </p:txBody>
      </p:sp>
      <p:sp>
        <p:nvSpPr>
          <p:cNvPr id="4" name="Shape 2"/>
          <p:cNvSpPr/>
          <p:nvPr/>
        </p:nvSpPr>
        <p:spPr>
          <a:xfrm>
            <a:off x="27432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786384"/>
            <a:ext cx="2743200" cy="73152"/>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29768" y="969264"/>
            <a:ext cx="347472" cy="347472"/>
          </a:xfrm>
          <a:prstGeom prst="rect">
            <a:avLst/>
          </a:prstGeom>
        </p:spPr>
      </p:pic>
      <p:sp>
        <p:nvSpPr>
          <p:cNvPr id="7" name="Text 4"/>
          <p:cNvSpPr/>
          <p:nvPr/>
        </p:nvSpPr>
        <p:spPr>
          <a:xfrm>
            <a:off x="86868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Cross-Sell Propensity Engine</a:t>
            </a:r>
            <a:endParaRPr lang="en-US" sz="1050" dirty="0"/>
          </a:p>
        </p:txBody>
      </p:sp>
      <p:sp>
        <p:nvSpPr>
          <p:cNvPr id="8" name="Text 5"/>
          <p:cNvSpPr/>
          <p:nvPr/>
        </p:nvSpPr>
        <p:spPr>
          <a:xfrm>
            <a:off x="41148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1000" dirty="0"/>
          </a:p>
        </p:txBody>
      </p:sp>
      <p:sp>
        <p:nvSpPr>
          <p:cNvPr id="9" name="Shape 6"/>
          <p:cNvSpPr/>
          <p:nvPr/>
        </p:nvSpPr>
        <p:spPr>
          <a:xfrm>
            <a:off x="315468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54680" y="786384"/>
            <a:ext cx="2743200" cy="73152"/>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69264"/>
            <a:ext cx="347472" cy="347472"/>
          </a:xfrm>
          <a:prstGeom prst="rect">
            <a:avLst/>
          </a:prstGeom>
        </p:spPr>
      </p:pic>
      <p:sp>
        <p:nvSpPr>
          <p:cNvPr id="12" name="Text 8"/>
          <p:cNvSpPr/>
          <p:nvPr/>
        </p:nvSpPr>
        <p:spPr>
          <a:xfrm>
            <a:off x="374904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Fraud Ring Detection</a:t>
            </a:r>
            <a:endParaRPr lang="en-US" sz="1050" dirty="0"/>
          </a:p>
        </p:txBody>
      </p:sp>
      <p:sp>
        <p:nvSpPr>
          <p:cNvPr id="13" name="Text 9"/>
          <p:cNvSpPr/>
          <p:nvPr/>
        </p:nvSpPr>
        <p:spPr>
          <a:xfrm>
            <a:off x="329184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1000" dirty="0"/>
          </a:p>
        </p:txBody>
      </p:sp>
      <p:sp>
        <p:nvSpPr>
          <p:cNvPr id="14" name="Shape 10"/>
          <p:cNvSpPr/>
          <p:nvPr/>
        </p:nvSpPr>
        <p:spPr>
          <a:xfrm>
            <a:off x="603504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35040" y="786384"/>
            <a:ext cx="2743200" cy="73152"/>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90488" y="969264"/>
            <a:ext cx="347472" cy="347472"/>
          </a:xfrm>
          <a:prstGeom prst="rect">
            <a:avLst/>
          </a:prstGeom>
        </p:spPr>
      </p:pic>
      <p:sp>
        <p:nvSpPr>
          <p:cNvPr id="17" name="Text 12"/>
          <p:cNvSpPr/>
          <p:nvPr/>
        </p:nvSpPr>
        <p:spPr>
          <a:xfrm>
            <a:off x="662940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Deposit Runoff Forecasting</a:t>
            </a:r>
            <a:endParaRPr lang="en-US" sz="1050" dirty="0"/>
          </a:p>
        </p:txBody>
      </p:sp>
      <p:sp>
        <p:nvSpPr>
          <p:cNvPr id="18" name="Text 13"/>
          <p:cNvSpPr/>
          <p:nvPr/>
        </p:nvSpPr>
        <p:spPr>
          <a:xfrm>
            <a:off x="617220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1000" dirty="0"/>
          </a:p>
        </p:txBody>
      </p:sp>
      <p:sp>
        <p:nvSpPr>
          <p:cNvPr id="19" name="Shape 14"/>
          <p:cNvSpPr/>
          <p:nvPr/>
        </p:nvSpPr>
        <p:spPr>
          <a:xfrm>
            <a:off x="27432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274320" y="2871216"/>
            <a:ext cx="2743200" cy="73152"/>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29768" y="3054096"/>
            <a:ext cx="347472" cy="347472"/>
          </a:xfrm>
          <a:prstGeom prst="rect">
            <a:avLst/>
          </a:prstGeom>
        </p:spPr>
      </p:pic>
      <p:sp>
        <p:nvSpPr>
          <p:cNvPr id="22" name="Text 16"/>
          <p:cNvSpPr/>
          <p:nvPr/>
        </p:nvSpPr>
        <p:spPr>
          <a:xfrm>
            <a:off x="86868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Overdraft Prediction &amp; Mediation</a:t>
            </a:r>
            <a:endParaRPr lang="en-US" sz="1050" dirty="0"/>
          </a:p>
        </p:txBody>
      </p:sp>
      <p:sp>
        <p:nvSpPr>
          <p:cNvPr id="23" name="Text 17"/>
          <p:cNvSpPr/>
          <p:nvPr/>
        </p:nvSpPr>
        <p:spPr>
          <a:xfrm>
            <a:off x="41148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1000" dirty="0"/>
          </a:p>
        </p:txBody>
      </p:sp>
      <p:sp>
        <p:nvSpPr>
          <p:cNvPr id="24" name="Shape 18"/>
          <p:cNvSpPr/>
          <p:nvPr/>
        </p:nvSpPr>
        <p:spPr>
          <a:xfrm>
            <a:off x="315468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54680" y="2871216"/>
            <a:ext cx="2743200" cy="73152"/>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54096"/>
            <a:ext cx="347472" cy="347472"/>
          </a:xfrm>
          <a:prstGeom prst="rect">
            <a:avLst/>
          </a:prstGeom>
        </p:spPr>
      </p:pic>
      <p:sp>
        <p:nvSpPr>
          <p:cNvPr id="27" name="Text 20"/>
          <p:cNvSpPr/>
          <p:nvPr/>
        </p:nvSpPr>
        <p:spPr>
          <a:xfrm>
            <a:off x="374904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Customer Sentiment Engine</a:t>
            </a:r>
            <a:endParaRPr lang="en-US" sz="1050" dirty="0"/>
          </a:p>
        </p:txBody>
      </p:sp>
      <p:sp>
        <p:nvSpPr>
          <p:cNvPr id="28" name="Text 21"/>
          <p:cNvSpPr/>
          <p:nvPr/>
        </p:nvSpPr>
        <p:spPr>
          <a:xfrm>
            <a:off x="329184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1000" dirty="0"/>
          </a:p>
        </p:txBody>
      </p:sp>
      <p:sp>
        <p:nvSpPr>
          <p:cNvPr id="29" name="Shape 22"/>
          <p:cNvSpPr/>
          <p:nvPr/>
        </p:nvSpPr>
        <p:spPr>
          <a:xfrm>
            <a:off x="603504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35040" y="2871216"/>
            <a:ext cx="2743200" cy="73152"/>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90488" y="3054096"/>
            <a:ext cx="347472" cy="347472"/>
          </a:xfrm>
          <a:prstGeom prst="rect">
            <a:avLst/>
          </a:prstGeom>
        </p:spPr>
      </p:pic>
      <p:sp>
        <p:nvSpPr>
          <p:cNvPr id="32" name="Text 24"/>
          <p:cNvSpPr/>
          <p:nvPr/>
        </p:nvSpPr>
        <p:spPr>
          <a:xfrm>
            <a:off x="662940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Next Best Action Platform</a:t>
            </a:r>
            <a:endParaRPr lang="en-US" sz="1050" dirty="0"/>
          </a:p>
        </p:txBody>
      </p:sp>
      <p:sp>
        <p:nvSpPr>
          <p:cNvPr id="33" name="Text 25"/>
          <p:cNvSpPr/>
          <p:nvPr/>
        </p:nvSpPr>
        <p:spPr>
          <a:xfrm>
            <a:off x="617220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1000" dirty="0"/>
          </a:p>
        </p:txBody>
      </p:sp>
      <p:sp>
        <p:nvSpPr>
          <p:cNvPr id="34" name="Text 26"/>
          <p:cNvSpPr/>
          <p:nvPr/>
        </p:nvSpPr>
        <p:spPr>
          <a:xfrm>
            <a:off x="365760" y="4846320"/>
            <a:ext cx="8412480" cy="256032"/>
          </a:xfrm>
          <a:prstGeom prst="rect">
            <a:avLst/>
          </a:prstGeom>
          <a:noFill/>
          <a:ln/>
        </p:spPr>
        <p:txBody>
          <a:bodyPr wrap="square" lIns="0" tIns="0" rIns="0" bIns="0" rtlCol="0" anchor="ctr"/>
          <a:lstStyle/>
          <a:p>
            <a:pPr indent="0" marL="0">
              <a:buNone/>
            </a:pPr>
            <a:r>
              <a:rPr lang="en-US" sz="950" i="1" dirty="0">
                <a:solidFill>
                  <a:srgbClr val="B6BBC0"/>
                </a:solidFill>
                <a:latin typeface="Calibri" pitchFamily="34" charset="0"/>
                <a:ea typeface="Calibri" pitchFamily="34" charset="-122"/>
                <a:cs typeface="Calibri" pitchFamily="34" charset="-120"/>
              </a:rPr>
              <a:t>These opportunities are sequenced for Year 2, contingent on successful Phase 1 delivery and continued investment approval.</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NCUA 5300 Call Reports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Public regulatory</a:t>
            </a:r>
            <a:endParaRPr lang="en-US" sz="750" dirty="0"/>
          </a:p>
        </p:txBody>
      </p:sp>
      <p:sp>
        <p:nvSpPr>
          <p:cNvPr id="36" name="Shape 34"/>
          <p:cNvSpPr/>
          <p:nvPr/>
        </p:nvSpPr>
        <p:spPr>
          <a:xfrm>
            <a:off x="2505456" y="1737360"/>
            <a:ext cx="715518" cy="182880"/>
          </a:xfrm>
          <a:prstGeom prst="rect">
            <a:avLst/>
          </a:prstGeom>
          <a:solidFill>
            <a:srgbClr val="085CE5"/>
          </a:solidFill>
          <a:ln w="12700">
            <a:solidFill>
              <a:srgbClr val="085CE5"/>
            </a:solidFill>
            <a:prstDash val="solid"/>
          </a:ln>
        </p:spPr>
      </p:sp>
      <p:sp>
        <p:nvSpPr>
          <p:cNvPr id="37" name="Text 35"/>
          <p:cNvSpPr/>
          <p:nvPr/>
        </p:nvSpPr>
        <p:spPr>
          <a:xfrm>
            <a:off x="3275838" y="1737360"/>
            <a:ext cx="2194560" cy="182880"/>
          </a:xfrm>
          <a:prstGeom prst="rect">
            <a:avLst/>
          </a:prstGeom>
          <a:noFill/>
          <a:ln/>
        </p:spPr>
        <p:txBody>
          <a:bodyPr wrap="square" lIns="0" tIns="0" rIns="0" bIns="0" rtlCol="0" anchor="ctr"/>
          <a:lstStyle/>
          <a:p>
            <a:pPr indent="0" marL="0">
              <a:buNone/>
            </a:pPr>
            <a:r>
              <a:rPr lang="en-US" sz="750" i="1" dirty="0">
                <a:solidFill>
                  <a:srgbClr val="085CE5"/>
                </a:solidFill>
                <a:latin typeface="Calibri" pitchFamily="34" charset="0"/>
                <a:ea typeface="Calibri" pitchFamily="34" charset="-122"/>
                <a:cs typeface="Calibri" pitchFamily="34" charset="-120"/>
              </a:rPr>
              <a:t>Call Report AI</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85CE5"/>
          </a:solidFill>
          <a:ln w="12700">
            <a:solidFill>
              <a:srgbClr val="085CE5"/>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72" name="Shape 70"/>
          <p:cNvSpPr/>
          <p:nvPr/>
        </p:nvSpPr>
        <p:spPr>
          <a:xfrm>
            <a:off x="2505456" y="4041648"/>
            <a:ext cx="1504188" cy="182880"/>
          </a:xfrm>
          <a:prstGeom prst="rect">
            <a:avLst/>
          </a:prstGeom>
          <a:solidFill>
            <a:srgbClr val="085CE5"/>
          </a:solidFill>
          <a:ln w="12700">
            <a:solidFill>
              <a:srgbClr val="085CE5"/>
            </a:solidFill>
            <a:prstDash val="solid"/>
          </a:ln>
        </p:spPr>
      </p:sp>
      <p:sp>
        <p:nvSpPr>
          <p:cNvPr id="73" name="Text 71"/>
          <p:cNvSpPr/>
          <p:nvPr/>
        </p:nvSpPr>
        <p:spPr>
          <a:xfrm>
            <a:off x="256946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073FA8"/>
          </a:solidFill>
          <a:ln w="12700">
            <a:solidFill>
              <a:srgbClr val="073FA8"/>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8" name="Shape 76"/>
          <p:cNvSpPr/>
          <p:nvPr/>
        </p:nvSpPr>
        <p:spPr>
          <a:xfrm>
            <a:off x="4082796" y="4425696"/>
            <a:ext cx="1504188" cy="182880"/>
          </a:xfrm>
          <a:prstGeom prst="rect">
            <a:avLst/>
          </a:prstGeom>
          <a:solidFill>
            <a:srgbClr val="073FA8"/>
          </a:solidFill>
          <a:ln w="12700">
            <a:solidFill>
              <a:srgbClr val="073FA8"/>
            </a:solidFill>
            <a:prstDash val="solid"/>
          </a:ln>
        </p:spPr>
      </p:sp>
      <p:sp>
        <p:nvSpPr>
          <p:cNvPr id="79" name="Text 77"/>
          <p:cNvSpPr/>
          <p:nvPr/>
        </p:nvSpPr>
        <p:spPr>
          <a:xfrm>
            <a:off x="4146804" y="442569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 · Personal-as-Commercial · Wealth Deflection</a:t>
            </a:r>
            <a:endParaRPr lang="en-US" sz="750" dirty="0"/>
          </a:p>
        </p:txBody>
      </p:sp>
      <p:sp>
        <p:nvSpPr>
          <p:cNvPr id="80" name="Shape 78"/>
          <p:cNvSpPr/>
          <p:nvPr/>
        </p:nvSpPr>
        <p:spPr>
          <a:xfrm>
            <a:off x="274320" y="4736592"/>
            <a:ext cx="8503920" cy="356616"/>
          </a:xfrm>
          <a:prstGeom prst="rect">
            <a:avLst/>
          </a:prstGeom>
          <a:solidFill>
            <a:srgbClr val="FFFFFF"/>
          </a:solidFill>
          <a:ln w="12700">
            <a:solidFill>
              <a:srgbClr val="E7ECF0"/>
            </a:solidFill>
            <a:prstDash val="solid"/>
          </a:ln>
        </p:spPr>
      </p:sp>
      <p:sp>
        <p:nvSpPr>
          <p:cNvPr id="81" name="Shape 79"/>
          <p:cNvSpPr/>
          <p:nvPr/>
        </p:nvSpPr>
        <p:spPr>
          <a:xfrm>
            <a:off x="274320" y="4736592"/>
            <a:ext cx="54864" cy="356616"/>
          </a:xfrm>
          <a:prstGeom prst="rect">
            <a:avLst/>
          </a:prstGeom>
          <a:solidFill>
            <a:srgbClr val="575A5D"/>
          </a:solidFill>
          <a:ln w="12700">
            <a:solidFill>
              <a:srgbClr val="575A5D"/>
            </a:solidFill>
            <a:prstDash val="solid"/>
          </a:ln>
        </p:spPr>
      </p:sp>
      <p:sp>
        <p:nvSpPr>
          <p:cNvPr id="82" name="Text 80"/>
          <p:cNvSpPr/>
          <p:nvPr/>
        </p:nvSpPr>
        <p:spPr>
          <a:xfrm>
            <a:off x="384048" y="476402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83" name="Text 81"/>
          <p:cNvSpPr/>
          <p:nvPr/>
        </p:nvSpPr>
        <p:spPr>
          <a:xfrm>
            <a:off x="384048" y="495604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84" name="Shape 82"/>
          <p:cNvSpPr/>
          <p:nvPr/>
        </p:nvSpPr>
        <p:spPr>
          <a:xfrm>
            <a:off x="5660136" y="4809744"/>
            <a:ext cx="2292858" cy="182880"/>
          </a:xfrm>
          <a:prstGeom prst="rect">
            <a:avLst/>
          </a:prstGeom>
          <a:solidFill>
            <a:srgbClr val="575A5D"/>
          </a:solidFill>
          <a:ln w="12700">
            <a:solidFill>
              <a:srgbClr val="575A5D"/>
            </a:solidFill>
            <a:prstDash val="solid"/>
          </a:ln>
        </p:spPr>
      </p:sp>
      <p:sp>
        <p:nvSpPr>
          <p:cNvPr id="85" name="Text 83"/>
          <p:cNvSpPr/>
          <p:nvPr/>
        </p:nvSpPr>
        <p:spPr>
          <a:xfrm>
            <a:off x="5724144" y="4809744"/>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6" name="Shape 84"/>
          <p:cNvSpPr/>
          <p:nvPr/>
        </p:nvSpPr>
        <p:spPr>
          <a:xfrm>
            <a:off x="2482596" y="1115568"/>
            <a:ext cx="36576" cy="4005072"/>
          </a:xfrm>
          <a:prstGeom prst="rect">
            <a:avLst/>
          </a:prstGeom>
          <a:solidFill>
            <a:srgbClr val="76DCFD"/>
          </a:solidFill>
          <a:ln w="12700">
            <a:solidFill>
              <a:srgbClr val="76DCFD"/>
            </a:solidFill>
            <a:prstDash val="solid"/>
          </a:ln>
        </p:spPr>
      </p:sp>
      <p:sp>
        <p:nvSpPr>
          <p:cNvPr id="87" name="Text 85"/>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Application Delivery Roadmap — Build &amp; Launch Timeline</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Eight applications sequenced across three phases. Each bar spans the active build and validation window; wider bars reflect higher integration complexity.</a:t>
            </a:r>
            <a:endParaRPr lang="en-US" sz="1000" dirty="0"/>
          </a:p>
        </p:txBody>
      </p:sp>
      <p:sp>
        <p:nvSpPr>
          <p:cNvPr id="5" name="Shape 3"/>
          <p:cNvSpPr/>
          <p:nvPr/>
        </p:nvSpPr>
        <p:spPr>
          <a:xfrm>
            <a:off x="2505456" y="1133856"/>
            <a:ext cx="1568196" cy="237744"/>
          </a:xfrm>
          <a:prstGeom prst="rect">
            <a:avLst/>
          </a:prstGeom>
          <a:solidFill>
            <a:srgbClr val="085CE5"/>
          </a:solidFill>
          <a:ln w="12700">
            <a:solidFill>
              <a:srgbClr val="085CE5"/>
            </a:solidFill>
            <a:prstDash val="solid"/>
          </a:ln>
        </p:spPr>
      </p:sp>
      <p:sp>
        <p:nvSpPr>
          <p:cNvPr id="6" name="Text 4"/>
          <p:cNvSpPr/>
          <p:nvPr/>
        </p:nvSpPr>
        <p:spPr>
          <a:xfrm>
            <a:off x="2551176"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7" name="Shape 5"/>
          <p:cNvSpPr/>
          <p:nvPr/>
        </p:nvSpPr>
        <p:spPr>
          <a:xfrm>
            <a:off x="4073652" y="1133856"/>
            <a:ext cx="1568196" cy="237744"/>
          </a:xfrm>
          <a:prstGeom prst="rect">
            <a:avLst/>
          </a:prstGeom>
          <a:solidFill>
            <a:srgbClr val="073FA8"/>
          </a:solidFill>
          <a:ln w="12700">
            <a:solidFill>
              <a:srgbClr val="073FA8"/>
            </a:solidFill>
            <a:prstDash val="solid"/>
          </a:ln>
        </p:spPr>
      </p:sp>
      <p:sp>
        <p:nvSpPr>
          <p:cNvPr id="8" name="Text 6"/>
          <p:cNvSpPr/>
          <p:nvPr/>
        </p:nvSpPr>
        <p:spPr>
          <a:xfrm>
            <a:off x="4119372"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Applications  (Q1–Q2 FY27)</a:t>
            </a:r>
            <a:endParaRPr lang="en-US" sz="750" dirty="0"/>
          </a:p>
        </p:txBody>
      </p:sp>
      <p:sp>
        <p:nvSpPr>
          <p:cNvPr id="9" name="Shape 7"/>
          <p:cNvSpPr/>
          <p:nvPr/>
        </p:nvSpPr>
        <p:spPr>
          <a:xfrm>
            <a:off x="5641848" y="1133856"/>
            <a:ext cx="3136392" cy="237744"/>
          </a:xfrm>
          <a:prstGeom prst="rect">
            <a:avLst/>
          </a:prstGeom>
          <a:solidFill>
            <a:srgbClr val="575A5D"/>
          </a:solidFill>
          <a:ln w="12700">
            <a:solidFill>
              <a:srgbClr val="575A5D"/>
            </a:solidFill>
            <a:prstDash val="solid"/>
          </a:ln>
        </p:spPr>
      </p:sp>
      <p:sp>
        <p:nvSpPr>
          <p:cNvPr id="10" name="Text 8"/>
          <p:cNvSpPr/>
          <p:nvPr/>
        </p:nvSpPr>
        <p:spPr>
          <a:xfrm>
            <a:off x="5687568" y="1133856"/>
            <a:ext cx="3044952"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a:t>
            </a:r>
            <a:endParaRPr lang="en-US" sz="750" dirty="0"/>
          </a:p>
        </p:txBody>
      </p:sp>
      <p:sp>
        <p:nvSpPr>
          <p:cNvPr id="11" name="Shape 9"/>
          <p:cNvSpPr/>
          <p:nvPr/>
        </p:nvSpPr>
        <p:spPr>
          <a:xfrm>
            <a:off x="2505456" y="1389888"/>
            <a:ext cx="6272784" cy="256032"/>
          </a:xfrm>
          <a:prstGeom prst="rect">
            <a:avLst/>
          </a:prstGeom>
          <a:solidFill>
            <a:srgbClr val="E7ECF0"/>
          </a:solidFill>
          <a:ln w="12700">
            <a:solidFill>
              <a:srgbClr val="E7ECF0"/>
            </a:solidFill>
            <a:prstDash val="solid"/>
          </a:ln>
        </p:spPr>
      </p:sp>
      <p:sp>
        <p:nvSpPr>
          <p:cNvPr id="12" name="Shape 10"/>
          <p:cNvSpPr/>
          <p:nvPr/>
        </p:nvSpPr>
        <p:spPr>
          <a:xfrm>
            <a:off x="2505456" y="1664208"/>
            <a:ext cx="784098" cy="3218688"/>
          </a:xfrm>
          <a:prstGeom prst="rect">
            <a:avLst/>
          </a:prstGeom>
          <a:solidFill>
            <a:srgbClr val="F4F6F8"/>
          </a:solidFill>
          <a:ln w="12700">
            <a:solidFill>
              <a:srgbClr val="F4F6F8"/>
            </a:solidFill>
            <a:prstDash val="solid"/>
          </a:ln>
        </p:spPr>
      </p:sp>
      <p:sp>
        <p:nvSpPr>
          <p:cNvPr id="13" name="Text 11"/>
          <p:cNvSpPr/>
          <p:nvPr/>
        </p:nvSpPr>
        <p:spPr>
          <a:xfrm>
            <a:off x="250545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505456" y="1133856"/>
            <a:ext cx="13716" cy="3749040"/>
          </a:xfrm>
          <a:prstGeom prst="rect">
            <a:avLst/>
          </a:prstGeom>
          <a:solidFill>
            <a:srgbClr val="B6BBC0"/>
          </a:solidFill>
          <a:ln w="12700">
            <a:solidFill>
              <a:srgbClr val="B6BBC0"/>
            </a:solidFill>
            <a:prstDash val="solid"/>
          </a:ln>
        </p:spPr>
      </p:sp>
      <p:sp>
        <p:nvSpPr>
          <p:cNvPr id="15" name="Text 13"/>
          <p:cNvSpPr/>
          <p:nvPr/>
        </p:nvSpPr>
        <p:spPr>
          <a:xfrm>
            <a:off x="328955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89554" y="1133856"/>
            <a:ext cx="13716" cy="3749040"/>
          </a:xfrm>
          <a:prstGeom prst="rect">
            <a:avLst/>
          </a:prstGeom>
          <a:solidFill>
            <a:srgbClr val="B6BBC0"/>
          </a:solidFill>
          <a:ln w="12700">
            <a:solidFill>
              <a:srgbClr val="B6BBC0"/>
            </a:solidFill>
            <a:prstDash val="solid"/>
          </a:ln>
        </p:spPr>
      </p:sp>
      <p:sp>
        <p:nvSpPr>
          <p:cNvPr id="17" name="Shape 15"/>
          <p:cNvSpPr/>
          <p:nvPr/>
        </p:nvSpPr>
        <p:spPr>
          <a:xfrm>
            <a:off x="4073652" y="1664208"/>
            <a:ext cx="784098" cy="3218688"/>
          </a:xfrm>
          <a:prstGeom prst="rect">
            <a:avLst/>
          </a:prstGeom>
          <a:solidFill>
            <a:srgbClr val="F4F6F8"/>
          </a:solidFill>
          <a:ln w="12700">
            <a:solidFill>
              <a:srgbClr val="F4F6F8"/>
            </a:solidFill>
            <a:prstDash val="solid"/>
          </a:ln>
        </p:spPr>
      </p:sp>
      <p:sp>
        <p:nvSpPr>
          <p:cNvPr id="18" name="Text 16"/>
          <p:cNvSpPr/>
          <p:nvPr/>
        </p:nvSpPr>
        <p:spPr>
          <a:xfrm>
            <a:off x="407365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73652" y="1133856"/>
            <a:ext cx="13716" cy="3749040"/>
          </a:xfrm>
          <a:prstGeom prst="rect">
            <a:avLst/>
          </a:prstGeom>
          <a:solidFill>
            <a:srgbClr val="B6BBC0"/>
          </a:solidFill>
          <a:ln w="12700">
            <a:solidFill>
              <a:srgbClr val="B6BBC0"/>
            </a:solidFill>
            <a:prstDash val="solid"/>
          </a:ln>
        </p:spPr>
      </p:sp>
      <p:sp>
        <p:nvSpPr>
          <p:cNvPr id="20" name="Text 18"/>
          <p:cNvSpPr/>
          <p:nvPr/>
        </p:nvSpPr>
        <p:spPr>
          <a:xfrm>
            <a:off x="4857750"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57750" y="1133856"/>
            <a:ext cx="13716" cy="3749040"/>
          </a:xfrm>
          <a:prstGeom prst="rect">
            <a:avLst/>
          </a:prstGeom>
          <a:solidFill>
            <a:srgbClr val="B6BBC0"/>
          </a:solidFill>
          <a:ln w="12700">
            <a:solidFill>
              <a:srgbClr val="B6BBC0"/>
            </a:solidFill>
            <a:prstDash val="solid"/>
          </a:ln>
        </p:spPr>
      </p:sp>
      <p:sp>
        <p:nvSpPr>
          <p:cNvPr id="22" name="Shape 20"/>
          <p:cNvSpPr/>
          <p:nvPr/>
        </p:nvSpPr>
        <p:spPr>
          <a:xfrm>
            <a:off x="5641848" y="1664208"/>
            <a:ext cx="784098" cy="3218688"/>
          </a:xfrm>
          <a:prstGeom prst="rect">
            <a:avLst/>
          </a:prstGeom>
          <a:solidFill>
            <a:srgbClr val="F4F6F8"/>
          </a:solidFill>
          <a:ln w="12700">
            <a:solidFill>
              <a:srgbClr val="F4F6F8"/>
            </a:solidFill>
            <a:prstDash val="solid"/>
          </a:ln>
        </p:spPr>
      </p:sp>
      <p:sp>
        <p:nvSpPr>
          <p:cNvPr id="23" name="Text 21"/>
          <p:cNvSpPr/>
          <p:nvPr/>
        </p:nvSpPr>
        <p:spPr>
          <a:xfrm>
            <a:off x="5641848"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41848" y="1133856"/>
            <a:ext cx="13716" cy="3749040"/>
          </a:xfrm>
          <a:prstGeom prst="rect">
            <a:avLst/>
          </a:prstGeom>
          <a:solidFill>
            <a:srgbClr val="B6BBC0"/>
          </a:solidFill>
          <a:ln w="12700">
            <a:solidFill>
              <a:srgbClr val="B6BBC0"/>
            </a:solidFill>
            <a:prstDash val="solid"/>
          </a:ln>
        </p:spPr>
      </p:sp>
      <p:sp>
        <p:nvSpPr>
          <p:cNvPr id="25" name="Text 23"/>
          <p:cNvSpPr/>
          <p:nvPr/>
        </p:nvSpPr>
        <p:spPr>
          <a:xfrm>
            <a:off x="642594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25946" y="1133856"/>
            <a:ext cx="13716" cy="3749040"/>
          </a:xfrm>
          <a:prstGeom prst="rect">
            <a:avLst/>
          </a:prstGeom>
          <a:solidFill>
            <a:srgbClr val="B6BBC0"/>
          </a:solidFill>
          <a:ln w="12700">
            <a:solidFill>
              <a:srgbClr val="B6BBC0"/>
            </a:solidFill>
            <a:prstDash val="solid"/>
          </a:ln>
        </p:spPr>
      </p:sp>
      <p:sp>
        <p:nvSpPr>
          <p:cNvPr id="27" name="Shape 25"/>
          <p:cNvSpPr/>
          <p:nvPr/>
        </p:nvSpPr>
        <p:spPr>
          <a:xfrm>
            <a:off x="7210044" y="1664208"/>
            <a:ext cx="784098" cy="3218688"/>
          </a:xfrm>
          <a:prstGeom prst="rect">
            <a:avLst/>
          </a:prstGeom>
          <a:solidFill>
            <a:srgbClr val="F4F6F8"/>
          </a:solidFill>
          <a:ln w="12700">
            <a:solidFill>
              <a:srgbClr val="F4F6F8"/>
            </a:solidFill>
            <a:prstDash val="solid"/>
          </a:ln>
        </p:spPr>
      </p:sp>
      <p:sp>
        <p:nvSpPr>
          <p:cNvPr id="28" name="Text 26"/>
          <p:cNvSpPr/>
          <p:nvPr/>
        </p:nvSpPr>
        <p:spPr>
          <a:xfrm>
            <a:off x="721004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10044" y="1133856"/>
            <a:ext cx="13716" cy="3749040"/>
          </a:xfrm>
          <a:prstGeom prst="rect">
            <a:avLst/>
          </a:prstGeom>
          <a:solidFill>
            <a:srgbClr val="B6BBC0"/>
          </a:solidFill>
          <a:ln w="12700">
            <a:solidFill>
              <a:srgbClr val="B6BBC0"/>
            </a:solidFill>
            <a:prstDash val="solid"/>
          </a:ln>
        </p:spPr>
      </p:sp>
      <p:sp>
        <p:nvSpPr>
          <p:cNvPr id="30" name="Text 28"/>
          <p:cNvSpPr/>
          <p:nvPr/>
        </p:nvSpPr>
        <p:spPr>
          <a:xfrm>
            <a:off x="799414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94142" y="1133856"/>
            <a:ext cx="13716" cy="3749040"/>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74904"/>
          </a:xfrm>
          <a:prstGeom prst="rect">
            <a:avLst/>
          </a:prstGeom>
          <a:solidFill>
            <a:srgbClr val="FFFFFF"/>
          </a:solidFill>
          <a:ln w="12700">
            <a:solidFill>
              <a:srgbClr val="E7ECF0"/>
            </a:solidFill>
            <a:prstDash val="solid"/>
          </a:ln>
        </p:spPr>
      </p:sp>
      <p:sp>
        <p:nvSpPr>
          <p:cNvPr id="33" name="Shape 31"/>
          <p:cNvSpPr/>
          <p:nvPr/>
        </p:nvSpPr>
        <p:spPr>
          <a:xfrm>
            <a:off x="274320" y="1664208"/>
            <a:ext cx="54864" cy="374904"/>
          </a:xfrm>
          <a:prstGeom prst="rect">
            <a:avLst/>
          </a:prstGeom>
          <a:solidFill>
            <a:srgbClr val="085CE5"/>
          </a:solidFill>
          <a:ln w="12700">
            <a:solidFill>
              <a:srgbClr val="085CE5"/>
            </a:solidFill>
            <a:prstDash val="solid"/>
          </a:ln>
        </p:spPr>
      </p:sp>
      <p:sp>
        <p:nvSpPr>
          <p:cNvPr id="34" name="Text 32"/>
          <p:cNvSpPr/>
          <p:nvPr/>
        </p:nvSpPr>
        <p:spPr>
          <a:xfrm>
            <a:off x="384048" y="169164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Mediation</a:t>
            </a:r>
            <a:endParaRPr lang="en-US" sz="850" dirty="0"/>
          </a:p>
        </p:txBody>
      </p:sp>
      <p:sp>
        <p:nvSpPr>
          <p:cNvPr id="35" name="Text 33"/>
          <p:cNvSpPr/>
          <p:nvPr/>
        </p:nvSpPr>
        <p:spPr>
          <a:xfrm>
            <a:off x="384048" y="189280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Phase 1 MVP</a:t>
            </a:r>
            <a:endParaRPr lang="en-US" sz="750" dirty="0"/>
          </a:p>
        </p:txBody>
      </p:sp>
      <p:sp>
        <p:nvSpPr>
          <p:cNvPr id="36" name="Shape 34"/>
          <p:cNvSpPr/>
          <p:nvPr/>
        </p:nvSpPr>
        <p:spPr>
          <a:xfrm>
            <a:off x="2542032" y="1755648"/>
            <a:ext cx="1495044" cy="182880"/>
          </a:xfrm>
          <a:prstGeom prst="rect">
            <a:avLst/>
          </a:prstGeom>
          <a:solidFill>
            <a:srgbClr val="085CE5">
              <a:alpha val="70000"/>
            </a:srgbClr>
          </a:solidFill>
          <a:ln w="12700">
            <a:solidFill>
              <a:srgbClr val="085CE5">
                <a:alpha val="90000"/>
              </a:srgbClr>
            </a:solidFill>
            <a:prstDash val="solid"/>
          </a:ln>
        </p:spPr>
      </p:sp>
      <p:sp>
        <p:nvSpPr>
          <p:cNvPr id="37" name="Shape 35"/>
          <p:cNvSpPr/>
          <p:nvPr/>
        </p:nvSpPr>
        <p:spPr>
          <a:xfrm>
            <a:off x="3618464" y="1755648"/>
            <a:ext cx="418612" cy="182880"/>
          </a:xfrm>
          <a:prstGeom prst="rect">
            <a:avLst/>
          </a:prstGeom>
          <a:solidFill>
            <a:srgbClr val="085CE5"/>
          </a:solidFill>
          <a:ln w="12700">
            <a:solidFill>
              <a:srgbClr val="085CE5"/>
            </a:solidFill>
            <a:prstDash val="solid"/>
          </a:ln>
        </p:spPr>
      </p:sp>
      <p:sp>
        <p:nvSpPr>
          <p:cNvPr id="38" name="Text 36"/>
          <p:cNvSpPr/>
          <p:nvPr/>
        </p:nvSpPr>
        <p:spPr>
          <a:xfrm>
            <a:off x="2606040" y="1755648"/>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MVP  ·  Phase 1</a:t>
            </a:r>
            <a:endParaRPr lang="en-US" sz="750" dirty="0"/>
          </a:p>
        </p:txBody>
      </p:sp>
      <p:sp>
        <p:nvSpPr>
          <p:cNvPr id="39" name="Shape 37"/>
          <p:cNvSpPr/>
          <p:nvPr/>
        </p:nvSpPr>
        <p:spPr>
          <a:xfrm>
            <a:off x="274320" y="2066544"/>
            <a:ext cx="8503920" cy="374904"/>
          </a:xfrm>
          <a:prstGeom prst="rect">
            <a:avLst/>
          </a:prstGeom>
          <a:solidFill>
            <a:srgbClr val="F8F9FA"/>
          </a:solidFill>
          <a:ln w="12700">
            <a:solidFill>
              <a:srgbClr val="E7ECF0"/>
            </a:solidFill>
            <a:prstDash val="solid"/>
          </a:ln>
        </p:spPr>
      </p:sp>
      <p:sp>
        <p:nvSpPr>
          <p:cNvPr id="40" name="Shape 38"/>
          <p:cNvSpPr/>
          <p:nvPr/>
        </p:nvSpPr>
        <p:spPr>
          <a:xfrm>
            <a:off x="274320" y="2066544"/>
            <a:ext cx="54864" cy="374904"/>
          </a:xfrm>
          <a:prstGeom prst="rect">
            <a:avLst/>
          </a:prstGeom>
          <a:solidFill>
            <a:srgbClr val="575A5D"/>
          </a:solidFill>
          <a:ln w="12700">
            <a:solidFill>
              <a:srgbClr val="575A5D"/>
            </a:solidFill>
            <a:prstDash val="solid"/>
          </a:ln>
        </p:spPr>
      </p:sp>
      <p:sp>
        <p:nvSpPr>
          <p:cNvPr id="41" name="Text 39"/>
          <p:cNvSpPr/>
          <p:nvPr/>
        </p:nvSpPr>
        <p:spPr>
          <a:xfrm>
            <a:off x="384048" y="209397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Call Report AI</a:t>
            </a:r>
            <a:endParaRPr lang="en-US" sz="850" dirty="0"/>
          </a:p>
        </p:txBody>
      </p:sp>
      <p:sp>
        <p:nvSpPr>
          <p:cNvPr id="42" name="Text 40"/>
          <p:cNvSpPr/>
          <p:nvPr/>
        </p:nvSpPr>
        <p:spPr>
          <a:xfrm>
            <a:off x="384048" y="229514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Aug/Sept 2026 launch</a:t>
            </a:r>
            <a:endParaRPr lang="en-US" sz="750" dirty="0"/>
          </a:p>
        </p:txBody>
      </p:sp>
      <p:sp>
        <p:nvSpPr>
          <p:cNvPr id="43" name="Shape 41"/>
          <p:cNvSpPr/>
          <p:nvPr/>
        </p:nvSpPr>
        <p:spPr>
          <a:xfrm>
            <a:off x="2542032" y="2157984"/>
            <a:ext cx="2279142" cy="182880"/>
          </a:xfrm>
          <a:prstGeom prst="rect">
            <a:avLst/>
          </a:prstGeom>
          <a:solidFill>
            <a:srgbClr val="575A5D">
              <a:alpha val="70000"/>
            </a:srgbClr>
          </a:solidFill>
          <a:ln w="12700">
            <a:solidFill>
              <a:srgbClr val="575A5D">
                <a:alpha val="90000"/>
              </a:srgbClr>
            </a:solidFill>
            <a:prstDash val="solid"/>
          </a:ln>
        </p:spPr>
      </p:sp>
      <p:sp>
        <p:nvSpPr>
          <p:cNvPr id="44" name="Shape 42"/>
          <p:cNvSpPr/>
          <p:nvPr/>
        </p:nvSpPr>
        <p:spPr>
          <a:xfrm>
            <a:off x="4183014" y="2157984"/>
            <a:ext cx="638160" cy="182880"/>
          </a:xfrm>
          <a:prstGeom prst="rect">
            <a:avLst/>
          </a:prstGeom>
          <a:solidFill>
            <a:srgbClr val="575A5D"/>
          </a:solidFill>
          <a:ln w="12700">
            <a:solidFill>
              <a:srgbClr val="575A5D"/>
            </a:solidFill>
            <a:prstDash val="solid"/>
          </a:ln>
        </p:spPr>
      </p:sp>
      <p:sp>
        <p:nvSpPr>
          <p:cNvPr id="45" name="Text 43"/>
          <p:cNvSpPr/>
          <p:nvPr/>
        </p:nvSpPr>
        <p:spPr>
          <a:xfrm>
            <a:off x="2606040" y="2157984"/>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Active dev  →  Aug/Sept '26</a:t>
            </a:r>
            <a:endParaRPr lang="en-US" sz="750" dirty="0"/>
          </a:p>
        </p:txBody>
      </p:sp>
      <p:sp>
        <p:nvSpPr>
          <p:cNvPr id="46" name="Shape 44"/>
          <p:cNvSpPr/>
          <p:nvPr/>
        </p:nvSpPr>
        <p:spPr>
          <a:xfrm>
            <a:off x="274320" y="2468880"/>
            <a:ext cx="8503920" cy="374904"/>
          </a:xfrm>
          <a:prstGeom prst="rect">
            <a:avLst/>
          </a:prstGeom>
          <a:solidFill>
            <a:srgbClr val="FFFFFF"/>
          </a:solidFill>
          <a:ln w="12700">
            <a:solidFill>
              <a:srgbClr val="E7ECF0"/>
            </a:solidFill>
            <a:prstDash val="solid"/>
          </a:ln>
        </p:spPr>
      </p:sp>
      <p:sp>
        <p:nvSpPr>
          <p:cNvPr id="47" name="Shape 45"/>
          <p:cNvSpPr/>
          <p:nvPr/>
        </p:nvSpPr>
        <p:spPr>
          <a:xfrm>
            <a:off x="274320" y="2468880"/>
            <a:ext cx="54864" cy="374904"/>
          </a:xfrm>
          <a:prstGeom prst="rect">
            <a:avLst/>
          </a:prstGeom>
          <a:solidFill>
            <a:srgbClr val="073FA8"/>
          </a:solidFill>
          <a:ln w="12700">
            <a:solidFill>
              <a:srgbClr val="073FA8"/>
            </a:solidFill>
            <a:prstDash val="solid"/>
          </a:ln>
        </p:spPr>
      </p:sp>
      <p:sp>
        <p:nvSpPr>
          <p:cNvPr id="48" name="Text 46"/>
          <p:cNvSpPr/>
          <p:nvPr/>
        </p:nvSpPr>
        <p:spPr>
          <a:xfrm>
            <a:off x="384048" y="249631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Anomaly Detection</a:t>
            </a:r>
            <a:endParaRPr lang="en-US" sz="850" dirty="0"/>
          </a:p>
        </p:txBody>
      </p:sp>
      <p:sp>
        <p:nvSpPr>
          <p:cNvPr id="49" name="Text 47"/>
          <p:cNvSpPr/>
          <p:nvPr/>
        </p:nvSpPr>
        <p:spPr>
          <a:xfrm>
            <a:off x="384048" y="269748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Real-time fraud engine</a:t>
            </a:r>
            <a:endParaRPr lang="en-US" sz="750" dirty="0"/>
          </a:p>
        </p:txBody>
      </p:sp>
      <p:sp>
        <p:nvSpPr>
          <p:cNvPr id="50" name="Shape 48"/>
          <p:cNvSpPr/>
          <p:nvPr/>
        </p:nvSpPr>
        <p:spPr>
          <a:xfrm>
            <a:off x="3326130" y="2560320"/>
            <a:ext cx="2279142" cy="182880"/>
          </a:xfrm>
          <a:prstGeom prst="rect">
            <a:avLst/>
          </a:prstGeom>
          <a:solidFill>
            <a:srgbClr val="073FA8">
              <a:alpha val="70000"/>
            </a:srgbClr>
          </a:solidFill>
          <a:ln w="12700">
            <a:solidFill>
              <a:srgbClr val="073FA8">
                <a:alpha val="90000"/>
              </a:srgbClr>
            </a:solidFill>
            <a:prstDash val="solid"/>
          </a:ln>
        </p:spPr>
      </p:sp>
      <p:sp>
        <p:nvSpPr>
          <p:cNvPr id="51" name="Shape 49"/>
          <p:cNvSpPr/>
          <p:nvPr/>
        </p:nvSpPr>
        <p:spPr>
          <a:xfrm>
            <a:off x="4967112" y="2560320"/>
            <a:ext cx="638160" cy="182880"/>
          </a:xfrm>
          <a:prstGeom prst="rect">
            <a:avLst/>
          </a:prstGeom>
          <a:solidFill>
            <a:srgbClr val="073FA8"/>
          </a:solidFill>
          <a:ln w="12700">
            <a:solidFill>
              <a:srgbClr val="073FA8"/>
            </a:solidFill>
            <a:prstDash val="solid"/>
          </a:ln>
        </p:spPr>
      </p:sp>
      <p:sp>
        <p:nvSpPr>
          <p:cNvPr id="52" name="Text 50"/>
          <p:cNvSpPr/>
          <p:nvPr/>
        </p:nvSpPr>
        <p:spPr>
          <a:xfrm>
            <a:off x="3390138" y="2560320"/>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53" name="Shape 51"/>
          <p:cNvSpPr/>
          <p:nvPr/>
        </p:nvSpPr>
        <p:spPr>
          <a:xfrm>
            <a:off x="274320" y="2871216"/>
            <a:ext cx="8503920" cy="374904"/>
          </a:xfrm>
          <a:prstGeom prst="rect">
            <a:avLst/>
          </a:prstGeom>
          <a:solidFill>
            <a:srgbClr val="F8F9FA"/>
          </a:solidFill>
          <a:ln w="12700">
            <a:solidFill>
              <a:srgbClr val="E7ECF0"/>
            </a:solidFill>
            <a:prstDash val="solid"/>
          </a:ln>
        </p:spPr>
      </p:sp>
      <p:sp>
        <p:nvSpPr>
          <p:cNvPr id="54" name="Shape 52"/>
          <p:cNvSpPr/>
          <p:nvPr/>
        </p:nvSpPr>
        <p:spPr>
          <a:xfrm>
            <a:off x="274320" y="2871216"/>
            <a:ext cx="54864" cy="374904"/>
          </a:xfrm>
          <a:prstGeom prst="rect">
            <a:avLst/>
          </a:prstGeom>
          <a:solidFill>
            <a:srgbClr val="06185F"/>
          </a:solidFill>
          <a:ln w="12700">
            <a:solidFill>
              <a:srgbClr val="06185F"/>
            </a:solidFill>
            <a:prstDash val="solid"/>
          </a:ln>
        </p:spPr>
      </p:sp>
      <p:sp>
        <p:nvSpPr>
          <p:cNvPr id="55" name="Text 53"/>
          <p:cNvSpPr/>
          <p:nvPr/>
        </p:nvSpPr>
        <p:spPr>
          <a:xfrm>
            <a:off x="384048" y="2898648"/>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Memo Intelligence</a:t>
            </a:r>
            <a:endParaRPr lang="en-US" sz="850" dirty="0"/>
          </a:p>
        </p:txBody>
      </p:sp>
      <p:sp>
        <p:nvSpPr>
          <p:cNvPr id="56" name="Text 54"/>
          <p:cNvSpPr/>
          <p:nvPr/>
        </p:nvSpPr>
        <p:spPr>
          <a:xfrm>
            <a:off x="384048" y="3099816"/>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NLP compliance pipeline</a:t>
            </a:r>
            <a:endParaRPr lang="en-US" sz="750" dirty="0"/>
          </a:p>
        </p:txBody>
      </p:sp>
      <p:sp>
        <p:nvSpPr>
          <p:cNvPr id="57" name="Shape 55"/>
          <p:cNvSpPr/>
          <p:nvPr/>
        </p:nvSpPr>
        <p:spPr>
          <a:xfrm>
            <a:off x="4110228" y="2962656"/>
            <a:ext cx="1495044" cy="182880"/>
          </a:xfrm>
          <a:prstGeom prst="rect">
            <a:avLst/>
          </a:prstGeom>
          <a:solidFill>
            <a:srgbClr val="06185F">
              <a:alpha val="70000"/>
            </a:srgbClr>
          </a:solidFill>
          <a:ln w="12700">
            <a:solidFill>
              <a:srgbClr val="06185F">
                <a:alpha val="90000"/>
              </a:srgbClr>
            </a:solidFill>
            <a:prstDash val="solid"/>
          </a:ln>
        </p:spPr>
      </p:sp>
      <p:sp>
        <p:nvSpPr>
          <p:cNvPr id="58" name="Shape 56"/>
          <p:cNvSpPr/>
          <p:nvPr/>
        </p:nvSpPr>
        <p:spPr>
          <a:xfrm>
            <a:off x="5186660" y="2962656"/>
            <a:ext cx="418612" cy="182880"/>
          </a:xfrm>
          <a:prstGeom prst="rect">
            <a:avLst/>
          </a:prstGeom>
          <a:solidFill>
            <a:srgbClr val="06185F"/>
          </a:solidFill>
          <a:ln w="12700">
            <a:solidFill>
              <a:srgbClr val="06185F"/>
            </a:solidFill>
            <a:prstDash val="solid"/>
          </a:ln>
        </p:spPr>
      </p:sp>
      <p:sp>
        <p:nvSpPr>
          <p:cNvPr id="59" name="Text 57"/>
          <p:cNvSpPr/>
          <p:nvPr/>
        </p:nvSpPr>
        <p:spPr>
          <a:xfrm>
            <a:off x="4174236" y="2962656"/>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60" name="Shape 58"/>
          <p:cNvSpPr/>
          <p:nvPr/>
        </p:nvSpPr>
        <p:spPr>
          <a:xfrm>
            <a:off x="274320" y="3273552"/>
            <a:ext cx="8503920" cy="374904"/>
          </a:xfrm>
          <a:prstGeom prst="rect">
            <a:avLst/>
          </a:prstGeom>
          <a:solidFill>
            <a:srgbClr val="FFFFFF"/>
          </a:solidFill>
          <a:ln w="12700">
            <a:solidFill>
              <a:srgbClr val="E7ECF0"/>
            </a:solidFill>
            <a:prstDash val="solid"/>
          </a:ln>
        </p:spPr>
      </p:sp>
      <p:sp>
        <p:nvSpPr>
          <p:cNvPr id="61" name="Shape 59"/>
          <p:cNvSpPr/>
          <p:nvPr/>
        </p:nvSpPr>
        <p:spPr>
          <a:xfrm>
            <a:off x="274320" y="3273552"/>
            <a:ext cx="54864" cy="374904"/>
          </a:xfrm>
          <a:prstGeom prst="rect">
            <a:avLst/>
          </a:prstGeom>
          <a:solidFill>
            <a:srgbClr val="0A52C4"/>
          </a:solidFill>
          <a:ln w="12700">
            <a:solidFill>
              <a:srgbClr val="0A52C4"/>
            </a:solidFill>
            <a:prstDash val="solid"/>
          </a:ln>
        </p:spPr>
      </p:sp>
      <p:sp>
        <p:nvSpPr>
          <p:cNvPr id="62" name="Text 60"/>
          <p:cNvSpPr/>
          <p:nvPr/>
        </p:nvSpPr>
        <p:spPr>
          <a:xfrm>
            <a:off x="384048" y="3300984"/>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Personal-as-Commercial</a:t>
            </a:r>
            <a:endParaRPr lang="en-US" sz="850" dirty="0"/>
          </a:p>
        </p:txBody>
      </p:sp>
      <p:sp>
        <p:nvSpPr>
          <p:cNvPr id="63" name="Text 61"/>
          <p:cNvSpPr/>
          <p:nvPr/>
        </p:nvSpPr>
        <p:spPr>
          <a:xfrm>
            <a:off x="384048" y="3502152"/>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SMB conversion model</a:t>
            </a:r>
            <a:endParaRPr lang="en-US" sz="750" dirty="0"/>
          </a:p>
        </p:txBody>
      </p:sp>
      <p:sp>
        <p:nvSpPr>
          <p:cNvPr id="64" name="Shape 62"/>
          <p:cNvSpPr/>
          <p:nvPr/>
        </p:nvSpPr>
        <p:spPr>
          <a:xfrm>
            <a:off x="4110228" y="3364992"/>
            <a:ext cx="1495044" cy="182880"/>
          </a:xfrm>
          <a:prstGeom prst="rect">
            <a:avLst/>
          </a:prstGeom>
          <a:solidFill>
            <a:srgbClr val="0A52C4">
              <a:alpha val="70000"/>
            </a:srgbClr>
          </a:solidFill>
          <a:ln w="12700">
            <a:solidFill>
              <a:srgbClr val="0A52C4">
                <a:alpha val="90000"/>
              </a:srgbClr>
            </a:solidFill>
            <a:prstDash val="solid"/>
          </a:ln>
        </p:spPr>
      </p:sp>
      <p:sp>
        <p:nvSpPr>
          <p:cNvPr id="65" name="Shape 63"/>
          <p:cNvSpPr/>
          <p:nvPr/>
        </p:nvSpPr>
        <p:spPr>
          <a:xfrm>
            <a:off x="5186660" y="3364992"/>
            <a:ext cx="418612" cy="182880"/>
          </a:xfrm>
          <a:prstGeom prst="rect">
            <a:avLst/>
          </a:prstGeom>
          <a:solidFill>
            <a:srgbClr val="0A52C4"/>
          </a:solidFill>
          <a:ln w="12700">
            <a:solidFill>
              <a:srgbClr val="0A52C4"/>
            </a:solidFill>
            <a:prstDash val="solid"/>
          </a:ln>
        </p:spPr>
      </p:sp>
      <p:sp>
        <p:nvSpPr>
          <p:cNvPr id="66" name="Text 64"/>
          <p:cNvSpPr/>
          <p:nvPr/>
        </p:nvSpPr>
        <p:spPr>
          <a:xfrm>
            <a:off x="4174236" y="3364992"/>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67" name="Shape 65"/>
          <p:cNvSpPr/>
          <p:nvPr/>
        </p:nvSpPr>
        <p:spPr>
          <a:xfrm>
            <a:off x="274320" y="3675888"/>
            <a:ext cx="8503920" cy="374904"/>
          </a:xfrm>
          <a:prstGeom prst="rect">
            <a:avLst/>
          </a:prstGeom>
          <a:solidFill>
            <a:srgbClr val="F8F9FA"/>
          </a:solidFill>
          <a:ln w="12700">
            <a:solidFill>
              <a:srgbClr val="E7ECF0"/>
            </a:solidFill>
            <a:prstDash val="solid"/>
          </a:ln>
        </p:spPr>
      </p:sp>
      <p:sp>
        <p:nvSpPr>
          <p:cNvPr id="68" name="Shape 66"/>
          <p:cNvSpPr/>
          <p:nvPr/>
        </p:nvSpPr>
        <p:spPr>
          <a:xfrm>
            <a:off x="274320" y="3675888"/>
            <a:ext cx="54864" cy="374904"/>
          </a:xfrm>
          <a:prstGeom prst="rect">
            <a:avLst/>
          </a:prstGeom>
          <a:solidFill>
            <a:srgbClr val="0F3D8A"/>
          </a:solidFill>
          <a:ln w="12700">
            <a:solidFill>
              <a:srgbClr val="0F3D8A"/>
            </a:solidFill>
            <a:prstDash val="solid"/>
          </a:ln>
        </p:spPr>
      </p:sp>
      <p:sp>
        <p:nvSpPr>
          <p:cNvPr id="69" name="Text 67"/>
          <p:cNvSpPr/>
          <p:nvPr/>
        </p:nvSpPr>
        <p:spPr>
          <a:xfrm>
            <a:off x="384048" y="370332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Gen. Wealth Deflection</a:t>
            </a:r>
            <a:endParaRPr lang="en-US" sz="850" dirty="0"/>
          </a:p>
        </p:txBody>
      </p:sp>
      <p:sp>
        <p:nvSpPr>
          <p:cNvPr id="70" name="Text 68"/>
          <p:cNvSpPr/>
          <p:nvPr/>
        </p:nvSpPr>
        <p:spPr>
          <a:xfrm>
            <a:off x="384048" y="390448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Household coverage model</a:t>
            </a:r>
            <a:endParaRPr lang="en-US" sz="750" dirty="0"/>
          </a:p>
        </p:txBody>
      </p:sp>
      <p:sp>
        <p:nvSpPr>
          <p:cNvPr id="71" name="Shape 69"/>
          <p:cNvSpPr/>
          <p:nvPr/>
        </p:nvSpPr>
        <p:spPr>
          <a:xfrm>
            <a:off x="4110228" y="3767328"/>
            <a:ext cx="2279142" cy="182880"/>
          </a:xfrm>
          <a:prstGeom prst="rect">
            <a:avLst/>
          </a:prstGeom>
          <a:solidFill>
            <a:srgbClr val="0F3D8A">
              <a:alpha val="70000"/>
            </a:srgbClr>
          </a:solidFill>
          <a:ln w="12700">
            <a:solidFill>
              <a:srgbClr val="0F3D8A">
                <a:alpha val="90000"/>
              </a:srgbClr>
            </a:solidFill>
            <a:prstDash val="solid"/>
          </a:ln>
        </p:spPr>
      </p:sp>
      <p:sp>
        <p:nvSpPr>
          <p:cNvPr id="72" name="Shape 70"/>
          <p:cNvSpPr/>
          <p:nvPr/>
        </p:nvSpPr>
        <p:spPr>
          <a:xfrm>
            <a:off x="5751210" y="3767328"/>
            <a:ext cx="638160" cy="182880"/>
          </a:xfrm>
          <a:prstGeom prst="rect">
            <a:avLst/>
          </a:prstGeom>
          <a:solidFill>
            <a:srgbClr val="0F3D8A"/>
          </a:solidFill>
          <a:ln w="12700">
            <a:solidFill>
              <a:srgbClr val="0F3D8A"/>
            </a:solidFill>
            <a:prstDash val="solid"/>
          </a:ln>
        </p:spPr>
      </p:sp>
      <p:sp>
        <p:nvSpPr>
          <p:cNvPr id="73" name="Text 71"/>
          <p:cNvSpPr/>
          <p:nvPr/>
        </p:nvSpPr>
        <p:spPr>
          <a:xfrm>
            <a:off x="4174236" y="3767328"/>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Phase 2 build  →  Phase 3</a:t>
            </a:r>
            <a:endParaRPr lang="en-US" sz="750" dirty="0"/>
          </a:p>
        </p:txBody>
      </p:sp>
      <p:sp>
        <p:nvSpPr>
          <p:cNvPr id="74" name="Shape 72"/>
          <p:cNvSpPr/>
          <p:nvPr/>
        </p:nvSpPr>
        <p:spPr>
          <a:xfrm>
            <a:off x="274320" y="4078224"/>
            <a:ext cx="8503920" cy="374904"/>
          </a:xfrm>
          <a:prstGeom prst="rect">
            <a:avLst/>
          </a:prstGeom>
          <a:solidFill>
            <a:srgbClr val="FFFFFF"/>
          </a:solidFill>
          <a:ln w="12700">
            <a:solidFill>
              <a:srgbClr val="E7ECF0"/>
            </a:solidFill>
            <a:prstDash val="solid"/>
          </a:ln>
        </p:spPr>
      </p:sp>
      <p:sp>
        <p:nvSpPr>
          <p:cNvPr id="75" name="Shape 73"/>
          <p:cNvSpPr/>
          <p:nvPr/>
        </p:nvSpPr>
        <p:spPr>
          <a:xfrm>
            <a:off x="274320" y="4078224"/>
            <a:ext cx="54864" cy="374904"/>
          </a:xfrm>
          <a:prstGeom prst="rect">
            <a:avLst/>
          </a:prstGeom>
          <a:solidFill>
            <a:srgbClr val="0B68D4"/>
          </a:solidFill>
          <a:ln w="12700">
            <a:solidFill>
              <a:srgbClr val="0B68D4"/>
            </a:solidFill>
            <a:prstDash val="solid"/>
          </a:ln>
        </p:spPr>
      </p:sp>
      <p:sp>
        <p:nvSpPr>
          <p:cNvPr id="76" name="Text 74"/>
          <p:cNvSpPr/>
          <p:nvPr/>
        </p:nvSpPr>
        <p:spPr>
          <a:xfrm>
            <a:off x="384048" y="410565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Account Opening LTV</a:t>
            </a:r>
            <a:endParaRPr lang="en-US" sz="850" dirty="0"/>
          </a:p>
        </p:txBody>
      </p:sp>
      <p:sp>
        <p:nvSpPr>
          <p:cNvPr id="77" name="Text 75"/>
          <p:cNvSpPr/>
          <p:nvPr/>
        </p:nvSpPr>
        <p:spPr>
          <a:xfrm>
            <a:off x="384048" y="430682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New account LTV scoring</a:t>
            </a:r>
            <a:endParaRPr lang="en-US" sz="750" dirty="0"/>
          </a:p>
        </p:txBody>
      </p:sp>
      <p:sp>
        <p:nvSpPr>
          <p:cNvPr id="78" name="Shape 76"/>
          <p:cNvSpPr/>
          <p:nvPr/>
        </p:nvSpPr>
        <p:spPr>
          <a:xfrm>
            <a:off x="5678424" y="4169664"/>
            <a:ext cx="1495044" cy="182880"/>
          </a:xfrm>
          <a:prstGeom prst="rect">
            <a:avLst/>
          </a:prstGeom>
          <a:solidFill>
            <a:srgbClr val="0B68D4">
              <a:alpha val="70000"/>
            </a:srgbClr>
          </a:solidFill>
          <a:ln w="12700">
            <a:solidFill>
              <a:srgbClr val="0B68D4">
                <a:alpha val="90000"/>
              </a:srgbClr>
            </a:solidFill>
            <a:prstDash val="solid"/>
          </a:ln>
        </p:spPr>
      </p:sp>
      <p:sp>
        <p:nvSpPr>
          <p:cNvPr id="79" name="Shape 77"/>
          <p:cNvSpPr/>
          <p:nvPr/>
        </p:nvSpPr>
        <p:spPr>
          <a:xfrm>
            <a:off x="6754856" y="4169664"/>
            <a:ext cx="418612" cy="182880"/>
          </a:xfrm>
          <a:prstGeom prst="rect">
            <a:avLst/>
          </a:prstGeom>
          <a:solidFill>
            <a:srgbClr val="0B68D4"/>
          </a:solidFill>
          <a:ln w="12700">
            <a:solidFill>
              <a:srgbClr val="0B68D4"/>
            </a:solidFill>
            <a:prstDash val="solid"/>
          </a:ln>
        </p:spPr>
      </p:sp>
      <p:sp>
        <p:nvSpPr>
          <p:cNvPr id="80" name="Text 78"/>
          <p:cNvSpPr/>
          <p:nvPr/>
        </p:nvSpPr>
        <p:spPr>
          <a:xfrm>
            <a:off x="5742432" y="4169664"/>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3 launch</a:t>
            </a:r>
            <a:endParaRPr lang="en-US" sz="750" dirty="0"/>
          </a:p>
        </p:txBody>
      </p:sp>
      <p:sp>
        <p:nvSpPr>
          <p:cNvPr id="81" name="Shape 79"/>
          <p:cNvSpPr/>
          <p:nvPr/>
        </p:nvSpPr>
        <p:spPr>
          <a:xfrm>
            <a:off x="274320" y="4480560"/>
            <a:ext cx="8503920" cy="374904"/>
          </a:xfrm>
          <a:prstGeom prst="rect">
            <a:avLst/>
          </a:prstGeom>
          <a:solidFill>
            <a:srgbClr val="F8F9FA"/>
          </a:solidFill>
          <a:ln w="12700">
            <a:solidFill>
              <a:srgbClr val="E7ECF0"/>
            </a:solidFill>
            <a:prstDash val="solid"/>
          </a:ln>
        </p:spPr>
      </p:sp>
      <p:sp>
        <p:nvSpPr>
          <p:cNvPr id="82" name="Shape 80"/>
          <p:cNvSpPr/>
          <p:nvPr/>
        </p:nvSpPr>
        <p:spPr>
          <a:xfrm>
            <a:off x="274320" y="4480560"/>
            <a:ext cx="54864" cy="374904"/>
          </a:xfrm>
          <a:prstGeom prst="rect">
            <a:avLst/>
          </a:prstGeom>
          <a:solidFill>
            <a:srgbClr val="0D2E7A"/>
          </a:solidFill>
          <a:ln w="12700">
            <a:solidFill>
              <a:srgbClr val="0D2E7A"/>
            </a:solidFill>
            <a:prstDash val="solid"/>
          </a:ln>
        </p:spPr>
      </p:sp>
      <p:sp>
        <p:nvSpPr>
          <p:cNvPr id="83" name="Text 81"/>
          <p:cNvSpPr/>
          <p:nvPr/>
        </p:nvSpPr>
        <p:spPr>
          <a:xfrm>
            <a:off x="384048" y="450799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84" name="Text 82"/>
          <p:cNvSpPr/>
          <p:nvPr/>
        </p:nvSpPr>
        <p:spPr>
          <a:xfrm>
            <a:off x="384048" y="470916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platform  ·  GA</a:t>
            </a:r>
            <a:endParaRPr lang="en-US" sz="750" dirty="0"/>
          </a:p>
        </p:txBody>
      </p:sp>
      <p:sp>
        <p:nvSpPr>
          <p:cNvPr id="85" name="Shape 83"/>
          <p:cNvSpPr/>
          <p:nvPr/>
        </p:nvSpPr>
        <p:spPr>
          <a:xfrm>
            <a:off x="5678424" y="4572000"/>
            <a:ext cx="3063240" cy="182880"/>
          </a:xfrm>
          <a:prstGeom prst="rect">
            <a:avLst/>
          </a:prstGeom>
          <a:solidFill>
            <a:srgbClr val="0D2E7A">
              <a:alpha val="70000"/>
            </a:srgbClr>
          </a:solidFill>
          <a:ln w="12700">
            <a:solidFill>
              <a:srgbClr val="0D2E7A">
                <a:alpha val="90000"/>
              </a:srgbClr>
            </a:solidFill>
            <a:prstDash val="solid"/>
          </a:ln>
        </p:spPr>
      </p:sp>
      <p:sp>
        <p:nvSpPr>
          <p:cNvPr id="86" name="Shape 84"/>
          <p:cNvSpPr/>
          <p:nvPr/>
        </p:nvSpPr>
        <p:spPr>
          <a:xfrm>
            <a:off x="8030718" y="4572000"/>
            <a:ext cx="710946" cy="182880"/>
          </a:xfrm>
          <a:prstGeom prst="rect">
            <a:avLst/>
          </a:prstGeom>
          <a:solidFill>
            <a:srgbClr val="0D2E7A"/>
          </a:solidFill>
          <a:ln w="12700">
            <a:solidFill>
              <a:srgbClr val="0D2E7A"/>
            </a:solidFill>
            <a:prstDash val="solid"/>
          </a:ln>
        </p:spPr>
      </p:sp>
      <p:sp>
        <p:nvSpPr>
          <p:cNvPr id="87" name="Text 85"/>
          <p:cNvSpPr/>
          <p:nvPr/>
        </p:nvSpPr>
        <p:spPr>
          <a:xfrm>
            <a:off x="5742432" y="4572000"/>
            <a:ext cx="2935224"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Platform build  →  Phase 3 GA</a:t>
            </a:r>
            <a:endParaRPr lang="en-US" sz="750" dirty="0"/>
          </a:p>
        </p:txBody>
      </p:sp>
      <p:sp>
        <p:nvSpPr>
          <p:cNvPr id="88" name="Shape 86"/>
          <p:cNvSpPr/>
          <p:nvPr/>
        </p:nvSpPr>
        <p:spPr>
          <a:xfrm>
            <a:off x="384048" y="4919472"/>
            <a:ext cx="457200" cy="128016"/>
          </a:xfrm>
          <a:prstGeom prst="rect">
            <a:avLst/>
          </a:prstGeom>
          <a:solidFill>
            <a:srgbClr val="085CE5">
              <a:alpha val="70000"/>
            </a:srgbClr>
          </a:solidFill>
          <a:ln w="12700">
            <a:solidFill>
              <a:srgbClr val="085CE5"/>
            </a:solidFill>
            <a:prstDash val="solid"/>
          </a:ln>
        </p:spPr>
      </p:sp>
      <p:sp>
        <p:nvSpPr>
          <p:cNvPr id="89" name="Text 87"/>
          <p:cNvSpPr/>
          <p:nvPr/>
        </p:nvSpPr>
        <p:spPr>
          <a:xfrm>
            <a:off x="89611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Build / validate</a:t>
            </a:r>
            <a:endParaRPr lang="en-US" sz="750" dirty="0"/>
          </a:p>
        </p:txBody>
      </p:sp>
      <p:sp>
        <p:nvSpPr>
          <p:cNvPr id="90" name="Shape 88"/>
          <p:cNvSpPr/>
          <p:nvPr/>
        </p:nvSpPr>
        <p:spPr>
          <a:xfrm>
            <a:off x="2304288" y="4919472"/>
            <a:ext cx="457200" cy="128016"/>
          </a:xfrm>
          <a:prstGeom prst="rect">
            <a:avLst/>
          </a:prstGeom>
          <a:solidFill>
            <a:srgbClr val="085CE5"/>
          </a:solidFill>
          <a:ln w="12700">
            <a:solidFill>
              <a:srgbClr val="085CE5"/>
            </a:solidFill>
            <a:prstDash val="solid"/>
          </a:ln>
        </p:spPr>
      </p:sp>
      <p:sp>
        <p:nvSpPr>
          <p:cNvPr id="91" name="Text 89"/>
          <p:cNvSpPr/>
          <p:nvPr/>
        </p:nvSpPr>
        <p:spPr>
          <a:xfrm>
            <a:off x="281635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Launch window</a:t>
            </a:r>
            <a:endParaRPr lang="en-US" sz="750" dirty="0"/>
          </a:p>
        </p:txBody>
      </p:sp>
      <p:sp>
        <p:nvSpPr>
          <p:cNvPr id="92" name="Shape 90"/>
          <p:cNvSpPr/>
          <p:nvPr/>
        </p:nvSpPr>
        <p:spPr>
          <a:xfrm>
            <a:off x="2519172" y="1115568"/>
            <a:ext cx="36576" cy="3767328"/>
          </a:xfrm>
          <a:prstGeom prst="rect">
            <a:avLst/>
          </a:prstGeom>
          <a:solidFill>
            <a:srgbClr val="76DCFD"/>
          </a:solidFill>
          <a:ln w="12700">
            <a:solidFill>
              <a:srgbClr val="76DCFD"/>
            </a:solidFill>
            <a:prstDash val="solid"/>
          </a:ln>
        </p:spPr>
      </p:sp>
      <p:sp>
        <p:nvSpPr>
          <p:cNvPr id="93" name="Text 91"/>
          <p:cNvSpPr/>
          <p:nvPr/>
        </p:nvSpPr>
        <p:spPr>
          <a:xfrm>
            <a:off x="2395728"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MVP</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banking + payments data integration complete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438144"/>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438144"/>
            <a:ext cx="54864" cy="237744"/>
          </a:xfrm>
          <a:prstGeom prst="rect">
            <a:avLst/>
          </a:prstGeom>
          <a:solidFill>
            <a:srgbClr val="073FA8"/>
          </a:solidFill>
          <a:ln w="12700">
            <a:solidFill>
              <a:srgbClr val="073FA8"/>
            </a:solidFill>
            <a:prstDash val="solid"/>
          </a:ln>
        </p:spPr>
      </p:sp>
      <p:sp>
        <p:nvSpPr>
          <p:cNvPr id="28" name="Text 26"/>
          <p:cNvSpPr/>
          <p:nvPr/>
        </p:nvSpPr>
        <p:spPr>
          <a:xfrm>
            <a:off x="3328416" y="3438144"/>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712464"/>
            <a:ext cx="2523744" cy="219456"/>
          </a:xfrm>
          <a:prstGeom prst="rect">
            <a:avLst/>
          </a:prstGeom>
          <a:solidFill>
            <a:srgbClr val="073FA8"/>
          </a:solidFill>
          <a:ln w="12700">
            <a:solidFill>
              <a:srgbClr val="073FA8"/>
            </a:solidFill>
            <a:prstDash val="solid"/>
          </a:ln>
        </p:spPr>
      </p:sp>
      <p:sp>
        <p:nvSpPr>
          <p:cNvPr id="30" name="Shape 28"/>
          <p:cNvSpPr/>
          <p:nvPr/>
        </p:nvSpPr>
        <p:spPr>
          <a:xfrm>
            <a:off x="3383280" y="375818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712464"/>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Anomaly Detection</a:t>
            </a:r>
            <a:endParaRPr lang="en-US" sz="800" dirty="0"/>
          </a:p>
        </p:txBody>
      </p:sp>
      <p:sp>
        <p:nvSpPr>
          <p:cNvPr id="32" name="Shape 30"/>
          <p:cNvSpPr/>
          <p:nvPr/>
        </p:nvSpPr>
        <p:spPr>
          <a:xfrm>
            <a:off x="3328416" y="3968496"/>
            <a:ext cx="2523744" cy="219456"/>
          </a:xfrm>
          <a:prstGeom prst="rect">
            <a:avLst/>
          </a:prstGeom>
          <a:solidFill>
            <a:srgbClr val="06185F"/>
          </a:solidFill>
          <a:ln w="12700">
            <a:solidFill>
              <a:srgbClr val="06185F"/>
            </a:solidFill>
            <a:prstDash val="solid"/>
          </a:ln>
        </p:spPr>
      </p:sp>
      <p:sp>
        <p:nvSpPr>
          <p:cNvPr id="33" name="Shape 31"/>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3968496"/>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Zelle Memo Intelligence</a:t>
            </a:r>
            <a:endParaRPr lang="en-US" sz="800" dirty="0"/>
          </a:p>
        </p:txBody>
      </p:sp>
      <p:sp>
        <p:nvSpPr>
          <p:cNvPr id="35" name="Shape 33"/>
          <p:cNvSpPr/>
          <p:nvPr/>
        </p:nvSpPr>
        <p:spPr>
          <a:xfrm>
            <a:off x="3328416" y="4224528"/>
            <a:ext cx="2523744" cy="219456"/>
          </a:xfrm>
          <a:prstGeom prst="rect">
            <a:avLst/>
          </a:prstGeom>
          <a:solidFill>
            <a:srgbClr val="575A5D"/>
          </a:solidFill>
          <a:ln w="12700">
            <a:solidFill>
              <a:srgbClr val="575A5D"/>
            </a:solidFill>
            <a:prstDash val="solid"/>
          </a:ln>
        </p:spPr>
      </p:sp>
      <p:sp>
        <p:nvSpPr>
          <p:cNvPr id="36" name="Shape 34"/>
          <p:cNvSpPr/>
          <p:nvPr/>
        </p:nvSpPr>
        <p:spPr>
          <a:xfrm>
            <a:off x="3383280" y="4270248"/>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224528"/>
            <a:ext cx="1554480"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Call Report AI</a:t>
            </a:r>
            <a:endParaRPr lang="en-US" sz="800" dirty="0"/>
          </a:p>
        </p:txBody>
      </p:sp>
      <p:sp>
        <p:nvSpPr>
          <p:cNvPr id="38" name="Shape 36"/>
          <p:cNvSpPr/>
          <p:nvPr/>
        </p:nvSpPr>
        <p:spPr>
          <a:xfrm>
            <a:off x="4974336" y="4251960"/>
            <a:ext cx="749808" cy="164592"/>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4974336" y="4251960"/>
            <a:ext cx="749808" cy="16459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Aug/Sept '26</a:t>
            </a:r>
            <a:endParaRPr lang="en-US" sz="700" dirty="0"/>
          </a:p>
        </p:txBody>
      </p:sp>
      <p:sp>
        <p:nvSpPr>
          <p:cNvPr id="40" name="Shape 38"/>
          <p:cNvSpPr/>
          <p:nvPr/>
        </p:nvSpPr>
        <p:spPr>
          <a:xfrm>
            <a:off x="3328416" y="4480560"/>
            <a:ext cx="2523744" cy="219456"/>
          </a:xfrm>
          <a:prstGeom prst="rect">
            <a:avLst/>
          </a:prstGeom>
          <a:solidFill>
            <a:srgbClr val="0A52C4"/>
          </a:solidFill>
          <a:ln w="12700">
            <a:solidFill>
              <a:srgbClr val="0A52C4"/>
            </a:solidFill>
            <a:prstDash val="solid"/>
          </a:ln>
        </p:spPr>
      </p:sp>
      <p:sp>
        <p:nvSpPr>
          <p:cNvPr id="41" name="Shape 39"/>
          <p:cNvSpPr/>
          <p:nvPr/>
        </p:nvSpPr>
        <p:spPr>
          <a:xfrm>
            <a:off x="3383280" y="4526280"/>
            <a:ext cx="128016" cy="128016"/>
          </a:xfrm>
          <a:prstGeom prst="ellipse">
            <a:avLst/>
          </a:prstGeom>
          <a:solidFill>
            <a:srgbClr val="FFFFFF">
              <a:alpha val="70000"/>
            </a:srgbClr>
          </a:solidFill>
          <a:ln w="12700">
            <a:solidFill>
              <a:srgbClr val="FFFFFF">
                <a:alpha val="70000"/>
              </a:srgbClr>
            </a:solidFill>
            <a:prstDash val="solid"/>
          </a:ln>
        </p:spPr>
      </p:sp>
      <p:sp>
        <p:nvSpPr>
          <p:cNvPr id="42" name="Text 40"/>
          <p:cNvSpPr/>
          <p:nvPr/>
        </p:nvSpPr>
        <p:spPr>
          <a:xfrm>
            <a:off x="3566160" y="4480560"/>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Personal-as-Commercial</a:t>
            </a:r>
            <a:endParaRPr lang="en-US" sz="800" dirty="0"/>
          </a:p>
        </p:txBody>
      </p:sp>
      <p:sp>
        <p:nvSpPr>
          <p:cNvPr id="43" name="Shape 41"/>
          <p:cNvSpPr/>
          <p:nvPr/>
        </p:nvSpPr>
        <p:spPr>
          <a:xfrm>
            <a:off x="3328416" y="4736592"/>
            <a:ext cx="2523744" cy="219456"/>
          </a:xfrm>
          <a:prstGeom prst="rect">
            <a:avLst/>
          </a:prstGeom>
          <a:solidFill>
            <a:srgbClr val="0F3D8A"/>
          </a:solidFill>
          <a:ln w="12700">
            <a:solidFill>
              <a:srgbClr val="0F3D8A"/>
            </a:solidFill>
            <a:prstDash val="solid"/>
          </a:ln>
        </p:spPr>
      </p:sp>
      <p:sp>
        <p:nvSpPr>
          <p:cNvPr id="44" name="Shape 42"/>
          <p:cNvSpPr/>
          <p:nvPr/>
        </p:nvSpPr>
        <p:spPr>
          <a:xfrm>
            <a:off x="3383280" y="4782312"/>
            <a:ext cx="128016" cy="128016"/>
          </a:xfrm>
          <a:prstGeom prst="ellipse">
            <a:avLst/>
          </a:prstGeom>
          <a:solidFill>
            <a:srgbClr val="FFFFFF">
              <a:alpha val="70000"/>
            </a:srgbClr>
          </a:solidFill>
          <a:ln w="12700">
            <a:solidFill>
              <a:srgbClr val="FFFFFF">
                <a:alpha val="70000"/>
              </a:srgbClr>
            </a:solidFill>
            <a:prstDash val="solid"/>
          </a:ln>
        </p:spPr>
      </p:sp>
      <p:sp>
        <p:nvSpPr>
          <p:cNvPr id="45" name="Text 43"/>
          <p:cNvSpPr/>
          <p:nvPr/>
        </p:nvSpPr>
        <p:spPr>
          <a:xfrm>
            <a:off x="3566160" y="4736592"/>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Generational Wealth Deflection</a:t>
            </a:r>
            <a:endParaRPr lang="en-US" sz="800" dirty="0"/>
          </a:p>
        </p:txBody>
      </p:sp>
      <p:sp>
        <p:nvSpPr>
          <p:cNvPr id="46" name="Shape 44"/>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7" name="Shape 45"/>
          <p:cNvSpPr/>
          <p:nvPr/>
        </p:nvSpPr>
        <p:spPr>
          <a:xfrm>
            <a:off x="6144768" y="749808"/>
            <a:ext cx="2816352" cy="804672"/>
          </a:xfrm>
          <a:prstGeom prst="rect">
            <a:avLst/>
          </a:prstGeom>
          <a:solidFill>
            <a:srgbClr val="575A5D"/>
          </a:solidFill>
          <a:ln w="12700">
            <a:solidFill>
              <a:srgbClr val="575A5D"/>
            </a:solidFill>
            <a:prstDash val="solid"/>
          </a:ln>
        </p:spPr>
      </p:sp>
      <p:sp>
        <p:nvSpPr>
          <p:cNvPr id="48" name="Text 46"/>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9" name="Shape 47"/>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50" name="Text 48"/>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51" name="Text 49"/>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52" name="Text 50"/>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53" name="Shape 51"/>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54" name="Shape 52"/>
          <p:cNvSpPr/>
          <p:nvPr/>
        </p:nvSpPr>
        <p:spPr>
          <a:xfrm>
            <a:off x="6144768" y="3675888"/>
            <a:ext cx="54864" cy="237744"/>
          </a:xfrm>
          <a:prstGeom prst="rect">
            <a:avLst/>
          </a:prstGeom>
          <a:solidFill>
            <a:srgbClr val="575A5D"/>
          </a:solidFill>
          <a:ln w="12700">
            <a:solidFill>
              <a:srgbClr val="575A5D"/>
            </a:solidFill>
            <a:prstDash val="solid"/>
          </a:ln>
        </p:spPr>
      </p:sp>
      <p:sp>
        <p:nvSpPr>
          <p:cNvPr id="55" name="Text 53"/>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6" name="Shape 54"/>
          <p:cNvSpPr/>
          <p:nvPr/>
        </p:nvSpPr>
        <p:spPr>
          <a:xfrm>
            <a:off x="6272784" y="3950208"/>
            <a:ext cx="2523744" cy="256032"/>
          </a:xfrm>
          <a:prstGeom prst="rect">
            <a:avLst/>
          </a:prstGeom>
          <a:solidFill>
            <a:srgbClr val="0B68D4"/>
          </a:solidFill>
          <a:ln w="12700">
            <a:solidFill>
              <a:srgbClr val="0B68D4"/>
            </a:solidFill>
            <a:prstDash val="solid"/>
          </a:ln>
        </p:spPr>
      </p:sp>
      <p:sp>
        <p:nvSpPr>
          <p:cNvPr id="57" name="Shape 55"/>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9" name="Shape 57"/>
          <p:cNvSpPr/>
          <p:nvPr/>
        </p:nvSpPr>
        <p:spPr>
          <a:xfrm>
            <a:off x="6272784" y="4279392"/>
            <a:ext cx="2523744" cy="256032"/>
          </a:xfrm>
          <a:prstGeom prst="rect">
            <a:avLst/>
          </a:prstGeom>
          <a:solidFill>
            <a:srgbClr val="0D2E7A"/>
          </a:solidFill>
          <a:ln w="12700">
            <a:solidFill>
              <a:srgbClr val="0D2E7A"/>
            </a:solidFill>
            <a:prstDash val="solid"/>
          </a:ln>
        </p:spPr>
      </p:sp>
      <p:sp>
        <p:nvSpPr>
          <p:cNvPr id="60" name="Shape 58"/>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61" name="Text 59"/>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62" name="Shape 60"/>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63" name="Text 61"/>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64" name="Shape 62"/>
          <p:cNvSpPr/>
          <p:nvPr/>
        </p:nvSpPr>
        <p:spPr>
          <a:xfrm>
            <a:off x="6272784" y="4608576"/>
            <a:ext cx="2523744" cy="256032"/>
          </a:xfrm>
          <a:prstGeom prst="rect">
            <a:avLst/>
          </a:prstGeom>
          <a:solidFill>
            <a:srgbClr val="073FA8"/>
          </a:solidFill>
          <a:ln w="12700">
            <a:solidFill>
              <a:srgbClr val="073FA8"/>
            </a:solidFill>
            <a:prstDash val="solid"/>
          </a:ln>
        </p:spPr>
      </p:sp>
      <p:sp>
        <p:nvSpPr>
          <p:cNvPr id="65" name="Shape 63"/>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66" name="Text 64"/>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7" name="Shape 65"/>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8" name="Text 66"/>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2026-04-01T15:14:36Z</dcterms:created>
  <dcterms:modified xsi:type="dcterms:W3CDTF">2026-04-01T15:14:36Z</dcterms:modified>
</cp:coreProperties>
</file>