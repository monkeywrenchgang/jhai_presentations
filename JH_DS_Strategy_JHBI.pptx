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powers 8,000+ community banks and credit unions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8,000+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FI clients on JH platforms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generating actionable data daily</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for every one of our 8,000+ FI clients.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Applications: Phase 1 Portfolio</a:t>
            </a:r>
            <a:endParaRPr lang="en-US" sz="2200" dirty="0"/>
          </a:p>
        </p:txBody>
      </p:sp>
      <p:sp>
        <p:nvSpPr>
          <p:cNvPr id="4" name="Shape 2"/>
          <p:cNvSpPr/>
          <p:nvPr/>
        </p:nvSpPr>
        <p:spPr>
          <a:xfrm>
            <a:off x="320040"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320040" y="777240"/>
            <a:ext cx="2706624" cy="65836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57200" y="905256"/>
            <a:ext cx="384048" cy="384048"/>
          </a:xfrm>
          <a:prstGeom prst="rect">
            <a:avLst/>
          </a:prstGeom>
        </p:spPr>
      </p:pic>
      <p:sp>
        <p:nvSpPr>
          <p:cNvPr id="7" name="Text 4"/>
          <p:cNvSpPr/>
          <p:nvPr/>
        </p:nvSpPr>
        <p:spPr>
          <a:xfrm>
            <a:off x="914400"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Attrition /</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Churn Mediation</a:t>
            </a:r>
            <a:endParaRPr lang="en-US" sz="1150" dirty="0"/>
          </a:p>
        </p:txBody>
      </p:sp>
      <p:sp>
        <p:nvSpPr>
          <p:cNvPr id="8" name="Text 5"/>
          <p:cNvSpPr/>
          <p:nvPr/>
        </p:nvSpPr>
        <p:spPr>
          <a:xfrm>
            <a:off x="429768"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1050" dirty="0"/>
          </a:p>
        </p:txBody>
      </p:sp>
      <p:sp>
        <p:nvSpPr>
          <p:cNvPr id="9" name="Shape 6"/>
          <p:cNvSpPr/>
          <p:nvPr/>
        </p:nvSpPr>
        <p:spPr>
          <a:xfrm>
            <a:off x="3172968"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72968" y="777240"/>
            <a:ext cx="2706624" cy="658368"/>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05256"/>
            <a:ext cx="384048" cy="384048"/>
          </a:xfrm>
          <a:prstGeom prst="rect">
            <a:avLst/>
          </a:prstGeom>
        </p:spPr>
      </p:pic>
      <p:sp>
        <p:nvSpPr>
          <p:cNvPr id="12" name="Text 8"/>
          <p:cNvSpPr/>
          <p:nvPr/>
        </p:nvSpPr>
        <p:spPr>
          <a:xfrm>
            <a:off x="3767328"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Zelle Memo</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Intelligence</a:t>
            </a:r>
            <a:endParaRPr lang="en-US" sz="1150" dirty="0"/>
          </a:p>
        </p:txBody>
      </p:sp>
      <p:sp>
        <p:nvSpPr>
          <p:cNvPr id="13" name="Text 9"/>
          <p:cNvSpPr/>
          <p:nvPr/>
        </p:nvSpPr>
        <p:spPr>
          <a:xfrm>
            <a:off x="3282696"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1050" dirty="0"/>
          </a:p>
        </p:txBody>
      </p:sp>
      <p:sp>
        <p:nvSpPr>
          <p:cNvPr id="14" name="Shape 10"/>
          <p:cNvSpPr/>
          <p:nvPr/>
        </p:nvSpPr>
        <p:spPr>
          <a:xfrm>
            <a:off x="6025896"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25896" y="777240"/>
            <a:ext cx="2706624" cy="658368"/>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63056" y="905256"/>
            <a:ext cx="384048" cy="384048"/>
          </a:xfrm>
          <a:prstGeom prst="rect">
            <a:avLst/>
          </a:prstGeom>
        </p:spPr>
      </p:pic>
      <p:sp>
        <p:nvSpPr>
          <p:cNvPr id="17" name="Text 12"/>
          <p:cNvSpPr/>
          <p:nvPr/>
        </p:nvSpPr>
        <p:spPr>
          <a:xfrm>
            <a:off x="6620256"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Anomaly</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Detection</a:t>
            </a:r>
            <a:endParaRPr lang="en-US" sz="1150" dirty="0"/>
          </a:p>
        </p:txBody>
      </p:sp>
      <p:sp>
        <p:nvSpPr>
          <p:cNvPr id="18" name="Text 13"/>
          <p:cNvSpPr/>
          <p:nvPr/>
        </p:nvSpPr>
        <p:spPr>
          <a:xfrm>
            <a:off x="6135624"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1050" dirty="0"/>
          </a:p>
        </p:txBody>
      </p:sp>
      <p:sp>
        <p:nvSpPr>
          <p:cNvPr id="19" name="Shape 14"/>
          <p:cNvSpPr/>
          <p:nvPr/>
        </p:nvSpPr>
        <p:spPr>
          <a:xfrm>
            <a:off x="320040" y="2953512"/>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320040" y="2953512"/>
            <a:ext cx="2706624" cy="658368"/>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57200" y="3081528"/>
            <a:ext cx="384048" cy="384048"/>
          </a:xfrm>
          <a:prstGeom prst="rect">
            <a:avLst/>
          </a:prstGeom>
        </p:spPr>
      </p:pic>
      <p:sp>
        <p:nvSpPr>
          <p:cNvPr id="22" name="Text 16"/>
          <p:cNvSpPr/>
          <p:nvPr/>
        </p:nvSpPr>
        <p:spPr>
          <a:xfrm>
            <a:off x="914400"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Call Report AI</a:t>
            </a:r>
            <a:endParaRPr lang="en-US" sz="1150" dirty="0"/>
          </a:p>
        </p:txBody>
      </p:sp>
      <p:sp>
        <p:nvSpPr>
          <p:cNvPr id="23" name="Text 17"/>
          <p:cNvSpPr/>
          <p:nvPr/>
        </p:nvSpPr>
        <p:spPr>
          <a:xfrm>
            <a:off x="429768" y="3685032"/>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Claude-powered NCUA 5300 intelligence: market pulse, NL Q&amp;A, and peer benchmarking for CU executives. In development — Aug/Sept 2026 launch.</a:t>
            </a:r>
            <a:endParaRPr lang="en-US" sz="1050" dirty="0"/>
          </a:p>
        </p:txBody>
      </p:sp>
      <p:sp>
        <p:nvSpPr>
          <p:cNvPr id="24" name="Shape 18"/>
          <p:cNvSpPr/>
          <p:nvPr/>
        </p:nvSpPr>
        <p:spPr>
          <a:xfrm>
            <a:off x="3172968" y="2953512"/>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72968" y="2953512"/>
            <a:ext cx="2706624" cy="658368"/>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81528"/>
            <a:ext cx="384048" cy="384048"/>
          </a:xfrm>
          <a:prstGeom prst="rect">
            <a:avLst/>
          </a:prstGeom>
        </p:spPr>
      </p:pic>
      <p:sp>
        <p:nvSpPr>
          <p:cNvPr id="27" name="Text 20"/>
          <p:cNvSpPr/>
          <p:nvPr/>
        </p:nvSpPr>
        <p:spPr>
          <a:xfrm>
            <a:off x="3767328"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 Opening</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Lifetime Value</a:t>
            </a:r>
            <a:endParaRPr lang="en-US" sz="1150" dirty="0"/>
          </a:p>
        </p:txBody>
      </p:sp>
      <p:sp>
        <p:nvSpPr>
          <p:cNvPr id="28" name="Text 21"/>
          <p:cNvSpPr/>
          <p:nvPr/>
        </p:nvSpPr>
        <p:spPr>
          <a:xfrm>
            <a:off x="3282696" y="3685032"/>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Score new accounts by predicted LTV at opening to optimize onboarding resources and cross-sell sequencing.</a:t>
            </a:r>
            <a:endParaRPr lang="en-US" sz="1050" dirty="0"/>
          </a:p>
        </p:txBody>
      </p:sp>
      <p:sp>
        <p:nvSpPr>
          <p:cNvPr id="29" name="Shape 22"/>
          <p:cNvSpPr/>
          <p:nvPr/>
        </p:nvSpPr>
        <p:spPr>
          <a:xfrm>
            <a:off x="6025896" y="2953512"/>
            <a:ext cx="2706624" cy="196596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30" name="Text 23"/>
          <p:cNvSpPr/>
          <p:nvPr/>
        </p:nvSpPr>
        <p:spPr>
          <a:xfrm>
            <a:off x="6117336" y="3063240"/>
            <a:ext cx="2523744" cy="749808"/>
          </a:xfrm>
          <a:prstGeom prst="rect">
            <a:avLst/>
          </a:prstGeom>
          <a:noFill/>
          <a:ln/>
        </p:spPr>
        <p:txBody>
          <a:bodyPr wrap="square" lIns="0" tIns="0" rIns="0" bIns="0" rtlCol="0" anchor="ctr"/>
          <a:lstStyle/>
          <a:p>
            <a:pPr algn="ctr" indent="0" marL="0">
              <a:buNone/>
            </a:pPr>
            <a:r>
              <a:rPr lang="en-US" sz="5200" b="1" dirty="0">
                <a:solidFill>
                  <a:srgbClr val="76DCFD"/>
                </a:solidFill>
                <a:latin typeface="Calibri" pitchFamily="34" charset="0"/>
                <a:ea typeface="Calibri" pitchFamily="34" charset="-122"/>
                <a:cs typeface="Calibri" pitchFamily="34" charset="-120"/>
              </a:rPr>
              <a:t>+8</a:t>
            </a:r>
            <a:endParaRPr lang="en-US" sz="5200" dirty="0"/>
          </a:p>
        </p:txBody>
      </p:sp>
      <p:sp>
        <p:nvSpPr>
          <p:cNvPr id="31" name="Text 24"/>
          <p:cNvSpPr/>
          <p:nvPr/>
        </p:nvSpPr>
        <p:spPr>
          <a:xfrm>
            <a:off x="6117336" y="3794760"/>
            <a:ext cx="2523744"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Horizon Pipeline</a:t>
            </a:r>
            <a:endParaRPr lang="en-US" sz="1200" dirty="0"/>
          </a:p>
        </p:txBody>
      </p:sp>
      <p:sp>
        <p:nvSpPr>
          <p:cNvPr id="32" name="Text 25"/>
          <p:cNvSpPr/>
          <p:nvPr/>
        </p:nvSpPr>
        <p:spPr>
          <a:xfrm>
            <a:off x="6117336" y="4123944"/>
            <a:ext cx="2523744" cy="640080"/>
          </a:xfrm>
          <a:prstGeom prst="rect">
            <a:avLst/>
          </a:prstGeom>
          <a:noFill/>
          <a:ln/>
        </p:spPr>
        <p:txBody>
          <a:bodyPr wrap="square" lIns="0" tIns="0" rIns="0" bIns="0" rtlCol="0" anchor="ctr"/>
          <a:lstStyle/>
          <a:p>
            <a:pPr algn="ctr" indent="0" marL="0">
              <a:buNone/>
            </a:pPr>
            <a:r>
              <a:rPr lang="en-US" sz="1000" dirty="0">
                <a:solidFill>
                  <a:srgbClr val="E7ECF0"/>
                </a:solidFill>
                <a:latin typeface="Calibri" pitchFamily="34" charset="0"/>
                <a:ea typeface="Calibri" pitchFamily="34" charset="-122"/>
                <a:cs typeface="Calibri" pitchFamily="34" charset="-120"/>
              </a:rPr>
              <a:t>Additional AI use cases</a:t>
            </a:r>
            <a:endParaRPr lang="en-US" sz="1000" dirty="0"/>
          </a:p>
          <a:p>
            <a:pPr algn="ctr" indent="0" marL="0">
              <a:buNone/>
            </a:pPr>
            <a:r>
              <a:rPr lang="en-US" sz="1000" dirty="0">
                <a:solidFill>
                  <a:srgbClr val="E7ECF0"/>
                </a:solidFill>
                <a:latin typeface="Calibri" pitchFamily="34" charset="0"/>
                <a:ea typeface="Calibri" pitchFamily="34" charset="-122"/>
                <a:cs typeface="Calibri" pitchFamily="34" charset="-120"/>
              </a:rPr>
              <a:t>identified for Year 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Attrition / Churn Mediation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customer/member base annually to attrition. Without predictive capability embedded in their platform, FI staff can only react after the account is already closing — when outreach success rates drop below 20%.</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at-risk customers/members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lack behavioral risk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outreach is expensive with low conversion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High cost-to-retain vs. cost-to-acquire imbalance</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survival analysis + gradient boosted model (AutoGluon / CatBoost) embedded in the JH platform — scoring every customer and member weekly on churn probability using behavioral signals from transaction, login, product, and call data.</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AutoGluon ensemble + CatBoost scoring pipeline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values for banker-facing explainability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trigger → JH CRM / outreach workflows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model refresh with drift monitoring alerts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Q3 2026</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Q3 2026</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Q2 2027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Multiplied across 8,000+ JH-powered institutions,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475488"/>
          </a:xfrm>
          <a:prstGeom prst="rect">
            <a:avLst/>
          </a:prstGeom>
          <a:solidFill>
            <a:srgbClr val="FFFFFF"/>
          </a:solidFill>
          <a:ln w="12700">
            <a:solidFill>
              <a:srgbClr val="E7ECF0"/>
            </a:solidFill>
            <a:prstDash val="solid"/>
          </a:ln>
        </p:spPr>
      </p:sp>
      <p:sp>
        <p:nvSpPr>
          <p:cNvPr id="10" name="Shape 8"/>
          <p:cNvSpPr/>
          <p:nvPr/>
        </p:nvSpPr>
        <p:spPr>
          <a:xfrm>
            <a:off x="365760" y="1627632"/>
            <a:ext cx="91440" cy="475488"/>
          </a:xfrm>
          <a:prstGeom prst="rect">
            <a:avLst/>
          </a:prstGeom>
          <a:solidFill>
            <a:srgbClr val="085CE5"/>
          </a:solidFill>
          <a:ln w="12700">
            <a:solidFill>
              <a:srgbClr val="085CE5"/>
            </a:solidFill>
            <a:prstDash val="solid"/>
          </a:ln>
        </p:spPr>
      </p:sp>
      <p:sp>
        <p:nvSpPr>
          <p:cNvPr id="11" name="Text 9"/>
          <p:cNvSpPr/>
          <p:nvPr/>
        </p:nvSpPr>
        <p:spPr>
          <a:xfrm>
            <a:off x="502920" y="166420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Attrition / Churn Mediation</a:t>
            </a:r>
            <a:endParaRPr lang="en-US" sz="1050" dirty="0"/>
          </a:p>
        </p:txBody>
      </p:sp>
      <p:sp>
        <p:nvSpPr>
          <p:cNvPr id="12" name="Text 10"/>
          <p:cNvSpPr/>
          <p:nvPr/>
        </p:nvSpPr>
        <p:spPr>
          <a:xfrm>
            <a:off x="3108960" y="166420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$1–3M / year</a:t>
            </a:r>
            <a:endParaRPr lang="en-US" sz="1050" dirty="0"/>
          </a:p>
        </p:txBody>
      </p:sp>
      <p:sp>
        <p:nvSpPr>
          <p:cNvPr id="13" name="Text 11"/>
          <p:cNvSpPr/>
          <p:nvPr/>
        </p:nvSpPr>
        <p:spPr>
          <a:xfrm>
            <a:off x="5029200" y="166420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15–25% churn reduction × avg. customer revenue of $400–$600/yr</a:t>
            </a:r>
            <a:endParaRPr lang="en-US" sz="950" dirty="0"/>
          </a:p>
        </p:txBody>
      </p:sp>
      <p:sp>
        <p:nvSpPr>
          <p:cNvPr id="14" name="Shape 12"/>
          <p:cNvSpPr/>
          <p:nvPr/>
        </p:nvSpPr>
        <p:spPr>
          <a:xfrm>
            <a:off x="365760" y="2130552"/>
            <a:ext cx="8412480" cy="475488"/>
          </a:xfrm>
          <a:prstGeom prst="rect">
            <a:avLst/>
          </a:prstGeom>
          <a:solidFill>
            <a:srgbClr val="E7ECF0"/>
          </a:solidFill>
          <a:ln w="12700">
            <a:solidFill>
              <a:srgbClr val="E7ECF0"/>
            </a:solidFill>
            <a:prstDash val="solid"/>
          </a:ln>
        </p:spPr>
      </p:sp>
      <p:sp>
        <p:nvSpPr>
          <p:cNvPr id="15" name="Shape 13"/>
          <p:cNvSpPr/>
          <p:nvPr/>
        </p:nvSpPr>
        <p:spPr>
          <a:xfrm>
            <a:off x="365760" y="2130552"/>
            <a:ext cx="91440" cy="475488"/>
          </a:xfrm>
          <a:prstGeom prst="rect">
            <a:avLst/>
          </a:prstGeom>
          <a:solidFill>
            <a:srgbClr val="06185F"/>
          </a:solidFill>
          <a:ln w="12700">
            <a:solidFill>
              <a:srgbClr val="06185F"/>
            </a:solidFill>
            <a:prstDash val="solid"/>
          </a:ln>
        </p:spPr>
      </p:sp>
      <p:sp>
        <p:nvSpPr>
          <p:cNvPr id="16" name="Text 14"/>
          <p:cNvSpPr/>
          <p:nvPr/>
        </p:nvSpPr>
        <p:spPr>
          <a:xfrm>
            <a:off x="502920" y="216712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Zelle Memo Intelligence</a:t>
            </a:r>
            <a:endParaRPr lang="en-US" sz="1050" dirty="0"/>
          </a:p>
        </p:txBody>
      </p:sp>
      <p:sp>
        <p:nvSpPr>
          <p:cNvPr id="17" name="Text 15"/>
          <p:cNvSpPr/>
          <p:nvPr/>
        </p:nvSpPr>
        <p:spPr>
          <a:xfrm>
            <a:off x="3108960" y="216712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$250K–$600K / year</a:t>
            </a:r>
            <a:endParaRPr lang="en-US" sz="1050" dirty="0"/>
          </a:p>
        </p:txBody>
      </p:sp>
      <p:sp>
        <p:nvSpPr>
          <p:cNvPr id="18" name="Text 16"/>
          <p:cNvSpPr/>
          <p:nvPr/>
        </p:nvSpPr>
        <p:spPr>
          <a:xfrm>
            <a:off x="5029200" y="216712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950" dirty="0"/>
          </a:p>
        </p:txBody>
      </p:sp>
      <p:sp>
        <p:nvSpPr>
          <p:cNvPr id="19" name="Shape 17"/>
          <p:cNvSpPr/>
          <p:nvPr/>
        </p:nvSpPr>
        <p:spPr>
          <a:xfrm>
            <a:off x="365760" y="2633472"/>
            <a:ext cx="8412480" cy="475488"/>
          </a:xfrm>
          <a:prstGeom prst="rect">
            <a:avLst/>
          </a:prstGeom>
          <a:solidFill>
            <a:srgbClr val="FFFFFF"/>
          </a:solidFill>
          <a:ln w="12700">
            <a:solidFill>
              <a:srgbClr val="E7ECF0"/>
            </a:solidFill>
            <a:prstDash val="solid"/>
          </a:ln>
        </p:spPr>
      </p:sp>
      <p:sp>
        <p:nvSpPr>
          <p:cNvPr id="20" name="Shape 18"/>
          <p:cNvSpPr/>
          <p:nvPr/>
        </p:nvSpPr>
        <p:spPr>
          <a:xfrm>
            <a:off x="365760" y="2633472"/>
            <a:ext cx="91440" cy="475488"/>
          </a:xfrm>
          <a:prstGeom prst="rect">
            <a:avLst/>
          </a:prstGeom>
          <a:solidFill>
            <a:srgbClr val="073FA8"/>
          </a:solidFill>
          <a:ln w="12700">
            <a:solidFill>
              <a:srgbClr val="073FA8"/>
            </a:solidFill>
            <a:prstDash val="solid"/>
          </a:ln>
        </p:spPr>
      </p:sp>
      <p:sp>
        <p:nvSpPr>
          <p:cNvPr id="21" name="Text 19"/>
          <p:cNvSpPr/>
          <p:nvPr/>
        </p:nvSpPr>
        <p:spPr>
          <a:xfrm>
            <a:off x="502920" y="267004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Anomaly Detection</a:t>
            </a:r>
            <a:endParaRPr lang="en-US" sz="1050" dirty="0"/>
          </a:p>
        </p:txBody>
      </p:sp>
      <p:sp>
        <p:nvSpPr>
          <p:cNvPr id="22" name="Text 20"/>
          <p:cNvSpPr/>
          <p:nvPr/>
        </p:nvSpPr>
        <p:spPr>
          <a:xfrm>
            <a:off x="3108960" y="267004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$1–2M / year</a:t>
            </a:r>
            <a:endParaRPr lang="en-US" sz="1050" dirty="0"/>
          </a:p>
        </p:txBody>
      </p:sp>
      <p:sp>
        <p:nvSpPr>
          <p:cNvPr id="23" name="Text 21"/>
          <p:cNvSpPr/>
          <p:nvPr/>
        </p:nvSpPr>
        <p:spPr>
          <a:xfrm>
            <a:off x="5029200" y="267004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950" dirty="0"/>
          </a:p>
        </p:txBody>
      </p:sp>
      <p:sp>
        <p:nvSpPr>
          <p:cNvPr id="24" name="Shape 22"/>
          <p:cNvSpPr/>
          <p:nvPr/>
        </p:nvSpPr>
        <p:spPr>
          <a:xfrm>
            <a:off x="365760" y="3136392"/>
            <a:ext cx="8412480" cy="475488"/>
          </a:xfrm>
          <a:prstGeom prst="rect">
            <a:avLst/>
          </a:prstGeom>
          <a:solidFill>
            <a:srgbClr val="E7ECF0"/>
          </a:solidFill>
          <a:ln w="12700">
            <a:solidFill>
              <a:srgbClr val="E7ECF0"/>
            </a:solidFill>
            <a:prstDash val="solid"/>
          </a:ln>
        </p:spPr>
      </p:sp>
      <p:sp>
        <p:nvSpPr>
          <p:cNvPr id="25" name="Shape 23"/>
          <p:cNvSpPr/>
          <p:nvPr/>
        </p:nvSpPr>
        <p:spPr>
          <a:xfrm>
            <a:off x="365760" y="3136392"/>
            <a:ext cx="91440" cy="475488"/>
          </a:xfrm>
          <a:prstGeom prst="rect">
            <a:avLst/>
          </a:prstGeom>
          <a:solidFill>
            <a:srgbClr val="575A5D"/>
          </a:solidFill>
          <a:ln w="12700">
            <a:solidFill>
              <a:srgbClr val="575A5D"/>
            </a:solidFill>
            <a:prstDash val="solid"/>
          </a:ln>
        </p:spPr>
      </p:sp>
      <p:sp>
        <p:nvSpPr>
          <p:cNvPr id="26" name="Text 24"/>
          <p:cNvSpPr/>
          <p:nvPr/>
        </p:nvSpPr>
        <p:spPr>
          <a:xfrm>
            <a:off x="502920" y="317296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Call Report AI</a:t>
            </a:r>
            <a:endParaRPr lang="en-US" sz="1050" dirty="0"/>
          </a:p>
        </p:txBody>
      </p:sp>
      <p:sp>
        <p:nvSpPr>
          <p:cNvPr id="27" name="Text 25"/>
          <p:cNvSpPr/>
          <p:nvPr/>
        </p:nvSpPr>
        <p:spPr>
          <a:xfrm>
            <a:off x="3108960" y="317296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$100–$300K / year</a:t>
            </a:r>
            <a:endParaRPr lang="en-US" sz="1050" dirty="0"/>
          </a:p>
        </p:txBody>
      </p:sp>
      <p:sp>
        <p:nvSpPr>
          <p:cNvPr id="28" name="Text 26"/>
          <p:cNvSpPr/>
          <p:nvPr/>
        </p:nvSpPr>
        <p:spPr>
          <a:xfrm>
            <a:off x="5029200" y="317296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950" dirty="0"/>
          </a:p>
        </p:txBody>
      </p:sp>
      <p:sp>
        <p:nvSpPr>
          <p:cNvPr id="29" name="Shape 27"/>
          <p:cNvSpPr/>
          <p:nvPr/>
        </p:nvSpPr>
        <p:spPr>
          <a:xfrm>
            <a:off x="365760" y="3639312"/>
            <a:ext cx="8412480" cy="475488"/>
          </a:xfrm>
          <a:prstGeom prst="rect">
            <a:avLst/>
          </a:prstGeom>
          <a:solidFill>
            <a:srgbClr val="FFFFFF"/>
          </a:solidFill>
          <a:ln w="12700">
            <a:solidFill>
              <a:srgbClr val="E7ECF0"/>
            </a:solidFill>
            <a:prstDash val="solid"/>
          </a:ln>
        </p:spPr>
      </p:sp>
      <p:sp>
        <p:nvSpPr>
          <p:cNvPr id="30" name="Shape 28"/>
          <p:cNvSpPr/>
          <p:nvPr/>
        </p:nvSpPr>
        <p:spPr>
          <a:xfrm>
            <a:off x="365760" y="3639312"/>
            <a:ext cx="91440" cy="475488"/>
          </a:xfrm>
          <a:prstGeom prst="rect">
            <a:avLst/>
          </a:prstGeom>
          <a:solidFill>
            <a:srgbClr val="0B68D4"/>
          </a:solidFill>
          <a:ln w="12700">
            <a:solidFill>
              <a:srgbClr val="0B68D4"/>
            </a:solidFill>
            <a:prstDash val="solid"/>
          </a:ln>
        </p:spPr>
      </p:sp>
      <p:sp>
        <p:nvSpPr>
          <p:cNvPr id="31" name="Text 29"/>
          <p:cNvSpPr/>
          <p:nvPr/>
        </p:nvSpPr>
        <p:spPr>
          <a:xfrm>
            <a:off x="502920" y="367588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Account Opening LTV</a:t>
            </a:r>
            <a:endParaRPr lang="en-US" sz="1050" dirty="0"/>
          </a:p>
        </p:txBody>
      </p:sp>
      <p:sp>
        <p:nvSpPr>
          <p:cNvPr id="32" name="Text 30"/>
          <p:cNvSpPr/>
          <p:nvPr/>
        </p:nvSpPr>
        <p:spPr>
          <a:xfrm>
            <a:off x="3108960" y="367588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$500K–$1.5M / year</a:t>
            </a:r>
            <a:endParaRPr lang="en-US" sz="1050" dirty="0"/>
          </a:p>
        </p:txBody>
      </p:sp>
      <p:sp>
        <p:nvSpPr>
          <p:cNvPr id="33" name="Text 31"/>
          <p:cNvSpPr/>
          <p:nvPr/>
        </p:nvSpPr>
        <p:spPr>
          <a:xfrm>
            <a:off x="5029200" y="367588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950" dirty="0"/>
          </a:p>
        </p:txBody>
      </p:sp>
      <p:sp>
        <p:nvSpPr>
          <p:cNvPr id="34" name="Shape 32"/>
          <p:cNvSpPr/>
          <p:nvPr/>
        </p:nvSpPr>
        <p:spPr>
          <a:xfrm>
            <a:off x="365760" y="4142232"/>
            <a:ext cx="8412480" cy="475488"/>
          </a:xfrm>
          <a:prstGeom prst="rect">
            <a:avLst/>
          </a:prstGeom>
          <a:solidFill>
            <a:srgbClr val="06185F"/>
          </a:solidFill>
          <a:ln w="12700">
            <a:solidFill>
              <a:srgbClr val="06185F"/>
            </a:solidFill>
            <a:prstDash val="solid"/>
          </a:ln>
        </p:spPr>
      </p:sp>
      <p:sp>
        <p:nvSpPr>
          <p:cNvPr id="35" name="Text 33"/>
          <p:cNvSpPr/>
          <p:nvPr/>
        </p:nvSpPr>
        <p:spPr>
          <a:xfrm>
            <a:off x="502920" y="4178808"/>
            <a:ext cx="2514600" cy="40233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COMBINED POTENTIAL VALUE PER FI</a:t>
            </a:r>
            <a:endParaRPr lang="en-US" sz="1050" dirty="0"/>
          </a:p>
        </p:txBody>
      </p:sp>
      <p:sp>
        <p:nvSpPr>
          <p:cNvPr id="36" name="Text 34"/>
          <p:cNvSpPr/>
          <p:nvPr/>
        </p:nvSpPr>
        <p:spPr>
          <a:xfrm>
            <a:off x="3108960" y="4178808"/>
            <a:ext cx="1783080" cy="402336"/>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$3–7.5M / year</a:t>
            </a:r>
            <a:endParaRPr lang="en-US" sz="1100" dirty="0"/>
          </a:p>
        </p:txBody>
      </p:sp>
      <p:sp>
        <p:nvSpPr>
          <p:cNvPr id="37" name="Text 35"/>
          <p:cNvSpPr/>
          <p:nvPr/>
        </p:nvSpPr>
        <p:spPr>
          <a:xfrm>
            <a:off x="5029200" y="4178808"/>
            <a:ext cx="3657600" cy="402336"/>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5 Phase 1 applications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Phase 1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371600"/>
            <a:ext cx="8732520" cy="621792"/>
          </a:xfrm>
          <a:prstGeom prst="rect">
            <a:avLst/>
          </a:prstGeom>
          <a:solidFill>
            <a:srgbClr val="FFFFFF"/>
          </a:solidFill>
          <a:ln w="12700">
            <a:solidFill>
              <a:srgbClr val="E7ECF0"/>
            </a:solidFill>
            <a:prstDash val="solid"/>
          </a:ln>
        </p:spPr>
      </p:sp>
      <p:sp>
        <p:nvSpPr>
          <p:cNvPr id="11" name="Shape 9"/>
          <p:cNvSpPr/>
          <p:nvPr/>
        </p:nvSpPr>
        <p:spPr>
          <a:xfrm>
            <a:off x="320040" y="1371600"/>
            <a:ext cx="73152" cy="621792"/>
          </a:xfrm>
          <a:prstGeom prst="rect">
            <a:avLst/>
          </a:prstGeom>
          <a:solidFill>
            <a:srgbClr val="085CE5"/>
          </a:solidFill>
          <a:ln w="12700">
            <a:solidFill>
              <a:srgbClr val="085CE5"/>
            </a:solidFill>
            <a:prstDash val="solid"/>
          </a:ln>
        </p:spPr>
      </p:sp>
      <p:sp>
        <p:nvSpPr>
          <p:cNvPr id="12" name="Text 10"/>
          <p:cNvSpPr/>
          <p:nvPr/>
        </p:nvSpPr>
        <p:spPr>
          <a:xfrm>
            <a:off x="475488" y="1435608"/>
            <a:ext cx="2971800" cy="21945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Attrition / Churn Mediation</a:t>
            </a:r>
            <a:endParaRPr lang="en-US" sz="1050" dirty="0"/>
          </a:p>
        </p:txBody>
      </p:sp>
      <p:sp>
        <p:nvSpPr>
          <p:cNvPr id="13" name="Text 11"/>
          <p:cNvSpPr/>
          <p:nvPr/>
        </p:nvSpPr>
        <p:spPr>
          <a:xfrm>
            <a:off x="475488" y="1673352"/>
            <a:ext cx="2971800" cy="237744"/>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ML churn scores + proactive retention triggers per member</a:t>
            </a:r>
            <a:endParaRPr lang="en-US" sz="850" dirty="0"/>
          </a:p>
        </p:txBody>
      </p:sp>
      <p:sp>
        <p:nvSpPr>
          <p:cNvPr id="14" name="Text 12"/>
          <p:cNvSpPr/>
          <p:nvPr/>
        </p:nvSpPr>
        <p:spPr>
          <a:xfrm>
            <a:off x="3520440" y="1444752"/>
            <a:ext cx="2743200" cy="475488"/>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850" dirty="0"/>
          </a:p>
        </p:txBody>
      </p:sp>
      <p:sp>
        <p:nvSpPr>
          <p:cNvPr id="15" name="Text 13"/>
          <p:cNvSpPr/>
          <p:nvPr/>
        </p:nvSpPr>
        <p:spPr>
          <a:xfrm>
            <a:off x="6355080" y="1463040"/>
            <a:ext cx="1417320" cy="329184"/>
          </a:xfrm>
          <a:prstGeom prst="rect">
            <a:avLst/>
          </a:prstGeom>
          <a:noFill/>
          <a:ln/>
        </p:spPr>
        <p:txBody>
          <a:bodyPr wrap="square" lIns="0" tIns="0" rIns="0" bIns="0" rtlCol="0" anchor="ctr"/>
          <a:lstStyle/>
          <a:p>
            <a:pPr algn="ctr" indent="0" marL="0">
              <a:buNone/>
            </a:pPr>
            <a:r>
              <a:rPr lang="en-US" sz="1300" b="1" dirty="0">
                <a:solidFill>
                  <a:srgbClr val="085CE5"/>
                </a:solidFill>
                <a:latin typeface="Calibri" pitchFamily="34" charset="0"/>
                <a:ea typeface="Calibri" pitchFamily="34" charset="-122"/>
                <a:cs typeface="Calibri" pitchFamily="34" charset="-120"/>
              </a:rPr>
              <a:t>$800 – $2,500</a:t>
            </a:r>
            <a:endParaRPr lang="en-US" sz="1300" dirty="0"/>
          </a:p>
        </p:txBody>
      </p:sp>
      <p:sp>
        <p:nvSpPr>
          <p:cNvPr id="16" name="Text 14"/>
          <p:cNvSpPr/>
          <p:nvPr/>
        </p:nvSpPr>
        <p:spPr>
          <a:xfrm>
            <a:off x="6355080" y="1801368"/>
            <a:ext cx="1417320" cy="146304"/>
          </a:xfrm>
          <a:prstGeom prst="rect">
            <a:avLst/>
          </a:prstGeom>
          <a:noFill/>
          <a:ln/>
        </p:spPr>
        <p:txBody>
          <a:bodyPr wrap="square" lIns="0" tIns="0" rIns="0" bIns="0" rtlCol="0" anchor="ctr"/>
          <a:lstStyle/>
          <a:p>
            <a:pPr algn="ctr" indent="0" marL="0">
              <a:buNone/>
            </a:pPr>
            <a:r>
              <a:rPr lang="en-US" sz="750" dirty="0">
                <a:solidFill>
                  <a:srgbClr val="B6BBC0"/>
                </a:solidFill>
                <a:latin typeface="Calibri" pitchFamily="34" charset="0"/>
                <a:ea typeface="Calibri" pitchFamily="34" charset="-122"/>
                <a:cs typeface="Calibri" pitchFamily="34" charset="-120"/>
              </a:rPr>
              <a:t>/ month per FI</a:t>
            </a:r>
            <a:endParaRPr lang="en-US" sz="750" dirty="0"/>
          </a:p>
        </p:txBody>
      </p:sp>
      <p:sp>
        <p:nvSpPr>
          <p:cNvPr id="17" name="Shape 15"/>
          <p:cNvSpPr/>
          <p:nvPr/>
        </p:nvSpPr>
        <p:spPr>
          <a:xfrm>
            <a:off x="7845552" y="1554480"/>
            <a:ext cx="1170432" cy="256032"/>
          </a:xfrm>
          <a:prstGeom prst="roundRect">
            <a:avLst>
              <a:gd name="adj" fmla="val 14286"/>
            </a:avLst>
          </a:prstGeom>
          <a:solidFill>
            <a:srgbClr val="E8F7F7"/>
          </a:solidFill>
          <a:ln w="12700">
            <a:solidFill>
              <a:srgbClr val="085CE5"/>
            </a:solidFill>
            <a:prstDash val="solid"/>
          </a:ln>
        </p:spPr>
      </p:sp>
      <p:sp>
        <p:nvSpPr>
          <p:cNvPr id="18" name="Text 16"/>
          <p:cNvSpPr/>
          <p:nvPr/>
        </p:nvSpPr>
        <p:spPr>
          <a:xfrm>
            <a:off x="7845552" y="1554480"/>
            <a:ext cx="1170432" cy="256032"/>
          </a:xfrm>
          <a:prstGeom prst="rect">
            <a:avLst/>
          </a:prstGeom>
          <a:noFill/>
          <a:ln/>
        </p:spPr>
        <p:txBody>
          <a:bodyPr wrap="square" lIns="0" tIns="0" rIns="0" bIns="0" rtlCol="0" anchor="ctr"/>
          <a:lstStyle/>
          <a:p>
            <a:pPr algn="ctr" indent="0" marL="0">
              <a:buNone/>
            </a:pPr>
            <a:r>
              <a:rPr lang="en-US" sz="750" dirty="0">
                <a:solidFill>
                  <a:srgbClr val="085CE5"/>
                </a:solidFill>
                <a:latin typeface="Calibri" pitchFamily="34" charset="0"/>
                <a:ea typeface="Calibri" pitchFamily="34" charset="-122"/>
                <a:cs typeface="Calibri" pitchFamily="34" charset="-120"/>
              </a:rPr>
              <a:t>Included in Intelligence+</a:t>
            </a:r>
            <a:endParaRPr lang="en-US" sz="750" dirty="0"/>
          </a:p>
        </p:txBody>
      </p:sp>
      <p:sp>
        <p:nvSpPr>
          <p:cNvPr id="19" name="Shape 17"/>
          <p:cNvSpPr/>
          <p:nvPr/>
        </p:nvSpPr>
        <p:spPr>
          <a:xfrm>
            <a:off x="320040" y="2048256"/>
            <a:ext cx="8732520" cy="621792"/>
          </a:xfrm>
          <a:prstGeom prst="rect">
            <a:avLst/>
          </a:prstGeom>
          <a:solidFill>
            <a:srgbClr val="E7ECF0"/>
          </a:solidFill>
          <a:ln w="12700">
            <a:solidFill>
              <a:srgbClr val="E7ECF0"/>
            </a:solidFill>
            <a:prstDash val="solid"/>
          </a:ln>
        </p:spPr>
      </p:sp>
      <p:sp>
        <p:nvSpPr>
          <p:cNvPr id="20" name="Shape 18"/>
          <p:cNvSpPr/>
          <p:nvPr/>
        </p:nvSpPr>
        <p:spPr>
          <a:xfrm>
            <a:off x="320040" y="2048256"/>
            <a:ext cx="73152" cy="621792"/>
          </a:xfrm>
          <a:prstGeom prst="rect">
            <a:avLst/>
          </a:prstGeom>
          <a:solidFill>
            <a:srgbClr val="073FA8"/>
          </a:solidFill>
          <a:ln w="12700">
            <a:solidFill>
              <a:srgbClr val="073FA8"/>
            </a:solidFill>
            <a:prstDash val="solid"/>
          </a:ln>
        </p:spPr>
      </p:sp>
      <p:sp>
        <p:nvSpPr>
          <p:cNvPr id="21" name="Text 19"/>
          <p:cNvSpPr/>
          <p:nvPr/>
        </p:nvSpPr>
        <p:spPr>
          <a:xfrm>
            <a:off x="475488" y="2112264"/>
            <a:ext cx="2971800" cy="21945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Zelle Memo Intelligence</a:t>
            </a:r>
            <a:endParaRPr lang="en-US" sz="1050" dirty="0"/>
          </a:p>
        </p:txBody>
      </p:sp>
      <p:sp>
        <p:nvSpPr>
          <p:cNvPr id="22" name="Text 20"/>
          <p:cNvSpPr/>
          <p:nvPr/>
        </p:nvSpPr>
        <p:spPr>
          <a:xfrm>
            <a:off x="475488" y="2350008"/>
            <a:ext cx="2971800" cy="237744"/>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NLP + compliance risk scoring on every Zelle transaction</a:t>
            </a:r>
            <a:endParaRPr lang="en-US" sz="850" dirty="0"/>
          </a:p>
        </p:txBody>
      </p:sp>
      <p:sp>
        <p:nvSpPr>
          <p:cNvPr id="23" name="Text 21"/>
          <p:cNvSpPr/>
          <p:nvPr/>
        </p:nvSpPr>
        <p:spPr>
          <a:xfrm>
            <a:off x="3520440" y="2121408"/>
            <a:ext cx="2743200" cy="475488"/>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850" dirty="0"/>
          </a:p>
        </p:txBody>
      </p:sp>
      <p:sp>
        <p:nvSpPr>
          <p:cNvPr id="24" name="Text 22"/>
          <p:cNvSpPr/>
          <p:nvPr/>
        </p:nvSpPr>
        <p:spPr>
          <a:xfrm>
            <a:off x="6355080" y="2139696"/>
            <a:ext cx="1417320" cy="329184"/>
          </a:xfrm>
          <a:prstGeom prst="rect">
            <a:avLst/>
          </a:prstGeom>
          <a:noFill/>
          <a:ln/>
        </p:spPr>
        <p:txBody>
          <a:bodyPr wrap="square" lIns="0" tIns="0" rIns="0" bIns="0" rtlCol="0" anchor="ctr"/>
          <a:lstStyle/>
          <a:p>
            <a:pPr algn="ctr" indent="0" marL="0">
              <a:buNone/>
            </a:pPr>
            <a:r>
              <a:rPr lang="en-US" sz="1300" b="1" dirty="0">
                <a:solidFill>
                  <a:srgbClr val="085CE5"/>
                </a:solidFill>
                <a:latin typeface="Calibri" pitchFamily="34" charset="0"/>
                <a:ea typeface="Calibri" pitchFamily="34" charset="-122"/>
                <a:cs typeface="Calibri" pitchFamily="34" charset="-120"/>
              </a:rPr>
              <a:t>$400 – $1,200</a:t>
            </a:r>
            <a:endParaRPr lang="en-US" sz="1300" dirty="0"/>
          </a:p>
        </p:txBody>
      </p:sp>
      <p:sp>
        <p:nvSpPr>
          <p:cNvPr id="25" name="Text 23"/>
          <p:cNvSpPr/>
          <p:nvPr/>
        </p:nvSpPr>
        <p:spPr>
          <a:xfrm>
            <a:off x="6355080" y="2478024"/>
            <a:ext cx="1417320" cy="146304"/>
          </a:xfrm>
          <a:prstGeom prst="rect">
            <a:avLst/>
          </a:prstGeom>
          <a:noFill/>
          <a:ln/>
        </p:spPr>
        <p:txBody>
          <a:bodyPr wrap="square" lIns="0" tIns="0" rIns="0" bIns="0" rtlCol="0" anchor="ctr"/>
          <a:lstStyle/>
          <a:p>
            <a:pPr algn="ctr" indent="0" marL="0">
              <a:buNone/>
            </a:pPr>
            <a:r>
              <a:rPr lang="en-US" sz="750" dirty="0">
                <a:solidFill>
                  <a:srgbClr val="B6BBC0"/>
                </a:solidFill>
                <a:latin typeface="Calibri" pitchFamily="34" charset="0"/>
                <a:ea typeface="Calibri" pitchFamily="34" charset="-122"/>
                <a:cs typeface="Calibri" pitchFamily="34" charset="-120"/>
              </a:rPr>
              <a:t>/ month per FI</a:t>
            </a:r>
            <a:endParaRPr lang="en-US" sz="750" dirty="0"/>
          </a:p>
        </p:txBody>
      </p:sp>
      <p:sp>
        <p:nvSpPr>
          <p:cNvPr id="26" name="Shape 24"/>
          <p:cNvSpPr/>
          <p:nvPr/>
        </p:nvSpPr>
        <p:spPr>
          <a:xfrm>
            <a:off x="7845552" y="2231136"/>
            <a:ext cx="1170432" cy="256032"/>
          </a:xfrm>
          <a:prstGeom prst="roundRect">
            <a:avLst>
              <a:gd name="adj" fmla="val 14286"/>
            </a:avLst>
          </a:prstGeom>
          <a:solidFill>
            <a:srgbClr val="FFFFFF"/>
          </a:solidFill>
          <a:ln w="12700">
            <a:solidFill>
              <a:srgbClr val="085CE5"/>
            </a:solidFill>
            <a:prstDash val="solid"/>
          </a:ln>
        </p:spPr>
      </p:sp>
      <p:sp>
        <p:nvSpPr>
          <p:cNvPr id="27" name="Text 25"/>
          <p:cNvSpPr/>
          <p:nvPr/>
        </p:nvSpPr>
        <p:spPr>
          <a:xfrm>
            <a:off x="7845552" y="2231136"/>
            <a:ext cx="1170432" cy="256032"/>
          </a:xfrm>
          <a:prstGeom prst="rect">
            <a:avLst/>
          </a:prstGeom>
          <a:noFill/>
          <a:ln/>
        </p:spPr>
        <p:txBody>
          <a:bodyPr wrap="square" lIns="0" tIns="0" rIns="0" bIns="0" rtlCol="0" anchor="ctr"/>
          <a:lstStyle/>
          <a:p>
            <a:pPr algn="ctr" indent="0" marL="0">
              <a:buNone/>
            </a:pPr>
            <a:r>
              <a:rPr lang="en-US" sz="750" dirty="0">
                <a:solidFill>
                  <a:srgbClr val="085CE5"/>
                </a:solidFill>
                <a:latin typeface="Calibri" pitchFamily="34" charset="0"/>
                <a:ea typeface="Calibri" pitchFamily="34" charset="-122"/>
                <a:cs typeface="Calibri" pitchFamily="34" charset="-120"/>
              </a:rPr>
              <a:t>Included in Intelligence+</a:t>
            </a:r>
            <a:endParaRPr lang="en-US" sz="750" dirty="0"/>
          </a:p>
        </p:txBody>
      </p:sp>
      <p:sp>
        <p:nvSpPr>
          <p:cNvPr id="28" name="Shape 26"/>
          <p:cNvSpPr/>
          <p:nvPr/>
        </p:nvSpPr>
        <p:spPr>
          <a:xfrm>
            <a:off x="320040" y="2724912"/>
            <a:ext cx="8732520" cy="621792"/>
          </a:xfrm>
          <a:prstGeom prst="rect">
            <a:avLst/>
          </a:prstGeom>
          <a:solidFill>
            <a:srgbClr val="FFFFFF"/>
          </a:solidFill>
          <a:ln w="12700">
            <a:solidFill>
              <a:srgbClr val="E7ECF0"/>
            </a:solidFill>
            <a:prstDash val="solid"/>
          </a:ln>
        </p:spPr>
      </p:sp>
      <p:sp>
        <p:nvSpPr>
          <p:cNvPr id="29" name="Shape 27"/>
          <p:cNvSpPr/>
          <p:nvPr/>
        </p:nvSpPr>
        <p:spPr>
          <a:xfrm>
            <a:off x="320040" y="2724912"/>
            <a:ext cx="73152" cy="621792"/>
          </a:xfrm>
          <a:prstGeom prst="rect">
            <a:avLst/>
          </a:prstGeom>
          <a:solidFill>
            <a:srgbClr val="0D2E7A"/>
          </a:solidFill>
          <a:ln w="12700">
            <a:solidFill>
              <a:srgbClr val="0D2E7A"/>
            </a:solidFill>
            <a:prstDash val="solid"/>
          </a:ln>
        </p:spPr>
      </p:sp>
      <p:sp>
        <p:nvSpPr>
          <p:cNvPr id="30" name="Text 28"/>
          <p:cNvSpPr/>
          <p:nvPr/>
        </p:nvSpPr>
        <p:spPr>
          <a:xfrm>
            <a:off x="475488" y="2788920"/>
            <a:ext cx="2971800" cy="21945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Anomaly Detection</a:t>
            </a:r>
            <a:endParaRPr lang="en-US" sz="1050" dirty="0"/>
          </a:p>
        </p:txBody>
      </p:sp>
      <p:sp>
        <p:nvSpPr>
          <p:cNvPr id="31" name="Text 29"/>
          <p:cNvSpPr/>
          <p:nvPr/>
        </p:nvSpPr>
        <p:spPr>
          <a:xfrm>
            <a:off x="475488" y="3026664"/>
            <a:ext cx="2971800" cy="237744"/>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850" dirty="0"/>
          </a:p>
        </p:txBody>
      </p:sp>
      <p:sp>
        <p:nvSpPr>
          <p:cNvPr id="32" name="Text 30"/>
          <p:cNvSpPr/>
          <p:nvPr/>
        </p:nvSpPr>
        <p:spPr>
          <a:xfrm>
            <a:off x="3520440" y="2798064"/>
            <a:ext cx="2743200" cy="475488"/>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850" dirty="0"/>
          </a:p>
        </p:txBody>
      </p:sp>
      <p:sp>
        <p:nvSpPr>
          <p:cNvPr id="33" name="Text 31"/>
          <p:cNvSpPr/>
          <p:nvPr/>
        </p:nvSpPr>
        <p:spPr>
          <a:xfrm>
            <a:off x="6355080" y="2816352"/>
            <a:ext cx="1417320" cy="329184"/>
          </a:xfrm>
          <a:prstGeom prst="rect">
            <a:avLst/>
          </a:prstGeom>
          <a:noFill/>
          <a:ln/>
        </p:spPr>
        <p:txBody>
          <a:bodyPr wrap="square" lIns="0" tIns="0" rIns="0" bIns="0" rtlCol="0" anchor="ctr"/>
          <a:lstStyle/>
          <a:p>
            <a:pPr algn="ctr" indent="0" marL="0">
              <a:buNone/>
            </a:pPr>
            <a:r>
              <a:rPr lang="en-US" sz="1300" b="1" dirty="0">
                <a:solidFill>
                  <a:srgbClr val="085CE5"/>
                </a:solidFill>
                <a:latin typeface="Calibri" pitchFamily="34" charset="0"/>
                <a:ea typeface="Calibri" pitchFamily="34" charset="-122"/>
                <a:cs typeface="Calibri" pitchFamily="34" charset="-120"/>
              </a:rPr>
              <a:t>$600 – $2,000</a:t>
            </a:r>
            <a:endParaRPr lang="en-US" sz="1300" dirty="0"/>
          </a:p>
        </p:txBody>
      </p:sp>
      <p:sp>
        <p:nvSpPr>
          <p:cNvPr id="34" name="Text 32"/>
          <p:cNvSpPr/>
          <p:nvPr/>
        </p:nvSpPr>
        <p:spPr>
          <a:xfrm>
            <a:off x="6355080" y="3154680"/>
            <a:ext cx="1417320" cy="146304"/>
          </a:xfrm>
          <a:prstGeom prst="rect">
            <a:avLst/>
          </a:prstGeom>
          <a:noFill/>
          <a:ln/>
        </p:spPr>
        <p:txBody>
          <a:bodyPr wrap="square" lIns="0" tIns="0" rIns="0" bIns="0" rtlCol="0" anchor="ctr"/>
          <a:lstStyle/>
          <a:p>
            <a:pPr algn="ctr" indent="0" marL="0">
              <a:buNone/>
            </a:pPr>
            <a:r>
              <a:rPr lang="en-US" sz="750" dirty="0">
                <a:solidFill>
                  <a:srgbClr val="B6BBC0"/>
                </a:solidFill>
                <a:latin typeface="Calibri" pitchFamily="34" charset="0"/>
                <a:ea typeface="Calibri" pitchFamily="34" charset="-122"/>
                <a:cs typeface="Calibri" pitchFamily="34" charset="-120"/>
              </a:rPr>
              <a:t>/ month per FI</a:t>
            </a:r>
            <a:endParaRPr lang="en-US" sz="750" dirty="0"/>
          </a:p>
        </p:txBody>
      </p:sp>
      <p:sp>
        <p:nvSpPr>
          <p:cNvPr id="35" name="Shape 33"/>
          <p:cNvSpPr/>
          <p:nvPr/>
        </p:nvSpPr>
        <p:spPr>
          <a:xfrm>
            <a:off x="7845552" y="2907792"/>
            <a:ext cx="1170432" cy="256032"/>
          </a:xfrm>
          <a:prstGeom prst="roundRect">
            <a:avLst>
              <a:gd name="adj" fmla="val 14286"/>
            </a:avLst>
          </a:prstGeom>
          <a:solidFill>
            <a:srgbClr val="E8F7F7"/>
          </a:solidFill>
          <a:ln w="12700">
            <a:solidFill>
              <a:srgbClr val="085CE5"/>
            </a:solidFill>
            <a:prstDash val="solid"/>
          </a:ln>
        </p:spPr>
      </p:sp>
      <p:sp>
        <p:nvSpPr>
          <p:cNvPr id="36" name="Text 34"/>
          <p:cNvSpPr/>
          <p:nvPr/>
        </p:nvSpPr>
        <p:spPr>
          <a:xfrm>
            <a:off x="7845552" y="2907792"/>
            <a:ext cx="1170432" cy="256032"/>
          </a:xfrm>
          <a:prstGeom prst="rect">
            <a:avLst/>
          </a:prstGeom>
          <a:noFill/>
          <a:ln/>
        </p:spPr>
        <p:txBody>
          <a:bodyPr wrap="square" lIns="0" tIns="0" rIns="0" bIns="0" rtlCol="0" anchor="ctr"/>
          <a:lstStyle/>
          <a:p>
            <a:pPr algn="ctr" indent="0" marL="0">
              <a:buNone/>
            </a:pPr>
            <a:r>
              <a:rPr lang="en-US" sz="750" dirty="0">
                <a:solidFill>
                  <a:srgbClr val="085CE5"/>
                </a:solidFill>
                <a:latin typeface="Calibri" pitchFamily="34" charset="0"/>
                <a:ea typeface="Calibri" pitchFamily="34" charset="-122"/>
                <a:cs typeface="Calibri" pitchFamily="34" charset="-120"/>
              </a:rPr>
              <a:t>Included in Intelligence+</a:t>
            </a:r>
            <a:endParaRPr lang="en-US" sz="750" dirty="0"/>
          </a:p>
        </p:txBody>
      </p:sp>
      <p:sp>
        <p:nvSpPr>
          <p:cNvPr id="37" name="Shape 35"/>
          <p:cNvSpPr/>
          <p:nvPr/>
        </p:nvSpPr>
        <p:spPr>
          <a:xfrm>
            <a:off x="320040" y="3401568"/>
            <a:ext cx="8732520" cy="621792"/>
          </a:xfrm>
          <a:prstGeom prst="rect">
            <a:avLst/>
          </a:prstGeom>
          <a:solidFill>
            <a:srgbClr val="E7ECF0"/>
          </a:solidFill>
          <a:ln w="12700">
            <a:solidFill>
              <a:srgbClr val="E7ECF0"/>
            </a:solidFill>
            <a:prstDash val="solid"/>
          </a:ln>
        </p:spPr>
      </p:sp>
      <p:sp>
        <p:nvSpPr>
          <p:cNvPr id="38" name="Shape 36"/>
          <p:cNvSpPr/>
          <p:nvPr/>
        </p:nvSpPr>
        <p:spPr>
          <a:xfrm>
            <a:off x="320040" y="3401568"/>
            <a:ext cx="73152" cy="621792"/>
          </a:xfrm>
          <a:prstGeom prst="rect">
            <a:avLst/>
          </a:prstGeom>
          <a:solidFill>
            <a:srgbClr val="0B68D4"/>
          </a:solidFill>
          <a:ln w="12700">
            <a:solidFill>
              <a:srgbClr val="0B68D4"/>
            </a:solidFill>
            <a:prstDash val="solid"/>
          </a:ln>
        </p:spPr>
      </p:sp>
      <p:sp>
        <p:nvSpPr>
          <p:cNvPr id="39" name="Text 37"/>
          <p:cNvSpPr/>
          <p:nvPr/>
        </p:nvSpPr>
        <p:spPr>
          <a:xfrm>
            <a:off x="475488" y="3465576"/>
            <a:ext cx="2971800" cy="21945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Call Report AI (CallRpt AI)</a:t>
            </a:r>
            <a:endParaRPr lang="en-US" sz="1050" dirty="0"/>
          </a:p>
        </p:txBody>
      </p:sp>
      <p:sp>
        <p:nvSpPr>
          <p:cNvPr id="40" name="Text 38"/>
          <p:cNvSpPr/>
          <p:nvPr/>
        </p:nvSpPr>
        <p:spPr>
          <a:xfrm>
            <a:off x="475488" y="3703320"/>
            <a:ext cx="2971800" cy="237744"/>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intelligence — Pulse, Ask, Compare + AI briefs</a:t>
            </a:r>
            <a:endParaRPr lang="en-US" sz="850" dirty="0"/>
          </a:p>
        </p:txBody>
      </p:sp>
      <p:sp>
        <p:nvSpPr>
          <p:cNvPr id="41" name="Text 39"/>
          <p:cNvSpPr/>
          <p:nvPr/>
        </p:nvSpPr>
        <p:spPr>
          <a:xfrm>
            <a:off x="3520440" y="3474720"/>
            <a:ext cx="2743200" cy="475488"/>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850" dirty="0"/>
          </a:p>
        </p:txBody>
      </p:sp>
      <p:sp>
        <p:nvSpPr>
          <p:cNvPr id="42" name="Text 40"/>
          <p:cNvSpPr/>
          <p:nvPr/>
        </p:nvSpPr>
        <p:spPr>
          <a:xfrm>
            <a:off x="6355080" y="3493008"/>
            <a:ext cx="1417320" cy="329184"/>
          </a:xfrm>
          <a:prstGeom prst="rect">
            <a:avLst/>
          </a:prstGeom>
          <a:noFill/>
          <a:ln/>
        </p:spPr>
        <p:txBody>
          <a:bodyPr wrap="square" lIns="0" tIns="0" rIns="0" bIns="0" rtlCol="0" anchor="ctr"/>
          <a:lstStyle/>
          <a:p>
            <a:pPr algn="ctr" indent="0" marL="0">
              <a:buNone/>
            </a:pPr>
            <a:r>
              <a:rPr lang="en-US" sz="1300" b="1" dirty="0">
                <a:solidFill>
                  <a:srgbClr val="085CE5"/>
                </a:solidFill>
                <a:latin typeface="Calibri" pitchFamily="34" charset="0"/>
                <a:ea typeface="Calibri" pitchFamily="34" charset="-122"/>
                <a:cs typeface="Calibri" pitchFamily="34" charset="-120"/>
              </a:rPr>
              <a:t>$300 – $1,000</a:t>
            </a:r>
            <a:endParaRPr lang="en-US" sz="1300" dirty="0"/>
          </a:p>
        </p:txBody>
      </p:sp>
      <p:sp>
        <p:nvSpPr>
          <p:cNvPr id="43" name="Text 41"/>
          <p:cNvSpPr/>
          <p:nvPr/>
        </p:nvSpPr>
        <p:spPr>
          <a:xfrm>
            <a:off x="6355080" y="3831336"/>
            <a:ext cx="1417320" cy="146304"/>
          </a:xfrm>
          <a:prstGeom prst="rect">
            <a:avLst/>
          </a:prstGeom>
          <a:noFill/>
          <a:ln/>
        </p:spPr>
        <p:txBody>
          <a:bodyPr wrap="square" lIns="0" tIns="0" rIns="0" bIns="0" rtlCol="0" anchor="ctr"/>
          <a:lstStyle/>
          <a:p>
            <a:pPr algn="ctr" indent="0" marL="0">
              <a:buNone/>
            </a:pPr>
            <a:r>
              <a:rPr lang="en-US" sz="750" dirty="0">
                <a:solidFill>
                  <a:srgbClr val="B6BBC0"/>
                </a:solidFill>
                <a:latin typeface="Calibri" pitchFamily="34" charset="0"/>
                <a:ea typeface="Calibri" pitchFamily="34" charset="-122"/>
                <a:cs typeface="Calibri" pitchFamily="34" charset="-120"/>
              </a:rPr>
              <a:t>/ month per FI</a:t>
            </a:r>
            <a:endParaRPr lang="en-US" sz="750" dirty="0"/>
          </a:p>
        </p:txBody>
      </p:sp>
      <p:sp>
        <p:nvSpPr>
          <p:cNvPr id="44" name="Shape 42"/>
          <p:cNvSpPr/>
          <p:nvPr/>
        </p:nvSpPr>
        <p:spPr>
          <a:xfrm>
            <a:off x="7845552" y="3584448"/>
            <a:ext cx="1170432" cy="256032"/>
          </a:xfrm>
          <a:prstGeom prst="roundRect">
            <a:avLst>
              <a:gd name="adj" fmla="val 14286"/>
            </a:avLst>
          </a:prstGeom>
          <a:solidFill>
            <a:srgbClr val="FFFFFF"/>
          </a:solidFill>
          <a:ln w="12700">
            <a:solidFill>
              <a:srgbClr val="085CE5"/>
            </a:solidFill>
            <a:prstDash val="solid"/>
          </a:ln>
        </p:spPr>
      </p:sp>
      <p:sp>
        <p:nvSpPr>
          <p:cNvPr id="45" name="Text 43"/>
          <p:cNvSpPr/>
          <p:nvPr/>
        </p:nvSpPr>
        <p:spPr>
          <a:xfrm>
            <a:off x="7845552" y="3584448"/>
            <a:ext cx="1170432" cy="256032"/>
          </a:xfrm>
          <a:prstGeom prst="rect">
            <a:avLst/>
          </a:prstGeom>
          <a:noFill/>
          <a:ln/>
        </p:spPr>
        <p:txBody>
          <a:bodyPr wrap="square" lIns="0" tIns="0" rIns="0" bIns="0" rtlCol="0" anchor="ctr"/>
          <a:lstStyle/>
          <a:p>
            <a:pPr algn="ctr" indent="0" marL="0">
              <a:buNone/>
            </a:pPr>
            <a:r>
              <a:rPr lang="en-US" sz="750" dirty="0">
                <a:solidFill>
                  <a:srgbClr val="085CE5"/>
                </a:solidFill>
                <a:latin typeface="Calibri" pitchFamily="34" charset="0"/>
                <a:ea typeface="Calibri" pitchFamily="34" charset="-122"/>
                <a:cs typeface="Calibri" pitchFamily="34" charset="-120"/>
              </a:rPr>
              <a:t>Included in all tiers</a:t>
            </a:r>
            <a:endParaRPr lang="en-US" sz="750" dirty="0"/>
          </a:p>
        </p:txBody>
      </p:sp>
      <p:sp>
        <p:nvSpPr>
          <p:cNvPr id="46" name="Shape 44"/>
          <p:cNvSpPr/>
          <p:nvPr/>
        </p:nvSpPr>
        <p:spPr>
          <a:xfrm>
            <a:off x="320040" y="4078224"/>
            <a:ext cx="8732520" cy="621792"/>
          </a:xfrm>
          <a:prstGeom prst="rect">
            <a:avLst/>
          </a:prstGeom>
          <a:solidFill>
            <a:srgbClr val="FFFFFF"/>
          </a:solidFill>
          <a:ln w="12700">
            <a:solidFill>
              <a:srgbClr val="E7ECF0"/>
            </a:solidFill>
            <a:prstDash val="solid"/>
          </a:ln>
        </p:spPr>
      </p:sp>
      <p:sp>
        <p:nvSpPr>
          <p:cNvPr id="47" name="Shape 45"/>
          <p:cNvSpPr/>
          <p:nvPr/>
        </p:nvSpPr>
        <p:spPr>
          <a:xfrm>
            <a:off x="320040" y="4078224"/>
            <a:ext cx="73152" cy="621792"/>
          </a:xfrm>
          <a:prstGeom prst="rect">
            <a:avLst/>
          </a:prstGeom>
          <a:solidFill>
            <a:srgbClr val="575A5D"/>
          </a:solidFill>
          <a:ln w="12700">
            <a:solidFill>
              <a:srgbClr val="575A5D"/>
            </a:solidFill>
            <a:prstDash val="solid"/>
          </a:ln>
        </p:spPr>
      </p:sp>
      <p:sp>
        <p:nvSpPr>
          <p:cNvPr id="48" name="Text 46"/>
          <p:cNvSpPr/>
          <p:nvPr/>
        </p:nvSpPr>
        <p:spPr>
          <a:xfrm>
            <a:off x="475488" y="4142232"/>
            <a:ext cx="2971800" cy="21945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Account Opening LTV Model</a:t>
            </a:r>
            <a:endParaRPr lang="en-US" sz="1050" dirty="0"/>
          </a:p>
        </p:txBody>
      </p:sp>
      <p:sp>
        <p:nvSpPr>
          <p:cNvPr id="49" name="Text 47"/>
          <p:cNvSpPr/>
          <p:nvPr/>
        </p:nvSpPr>
        <p:spPr>
          <a:xfrm>
            <a:off x="475488" y="4379976"/>
            <a:ext cx="2971800" cy="237744"/>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850" dirty="0"/>
          </a:p>
        </p:txBody>
      </p:sp>
      <p:sp>
        <p:nvSpPr>
          <p:cNvPr id="50" name="Text 48"/>
          <p:cNvSpPr/>
          <p:nvPr/>
        </p:nvSpPr>
        <p:spPr>
          <a:xfrm>
            <a:off x="3520440" y="4151376"/>
            <a:ext cx="2743200" cy="475488"/>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850" dirty="0"/>
          </a:p>
        </p:txBody>
      </p:sp>
      <p:sp>
        <p:nvSpPr>
          <p:cNvPr id="51" name="Text 49"/>
          <p:cNvSpPr/>
          <p:nvPr/>
        </p:nvSpPr>
        <p:spPr>
          <a:xfrm>
            <a:off x="6355080" y="4169664"/>
            <a:ext cx="1417320" cy="329184"/>
          </a:xfrm>
          <a:prstGeom prst="rect">
            <a:avLst/>
          </a:prstGeom>
          <a:noFill/>
          <a:ln/>
        </p:spPr>
        <p:txBody>
          <a:bodyPr wrap="square" lIns="0" tIns="0" rIns="0" bIns="0" rtlCol="0" anchor="ctr"/>
          <a:lstStyle/>
          <a:p>
            <a:pPr algn="ctr" indent="0" marL="0">
              <a:buNone/>
            </a:pPr>
            <a:r>
              <a:rPr lang="en-US" sz="1300" b="1" dirty="0">
                <a:solidFill>
                  <a:srgbClr val="085CE5"/>
                </a:solidFill>
                <a:latin typeface="Calibri" pitchFamily="34" charset="0"/>
                <a:ea typeface="Calibri" pitchFamily="34" charset="-122"/>
                <a:cs typeface="Calibri" pitchFamily="34" charset="-120"/>
              </a:rPr>
              <a:t>$500 – $1,500</a:t>
            </a:r>
            <a:endParaRPr lang="en-US" sz="1300" dirty="0"/>
          </a:p>
        </p:txBody>
      </p:sp>
      <p:sp>
        <p:nvSpPr>
          <p:cNvPr id="52" name="Text 50"/>
          <p:cNvSpPr/>
          <p:nvPr/>
        </p:nvSpPr>
        <p:spPr>
          <a:xfrm>
            <a:off x="6355080" y="4507992"/>
            <a:ext cx="1417320" cy="146304"/>
          </a:xfrm>
          <a:prstGeom prst="rect">
            <a:avLst/>
          </a:prstGeom>
          <a:noFill/>
          <a:ln/>
        </p:spPr>
        <p:txBody>
          <a:bodyPr wrap="square" lIns="0" tIns="0" rIns="0" bIns="0" rtlCol="0" anchor="ctr"/>
          <a:lstStyle/>
          <a:p>
            <a:pPr algn="ctr" indent="0" marL="0">
              <a:buNone/>
            </a:pPr>
            <a:r>
              <a:rPr lang="en-US" sz="750" dirty="0">
                <a:solidFill>
                  <a:srgbClr val="B6BBC0"/>
                </a:solidFill>
                <a:latin typeface="Calibri" pitchFamily="34" charset="0"/>
                <a:ea typeface="Calibri" pitchFamily="34" charset="-122"/>
                <a:cs typeface="Calibri" pitchFamily="34" charset="-120"/>
              </a:rPr>
              <a:t>/ month per FI</a:t>
            </a:r>
            <a:endParaRPr lang="en-US" sz="750" dirty="0"/>
          </a:p>
        </p:txBody>
      </p:sp>
      <p:sp>
        <p:nvSpPr>
          <p:cNvPr id="53" name="Shape 51"/>
          <p:cNvSpPr/>
          <p:nvPr/>
        </p:nvSpPr>
        <p:spPr>
          <a:xfrm>
            <a:off x="7845552" y="4261104"/>
            <a:ext cx="1170432" cy="256032"/>
          </a:xfrm>
          <a:prstGeom prst="roundRect">
            <a:avLst>
              <a:gd name="adj" fmla="val 14286"/>
            </a:avLst>
          </a:prstGeom>
          <a:solidFill>
            <a:srgbClr val="E8F7F7"/>
          </a:solidFill>
          <a:ln w="12700">
            <a:solidFill>
              <a:srgbClr val="085CE5"/>
            </a:solidFill>
            <a:prstDash val="solid"/>
          </a:ln>
        </p:spPr>
      </p:sp>
      <p:sp>
        <p:nvSpPr>
          <p:cNvPr id="54" name="Text 52"/>
          <p:cNvSpPr/>
          <p:nvPr/>
        </p:nvSpPr>
        <p:spPr>
          <a:xfrm>
            <a:off x="7845552" y="4261104"/>
            <a:ext cx="1170432" cy="256032"/>
          </a:xfrm>
          <a:prstGeom prst="rect">
            <a:avLst/>
          </a:prstGeom>
          <a:noFill/>
          <a:ln/>
        </p:spPr>
        <p:txBody>
          <a:bodyPr wrap="square" lIns="0" tIns="0" rIns="0" bIns="0" rtlCol="0" anchor="ctr"/>
          <a:lstStyle/>
          <a:p>
            <a:pPr algn="ctr" indent="0" marL="0">
              <a:buNone/>
            </a:pPr>
            <a:r>
              <a:rPr lang="en-US" sz="750" dirty="0">
                <a:solidFill>
                  <a:srgbClr val="085CE5"/>
                </a:solidFill>
                <a:latin typeface="Calibri" pitchFamily="34" charset="0"/>
                <a:ea typeface="Calibri" pitchFamily="34" charset="-122"/>
                <a:cs typeface="Calibri" pitchFamily="34" charset="-120"/>
              </a:rPr>
              <a:t>Included in Intelligence+</a:t>
            </a:r>
            <a:endParaRPr lang="en-US" sz="750" dirty="0"/>
          </a:p>
        </p:txBody>
      </p:sp>
      <p:sp>
        <p:nvSpPr>
          <p:cNvPr id="55" name="Shape 53"/>
          <p:cNvSpPr/>
          <p:nvPr/>
        </p:nvSpPr>
        <p:spPr>
          <a:xfrm>
            <a:off x="320040" y="4754880"/>
            <a:ext cx="8732520" cy="347472"/>
          </a:xfrm>
          <a:prstGeom prst="rect">
            <a:avLst/>
          </a:prstGeom>
          <a:solidFill>
            <a:srgbClr val="06185F"/>
          </a:solidFill>
          <a:ln w="12700">
            <a:solidFill>
              <a:srgbClr val="06185F"/>
            </a:solidFill>
            <a:prstDash val="solid"/>
          </a:ln>
        </p:spPr>
      </p:sp>
      <p:sp>
        <p:nvSpPr>
          <p:cNvPr id="56" name="Text 54"/>
          <p:cNvSpPr/>
          <p:nvPr/>
        </p:nvSpPr>
        <p:spPr>
          <a:xfrm>
            <a:off x="475488" y="4791456"/>
            <a:ext cx="4114800"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STANDALONE TOTAL (MID-MARKET FI)</a:t>
            </a:r>
            <a:endParaRPr lang="en-US" sz="1000" dirty="0"/>
          </a:p>
        </p:txBody>
      </p:sp>
      <p:sp>
        <p:nvSpPr>
          <p:cNvPr id="57" name="Text 55"/>
          <p:cNvSpPr/>
          <p:nvPr/>
        </p:nvSpPr>
        <p:spPr>
          <a:xfrm>
            <a:off x="6355080" y="4791456"/>
            <a:ext cx="1417320" cy="274320"/>
          </a:xfrm>
          <a:prstGeom prst="rect">
            <a:avLst/>
          </a:prstGeom>
          <a:noFill/>
          <a:ln/>
        </p:spPr>
        <p:txBody>
          <a:bodyPr wrap="square" lIns="0" tIns="0" rIns="0" bIns="0" rtlCol="0" anchor="ctr"/>
          <a:lstStyle/>
          <a:p>
            <a:pPr algn="ctr" indent="0" marL="0">
              <a:buNone/>
            </a:pPr>
            <a:r>
              <a:rPr lang="en-US" sz="1300" b="1" dirty="0">
                <a:solidFill>
                  <a:srgbClr val="76DCFD"/>
                </a:solidFill>
                <a:latin typeface="Calibri" pitchFamily="34" charset="0"/>
                <a:ea typeface="Calibri" pitchFamily="34" charset="-122"/>
                <a:cs typeface="Calibri" pitchFamily="34" charset="-120"/>
              </a:rPr>
              <a:t>~$4,200 / mo</a:t>
            </a:r>
            <a:endParaRPr lang="en-US" sz="1300" dirty="0"/>
          </a:p>
        </p:txBody>
      </p:sp>
      <p:sp>
        <p:nvSpPr>
          <p:cNvPr id="58" name="Text 56"/>
          <p:cNvSpPr/>
          <p:nvPr/>
        </p:nvSpPr>
        <p:spPr>
          <a:xfrm>
            <a:off x="7635240" y="4809744"/>
            <a:ext cx="1389888" cy="237744"/>
          </a:xfrm>
          <a:prstGeom prst="rect">
            <a:avLst/>
          </a:prstGeom>
          <a:noFill/>
          <a:ln/>
        </p:spPr>
        <p:txBody>
          <a:bodyPr wrap="square" lIns="0" tIns="0" rIns="0" bIns="0" rtlCol="0" anchor="ctr"/>
          <a:lstStyle/>
          <a:p>
            <a:pPr algn="ctr" indent="0" marL="0">
              <a:buNone/>
            </a:pPr>
            <a:r>
              <a:rPr lang="en-US" sz="950" dirty="0">
                <a:solidFill>
                  <a:srgbClr val="76DCFD"/>
                </a:solidFill>
                <a:latin typeface="Calibri" pitchFamily="34" charset="0"/>
                <a:ea typeface="Calibri" pitchFamily="34" charset="-122"/>
                <a:cs typeface="Calibri" pitchFamily="34" charset="-120"/>
              </a:rPr>
              <a:t>vs. ~$3,200 bundled</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2,000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8,000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$18M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$72M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Mediation  ·  Account Opening LTV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+$24M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+$96M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+$80M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+$16M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+$64M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$78M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$312M+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FI adoption rates modeled conservatively at 6%, 25%, and 100% of JH's ~8,000 client base.</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Horizon Pipeline: Year 2 Platform Opportunities</a:t>
            </a:r>
            <a:endParaRPr lang="en-US" sz="2200" dirty="0"/>
          </a:p>
        </p:txBody>
      </p:sp>
      <p:sp>
        <p:nvSpPr>
          <p:cNvPr id="4" name="Shape 2"/>
          <p:cNvSpPr/>
          <p:nvPr/>
        </p:nvSpPr>
        <p:spPr>
          <a:xfrm>
            <a:off x="27432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74320" y="786384"/>
            <a:ext cx="2743200" cy="73152"/>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29768" y="969264"/>
            <a:ext cx="347472" cy="347472"/>
          </a:xfrm>
          <a:prstGeom prst="rect">
            <a:avLst/>
          </a:prstGeom>
        </p:spPr>
      </p:pic>
      <p:sp>
        <p:nvSpPr>
          <p:cNvPr id="7" name="Text 4"/>
          <p:cNvSpPr/>
          <p:nvPr/>
        </p:nvSpPr>
        <p:spPr>
          <a:xfrm>
            <a:off x="86868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Cross-Sell Propensity Engine</a:t>
            </a:r>
            <a:endParaRPr lang="en-US" sz="1050" dirty="0"/>
          </a:p>
        </p:txBody>
      </p:sp>
      <p:sp>
        <p:nvSpPr>
          <p:cNvPr id="8" name="Text 5"/>
          <p:cNvSpPr/>
          <p:nvPr/>
        </p:nvSpPr>
        <p:spPr>
          <a:xfrm>
            <a:off x="41148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1000" dirty="0"/>
          </a:p>
        </p:txBody>
      </p:sp>
      <p:sp>
        <p:nvSpPr>
          <p:cNvPr id="9" name="Shape 6"/>
          <p:cNvSpPr/>
          <p:nvPr/>
        </p:nvSpPr>
        <p:spPr>
          <a:xfrm>
            <a:off x="315468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54680" y="786384"/>
            <a:ext cx="2743200" cy="73152"/>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69264"/>
            <a:ext cx="347472" cy="347472"/>
          </a:xfrm>
          <a:prstGeom prst="rect">
            <a:avLst/>
          </a:prstGeom>
        </p:spPr>
      </p:pic>
      <p:sp>
        <p:nvSpPr>
          <p:cNvPr id="12" name="Text 8"/>
          <p:cNvSpPr/>
          <p:nvPr/>
        </p:nvSpPr>
        <p:spPr>
          <a:xfrm>
            <a:off x="374904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Fraud Ring Detection</a:t>
            </a:r>
            <a:endParaRPr lang="en-US" sz="1050" dirty="0"/>
          </a:p>
        </p:txBody>
      </p:sp>
      <p:sp>
        <p:nvSpPr>
          <p:cNvPr id="13" name="Text 9"/>
          <p:cNvSpPr/>
          <p:nvPr/>
        </p:nvSpPr>
        <p:spPr>
          <a:xfrm>
            <a:off x="329184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1000" dirty="0"/>
          </a:p>
        </p:txBody>
      </p:sp>
      <p:sp>
        <p:nvSpPr>
          <p:cNvPr id="14" name="Shape 10"/>
          <p:cNvSpPr/>
          <p:nvPr/>
        </p:nvSpPr>
        <p:spPr>
          <a:xfrm>
            <a:off x="603504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35040" y="786384"/>
            <a:ext cx="2743200" cy="73152"/>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90488" y="969264"/>
            <a:ext cx="347472" cy="347472"/>
          </a:xfrm>
          <a:prstGeom prst="rect">
            <a:avLst/>
          </a:prstGeom>
        </p:spPr>
      </p:pic>
      <p:sp>
        <p:nvSpPr>
          <p:cNvPr id="17" name="Text 12"/>
          <p:cNvSpPr/>
          <p:nvPr/>
        </p:nvSpPr>
        <p:spPr>
          <a:xfrm>
            <a:off x="662940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Deposit Runoff Forecasting</a:t>
            </a:r>
            <a:endParaRPr lang="en-US" sz="1050" dirty="0"/>
          </a:p>
        </p:txBody>
      </p:sp>
      <p:sp>
        <p:nvSpPr>
          <p:cNvPr id="18" name="Text 13"/>
          <p:cNvSpPr/>
          <p:nvPr/>
        </p:nvSpPr>
        <p:spPr>
          <a:xfrm>
            <a:off x="617220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1000" dirty="0"/>
          </a:p>
        </p:txBody>
      </p:sp>
      <p:sp>
        <p:nvSpPr>
          <p:cNvPr id="19" name="Shape 14"/>
          <p:cNvSpPr/>
          <p:nvPr/>
        </p:nvSpPr>
        <p:spPr>
          <a:xfrm>
            <a:off x="27432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274320" y="2871216"/>
            <a:ext cx="2743200" cy="73152"/>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29768" y="3054096"/>
            <a:ext cx="347472" cy="347472"/>
          </a:xfrm>
          <a:prstGeom prst="rect">
            <a:avLst/>
          </a:prstGeom>
        </p:spPr>
      </p:pic>
      <p:sp>
        <p:nvSpPr>
          <p:cNvPr id="22" name="Text 16"/>
          <p:cNvSpPr/>
          <p:nvPr/>
        </p:nvSpPr>
        <p:spPr>
          <a:xfrm>
            <a:off x="86868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Overdraft Prediction &amp; Mediation</a:t>
            </a:r>
            <a:endParaRPr lang="en-US" sz="1050" dirty="0"/>
          </a:p>
        </p:txBody>
      </p:sp>
      <p:sp>
        <p:nvSpPr>
          <p:cNvPr id="23" name="Text 17"/>
          <p:cNvSpPr/>
          <p:nvPr/>
        </p:nvSpPr>
        <p:spPr>
          <a:xfrm>
            <a:off x="41148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1000" dirty="0"/>
          </a:p>
        </p:txBody>
      </p:sp>
      <p:sp>
        <p:nvSpPr>
          <p:cNvPr id="24" name="Shape 18"/>
          <p:cNvSpPr/>
          <p:nvPr/>
        </p:nvSpPr>
        <p:spPr>
          <a:xfrm>
            <a:off x="315468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54680" y="2871216"/>
            <a:ext cx="2743200" cy="73152"/>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54096"/>
            <a:ext cx="347472" cy="347472"/>
          </a:xfrm>
          <a:prstGeom prst="rect">
            <a:avLst/>
          </a:prstGeom>
        </p:spPr>
      </p:pic>
      <p:sp>
        <p:nvSpPr>
          <p:cNvPr id="27" name="Text 20"/>
          <p:cNvSpPr/>
          <p:nvPr/>
        </p:nvSpPr>
        <p:spPr>
          <a:xfrm>
            <a:off x="374904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Customer Sentiment Engine</a:t>
            </a:r>
            <a:endParaRPr lang="en-US" sz="1050" dirty="0"/>
          </a:p>
        </p:txBody>
      </p:sp>
      <p:sp>
        <p:nvSpPr>
          <p:cNvPr id="28" name="Text 21"/>
          <p:cNvSpPr/>
          <p:nvPr/>
        </p:nvSpPr>
        <p:spPr>
          <a:xfrm>
            <a:off x="329184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1000" dirty="0"/>
          </a:p>
        </p:txBody>
      </p:sp>
      <p:sp>
        <p:nvSpPr>
          <p:cNvPr id="29" name="Shape 22"/>
          <p:cNvSpPr/>
          <p:nvPr/>
        </p:nvSpPr>
        <p:spPr>
          <a:xfrm>
            <a:off x="603504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35040" y="2871216"/>
            <a:ext cx="2743200" cy="73152"/>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6190488" y="3054096"/>
            <a:ext cx="347472" cy="347472"/>
          </a:xfrm>
          <a:prstGeom prst="rect">
            <a:avLst/>
          </a:prstGeom>
        </p:spPr>
      </p:pic>
      <p:sp>
        <p:nvSpPr>
          <p:cNvPr id="32" name="Text 24"/>
          <p:cNvSpPr/>
          <p:nvPr/>
        </p:nvSpPr>
        <p:spPr>
          <a:xfrm>
            <a:off x="662940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Next Best Action Platform</a:t>
            </a:r>
            <a:endParaRPr lang="en-US" sz="1050" dirty="0"/>
          </a:p>
        </p:txBody>
      </p:sp>
      <p:sp>
        <p:nvSpPr>
          <p:cNvPr id="33" name="Text 25"/>
          <p:cNvSpPr/>
          <p:nvPr/>
        </p:nvSpPr>
        <p:spPr>
          <a:xfrm>
            <a:off x="617220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1000" dirty="0"/>
          </a:p>
        </p:txBody>
      </p:sp>
      <p:sp>
        <p:nvSpPr>
          <p:cNvPr id="34" name="Text 26"/>
          <p:cNvSpPr/>
          <p:nvPr/>
        </p:nvSpPr>
        <p:spPr>
          <a:xfrm>
            <a:off x="365760" y="4846320"/>
            <a:ext cx="8412480" cy="256032"/>
          </a:xfrm>
          <a:prstGeom prst="rect">
            <a:avLst/>
          </a:prstGeom>
          <a:noFill/>
          <a:ln/>
        </p:spPr>
        <p:txBody>
          <a:bodyPr wrap="square" lIns="0" tIns="0" rIns="0" bIns="0" rtlCol="0" anchor="ctr"/>
          <a:lstStyle/>
          <a:p>
            <a:pPr indent="0" marL="0">
              <a:buNone/>
            </a:pPr>
            <a:r>
              <a:rPr lang="en-US" sz="950" i="1" dirty="0">
                <a:solidFill>
                  <a:srgbClr val="B6BBC0"/>
                </a:solidFill>
                <a:latin typeface="Calibri" pitchFamily="34" charset="0"/>
                <a:ea typeface="Calibri" pitchFamily="34" charset="-122"/>
                <a:cs typeface="Calibri" pitchFamily="34" charset="-120"/>
              </a:rPr>
              <a:t>These opportunities are sequenced for Year 2, contingent on successful Phase 1 delivery and continued investment approval.</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18 Months to Scale</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 – Q2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Build FI data pipelines from JH core banking systems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Establish data governance and model review process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68496"/>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32504"/>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68496"/>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Attrition / Churn Mediation</a:t>
            </a:r>
            <a:endParaRPr lang="en-US" sz="900" dirty="0"/>
          </a:p>
        </p:txBody>
      </p:sp>
      <p:sp>
        <p:nvSpPr>
          <p:cNvPr id="17" name="Shape 15"/>
          <p:cNvSpPr/>
          <p:nvPr/>
        </p:nvSpPr>
        <p:spPr>
          <a:xfrm>
            <a:off x="2167128" y="4005072"/>
            <a:ext cx="749808" cy="182880"/>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167128" y="4005072"/>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MVP</a:t>
            </a:r>
            <a:endParaRPr lang="en-US" sz="75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Q2 – Q4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MLOps pipeline + streaming anomaly engine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Payments data integration (Zelle / ACH / Card)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Call Report AI full CU client base rollout</a:t>
            </a:r>
            <a:endParaRPr lang="en-US" sz="1000" dirty="0"/>
          </a:p>
        </p:txBody>
      </p:sp>
      <p:sp>
        <p:nvSpPr>
          <p:cNvPr id="26" name="Shape 24"/>
          <p:cNvSpPr/>
          <p:nvPr/>
        </p:nvSpPr>
        <p:spPr>
          <a:xfrm>
            <a:off x="3200400" y="3675888"/>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675888"/>
            <a:ext cx="54864" cy="237744"/>
          </a:xfrm>
          <a:prstGeom prst="rect">
            <a:avLst/>
          </a:prstGeom>
          <a:solidFill>
            <a:srgbClr val="073FA8"/>
          </a:solidFill>
          <a:ln w="12700">
            <a:solidFill>
              <a:srgbClr val="073FA8"/>
            </a:solidFill>
            <a:prstDash val="solid"/>
          </a:ln>
        </p:spPr>
      </p:sp>
      <p:sp>
        <p:nvSpPr>
          <p:cNvPr id="28" name="Text 26"/>
          <p:cNvSpPr/>
          <p:nvPr/>
        </p:nvSpPr>
        <p:spPr>
          <a:xfrm>
            <a:off x="3328416" y="3675888"/>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968496"/>
            <a:ext cx="2523744" cy="256032"/>
          </a:xfrm>
          <a:prstGeom prst="rect">
            <a:avLst/>
          </a:prstGeom>
          <a:solidFill>
            <a:srgbClr val="073FA8"/>
          </a:solidFill>
          <a:ln w="12700">
            <a:solidFill>
              <a:srgbClr val="073FA8"/>
            </a:solidFill>
            <a:prstDash val="solid"/>
          </a:ln>
        </p:spPr>
      </p:sp>
      <p:sp>
        <p:nvSpPr>
          <p:cNvPr id="30" name="Shape 28"/>
          <p:cNvSpPr/>
          <p:nvPr/>
        </p:nvSpPr>
        <p:spPr>
          <a:xfrm>
            <a:off x="3383280" y="403250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968496"/>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Anomaly Detection</a:t>
            </a:r>
            <a:endParaRPr lang="en-US" sz="900" dirty="0"/>
          </a:p>
        </p:txBody>
      </p:sp>
      <p:sp>
        <p:nvSpPr>
          <p:cNvPr id="32" name="Shape 30"/>
          <p:cNvSpPr/>
          <p:nvPr/>
        </p:nvSpPr>
        <p:spPr>
          <a:xfrm>
            <a:off x="3328416" y="4297680"/>
            <a:ext cx="2523744" cy="256032"/>
          </a:xfrm>
          <a:prstGeom prst="rect">
            <a:avLst/>
          </a:prstGeom>
          <a:solidFill>
            <a:srgbClr val="06185F"/>
          </a:solidFill>
          <a:ln w="12700">
            <a:solidFill>
              <a:srgbClr val="06185F"/>
            </a:solidFill>
            <a:prstDash val="solid"/>
          </a:ln>
        </p:spPr>
      </p:sp>
      <p:sp>
        <p:nvSpPr>
          <p:cNvPr id="33" name="Shape 31"/>
          <p:cNvSpPr/>
          <p:nvPr/>
        </p:nvSpPr>
        <p:spPr>
          <a:xfrm>
            <a:off x="3383280" y="4361688"/>
            <a:ext cx="128016" cy="128016"/>
          </a:xfrm>
          <a:prstGeom prst="ellipse">
            <a:avLst/>
          </a:prstGeom>
          <a:solidFill>
            <a:srgbClr val="FFFFFF">
              <a:alpha val="70000"/>
            </a:srgbClr>
          </a:solidFill>
          <a:ln w="12700">
            <a:solidFill>
              <a:srgbClr val="FFFFFF">
                <a:alpha val="70000"/>
              </a:srgbClr>
            </a:solidFill>
            <a:prstDash val="solid"/>
          </a:ln>
        </p:spPr>
      </p:sp>
      <p:sp>
        <p:nvSpPr>
          <p:cNvPr id="34" name="Text 32"/>
          <p:cNvSpPr/>
          <p:nvPr/>
        </p:nvSpPr>
        <p:spPr>
          <a:xfrm>
            <a:off x="3566160" y="4297680"/>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Zelle Memo Intelligence</a:t>
            </a:r>
            <a:endParaRPr lang="en-US" sz="900" dirty="0"/>
          </a:p>
        </p:txBody>
      </p:sp>
      <p:sp>
        <p:nvSpPr>
          <p:cNvPr id="35" name="Shape 33"/>
          <p:cNvSpPr/>
          <p:nvPr/>
        </p:nvSpPr>
        <p:spPr>
          <a:xfrm>
            <a:off x="3328416" y="4626864"/>
            <a:ext cx="2523744" cy="256032"/>
          </a:xfrm>
          <a:prstGeom prst="rect">
            <a:avLst/>
          </a:prstGeom>
          <a:solidFill>
            <a:srgbClr val="575A5D"/>
          </a:solidFill>
          <a:ln w="12700">
            <a:solidFill>
              <a:srgbClr val="575A5D"/>
            </a:solidFill>
            <a:prstDash val="solid"/>
          </a:ln>
        </p:spPr>
      </p:sp>
      <p:sp>
        <p:nvSpPr>
          <p:cNvPr id="36" name="Shape 34"/>
          <p:cNvSpPr/>
          <p:nvPr/>
        </p:nvSpPr>
        <p:spPr>
          <a:xfrm>
            <a:off x="3383280" y="4690872"/>
            <a:ext cx="128016" cy="128016"/>
          </a:xfrm>
          <a:prstGeom prst="ellipse">
            <a:avLst/>
          </a:prstGeom>
          <a:solidFill>
            <a:srgbClr val="FFFFFF">
              <a:alpha val="70000"/>
            </a:srgbClr>
          </a:solidFill>
          <a:ln w="12700">
            <a:solidFill>
              <a:srgbClr val="FFFFFF">
                <a:alpha val="70000"/>
              </a:srgbClr>
            </a:solidFill>
            <a:prstDash val="solid"/>
          </a:ln>
        </p:spPr>
      </p:sp>
      <p:sp>
        <p:nvSpPr>
          <p:cNvPr id="37" name="Text 35"/>
          <p:cNvSpPr/>
          <p:nvPr/>
        </p:nvSpPr>
        <p:spPr>
          <a:xfrm>
            <a:off x="3566160" y="4626864"/>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Call Report AI</a:t>
            </a:r>
            <a:endParaRPr lang="en-US" sz="900" dirty="0"/>
          </a:p>
        </p:txBody>
      </p:sp>
      <p:sp>
        <p:nvSpPr>
          <p:cNvPr id="38" name="Shape 36"/>
          <p:cNvSpPr/>
          <p:nvPr/>
        </p:nvSpPr>
        <p:spPr>
          <a:xfrm>
            <a:off x="5111496" y="4663440"/>
            <a:ext cx="749808" cy="182880"/>
          </a:xfrm>
          <a:prstGeom prst="rect">
            <a:avLst/>
          </a:prstGeom>
          <a:solidFill>
            <a:srgbClr val="FFFFFF">
              <a:alpha val="80000"/>
            </a:srgbClr>
          </a:solidFill>
          <a:ln w="12700">
            <a:solidFill>
              <a:srgbClr val="FFFFFF">
                <a:alpha val="60000"/>
              </a:srgbClr>
            </a:solidFill>
            <a:prstDash val="solid"/>
          </a:ln>
        </p:spPr>
      </p:sp>
      <p:sp>
        <p:nvSpPr>
          <p:cNvPr id="39" name="Text 37"/>
          <p:cNvSpPr/>
          <p:nvPr/>
        </p:nvSpPr>
        <p:spPr>
          <a:xfrm>
            <a:off x="5111496" y="4663440"/>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Aug/Sept '26</a:t>
            </a:r>
            <a:endParaRPr lang="en-US" sz="750" dirty="0"/>
          </a:p>
        </p:txBody>
      </p:sp>
      <p:sp>
        <p:nvSpPr>
          <p:cNvPr id="40" name="Shape 38"/>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1" name="Shape 39"/>
          <p:cNvSpPr/>
          <p:nvPr/>
        </p:nvSpPr>
        <p:spPr>
          <a:xfrm>
            <a:off x="6144768" y="749808"/>
            <a:ext cx="2816352" cy="804672"/>
          </a:xfrm>
          <a:prstGeom prst="rect">
            <a:avLst/>
          </a:prstGeom>
          <a:solidFill>
            <a:srgbClr val="575A5D"/>
          </a:solidFill>
          <a:ln w="12700">
            <a:solidFill>
              <a:srgbClr val="575A5D"/>
            </a:solidFill>
            <a:prstDash val="solid"/>
          </a:ln>
        </p:spPr>
      </p:sp>
      <p:sp>
        <p:nvSpPr>
          <p:cNvPr id="42" name="Text 40"/>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3" name="Shape 41"/>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44" name="Text 42"/>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45" name="Text 43"/>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 – Q4 2027</a:t>
            </a:r>
            <a:endParaRPr lang="en-US" sz="1000" dirty="0"/>
          </a:p>
        </p:txBody>
      </p:sp>
      <p:sp>
        <p:nvSpPr>
          <p:cNvPr id="46" name="Text 44"/>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Account Opening LTV into JH onboarding flow</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Full REST API layer for JH ecosystem consumption</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47" name="Shape 45"/>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48" name="Shape 46"/>
          <p:cNvSpPr/>
          <p:nvPr/>
        </p:nvSpPr>
        <p:spPr>
          <a:xfrm>
            <a:off x="6144768" y="3675888"/>
            <a:ext cx="54864" cy="237744"/>
          </a:xfrm>
          <a:prstGeom prst="rect">
            <a:avLst/>
          </a:prstGeom>
          <a:solidFill>
            <a:srgbClr val="575A5D"/>
          </a:solidFill>
          <a:ln w="12700">
            <a:solidFill>
              <a:srgbClr val="575A5D"/>
            </a:solidFill>
            <a:prstDash val="solid"/>
          </a:ln>
        </p:spPr>
      </p:sp>
      <p:sp>
        <p:nvSpPr>
          <p:cNvPr id="49" name="Text 47"/>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0" name="Shape 48"/>
          <p:cNvSpPr/>
          <p:nvPr/>
        </p:nvSpPr>
        <p:spPr>
          <a:xfrm>
            <a:off x="6272784" y="3968496"/>
            <a:ext cx="2523744" cy="256032"/>
          </a:xfrm>
          <a:prstGeom prst="rect">
            <a:avLst/>
          </a:prstGeom>
          <a:solidFill>
            <a:srgbClr val="0B68D4"/>
          </a:solidFill>
          <a:ln w="12700">
            <a:solidFill>
              <a:srgbClr val="0B68D4"/>
            </a:solidFill>
            <a:prstDash val="solid"/>
          </a:ln>
        </p:spPr>
      </p:sp>
      <p:sp>
        <p:nvSpPr>
          <p:cNvPr id="51" name="Shape 49"/>
          <p:cNvSpPr/>
          <p:nvPr/>
        </p:nvSpPr>
        <p:spPr>
          <a:xfrm>
            <a:off x="6327648" y="4032504"/>
            <a:ext cx="128016" cy="128016"/>
          </a:xfrm>
          <a:prstGeom prst="ellipse">
            <a:avLst/>
          </a:prstGeom>
          <a:solidFill>
            <a:srgbClr val="FFFFFF">
              <a:alpha val="70000"/>
            </a:srgbClr>
          </a:solidFill>
          <a:ln w="12700">
            <a:solidFill>
              <a:srgbClr val="FFFFFF">
                <a:alpha val="70000"/>
              </a:srgbClr>
            </a:solidFill>
            <a:prstDash val="solid"/>
          </a:ln>
        </p:spPr>
      </p:sp>
      <p:sp>
        <p:nvSpPr>
          <p:cNvPr id="52" name="Text 50"/>
          <p:cNvSpPr/>
          <p:nvPr/>
        </p:nvSpPr>
        <p:spPr>
          <a:xfrm>
            <a:off x="6510528" y="3968496"/>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Account Opening LTV</a:t>
            </a:r>
            <a:endParaRPr lang="en-US" sz="900" dirty="0"/>
          </a:p>
        </p:txBody>
      </p:sp>
      <p:sp>
        <p:nvSpPr>
          <p:cNvPr id="53" name="Shape 51"/>
          <p:cNvSpPr/>
          <p:nvPr/>
        </p:nvSpPr>
        <p:spPr>
          <a:xfrm>
            <a:off x="6272784" y="4297680"/>
            <a:ext cx="2523744" cy="256032"/>
          </a:xfrm>
          <a:prstGeom prst="rect">
            <a:avLst/>
          </a:prstGeom>
          <a:solidFill>
            <a:srgbClr val="0D2E7A"/>
          </a:solidFill>
          <a:ln w="12700">
            <a:solidFill>
              <a:srgbClr val="0D2E7A"/>
            </a:solidFill>
            <a:prstDash val="solid"/>
          </a:ln>
        </p:spPr>
      </p:sp>
      <p:sp>
        <p:nvSpPr>
          <p:cNvPr id="54" name="Shape 52"/>
          <p:cNvSpPr/>
          <p:nvPr/>
        </p:nvSpPr>
        <p:spPr>
          <a:xfrm>
            <a:off x="6327648" y="4361688"/>
            <a:ext cx="128016" cy="128016"/>
          </a:xfrm>
          <a:prstGeom prst="ellipse">
            <a:avLst/>
          </a:prstGeom>
          <a:solidFill>
            <a:srgbClr val="FFFFFF">
              <a:alpha val="70000"/>
            </a:srgbClr>
          </a:solidFill>
          <a:ln w="12700">
            <a:solidFill>
              <a:srgbClr val="FFFFFF">
                <a:alpha val="70000"/>
              </a:srgbClr>
            </a:solidFill>
            <a:prstDash val="solid"/>
          </a:ln>
        </p:spPr>
      </p:sp>
      <p:sp>
        <p:nvSpPr>
          <p:cNvPr id="55" name="Text 53"/>
          <p:cNvSpPr/>
          <p:nvPr/>
        </p:nvSpPr>
        <p:spPr>
          <a:xfrm>
            <a:off x="6510528" y="4297680"/>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56" name="Shape 54"/>
          <p:cNvSpPr/>
          <p:nvPr/>
        </p:nvSpPr>
        <p:spPr>
          <a:xfrm>
            <a:off x="8055864" y="4334256"/>
            <a:ext cx="749808" cy="182880"/>
          </a:xfrm>
          <a:prstGeom prst="rect">
            <a:avLst/>
          </a:prstGeom>
          <a:solidFill>
            <a:srgbClr val="FFFFFF">
              <a:alpha val="80000"/>
            </a:srgbClr>
          </a:solidFill>
          <a:ln w="12700">
            <a:solidFill>
              <a:srgbClr val="FFFFFF">
                <a:alpha val="60000"/>
              </a:srgbClr>
            </a:solidFill>
            <a:prstDash val="solid"/>
          </a:ln>
        </p:spPr>
      </p:sp>
      <p:sp>
        <p:nvSpPr>
          <p:cNvPr id="57" name="Text 55"/>
          <p:cNvSpPr/>
          <p:nvPr/>
        </p:nvSpPr>
        <p:spPr>
          <a:xfrm>
            <a:off x="8055864" y="4334256"/>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Pilot</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Mediation MVP scoping session + FI data access agreements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2026-03-30T21:35:04Z</dcterms:created>
  <dcterms:modified xsi:type="dcterms:W3CDTF">2026-03-30T21:35:04Z</dcterms:modified>
</cp:coreProperties>
</file>