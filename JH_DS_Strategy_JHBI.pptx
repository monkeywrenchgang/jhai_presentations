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serves 1,660 financial institutions on core platforms and 7,500+ across its full ecosystem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1,660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Core FI clients — banks &amp; CUs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with deepest JH data access</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starting with our 1,660 core FI clients, expanding across the full JH ecosystem.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Real Market Opportunity — Grounded in JH's Actual Footprint</a:t>
            </a:r>
            <a:endParaRPr lang="en-US" sz="2000" dirty="0"/>
          </a:p>
        </p:txBody>
      </p:sp>
      <p:sp>
        <p:nvSpPr>
          <p:cNvPr id="4" name="Text 2"/>
          <p:cNvSpPr/>
          <p:nvPr/>
        </p:nvSpPr>
        <p:spPr>
          <a:xfrm>
            <a:off x="365760" y="749808"/>
            <a:ext cx="8412480" cy="365760"/>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Jack Henry's FY2024 10-K reports 1,660 FIs on core processing — 940 banks and 720 credit unions. The remaining ~5,870 clients use payment and complementary products only. This is the true addressable base for the AI platform.</a:t>
            </a:r>
            <a:endParaRPr lang="en-US" sz="1000" dirty="0"/>
          </a:p>
        </p:txBody>
      </p:sp>
      <p:sp>
        <p:nvSpPr>
          <p:cNvPr id="5" name="Shape 3"/>
          <p:cNvSpPr/>
          <p:nvPr/>
        </p:nvSpPr>
        <p:spPr>
          <a:xfrm>
            <a:off x="274320"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188720"/>
            <a:ext cx="2834640" cy="54864"/>
          </a:xfrm>
          <a:prstGeom prst="rect">
            <a:avLst/>
          </a:prstGeom>
          <a:solidFill>
            <a:srgbClr val="085CE5"/>
          </a:solidFill>
          <a:ln w="12700">
            <a:solidFill>
              <a:srgbClr val="085CE5"/>
            </a:solidFill>
            <a:prstDash val="solid"/>
          </a:ln>
        </p:spPr>
      </p:sp>
      <p:sp>
        <p:nvSpPr>
          <p:cNvPr id="7" name="Shape 5"/>
          <p:cNvSpPr/>
          <p:nvPr/>
        </p:nvSpPr>
        <p:spPr>
          <a:xfrm>
            <a:off x="420624" y="1298448"/>
            <a:ext cx="1005840" cy="201168"/>
          </a:xfrm>
          <a:prstGeom prst="rect">
            <a:avLst/>
          </a:prstGeom>
          <a:solidFill>
            <a:srgbClr val="085CE5"/>
          </a:solidFill>
          <a:ln w="12700">
            <a:solidFill>
              <a:srgbClr val="085CE5"/>
            </a:solidFill>
            <a:prstDash val="solid"/>
          </a:ln>
        </p:spPr>
      </p:sp>
      <p:sp>
        <p:nvSpPr>
          <p:cNvPr id="8" name="Text 6"/>
          <p:cNvSpPr/>
          <p:nvPr/>
        </p:nvSpPr>
        <p:spPr>
          <a:xfrm>
            <a:off x="420624"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PRIMARY</a:t>
            </a:r>
            <a:endParaRPr lang="en-US" sz="750" dirty="0"/>
          </a:p>
        </p:txBody>
      </p:sp>
      <p:sp>
        <p:nvSpPr>
          <p:cNvPr id="9" name="Text 7"/>
          <p:cNvSpPr/>
          <p:nvPr/>
        </p:nvSpPr>
        <p:spPr>
          <a:xfrm>
            <a:off x="420624"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Core Platform FIs</a:t>
            </a:r>
            <a:endParaRPr lang="en-US" sz="1200" dirty="0"/>
          </a:p>
        </p:txBody>
      </p:sp>
      <p:sp>
        <p:nvSpPr>
          <p:cNvPr id="10" name="Text 8"/>
          <p:cNvSpPr/>
          <p:nvPr/>
        </p:nvSpPr>
        <p:spPr>
          <a:xfrm>
            <a:off x="420624" y="1828800"/>
            <a:ext cx="2542032" cy="694944"/>
          </a:xfrm>
          <a:prstGeom prst="rect">
            <a:avLst/>
          </a:prstGeom>
          <a:noFill/>
          <a:ln/>
        </p:spPr>
        <p:txBody>
          <a:bodyPr wrap="square" lIns="0" tIns="0" rIns="0" bIns="0" rtlCol="0" anchor="ctr"/>
          <a:lstStyle/>
          <a:p>
            <a:pPr indent="0" marL="0">
              <a:buNone/>
            </a:pPr>
            <a:r>
              <a:rPr lang="en-US" sz="4600" b="1" dirty="0">
                <a:solidFill>
                  <a:srgbClr val="085CE5"/>
                </a:solidFill>
                <a:latin typeface="Calibri" pitchFamily="34" charset="0"/>
                <a:ea typeface="Calibri" pitchFamily="34" charset="-122"/>
                <a:cs typeface="Calibri" pitchFamily="34" charset="-120"/>
              </a:rPr>
              <a:t>1,660</a:t>
            </a:r>
            <a:endParaRPr lang="en-US" sz="4600" dirty="0"/>
          </a:p>
        </p:txBody>
      </p:sp>
      <p:sp>
        <p:nvSpPr>
          <p:cNvPr id="11" name="Text 9"/>
          <p:cNvSpPr/>
          <p:nvPr/>
        </p:nvSpPr>
        <p:spPr>
          <a:xfrm>
            <a:off x="420624"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940 banks  ·  720 credit unions</a:t>
            </a:r>
            <a:endParaRPr lang="en-US" sz="900" dirty="0"/>
          </a:p>
        </p:txBody>
      </p:sp>
      <p:sp>
        <p:nvSpPr>
          <p:cNvPr id="12" name="Shape 10"/>
          <p:cNvSpPr/>
          <p:nvPr/>
        </p:nvSpPr>
        <p:spPr>
          <a:xfrm>
            <a:off x="420624" y="2798064"/>
            <a:ext cx="2542032" cy="18288"/>
          </a:xfrm>
          <a:prstGeom prst="rect">
            <a:avLst/>
          </a:prstGeom>
          <a:solidFill>
            <a:srgbClr val="E7ECF0"/>
          </a:solidFill>
          <a:ln w="12700">
            <a:solidFill>
              <a:srgbClr val="E7ECF0"/>
            </a:solidFill>
            <a:prstDash val="solid"/>
          </a:ln>
        </p:spPr>
      </p:sp>
      <p:sp>
        <p:nvSpPr>
          <p:cNvPr id="13" name="Text 11"/>
          <p:cNvSpPr/>
          <p:nvPr/>
        </p:nvSpPr>
        <p:spPr>
          <a:xfrm>
            <a:off x="420624"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Full data access: core transactions, deposits, lending, digital. Highest AI value — all 5 Phase 1 apps apply. JH has 25% of target bank market and ~17% of US CU market on core.</a:t>
            </a:r>
            <a:endParaRPr lang="en-US" sz="950" dirty="0"/>
          </a:p>
        </p:txBody>
      </p:sp>
      <p:sp>
        <p:nvSpPr>
          <p:cNvPr id="14" name="Shape 12"/>
          <p:cNvSpPr/>
          <p:nvPr/>
        </p:nvSpPr>
        <p:spPr>
          <a:xfrm>
            <a:off x="3218688"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3218688" y="1188720"/>
            <a:ext cx="2834640" cy="54864"/>
          </a:xfrm>
          <a:prstGeom prst="rect">
            <a:avLst/>
          </a:prstGeom>
          <a:solidFill>
            <a:srgbClr val="073FA8"/>
          </a:solidFill>
          <a:ln w="12700">
            <a:solidFill>
              <a:srgbClr val="073FA8"/>
            </a:solidFill>
            <a:prstDash val="solid"/>
          </a:ln>
        </p:spPr>
      </p:sp>
      <p:sp>
        <p:nvSpPr>
          <p:cNvPr id="16" name="Shape 14"/>
          <p:cNvSpPr/>
          <p:nvPr/>
        </p:nvSpPr>
        <p:spPr>
          <a:xfrm>
            <a:off x="3364992" y="1298448"/>
            <a:ext cx="1005840" cy="201168"/>
          </a:xfrm>
          <a:prstGeom prst="rect">
            <a:avLst/>
          </a:prstGeom>
          <a:solidFill>
            <a:srgbClr val="073FA8"/>
          </a:solidFill>
          <a:ln w="12700">
            <a:solidFill>
              <a:srgbClr val="073FA8"/>
            </a:solidFill>
            <a:prstDash val="solid"/>
          </a:ln>
        </p:spPr>
      </p:sp>
      <p:sp>
        <p:nvSpPr>
          <p:cNvPr id="17" name="Text 15"/>
          <p:cNvSpPr/>
          <p:nvPr/>
        </p:nvSpPr>
        <p:spPr>
          <a:xfrm>
            <a:off x="3364992"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SECONDARY</a:t>
            </a:r>
            <a:endParaRPr lang="en-US" sz="750" dirty="0"/>
          </a:p>
        </p:txBody>
      </p:sp>
      <p:sp>
        <p:nvSpPr>
          <p:cNvPr id="18" name="Text 16"/>
          <p:cNvSpPr/>
          <p:nvPr/>
        </p:nvSpPr>
        <p:spPr>
          <a:xfrm>
            <a:off x="3364992"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Payment / Complementary FIs</a:t>
            </a:r>
            <a:endParaRPr lang="en-US" sz="1200" dirty="0"/>
          </a:p>
        </p:txBody>
      </p:sp>
      <p:sp>
        <p:nvSpPr>
          <p:cNvPr id="19" name="Text 17"/>
          <p:cNvSpPr/>
          <p:nvPr/>
        </p:nvSpPr>
        <p:spPr>
          <a:xfrm>
            <a:off x="3364992" y="1828800"/>
            <a:ext cx="2542032" cy="694944"/>
          </a:xfrm>
          <a:prstGeom prst="rect">
            <a:avLst/>
          </a:prstGeom>
          <a:noFill/>
          <a:ln/>
        </p:spPr>
        <p:txBody>
          <a:bodyPr wrap="square" lIns="0" tIns="0" rIns="0" bIns="0" rtlCol="0" anchor="ctr"/>
          <a:lstStyle/>
          <a:p>
            <a:pPr indent="0" marL="0">
              <a:buNone/>
            </a:pPr>
            <a:r>
              <a:rPr lang="en-US" sz="4600" b="1" dirty="0">
                <a:solidFill>
                  <a:srgbClr val="073FA8"/>
                </a:solidFill>
                <a:latin typeface="Calibri" pitchFamily="34" charset="0"/>
                <a:ea typeface="Calibri" pitchFamily="34" charset="-122"/>
                <a:cs typeface="Calibri" pitchFamily="34" charset="-120"/>
              </a:rPr>
              <a:t>5,870</a:t>
            </a:r>
            <a:endParaRPr lang="en-US" sz="4600" dirty="0"/>
          </a:p>
        </p:txBody>
      </p:sp>
      <p:sp>
        <p:nvSpPr>
          <p:cNvPr id="20" name="Text 18"/>
          <p:cNvSpPr/>
          <p:nvPr/>
        </p:nvSpPr>
        <p:spPr>
          <a:xfrm>
            <a:off x="3364992"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Payments, digital, card, bill pay</a:t>
            </a:r>
            <a:endParaRPr lang="en-US" sz="900" dirty="0"/>
          </a:p>
        </p:txBody>
      </p:sp>
      <p:sp>
        <p:nvSpPr>
          <p:cNvPr id="21" name="Shape 19"/>
          <p:cNvSpPr/>
          <p:nvPr/>
        </p:nvSpPr>
        <p:spPr>
          <a:xfrm>
            <a:off x="3364992" y="2798064"/>
            <a:ext cx="2542032" cy="18288"/>
          </a:xfrm>
          <a:prstGeom prst="rect">
            <a:avLst/>
          </a:prstGeom>
          <a:solidFill>
            <a:srgbClr val="E7ECF0"/>
          </a:solidFill>
          <a:ln w="12700">
            <a:solidFill>
              <a:srgbClr val="E7ECF0"/>
            </a:solidFill>
            <a:prstDash val="solid"/>
          </a:ln>
        </p:spPr>
      </p:sp>
      <p:sp>
        <p:nvSpPr>
          <p:cNvPr id="22" name="Text 20"/>
          <p:cNvSpPr/>
          <p:nvPr/>
        </p:nvSpPr>
        <p:spPr>
          <a:xfrm>
            <a:off x="3364992"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Payment data only — no core relationship. Zelle Memo Intelligence and Anomaly Detection apply directly. Broader sales motion; lighter data integration per FI.</a:t>
            </a:r>
            <a:endParaRPr lang="en-US" sz="950" dirty="0"/>
          </a:p>
        </p:txBody>
      </p:sp>
      <p:sp>
        <p:nvSpPr>
          <p:cNvPr id="23" name="Shape 21"/>
          <p:cNvSpPr/>
          <p:nvPr/>
        </p:nvSpPr>
        <p:spPr>
          <a:xfrm>
            <a:off x="6163056"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163056" y="1188720"/>
            <a:ext cx="2834640" cy="54864"/>
          </a:xfrm>
          <a:prstGeom prst="rect">
            <a:avLst/>
          </a:prstGeom>
          <a:solidFill>
            <a:srgbClr val="575A5D"/>
          </a:solidFill>
          <a:ln w="12700">
            <a:solidFill>
              <a:srgbClr val="575A5D"/>
            </a:solidFill>
            <a:prstDash val="solid"/>
          </a:ln>
        </p:spPr>
      </p:sp>
      <p:sp>
        <p:nvSpPr>
          <p:cNvPr id="25" name="Shape 23"/>
          <p:cNvSpPr/>
          <p:nvPr/>
        </p:nvSpPr>
        <p:spPr>
          <a:xfrm>
            <a:off x="6309360" y="1298448"/>
            <a:ext cx="1005840" cy="201168"/>
          </a:xfrm>
          <a:prstGeom prst="rect">
            <a:avLst/>
          </a:prstGeom>
          <a:solidFill>
            <a:srgbClr val="575A5D"/>
          </a:solidFill>
          <a:ln w="12700">
            <a:solidFill>
              <a:srgbClr val="575A5D"/>
            </a:solidFill>
            <a:prstDash val="solid"/>
          </a:ln>
        </p:spPr>
      </p:sp>
      <p:sp>
        <p:nvSpPr>
          <p:cNvPr id="26" name="Text 24"/>
          <p:cNvSpPr/>
          <p:nvPr/>
        </p:nvSpPr>
        <p:spPr>
          <a:xfrm>
            <a:off x="6309360"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CALLRPT AI</a:t>
            </a:r>
            <a:endParaRPr lang="en-US" sz="750" dirty="0"/>
          </a:p>
        </p:txBody>
      </p:sp>
      <p:sp>
        <p:nvSpPr>
          <p:cNvPr id="27" name="Text 25"/>
          <p:cNvSpPr/>
          <p:nvPr/>
        </p:nvSpPr>
        <p:spPr>
          <a:xfrm>
            <a:off x="6309360"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All U.S. Credit Unions</a:t>
            </a:r>
            <a:endParaRPr lang="en-US" sz="1200" dirty="0"/>
          </a:p>
        </p:txBody>
      </p:sp>
      <p:sp>
        <p:nvSpPr>
          <p:cNvPr id="28" name="Text 26"/>
          <p:cNvSpPr/>
          <p:nvPr/>
        </p:nvSpPr>
        <p:spPr>
          <a:xfrm>
            <a:off x="6309360" y="1828800"/>
            <a:ext cx="2542032" cy="694944"/>
          </a:xfrm>
          <a:prstGeom prst="rect">
            <a:avLst/>
          </a:prstGeom>
          <a:noFill/>
          <a:ln/>
        </p:spPr>
        <p:txBody>
          <a:bodyPr wrap="square" lIns="0" tIns="0" rIns="0" bIns="0" rtlCol="0" anchor="ctr"/>
          <a:lstStyle/>
          <a:p>
            <a:pPr indent="0" marL="0">
              <a:buNone/>
            </a:pPr>
            <a:r>
              <a:rPr lang="en-US" sz="4600" b="1" dirty="0">
                <a:solidFill>
                  <a:srgbClr val="575A5D"/>
                </a:solidFill>
                <a:latin typeface="Calibri" pitchFamily="34" charset="0"/>
                <a:ea typeface="Calibri" pitchFamily="34" charset="-122"/>
                <a:cs typeface="Calibri" pitchFamily="34" charset="-120"/>
              </a:rPr>
              <a:t>4,374</a:t>
            </a:r>
            <a:endParaRPr lang="en-US" sz="4600" dirty="0"/>
          </a:p>
        </p:txBody>
      </p:sp>
      <p:sp>
        <p:nvSpPr>
          <p:cNvPr id="29" name="Text 27"/>
          <p:cNvSpPr/>
          <p:nvPr/>
        </p:nvSpPr>
        <p:spPr>
          <a:xfrm>
            <a:off x="6309360"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NCUA 5300 — public regulatory data</a:t>
            </a:r>
            <a:endParaRPr lang="en-US" sz="900" dirty="0"/>
          </a:p>
        </p:txBody>
      </p:sp>
      <p:sp>
        <p:nvSpPr>
          <p:cNvPr id="30" name="Shape 28"/>
          <p:cNvSpPr/>
          <p:nvPr/>
        </p:nvSpPr>
        <p:spPr>
          <a:xfrm>
            <a:off x="6309360" y="2798064"/>
            <a:ext cx="2542032" cy="18288"/>
          </a:xfrm>
          <a:prstGeom prst="rect">
            <a:avLst/>
          </a:prstGeom>
          <a:solidFill>
            <a:srgbClr val="E7ECF0"/>
          </a:solidFill>
          <a:ln w="12700">
            <a:solidFill>
              <a:srgbClr val="E7ECF0"/>
            </a:solidFill>
            <a:prstDash val="solid"/>
          </a:ln>
        </p:spPr>
      </p:sp>
      <p:sp>
        <p:nvSpPr>
          <p:cNvPr id="31" name="Text 29"/>
          <p:cNvSpPr/>
          <p:nvPr/>
        </p:nvSpPr>
        <p:spPr>
          <a:xfrm>
            <a:off x="6309360"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Call Report AI has no JH relationship requirement. Any of the 4,374 US credit unions with $2.5T in assets is addressable — JH relationship accelerates but doesn't gate distribution.</a:t>
            </a:r>
            <a:endParaRPr lang="en-US" sz="950" dirty="0"/>
          </a:p>
        </p:txBody>
      </p:sp>
      <p:sp>
        <p:nvSpPr>
          <p:cNvPr id="32" name="Shape 30"/>
          <p:cNvSpPr/>
          <p:nvPr/>
        </p:nvSpPr>
        <p:spPr>
          <a:xfrm>
            <a:off x="274320" y="4572000"/>
            <a:ext cx="8595360" cy="457200"/>
          </a:xfrm>
          <a:prstGeom prst="rect">
            <a:avLst/>
          </a:prstGeom>
          <a:solidFill>
            <a:srgbClr val="06185F"/>
          </a:solidFill>
          <a:ln w="12700">
            <a:solidFill>
              <a:srgbClr val="06185F"/>
            </a:solidFill>
            <a:prstDash val="solid"/>
          </a:ln>
        </p:spPr>
      </p:sp>
      <p:sp>
        <p:nvSpPr>
          <p:cNvPr id="33" name="Text 31"/>
          <p:cNvSpPr/>
          <p:nvPr/>
        </p:nvSpPr>
        <p:spPr>
          <a:xfrm>
            <a:off x="457200" y="4599432"/>
            <a:ext cx="8229600"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Phase 1 targets the 1,660 core FIs first — then expands payment apps to the 5,870 complementary clients and Call Report AI to all 4,374 U.S. CUs.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Application Suite — Six Strategic Products</a:t>
            </a:r>
            <a:endParaRPr lang="en-US" sz="2200" dirty="0"/>
          </a:p>
        </p:txBody>
      </p:sp>
      <p:sp>
        <p:nvSpPr>
          <p:cNvPr id="4" name="Shape 2"/>
          <p:cNvSpPr/>
          <p:nvPr/>
        </p:nvSpPr>
        <p:spPr>
          <a:xfrm>
            <a:off x="320040" y="777240"/>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320040" y="777240"/>
            <a:ext cx="2706624" cy="65836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57200" y="905256"/>
            <a:ext cx="384048" cy="384048"/>
          </a:xfrm>
          <a:prstGeom prst="rect">
            <a:avLst/>
          </a:prstGeom>
        </p:spPr>
      </p:pic>
      <p:sp>
        <p:nvSpPr>
          <p:cNvPr id="7" name="Text 4"/>
          <p:cNvSpPr/>
          <p:nvPr/>
        </p:nvSpPr>
        <p:spPr>
          <a:xfrm>
            <a:off x="914400"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Attrition /</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Churn Mediation</a:t>
            </a:r>
            <a:endParaRPr lang="en-US" sz="1150" dirty="0"/>
          </a:p>
        </p:txBody>
      </p:sp>
      <p:sp>
        <p:nvSpPr>
          <p:cNvPr id="8" name="Text 5"/>
          <p:cNvSpPr/>
          <p:nvPr/>
        </p:nvSpPr>
        <p:spPr>
          <a:xfrm>
            <a:off x="429768" y="1508760"/>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1050" dirty="0"/>
          </a:p>
        </p:txBody>
      </p:sp>
      <p:sp>
        <p:nvSpPr>
          <p:cNvPr id="9" name="Shape 6"/>
          <p:cNvSpPr/>
          <p:nvPr/>
        </p:nvSpPr>
        <p:spPr>
          <a:xfrm>
            <a:off x="3172968" y="777240"/>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72968" y="777240"/>
            <a:ext cx="2706624" cy="658368"/>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05256"/>
            <a:ext cx="384048" cy="384048"/>
          </a:xfrm>
          <a:prstGeom prst="rect">
            <a:avLst/>
          </a:prstGeom>
        </p:spPr>
      </p:pic>
      <p:sp>
        <p:nvSpPr>
          <p:cNvPr id="12" name="Text 8"/>
          <p:cNvSpPr/>
          <p:nvPr/>
        </p:nvSpPr>
        <p:spPr>
          <a:xfrm>
            <a:off x="3767328"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Zelle Memo</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Intelligence</a:t>
            </a:r>
            <a:endParaRPr lang="en-US" sz="1150" dirty="0"/>
          </a:p>
        </p:txBody>
      </p:sp>
      <p:sp>
        <p:nvSpPr>
          <p:cNvPr id="13" name="Text 9"/>
          <p:cNvSpPr/>
          <p:nvPr/>
        </p:nvSpPr>
        <p:spPr>
          <a:xfrm>
            <a:off x="3282696" y="1508760"/>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1050" dirty="0"/>
          </a:p>
        </p:txBody>
      </p:sp>
      <p:sp>
        <p:nvSpPr>
          <p:cNvPr id="14" name="Shape 10"/>
          <p:cNvSpPr/>
          <p:nvPr/>
        </p:nvSpPr>
        <p:spPr>
          <a:xfrm>
            <a:off x="6025896" y="777240"/>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25896" y="777240"/>
            <a:ext cx="2706624" cy="658368"/>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63056" y="905256"/>
            <a:ext cx="384048" cy="384048"/>
          </a:xfrm>
          <a:prstGeom prst="rect">
            <a:avLst/>
          </a:prstGeom>
        </p:spPr>
      </p:pic>
      <p:sp>
        <p:nvSpPr>
          <p:cNvPr id="17" name="Text 12"/>
          <p:cNvSpPr/>
          <p:nvPr/>
        </p:nvSpPr>
        <p:spPr>
          <a:xfrm>
            <a:off x="6620256"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Anomaly</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Detection</a:t>
            </a:r>
            <a:endParaRPr lang="en-US" sz="1150" dirty="0"/>
          </a:p>
        </p:txBody>
      </p:sp>
      <p:sp>
        <p:nvSpPr>
          <p:cNvPr id="18" name="Text 13"/>
          <p:cNvSpPr/>
          <p:nvPr/>
        </p:nvSpPr>
        <p:spPr>
          <a:xfrm>
            <a:off x="6135624" y="1508760"/>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1050" dirty="0"/>
          </a:p>
        </p:txBody>
      </p:sp>
      <p:sp>
        <p:nvSpPr>
          <p:cNvPr id="19" name="Shape 14"/>
          <p:cNvSpPr/>
          <p:nvPr/>
        </p:nvSpPr>
        <p:spPr>
          <a:xfrm>
            <a:off x="320040" y="2953512"/>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320040" y="2953512"/>
            <a:ext cx="2706624" cy="658368"/>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457200" y="3081528"/>
            <a:ext cx="384048" cy="384048"/>
          </a:xfrm>
          <a:prstGeom prst="rect">
            <a:avLst/>
          </a:prstGeom>
        </p:spPr>
      </p:pic>
      <p:sp>
        <p:nvSpPr>
          <p:cNvPr id="22" name="Text 16"/>
          <p:cNvSpPr/>
          <p:nvPr/>
        </p:nvSpPr>
        <p:spPr>
          <a:xfrm>
            <a:off x="914400"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Call Report AI</a:t>
            </a:r>
            <a:endParaRPr lang="en-US" sz="1150" dirty="0"/>
          </a:p>
        </p:txBody>
      </p:sp>
      <p:sp>
        <p:nvSpPr>
          <p:cNvPr id="23" name="Text 17"/>
          <p:cNvSpPr/>
          <p:nvPr/>
        </p:nvSpPr>
        <p:spPr>
          <a:xfrm>
            <a:off x="429768" y="3685032"/>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Claude-powered NCUA 5300 intelligence: market pulse, NL Q&amp;A, and peer benchmarking for CU executives. In development — Aug/Sept 2026 launch.</a:t>
            </a:r>
            <a:endParaRPr lang="en-US" sz="1050" dirty="0"/>
          </a:p>
        </p:txBody>
      </p:sp>
      <p:sp>
        <p:nvSpPr>
          <p:cNvPr id="24" name="Shape 18"/>
          <p:cNvSpPr/>
          <p:nvPr/>
        </p:nvSpPr>
        <p:spPr>
          <a:xfrm>
            <a:off x="3172968" y="2953512"/>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72968" y="2953512"/>
            <a:ext cx="2706624" cy="658368"/>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3310128" y="3081528"/>
            <a:ext cx="384048" cy="384048"/>
          </a:xfrm>
          <a:prstGeom prst="rect">
            <a:avLst/>
          </a:prstGeom>
        </p:spPr>
      </p:pic>
      <p:sp>
        <p:nvSpPr>
          <p:cNvPr id="27" name="Text 20"/>
          <p:cNvSpPr/>
          <p:nvPr/>
        </p:nvSpPr>
        <p:spPr>
          <a:xfrm>
            <a:off x="3767328"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 Opening</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Lifetime Value</a:t>
            </a:r>
            <a:endParaRPr lang="en-US" sz="1150" dirty="0"/>
          </a:p>
        </p:txBody>
      </p:sp>
      <p:sp>
        <p:nvSpPr>
          <p:cNvPr id="28" name="Text 21"/>
          <p:cNvSpPr/>
          <p:nvPr/>
        </p:nvSpPr>
        <p:spPr>
          <a:xfrm>
            <a:off x="3282696" y="3685032"/>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Score new accounts by predicted LTV at opening to optimize onboarding resources and cross-sell sequencing.</a:t>
            </a:r>
            <a:endParaRPr lang="en-US" sz="1050" dirty="0"/>
          </a:p>
        </p:txBody>
      </p:sp>
      <p:sp>
        <p:nvSpPr>
          <p:cNvPr id="29" name="Shape 22"/>
          <p:cNvSpPr/>
          <p:nvPr/>
        </p:nvSpPr>
        <p:spPr>
          <a:xfrm>
            <a:off x="6025896" y="2953512"/>
            <a:ext cx="2706624" cy="19659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25896" y="2953512"/>
            <a:ext cx="2706624" cy="658368"/>
          </a:xfrm>
          <a:prstGeom prst="rect">
            <a:avLst/>
          </a:prstGeom>
          <a:solidFill>
            <a:srgbClr val="0D2E7A"/>
          </a:solidFill>
          <a:ln w="12700">
            <a:solidFill>
              <a:srgbClr val="0D2E7A"/>
            </a:solidFill>
            <a:prstDash val="solid"/>
          </a:ln>
        </p:spPr>
      </p:sp>
      <p:pic>
        <p:nvPicPr>
          <p:cNvPr id="31" name="Image 5" descr="preencoded.png">    </p:cNvPr>
          <p:cNvPicPr>
            <a:picLocks noChangeAspect="1"/>
          </p:cNvPicPr>
          <p:nvPr/>
        </p:nvPicPr>
        <p:blipFill>
          <a:blip r:embed="rId6"/>
          <a:stretch>
            <a:fillRect/>
          </a:stretch>
        </p:blipFill>
        <p:spPr>
          <a:xfrm>
            <a:off x="6163056" y="3081528"/>
            <a:ext cx="384048" cy="384048"/>
          </a:xfrm>
          <a:prstGeom prst="rect">
            <a:avLst/>
          </a:prstGeom>
        </p:spPr>
      </p:pic>
      <p:sp>
        <p:nvSpPr>
          <p:cNvPr id="32" name="Text 24"/>
          <p:cNvSpPr/>
          <p:nvPr/>
        </p:nvSpPr>
        <p:spPr>
          <a:xfrm>
            <a:off x="6620256"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 Decision</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Studio</a:t>
            </a:r>
            <a:endParaRPr lang="en-US" sz="1150" dirty="0"/>
          </a:p>
        </p:txBody>
      </p:sp>
      <p:sp>
        <p:nvSpPr>
          <p:cNvPr id="33" name="Text 25"/>
          <p:cNvSpPr/>
          <p:nvPr/>
        </p:nvSpPr>
        <p:spPr>
          <a:xfrm>
            <a:off x="6135624" y="3685032"/>
            <a:ext cx="2487168" cy="1097280"/>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No-code AutoML for FIs: upload data, train custom anomaly or supervised models, explain with SHAP, author rules, deploy as API, monitor drift.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Attrition / Churn Mediation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customer/member base annually to attrition. Without predictive capability embedded in their platform, FI staff can only react after the account is already closing — when outreach success rates drop below 20%.</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at-risk customers/members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lack behavioral risk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outreach is expensive with low conversion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High cost-to-retain vs. cost-to-acquire imbalance</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survival analysis + gradient boosted model (AutoGluon / CatBoost) embedded in the JH platform — scoring every customer and member weekly on churn probability using behavioral signals from transaction, login, product, and call data.</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AutoGluon ensemble + CatBoost scoring pipeline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values for banker-facing explainability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trigger → JH CRM / outreach workflows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model refresh with drift monitoring alerts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575A5D"/>
          </a:solidFill>
          <a:ln w="12700">
            <a:solidFill>
              <a:srgbClr val="575A5D"/>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Call Report AI</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575A5D"/>
          </a:solidFill>
          <a:ln w="12700">
            <a:solidFill>
              <a:srgbClr val="575A5D"/>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575A5D"/>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Credit union executives lack real-time, actionable intelligence from NCUA 5300 call report data. Extracting peer benchmarks, spotting risk trends, and generating board-ready summaries requires manual data pulls, Excel gymnastics, and hours of analyst time every quarter.</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NCUA 5300 data is public but difficult to query at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Peer benchmarking requires manual multi-institution comparison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Board and exec briefs take hours to prepare from raw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emerging credit quality or capital risk</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CallRpt AI — in active development, targeting Aug/Sept 2026 as a fast follow to JHBI approval — is a Claude-powered executive intelligence platform ingesting NCUA 5300 data for all 4,374 U.S. credit unions, with Payments and Core data modules to follow.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Market Pulse: industry health score, KPIs, 8-quarter trend charts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Ask: Claude-powered NL Q&amp;A on full NCUA 5300 dataset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Compare: percentile benchmarking + similar CU discovery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AI Executive Brief: one-click Claude summary per institution</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Aug '26</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launch — fast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follow to JHBI approval</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4,374</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credit unions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indexed in the platform</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$2.5T</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Total assets covered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across all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B68D4"/>
          </a:solidFill>
          <a:ln w="12700">
            <a:solidFill>
              <a:srgbClr val="0B68D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Account Opening Lifetime Value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B68D4"/>
          </a:solidFill>
          <a:ln w="12700">
            <a:solidFill>
              <a:srgbClr val="0B68D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B68D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 clients using JH's account opening platform treat every new applicant identically — the same onboarding experience, the same cross-sell timing, regardless of predicted value. High-LTV customers are underinvested; resources are wasted on low-value accounts.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LTV signal available at the account opening stage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Cross-sell sequencing is time-based, not value-informed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Acquisition ROI unmeasured by customer cohort value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Onboarding resources undifferentiated across channels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CatBoost + AutoGluon LTV regression model scoring new accounts at opening — using behavioral archetypes, product signals, and demographic proxies to route applicants to differentiated service tiers and trigger ML-guided cross-sell sequencing.</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regression + AutoGluon ensemble LTV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banker-facing explanations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tiered onboarding routing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Cohort tracking dashboard to validate model accuracy over time</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$800K+</a:t>
            </a:r>
            <a:endParaRPr lang="en-US" sz="3000" dirty="0"/>
          </a:p>
        </p:txBody>
      </p:sp>
      <p:sp>
        <p:nvSpPr>
          <p:cNvPr id="20" name="Text 17"/>
          <p:cNvSpPr/>
          <p:nvPr/>
        </p:nvSpPr>
        <p:spPr>
          <a:xfrm>
            <a:off x="43891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Incremental revenue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in Year 1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3–5×</a:t>
            </a:r>
            <a:endParaRPr lang="en-US" sz="3000" dirty="0"/>
          </a:p>
        </p:txBody>
      </p:sp>
      <p:sp>
        <p:nvSpPr>
          <p:cNvPr id="23" name="Text 20"/>
          <p:cNvSpPr/>
          <p:nvPr/>
        </p:nvSpPr>
        <p:spPr>
          <a:xfrm>
            <a:off x="336499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Cross-sell conversion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improvement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85216"/>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FY27</a:t>
            </a:r>
            <a:endParaRPr lang="en-US" sz="3000" dirty="0"/>
          </a:p>
        </p:txBody>
      </p:sp>
      <p:sp>
        <p:nvSpPr>
          <p:cNvPr id="26" name="Text 23"/>
          <p:cNvSpPr/>
          <p:nvPr/>
        </p:nvSpPr>
        <p:spPr>
          <a:xfrm>
            <a:off x="6291072" y="4389120"/>
            <a:ext cx="2414016" cy="475488"/>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969264"/>
          </a:xfrm>
          <a:prstGeom prst="rect">
            <a:avLst/>
          </a:prstGeom>
          <a:solidFill>
            <a:srgbClr val="0D2E7A"/>
          </a:solidFill>
          <a:ln w="12700">
            <a:solidFill>
              <a:srgbClr val="0D2E7A"/>
            </a:solidFill>
            <a:prstDash val="solid"/>
          </a:ln>
        </p:spPr>
      </p:sp>
      <p:pic>
        <p:nvPicPr>
          <p:cNvPr id="3" name="Image 0" descr="preencoded.png">    </p:cNvPr>
          <p:cNvPicPr>
            <a:picLocks noChangeAspect="1"/>
          </p:cNvPicPr>
          <p:nvPr/>
        </p:nvPicPr>
        <p:blipFill>
          <a:blip r:embed="rId1"/>
          <a:stretch>
            <a:fillRect/>
          </a:stretch>
        </p:blipFill>
        <p:spPr>
          <a:xfrm>
            <a:off x="347472" y="146304"/>
            <a:ext cx="621792" cy="621792"/>
          </a:xfrm>
          <a:prstGeom prst="rect">
            <a:avLst/>
          </a:prstGeom>
        </p:spPr>
      </p:pic>
      <p:sp>
        <p:nvSpPr>
          <p:cNvPr id="4" name="Text 1"/>
          <p:cNvSpPr/>
          <p:nvPr/>
        </p:nvSpPr>
        <p:spPr>
          <a:xfrm>
            <a:off x="1078992" y="73152"/>
            <a:ext cx="6858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FI Decision Studio</a:t>
            </a:r>
            <a:endParaRPr lang="en-US" sz="2800" dirty="0"/>
          </a:p>
        </p:txBody>
      </p:sp>
      <p:sp>
        <p:nvSpPr>
          <p:cNvPr id="5" name="Text 2"/>
          <p:cNvSpPr/>
          <p:nvPr/>
        </p:nvSpPr>
        <p:spPr>
          <a:xfrm>
            <a:off x="1078992" y="576072"/>
            <a:ext cx="777240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AutoML · SHAP Explainability · Rule Authoring · API Hosting · Drift Monitoring</a:t>
            </a:r>
            <a:endParaRPr lang="en-US" sz="1050" dirty="0"/>
          </a:p>
        </p:txBody>
      </p:sp>
      <p:sp>
        <p:nvSpPr>
          <p:cNvPr id="6" name="Shape 3"/>
          <p:cNvSpPr/>
          <p:nvPr/>
        </p:nvSpPr>
        <p:spPr>
          <a:xfrm>
            <a:off x="320040" y="1078992"/>
            <a:ext cx="54864" cy="256032"/>
          </a:xfrm>
          <a:prstGeom prst="rect">
            <a:avLst/>
          </a:prstGeom>
          <a:solidFill>
            <a:srgbClr val="0D2E7A"/>
          </a:solidFill>
          <a:ln w="12700">
            <a:solidFill>
              <a:srgbClr val="0D2E7A"/>
            </a:solidFill>
            <a:prstDash val="solid"/>
          </a:ln>
        </p:spPr>
      </p:sp>
      <p:sp>
        <p:nvSpPr>
          <p:cNvPr id="7" name="Text 4"/>
          <p:cNvSpPr/>
          <p:nvPr/>
        </p:nvSpPr>
        <p:spPr>
          <a:xfrm>
            <a:off x="438912"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PROBLEM</a:t>
            </a:r>
            <a:endParaRPr lang="en-US" sz="900" dirty="0"/>
          </a:p>
        </p:txBody>
      </p:sp>
      <p:sp>
        <p:nvSpPr>
          <p:cNvPr id="8" name="Text 5"/>
          <p:cNvSpPr/>
          <p:nvPr/>
        </p:nvSpPr>
        <p:spPr>
          <a:xfrm>
            <a:off x="320040" y="1353312"/>
            <a:ext cx="4160520" cy="107899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Community FIs have transaction data, behavioral signals, and fraud intuition built up over decades — but no way to turn it into models. Vendor AI is a black box that doesn't reflect local market dynamics and can't be explained to regulators under SR 11-7 model risk management guidelines. Building custom ML requires data science talent most FIs can't hire or afford.</a:t>
            </a:r>
            <a:endParaRPr lang="en-US" sz="1050" dirty="0"/>
          </a:p>
        </p:txBody>
      </p:sp>
      <p:sp>
        <p:nvSpPr>
          <p:cNvPr id="9" name="Shape 6"/>
          <p:cNvSpPr/>
          <p:nvPr/>
        </p:nvSpPr>
        <p:spPr>
          <a:xfrm>
            <a:off x="347472" y="2523744"/>
            <a:ext cx="146304" cy="146304"/>
          </a:xfrm>
          <a:prstGeom prst="ellipse">
            <a:avLst/>
          </a:prstGeom>
          <a:solidFill>
            <a:srgbClr val="0D2E7A"/>
          </a:solidFill>
          <a:ln w="12700">
            <a:solidFill>
              <a:srgbClr val="0D2E7A"/>
            </a:solidFill>
            <a:prstDash val="solid"/>
          </a:ln>
        </p:spPr>
      </p:sp>
      <p:sp>
        <p:nvSpPr>
          <p:cNvPr id="10" name="Text 7"/>
          <p:cNvSpPr/>
          <p:nvPr/>
        </p:nvSpPr>
        <p:spPr>
          <a:xfrm>
            <a:off x="566928" y="2468880"/>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labeled data to train supervised models — FIs can't even start</a:t>
            </a:r>
            <a:endParaRPr lang="en-US" sz="1000" dirty="0"/>
          </a:p>
        </p:txBody>
      </p:sp>
      <p:sp>
        <p:nvSpPr>
          <p:cNvPr id="11" name="Shape 8"/>
          <p:cNvSpPr/>
          <p:nvPr/>
        </p:nvSpPr>
        <p:spPr>
          <a:xfrm>
            <a:off x="347472" y="2852928"/>
            <a:ext cx="146304" cy="146304"/>
          </a:xfrm>
          <a:prstGeom prst="ellipse">
            <a:avLst/>
          </a:prstGeom>
          <a:solidFill>
            <a:srgbClr val="0D2E7A"/>
          </a:solidFill>
          <a:ln w="12700">
            <a:solidFill>
              <a:srgbClr val="0D2E7A"/>
            </a:solidFill>
            <a:prstDash val="solid"/>
          </a:ln>
        </p:spPr>
      </p:sp>
      <p:sp>
        <p:nvSpPr>
          <p:cNvPr id="12" name="Text 9"/>
          <p:cNvSpPr/>
          <p:nvPr/>
        </p:nvSpPr>
        <p:spPr>
          <a:xfrm>
            <a:off x="566928" y="2798064"/>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Vendor scores can't be explained to the board or examiners</a:t>
            </a:r>
            <a:endParaRPr lang="en-US" sz="1000" dirty="0"/>
          </a:p>
        </p:txBody>
      </p:sp>
      <p:sp>
        <p:nvSpPr>
          <p:cNvPr id="13" name="Shape 10"/>
          <p:cNvSpPr/>
          <p:nvPr/>
        </p:nvSpPr>
        <p:spPr>
          <a:xfrm>
            <a:off x="347472" y="3182112"/>
            <a:ext cx="146304" cy="146304"/>
          </a:xfrm>
          <a:prstGeom prst="ellipse">
            <a:avLst/>
          </a:prstGeom>
          <a:solidFill>
            <a:srgbClr val="0D2E7A"/>
          </a:solidFill>
          <a:ln w="12700">
            <a:solidFill>
              <a:srgbClr val="0D2E7A"/>
            </a:solidFill>
            <a:prstDash val="solid"/>
          </a:ln>
        </p:spPr>
      </p:sp>
      <p:sp>
        <p:nvSpPr>
          <p:cNvPr id="14" name="Text 11"/>
          <p:cNvSpPr/>
          <p:nvPr/>
        </p:nvSpPr>
        <p:spPr>
          <a:xfrm>
            <a:off x="566928" y="3127248"/>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rule authoring — compliance teams can't tune or override ML output</a:t>
            </a:r>
            <a:endParaRPr lang="en-US" sz="1000" dirty="0"/>
          </a:p>
        </p:txBody>
      </p:sp>
      <p:sp>
        <p:nvSpPr>
          <p:cNvPr id="15" name="Shape 12"/>
          <p:cNvSpPr/>
          <p:nvPr/>
        </p:nvSpPr>
        <p:spPr>
          <a:xfrm>
            <a:off x="347472" y="3511296"/>
            <a:ext cx="146304" cy="146304"/>
          </a:xfrm>
          <a:prstGeom prst="ellipse">
            <a:avLst/>
          </a:prstGeom>
          <a:solidFill>
            <a:srgbClr val="0D2E7A"/>
          </a:solidFill>
          <a:ln w="12700">
            <a:solidFill>
              <a:srgbClr val="0D2E7A"/>
            </a:solidFill>
            <a:prstDash val="solid"/>
          </a:ln>
        </p:spPr>
      </p:sp>
      <p:sp>
        <p:nvSpPr>
          <p:cNvPr id="16" name="Text 13"/>
          <p:cNvSpPr/>
          <p:nvPr/>
        </p:nvSpPr>
        <p:spPr>
          <a:xfrm>
            <a:off x="566928" y="3456432"/>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Model deployment requires engineering resources FIs don't have</a:t>
            </a:r>
            <a:endParaRPr lang="en-US" sz="1000" dirty="0"/>
          </a:p>
        </p:txBody>
      </p:sp>
      <p:sp>
        <p:nvSpPr>
          <p:cNvPr id="17" name="Shape 14"/>
          <p:cNvSpPr/>
          <p:nvPr/>
        </p:nvSpPr>
        <p:spPr>
          <a:xfrm>
            <a:off x="4663440" y="1078992"/>
            <a:ext cx="36576" cy="3273552"/>
          </a:xfrm>
          <a:prstGeom prst="rect">
            <a:avLst/>
          </a:prstGeom>
          <a:solidFill>
            <a:srgbClr val="E7ECF0"/>
          </a:solidFill>
          <a:ln w="12700">
            <a:solidFill>
              <a:srgbClr val="E7ECF0"/>
            </a:solidFill>
            <a:prstDash val="solid"/>
          </a:ln>
        </p:spPr>
      </p:sp>
      <p:sp>
        <p:nvSpPr>
          <p:cNvPr id="18" name="Shape 15"/>
          <p:cNvSpPr/>
          <p:nvPr/>
        </p:nvSpPr>
        <p:spPr>
          <a:xfrm>
            <a:off x="4828032" y="1078992"/>
            <a:ext cx="54864" cy="256032"/>
          </a:xfrm>
          <a:prstGeom prst="rect">
            <a:avLst/>
          </a:prstGeom>
          <a:solidFill>
            <a:srgbClr val="0D2E7A"/>
          </a:solidFill>
          <a:ln w="12700">
            <a:solidFill>
              <a:srgbClr val="0D2E7A"/>
            </a:solidFill>
            <a:prstDash val="solid"/>
          </a:ln>
        </p:spPr>
      </p:sp>
      <p:sp>
        <p:nvSpPr>
          <p:cNvPr id="19" name="Text 16"/>
          <p:cNvSpPr/>
          <p:nvPr/>
        </p:nvSpPr>
        <p:spPr>
          <a:xfrm>
            <a:off x="4956048"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SOLUTION</a:t>
            </a:r>
            <a:endParaRPr lang="en-US" sz="900" dirty="0"/>
          </a:p>
        </p:txBody>
      </p:sp>
      <p:sp>
        <p:nvSpPr>
          <p:cNvPr id="20" name="Text 17"/>
          <p:cNvSpPr/>
          <p:nvPr/>
        </p:nvSpPr>
        <p:spPr>
          <a:xfrm>
            <a:off x="4828032" y="1353312"/>
            <a:ext cx="3977640"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FI Decision Studio meets every FI at their label maturity. Start with zero labels — the platform detects anomalies with unsupervised ML. As analysts review and tag cases, it tracks label maturity and offers a one-click upgrade to a full AutoGluon supervised ensemble. Tree SHAP explains every prediction, a rule authoring layer converts model insights into editable human decisions, and one-click API deployment puts models into production without engineering support.</a:t>
            </a:r>
            <a:endParaRPr lang="en-US" sz="1050" dirty="0"/>
          </a:p>
        </p:txBody>
      </p:sp>
      <p:sp>
        <p:nvSpPr>
          <p:cNvPr id="21" name="Shape 18"/>
          <p:cNvSpPr/>
          <p:nvPr/>
        </p:nvSpPr>
        <p:spPr>
          <a:xfrm>
            <a:off x="4828032" y="2596896"/>
            <a:ext cx="54864" cy="256032"/>
          </a:xfrm>
          <a:prstGeom prst="rect">
            <a:avLst/>
          </a:prstGeom>
          <a:solidFill>
            <a:srgbClr val="0D2E7A"/>
          </a:solidFill>
          <a:ln w="12700">
            <a:solidFill>
              <a:srgbClr val="0D2E7A"/>
            </a:solidFill>
            <a:prstDash val="solid"/>
          </a:ln>
        </p:spPr>
      </p:sp>
      <p:sp>
        <p:nvSpPr>
          <p:cNvPr id="22" name="Text 19"/>
          <p:cNvSpPr/>
          <p:nvPr/>
        </p:nvSpPr>
        <p:spPr>
          <a:xfrm>
            <a:off x="4956048" y="2596896"/>
            <a:ext cx="32004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PLATFORM PILLARS</a:t>
            </a:r>
            <a:endParaRPr lang="en-US" sz="900" dirty="0"/>
          </a:p>
        </p:txBody>
      </p:sp>
      <p:sp>
        <p:nvSpPr>
          <p:cNvPr id="23" name="Text 20"/>
          <p:cNvSpPr/>
          <p:nvPr/>
        </p:nvSpPr>
        <p:spPr>
          <a:xfrm>
            <a:off x="4828032" y="2907792"/>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Unsupervised → Supervised: Isolation Forest until labels mature; AutoGluon (CatBoost + XGBoost) ensemble when ready</a:t>
            </a:r>
            <a:endParaRPr lang="en-US" sz="950" dirty="0"/>
          </a:p>
        </p:txBody>
      </p:sp>
      <p:sp>
        <p:nvSpPr>
          <p:cNvPr id="24" name="Text 21"/>
          <p:cNvSpPr/>
          <p:nvPr/>
        </p:nvSpPr>
        <p:spPr>
          <a:xfrm>
            <a:off x="4828032" y="3255264"/>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Tree SHAP on every prediction: top feature drivers, directional impact, plain-English output — SR 11-7 defensible</a:t>
            </a:r>
            <a:endParaRPr lang="en-US" sz="950" dirty="0"/>
          </a:p>
        </p:txBody>
      </p:sp>
      <p:sp>
        <p:nvSpPr>
          <p:cNvPr id="25" name="Text 22"/>
          <p:cNvSpPr/>
          <p:nvPr/>
        </p:nvSpPr>
        <p:spPr>
          <a:xfrm>
            <a:off x="4828032" y="3602736"/>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Rule Authoring: model insights → editable decision rules with visual threshold sliders and backtest on historical data</a:t>
            </a:r>
            <a:endParaRPr lang="en-US" sz="950" dirty="0"/>
          </a:p>
        </p:txBody>
      </p:sp>
      <p:sp>
        <p:nvSpPr>
          <p:cNvPr id="26" name="Text 23"/>
          <p:cNvSpPr/>
          <p:nvPr/>
        </p:nvSpPr>
        <p:spPr>
          <a:xfrm>
            <a:off x="4828032" y="3950208"/>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One-click API: versioned REST endpoint deployment; JH hosts, manages, and monitors — no FI engineering required</a:t>
            </a:r>
            <a:endParaRPr lang="en-US" sz="950" dirty="0"/>
          </a:p>
        </p:txBody>
      </p:sp>
      <p:sp>
        <p:nvSpPr>
          <p:cNvPr id="27" name="Text 24"/>
          <p:cNvSpPr/>
          <p:nvPr/>
        </p:nvSpPr>
        <p:spPr>
          <a:xfrm>
            <a:off x="4828032" y="4297680"/>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Drift Monitoring: PSI on feature distributions weekly; prediction drift alerts; automated retraining recommendations</a:t>
            </a:r>
            <a:endParaRPr lang="en-US" sz="950" dirty="0"/>
          </a:p>
        </p:txBody>
      </p:sp>
      <p:sp>
        <p:nvSpPr>
          <p:cNvPr id="28" name="Shape 25"/>
          <p:cNvSpPr/>
          <p:nvPr/>
        </p:nvSpPr>
        <p:spPr>
          <a:xfrm>
            <a:off x="365760" y="4224528"/>
            <a:ext cx="2560320" cy="877824"/>
          </a:xfrm>
          <a:prstGeom prst="rect">
            <a:avLst/>
          </a:prstGeom>
          <a:solidFill>
            <a:srgbClr val="0D2E7A"/>
          </a:solidFill>
          <a:ln w="12700">
            <a:solidFill>
              <a:srgbClr val="0D2E7A"/>
            </a:solidFill>
            <a:prstDash val="solid"/>
          </a:ln>
        </p:spPr>
      </p:sp>
      <p:sp>
        <p:nvSpPr>
          <p:cNvPr id="29" name="Text 26"/>
          <p:cNvSpPr/>
          <p:nvPr/>
        </p:nvSpPr>
        <p:spPr>
          <a:xfrm>
            <a:off x="36576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&lt; 2 hrs</a:t>
            </a:r>
            <a:endParaRPr lang="en-US" sz="2400" dirty="0"/>
          </a:p>
        </p:txBody>
      </p:sp>
      <p:sp>
        <p:nvSpPr>
          <p:cNvPr id="30" name="Text 27"/>
          <p:cNvSpPr/>
          <p:nvPr/>
        </p:nvSpPr>
        <p:spPr>
          <a:xfrm>
            <a:off x="36576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Data upload → first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trained model deployed</a:t>
            </a:r>
            <a:endParaRPr lang="en-US" sz="950" dirty="0"/>
          </a:p>
        </p:txBody>
      </p:sp>
      <p:sp>
        <p:nvSpPr>
          <p:cNvPr id="31" name="Shape 28"/>
          <p:cNvSpPr/>
          <p:nvPr/>
        </p:nvSpPr>
        <p:spPr>
          <a:xfrm>
            <a:off x="3291840" y="4224528"/>
            <a:ext cx="2560320" cy="877824"/>
          </a:xfrm>
          <a:prstGeom prst="rect">
            <a:avLst/>
          </a:prstGeom>
          <a:solidFill>
            <a:srgbClr val="0D2E7A"/>
          </a:solidFill>
          <a:ln w="12700">
            <a:solidFill>
              <a:srgbClr val="0D2E7A"/>
            </a:solidFill>
            <a:prstDash val="solid"/>
          </a:ln>
        </p:spPr>
      </p:sp>
      <p:sp>
        <p:nvSpPr>
          <p:cNvPr id="32" name="Text 29"/>
          <p:cNvSpPr/>
          <p:nvPr/>
        </p:nvSpPr>
        <p:spPr>
          <a:xfrm>
            <a:off x="329184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SR 11-7</a:t>
            </a:r>
            <a:endParaRPr lang="en-US" sz="2400" dirty="0"/>
          </a:p>
        </p:txBody>
      </p:sp>
      <p:sp>
        <p:nvSpPr>
          <p:cNvPr id="33" name="Text 30"/>
          <p:cNvSpPr/>
          <p:nvPr/>
        </p:nvSpPr>
        <p:spPr>
          <a:xfrm>
            <a:off x="329184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Model risk compliance</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out of the box with SHAP</a:t>
            </a:r>
            <a:endParaRPr lang="en-US" sz="950" dirty="0"/>
          </a:p>
        </p:txBody>
      </p:sp>
      <p:sp>
        <p:nvSpPr>
          <p:cNvPr id="34" name="Shape 31"/>
          <p:cNvSpPr/>
          <p:nvPr/>
        </p:nvSpPr>
        <p:spPr>
          <a:xfrm>
            <a:off x="6217920" y="4224528"/>
            <a:ext cx="2560320" cy="877824"/>
          </a:xfrm>
          <a:prstGeom prst="rect">
            <a:avLst/>
          </a:prstGeom>
          <a:solidFill>
            <a:srgbClr val="0D2E7A"/>
          </a:solidFill>
          <a:ln w="12700">
            <a:solidFill>
              <a:srgbClr val="0D2E7A"/>
            </a:solidFill>
            <a:prstDash val="solid"/>
          </a:ln>
        </p:spPr>
      </p:sp>
      <p:sp>
        <p:nvSpPr>
          <p:cNvPr id="35" name="Text 32"/>
          <p:cNvSpPr/>
          <p:nvPr/>
        </p:nvSpPr>
        <p:spPr>
          <a:xfrm>
            <a:off x="621792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 paths</a:t>
            </a:r>
            <a:endParaRPr lang="en-US" sz="2400" dirty="0"/>
          </a:p>
        </p:txBody>
      </p:sp>
      <p:sp>
        <p:nvSpPr>
          <p:cNvPr id="36" name="Text 33"/>
          <p:cNvSpPr/>
          <p:nvPr/>
        </p:nvSpPr>
        <p:spPr>
          <a:xfrm>
            <a:off x="621792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Unsupervised · supervised</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 hybrid label progression</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Across 1,660 core FI clients — and 7,500+ across the broader JH ecosystem —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475488"/>
          </a:xfrm>
          <a:prstGeom prst="rect">
            <a:avLst/>
          </a:prstGeom>
          <a:solidFill>
            <a:srgbClr val="FFFFFF"/>
          </a:solidFill>
          <a:ln w="12700">
            <a:solidFill>
              <a:srgbClr val="E7ECF0"/>
            </a:solidFill>
            <a:prstDash val="solid"/>
          </a:ln>
        </p:spPr>
      </p:sp>
      <p:sp>
        <p:nvSpPr>
          <p:cNvPr id="10" name="Shape 8"/>
          <p:cNvSpPr/>
          <p:nvPr/>
        </p:nvSpPr>
        <p:spPr>
          <a:xfrm>
            <a:off x="365760" y="1627632"/>
            <a:ext cx="91440" cy="475488"/>
          </a:xfrm>
          <a:prstGeom prst="rect">
            <a:avLst/>
          </a:prstGeom>
          <a:solidFill>
            <a:srgbClr val="085CE5"/>
          </a:solidFill>
          <a:ln w="12700">
            <a:solidFill>
              <a:srgbClr val="085CE5"/>
            </a:solidFill>
            <a:prstDash val="solid"/>
          </a:ln>
        </p:spPr>
      </p:sp>
      <p:sp>
        <p:nvSpPr>
          <p:cNvPr id="11" name="Text 9"/>
          <p:cNvSpPr/>
          <p:nvPr/>
        </p:nvSpPr>
        <p:spPr>
          <a:xfrm>
            <a:off x="502920" y="166420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Attrition / Churn Mediation</a:t>
            </a:r>
            <a:endParaRPr lang="en-US" sz="1050" dirty="0"/>
          </a:p>
        </p:txBody>
      </p:sp>
      <p:sp>
        <p:nvSpPr>
          <p:cNvPr id="12" name="Text 10"/>
          <p:cNvSpPr/>
          <p:nvPr/>
        </p:nvSpPr>
        <p:spPr>
          <a:xfrm>
            <a:off x="3108960" y="166420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$1–3M / year</a:t>
            </a:r>
            <a:endParaRPr lang="en-US" sz="1050" dirty="0"/>
          </a:p>
        </p:txBody>
      </p:sp>
      <p:sp>
        <p:nvSpPr>
          <p:cNvPr id="13" name="Text 11"/>
          <p:cNvSpPr/>
          <p:nvPr/>
        </p:nvSpPr>
        <p:spPr>
          <a:xfrm>
            <a:off x="5029200" y="166420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15–25% churn reduction × avg. customer revenue of $400–$600/yr</a:t>
            </a:r>
            <a:endParaRPr lang="en-US" sz="950" dirty="0"/>
          </a:p>
        </p:txBody>
      </p:sp>
      <p:sp>
        <p:nvSpPr>
          <p:cNvPr id="14" name="Shape 12"/>
          <p:cNvSpPr/>
          <p:nvPr/>
        </p:nvSpPr>
        <p:spPr>
          <a:xfrm>
            <a:off x="365760" y="2130552"/>
            <a:ext cx="8412480" cy="475488"/>
          </a:xfrm>
          <a:prstGeom prst="rect">
            <a:avLst/>
          </a:prstGeom>
          <a:solidFill>
            <a:srgbClr val="E7ECF0"/>
          </a:solidFill>
          <a:ln w="12700">
            <a:solidFill>
              <a:srgbClr val="E7ECF0"/>
            </a:solidFill>
            <a:prstDash val="solid"/>
          </a:ln>
        </p:spPr>
      </p:sp>
      <p:sp>
        <p:nvSpPr>
          <p:cNvPr id="15" name="Shape 13"/>
          <p:cNvSpPr/>
          <p:nvPr/>
        </p:nvSpPr>
        <p:spPr>
          <a:xfrm>
            <a:off x="365760" y="2130552"/>
            <a:ext cx="91440" cy="475488"/>
          </a:xfrm>
          <a:prstGeom prst="rect">
            <a:avLst/>
          </a:prstGeom>
          <a:solidFill>
            <a:srgbClr val="06185F"/>
          </a:solidFill>
          <a:ln w="12700">
            <a:solidFill>
              <a:srgbClr val="06185F"/>
            </a:solidFill>
            <a:prstDash val="solid"/>
          </a:ln>
        </p:spPr>
      </p:sp>
      <p:sp>
        <p:nvSpPr>
          <p:cNvPr id="16" name="Text 14"/>
          <p:cNvSpPr/>
          <p:nvPr/>
        </p:nvSpPr>
        <p:spPr>
          <a:xfrm>
            <a:off x="502920" y="216712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Zelle Memo Intelligence</a:t>
            </a:r>
            <a:endParaRPr lang="en-US" sz="1050" dirty="0"/>
          </a:p>
        </p:txBody>
      </p:sp>
      <p:sp>
        <p:nvSpPr>
          <p:cNvPr id="17" name="Text 15"/>
          <p:cNvSpPr/>
          <p:nvPr/>
        </p:nvSpPr>
        <p:spPr>
          <a:xfrm>
            <a:off x="3108960" y="216712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$250K–$600K / year</a:t>
            </a:r>
            <a:endParaRPr lang="en-US" sz="1050" dirty="0"/>
          </a:p>
        </p:txBody>
      </p:sp>
      <p:sp>
        <p:nvSpPr>
          <p:cNvPr id="18" name="Text 16"/>
          <p:cNvSpPr/>
          <p:nvPr/>
        </p:nvSpPr>
        <p:spPr>
          <a:xfrm>
            <a:off x="5029200" y="216712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950" dirty="0"/>
          </a:p>
        </p:txBody>
      </p:sp>
      <p:sp>
        <p:nvSpPr>
          <p:cNvPr id="19" name="Shape 17"/>
          <p:cNvSpPr/>
          <p:nvPr/>
        </p:nvSpPr>
        <p:spPr>
          <a:xfrm>
            <a:off x="365760" y="2633472"/>
            <a:ext cx="8412480" cy="475488"/>
          </a:xfrm>
          <a:prstGeom prst="rect">
            <a:avLst/>
          </a:prstGeom>
          <a:solidFill>
            <a:srgbClr val="FFFFFF"/>
          </a:solidFill>
          <a:ln w="12700">
            <a:solidFill>
              <a:srgbClr val="E7ECF0"/>
            </a:solidFill>
            <a:prstDash val="solid"/>
          </a:ln>
        </p:spPr>
      </p:sp>
      <p:sp>
        <p:nvSpPr>
          <p:cNvPr id="20" name="Shape 18"/>
          <p:cNvSpPr/>
          <p:nvPr/>
        </p:nvSpPr>
        <p:spPr>
          <a:xfrm>
            <a:off x="365760" y="2633472"/>
            <a:ext cx="91440" cy="475488"/>
          </a:xfrm>
          <a:prstGeom prst="rect">
            <a:avLst/>
          </a:prstGeom>
          <a:solidFill>
            <a:srgbClr val="073FA8"/>
          </a:solidFill>
          <a:ln w="12700">
            <a:solidFill>
              <a:srgbClr val="073FA8"/>
            </a:solidFill>
            <a:prstDash val="solid"/>
          </a:ln>
        </p:spPr>
      </p:sp>
      <p:sp>
        <p:nvSpPr>
          <p:cNvPr id="21" name="Text 19"/>
          <p:cNvSpPr/>
          <p:nvPr/>
        </p:nvSpPr>
        <p:spPr>
          <a:xfrm>
            <a:off x="502920" y="267004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Anomaly Detection</a:t>
            </a:r>
            <a:endParaRPr lang="en-US" sz="1050" dirty="0"/>
          </a:p>
        </p:txBody>
      </p:sp>
      <p:sp>
        <p:nvSpPr>
          <p:cNvPr id="22" name="Text 20"/>
          <p:cNvSpPr/>
          <p:nvPr/>
        </p:nvSpPr>
        <p:spPr>
          <a:xfrm>
            <a:off x="3108960" y="267004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$1–2M / year</a:t>
            </a:r>
            <a:endParaRPr lang="en-US" sz="1050" dirty="0"/>
          </a:p>
        </p:txBody>
      </p:sp>
      <p:sp>
        <p:nvSpPr>
          <p:cNvPr id="23" name="Text 21"/>
          <p:cNvSpPr/>
          <p:nvPr/>
        </p:nvSpPr>
        <p:spPr>
          <a:xfrm>
            <a:off x="5029200" y="267004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950" dirty="0"/>
          </a:p>
        </p:txBody>
      </p:sp>
      <p:sp>
        <p:nvSpPr>
          <p:cNvPr id="24" name="Shape 22"/>
          <p:cNvSpPr/>
          <p:nvPr/>
        </p:nvSpPr>
        <p:spPr>
          <a:xfrm>
            <a:off x="365760" y="3136392"/>
            <a:ext cx="8412480" cy="475488"/>
          </a:xfrm>
          <a:prstGeom prst="rect">
            <a:avLst/>
          </a:prstGeom>
          <a:solidFill>
            <a:srgbClr val="E7ECF0"/>
          </a:solidFill>
          <a:ln w="12700">
            <a:solidFill>
              <a:srgbClr val="E7ECF0"/>
            </a:solidFill>
            <a:prstDash val="solid"/>
          </a:ln>
        </p:spPr>
      </p:sp>
      <p:sp>
        <p:nvSpPr>
          <p:cNvPr id="25" name="Shape 23"/>
          <p:cNvSpPr/>
          <p:nvPr/>
        </p:nvSpPr>
        <p:spPr>
          <a:xfrm>
            <a:off x="365760" y="3136392"/>
            <a:ext cx="91440" cy="475488"/>
          </a:xfrm>
          <a:prstGeom prst="rect">
            <a:avLst/>
          </a:prstGeom>
          <a:solidFill>
            <a:srgbClr val="575A5D"/>
          </a:solidFill>
          <a:ln w="12700">
            <a:solidFill>
              <a:srgbClr val="575A5D"/>
            </a:solidFill>
            <a:prstDash val="solid"/>
          </a:ln>
        </p:spPr>
      </p:sp>
      <p:sp>
        <p:nvSpPr>
          <p:cNvPr id="26" name="Text 24"/>
          <p:cNvSpPr/>
          <p:nvPr/>
        </p:nvSpPr>
        <p:spPr>
          <a:xfrm>
            <a:off x="502920" y="317296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Call Report AI</a:t>
            </a:r>
            <a:endParaRPr lang="en-US" sz="1050" dirty="0"/>
          </a:p>
        </p:txBody>
      </p:sp>
      <p:sp>
        <p:nvSpPr>
          <p:cNvPr id="27" name="Text 25"/>
          <p:cNvSpPr/>
          <p:nvPr/>
        </p:nvSpPr>
        <p:spPr>
          <a:xfrm>
            <a:off x="3108960" y="317296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$100–$300K / year</a:t>
            </a:r>
            <a:endParaRPr lang="en-US" sz="1050" dirty="0"/>
          </a:p>
        </p:txBody>
      </p:sp>
      <p:sp>
        <p:nvSpPr>
          <p:cNvPr id="28" name="Text 26"/>
          <p:cNvSpPr/>
          <p:nvPr/>
        </p:nvSpPr>
        <p:spPr>
          <a:xfrm>
            <a:off x="5029200" y="317296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Analyst hours eliminated for peer benchmarking, board prep, and quarterly NCUA 5300 review; Aug/Sept 2026 launch</a:t>
            </a:r>
            <a:endParaRPr lang="en-US" sz="950" dirty="0"/>
          </a:p>
        </p:txBody>
      </p:sp>
      <p:sp>
        <p:nvSpPr>
          <p:cNvPr id="29" name="Shape 27"/>
          <p:cNvSpPr/>
          <p:nvPr/>
        </p:nvSpPr>
        <p:spPr>
          <a:xfrm>
            <a:off x="365760" y="3639312"/>
            <a:ext cx="8412480" cy="475488"/>
          </a:xfrm>
          <a:prstGeom prst="rect">
            <a:avLst/>
          </a:prstGeom>
          <a:solidFill>
            <a:srgbClr val="FFFFFF"/>
          </a:solidFill>
          <a:ln w="12700">
            <a:solidFill>
              <a:srgbClr val="E7ECF0"/>
            </a:solidFill>
            <a:prstDash val="solid"/>
          </a:ln>
        </p:spPr>
      </p:sp>
      <p:sp>
        <p:nvSpPr>
          <p:cNvPr id="30" name="Shape 28"/>
          <p:cNvSpPr/>
          <p:nvPr/>
        </p:nvSpPr>
        <p:spPr>
          <a:xfrm>
            <a:off x="365760" y="3639312"/>
            <a:ext cx="91440" cy="475488"/>
          </a:xfrm>
          <a:prstGeom prst="rect">
            <a:avLst/>
          </a:prstGeom>
          <a:solidFill>
            <a:srgbClr val="0B68D4"/>
          </a:solidFill>
          <a:ln w="12700">
            <a:solidFill>
              <a:srgbClr val="0B68D4"/>
            </a:solidFill>
            <a:prstDash val="solid"/>
          </a:ln>
        </p:spPr>
      </p:sp>
      <p:sp>
        <p:nvSpPr>
          <p:cNvPr id="31" name="Text 29"/>
          <p:cNvSpPr/>
          <p:nvPr/>
        </p:nvSpPr>
        <p:spPr>
          <a:xfrm>
            <a:off x="502920" y="3675888"/>
            <a:ext cx="2514600" cy="402336"/>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Account Opening LTV</a:t>
            </a:r>
            <a:endParaRPr lang="en-US" sz="1050" dirty="0"/>
          </a:p>
        </p:txBody>
      </p:sp>
      <p:sp>
        <p:nvSpPr>
          <p:cNvPr id="32" name="Text 30"/>
          <p:cNvSpPr/>
          <p:nvPr/>
        </p:nvSpPr>
        <p:spPr>
          <a:xfrm>
            <a:off x="3108960" y="3675888"/>
            <a:ext cx="1783080" cy="402336"/>
          </a:xfrm>
          <a:prstGeom prst="rect">
            <a:avLst/>
          </a:prstGeom>
          <a:noFill/>
          <a:ln/>
        </p:spPr>
        <p:txBody>
          <a:bodyPr wrap="square" lIns="0" tIns="0" rIns="0" bIns="0" rtlCol="0" anchor="ctr"/>
          <a:lstStyle/>
          <a:p>
            <a:pPr indent="0" marL="0">
              <a:buNone/>
            </a:pPr>
            <a:r>
              <a:rPr lang="en-US" sz="1050" b="1" dirty="0">
                <a:solidFill>
                  <a:srgbClr val="085CE5"/>
                </a:solidFill>
                <a:latin typeface="Calibri" pitchFamily="34" charset="0"/>
                <a:ea typeface="Calibri" pitchFamily="34" charset="-122"/>
                <a:cs typeface="Calibri" pitchFamily="34" charset="-120"/>
              </a:rPr>
              <a:t>$500K–$1.5M / year</a:t>
            </a:r>
            <a:endParaRPr lang="en-US" sz="1050" dirty="0"/>
          </a:p>
        </p:txBody>
      </p:sp>
      <p:sp>
        <p:nvSpPr>
          <p:cNvPr id="33" name="Text 31"/>
          <p:cNvSpPr/>
          <p:nvPr/>
        </p:nvSpPr>
        <p:spPr>
          <a:xfrm>
            <a:off x="5029200" y="3675888"/>
            <a:ext cx="3657600" cy="402336"/>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Tiered onboarding + 3–5× cross-sell improvement across 5,000–10,000 new accounts</a:t>
            </a:r>
            <a:endParaRPr lang="en-US" sz="950" dirty="0"/>
          </a:p>
        </p:txBody>
      </p:sp>
      <p:sp>
        <p:nvSpPr>
          <p:cNvPr id="34" name="Shape 32"/>
          <p:cNvSpPr/>
          <p:nvPr/>
        </p:nvSpPr>
        <p:spPr>
          <a:xfrm>
            <a:off x="365760" y="4142232"/>
            <a:ext cx="8412480" cy="475488"/>
          </a:xfrm>
          <a:prstGeom prst="rect">
            <a:avLst/>
          </a:prstGeom>
          <a:solidFill>
            <a:srgbClr val="06185F"/>
          </a:solidFill>
          <a:ln w="12700">
            <a:solidFill>
              <a:srgbClr val="06185F"/>
            </a:solidFill>
            <a:prstDash val="solid"/>
          </a:ln>
        </p:spPr>
      </p:sp>
      <p:sp>
        <p:nvSpPr>
          <p:cNvPr id="35" name="Text 33"/>
          <p:cNvSpPr/>
          <p:nvPr/>
        </p:nvSpPr>
        <p:spPr>
          <a:xfrm>
            <a:off x="502920" y="4178808"/>
            <a:ext cx="2514600" cy="40233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COMBINED POTENTIAL VALUE PER FI</a:t>
            </a:r>
            <a:endParaRPr lang="en-US" sz="1050" dirty="0"/>
          </a:p>
        </p:txBody>
      </p:sp>
      <p:sp>
        <p:nvSpPr>
          <p:cNvPr id="36" name="Text 34"/>
          <p:cNvSpPr/>
          <p:nvPr/>
        </p:nvSpPr>
        <p:spPr>
          <a:xfrm>
            <a:off x="3108960" y="4178808"/>
            <a:ext cx="1783080" cy="402336"/>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$3–7.5M / year</a:t>
            </a:r>
            <a:endParaRPr lang="en-US" sz="1100" dirty="0"/>
          </a:p>
        </p:txBody>
      </p:sp>
      <p:sp>
        <p:nvSpPr>
          <p:cNvPr id="37" name="Text 35"/>
          <p:cNvSpPr/>
          <p:nvPr/>
        </p:nvSpPr>
        <p:spPr>
          <a:xfrm>
            <a:off x="5029200" y="4178808"/>
            <a:ext cx="3657600" cy="402336"/>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5 Phase 1 applications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Phase 1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371600"/>
            <a:ext cx="8732520" cy="530352"/>
          </a:xfrm>
          <a:prstGeom prst="rect">
            <a:avLst/>
          </a:prstGeom>
          <a:solidFill>
            <a:srgbClr val="FFFFFF"/>
          </a:solidFill>
          <a:ln w="12700">
            <a:solidFill>
              <a:srgbClr val="E7ECF0"/>
            </a:solidFill>
            <a:prstDash val="solid"/>
          </a:ln>
        </p:spPr>
      </p:sp>
      <p:sp>
        <p:nvSpPr>
          <p:cNvPr id="11" name="Shape 9"/>
          <p:cNvSpPr/>
          <p:nvPr/>
        </p:nvSpPr>
        <p:spPr>
          <a:xfrm>
            <a:off x="320040" y="1371600"/>
            <a:ext cx="73152" cy="530352"/>
          </a:xfrm>
          <a:prstGeom prst="rect">
            <a:avLst/>
          </a:prstGeom>
          <a:solidFill>
            <a:srgbClr val="085CE5"/>
          </a:solidFill>
          <a:ln w="12700">
            <a:solidFill>
              <a:srgbClr val="085CE5"/>
            </a:solidFill>
            <a:prstDash val="solid"/>
          </a:ln>
        </p:spPr>
      </p:sp>
      <p:sp>
        <p:nvSpPr>
          <p:cNvPr id="12" name="Text 10"/>
          <p:cNvSpPr/>
          <p:nvPr/>
        </p:nvSpPr>
        <p:spPr>
          <a:xfrm>
            <a:off x="475488" y="1417320"/>
            <a:ext cx="2971800" cy="201168"/>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Attrition / Churn Mediation</a:t>
            </a:r>
            <a:endParaRPr lang="en-US" sz="1000" dirty="0"/>
          </a:p>
        </p:txBody>
      </p:sp>
      <p:sp>
        <p:nvSpPr>
          <p:cNvPr id="13" name="Text 11"/>
          <p:cNvSpPr/>
          <p:nvPr/>
        </p:nvSpPr>
        <p:spPr>
          <a:xfrm>
            <a:off x="475488" y="1636776"/>
            <a:ext cx="2971800" cy="219456"/>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ML churn scores + proactive retention triggers per member</a:t>
            </a:r>
            <a:endParaRPr lang="en-US" sz="800" dirty="0"/>
          </a:p>
        </p:txBody>
      </p:sp>
      <p:sp>
        <p:nvSpPr>
          <p:cNvPr id="14" name="Text 12"/>
          <p:cNvSpPr/>
          <p:nvPr/>
        </p:nvSpPr>
        <p:spPr>
          <a:xfrm>
            <a:off x="3520440" y="1426464"/>
            <a:ext cx="2743200" cy="420624"/>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800" dirty="0"/>
          </a:p>
        </p:txBody>
      </p:sp>
      <p:sp>
        <p:nvSpPr>
          <p:cNvPr id="15" name="Text 13"/>
          <p:cNvSpPr/>
          <p:nvPr/>
        </p:nvSpPr>
        <p:spPr>
          <a:xfrm>
            <a:off x="6355080" y="1435608"/>
            <a:ext cx="1417320" cy="274320"/>
          </a:xfrm>
          <a:prstGeom prst="rect">
            <a:avLst/>
          </a:prstGeom>
          <a:noFill/>
          <a:ln/>
        </p:spPr>
        <p:txBody>
          <a:bodyPr wrap="square" lIns="0" tIns="0" rIns="0" bIns="0" rtlCol="0" anchor="ctr"/>
          <a:lstStyle/>
          <a:p>
            <a:pPr algn="ctr" indent="0" marL="0">
              <a:buNone/>
            </a:pPr>
            <a:r>
              <a:rPr lang="en-US" sz="1200" b="1" dirty="0">
                <a:solidFill>
                  <a:srgbClr val="085CE5"/>
                </a:solidFill>
                <a:latin typeface="Calibri" pitchFamily="34" charset="0"/>
                <a:ea typeface="Calibri" pitchFamily="34" charset="-122"/>
                <a:cs typeface="Calibri" pitchFamily="34" charset="-120"/>
              </a:rPr>
              <a:t>$800 – $2,500</a:t>
            </a:r>
            <a:endParaRPr lang="en-US" sz="1200" dirty="0"/>
          </a:p>
        </p:txBody>
      </p:sp>
      <p:sp>
        <p:nvSpPr>
          <p:cNvPr id="16" name="Text 14"/>
          <p:cNvSpPr/>
          <p:nvPr/>
        </p:nvSpPr>
        <p:spPr>
          <a:xfrm>
            <a:off x="6355080" y="1719072"/>
            <a:ext cx="1417320" cy="146304"/>
          </a:xfrm>
          <a:prstGeom prst="rect">
            <a:avLst/>
          </a:prstGeom>
          <a:noFill/>
          <a:ln/>
        </p:spPr>
        <p:txBody>
          <a:bodyPr wrap="square" lIns="0" tIns="0" rIns="0" bIns="0" rtlCol="0" anchor="ctr"/>
          <a:lstStyle/>
          <a:p>
            <a:pPr algn="ctr" indent="0" marL="0">
              <a:buNone/>
            </a:pPr>
            <a:r>
              <a:rPr lang="en-US" sz="700" dirty="0">
                <a:solidFill>
                  <a:srgbClr val="B6BBC0"/>
                </a:solidFill>
                <a:latin typeface="Calibri" pitchFamily="34" charset="0"/>
                <a:ea typeface="Calibri" pitchFamily="34" charset="-122"/>
                <a:cs typeface="Calibri" pitchFamily="34" charset="-120"/>
              </a:rPr>
              <a:t>/ month per FI</a:t>
            </a:r>
            <a:endParaRPr lang="en-US" sz="700" dirty="0"/>
          </a:p>
        </p:txBody>
      </p:sp>
      <p:sp>
        <p:nvSpPr>
          <p:cNvPr id="17" name="Shape 15"/>
          <p:cNvSpPr/>
          <p:nvPr/>
        </p:nvSpPr>
        <p:spPr>
          <a:xfrm>
            <a:off x="7845552" y="1517904"/>
            <a:ext cx="1170432" cy="237744"/>
          </a:xfrm>
          <a:prstGeom prst="roundRect">
            <a:avLst>
              <a:gd name="adj" fmla="val 15385"/>
            </a:avLst>
          </a:prstGeom>
          <a:solidFill>
            <a:srgbClr val="E8F7F7"/>
          </a:solidFill>
          <a:ln w="12700">
            <a:solidFill>
              <a:srgbClr val="085CE5"/>
            </a:solidFill>
            <a:prstDash val="solid"/>
          </a:ln>
        </p:spPr>
      </p:sp>
      <p:sp>
        <p:nvSpPr>
          <p:cNvPr id="18" name="Text 16"/>
          <p:cNvSpPr/>
          <p:nvPr/>
        </p:nvSpPr>
        <p:spPr>
          <a:xfrm>
            <a:off x="7845552" y="1517904"/>
            <a:ext cx="1170432" cy="237744"/>
          </a:xfrm>
          <a:prstGeom prst="rect">
            <a:avLst/>
          </a:prstGeom>
          <a:noFill/>
          <a:ln/>
        </p:spPr>
        <p:txBody>
          <a:bodyPr wrap="square" lIns="0" tIns="0" rIns="0" bIns="0" rtlCol="0" anchor="ctr"/>
          <a:lstStyle/>
          <a:p>
            <a:pPr algn="ctr" indent="0" marL="0">
              <a:buNone/>
            </a:pPr>
            <a:r>
              <a:rPr lang="en-US" sz="700" dirty="0">
                <a:solidFill>
                  <a:srgbClr val="085CE5"/>
                </a:solidFill>
                <a:latin typeface="Calibri" pitchFamily="34" charset="0"/>
                <a:ea typeface="Calibri" pitchFamily="34" charset="-122"/>
                <a:cs typeface="Calibri" pitchFamily="34" charset="-120"/>
              </a:rPr>
              <a:t>Included in Intelligence+</a:t>
            </a:r>
            <a:endParaRPr lang="en-US" sz="700" dirty="0"/>
          </a:p>
        </p:txBody>
      </p:sp>
      <p:sp>
        <p:nvSpPr>
          <p:cNvPr id="19" name="Shape 17"/>
          <p:cNvSpPr/>
          <p:nvPr/>
        </p:nvSpPr>
        <p:spPr>
          <a:xfrm>
            <a:off x="320040" y="1938528"/>
            <a:ext cx="8732520" cy="530352"/>
          </a:xfrm>
          <a:prstGeom prst="rect">
            <a:avLst/>
          </a:prstGeom>
          <a:solidFill>
            <a:srgbClr val="E7ECF0"/>
          </a:solidFill>
          <a:ln w="12700">
            <a:solidFill>
              <a:srgbClr val="E7ECF0"/>
            </a:solidFill>
            <a:prstDash val="solid"/>
          </a:ln>
        </p:spPr>
      </p:sp>
      <p:sp>
        <p:nvSpPr>
          <p:cNvPr id="20" name="Shape 18"/>
          <p:cNvSpPr/>
          <p:nvPr/>
        </p:nvSpPr>
        <p:spPr>
          <a:xfrm>
            <a:off x="320040" y="1938528"/>
            <a:ext cx="73152" cy="530352"/>
          </a:xfrm>
          <a:prstGeom prst="rect">
            <a:avLst/>
          </a:prstGeom>
          <a:solidFill>
            <a:srgbClr val="073FA8"/>
          </a:solidFill>
          <a:ln w="12700">
            <a:solidFill>
              <a:srgbClr val="073FA8"/>
            </a:solidFill>
            <a:prstDash val="solid"/>
          </a:ln>
        </p:spPr>
      </p:sp>
      <p:sp>
        <p:nvSpPr>
          <p:cNvPr id="21" name="Text 19"/>
          <p:cNvSpPr/>
          <p:nvPr/>
        </p:nvSpPr>
        <p:spPr>
          <a:xfrm>
            <a:off x="475488" y="1984248"/>
            <a:ext cx="2971800" cy="201168"/>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Zelle Memo Intelligence</a:t>
            </a:r>
            <a:endParaRPr lang="en-US" sz="1000" dirty="0"/>
          </a:p>
        </p:txBody>
      </p:sp>
      <p:sp>
        <p:nvSpPr>
          <p:cNvPr id="22" name="Text 20"/>
          <p:cNvSpPr/>
          <p:nvPr/>
        </p:nvSpPr>
        <p:spPr>
          <a:xfrm>
            <a:off x="475488" y="2203704"/>
            <a:ext cx="2971800" cy="219456"/>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NLP + compliance risk scoring on every Zelle transaction</a:t>
            </a:r>
            <a:endParaRPr lang="en-US" sz="800" dirty="0"/>
          </a:p>
        </p:txBody>
      </p:sp>
      <p:sp>
        <p:nvSpPr>
          <p:cNvPr id="23" name="Text 21"/>
          <p:cNvSpPr/>
          <p:nvPr/>
        </p:nvSpPr>
        <p:spPr>
          <a:xfrm>
            <a:off x="3520440" y="1993392"/>
            <a:ext cx="2743200" cy="420624"/>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800" dirty="0"/>
          </a:p>
        </p:txBody>
      </p:sp>
      <p:sp>
        <p:nvSpPr>
          <p:cNvPr id="24" name="Text 22"/>
          <p:cNvSpPr/>
          <p:nvPr/>
        </p:nvSpPr>
        <p:spPr>
          <a:xfrm>
            <a:off x="6355080" y="2002536"/>
            <a:ext cx="1417320" cy="274320"/>
          </a:xfrm>
          <a:prstGeom prst="rect">
            <a:avLst/>
          </a:prstGeom>
          <a:noFill/>
          <a:ln/>
        </p:spPr>
        <p:txBody>
          <a:bodyPr wrap="square" lIns="0" tIns="0" rIns="0" bIns="0" rtlCol="0" anchor="ctr"/>
          <a:lstStyle/>
          <a:p>
            <a:pPr algn="ctr" indent="0" marL="0">
              <a:buNone/>
            </a:pPr>
            <a:r>
              <a:rPr lang="en-US" sz="1200" b="1" dirty="0">
                <a:solidFill>
                  <a:srgbClr val="085CE5"/>
                </a:solidFill>
                <a:latin typeface="Calibri" pitchFamily="34" charset="0"/>
                <a:ea typeface="Calibri" pitchFamily="34" charset="-122"/>
                <a:cs typeface="Calibri" pitchFamily="34" charset="-120"/>
              </a:rPr>
              <a:t>$400 – $1,200</a:t>
            </a:r>
            <a:endParaRPr lang="en-US" sz="1200" dirty="0"/>
          </a:p>
        </p:txBody>
      </p:sp>
      <p:sp>
        <p:nvSpPr>
          <p:cNvPr id="25" name="Text 23"/>
          <p:cNvSpPr/>
          <p:nvPr/>
        </p:nvSpPr>
        <p:spPr>
          <a:xfrm>
            <a:off x="6355080" y="2286000"/>
            <a:ext cx="1417320" cy="146304"/>
          </a:xfrm>
          <a:prstGeom prst="rect">
            <a:avLst/>
          </a:prstGeom>
          <a:noFill/>
          <a:ln/>
        </p:spPr>
        <p:txBody>
          <a:bodyPr wrap="square" lIns="0" tIns="0" rIns="0" bIns="0" rtlCol="0" anchor="ctr"/>
          <a:lstStyle/>
          <a:p>
            <a:pPr algn="ctr" indent="0" marL="0">
              <a:buNone/>
            </a:pPr>
            <a:r>
              <a:rPr lang="en-US" sz="700" dirty="0">
                <a:solidFill>
                  <a:srgbClr val="B6BBC0"/>
                </a:solidFill>
                <a:latin typeface="Calibri" pitchFamily="34" charset="0"/>
                <a:ea typeface="Calibri" pitchFamily="34" charset="-122"/>
                <a:cs typeface="Calibri" pitchFamily="34" charset="-120"/>
              </a:rPr>
              <a:t>/ month per FI</a:t>
            </a:r>
            <a:endParaRPr lang="en-US" sz="700" dirty="0"/>
          </a:p>
        </p:txBody>
      </p:sp>
      <p:sp>
        <p:nvSpPr>
          <p:cNvPr id="26" name="Shape 24"/>
          <p:cNvSpPr/>
          <p:nvPr/>
        </p:nvSpPr>
        <p:spPr>
          <a:xfrm>
            <a:off x="7845552" y="2084832"/>
            <a:ext cx="1170432" cy="237744"/>
          </a:xfrm>
          <a:prstGeom prst="roundRect">
            <a:avLst>
              <a:gd name="adj" fmla="val 15385"/>
            </a:avLst>
          </a:prstGeom>
          <a:solidFill>
            <a:srgbClr val="FFFFFF"/>
          </a:solidFill>
          <a:ln w="12700">
            <a:solidFill>
              <a:srgbClr val="085CE5"/>
            </a:solidFill>
            <a:prstDash val="solid"/>
          </a:ln>
        </p:spPr>
      </p:sp>
      <p:sp>
        <p:nvSpPr>
          <p:cNvPr id="27" name="Text 25"/>
          <p:cNvSpPr/>
          <p:nvPr/>
        </p:nvSpPr>
        <p:spPr>
          <a:xfrm>
            <a:off x="7845552" y="2084832"/>
            <a:ext cx="1170432" cy="237744"/>
          </a:xfrm>
          <a:prstGeom prst="rect">
            <a:avLst/>
          </a:prstGeom>
          <a:noFill/>
          <a:ln/>
        </p:spPr>
        <p:txBody>
          <a:bodyPr wrap="square" lIns="0" tIns="0" rIns="0" bIns="0" rtlCol="0" anchor="ctr"/>
          <a:lstStyle/>
          <a:p>
            <a:pPr algn="ctr" indent="0" marL="0">
              <a:buNone/>
            </a:pPr>
            <a:r>
              <a:rPr lang="en-US" sz="700" dirty="0">
                <a:solidFill>
                  <a:srgbClr val="085CE5"/>
                </a:solidFill>
                <a:latin typeface="Calibri" pitchFamily="34" charset="0"/>
                <a:ea typeface="Calibri" pitchFamily="34" charset="-122"/>
                <a:cs typeface="Calibri" pitchFamily="34" charset="-120"/>
              </a:rPr>
              <a:t>Included in Intelligence+</a:t>
            </a:r>
            <a:endParaRPr lang="en-US" sz="700" dirty="0"/>
          </a:p>
        </p:txBody>
      </p:sp>
      <p:sp>
        <p:nvSpPr>
          <p:cNvPr id="28" name="Shape 26"/>
          <p:cNvSpPr/>
          <p:nvPr/>
        </p:nvSpPr>
        <p:spPr>
          <a:xfrm>
            <a:off x="320040" y="2505456"/>
            <a:ext cx="8732520" cy="530352"/>
          </a:xfrm>
          <a:prstGeom prst="rect">
            <a:avLst/>
          </a:prstGeom>
          <a:solidFill>
            <a:srgbClr val="FFFFFF"/>
          </a:solidFill>
          <a:ln w="12700">
            <a:solidFill>
              <a:srgbClr val="E7ECF0"/>
            </a:solidFill>
            <a:prstDash val="solid"/>
          </a:ln>
        </p:spPr>
      </p:sp>
      <p:sp>
        <p:nvSpPr>
          <p:cNvPr id="29" name="Shape 27"/>
          <p:cNvSpPr/>
          <p:nvPr/>
        </p:nvSpPr>
        <p:spPr>
          <a:xfrm>
            <a:off x="320040" y="2505456"/>
            <a:ext cx="73152" cy="530352"/>
          </a:xfrm>
          <a:prstGeom prst="rect">
            <a:avLst/>
          </a:prstGeom>
          <a:solidFill>
            <a:srgbClr val="0D2E7A"/>
          </a:solidFill>
          <a:ln w="12700">
            <a:solidFill>
              <a:srgbClr val="0D2E7A"/>
            </a:solidFill>
            <a:prstDash val="solid"/>
          </a:ln>
        </p:spPr>
      </p:sp>
      <p:sp>
        <p:nvSpPr>
          <p:cNvPr id="30" name="Text 28"/>
          <p:cNvSpPr/>
          <p:nvPr/>
        </p:nvSpPr>
        <p:spPr>
          <a:xfrm>
            <a:off x="475488" y="2551176"/>
            <a:ext cx="2971800" cy="201168"/>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Anomaly Detection</a:t>
            </a:r>
            <a:endParaRPr lang="en-US" sz="1000" dirty="0"/>
          </a:p>
        </p:txBody>
      </p:sp>
      <p:sp>
        <p:nvSpPr>
          <p:cNvPr id="31" name="Text 29"/>
          <p:cNvSpPr/>
          <p:nvPr/>
        </p:nvSpPr>
        <p:spPr>
          <a:xfrm>
            <a:off x="475488" y="2770632"/>
            <a:ext cx="2971800" cy="219456"/>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800" dirty="0"/>
          </a:p>
        </p:txBody>
      </p:sp>
      <p:sp>
        <p:nvSpPr>
          <p:cNvPr id="32" name="Text 30"/>
          <p:cNvSpPr/>
          <p:nvPr/>
        </p:nvSpPr>
        <p:spPr>
          <a:xfrm>
            <a:off x="3520440" y="2560320"/>
            <a:ext cx="2743200" cy="420624"/>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800" dirty="0"/>
          </a:p>
        </p:txBody>
      </p:sp>
      <p:sp>
        <p:nvSpPr>
          <p:cNvPr id="33" name="Text 31"/>
          <p:cNvSpPr/>
          <p:nvPr/>
        </p:nvSpPr>
        <p:spPr>
          <a:xfrm>
            <a:off x="6355080" y="2569464"/>
            <a:ext cx="1417320" cy="274320"/>
          </a:xfrm>
          <a:prstGeom prst="rect">
            <a:avLst/>
          </a:prstGeom>
          <a:noFill/>
          <a:ln/>
        </p:spPr>
        <p:txBody>
          <a:bodyPr wrap="square" lIns="0" tIns="0" rIns="0" bIns="0" rtlCol="0" anchor="ctr"/>
          <a:lstStyle/>
          <a:p>
            <a:pPr algn="ctr" indent="0" marL="0">
              <a:buNone/>
            </a:pPr>
            <a:r>
              <a:rPr lang="en-US" sz="1200" b="1" dirty="0">
                <a:solidFill>
                  <a:srgbClr val="085CE5"/>
                </a:solidFill>
                <a:latin typeface="Calibri" pitchFamily="34" charset="0"/>
                <a:ea typeface="Calibri" pitchFamily="34" charset="-122"/>
                <a:cs typeface="Calibri" pitchFamily="34" charset="-120"/>
              </a:rPr>
              <a:t>$600 – $2,000</a:t>
            </a:r>
            <a:endParaRPr lang="en-US" sz="1200" dirty="0"/>
          </a:p>
        </p:txBody>
      </p:sp>
      <p:sp>
        <p:nvSpPr>
          <p:cNvPr id="34" name="Text 32"/>
          <p:cNvSpPr/>
          <p:nvPr/>
        </p:nvSpPr>
        <p:spPr>
          <a:xfrm>
            <a:off x="6355080" y="2852928"/>
            <a:ext cx="1417320" cy="146304"/>
          </a:xfrm>
          <a:prstGeom prst="rect">
            <a:avLst/>
          </a:prstGeom>
          <a:noFill/>
          <a:ln/>
        </p:spPr>
        <p:txBody>
          <a:bodyPr wrap="square" lIns="0" tIns="0" rIns="0" bIns="0" rtlCol="0" anchor="ctr"/>
          <a:lstStyle/>
          <a:p>
            <a:pPr algn="ctr" indent="0" marL="0">
              <a:buNone/>
            </a:pPr>
            <a:r>
              <a:rPr lang="en-US" sz="700" dirty="0">
                <a:solidFill>
                  <a:srgbClr val="B6BBC0"/>
                </a:solidFill>
                <a:latin typeface="Calibri" pitchFamily="34" charset="0"/>
                <a:ea typeface="Calibri" pitchFamily="34" charset="-122"/>
                <a:cs typeface="Calibri" pitchFamily="34" charset="-120"/>
              </a:rPr>
              <a:t>/ month per FI</a:t>
            </a:r>
            <a:endParaRPr lang="en-US" sz="700" dirty="0"/>
          </a:p>
        </p:txBody>
      </p:sp>
      <p:sp>
        <p:nvSpPr>
          <p:cNvPr id="35" name="Shape 33"/>
          <p:cNvSpPr/>
          <p:nvPr/>
        </p:nvSpPr>
        <p:spPr>
          <a:xfrm>
            <a:off x="7845552" y="2651760"/>
            <a:ext cx="1170432" cy="237744"/>
          </a:xfrm>
          <a:prstGeom prst="roundRect">
            <a:avLst>
              <a:gd name="adj" fmla="val 15385"/>
            </a:avLst>
          </a:prstGeom>
          <a:solidFill>
            <a:srgbClr val="E8F7F7"/>
          </a:solidFill>
          <a:ln w="12700">
            <a:solidFill>
              <a:srgbClr val="085CE5"/>
            </a:solidFill>
            <a:prstDash val="solid"/>
          </a:ln>
        </p:spPr>
      </p:sp>
      <p:sp>
        <p:nvSpPr>
          <p:cNvPr id="36" name="Text 34"/>
          <p:cNvSpPr/>
          <p:nvPr/>
        </p:nvSpPr>
        <p:spPr>
          <a:xfrm>
            <a:off x="7845552" y="2651760"/>
            <a:ext cx="1170432" cy="237744"/>
          </a:xfrm>
          <a:prstGeom prst="rect">
            <a:avLst/>
          </a:prstGeom>
          <a:noFill/>
          <a:ln/>
        </p:spPr>
        <p:txBody>
          <a:bodyPr wrap="square" lIns="0" tIns="0" rIns="0" bIns="0" rtlCol="0" anchor="ctr"/>
          <a:lstStyle/>
          <a:p>
            <a:pPr algn="ctr" indent="0" marL="0">
              <a:buNone/>
            </a:pPr>
            <a:r>
              <a:rPr lang="en-US" sz="700" dirty="0">
                <a:solidFill>
                  <a:srgbClr val="085CE5"/>
                </a:solidFill>
                <a:latin typeface="Calibri" pitchFamily="34" charset="0"/>
                <a:ea typeface="Calibri" pitchFamily="34" charset="-122"/>
                <a:cs typeface="Calibri" pitchFamily="34" charset="-120"/>
              </a:rPr>
              <a:t>Included in Intelligence+</a:t>
            </a:r>
            <a:endParaRPr lang="en-US" sz="700" dirty="0"/>
          </a:p>
        </p:txBody>
      </p:sp>
      <p:sp>
        <p:nvSpPr>
          <p:cNvPr id="37" name="Shape 35"/>
          <p:cNvSpPr/>
          <p:nvPr/>
        </p:nvSpPr>
        <p:spPr>
          <a:xfrm>
            <a:off x="320040" y="3072384"/>
            <a:ext cx="8732520" cy="530352"/>
          </a:xfrm>
          <a:prstGeom prst="rect">
            <a:avLst/>
          </a:prstGeom>
          <a:solidFill>
            <a:srgbClr val="E7ECF0"/>
          </a:solidFill>
          <a:ln w="12700">
            <a:solidFill>
              <a:srgbClr val="E7ECF0"/>
            </a:solidFill>
            <a:prstDash val="solid"/>
          </a:ln>
        </p:spPr>
      </p:sp>
      <p:sp>
        <p:nvSpPr>
          <p:cNvPr id="38" name="Shape 36"/>
          <p:cNvSpPr/>
          <p:nvPr/>
        </p:nvSpPr>
        <p:spPr>
          <a:xfrm>
            <a:off x="320040" y="3072384"/>
            <a:ext cx="73152" cy="530352"/>
          </a:xfrm>
          <a:prstGeom prst="rect">
            <a:avLst/>
          </a:prstGeom>
          <a:solidFill>
            <a:srgbClr val="0B68D4"/>
          </a:solidFill>
          <a:ln w="12700">
            <a:solidFill>
              <a:srgbClr val="0B68D4"/>
            </a:solidFill>
            <a:prstDash val="solid"/>
          </a:ln>
        </p:spPr>
      </p:sp>
      <p:sp>
        <p:nvSpPr>
          <p:cNvPr id="39" name="Text 37"/>
          <p:cNvSpPr/>
          <p:nvPr/>
        </p:nvSpPr>
        <p:spPr>
          <a:xfrm>
            <a:off x="475488" y="3118104"/>
            <a:ext cx="2971800" cy="201168"/>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Call Report AI (CallRpt AI)</a:t>
            </a:r>
            <a:endParaRPr lang="en-US" sz="1000" dirty="0"/>
          </a:p>
        </p:txBody>
      </p:sp>
      <p:sp>
        <p:nvSpPr>
          <p:cNvPr id="40" name="Text 38"/>
          <p:cNvSpPr/>
          <p:nvPr/>
        </p:nvSpPr>
        <p:spPr>
          <a:xfrm>
            <a:off x="475488" y="3337560"/>
            <a:ext cx="2971800" cy="219456"/>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NCUA 5300 intelligence — Pulse, Ask, Compare + AI briefs</a:t>
            </a:r>
            <a:endParaRPr lang="en-US" sz="800" dirty="0"/>
          </a:p>
        </p:txBody>
      </p:sp>
      <p:sp>
        <p:nvSpPr>
          <p:cNvPr id="41" name="Text 39"/>
          <p:cNvSpPr/>
          <p:nvPr/>
        </p:nvSpPr>
        <p:spPr>
          <a:xfrm>
            <a:off x="3520440" y="3127248"/>
            <a:ext cx="2743200" cy="420624"/>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Eliminates hours of peer benchmarking &amp; board prep per quarter · Aug/Sept 2026</a:t>
            </a:r>
            <a:endParaRPr lang="en-US" sz="800" dirty="0"/>
          </a:p>
        </p:txBody>
      </p:sp>
      <p:sp>
        <p:nvSpPr>
          <p:cNvPr id="42" name="Text 40"/>
          <p:cNvSpPr/>
          <p:nvPr/>
        </p:nvSpPr>
        <p:spPr>
          <a:xfrm>
            <a:off x="6355080" y="3136392"/>
            <a:ext cx="1417320" cy="274320"/>
          </a:xfrm>
          <a:prstGeom prst="rect">
            <a:avLst/>
          </a:prstGeom>
          <a:noFill/>
          <a:ln/>
        </p:spPr>
        <p:txBody>
          <a:bodyPr wrap="square" lIns="0" tIns="0" rIns="0" bIns="0" rtlCol="0" anchor="ctr"/>
          <a:lstStyle/>
          <a:p>
            <a:pPr algn="ctr" indent="0" marL="0">
              <a:buNone/>
            </a:pPr>
            <a:r>
              <a:rPr lang="en-US" sz="1200" b="1" dirty="0">
                <a:solidFill>
                  <a:srgbClr val="085CE5"/>
                </a:solidFill>
                <a:latin typeface="Calibri" pitchFamily="34" charset="0"/>
                <a:ea typeface="Calibri" pitchFamily="34" charset="-122"/>
                <a:cs typeface="Calibri" pitchFamily="34" charset="-120"/>
              </a:rPr>
              <a:t>$300 – $1,000</a:t>
            </a:r>
            <a:endParaRPr lang="en-US" sz="1200" dirty="0"/>
          </a:p>
        </p:txBody>
      </p:sp>
      <p:sp>
        <p:nvSpPr>
          <p:cNvPr id="43" name="Text 41"/>
          <p:cNvSpPr/>
          <p:nvPr/>
        </p:nvSpPr>
        <p:spPr>
          <a:xfrm>
            <a:off x="6355080" y="3419856"/>
            <a:ext cx="1417320" cy="146304"/>
          </a:xfrm>
          <a:prstGeom prst="rect">
            <a:avLst/>
          </a:prstGeom>
          <a:noFill/>
          <a:ln/>
        </p:spPr>
        <p:txBody>
          <a:bodyPr wrap="square" lIns="0" tIns="0" rIns="0" bIns="0" rtlCol="0" anchor="ctr"/>
          <a:lstStyle/>
          <a:p>
            <a:pPr algn="ctr" indent="0" marL="0">
              <a:buNone/>
            </a:pPr>
            <a:r>
              <a:rPr lang="en-US" sz="700" dirty="0">
                <a:solidFill>
                  <a:srgbClr val="B6BBC0"/>
                </a:solidFill>
                <a:latin typeface="Calibri" pitchFamily="34" charset="0"/>
                <a:ea typeface="Calibri" pitchFamily="34" charset="-122"/>
                <a:cs typeface="Calibri" pitchFamily="34" charset="-120"/>
              </a:rPr>
              <a:t>/ month per FI</a:t>
            </a:r>
            <a:endParaRPr lang="en-US" sz="700" dirty="0"/>
          </a:p>
        </p:txBody>
      </p:sp>
      <p:sp>
        <p:nvSpPr>
          <p:cNvPr id="44" name="Shape 42"/>
          <p:cNvSpPr/>
          <p:nvPr/>
        </p:nvSpPr>
        <p:spPr>
          <a:xfrm>
            <a:off x="7845552" y="3218688"/>
            <a:ext cx="1170432" cy="237744"/>
          </a:xfrm>
          <a:prstGeom prst="roundRect">
            <a:avLst>
              <a:gd name="adj" fmla="val 15385"/>
            </a:avLst>
          </a:prstGeom>
          <a:solidFill>
            <a:srgbClr val="FFFFFF"/>
          </a:solidFill>
          <a:ln w="12700">
            <a:solidFill>
              <a:srgbClr val="085CE5"/>
            </a:solidFill>
            <a:prstDash val="solid"/>
          </a:ln>
        </p:spPr>
      </p:sp>
      <p:sp>
        <p:nvSpPr>
          <p:cNvPr id="45" name="Text 43"/>
          <p:cNvSpPr/>
          <p:nvPr/>
        </p:nvSpPr>
        <p:spPr>
          <a:xfrm>
            <a:off x="7845552" y="3218688"/>
            <a:ext cx="1170432" cy="237744"/>
          </a:xfrm>
          <a:prstGeom prst="rect">
            <a:avLst/>
          </a:prstGeom>
          <a:noFill/>
          <a:ln/>
        </p:spPr>
        <p:txBody>
          <a:bodyPr wrap="square" lIns="0" tIns="0" rIns="0" bIns="0" rtlCol="0" anchor="ctr"/>
          <a:lstStyle/>
          <a:p>
            <a:pPr algn="ctr" indent="0" marL="0">
              <a:buNone/>
            </a:pPr>
            <a:r>
              <a:rPr lang="en-US" sz="700" dirty="0">
                <a:solidFill>
                  <a:srgbClr val="085CE5"/>
                </a:solidFill>
                <a:latin typeface="Calibri" pitchFamily="34" charset="0"/>
                <a:ea typeface="Calibri" pitchFamily="34" charset="-122"/>
                <a:cs typeface="Calibri" pitchFamily="34" charset="-120"/>
              </a:rPr>
              <a:t>Included in all tiers</a:t>
            </a:r>
            <a:endParaRPr lang="en-US" sz="700" dirty="0"/>
          </a:p>
        </p:txBody>
      </p:sp>
      <p:sp>
        <p:nvSpPr>
          <p:cNvPr id="46" name="Shape 44"/>
          <p:cNvSpPr/>
          <p:nvPr/>
        </p:nvSpPr>
        <p:spPr>
          <a:xfrm>
            <a:off x="320040" y="3639312"/>
            <a:ext cx="8732520" cy="530352"/>
          </a:xfrm>
          <a:prstGeom prst="rect">
            <a:avLst/>
          </a:prstGeom>
          <a:solidFill>
            <a:srgbClr val="FFFFFF"/>
          </a:solidFill>
          <a:ln w="12700">
            <a:solidFill>
              <a:srgbClr val="E7ECF0"/>
            </a:solidFill>
            <a:prstDash val="solid"/>
          </a:ln>
        </p:spPr>
      </p:sp>
      <p:sp>
        <p:nvSpPr>
          <p:cNvPr id="47" name="Shape 45"/>
          <p:cNvSpPr/>
          <p:nvPr/>
        </p:nvSpPr>
        <p:spPr>
          <a:xfrm>
            <a:off x="320040" y="3639312"/>
            <a:ext cx="73152" cy="530352"/>
          </a:xfrm>
          <a:prstGeom prst="rect">
            <a:avLst/>
          </a:prstGeom>
          <a:solidFill>
            <a:srgbClr val="0B68D4"/>
          </a:solidFill>
          <a:ln w="12700">
            <a:solidFill>
              <a:srgbClr val="0B68D4"/>
            </a:solidFill>
            <a:prstDash val="solid"/>
          </a:ln>
        </p:spPr>
      </p:sp>
      <p:sp>
        <p:nvSpPr>
          <p:cNvPr id="48" name="Text 46"/>
          <p:cNvSpPr/>
          <p:nvPr/>
        </p:nvSpPr>
        <p:spPr>
          <a:xfrm>
            <a:off x="475488" y="3685032"/>
            <a:ext cx="2971800" cy="201168"/>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Account Opening LTV Model</a:t>
            </a:r>
            <a:endParaRPr lang="en-US" sz="1000" dirty="0"/>
          </a:p>
        </p:txBody>
      </p:sp>
      <p:sp>
        <p:nvSpPr>
          <p:cNvPr id="49" name="Text 47"/>
          <p:cNvSpPr/>
          <p:nvPr/>
        </p:nvSpPr>
        <p:spPr>
          <a:xfrm>
            <a:off x="475488" y="3904488"/>
            <a:ext cx="2971800" cy="219456"/>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Lifetime value scoring at account open · tiered onboarding triggers</a:t>
            </a:r>
            <a:endParaRPr lang="en-US" sz="800" dirty="0"/>
          </a:p>
        </p:txBody>
      </p:sp>
      <p:sp>
        <p:nvSpPr>
          <p:cNvPr id="50" name="Text 48"/>
          <p:cNvSpPr/>
          <p:nvPr/>
        </p:nvSpPr>
        <p:spPr>
          <a:xfrm>
            <a:off x="3520440" y="3694176"/>
            <a:ext cx="2743200" cy="420624"/>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3–5× cross-sell lift · 20–30% improvement in 90-day product adoption</a:t>
            </a:r>
            <a:endParaRPr lang="en-US" sz="800" dirty="0"/>
          </a:p>
        </p:txBody>
      </p:sp>
      <p:sp>
        <p:nvSpPr>
          <p:cNvPr id="51" name="Text 49"/>
          <p:cNvSpPr/>
          <p:nvPr/>
        </p:nvSpPr>
        <p:spPr>
          <a:xfrm>
            <a:off x="6355080" y="3703320"/>
            <a:ext cx="1417320" cy="274320"/>
          </a:xfrm>
          <a:prstGeom prst="rect">
            <a:avLst/>
          </a:prstGeom>
          <a:noFill/>
          <a:ln/>
        </p:spPr>
        <p:txBody>
          <a:bodyPr wrap="square" lIns="0" tIns="0" rIns="0" bIns="0" rtlCol="0" anchor="ctr"/>
          <a:lstStyle/>
          <a:p>
            <a:pPr algn="ctr" indent="0" marL="0">
              <a:buNone/>
            </a:pPr>
            <a:r>
              <a:rPr lang="en-US" sz="1200" b="1" dirty="0">
                <a:solidFill>
                  <a:srgbClr val="085CE5"/>
                </a:solidFill>
                <a:latin typeface="Calibri" pitchFamily="34" charset="0"/>
                <a:ea typeface="Calibri" pitchFamily="34" charset="-122"/>
                <a:cs typeface="Calibri" pitchFamily="34" charset="-120"/>
              </a:rPr>
              <a:t>$500 – $1,500</a:t>
            </a:r>
            <a:endParaRPr lang="en-US" sz="1200" dirty="0"/>
          </a:p>
        </p:txBody>
      </p:sp>
      <p:sp>
        <p:nvSpPr>
          <p:cNvPr id="52" name="Text 50"/>
          <p:cNvSpPr/>
          <p:nvPr/>
        </p:nvSpPr>
        <p:spPr>
          <a:xfrm>
            <a:off x="6355080" y="3986784"/>
            <a:ext cx="1417320" cy="146304"/>
          </a:xfrm>
          <a:prstGeom prst="rect">
            <a:avLst/>
          </a:prstGeom>
          <a:noFill/>
          <a:ln/>
        </p:spPr>
        <p:txBody>
          <a:bodyPr wrap="square" lIns="0" tIns="0" rIns="0" bIns="0" rtlCol="0" anchor="ctr"/>
          <a:lstStyle/>
          <a:p>
            <a:pPr algn="ctr" indent="0" marL="0">
              <a:buNone/>
            </a:pPr>
            <a:r>
              <a:rPr lang="en-US" sz="700" dirty="0">
                <a:solidFill>
                  <a:srgbClr val="B6BBC0"/>
                </a:solidFill>
                <a:latin typeface="Calibri" pitchFamily="34" charset="0"/>
                <a:ea typeface="Calibri" pitchFamily="34" charset="-122"/>
                <a:cs typeface="Calibri" pitchFamily="34" charset="-120"/>
              </a:rPr>
              <a:t>/ month per FI</a:t>
            </a:r>
            <a:endParaRPr lang="en-US" sz="700" dirty="0"/>
          </a:p>
        </p:txBody>
      </p:sp>
      <p:sp>
        <p:nvSpPr>
          <p:cNvPr id="53" name="Shape 51"/>
          <p:cNvSpPr/>
          <p:nvPr/>
        </p:nvSpPr>
        <p:spPr>
          <a:xfrm>
            <a:off x="7845552" y="3785616"/>
            <a:ext cx="1170432" cy="237744"/>
          </a:xfrm>
          <a:prstGeom prst="roundRect">
            <a:avLst>
              <a:gd name="adj" fmla="val 15385"/>
            </a:avLst>
          </a:prstGeom>
          <a:solidFill>
            <a:srgbClr val="E8F7F7"/>
          </a:solidFill>
          <a:ln w="12700">
            <a:solidFill>
              <a:srgbClr val="085CE5"/>
            </a:solidFill>
            <a:prstDash val="solid"/>
          </a:ln>
        </p:spPr>
      </p:sp>
      <p:sp>
        <p:nvSpPr>
          <p:cNvPr id="54" name="Text 52"/>
          <p:cNvSpPr/>
          <p:nvPr/>
        </p:nvSpPr>
        <p:spPr>
          <a:xfrm>
            <a:off x="7845552" y="3785616"/>
            <a:ext cx="1170432" cy="237744"/>
          </a:xfrm>
          <a:prstGeom prst="rect">
            <a:avLst/>
          </a:prstGeom>
          <a:noFill/>
          <a:ln/>
        </p:spPr>
        <p:txBody>
          <a:bodyPr wrap="square" lIns="0" tIns="0" rIns="0" bIns="0" rtlCol="0" anchor="ctr"/>
          <a:lstStyle/>
          <a:p>
            <a:pPr algn="ctr" indent="0" marL="0">
              <a:buNone/>
            </a:pPr>
            <a:r>
              <a:rPr lang="en-US" sz="700" dirty="0">
                <a:solidFill>
                  <a:srgbClr val="085CE5"/>
                </a:solidFill>
                <a:latin typeface="Calibri" pitchFamily="34" charset="0"/>
                <a:ea typeface="Calibri" pitchFamily="34" charset="-122"/>
                <a:cs typeface="Calibri" pitchFamily="34" charset="-120"/>
              </a:rPr>
              <a:t>Included in Intelligence+</a:t>
            </a:r>
            <a:endParaRPr lang="en-US" sz="700" dirty="0"/>
          </a:p>
        </p:txBody>
      </p:sp>
      <p:sp>
        <p:nvSpPr>
          <p:cNvPr id="55" name="Shape 53"/>
          <p:cNvSpPr/>
          <p:nvPr/>
        </p:nvSpPr>
        <p:spPr>
          <a:xfrm>
            <a:off x="320040" y="4206240"/>
            <a:ext cx="8732520" cy="530352"/>
          </a:xfrm>
          <a:prstGeom prst="rect">
            <a:avLst/>
          </a:prstGeom>
          <a:solidFill>
            <a:srgbClr val="E7ECF0"/>
          </a:solidFill>
          <a:ln w="12700">
            <a:solidFill>
              <a:srgbClr val="E7ECF0"/>
            </a:solidFill>
            <a:prstDash val="solid"/>
          </a:ln>
        </p:spPr>
      </p:sp>
      <p:sp>
        <p:nvSpPr>
          <p:cNvPr id="56" name="Shape 54"/>
          <p:cNvSpPr/>
          <p:nvPr/>
        </p:nvSpPr>
        <p:spPr>
          <a:xfrm>
            <a:off x="320040" y="4206240"/>
            <a:ext cx="73152" cy="530352"/>
          </a:xfrm>
          <a:prstGeom prst="rect">
            <a:avLst/>
          </a:prstGeom>
          <a:solidFill>
            <a:srgbClr val="0D2E7A"/>
          </a:solidFill>
          <a:ln w="12700">
            <a:solidFill>
              <a:srgbClr val="0D2E7A"/>
            </a:solidFill>
            <a:prstDash val="solid"/>
          </a:ln>
        </p:spPr>
      </p:sp>
      <p:sp>
        <p:nvSpPr>
          <p:cNvPr id="57" name="Text 55"/>
          <p:cNvSpPr/>
          <p:nvPr/>
        </p:nvSpPr>
        <p:spPr>
          <a:xfrm>
            <a:off x="475488" y="4251960"/>
            <a:ext cx="2971800" cy="201168"/>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FI Decision Studio</a:t>
            </a:r>
            <a:endParaRPr lang="en-US" sz="1000" dirty="0"/>
          </a:p>
        </p:txBody>
      </p:sp>
      <p:sp>
        <p:nvSpPr>
          <p:cNvPr id="58" name="Text 56"/>
          <p:cNvSpPr/>
          <p:nvPr/>
        </p:nvSpPr>
        <p:spPr>
          <a:xfrm>
            <a:off x="475488" y="4471416"/>
            <a:ext cx="2971800" cy="219456"/>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No-code AutoML — unsupervised → supervised + rule authoring + API deploy</a:t>
            </a:r>
            <a:endParaRPr lang="en-US" sz="800" dirty="0"/>
          </a:p>
        </p:txBody>
      </p:sp>
      <p:sp>
        <p:nvSpPr>
          <p:cNvPr id="59" name="Text 57"/>
          <p:cNvSpPr/>
          <p:nvPr/>
        </p:nvSpPr>
        <p:spPr>
          <a:xfrm>
            <a:off x="3520440" y="4261104"/>
            <a:ext cx="2743200" cy="420624"/>
          </a:xfrm>
          <a:prstGeom prst="rect">
            <a:avLst/>
          </a:prstGeom>
          <a:noFill/>
          <a:ln/>
        </p:spPr>
        <p:txBody>
          <a:bodyPr wrap="square" lIns="0" tIns="0" rIns="0" bIns="0" rtlCol="0" anchor="ctr"/>
          <a:lstStyle/>
          <a:p>
            <a:pPr indent="0" marL="0">
              <a:buNone/>
            </a:pPr>
            <a:r>
              <a:rPr lang="en-US" sz="800" dirty="0">
                <a:solidFill>
                  <a:srgbClr val="575A5D"/>
                </a:solidFill>
                <a:latin typeface="Calibri" pitchFamily="34" charset="0"/>
                <a:ea typeface="Calibri" pitchFamily="34" charset="-122"/>
                <a:cs typeface="Calibri" pitchFamily="34" charset="-120"/>
              </a:rPr>
              <a:t>SR 11-7 defensible SHAP explainability · custom models on FI's own data · no ML team required</a:t>
            </a:r>
            <a:endParaRPr lang="en-US" sz="800" dirty="0"/>
          </a:p>
        </p:txBody>
      </p:sp>
      <p:sp>
        <p:nvSpPr>
          <p:cNvPr id="60" name="Text 58"/>
          <p:cNvSpPr/>
          <p:nvPr/>
        </p:nvSpPr>
        <p:spPr>
          <a:xfrm>
            <a:off x="6355080" y="4270248"/>
            <a:ext cx="1417320" cy="274320"/>
          </a:xfrm>
          <a:prstGeom prst="rect">
            <a:avLst/>
          </a:prstGeom>
          <a:noFill/>
          <a:ln/>
        </p:spPr>
        <p:txBody>
          <a:bodyPr wrap="square" lIns="0" tIns="0" rIns="0" bIns="0" rtlCol="0" anchor="ctr"/>
          <a:lstStyle/>
          <a:p>
            <a:pPr algn="ctr" indent="0" marL="0">
              <a:buNone/>
            </a:pPr>
            <a:r>
              <a:rPr lang="en-US" sz="1200" b="1" dirty="0">
                <a:solidFill>
                  <a:srgbClr val="085CE5"/>
                </a:solidFill>
                <a:latin typeface="Calibri" pitchFamily="34" charset="0"/>
                <a:ea typeface="Calibri" pitchFamily="34" charset="-122"/>
                <a:cs typeface="Calibri" pitchFamily="34" charset="-120"/>
              </a:rPr>
              <a:t>$1,000 – $3,500</a:t>
            </a:r>
            <a:endParaRPr lang="en-US" sz="1200" dirty="0"/>
          </a:p>
        </p:txBody>
      </p:sp>
      <p:sp>
        <p:nvSpPr>
          <p:cNvPr id="61" name="Text 59"/>
          <p:cNvSpPr/>
          <p:nvPr/>
        </p:nvSpPr>
        <p:spPr>
          <a:xfrm>
            <a:off x="6355080" y="4553712"/>
            <a:ext cx="1417320" cy="146304"/>
          </a:xfrm>
          <a:prstGeom prst="rect">
            <a:avLst/>
          </a:prstGeom>
          <a:noFill/>
          <a:ln/>
        </p:spPr>
        <p:txBody>
          <a:bodyPr wrap="square" lIns="0" tIns="0" rIns="0" bIns="0" rtlCol="0" anchor="ctr"/>
          <a:lstStyle/>
          <a:p>
            <a:pPr algn="ctr" indent="0" marL="0">
              <a:buNone/>
            </a:pPr>
            <a:r>
              <a:rPr lang="en-US" sz="700" dirty="0">
                <a:solidFill>
                  <a:srgbClr val="B6BBC0"/>
                </a:solidFill>
                <a:latin typeface="Calibri" pitchFamily="34" charset="0"/>
                <a:ea typeface="Calibri" pitchFamily="34" charset="-122"/>
                <a:cs typeface="Calibri" pitchFamily="34" charset="-120"/>
              </a:rPr>
              <a:t>/ month per FI</a:t>
            </a:r>
            <a:endParaRPr lang="en-US" sz="700" dirty="0"/>
          </a:p>
        </p:txBody>
      </p:sp>
      <p:sp>
        <p:nvSpPr>
          <p:cNvPr id="62" name="Shape 60"/>
          <p:cNvSpPr/>
          <p:nvPr/>
        </p:nvSpPr>
        <p:spPr>
          <a:xfrm>
            <a:off x="7845552" y="4352544"/>
            <a:ext cx="1170432" cy="237744"/>
          </a:xfrm>
          <a:prstGeom prst="roundRect">
            <a:avLst>
              <a:gd name="adj" fmla="val 15385"/>
            </a:avLst>
          </a:prstGeom>
          <a:solidFill>
            <a:srgbClr val="FFFFFF"/>
          </a:solidFill>
          <a:ln w="12700">
            <a:solidFill>
              <a:srgbClr val="085CE5"/>
            </a:solidFill>
            <a:prstDash val="solid"/>
          </a:ln>
        </p:spPr>
      </p:sp>
      <p:sp>
        <p:nvSpPr>
          <p:cNvPr id="63" name="Text 61"/>
          <p:cNvSpPr/>
          <p:nvPr/>
        </p:nvSpPr>
        <p:spPr>
          <a:xfrm>
            <a:off x="7845552" y="4352544"/>
            <a:ext cx="1170432" cy="237744"/>
          </a:xfrm>
          <a:prstGeom prst="rect">
            <a:avLst/>
          </a:prstGeom>
          <a:noFill/>
          <a:ln/>
        </p:spPr>
        <p:txBody>
          <a:bodyPr wrap="square" lIns="0" tIns="0" rIns="0" bIns="0" rtlCol="0" anchor="ctr"/>
          <a:lstStyle/>
          <a:p>
            <a:pPr algn="ctr" indent="0" marL="0">
              <a:buNone/>
            </a:pPr>
            <a:r>
              <a:rPr lang="en-US" sz="700" dirty="0">
                <a:solidFill>
                  <a:srgbClr val="085CE5"/>
                </a:solidFill>
                <a:latin typeface="Calibri" pitchFamily="34" charset="0"/>
                <a:ea typeface="Calibri" pitchFamily="34" charset="-122"/>
                <a:cs typeface="Calibri" pitchFamily="34" charset="-120"/>
              </a:rPr>
              <a:t>Enterprise tier only</a:t>
            </a:r>
            <a:endParaRPr lang="en-US" sz="700" dirty="0"/>
          </a:p>
        </p:txBody>
      </p:sp>
      <p:sp>
        <p:nvSpPr>
          <p:cNvPr id="64" name="Shape 62"/>
          <p:cNvSpPr/>
          <p:nvPr/>
        </p:nvSpPr>
        <p:spPr>
          <a:xfrm>
            <a:off x="320040" y="4773168"/>
            <a:ext cx="8732520" cy="329184"/>
          </a:xfrm>
          <a:prstGeom prst="rect">
            <a:avLst/>
          </a:prstGeom>
          <a:solidFill>
            <a:srgbClr val="06185F"/>
          </a:solidFill>
          <a:ln w="12700">
            <a:solidFill>
              <a:srgbClr val="06185F"/>
            </a:solidFill>
            <a:prstDash val="solid"/>
          </a:ln>
        </p:spPr>
      </p:sp>
      <p:sp>
        <p:nvSpPr>
          <p:cNvPr id="65" name="Text 63"/>
          <p:cNvSpPr/>
          <p:nvPr/>
        </p:nvSpPr>
        <p:spPr>
          <a:xfrm>
            <a:off x="475488" y="4809744"/>
            <a:ext cx="4114800" cy="25603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STANDALONE TOTAL — ALL SIX APPS (MID-MARKET FI)</a:t>
            </a:r>
            <a:endParaRPr lang="en-US" sz="950" dirty="0"/>
          </a:p>
        </p:txBody>
      </p:sp>
      <p:sp>
        <p:nvSpPr>
          <p:cNvPr id="66" name="Text 64"/>
          <p:cNvSpPr/>
          <p:nvPr/>
        </p:nvSpPr>
        <p:spPr>
          <a:xfrm>
            <a:off x="6355080" y="4809744"/>
            <a:ext cx="1417320" cy="256032"/>
          </a:xfrm>
          <a:prstGeom prst="rect">
            <a:avLst/>
          </a:prstGeom>
          <a:noFill/>
          <a:ln/>
        </p:spPr>
        <p:txBody>
          <a:bodyPr wrap="square" lIns="0" tIns="0" rIns="0" bIns="0" rtlCol="0" anchor="ctr"/>
          <a:lstStyle/>
          <a:p>
            <a:pPr algn="ctr" indent="0" marL="0">
              <a:buNone/>
            </a:pPr>
            <a:r>
              <a:rPr lang="en-US" sz="1300" b="1" dirty="0">
                <a:solidFill>
                  <a:srgbClr val="76DCFD"/>
                </a:solidFill>
                <a:latin typeface="Calibri" pitchFamily="34" charset="0"/>
                <a:ea typeface="Calibri" pitchFamily="34" charset="-122"/>
                <a:cs typeface="Calibri" pitchFamily="34" charset="-120"/>
              </a:rPr>
              <a:t>~$6,500 / mo</a:t>
            </a:r>
            <a:endParaRPr lang="en-US" sz="1300" dirty="0"/>
          </a:p>
        </p:txBody>
      </p:sp>
      <p:sp>
        <p:nvSpPr>
          <p:cNvPr id="67" name="Text 65"/>
          <p:cNvSpPr/>
          <p:nvPr/>
        </p:nvSpPr>
        <p:spPr>
          <a:xfrm>
            <a:off x="7635240" y="4828032"/>
            <a:ext cx="1389888" cy="219456"/>
          </a:xfrm>
          <a:prstGeom prst="rect">
            <a:avLst/>
          </a:prstGeom>
          <a:noFill/>
          <a:ln/>
        </p:spPr>
        <p:txBody>
          <a:bodyPr wrap="square" lIns="0" tIns="0" rIns="0" bIns="0" rtlCol="0" anchor="ctr"/>
          <a:lstStyle/>
          <a:p>
            <a:pPr algn="ctr" indent="0" marL="0">
              <a:buNone/>
            </a:pPr>
            <a:r>
              <a:rPr lang="en-US" sz="900" dirty="0">
                <a:solidFill>
                  <a:srgbClr val="76DCFD"/>
                </a:solidFill>
                <a:latin typeface="Calibri" pitchFamily="34" charset="0"/>
                <a:ea typeface="Calibri" pitchFamily="34" charset="-122"/>
                <a:cs typeface="Calibri" pitchFamily="34" charset="-120"/>
              </a:rPr>
              <a:t>vs. ~$4,800 bundled</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1,660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  FFIEC Call Reports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CallRpt AI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$9M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$15M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Mediation  ·  Account Opening LTV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+$12M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+$17M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+$13M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$39M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$65M+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Columns reflect 30%, 60%, and 100% penetration of JH's 1,660 core FI clients (940 banks + 720 CUs). Source: JH 10-K FY2024.</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Horizon Pipeline: Year 2 Platform Opportunities</a:t>
            </a:r>
            <a:endParaRPr lang="en-US" sz="2200" dirty="0"/>
          </a:p>
        </p:txBody>
      </p:sp>
      <p:sp>
        <p:nvSpPr>
          <p:cNvPr id="4" name="Shape 2"/>
          <p:cNvSpPr/>
          <p:nvPr/>
        </p:nvSpPr>
        <p:spPr>
          <a:xfrm>
            <a:off x="27432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74320" y="786384"/>
            <a:ext cx="2743200" cy="73152"/>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29768" y="969264"/>
            <a:ext cx="347472" cy="347472"/>
          </a:xfrm>
          <a:prstGeom prst="rect">
            <a:avLst/>
          </a:prstGeom>
        </p:spPr>
      </p:pic>
      <p:sp>
        <p:nvSpPr>
          <p:cNvPr id="7" name="Text 4"/>
          <p:cNvSpPr/>
          <p:nvPr/>
        </p:nvSpPr>
        <p:spPr>
          <a:xfrm>
            <a:off x="86868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Cross-Sell Propensity Engine</a:t>
            </a:r>
            <a:endParaRPr lang="en-US" sz="1050" dirty="0"/>
          </a:p>
        </p:txBody>
      </p:sp>
      <p:sp>
        <p:nvSpPr>
          <p:cNvPr id="8" name="Text 5"/>
          <p:cNvSpPr/>
          <p:nvPr/>
        </p:nvSpPr>
        <p:spPr>
          <a:xfrm>
            <a:off x="41148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1000" dirty="0"/>
          </a:p>
        </p:txBody>
      </p:sp>
      <p:sp>
        <p:nvSpPr>
          <p:cNvPr id="9" name="Shape 6"/>
          <p:cNvSpPr/>
          <p:nvPr/>
        </p:nvSpPr>
        <p:spPr>
          <a:xfrm>
            <a:off x="315468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54680" y="786384"/>
            <a:ext cx="2743200" cy="73152"/>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69264"/>
            <a:ext cx="347472" cy="347472"/>
          </a:xfrm>
          <a:prstGeom prst="rect">
            <a:avLst/>
          </a:prstGeom>
        </p:spPr>
      </p:pic>
      <p:sp>
        <p:nvSpPr>
          <p:cNvPr id="12" name="Text 8"/>
          <p:cNvSpPr/>
          <p:nvPr/>
        </p:nvSpPr>
        <p:spPr>
          <a:xfrm>
            <a:off x="374904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Fraud Ring Detection</a:t>
            </a:r>
            <a:endParaRPr lang="en-US" sz="1050" dirty="0"/>
          </a:p>
        </p:txBody>
      </p:sp>
      <p:sp>
        <p:nvSpPr>
          <p:cNvPr id="13" name="Text 9"/>
          <p:cNvSpPr/>
          <p:nvPr/>
        </p:nvSpPr>
        <p:spPr>
          <a:xfrm>
            <a:off x="329184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1000" dirty="0"/>
          </a:p>
        </p:txBody>
      </p:sp>
      <p:sp>
        <p:nvSpPr>
          <p:cNvPr id="14" name="Shape 10"/>
          <p:cNvSpPr/>
          <p:nvPr/>
        </p:nvSpPr>
        <p:spPr>
          <a:xfrm>
            <a:off x="6035040" y="786384"/>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35040" y="786384"/>
            <a:ext cx="2743200" cy="73152"/>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90488" y="969264"/>
            <a:ext cx="347472" cy="347472"/>
          </a:xfrm>
          <a:prstGeom prst="rect">
            <a:avLst/>
          </a:prstGeom>
        </p:spPr>
      </p:pic>
      <p:sp>
        <p:nvSpPr>
          <p:cNvPr id="17" name="Text 12"/>
          <p:cNvSpPr/>
          <p:nvPr/>
        </p:nvSpPr>
        <p:spPr>
          <a:xfrm>
            <a:off x="6629400" y="914400"/>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Deposit Runoff Forecasting</a:t>
            </a:r>
            <a:endParaRPr lang="en-US" sz="1050" dirty="0"/>
          </a:p>
        </p:txBody>
      </p:sp>
      <p:sp>
        <p:nvSpPr>
          <p:cNvPr id="18" name="Text 13"/>
          <p:cNvSpPr/>
          <p:nvPr/>
        </p:nvSpPr>
        <p:spPr>
          <a:xfrm>
            <a:off x="6172200" y="1444752"/>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1000" dirty="0"/>
          </a:p>
        </p:txBody>
      </p:sp>
      <p:sp>
        <p:nvSpPr>
          <p:cNvPr id="19" name="Shape 14"/>
          <p:cNvSpPr/>
          <p:nvPr/>
        </p:nvSpPr>
        <p:spPr>
          <a:xfrm>
            <a:off x="27432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274320" y="2871216"/>
            <a:ext cx="2743200" cy="73152"/>
          </a:xfrm>
          <a:prstGeom prst="rect">
            <a:avLst/>
          </a:prstGeom>
          <a:solidFill>
            <a:srgbClr val="575A5D"/>
          </a:solidFill>
          <a:ln w="12700">
            <a:solidFill>
              <a:srgbClr val="575A5D"/>
            </a:solidFill>
            <a:prstDash val="solid"/>
          </a:ln>
        </p:spPr>
      </p:sp>
      <p:pic>
        <p:nvPicPr>
          <p:cNvPr id="21" name="Image 3" descr="preencoded.png">    </p:cNvPr>
          <p:cNvPicPr>
            <a:picLocks noChangeAspect="1"/>
          </p:cNvPicPr>
          <p:nvPr/>
        </p:nvPicPr>
        <p:blipFill>
          <a:blip r:embed="rId4"/>
          <a:stretch>
            <a:fillRect/>
          </a:stretch>
        </p:blipFill>
        <p:spPr>
          <a:xfrm>
            <a:off x="429768" y="3054096"/>
            <a:ext cx="347472" cy="347472"/>
          </a:xfrm>
          <a:prstGeom prst="rect">
            <a:avLst/>
          </a:prstGeom>
        </p:spPr>
      </p:pic>
      <p:sp>
        <p:nvSpPr>
          <p:cNvPr id="22" name="Text 16"/>
          <p:cNvSpPr/>
          <p:nvPr/>
        </p:nvSpPr>
        <p:spPr>
          <a:xfrm>
            <a:off x="86868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Overdraft Prediction &amp; Mediation</a:t>
            </a:r>
            <a:endParaRPr lang="en-US" sz="1050" dirty="0"/>
          </a:p>
        </p:txBody>
      </p:sp>
      <p:sp>
        <p:nvSpPr>
          <p:cNvPr id="23" name="Text 17"/>
          <p:cNvSpPr/>
          <p:nvPr/>
        </p:nvSpPr>
        <p:spPr>
          <a:xfrm>
            <a:off x="41148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1000" dirty="0"/>
          </a:p>
        </p:txBody>
      </p:sp>
      <p:sp>
        <p:nvSpPr>
          <p:cNvPr id="24" name="Shape 18"/>
          <p:cNvSpPr/>
          <p:nvPr/>
        </p:nvSpPr>
        <p:spPr>
          <a:xfrm>
            <a:off x="315468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54680" y="2871216"/>
            <a:ext cx="2743200" cy="73152"/>
          </a:xfrm>
          <a:prstGeom prst="rect">
            <a:avLst/>
          </a:prstGeom>
          <a:solidFill>
            <a:srgbClr val="0B68D4"/>
          </a:solidFill>
          <a:ln w="12700">
            <a:solidFill>
              <a:srgbClr val="0B68D4"/>
            </a:solidFill>
            <a:prstDash val="solid"/>
          </a:ln>
        </p:spPr>
      </p:sp>
      <p:pic>
        <p:nvPicPr>
          <p:cNvPr id="26" name="Image 4" descr="preencoded.png">    </p:cNvPr>
          <p:cNvPicPr>
            <a:picLocks noChangeAspect="1"/>
          </p:cNvPicPr>
          <p:nvPr/>
        </p:nvPicPr>
        <p:blipFill>
          <a:blip r:embed="rId5"/>
          <a:stretch>
            <a:fillRect/>
          </a:stretch>
        </p:blipFill>
        <p:spPr>
          <a:xfrm>
            <a:off x="3310128" y="3054096"/>
            <a:ext cx="347472" cy="347472"/>
          </a:xfrm>
          <a:prstGeom prst="rect">
            <a:avLst/>
          </a:prstGeom>
        </p:spPr>
      </p:pic>
      <p:sp>
        <p:nvSpPr>
          <p:cNvPr id="27" name="Text 20"/>
          <p:cNvSpPr/>
          <p:nvPr/>
        </p:nvSpPr>
        <p:spPr>
          <a:xfrm>
            <a:off x="374904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Customer Sentiment Engine</a:t>
            </a:r>
            <a:endParaRPr lang="en-US" sz="1050" dirty="0"/>
          </a:p>
        </p:txBody>
      </p:sp>
      <p:sp>
        <p:nvSpPr>
          <p:cNvPr id="28" name="Text 21"/>
          <p:cNvSpPr/>
          <p:nvPr/>
        </p:nvSpPr>
        <p:spPr>
          <a:xfrm>
            <a:off x="329184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1000" dirty="0"/>
          </a:p>
        </p:txBody>
      </p:sp>
      <p:sp>
        <p:nvSpPr>
          <p:cNvPr id="29" name="Shape 22"/>
          <p:cNvSpPr/>
          <p:nvPr/>
        </p:nvSpPr>
        <p:spPr>
          <a:xfrm>
            <a:off x="6035040" y="2871216"/>
            <a:ext cx="2743200" cy="1901952"/>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35040" y="2871216"/>
            <a:ext cx="2743200" cy="73152"/>
          </a:xfrm>
          <a:prstGeom prst="rect">
            <a:avLst/>
          </a:prstGeom>
          <a:solidFill>
            <a:srgbClr val="0D2E7A"/>
          </a:solidFill>
          <a:ln w="12700">
            <a:solidFill>
              <a:srgbClr val="0D2E7A"/>
            </a:solidFill>
            <a:prstDash val="solid"/>
          </a:ln>
        </p:spPr>
      </p:sp>
      <p:pic>
        <p:nvPicPr>
          <p:cNvPr id="31" name="Image 5" descr="preencoded.png">    </p:cNvPr>
          <p:cNvPicPr>
            <a:picLocks noChangeAspect="1"/>
          </p:cNvPicPr>
          <p:nvPr/>
        </p:nvPicPr>
        <p:blipFill>
          <a:blip r:embed="rId6"/>
          <a:stretch>
            <a:fillRect/>
          </a:stretch>
        </p:blipFill>
        <p:spPr>
          <a:xfrm>
            <a:off x="6190488" y="3054096"/>
            <a:ext cx="347472" cy="347472"/>
          </a:xfrm>
          <a:prstGeom prst="rect">
            <a:avLst/>
          </a:prstGeom>
        </p:spPr>
      </p:pic>
      <p:sp>
        <p:nvSpPr>
          <p:cNvPr id="32" name="Text 24"/>
          <p:cNvSpPr/>
          <p:nvPr/>
        </p:nvSpPr>
        <p:spPr>
          <a:xfrm>
            <a:off x="6629400" y="2999232"/>
            <a:ext cx="2057400" cy="457200"/>
          </a:xfrm>
          <a:prstGeom prst="rect">
            <a:avLst/>
          </a:prstGeom>
          <a:noFill/>
          <a:ln/>
        </p:spPr>
        <p:txBody>
          <a:bodyPr wrap="square" lIns="0" tIns="0" rIns="0" bIns="0" rtlCol="0" anchor="ctr"/>
          <a:lstStyle/>
          <a:p>
            <a:pPr indent="0" marL="0">
              <a:buNone/>
            </a:pPr>
            <a:r>
              <a:rPr lang="en-US" sz="1050" b="1" dirty="0">
                <a:solidFill>
                  <a:srgbClr val="06185F"/>
                </a:solidFill>
                <a:latin typeface="Calibri" pitchFamily="34" charset="0"/>
                <a:ea typeface="Calibri" pitchFamily="34" charset="-122"/>
                <a:cs typeface="Calibri" pitchFamily="34" charset="-120"/>
              </a:rPr>
              <a:t>Next Best Action Platform</a:t>
            </a:r>
            <a:endParaRPr lang="en-US" sz="1050" dirty="0"/>
          </a:p>
        </p:txBody>
      </p:sp>
      <p:sp>
        <p:nvSpPr>
          <p:cNvPr id="33" name="Text 25"/>
          <p:cNvSpPr/>
          <p:nvPr/>
        </p:nvSpPr>
        <p:spPr>
          <a:xfrm>
            <a:off x="6172200" y="3529584"/>
            <a:ext cx="2487168" cy="1115568"/>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1000" dirty="0"/>
          </a:p>
        </p:txBody>
      </p:sp>
      <p:sp>
        <p:nvSpPr>
          <p:cNvPr id="34" name="Text 26"/>
          <p:cNvSpPr/>
          <p:nvPr/>
        </p:nvSpPr>
        <p:spPr>
          <a:xfrm>
            <a:off x="365760" y="4846320"/>
            <a:ext cx="8412480" cy="256032"/>
          </a:xfrm>
          <a:prstGeom prst="rect">
            <a:avLst/>
          </a:prstGeom>
          <a:noFill/>
          <a:ln/>
        </p:spPr>
        <p:txBody>
          <a:bodyPr wrap="square" lIns="0" tIns="0" rIns="0" bIns="0" rtlCol="0" anchor="ctr"/>
          <a:lstStyle/>
          <a:p>
            <a:pPr indent="0" marL="0">
              <a:buNone/>
            </a:pPr>
            <a:r>
              <a:rPr lang="en-US" sz="950" i="1" dirty="0">
                <a:solidFill>
                  <a:srgbClr val="B6BBC0"/>
                </a:solidFill>
                <a:latin typeface="Calibri" pitchFamily="34" charset="0"/>
                <a:ea typeface="Calibri" pitchFamily="34" charset="-122"/>
                <a:cs typeface="Calibri" pitchFamily="34" charset="-120"/>
              </a:rPr>
              <a:t>These opportunities are sequenced for Year 2, contingent on successful Phase 1 delivery and continued investment approval.</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Payment Data Source Ingestion Roadmap</a:t>
            </a:r>
            <a:endParaRPr lang="en-US" sz="22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Sequenced onboarding of JH payment data sources into the AI platform — Card Processing Solutions (CPS) excluded from initial scope.</a:t>
            </a:r>
            <a:endParaRPr lang="en-US" sz="1000" dirty="0"/>
          </a:p>
        </p:txBody>
      </p:sp>
      <p:sp>
        <p:nvSpPr>
          <p:cNvPr id="5" name="Shape 3"/>
          <p:cNvSpPr/>
          <p:nvPr/>
        </p:nvSpPr>
        <p:spPr>
          <a:xfrm>
            <a:off x="2468880" y="1115568"/>
            <a:ext cx="6309360" cy="274320"/>
          </a:xfrm>
          <a:prstGeom prst="rect">
            <a:avLst/>
          </a:prstGeom>
          <a:solidFill>
            <a:srgbClr val="E7ECF0"/>
          </a:solidFill>
          <a:ln w="12700">
            <a:solidFill>
              <a:srgbClr val="E7ECF0"/>
            </a:solidFill>
            <a:prstDash val="solid"/>
          </a:ln>
        </p:spPr>
      </p:sp>
      <p:sp>
        <p:nvSpPr>
          <p:cNvPr id="6" name="Shape 4"/>
          <p:cNvSpPr/>
          <p:nvPr/>
        </p:nvSpPr>
        <p:spPr>
          <a:xfrm>
            <a:off x="2468880" y="1408176"/>
            <a:ext cx="788670" cy="3840480"/>
          </a:xfrm>
          <a:prstGeom prst="rect">
            <a:avLst/>
          </a:prstGeom>
          <a:solidFill>
            <a:srgbClr val="F4F6F8"/>
          </a:solidFill>
          <a:ln w="12700">
            <a:solidFill>
              <a:srgbClr val="F4F6F8"/>
            </a:solidFill>
            <a:prstDash val="solid"/>
          </a:ln>
        </p:spPr>
      </p:sp>
      <p:sp>
        <p:nvSpPr>
          <p:cNvPr id="7" name="Text 5"/>
          <p:cNvSpPr/>
          <p:nvPr/>
        </p:nvSpPr>
        <p:spPr>
          <a:xfrm>
            <a:off x="246888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Q3 FY26</a:t>
            </a:r>
            <a:endParaRPr lang="en-US" sz="800" dirty="0"/>
          </a:p>
        </p:txBody>
      </p:sp>
      <p:sp>
        <p:nvSpPr>
          <p:cNvPr id="8" name="Shape 6"/>
          <p:cNvSpPr/>
          <p:nvPr/>
        </p:nvSpPr>
        <p:spPr>
          <a:xfrm>
            <a:off x="2468880" y="1115568"/>
            <a:ext cx="13716" cy="4133088"/>
          </a:xfrm>
          <a:prstGeom prst="rect">
            <a:avLst/>
          </a:prstGeom>
          <a:solidFill>
            <a:srgbClr val="B6BBC0"/>
          </a:solidFill>
          <a:ln w="12700">
            <a:solidFill>
              <a:srgbClr val="B6BBC0"/>
            </a:solidFill>
            <a:prstDash val="solid"/>
          </a:ln>
        </p:spPr>
      </p:sp>
      <p:sp>
        <p:nvSpPr>
          <p:cNvPr id="9" name="Text 7"/>
          <p:cNvSpPr/>
          <p:nvPr/>
        </p:nvSpPr>
        <p:spPr>
          <a:xfrm>
            <a:off x="325755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Q4 FY26</a:t>
            </a:r>
            <a:endParaRPr lang="en-US" sz="800" dirty="0"/>
          </a:p>
        </p:txBody>
      </p:sp>
      <p:sp>
        <p:nvSpPr>
          <p:cNvPr id="10" name="Shape 8"/>
          <p:cNvSpPr/>
          <p:nvPr/>
        </p:nvSpPr>
        <p:spPr>
          <a:xfrm>
            <a:off x="3257550" y="1115568"/>
            <a:ext cx="13716" cy="4133088"/>
          </a:xfrm>
          <a:prstGeom prst="rect">
            <a:avLst/>
          </a:prstGeom>
          <a:solidFill>
            <a:srgbClr val="B6BBC0"/>
          </a:solidFill>
          <a:ln w="12700">
            <a:solidFill>
              <a:srgbClr val="B6BBC0"/>
            </a:solidFill>
            <a:prstDash val="solid"/>
          </a:ln>
        </p:spPr>
      </p:sp>
      <p:sp>
        <p:nvSpPr>
          <p:cNvPr id="11" name="Shape 9"/>
          <p:cNvSpPr/>
          <p:nvPr/>
        </p:nvSpPr>
        <p:spPr>
          <a:xfrm>
            <a:off x="4046220" y="1408176"/>
            <a:ext cx="788670" cy="3840480"/>
          </a:xfrm>
          <a:prstGeom prst="rect">
            <a:avLst/>
          </a:prstGeom>
          <a:solidFill>
            <a:srgbClr val="F4F6F8"/>
          </a:solidFill>
          <a:ln w="12700">
            <a:solidFill>
              <a:srgbClr val="F4F6F8"/>
            </a:solidFill>
            <a:prstDash val="solid"/>
          </a:ln>
        </p:spPr>
      </p:sp>
      <p:sp>
        <p:nvSpPr>
          <p:cNvPr id="12" name="Text 10"/>
          <p:cNvSpPr/>
          <p:nvPr/>
        </p:nvSpPr>
        <p:spPr>
          <a:xfrm>
            <a:off x="404622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Q1 FY27</a:t>
            </a:r>
            <a:endParaRPr lang="en-US" sz="800" dirty="0"/>
          </a:p>
        </p:txBody>
      </p:sp>
      <p:sp>
        <p:nvSpPr>
          <p:cNvPr id="13" name="Shape 11"/>
          <p:cNvSpPr/>
          <p:nvPr/>
        </p:nvSpPr>
        <p:spPr>
          <a:xfrm>
            <a:off x="4046220" y="1115568"/>
            <a:ext cx="13716" cy="4133088"/>
          </a:xfrm>
          <a:prstGeom prst="rect">
            <a:avLst/>
          </a:prstGeom>
          <a:solidFill>
            <a:srgbClr val="B6BBC0"/>
          </a:solidFill>
          <a:ln w="12700">
            <a:solidFill>
              <a:srgbClr val="B6BBC0"/>
            </a:solidFill>
            <a:prstDash val="solid"/>
          </a:ln>
        </p:spPr>
      </p:sp>
      <p:sp>
        <p:nvSpPr>
          <p:cNvPr id="14" name="Text 12"/>
          <p:cNvSpPr/>
          <p:nvPr/>
        </p:nvSpPr>
        <p:spPr>
          <a:xfrm>
            <a:off x="483489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Q2 FY27</a:t>
            </a:r>
            <a:endParaRPr lang="en-US" sz="800" dirty="0"/>
          </a:p>
        </p:txBody>
      </p:sp>
      <p:sp>
        <p:nvSpPr>
          <p:cNvPr id="15" name="Shape 13"/>
          <p:cNvSpPr/>
          <p:nvPr/>
        </p:nvSpPr>
        <p:spPr>
          <a:xfrm>
            <a:off x="4834890" y="1115568"/>
            <a:ext cx="13716" cy="4133088"/>
          </a:xfrm>
          <a:prstGeom prst="rect">
            <a:avLst/>
          </a:prstGeom>
          <a:solidFill>
            <a:srgbClr val="B6BBC0"/>
          </a:solidFill>
          <a:ln w="12700">
            <a:solidFill>
              <a:srgbClr val="B6BBC0"/>
            </a:solidFill>
            <a:prstDash val="solid"/>
          </a:ln>
        </p:spPr>
      </p:sp>
      <p:sp>
        <p:nvSpPr>
          <p:cNvPr id="16" name="Shape 14"/>
          <p:cNvSpPr/>
          <p:nvPr/>
        </p:nvSpPr>
        <p:spPr>
          <a:xfrm>
            <a:off x="5623560" y="1408176"/>
            <a:ext cx="788670" cy="3840480"/>
          </a:xfrm>
          <a:prstGeom prst="rect">
            <a:avLst/>
          </a:prstGeom>
          <a:solidFill>
            <a:srgbClr val="F4F6F8"/>
          </a:solidFill>
          <a:ln w="12700">
            <a:solidFill>
              <a:srgbClr val="F4F6F8"/>
            </a:solidFill>
            <a:prstDash val="solid"/>
          </a:ln>
        </p:spPr>
      </p:sp>
      <p:sp>
        <p:nvSpPr>
          <p:cNvPr id="17" name="Text 15"/>
          <p:cNvSpPr/>
          <p:nvPr/>
        </p:nvSpPr>
        <p:spPr>
          <a:xfrm>
            <a:off x="562356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Q3 FY27</a:t>
            </a:r>
            <a:endParaRPr lang="en-US" sz="800" dirty="0"/>
          </a:p>
        </p:txBody>
      </p:sp>
      <p:sp>
        <p:nvSpPr>
          <p:cNvPr id="18" name="Shape 16"/>
          <p:cNvSpPr/>
          <p:nvPr/>
        </p:nvSpPr>
        <p:spPr>
          <a:xfrm>
            <a:off x="5623560" y="1115568"/>
            <a:ext cx="13716" cy="4133088"/>
          </a:xfrm>
          <a:prstGeom prst="rect">
            <a:avLst/>
          </a:prstGeom>
          <a:solidFill>
            <a:srgbClr val="B6BBC0"/>
          </a:solidFill>
          <a:ln w="12700">
            <a:solidFill>
              <a:srgbClr val="B6BBC0"/>
            </a:solidFill>
            <a:prstDash val="solid"/>
          </a:ln>
        </p:spPr>
      </p:sp>
      <p:sp>
        <p:nvSpPr>
          <p:cNvPr id="19" name="Text 17"/>
          <p:cNvSpPr/>
          <p:nvPr/>
        </p:nvSpPr>
        <p:spPr>
          <a:xfrm>
            <a:off x="641223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Q4 FY27</a:t>
            </a:r>
            <a:endParaRPr lang="en-US" sz="800" dirty="0"/>
          </a:p>
        </p:txBody>
      </p:sp>
      <p:sp>
        <p:nvSpPr>
          <p:cNvPr id="20" name="Shape 18"/>
          <p:cNvSpPr/>
          <p:nvPr/>
        </p:nvSpPr>
        <p:spPr>
          <a:xfrm>
            <a:off x="6412230" y="1115568"/>
            <a:ext cx="13716" cy="4133088"/>
          </a:xfrm>
          <a:prstGeom prst="rect">
            <a:avLst/>
          </a:prstGeom>
          <a:solidFill>
            <a:srgbClr val="B6BBC0"/>
          </a:solidFill>
          <a:ln w="12700">
            <a:solidFill>
              <a:srgbClr val="B6BBC0"/>
            </a:solidFill>
            <a:prstDash val="solid"/>
          </a:ln>
        </p:spPr>
      </p:sp>
      <p:sp>
        <p:nvSpPr>
          <p:cNvPr id="21" name="Shape 19"/>
          <p:cNvSpPr/>
          <p:nvPr/>
        </p:nvSpPr>
        <p:spPr>
          <a:xfrm>
            <a:off x="7200900" y="1408176"/>
            <a:ext cx="788670" cy="3840480"/>
          </a:xfrm>
          <a:prstGeom prst="rect">
            <a:avLst/>
          </a:prstGeom>
          <a:solidFill>
            <a:srgbClr val="F4F6F8"/>
          </a:solidFill>
          <a:ln w="12700">
            <a:solidFill>
              <a:srgbClr val="F4F6F8"/>
            </a:solidFill>
            <a:prstDash val="solid"/>
          </a:ln>
        </p:spPr>
      </p:sp>
      <p:sp>
        <p:nvSpPr>
          <p:cNvPr id="22" name="Text 20"/>
          <p:cNvSpPr/>
          <p:nvPr/>
        </p:nvSpPr>
        <p:spPr>
          <a:xfrm>
            <a:off x="720090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Q1 FY28</a:t>
            </a:r>
            <a:endParaRPr lang="en-US" sz="800" dirty="0"/>
          </a:p>
        </p:txBody>
      </p:sp>
      <p:sp>
        <p:nvSpPr>
          <p:cNvPr id="23" name="Shape 21"/>
          <p:cNvSpPr/>
          <p:nvPr/>
        </p:nvSpPr>
        <p:spPr>
          <a:xfrm>
            <a:off x="7200900" y="1115568"/>
            <a:ext cx="13716" cy="4133088"/>
          </a:xfrm>
          <a:prstGeom prst="rect">
            <a:avLst/>
          </a:prstGeom>
          <a:solidFill>
            <a:srgbClr val="B6BBC0"/>
          </a:solidFill>
          <a:ln w="12700">
            <a:solidFill>
              <a:srgbClr val="B6BBC0"/>
            </a:solidFill>
            <a:prstDash val="solid"/>
          </a:ln>
        </p:spPr>
      </p:sp>
      <p:sp>
        <p:nvSpPr>
          <p:cNvPr id="24" name="Text 22"/>
          <p:cNvSpPr/>
          <p:nvPr/>
        </p:nvSpPr>
        <p:spPr>
          <a:xfrm>
            <a:off x="7989570" y="1115568"/>
            <a:ext cx="788670" cy="256032"/>
          </a:xfrm>
          <a:prstGeom prst="rect">
            <a:avLst/>
          </a:prstGeom>
          <a:noFill/>
          <a:ln/>
        </p:spPr>
        <p:txBody>
          <a:bodyPr wrap="square" lIns="0" tIns="0" rIns="0" bIns="0" rtlCol="0" anchor="ctr"/>
          <a:lstStyle/>
          <a:p>
            <a:pPr algn="ctr" indent="0" marL="0">
              <a:buNone/>
            </a:pPr>
            <a:r>
              <a:rPr lang="en-US" sz="800" b="1" dirty="0">
                <a:solidFill>
                  <a:srgbClr val="575A5D"/>
                </a:solidFill>
                <a:latin typeface="Calibri" pitchFamily="34" charset="0"/>
                <a:ea typeface="Calibri" pitchFamily="34" charset="-122"/>
                <a:cs typeface="Calibri" pitchFamily="34" charset="-120"/>
              </a:rPr>
              <a:t>Q2 FY28</a:t>
            </a:r>
            <a:endParaRPr lang="en-US" sz="800" dirty="0"/>
          </a:p>
        </p:txBody>
      </p:sp>
      <p:sp>
        <p:nvSpPr>
          <p:cNvPr id="25" name="Shape 23"/>
          <p:cNvSpPr/>
          <p:nvPr/>
        </p:nvSpPr>
        <p:spPr>
          <a:xfrm>
            <a:off x="7989570" y="1115568"/>
            <a:ext cx="13716" cy="4133088"/>
          </a:xfrm>
          <a:prstGeom prst="rect">
            <a:avLst/>
          </a:prstGeom>
          <a:solidFill>
            <a:srgbClr val="B6BBC0"/>
          </a:solidFill>
          <a:ln w="12700">
            <a:solidFill>
              <a:srgbClr val="B6BBC0"/>
            </a:solidFill>
            <a:prstDash val="solid"/>
          </a:ln>
        </p:spPr>
      </p:sp>
      <p:sp>
        <p:nvSpPr>
          <p:cNvPr id="26" name="Shape 24"/>
          <p:cNvSpPr/>
          <p:nvPr/>
        </p:nvSpPr>
        <p:spPr>
          <a:xfrm>
            <a:off x="2468880" y="859536"/>
            <a:ext cx="1577340" cy="237744"/>
          </a:xfrm>
          <a:prstGeom prst="rect">
            <a:avLst/>
          </a:prstGeom>
          <a:solidFill>
            <a:srgbClr val="085CE5"/>
          </a:solidFill>
          <a:ln w="12700">
            <a:solidFill>
              <a:srgbClr val="085CE5"/>
            </a:solidFill>
            <a:prstDash val="solid"/>
          </a:ln>
        </p:spPr>
      </p:sp>
      <p:sp>
        <p:nvSpPr>
          <p:cNvPr id="27" name="Text 25"/>
          <p:cNvSpPr/>
          <p:nvPr/>
        </p:nvSpPr>
        <p:spPr>
          <a:xfrm>
            <a:off x="2514600" y="85953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Foundation  (Q3–Q4 FY26)</a:t>
            </a:r>
            <a:endParaRPr lang="en-US" sz="750" dirty="0"/>
          </a:p>
        </p:txBody>
      </p:sp>
      <p:sp>
        <p:nvSpPr>
          <p:cNvPr id="28" name="Shape 26"/>
          <p:cNvSpPr/>
          <p:nvPr/>
        </p:nvSpPr>
        <p:spPr>
          <a:xfrm>
            <a:off x="4046220" y="859536"/>
            <a:ext cx="1577340" cy="237744"/>
          </a:xfrm>
          <a:prstGeom prst="rect">
            <a:avLst/>
          </a:prstGeom>
          <a:solidFill>
            <a:srgbClr val="073FA8"/>
          </a:solidFill>
          <a:ln w="12700">
            <a:solidFill>
              <a:srgbClr val="073FA8"/>
            </a:solidFill>
            <a:prstDash val="solid"/>
          </a:ln>
        </p:spPr>
      </p:sp>
      <p:sp>
        <p:nvSpPr>
          <p:cNvPr id="29" name="Text 27"/>
          <p:cNvSpPr/>
          <p:nvPr/>
        </p:nvSpPr>
        <p:spPr>
          <a:xfrm>
            <a:off x="4091940" y="85953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Apps  (Q1–Q2 FY27)</a:t>
            </a:r>
            <a:endParaRPr lang="en-US" sz="750" dirty="0"/>
          </a:p>
        </p:txBody>
      </p:sp>
      <p:sp>
        <p:nvSpPr>
          <p:cNvPr id="30" name="Shape 28"/>
          <p:cNvSpPr/>
          <p:nvPr/>
        </p:nvSpPr>
        <p:spPr>
          <a:xfrm>
            <a:off x="5623560" y="859536"/>
            <a:ext cx="3154680" cy="237744"/>
          </a:xfrm>
          <a:prstGeom prst="rect">
            <a:avLst/>
          </a:prstGeom>
          <a:solidFill>
            <a:srgbClr val="575A5D"/>
          </a:solidFill>
          <a:ln w="12700">
            <a:solidFill>
              <a:srgbClr val="575A5D"/>
            </a:solidFill>
            <a:prstDash val="solid"/>
          </a:ln>
        </p:spPr>
      </p:sp>
      <p:sp>
        <p:nvSpPr>
          <p:cNvPr id="31" name="Text 29"/>
          <p:cNvSpPr/>
          <p:nvPr/>
        </p:nvSpPr>
        <p:spPr>
          <a:xfrm>
            <a:off x="5669280" y="859536"/>
            <a:ext cx="306324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Scale &amp; Expand  (Q3 FY27–Q2 FY28)</a:t>
            </a:r>
            <a:endParaRPr lang="en-US" sz="750" dirty="0"/>
          </a:p>
        </p:txBody>
      </p:sp>
      <p:sp>
        <p:nvSpPr>
          <p:cNvPr id="32" name="Shape 30"/>
          <p:cNvSpPr/>
          <p:nvPr/>
        </p:nvSpPr>
        <p:spPr>
          <a:xfrm>
            <a:off x="274320" y="1408176"/>
            <a:ext cx="8503920" cy="356616"/>
          </a:xfrm>
          <a:prstGeom prst="rect">
            <a:avLst/>
          </a:prstGeom>
          <a:solidFill>
            <a:srgbClr val="FFFFFF"/>
          </a:solidFill>
          <a:ln w="12700">
            <a:solidFill>
              <a:srgbClr val="E7ECF0"/>
            </a:solidFill>
            <a:prstDash val="solid"/>
          </a:ln>
        </p:spPr>
      </p:sp>
      <p:sp>
        <p:nvSpPr>
          <p:cNvPr id="33" name="Shape 31"/>
          <p:cNvSpPr/>
          <p:nvPr/>
        </p:nvSpPr>
        <p:spPr>
          <a:xfrm>
            <a:off x="274320" y="1408176"/>
            <a:ext cx="54864" cy="356616"/>
          </a:xfrm>
          <a:prstGeom prst="rect">
            <a:avLst/>
          </a:prstGeom>
          <a:solidFill>
            <a:srgbClr val="085CE5"/>
          </a:solidFill>
          <a:ln w="12700">
            <a:solidFill>
              <a:srgbClr val="085CE5"/>
            </a:solidFill>
            <a:prstDash val="solid"/>
          </a:ln>
        </p:spPr>
      </p:sp>
      <p:sp>
        <p:nvSpPr>
          <p:cNvPr id="34" name="Text 32"/>
          <p:cNvSpPr/>
          <p:nvPr/>
        </p:nvSpPr>
        <p:spPr>
          <a:xfrm>
            <a:off x="384048" y="143560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NCUA 5300 Call Reports</a:t>
            </a:r>
            <a:endParaRPr lang="en-US" sz="850" dirty="0"/>
          </a:p>
        </p:txBody>
      </p:sp>
      <p:sp>
        <p:nvSpPr>
          <p:cNvPr id="35" name="Text 33"/>
          <p:cNvSpPr/>
          <p:nvPr/>
        </p:nvSpPr>
        <p:spPr>
          <a:xfrm>
            <a:off x="384048" y="162763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Public regulatory</a:t>
            </a:r>
            <a:endParaRPr lang="en-US" sz="750" dirty="0"/>
          </a:p>
        </p:txBody>
      </p:sp>
      <p:sp>
        <p:nvSpPr>
          <p:cNvPr id="36" name="Shape 34"/>
          <p:cNvSpPr/>
          <p:nvPr/>
        </p:nvSpPr>
        <p:spPr>
          <a:xfrm>
            <a:off x="2505456" y="1481328"/>
            <a:ext cx="715518" cy="182880"/>
          </a:xfrm>
          <a:prstGeom prst="rect">
            <a:avLst/>
          </a:prstGeom>
          <a:solidFill>
            <a:srgbClr val="085CE5"/>
          </a:solidFill>
          <a:ln w="12700">
            <a:solidFill>
              <a:srgbClr val="085CE5"/>
            </a:solidFill>
            <a:prstDash val="solid"/>
          </a:ln>
        </p:spPr>
      </p:sp>
      <p:sp>
        <p:nvSpPr>
          <p:cNvPr id="37" name="Text 35"/>
          <p:cNvSpPr/>
          <p:nvPr/>
        </p:nvSpPr>
        <p:spPr>
          <a:xfrm>
            <a:off x="3275838" y="1481328"/>
            <a:ext cx="2194560" cy="182880"/>
          </a:xfrm>
          <a:prstGeom prst="rect">
            <a:avLst/>
          </a:prstGeom>
          <a:noFill/>
          <a:ln/>
        </p:spPr>
        <p:txBody>
          <a:bodyPr wrap="square" lIns="0" tIns="0" rIns="0" bIns="0" rtlCol="0" anchor="ctr"/>
          <a:lstStyle/>
          <a:p>
            <a:pPr indent="0" marL="0">
              <a:buNone/>
            </a:pPr>
            <a:r>
              <a:rPr lang="en-US" sz="750" i="1" dirty="0">
                <a:solidFill>
                  <a:srgbClr val="085CE5"/>
                </a:solidFill>
                <a:latin typeface="Calibri" pitchFamily="34" charset="0"/>
                <a:ea typeface="Calibri" pitchFamily="34" charset="-122"/>
                <a:cs typeface="Calibri" pitchFamily="34" charset="-120"/>
              </a:rPr>
              <a:t>Call Report AI</a:t>
            </a:r>
            <a:endParaRPr lang="en-US" sz="750" dirty="0"/>
          </a:p>
        </p:txBody>
      </p:sp>
      <p:sp>
        <p:nvSpPr>
          <p:cNvPr id="38" name="Shape 36"/>
          <p:cNvSpPr/>
          <p:nvPr/>
        </p:nvSpPr>
        <p:spPr>
          <a:xfrm>
            <a:off x="274320" y="1792224"/>
            <a:ext cx="8503920" cy="356616"/>
          </a:xfrm>
          <a:prstGeom prst="rect">
            <a:avLst/>
          </a:prstGeom>
          <a:solidFill>
            <a:srgbClr val="F8F9FA"/>
          </a:solidFill>
          <a:ln w="12700">
            <a:solidFill>
              <a:srgbClr val="E7ECF0"/>
            </a:solidFill>
            <a:prstDash val="solid"/>
          </a:ln>
        </p:spPr>
      </p:sp>
      <p:sp>
        <p:nvSpPr>
          <p:cNvPr id="39" name="Shape 37"/>
          <p:cNvSpPr/>
          <p:nvPr/>
        </p:nvSpPr>
        <p:spPr>
          <a:xfrm>
            <a:off x="274320" y="1792224"/>
            <a:ext cx="54864" cy="356616"/>
          </a:xfrm>
          <a:prstGeom prst="rect">
            <a:avLst/>
          </a:prstGeom>
          <a:solidFill>
            <a:srgbClr val="085CE5"/>
          </a:solidFill>
          <a:ln w="12700">
            <a:solidFill>
              <a:srgbClr val="085CE5"/>
            </a:solidFill>
            <a:prstDash val="solid"/>
          </a:ln>
        </p:spPr>
      </p:sp>
      <p:sp>
        <p:nvSpPr>
          <p:cNvPr id="40" name="Text 38"/>
          <p:cNvSpPr/>
          <p:nvPr/>
        </p:nvSpPr>
        <p:spPr>
          <a:xfrm>
            <a:off x="384048" y="181965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Core Banking (jhaEnterprise / Symitar)</a:t>
            </a:r>
            <a:endParaRPr lang="en-US" sz="850" dirty="0"/>
          </a:p>
        </p:txBody>
      </p:sp>
      <p:sp>
        <p:nvSpPr>
          <p:cNvPr id="41" name="Text 39"/>
          <p:cNvSpPr/>
          <p:nvPr/>
        </p:nvSpPr>
        <p:spPr>
          <a:xfrm>
            <a:off x="384048" y="201168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transactions, deposits, loans</a:t>
            </a:r>
            <a:endParaRPr lang="en-US" sz="750" dirty="0"/>
          </a:p>
        </p:txBody>
      </p:sp>
      <p:sp>
        <p:nvSpPr>
          <p:cNvPr id="42" name="Shape 40"/>
          <p:cNvSpPr/>
          <p:nvPr/>
        </p:nvSpPr>
        <p:spPr>
          <a:xfrm>
            <a:off x="2505456" y="1865376"/>
            <a:ext cx="1504188" cy="182880"/>
          </a:xfrm>
          <a:prstGeom prst="rect">
            <a:avLst/>
          </a:prstGeom>
          <a:solidFill>
            <a:srgbClr val="085CE5"/>
          </a:solidFill>
          <a:ln w="12700">
            <a:solidFill>
              <a:srgbClr val="085CE5"/>
            </a:solidFill>
            <a:prstDash val="solid"/>
          </a:ln>
        </p:spPr>
      </p:sp>
      <p:sp>
        <p:nvSpPr>
          <p:cNvPr id="43" name="Text 41"/>
          <p:cNvSpPr/>
          <p:nvPr/>
        </p:nvSpPr>
        <p:spPr>
          <a:xfrm>
            <a:off x="2569464" y="186537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Churn Mediation · Acct Opening LTV</a:t>
            </a:r>
            <a:endParaRPr lang="en-US" sz="750" dirty="0"/>
          </a:p>
        </p:txBody>
      </p:sp>
      <p:sp>
        <p:nvSpPr>
          <p:cNvPr id="44" name="Shape 42"/>
          <p:cNvSpPr/>
          <p:nvPr/>
        </p:nvSpPr>
        <p:spPr>
          <a:xfrm>
            <a:off x="274320" y="2176272"/>
            <a:ext cx="8503920" cy="356616"/>
          </a:xfrm>
          <a:prstGeom prst="rect">
            <a:avLst/>
          </a:prstGeom>
          <a:solidFill>
            <a:srgbClr val="FFFFFF"/>
          </a:solidFill>
          <a:ln w="12700">
            <a:solidFill>
              <a:srgbClr val="E7ECF0"/>
            </a:solidFill>
            <a:prstDash val="solid"/>
          </a:ln>
        </p:spPr>
      </p:sp>
      <p:sp>
        <p:nvSpPr>
          <p:cNvPr id="45" name="Shape 43"/>
          <p:cNvSpPr/>
          <p:nvPr/>
        </p:nvSpPr>
        <p:spPr>
          <a:xfrm>
            <a:off x="274320" y="2176272"/>
            <a:ext cx="54864" cy="356616"/>
          </a:xfrm>
          <a:prstGeom prst="rect">
            <a:avLst/>
          </a:prstGeom>
          <a:solidFill>
            <a:srgbClr val="073FA8"/>
          </a:solidFill>
          <a:ln w="12700">
            <a:solidFill>
              <a:srgbClr val="073FA8"/>
            </a:solidFill>
            <a:prstDash val="solid"/>
          </a:ln>
        </p:spPr>
      </p:sp>
      <p:sp>
        <p:nvSpPr>
          <p:cNvPr id="46" name="Text 44"/>
          <p:cNvSpPr/>
          <p:nvPr/>
        </p:nvSpPr>
        <p:spPr>
          <a:xfrm>
            <a:off x="384048" y="220370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ACH / EPS</a:t>
            </a:r>
            <a:endParaRPr lang="en-US" sz="850" dirty="0"/>
          </a:p>
        </p:txBody>
      </p:sp>
      <p:sp>
        <p:nvSpPr>
          <p:cNvPr id="47" name="Text 45"/>
          <p:cNvSpPr/>
          <p:nvPr/>
        </p:nvSpPr>
        <p:spPr>
          <a:xfrm>
            <a:off x="384048" y="239572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credits, debits, RDC</a:t>
            </a:r>
            <a:endParaRPr lang="en-US" sz="750" dirty="0"/>
          </a:p>
        </p:txBody>
      </p:sp>
      <p:sp>
        <p:nvSpPr>
          <p:cNvPr id="48" name="Shape 46"/>
          <p:cNvSpPr/>
          <p:nvPr/>
        </p:nvSpPr>
        <p:spPr>
          <a:xfrm>
            <a:off x="2505456" y="2249424"/>
            <a:ext cx="1504188" cy="182880"/>
          </a:xfrm>
          <a:prstGeom prst="rect">
            <a:avLst/>
          </a:prstGeom>
          <a:solidFill>
            <a:srgbClr val="073FA8"/>
          </a:solidFill>
          <a:ln w="12700">
            <a:solidFill>
              <a:srgbClr val="073FA8"/>
            </a:solidFill>
            <a:prstDash val="solid"/>
          </a:ln>
        </p:spPr>
      </p:sp>
      <p:sp>
        <p:nvSpPr>
          <p:cNvPr id="49" name="Text 47"/>
          <p:cNvSpPr/>
          <p:nvPr/>
        </p:nvSpPr>
        <p:spPr>
          <a:xfrm>
            <a:off x="2569464" y="224942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a:t>
            </a:r>
            <a:endParaRPr lang="en-US" sz="750" dirty="0"/>
          </a:p>
        </p:txBody>
      </p:sp>
      <p:sp>
        <p:nvSpPr>
          <p:cNvPr id="50" name="Shape 48"/>
          <p:cNvSpPr/>
          <p:nvPr/>
        </p:nvSpPr>
        <p:spPr>
          <a:xfrm>
            <a:off x="274320" y="2560320"/>
            <a:ext cx="8503920" cy="356616"/>
          </a:xfrm>
          <a:prstGeom prst="rect">
            <a:avLst/>
          </a:prstGeom>
          <a:solidFill>
            <a:srgbClr val="F8F9FA"/>
          </a:solidFill>
          <a:ln w="12700">
            <a:solidFill>
              <a:srgbClr val="E7ECF0"/>
            </a:solidFill>
            <a:prstDash val="solid"/>
          </a:ln>
        </p:spPr>
      </p:sp>
      <p:sp>
        <p:nvSpPr>
          <p:cNvPr id="51" name="Shape 49"/>
          <p:cNvSpPr/>
          <p:nvPr/>
        </p:nvSpPr>
        <p:spPr>
          <a:xfrm>
            <a:off x="274320" y="2560320"/>
            <a:ext cx="54864" cy="356616"/>
          </a:xfrm>
          <a:prstGeom prst="rect">
            <a:avLst/>
          </a:prstGeom>
          <a:solidFill>
            <a:srgbClr val="073FA8"/>
          </a:solidFill>
          <a:ln w="12700">
            <a:solidFill>
              <a:srgbClr val="073FA8"/>
            </a:solidFill>
            <a:prstDash val="solid"/>
          </a:ln>
        </p:spPr>
      </p:sp>
      <p:sp>
        <p:nvSpPr>
          <p:cNvPr id="52" name="Text 50"/>
          <p:cNvSpPr/>
          <p:nvPr/>
        </p:nvSpPr>
        <p:spPr>
          <a:xfrm>
            <a:off x="384048" y="258775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 JHA PayCenter</a:t>
            </a:r>
            <a:endParaRPr lang="en-US" sz="850" dirty="0"/>
          </a:p>
        </p:txBody>
      </p:sp>
      <p:sp>
        <p:nvSpPr>
          <p:cNvPr id="53" name="Text 51"/>
          <p:cNvSpPr/>
          <p:nvPr/>
        </p:nvSpPr>
        <p:spPr>
          <a:xfrm>
            <a:off x="384048" y="277977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P2P, RTP, FedNow</a:t>
            </a:r>
            <a:endParaRPr lang="en-US" sz="750" dirty="0"/>
          </a:p>
        </p:txBody>
      </p:sp>
      <p:sp>
        <p:nvSpPr>
          <p:cNvPr id="54" name="Shape 52"/>
          <p:cNvSpPr/>
          <p:nvPr/>
        </p:nvSpPr>
        <p:spPr>
          <a:xfrm>
            <a:off x="3294126" y="2633472"/>
            <a:ext cx="1504188" cy="182880"/>
          </a:xfrm>
          <a:prstGeom prst="rect">
            <a:avLst/>
          </a:prstGeom>
          <a:solidFill>
            <a:srgbClr val="073FA8"/>
          </a:solidFill>
          <a:ln w="12700">
            <a:solidFill>
              <a:srgbClr val="073FA8"/>
            </a:solidFill>
            <a:prstDash val="solid"/>
          </a:ln>
        </p:spPr>
      </p:sp>
      <p:sp>
        <p:nvSpPr>
          <p:cNvPr id="55" name="Text 53"/>
          <p:cNvSpPr/>
          <p:nvPr/>
        </p:nvSpPr>
        <p:spPr>
          <a:xfrm>
            <a:off x="3358134" y="263347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Zelle Memo Intelligence · Anomaly</a:t>
            </a:r>
            <a:endParaRPr lang="en-US" sz="750" dirty="0"/>
          </a:p>
        </p:txBody>
      </p:sp>
      <p:sp>
        <p:nvSpPr>
          <p:cNvPr id="56" name="Shape 54"/>
          <p:cNvSpPr/>
          <p:nvPr/>
        </p:nvSpPr>
        <p:spPr>
          <a:xfrm>
            <a:off x="274320" y="2944368"/>
            <a:ext cx="8503920" cy="356616"/>
          </a:xfrm>
          <a:prstGeom prst="rect">
            <a:avLst/>
          </a:prstGeom>
          <a:solidFill>
            <a:srgbClr val="FFFFFF"/>
          </a:solidFill>
          <a:ln w="12700">
            <a:solidFill>
              <a:srgbClr val="E7ECF0"/>
            </a:solidFill>
            <a:prstDash val="solid"/>
          </a:ln>
        </p:spPr>
      </p:sp>
      <p:sp>
        <p:nvSpPr>
          <p:cNvPr id="57" name="Shape 55"/>
          <p:cNvSpPr/>
          <p:nvPr/>
        </p:nvSpPr>
        <p:spPr>
          <a:xfrm>
            <a:off x="274320" y="2944368"/>
            <a:ext cx="54864" cy="356616"/>
          </a:xfrm>
          <a:prstGeom prst="rect">
            <a:avLst/>
          </a:prstGeom>
          <a:solidFill>
            <a:srgbClr val="073FA8"/>
          </a:solidFill>
          <a:ln w="12700">
            <a:solidFill>
              <a:srgbClr val="073FA8"/>
            </a:solidFill>
            <a:prstDash val="solid"/>
          </a:ln>
        </p:spPr>
      </p:sp>
      <p:sp>
        <p:nvSpPr>
          <p:cNvPr id="58" name="Text 56"/>
          <p:cNvSpPr/>
          <p:nvPr/>
        </p:nvSpPr>
        <p:spPr>
          <a:xfrm>
            <a:off x="384048" y="297180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Jack Henry Wires</a:t>
            </a:r>
            <a:endParaRPr lang="en-US" sz="850" dirty="0"/>
          </a:p>
        </p:txBody>
      </p:sp>
      <p:sp>
        <p:nvSpPr>
          <p:cNvPr id="59" name="Text 57"/>
          <p:cNvSpPr/>
          <p:nvPr/>
        </p:nvSpPr>
        <p:spPr>
          <a:xfrm>
            <a:off x="384048" y="316382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Domestic FedWire + Intl</a:t>
            </a:r>
            <a:endParaRPr lang="en-US" sz="750" dirty="0"/>
          </a:p>
        </p:txBody>
      </p:sp>
      <p:sp>
        <p:nvSpPr>
          <p:cNvPr id="60" name="Shape 58"/>
          <p:cNvSpPr/>
          <p:nvPr/>
        </p:nvSpPr>
        <p:spPr>
          <a:xfrm>
            <a:off x="3294126" y="3017520"/>
            <a:ext cx="1504188" cy="182880"/>
          </a:xfrm>
          <a:prstGeom prst="rect">
            <a:avLst/>
          </a:prstGeom>
          <a:solidFill>
            <a:srgbClr val="073FA8"/>
          </a:solidFill>
          <a:ln w="12700">
            <a:solidFill>
              <a:srgbClr val="073FA8"/>
            </a:solidFill>
            <a:prstDash val="solid"/>
          </a:ln>
        </p:spPr>
      </p:sp>
      <p:sp>
        <p:nvSpPr>
          <p:cNvPr id="61" name="Text 59"/>
          <p:cNvSpPr/>
          <p:nvPr/>
        </p:nvSpPr>
        <p:spPr>
          <a:xfrm>
            <a:off x="3358134" y="301752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 (wire fraud)</a:t>
            </a:r>
            <a:endParaRPr lang="en-US" sz="750" dirty="0"/>
          </a:p>
        </p:txBody>
      </p:sp>
      <p:sp>
        <p:nvSpPr>
          <p:cNvPr id="62" name="Shape 60"/>
          <p:cNvSpPr/>
          <p:nvPr/>
        </p:nvSpPr>
        <p:spPr>
          <a:xfrm>
            <a:off x="274320" y="3328416"/>
            <a:ext cx="8503920" cy="356616"/>
          </a:xfrm>
          <a:prstGeom prst="rect">
            <a:avLst/>
          </a:prstGeom>
          <a:solidFill>
            <a:srgbClr val="F8F9FA"/>
          </a:solidFill>
          <a:ln w="12700">
            <a:solidFill>
              <a:srgbClr val="E7ECF0"/>
            </a:solidFill>
            <a:prstDash val="solid"/>
          </a:ln>
        </p:spPr>
      </p:sp>
      <p:sp>
        <p:nvSpPr>
          <p:cNvPr id="63" name="Shape 61"/>
          <p:cNvSpPr/>
          <p:nvPr/>
        </p:nvSpPr>
        <p:spPr>
          <a:xfrm>
            <a:off x="274320" y="3328416"/>
            <a:ext cx="54864" cy="356616"/>
          </a:xfrm>
          <a:prstGeom prst="rect">
            <a:avLst/>
          </a:prstGeom>
          <a:solidFill>
            <a:srgbClr val="0B68D4"/>
          </a:solidFill>
          <a:ln w="12700">
            <a:solidFill>
              <a:srgbClr val="0B68D4"/>
            </a:solidFill>
            <a:prstDash val="solid"/>
          </a:ln>
        </p:spPr>
      </p:sp>
      <p:sp>
        <p:nvSpPr>
          <p:cNvPr id="64" name="Text 62"/>
          <p:cNvSpPr/>
          <p:nvPr/>
        </p:nvSpPr>
        <p:spPr>
          <a:xfrm>
            <a:off x="384048" y="335584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iPay Bill Pay</a:t>
            </a:r>
            <a:endParaRPr lang="en-US" sz="850" dirty="0"/>
          </a:p>
        </p:txBody>
      </p:sp>
      <p:sp>
        <p:nvSpPr>
          <p:cNvPr id="65" name="Text 63"/>
          <p:cNvSpPr/>
          <p:nvPr/>
        </p:nvSpPr>
        <p:spPr>
          <a:xfrm>
            <a:off x="384048" y="354787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Consumer + Business bill pay</a:t>
            </a:r>
            <a:endParaRPr lang="en-US" sz="750" dirty="0"/>
          </a:p>
        </p:txBody>
      </p:sp>
      <p:sp>
        <p:nvSpPr>
          <p:cNvPr id="66" name="Shape 64"/>
          <p:cNvSpPr/>
          <p:nvPr/>
        </p:nvSpPr>
        <p:spPr>
          <a:xfrm>
            <a:off x="4082796" y="3401568"/>
            <a:ext cx="1504188" cy="182880"/>
          </a:xfrm>
          <a:prstGeom prst="rect">
            <a:avLst/>
          </a:prstGeom>
          <a:solidFill>
            <a:srgbClr val="0B68D4"/>
          </a:solidFill>
          <a:ln w="12700">
            <a:solidFill>
              <a:srgbClr val="0B68D4"/>
            </a:solidFill>
            <a:prstDash val="solid"/>
          </a:ln>
        </p:spPr>
      </p:sp>
      <p:sp>
        <p:nvSpPr>
          <p:cNvPr id="67" name="Text 65"/>
          <p:cNvSpPr/>
          <p:nvPr/>
        </p:nvSpPr>
        <p:spPr>
          <a:xfrm>
            <a:off x="4146804" y="340156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Cross-Sell Propensity</a:t>
            </a:r>
            <a:endParaRPr lang="en-US" sz="750" dirty="0"/>
          </a:p>
        </p:txBody>
      </p:sp>
      <p:sp>
        <p:nvSpPr>
          <p:cNvPr id="68" name="Shape 66"/>
          <p:cNvSpPr/>
          <p:nvPr/>
        </p:nvSpPr>
        <p:spPr>
          <a:xfrm>
            <a:off x="274320" y="3712464"/>
            <a:ext cx="8503920" cy="356616"/>
          </a:xfrm>
          <a:prstGeom prst="rect">
            <a:avLst/>
          </a:prstGeom>
          <a:solidFill>
            <a:srgbClr val="FFFFFF"/>
          </a:solidFill>
          <a:ln w="12700">
            <a:solidFill>
              <a:srgbClr val="E7ECF0"/>
            </a:solidFill>
            <a:prstDash val="solid"/>
          </a:ln>
        </p:spPr>
      </p:sp>
      <p:sp>
        <p:nvSpPr>
          <p:cNvPr id="69" name="Shape 67"/>
          <p:cNvSpPr/>
          <p:nvPr/>
        </p:nvSpPr>
        <p:spPr>
          <a:xfrm>
            <a:off x="274320" y="3712464"/>
            <a:ext cx="54864" cy="356616"/>
          </a:xfrm>
          <a:prstGeom prst="rect">
            <a:avLst/>
          </a:prstGeom>
          <a:solidFill>
            <a:srgbClr val="0B68D4"/>
          </a:solidFill>
          <a:ln w="12700">
            <a:solidFill>
              <a:srgbClr val="0B68D4"/>
            </a:solidFill>
            <a:prstDash val="solid"/>
          </a:ln>
        </p:spPr>
      </p:sp>
      <p:sp>
        <p:nvSpPr>
          <p:cNvPr id="70" name="Text 68"/>
          <p:cNvSpPr/>
          <p:nvPr/>
        </p:nvSpPr>
        <p:spPr>
          <a:xfrm>
            <a:off x="384048" y="373989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Payrailz (P2P / A2A)</a:t>
            </a:r>
            <a:endParaRPr lang="en-US" sz="850" dirty="0"/>
          </a:p>
        </p:txBody>
      </p:sp>
      <p:sp>
        <p:nvSpPr>
          <p:cNvPr id="71" name="Text 69"/>
          <p:cNvSpPr/>
          <p:nvPr/>
        </p:nvSpPr>
        <p:spPr>
          <a:xfrm>
            <a:off x="384048" y="393192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Pay a Person, Transfer Money</a:t>
            </a:r>
            <a:endParaRPr lang="en-US" sz="750" dirty="0"/>
          </a:p>
        </p:txBody>
      </p:sp>
      <p:sp>
        <p:nvSpPr>
          <p:cNvPr id="72" name="Shape 70"/>
          <p:cNvSpPr/>
          <p:nvPr/>
        </p:nvSpPr>
        <p:spPr>
          <a:xfrm>
            <a:off x="4082796" y="3785616"/>
            <a:ext cx="1504188" cy="182880"/>
          </a:xfrm>
          <a:prstGeom prst="rect">
            <a:avLst/>
          </a:prstGeom>
          <a:solidFill>
            <a:srgbClr val="0B68D4"/>
          </a:solidFill>
          <a:ln w="12700">
            <a:solidFill>
              <a:srgbClr val="0B68D4"/>
            </a:solidFill>
            <a:prstDash val="solid"/>
          </a:ln>
        </p:spPr>
      </p:sp>
      <p:sp>
        <p:nvSpPr>
          <p:cNvPr id="73" name="Text 71"/>
          <p:cNvSpPr/>
          <p:nvPr/>
        </p:nvSpPr>
        <p:spPr>
          <a:xfrm>
            <a:off x="4146804" y="378561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Fraud Ring Detection</a:t>
            </a:r>
            <a:endParaRPr lang="en-US" sz="750" dirty="0"/>
          </a:p>
        </p:txBody>
      </p:sp>
      <p:sp>
        <p:nvSpPr>
          <p:cNvPr id="74" name="Shape 72"/>
          <p:cNvSpPr/>
          <p:nvPr/>
        </p:nvSpPr>
        <p:spPr>
          <a:xfrm>
            <a:off x="274320" y="4096512"/>
            <a:ext cx="8503920" cy="356616"/>
          </a:xfrm>
          <a:prstGeom prst="rect">
            <a:avLst/>
          </a:prstGeom>
          <a:solidFill>
            <a:srgbClr val="F8F9FA"/>
          </a:solidFill>
          <a:ln w="12700">
            <a:solidFill>
              <a:srgbClr val="E7ECF0"/>
            </a:solidFill>
            <a:prstDash val="solid"/>
          </a:ln>
        </p:spPr>
      </p:sp>
      <p:sp>
        <p:nvSpPr>
          <p:cNvPr id="75" name="Shape 73"/>
          <p:cNvSpPr/>
          <p:nvPr/>
        </p:nvSpPr>
        <p:spPr>
          <a:xfrm>
            <a:off x="274320" y="4096512"/>
            <a:ext cx="54864" cy="356616"/>
          </a:xfrm>
          <a:prstGeom prst="rect">
            <a:avLst/>
          </a:prstGeom>
          <a:solidFill>
            <a:srgbClr val="575A5D"/>
          </a:solidFill>
          <a:ln w="12700">
            <a:solidFill>
              <a:srgbClr val="575A5D"/>
            </a:solidFill>
            <a:prstDash val="solid"/>
          </a:ln>
        </p:spPr>
      </p:sp>
      <p:sp>
        <p:nvSpPr>
          <p:cNvPr id="76" name="Text 74"/>
          <p:cNvSpPr/>
          <p:nvPr/>
        </p:nvSpPr>
        <p:spPr>
          <a:xfrm>
            <a:off x="384048" y="412394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Banno Digital Platform</a:t>
            </a:r>
            <a:endParaRPr lang="en-US" sz="850" dirty="0"/>
          </a:p>
        </p:txBody>
      </p:sp>
      <p:sp>
        <p:nvSpPr>
          <p:cNvPr id="77" name="Text 75"/>
          <p:cNvSpPr/>
          <p:nvPr/>
        </p:nvSpPr>
        <p:spPr>
          <a:xfrm>
            <a:off x="384048" y="431596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Session, engagement, clicks</a:t>
            </a:r>
            <a:endParaRPr lang="en-US" sz="750" dirty="0"/>
          </a:p>
        </p:txBody>
      </p:sp>
      <p:sp>
        <p:nvSpPr>
          <p:cNvPr id="78" name="Shape 76"/>
          <p:cNvSpPr/>
          <p:nvPr/>
        </p:nvSpPr>
        <p:spPr>
          <a:xfrm>
            <a:off x="4871466" y="4169664"/>
            <a:ext cx="1504188" cy="182880"/>
          </a:xfrm>
          <a:prstGeom prst="rect">
            <a:avLst/>
          </a:prstGeom>
          <a:solidFill>
            <a:srgbClr val="575A5D"/>
          </a:solidFill>
          <a:ln w="12700">
            <a:solidFill>
              <a:srgbClr val="575A5D"/>
            </a:solidFill>
            <a:prstDash val="solid"/>
          </a:ln>
        </p:spPr>
      </p:sp>
      <p:sp>
        <p:nvSpPr>
          <p:cNvPr id="79" name="Text 77"/>
          <p:cNvSpPr/>
          <p:nvPr/>
        </p:nvSpPr>
        <p:spPr>
          <a:xfrm>
            <a:off x="4935474" y="416966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Sentiment Engine · Next Best Action</a:t>
            </a:r>
            <a:endParaRPr lang="en-US" sz="750" dirty="0"/>
          </a:p>
        </p:txBody>
      </p:sp>
      <p:sp>
        <p:nvSpPr>
          <p:cNvPr id="80" name="Shape 78"/>
          <p:cNvSpPr/>
          <p:nvPr/>
        </p:nvSpPr>
        <p:spPr>
          <a:xfrm>
            <a:off x="274320" y="4480560"/>
            <a:ext cx="8503920" cy="356616"/>
          </a:xfrm>
          <a:prstGeom prst="rect">
            <a:avLst/>
          </a:prstGeom>
          <a:solidFill>
            <a:srgbClr val="FFFFFF"/>
          </a:solidFill>
          <a:ln w="12700">
            <a:solidFill>
              <a:srgbClr val="E7ECF0"/>
            </a:solidFill>
            <a:prstDash val="solid"/>
          </a:ln>
        </p:spPr>
      </p:sp>
      <p:sp>
        <p:nvSpPr>
          <p:cNvPr id="81" name="Shape 79"/>
          <p:cNvSpPr/>
          <p:nvPr/>
        </p:nvSpPr>
        <p:spPr>
          <a:xfrm>
            <a:off x="274320" y="4480560"/>
            <a:ext cx="54864" cy="356616"/>
          </a:xfrm>
          <a:prstGeom prst="rect">
            <a:avLst/>
          </a:prstGeom>
          <a:solidFill>
            <a:srgbClr val="575A5D"/>
          </a:solidFill>
          <a:ln w="12700">
            <a:solidFill>
              <a:srgbClr val="575A5D"/>
            </a:solidFill>
            <a:prstDash val="solid"/>
          </a:ln>
        </p:spPr>
      </p:sp>
      <p:sp>
        <p:nvSpPr>
          <p:cNvPr id="82" name="Text 80"/>
          <p:cNvSpPr/>
          <p:nvPr/>
        </p:nvSpPr>
        <p:spPr>
          <a:xfrm>
            <a:off x="384048" y="450799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Business Pmts / SmartPay</a:t>
            </a:r>
            <a:endParaRPr lang="en-US" sz="850" dirty="0"/>
          </a:p>
        </p:txBody>
      </p:sp>
      <p:sp>
        <p:nvSpPr>
          <p:cNvPr id="83" name="Text 81"/>
          <p:cNvSpPr/>
          <p:nvPr/>
        </p:nvSpPr>
        <p:spPr>
          <a:xfrm>
            <a:off x="384048" y="470001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B2B, ACH vendor, remittance</a:t>
            </a:r>
            <a:endParaRPr lang="en-US" sz="750" dirty="0"/>
          </a:p>
        </p:txBody>
      </p:sp>
      <p:sp>
        <p:nvSpPr>
          <p:cNvPr id="84" name="Shape 82"/>
          <p:cNvSpPr/>
          <p:nvPr/>
        </p:nvSpPr>
        <p:spPr>
          <a:xfrm>
            <a:off x="5660136" y="4553712"/>
            <a:ext cx="1504188" cy="182880"/>
          </a:xfrm>
          <a:prstGeom prst="rect">
            <a:avLst/>
          </a:prstGeom>
          <a:solidFill>
            <a:srgbClr val="575A5D"/>
          </a:solidFill>
          <a:ln w="12700">
            <a:solidFill>
              <a:srgbClr val="575A5D"/>
            </a:solidFill>
            <a:prstDash val="solid"/>
          </a:ln>
        </p:spPr>
      </p:sp>
      <p:sp>
        <p:nvSpPr>
          <p:cNvPr id="85" name="Text 83"/>
          <p:cNvSpPr/>
          <p:nvPr/>
        </p:nvSpPr>
        <p:spPr>
          <a:xfrm>
            <a:off x="5724144" y="455371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Overdraft Prediction</a:t>
            </a:r>
            <a:endParaRPr lang="en-US" sz="750" dirty="0"/>
          </a:p>
        </p:txBody>
      </p:sp>
      <p:sp>
        <p:nvSpPr>
          <p:cNvPr id="86" name="Shape 84"/>
          <p:cNvSpPr/>
          <p:nvPr/>
        </p:nvSpPr>
        <p:spPr>
          <a:xfrm>
            <a:off x="274320" y="4864608"/>
            <a:ext cx="8503920" cy="356616"/>
          </a:xfrm>
          <a:prstGeom prst="rect">
            <a:avLst/>
          </a:prstGeom>
          <a:solidFill>
            <a:srgbClr val="F8F9FA"/>
          </a:solidFill>
          <a:ln w="12700">
            <a:solidFill>
              <a:srgbClr val="E7ECF0"/>
            </a:solidFill>
            <a:prstDash val="solid"/>
          </a:ln>
        </p:spPr>
      </p:sp>
      <p:sp>
        <p:nvSpPr>
          <p:cNvPr id="87" name="Shape 85"/>
          <p:cNvSpPr/>
          <p:nvPr/>
        </p:nvSpPr>
        <p:spPr>
          <a:xfrm>
            <a:off x="274320" y="4864608"/>
            <a:ext cx="54864" cy="356616"/>
          </a:xfrm>
          <a:prstGeom prst="rect">
            <a:avLst/>
          </a:prstGeom>
          <a:solidFill>
            <a:srgbClr val="0D2E7A"/>
          </a:solidFill>
          <a:ln w="12700">
            <a:solidFill>
              <a:srgbClr val="0D2E7A"/>
            </a:solidFill>
            <a:prstDash val="solid"/>
          </a:ln>
        </p:spPr>
      </p:sp>
      <p:sp>
        <p:nvSpPr>
          <p:cNvPr id="88" name="Text 86"/>
          <p:cNvSpPr/>
          <p:nvPr/>
        </p:nvSpPr>
        <p:spPr>
          <a:xfrm>
            <a:off x="384048" y="489204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FI Decision Studio</a:t>
            </a:r>
            <a:endParaRPr lang="en-US" sz="850" dirty="0"/>
          </a:p>
        </p:txBody>
      </p:sp>
      <p:sp>
        <p:nvSpPr>
          <p:cNvPr id="89" name="Text 87"/>
          <p:cNvSpPr/>
          <p:nvPr/>
        </p:nvSpPr>
        <p:spPr>
          <a:xfrm>
            <a:off x="384048" y="508406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AutoML · SHAP · Rules · API</a:t>
            </a:r>
            <a:endParaRPr lang="en-US" sz="750" dirty="0"/>
          </a:p>
        </p:txBody>
      </p:sp>
      <p:sp>
        <p:nvSpPr>
          <p:cNvPr id="90" name="Shape 88"/>
          <p:cNvSpPr/>
          <p:nvPr/>
        </p:nvSpPr>
        <p:spPr>
          <a:xfrm>
            <a:off x="5660136" y="4937760"/>
            <a:ext cx="3081528" cy="182880"/>
          </a:xfrm>
          <a:prstGeom prst="rect">
            <a:avLst/>
          </a:prstGeom>
          <a:solidFill>
            <a:srgbClr val="0D2E7A"/>
          </a:solidFill>
          <a:ln w="12700">
            <a:solidFill>
              <a:srgbClr val="0D2E7A"/>
            </a:solidFill>
            <a:prstDash val="solid"/>
          </a:ln>
        </p:spPr>
      </p:sp>
      <p:sp>
        <p:nvSpPr>
          <p:cNvPr id="91" name="Text 89"/>
          <p:cNvSpPr/>
          <p:nvPr/>
        </p:nvSpPr>
        <p:spPr>
          <a:xfrm>
            <a:off x="5724144" y="4937760"/>
            <a:ext cx="297180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Custom FI Models (all data sources)</a:t>
            </a:r>
            <a:endParaRPr lang="en-US" sz="750" dirty="0"/>
          </a:p>
        </p:txBody>
      </p:sp>
      <p:sp>
        <p:nvSpPr>
          <p:cNvPr id="92" name="Shape 90"/>
          <p:cNvSpPr/>
          <p:nvPr/>
        </p:nvSpPr>
        <p:spPr>
          <a:xfrm>
            <a:off x="2482596" y="859536"/>
            <a:ext cx="36576" cy="4005072"/>
          </a:xfrm>
          <a:prstGeom prst="rect">
            <a:avLst/>
          </a:prstGeom>
          <a:solidFill>
            <a:srgbClr val="76DCFD"/>
          </a:solidFill>
          <a:ln w="12700">
            <a:solidFill>
              <a:srgbClr val="76DCFD"/>
            </a:solidFill>
            <a:prstDash val="solid"/>
          </a:ln>
        </p:spPr>
      </p:sp>
      <p:sp>
        <p:nvSpPr>
          <p:cNvPr id="93" name="Text 91"/>
          <p:cNvSpPr/>
          <p:nvPr/>
        </p:nvSpPr>
        <p:spPr>
          <a:xfrm>
            <a:off x="2359152" y="841248"/>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FY26 Q3 through FY28 Q2</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Q3–Q4 FY26  (Jan–Jun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Build FI data pipelines from JH core banking systems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Establish data governance and model review process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68496"/>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32504"/>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68496"/>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Attrition / Churn Mediation</a:t>
            </a:r>
            <a:endParaRPr lang="en-US" sz="900" dirty="0"/>
          </a:p>
        </p:txBody>
      </p:sp>
      <p:sp>
        <p:nvSpPr>
          <p:cNvPr id="17" name="Shape 15"/>
          <p:cNvSpPr/>
          <p:nvPr/>
        </p:nvSpPr>
        <p:spPr>
          <a:xfrm>
            <a:off x="2167128" y="4005072"/>
            <a:ext cx="749808" cy="182880"/>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167128" y="4005072"/>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MVP</a:t>
            </a:r>
            <a:endParaRPr lang="en-US" sz="75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Q1–Q2 FY27  (Jul–Dec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MLOps pipeline + streaming anomaly engine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Payments data integration (Zelle / ACH / Card)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Call Report AI full CU client base rollout</a:t>
            </a:r>
            <a:endParaRPr lang="en-US" sz="1000" dirty="0"/>
          </a:p>
        </p:txBody>
      </p:sp>
      <p:sp>
        <p:nvSpPr>
          <p:cNvPr id="26" name="Shape 24"/>
          <p:cNvSpPr/>
          <p:nvPr/>
        </p:nvSpPr>
        <p:spPr>
          <a:xfrm>
            <a:off x="3200400" y="3675888"/>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675888"/>
            <a:ext cx="54864" cy="237744"/>
          </a:xfrm>
          <a:prstGeom prst="rect">
            <a:avLst/>
          </a:prstGeom>
          <a:solidFill>
            <a:srgbClr val="073FA8"/>
          </a:solidFill>
          <a:ln w="12700">
            <a:solidFill>
              <a:srgbClr val="073FA8"/>
            </a:solidFill>
            <a:prstDash val="solid"/>
          </a:ln>
        </p:spPr>
      </p:sp>
      <p:sp>
        <p:nvSpPr>
          <p:cNvPr id="28" name="Text 26"/>
          <p:cNvSpPr/>
          <p:nvPr/>
        </p:nvSpPr>
        <p:spPr>
          <a:xfrm>
            <a:off x="3328416" y="3675888"/>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968496"/>
            <a:ext cx="2523744" cy="256032"/>
          </a:xfrm>
          <a:prstGeom prst="rect">
            <a:avLst/>
          </a:prstGeom>
          <a:solidFill>
            <a:srgbClr val="073FA8"/>
          </a:solidFill>
          <a:ln w="12700">
            <a:solidFill>
              <a:srgbClr val="073FA8"/>
            </a:solidFill>
            <a:prstDash val="solid"/>
          </a:ln>
        </p:spPr>
      </p:sp>
      <p:sp>
        <p:nvSpPr>
          <p:cNvPr id="30" name="Shape 28"/>
          <p:cNvSpPr/>
          <p:nvPr/>
        </p:nvSpPr>
        <p:spPr>
          <a:xfrm>
            <a:off x="3383280" y="4032504"/>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968496"/>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Anomaly Detection</a:t>
            </a:r>
            <a:endParaRPr lang="en-US" sz="900" dirty="0"/>
          </a:p>
        </p:txBody>
      </p:sp>
      <p:sp>
        <p:nvSpPr>
          <p:cNvPr id="32" name="Shape 30"/>
          <p:cNvSpPr/>
          <p:nvPr/>
        </p:nvSpPr>
        <p:spPr>
          <a:xfrm>
            <a:off x="3328416" y="4297680"/>
            <a:ext cx="2523744" cy="256032"/>
          </a:xfrm>
          <a:prstGeom prst="rect">
            <a:avLst/>
          </a:prstGeom>
          <a:solidFill>
            <a:srgbClr val="06185F"/>
          </a:solidFill>
          <a:ln w="12700">
            <a:solidFill>
              <a:srgbClr val="06185F"/>
            </a:solidFill>
            <a:prstDash val="solid"/>
          </a:ln>
        </p:spPr>
      </p:sp>
      <p:sp>
        <p:nvSpPr>
          <p:cNvPr id="33" name="Shape 31"/>
          <p:cNvSpPr/>
          <p:nvPr/>
        </p:nvSpPr>
        <p:spPr>
          <a:xfrm>
            <a:off x="3383280" y="4361688"/>
            <a:ext cx="128016" cy="128016"/>
          </a:xfrm>
          <a:prstGeom prst="ellipse">
            <a:avLst/>
          </a:prstGeom>
          <a:solidFill>
            <a:srgbClr val="FFFFFF">
              <a:alpha val="70000"/>
            </a:srgbClr>
          </a:solidFill>
          <a:ln w="12700">
            <a:solidFill>
              <a:srgbClr val="FFFFFF">
                <a:alpha val="70000"/>
              </a:srgbClr>
            </a:solidFill>
            <a:prstDash val="solid"/>
          </a:ln>
        </p:spPr>
      </p:sp>
      <p:sp>
        <p:nvSpPr>
          <p:cNvPr id="34" name="Text 32"/>
          <p:cNvSpPr/>
          <p:nvPr/>
        </p:nvSpPr>
        <p:spPr>
          <a:xfrm>
            <a:off x="3566160" y="4297680"/>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Zelle Memo Intelligence</a:t>
            </a:r>
            <a:endParaRPr lang="en-US" sz="900" dirty="0"/>
          </a:p>
        </p:txBody>
      </p:sp>
      <p:sp>
        <p:nvSpPr>
          <p:cNvPr id="35" name="Shape 33"/>
          <p:cNvSpPr/>
          <p:nvPr/>
        </p:nvSpPr>
        <p:spPr>
          <a:xfrm>
            <a:off x="3328416" y="4626864"/>
            <a:ext cx="2523744" cy="256032"/>
          </a:xfrm>
          <a:prstGeom prst="rect">
            <a:avLst/>
          </a:prstGeom>
          <a:solidFill>
            <a:srgbClr val="575A5D"/>
          </a:solidFill>
          <a:ln w="12700">
            <a:solidFill>
              <a:srgbClr val="575A5D"/>
            </a:solidFill>
            <a:prstDash val="solid"/>
          </a:ln>
        </p:spPr>
      </p:sp>
      <p:sp>
        <p:nvSpPr>
          <p:cNvPr id="36" name="Shape 34"/>
          <p:cNvSpPr/>
          <p:nvPr/>
        </p:nvSpPr>
        <p:spPr>
          <a:xfrm>
            <a:off x="3383280" y="4690872"/>
            <a:ext cx="128016" cy="128016"/>
          </a:xfrm>
          <a:prstGeom prst="ellipse">
            <a:avLst/>
          </a:prstGeom>
          <a:solidFill>
            <a:srgbClr val="FFFFFF">
              <a:alpha val="70000"/>
            </a:srgbClr>
          </a:solidFill>
          <a:ln w="12700">
            <a:solidFill>
              <a:srgbClr val="FFFFFF">
                <a:alpha val="70000"/>
              </a:srgbClr>
            </a:solidFill>
            <a:prstDash val="solid"/>
          </a:ln>
        </p:spPr>
      </p:sp>
      <p:sp>
        <p:nvSpPr>
          <p:cNvPr id="37" name="Text 35"/>
          <p:cNvSpPr/>
          <p:nvPr/>
        </p:nvSpPr>
        <p:spPr>
          <a:xfrm>
            <a:off x="3566160" y="4626864"/>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Call Report AI</a:t>
            </a:r>
            <a:endParaRPr lang="en-US" sz="900" dirty="0"/>
          </a:p>
        </p:txBody>
      </p:sp>
      <p:sp>
        <p:nvSpPr>
          <p:cNvPr id="38" name="Shape 36"/>
          <p:cNvSpPr/>
          <p:nvPr/>
        </p:nvSpPr>
        <p:spPr>
          <a:xfrm>
            <a:off x="5111496" y="4663440"/>
            <a:ext cx="749808" cy="182880"/>
          </a:xfrm>
          <a:prstGeom prst="rect">
            <a:avLst/>
          </a:prstGeom>
          <a:solidFill>
            <a:srgbClr val="FFFFFF">
              <a:alpha val="80000"/>
            </a:srgbClr>
          </a:solidFill>
          <a:ln w="12700">
            <a:solidFill>
              <a:srgbClr val="FFFFFF">
                <a:alpha val="60000"/>
              </a:srgbClr>
            </a:solidFill>
            <a:prstDash val="solid"/>
          </a:ln>
        </p:spPr>
      </p:sp>
      <p:sp>
        <p:nvSpPr>
          <p:cNvPr id="39" name="Text 37"/>
          <p:cNvSpPr/>
          <p:nvPr/>
        </p:nvSpPr>
        <p:spPr>
          <a:xfrm>
            <a:off x="5111496" y="4663440"/>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Aug/Sept '26</a:t>
            </a:r>
            <a:endParaRPr lang="en-US" sz="750" dirty="0"/>
          </a:p>
        </p:txBody>
      </p:sp>
      <p:sp>
        <p:nvSpPr>
          <p:cNvPr id="40" name="Shape 38"/>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1" name="Shape 39"/>
          <p:cNvSpPr/>
          <p:nvPr/>
        </p:nvSpPr>
        <p:spPr>
          <a:xfrm>
            <a:off x="6144768" y="749808"/>
            <a:ext cx="2816352" cy="804672"/>
          </a:xfrm>
          <a:prstGeom prst="rect">
            <a:avLst/>
          </a:prstGeom>
          <a:solidFill>
            <a:srgbClr val="575A5D"/>
          </a:solidFill>
          <a:ln w="12700">
            <a:solidFill>
              <a:srgbClr val="575A5D"/>
            </a:solidFill>
            <a:prstDash val="solid"/>
          </a:ln>
        </p:spPr>
      </p:sp>
      <p:sp>
        <p:nvSpPr>
          <p:cNvPr id="42" name="Text 40"/>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3" name="Shape 41"/>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44" name="Text 42"/>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45" name="Text 43"/>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 FY27–Q2 FY28  (Jan–Jun 2027+)</a:t>
            </a:r>
            <a:endParaRPr lang="en-US" sz="1000" dirty="0"/>
          </a:p>
        </p:txBody>
      </p:sp>
      <p:sp>
        <p:nvSpPr>
          <p:cNvPr id="46" name="Text 44"/>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Account Opening LTV into JH onboarding flow</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FI Decision Studio: AutoML platform GA release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47" name="Shape 45"/>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48" name="Shape 46"/>
          <p:cNvSpPr/>
          <p:nvPr/>
        </p:nvSpPr>
        <p:spPr>
          <a:xfrm>
            <a:off x="6144768" y="3675888"/>
            <a:ext cx="54864" cy="237744"/>
          </a:xfrm>
          <a:prstGeom prst="rect">
            <a:avLst/>
          </a:prstGeom>
          <a:solidFill>
            <a:srgbClr val="575A5D"/>
          </a:solidFill>
          <a:ln w="12700">
            <a:solidFill>
              <a:srgbClr val="575A5D"/>
            </a:solidFill>
            <a:prstDash val="solid"/>
          </a:ln>
        </p:spPr>
      </p:sp>
      <p:sp>
        <p:nvSpPr>
          <p:cNvPr id="49" name="Text 47"/>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50" name="Shape 48"/>
          <p:cNvSpPr/>
          <p:nvPr/>
        </p:nvSpPr>
        <p:spPr>
          <a:xfrm>
            <a:off x="6272784" y="3968496"/>
            <a:ext cx="2523744" cy="256032"/>
          </a:xfrm>
          <a:prstGeom prst="rect">
            <a:avLst/>
          </a:prstGeom>
          <a:solidFill>
            <a:srgbClr val="0B68D4"/>
          </a:solidFill>
          <a:ln w="12700">
            <a:solidFill>
              <a:srgbClr val="0B68D4"/>
            </a:solidFill>
            <a:prstDash val="solid"/>
          </a:ln>
        </p:spPr>
      </p:sp>
      <p:sp>
        <p:nvSpPr>
          <p:cNvPr id="51" name="Shape 49"/>
          <p:cNvSpPr/>
          <p:nvPr/>
        </p:nvSpPr>
        <p:spPr>
          <a:xfrm>
            <a:off x="6327648" y="4032504"/>
            <a:ext cx="128016" cy="128016"/>
          </a:xfrm>
          <a:prstGeom prst="ellipse">
            <a:avLst/>
          </a:prstGeom>
          <a:solidFill>
            <a:srgbClr val="FFFFFF">
              <a:alpha val="70000"/>
            </a:srgbClr>
          </a:solidFill>
          <a:ln w="12700">
            <a:solidFill>
              <a:srgbClr val="FFFFFF">
                <a:alpha val="70000"/>
              </a:srgbClr>
            </a:solidFill>
            <a:prstDash val="solid"/>
          </a:ln>
        </p:spPr>
      </p:sp>
      <p:sp>
        <p:nvSpPr>
          <p:cNvPr id="52" name="Text 50"/>
          <p:cNvSpPr/>
          <p:nvPr/>
        </p:nvSpPr>
        <p:spPr>
          <a:xfrm>
            <a:off x="6510528" y="3968496"/>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Account Opening LTV</a:t>
            </a:r>
            <a:endParaRPr lang="en-US" sz="900" dirty="0"/>
          </a:p>
        </p:txBody>
      </p:sp>
      <p:sp>
        <p:nvSpPr>
          <p:cNvPr id="53" name="Shape 51"/>
          <p:cNvSpPr/>
          <p:nvPr/>
        </p:nvSpPr>
        <p:spPr>
          <a:xfrm>
            <a:off x="6272784" y="4297680"/>
            <a:ext cx="2523744" cy="256032"/>
          </a:xfrm>
          <a:prstGeom prst="rect">
            <a:avLst/>
          </a:prstGeom>
          <a:solidFill>
            <a:srgbClr val="0D2E7A"/>
          </a:solidFill>
          <a:ln w="12700">
            <a:solidFill>
              <a:srgbClr val="0D2E7A"/>
            </a:solidFill>
            <a:prstDash val="solid"/>
          </a:ln>
        </p:spPr>
      </p:sp>
      <p:sp>
        <p:nvSpPr>
          <p:cNvPr id="54" name="Shape 52"/>
          <p:cNvSpPr/>
          <p:nvPr/>
        </p:nvSpPr>
        <p:spPr>
          <a:xfrm>
            <a:off x="6327648" y="4361688"/>
            <a:ext cx="128016" cy="128016"/>
          </a:xfrm>
          <a:prstGeom prst="ellipse">
            <a:avLst/>
          </a:prstGeom>
          <a:solidFill>
            <a:srgbClr val="FFFFFF">
              <a:alpha val="70000"/>
            </a:srgbClr>
          </a:solidFill>
          <a:ln w="12700">
            <a:solidFill>
              <a:srgbClr val="FFFFFF">
                <a:alpha val="70000"/>
              </a:srgbClr>
            </a:solidFill>
            <a:prstDash val="solid"/>
          </a:ln>
        </p:spPr>
      </p:sp>
      <p:sp>
        <p:nvSpPr>
          <p:cNvPr id="55" name="Text 53"/>
          <p:cNvSpPr/>
          <p:nvPr/>
        </p:nvSpPr>
        <p:spPr>
          <a:xfrm>
            <a:off x="6510528" y="4297680"/>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FI Decision Studio</a:t>
            </a:r>
            <a:endParaRPr lang="en-US" sz="900" dirty="0"/>
          </a:p>
        </p:txBody>
      </p:sp>
      <p:sp>
        <p:nvSpPr>
          <p:cNvPr id="56" name="Shape 54"/>
          <p:cNvSpPr/>
          <p:nvPr/>
        </p:nvSpPr>
        <p:spPr>
          <a:xfrm>
            <a:off x="8055864" y="4334256"/>
            <a:ext cx="749808" cy="182880"/>
          </a:xfrm>
          <a:prstGeom prst="rect">
            <a:avLst/>
          </a:prstGeom>
          <a:solidFill>
            <a:srgbClr val="FFFFFF">
              <a:alpha val="80000"/>
            </a:srgbClr>
          </a:solidFill>
          <a:ln w="12700">
            <a:solidFill>
              <a:srgbClr val="FFFFFF">
                <a:alpha val="60000"/>
              </a:srgbClr>
            </a:solidFill>
            <a:prstDash val="solid"/>
          </a:ln>
        </p:spPr>
      </p:sp>
      <p:sp>
        <p:nvSpPr>
          <p:cNvPr id="57" name="Text 55"/>
          <p:cNvSpPr/>
          <p:nvPr/>
        </p:nvSpPr>
        <p:spPr>
          <a:xfrm>
            <a:off x="8055864" y="4334256"/>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Platform</a:t>
            </a:r>
            <a:endParaRPr lang="en-US" sz="750" dirty="0"/>
          </a:p>
        </p:txBody>
      </p:sp>
      <p:sp>
        <p:nvSpPr>
          <p:cNvPr id="58" name="Shape 56"/>
          <p:cNvSpPr/>
          <p:nvPr/>
        </p:nvSpPr>
        <p:spPr>
          <a:xfrm>
            <a:off x="6272784" y="4626864"/>
            <a:ext cx="2523744" cy="256032"/>
          </a:xfrm>
          <a:prstGeom prst="rect">
            <a:avLst/>
          </a:prstGeom>
          <a:solidFill>
            <a:srgbClr val="073FA8"/>
          </a:solidFill>
          <a:ln w="12700">
            <a:solidFill>
              <a:srgbClr val="073FA8"/>
            </a:solidFill>
            <a:prstDash val="solid"/>
          </a:ln>
        </p:spPr>
      </p:sp>
      <p:sp>
        <p:nvSpPr>
          <p:cNvPr id="59" name="Shape 57"/>
          <p:cNvSpPr/>
          <p:nvPr/>
        </p:nvSpPr>
        <p:spPr>
          <a:xfrm>
            <a:off x="6327648" y="4690872"/>
            <a:ext cx="128016" cy="128016"/>
          </a:xfrm>
          <a:prstGeom prst="ellipse">
            <a:avLst/>
          </a:prstGeom>
          <a:solidFill>
            <a:srgbClr val="FFFFFF">
              <a:alpha val="70000"/>
            </a:srgbClr>
          </a:solidFill>
          <a:ln w="12700">
            <a:solidFill>
              <a:srgbClr val="FFFFFF">
                <a:alpha val="70000"/>
              </a:srgbClr>
            </a:solidFill>
            <a:prstDash val="solid"/>
          </a:ln>
        </p:spPr>
      </p:sp>
      <p:sp>
        <p:nvSpPr>
          <p:cNvPr id="60" name="Text 58"/>
          <p:cNvSpPr/>
          <p:nvPr/>
        </p:nvSpPr>
        <p:spPr>
          <a:xfrm>
            <a:off x="6510528" y="4626864"/>
            <a:ext cx="169164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61" name="Shape 59"/>
          <p:cNvSpPr/>
          <p:nvPr/>
        </p:nvSpPr>
        <p:spPr>
          <a:xfrm>
            <a:off x="8055864" y="4663440"/>
            <a:ext cx="749808" cy="182880"/>
          </a:xfrm>
          <a:prstGeom prst="rect">
            <a:avLst/>
          </a:prstGeom>
          <a:solidFill>
            <a:srgbClr val="FFFFFF">
              <a:alpha val="80000"/>
            </a:srgbClr>
          </a:solidFill>
          <a:ln w="12700">
            <a:solidFill>
              <a:srgbClr val="FFFFFF">
                <a:alpha val="60000"/>
              </a:srgbClr>
            </a:solidFill>
            <a:prstDash val="solid"/>
          </a:ln>
        </p:spPr>
      </p:sp>
      <p:sp>
        <p:nvSpPr>
          <p:cNvPr id="62" name="Text 60"/>
          <p:cNvSpPr/>
          <p:nvPr/>
        </p:nvSpPr>
        <p:spPr>
          <a:xfrm>
            <a:off x="8055864" y="4663440"/>
            <a:ext cx="74980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Pilot</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029200" y="-1828800"/>
            <a:ext cx="6858000" cy="68580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400800" y="1097280"/>
            <a:ext cx="3657600" cy="3657600"/>
          </a:xfrm>
          <a:prstGeom prst="ellipse">
            <a:avLst/>
          </a:prstGeom>
          <a:solidFill>
            <a:srgbClr val="76DCFD">
              <a:alpha val="10000"/>
            </a:srgbClr>
          </a:solidFill>
          <a:ln w="12700">
            <a:solidFill>
              <a:srgbClr val="76DCFD">
                <a:alpha val="18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38912"/>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NEXT STEPS</a:t>
            </a:r>
            <a:endParaRPr lang="en-US" sz="1100" dirty="0"/>
          </a:p>
        </p:txBody>
      </p:sp>
      <p:sp>
        <p:nvSpPr>
          <p:cNvPr id="6" name="Text 4"/>
          <p:cNvSpPr/>
          <p:nvPr/>
        </p:nvSpPr>
        <p:spPr>
          <a:xfrm>
            <a:off x="365760" y="86868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Approve the Roadmap.</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Fund the Team.</a:t>
            </a:r>
            <a:endParaRPr lang="en-US" sz="4000" dirty="0"/>
          </a:p>
        </p:txBody>
      </p:sp>
      <p:sp>
        <p:nvSpPr>
          <p:cNvPr id="7" name="Shape 5"/>
          <p:cNvSpPr/>
          <p:nvPr/>
        </p:nvSpPr>
        <p:spPr>
          <a:xfrm>
            <a:off x="365760" y="2386584"/>
            <a:ext cx="329184" cy="329184"/>
          </a:xfrm>
          <a:prstGeom prst="ellipse">
            <a:avLst/>
          </a:prstGeom>
          <a:solidFill>
            <a:srgbClr val="085CE5"/>
          </a:solidFill>
          <a:ln w="12700">
            <a:solidFill>
              <a:srgbClr val="085CE5"/>
            </a:solidFill>
            <a:prstDash val="solid"/>
          </a:ln>
        </p:spPr>
      </p:sp>
      <p:sp>
        <p:nvSpPr>
          <p:cNvPr id="8" name="Text 6"/>
          <p:cNvSpPr/>
          <p:nvPr/>
        </p:nvSpPr>
        <p:spPr>
          <a:xfrm>
            <a:off x="36576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04672" y="2432304"/>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JHBI approves headcount budget and infrastructure allocation for Phase 1</a:t>
            </a:r>
            <a:endParaRPr lang="en-US" sz="1200" dirty="0"/>
          </a:p>
        </p:txBody>
      </p:sp>
      <p:sp>
        <p:nvSpPr>
          <p:cNvPr id="10" name="Shape 8"/>
          <p:cNvSpPr/>
          <p:nvPr/>
        </p:nvSpPr>
        <p:spPr>
          <a:xfrm>
            <a:off x="365760" y="2862072"/>
            <a:ext cx="329184" cy="329184"/>
          </a:xfrm>
          <a:prstGeom prst="ellipse">
            <a:avLst/>
          </a:prstGeom>
          <a:solidFill>
            <a:srgbClr val="085CE5"/>
          </a:solidFill>
          <a:ln w="12700">
            <a:solidFill>
              <a:srgbClr val="085CE5"/>
            </a:solidFill>
            <a:prstDash val="solid"/>
          </a:ln>
        </p:spPr>
      </p:sp>
      <p:sp>
        <p:nvSpPr>
          <p:cNvPr id="11" name="Text 9"/>
          <p:cNvSpPr/>
          <p:nvPr/>
        </p:nvSpPr>
        <p:spPr>
          <a:xfrm>
            <a:off x="365760" y="28620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804672" y="2907792"/>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DS team begins recruiting: Data Engineers + ML Engineers (Month 1)</a:t>
            </a:r>
            <a:endParaRPr lang="en-US" sz="1200" dirty="0"/>
          </a:p>
        </p:txBody>
      </p:sp>
      <p:sp>
        <p:nvSpPr>
          <p:cNvPr id="13" name="Shape 11"/>
          <p:cNvSpPr/>
          <p:nvPr/>
        </p:nvSpPr>
        <p:spPr>
          <a:xfrm>
            <a:off x="365760" y="3337560"/>
            <a:ext cx="329184" cy="329184"/>
          </a:xfrm>
          <a:prstGeom prst="ellipse">
            <a:avLst/>
          </a:prstGeom>
          <a:solidFill>
            <a:srgbClr val="085CE5"/>
          </a:solidFill>
          <a:ln w="12700">
            <a:solidFill>
              <a:srgbClr val="085CE5"/>
            </a:solidFill>
            <a:prstDash val="solid"/>
          </a:ln>
        </p:spPr>
      </p:sp>
      <p:sp>
        <p:nvSpPr>
          <p:cNvPr id="14" name="Text 12"/>
          <p:cNvSpPr/>
          <p:nvPr/>
        </p:nvSpPr>
        <p:spPr>
          <a:xfrm>
            <a:off x="365760" y="3337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804672" y="3383280"/>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Cloud platform procurement and ML environment setup (Months 1–2)</a:t>
            </a:r>
            <a:endParaRPr lang="en-US" sz="1200" dirty="0"/>
          </a:p>
        </p:txBody>
      </p:sp>
      <p:sp>
        <p:nvSpPr>
          <p:cNvPr id="16" name="Shape 14"/>
          <p:cNvSpPr/>
          <p:nvPr/>
        </p:nvSpPr>
        <p:spPr>
          <a:xfrm>
            <a:off x="365760" y="3813048"/>
            <a:ext cx="329184" cy="329184"/>
          </a:xfrm>
          <a:prstGeom prst="ellipse">
            <a:avLst/>
          </a:prstGeom>
          <a:solidFill>
            <a:srgbClr val="085CE5"/>
          </a:solidFill>
          <a:ln w="12700">
            <a:solidFill>
              <a:srgbClr val="085CE5"/>
            </a:solidFill>
            <a:prstDash val="solid"/>
          </a:ln>
        </p:spPr>
      </p:sp>
      <p:sp>
        <p:nvSpPr>
          <p:cNvPr id="17" name="Text 15"/>
          <p:cNvSpPr/>
          <p:nvPr/>
        </p:nvSpPr>
        <p:spPr>
          <a:xfrm>
            <a:off x="365760" y="38130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p:nvPr/>
        </p:nvSpPr>
        <p:spPr>
          <a:xfrm>
            <a:off x="804672" y="3858768"/>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Churn Mediation MVP scoping session + FI data access agreements (Month 2)</a:t>
            </a:r>
            <a:endParaRPr lang="en-US" sz="1200" dirty="0"/>
          </a:p>
        </p:txBody>
      </p:sp>
      <p:sp>
        <p:nvSpPr>
          <p:cNvPr id="19" name="Shape 17"/>
          <p:cNvSpPr/>
          <p:nvPr/>
        </p:nvSpPr>
        <p:spPr>
          <a:xfrm>
            <a:off x="365760" y="4288536"/>
            <a:ext cx="329184" cy="329184"/>
          </a:xfrm>
          <a:prstGeom prst="ellipse">
            <a:avLst/>
          </a:prstGeom>
          <a:solidFill>
            <a:srgbClr val="085CE5"/>
          </a:solidFill>
          <a:ln w="12700">
            <a:solidFill>
              <a:srgbClr val="085CE5"/>
            </a:solidFill>
            <a:prstDash val="solid"/>
          </a:ln>
        </p:spPr>
      </p:sp>
      <p:sp>
        <p:nvSpPr>
          <p:cNvPr id="20" name="Text 18"/>
          <p:cNvSpPr/>
          <p:nvPr/>
        </p:nvSpPr>
        <p:spPr>
          <a:xfrm>
            <a:off x="365760" y="4288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9"/>
          <p:cNvSpPr/>
          <p:nvPr/>
        </p:nvSpPr>
        <p:spPr>
          <a:xfrm>
            <a:off x="804672" y="4334256"/>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Bi-weekly DS steering committee established for roadmap governance</a:t>
            </a:r>
            <a:endParaRPr lang="en-US" sz="1200" dirty="0"/>
          </a:p>
        </p:txBody>
      </p:sp>
      <p:sp>
        <p:nvSpPr>
          <p:cNvPr id="22" name="Text 20"/>
          <p:cNvSpPr/>
          <p:nvPr/>
        </p:nvSpPr>
        <p:spPr>
          <a:xfrm>
            <a:off x="365760" y="4828032"/>
            <a:ext cx="8229600" cy="237744"/>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Powering the Financial World™  |  Jack Henry Data &amp; Analytics Team  |  March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2026-03-31T00:07:13Z</dcterms:created>
  <dcterms:modified xsi:type="dcterms:W3CDTF">2026-03-31T00:07:13Z</dcterms:modified>
</cp:coreProperties>
</file>