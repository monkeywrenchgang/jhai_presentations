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240"/>
          </a:solidFill>
          <a:ln w="12700">
            <a:solidFill>
              <a:srgbClr val="0D22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9144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Payments Data Model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JHBI  |  Gold Layer Schema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182112" y="2039112"/>
            <a:ext cx="1133856" cy="1133856"/>
          </a:xfrm>
          <a:prstGeom prst="ellipse">
            <a:avLst/>
          </a:prstGeom>
          <a:solidFill>
            <a:srgbClr val="00B4D8"/>
          </a:solidFill>
          <a:ln w="25400">
            <a:solidFill>
              <a:srgbClr val="0077A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182112" y="2039112"/>
            <a:ext cx="113385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64592" y="1051560"/>
            <a:ext cx="2286000" cy="868680"/>
          </a:xfrm>
          <a:prstGeom prst="rect">
            <a:avLst/>
          </a:prstGeom>
          <a:solidFill>
            <a:srgbClr val="0F2A4A"/>
          </a:solidFill>
          <a:ln w="19050">
            <a:solidFill>
              <a:srgbClr val="7B2FB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64592" y="1051560"/>
            <a:ext cx="45720" cy="86868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05156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74320" y="143560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 code, batch ID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date, trace#</a:t>
            </a:r>
            <a:endParaRPr lang="en-US" sz="780" dirty="0"/>
          </a:p>
        </p:txBody>
      </p:sp>
      <p:sp>
        <p:nvSpPr>
          <p:cNvPr id="12" name="Shape 10"/>
          <p:cNvSpPr/>
          <p:nvPr/>
        </p:nvSpPr>
        <p:spPr>
          <a:xfrm>
            <a:off x="164592" y="2514600"/>
            <a:ext cx="2286000" cy="868680"/>
          </a:xfrm>
          <a:prstGeom prst="rect">
            <a:avLst/>
          </a:prstGeom>
          <a:solidFill>
            <a:srgbClr val="0F2A4A"/>
          </a:solidFill>
          <a:ln w="19050">
            <a:solidFill>
              <a:srgbClr val="7B2FB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64592" y="2514600"/>
            <a:ext cx="45720" cy="86868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251460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74320" y="289864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IMAD/OMAD, SWIFT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beneficiary, FedWire ref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164592" y="3913632"/>
            <a:ext cx="2286000" cy="868680"/>
          </a:xfrm>
          <a:prstGeom prst="rect">
            <a:avLst/>
          </a:prstGeom>
          <a:solidFill>
            <a:srgbClr val="0F2A4A"/>
          </a:solidFill>
          <a:ln w="19050">
            <a:solidFill>
              <a:srgbClr val="7B2FB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64592" y="3913632"/>
            <a:ext cx="45720" cy="86868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391363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Debit / Credit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74320" y="42976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MCC, auth code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(Visa/MC)</a:t>
            </a:r>
            <a:endParaRPr lang="en-US" sz="780" dirty="0"/>
          </a:p>
        </p:txBody>
      </p:sp>
      <p:sp>
        <p:nvSpPr>
          <p:cNvPr id="20" name="Shape 18"/>
          <p:cNvSpPr/>
          <p:nvPr/>
        </p:nvSpPr>
        <p:spPr>
          <a:xfrm>
            <a:off x="6144768" y="1051560"/>
            <a:ext cx="2286000" cy="868680"/>
          </a:xfrm>
          <a:prstGeom prst="rect">
            <a:avLst/>
          </a:prstGeom>
          <a:solidFill>
            <a:srgbClr val="0F2A4A"/>
          </a:solidFill>
          <a:ln w="19050">
            <a:solidFill>
              <a:srgbClr val="0077A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44768" y="1051560"/>
            <a:ext cx="45720" cy="86868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54496" y="105156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 Pay &amp;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P2P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254496" y="143560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Payee, Zelle / RTP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clearning network</a:t>
            </a:r>
            <a:endParaRPr lang="en-US" sz="780" dirty="0"/>
          </a:p>
        </p:txBody>
      </p:sp>
      <p:sp>
        <p:nvSpPr>
          <p:cNvPr id="24" name="Shape 22"/>
          <p:cNvSpPr/>
          <p:nvPr/>
        </p:nvSpPr>
        <p:spPr>
          <a:xfrm>
            <a:off x="6144768" y="2514600"/>
            <a:ext cx="2286000" cy="868680"/>
          </a:xfrm>
          <a:prstGeom prst="rect">
            <a:avLst/>
          </a:prstGeom>
          <a:solidFill>
            <a:srgbClr val="0F2A4A"/>
          </a:solidFill>
          <a:ln w="19050">
            <a:solidFill>
              <a:srgbClr val="0077A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44768" y="2514600"/>
            <a:ext cx="45720" cy="86868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54496" y="251460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ATM &amp;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Cash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254496" y="289864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ID, vault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denomination splits</a:t>
            </a:r>
            <a:endParaRPr lang="en-US" sz="780" dirty="0"/>
          </a:p>
        </p:txBody>
      </p:sp>
      <p:sp>
        <p:nvSpPr>
          <p:cNvPr id="28" name="Shape 26"/>
          <p:cNvSpPr/>
          <p:nvPr/>
        </p:nvSpPr>
        <p:spPr>
          <a:xfrm>
            <a:off x="6144768" y="3913632"/>
            <a:ext cx="2286000" cy="868680"/>
          </a:xfrm>
          <a:prstGeom prst="rect">
            <a:avLst/>
          </a:prstGeom>
          <a:solidFill>
            <a:srgbClr val="0F2A4A"/>
          </a:solidFill>
          <a:ln w="19050">
            <a:solidFill>
              <a:srgbClr val="0077A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144768" y="3913632"/>
            <a:ext cx="45720" cy="86868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54496" y="391363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254496" y="42976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Loan#, escrow split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 / interest</a:t>
            </a:r>
            <a:endParaRPr lang="en-US" sz="780" dirty="0"/>
          </a:p>
        </p:txBody>
      </p:sp>
      <p:sp>
        <p:nvSpPr>
          <p:cNvPr id="32" name="Shape 30"/>
          <p:cNvSpPr/>
          <p:nvPr/>
        </p:nvSpPr>
        <p:spPr>
          <a:xfrm>
            <a:off x="1143000" y="1481328"/>
            <a:ext cx="2039112" cy="1124712"/>
          </a:xfrm>
          <a:prstGeom prst="line">
            <a:avLst/>
          </a:prstGeom>
          <a:noFill/>
          <a:ln w="19050">
            <a:solidFill>
              <a:srgbClr val="334D6E"/>
            </a:solidFill>
            <a:prstDash val="sysDot"/>
          </a:ln>
        </p:spPr>
      </p:sp>
      <p:sp>
        <p:nvSpPr>
          <p:cNvPr id="33" name="Shape 31"/>
          <p:cNvSpPr/>
          <p:nvPr/>
        </p:nvSpPr>
        <p:spPr>
          <a:xfrm>
            <a:off x="1143000" y="2944368"/>
            <a:ext cx="2039112" cy="-338328"/>
          </a:xfrm>
          <a:prstGeom prst="line">
            <a:avLst/>
          </a:prstGeom>
          <a:noFill/>
          <a:ln w="19050">
            <a:solidFill>
              <a:srgbClr val="334D6E"/>
            </a:solidFill>
            <a:prstDash val="sysDot"/>
          </a:ln>
        </p:spPr>
      </p:sp>
      <p:sp>
        <p:nvSpPr>
          <p:cNvPr id="34" name="Shape 32"/>
          <p:cNvSpPr/>
          <p:nvPr/>
        </p:nvSpPr>
        <p:spPr>
          <a:xfrm>
            <a:off x="1143000" y="4343400"/>
            <a:ext cx="2039112" cy="-1737360"/>
          </a:xfrm>
          <a:prstGeom prst="line">
            <a:avLst/>
          </a:prstGeom>
          <a:noFill/>
          <a:ln w="19050">
            <a:solidFill>
              <a:srgbClr val="334D6E"/>
            </a:solidFill>
            <a:prstDash val="sysDot"/>
          </a:ln>
        </p:spPr>
      </p:sp>
      <p:sp>
        <p:nvSpPr>
          <p:cNvPr id="35" name="Shape 33"/>
          <p:cNvSpPr/>
          <p:nvPr/>
        </p:nvSpPr>
        <p:spPr>
          <a:xfrm>
            <a:off x="4315968" y="2606040"/>
            <a:ext cx="1828800" cy="-1124712"/>
          </a:xfrm>
          <a:prstGeom prst="line">
            <a:avLst/>
          </a:prstGeom>
          <a:noFill/>
          <a:ln w="19050">
            <a:solidFill>
              <a:srgbClr val="334D6E"/>
            </a:solidFill>
            <a:prstDash val="sysDot"/>
          </a:ln>
        </p:spPr>
      </p:sp>
      <p:sp>
        <p:nvSpPr>
          <p:cNvPr id="36" name="Shape 34"/>
          <p:cNvSpPr/>
          <p:nvPr/>
        </p:nvSpPr>
        <p:spPr>
          <a:xfrm>
            <a:off x="4315968" y="2606040"/>
            <a:ext cx="1828800" cy="338328"/>
          </a:xfrm>
          <a:prstGeom prst="line">
            <a:avLst/>
          </a:prstGeom>
          <a:noFill/>
          <a:ln w="19050">
            <a:solidFill>
              <a:srgbClr val="334D6E"/>
            </a:solidFill>
            <a:prstDash val="sysDot"/>
          </a:ln>
        </p:spPr>
      </p:sp>
      <p:sp>
        <p:nvSpPr>
          <p:cNvPr id="37" name="Shape 35"/>
          <p:cNvSpPr/>
          <p:nvPr/>
        </p:nvSpPr>
        <p:spPr>
          <a:xfrm>
            <a:off x="4315968" y="2606040"/>
            <a:ext cx="1828800" cy="1737360"/>
          </a:xfrm>
          <a:prstGeom prst="line">
            <a:avLst/>
          </a:prstGeom>
          <a:noFill/>
          <a:ln w="19050">
            <a:solidFill>
              <a:srgbClr val="334D6E"/>
            </a:solidFill>
            <a:prstDash val="sysDot"/>
          </a:ln>
        </p:spPr>
      </p:sp>
      <p:sp>
        <p:nvSpPr>
          <p:cNvPr id="38" name="Shape 36"/>
          <p:cNvSpPr/>
          <p:nvPr/>
        </p:nvSpPr>
        <p:spPr>
          <a:xfrm>
            <a:off x="0" y="4636008"/>
            <a:ext cx="9144000" cy="50749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64592" y="4636008"/>
            <a:ext cx="2651760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FIELDS (ALL PAYMENT TYPES):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2834640" y="4636008"/>
            <a:ext cx="6126480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E9C4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member_id   ·   account_id   ·   txn_datetime_utc   ·   channel   ·   amount_usd   ·   direction (CR/DR)   ·   status   ·   risk_score</a:t>
            </a:r>
            <a:endParaRPr lang="en-US" sz="7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240"/>
          </a:solidFill>
          <a:ln w="12700">
            <a:solidFill>
              <a:srgbClr val="0D22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914400"/>
          </a:xfrm>
          <a:prstGeom prst="rect">
            <a:avLst/>
          </a:prstGeom>
          <a:solidFill>
            <a:srgbClr val="C77DFF"/>
          </a:solidFill>
          <a:ln w="12700">
            <a:solidFill>
              <a:srgbClr val="C77D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&amp; Business Entity Resolution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77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JHBI  |  Identity Graph Engine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914400"/>
            <a:ext cx="6035040" cy="3657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263640" y="9601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77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6263640" y="1307592"/>
            <a:ext cx="2743200" cy="603504"/>
          </a:xfrm>
          <a:prstGeom prst="rect">
            <a:avLst/>
          </a:prstGeom>
          <a:solidFill>
            <a:srgbClr val="0F2A4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263640" y="1307592"/>
            <a:ext cx="329184" cy="603504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63640" y="1307592"/>
            <a:ext cx="3291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647688" y="1307592"/>
            <a:ext cx="23042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6647688" y="1536192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Member, account, and business records land in Bronze layer via core system CDC feeds.</a:t>
            </a:r>
            <a:endParaRPr lang="en-US" sz="680" dirty="0"/>
          </a:p>
        </p:txBody>
      </p:sp>
      <p:sp>
        <p:nvSpPr>
          <p:cNvPr id="13" name="Shape 10"/>
          <p:cNvSpPr/>
          <p:nvPr/>
        </p:nvSpPr>
        <p:spPr>
          <a:xfrm>
            <a:off x="6263640" y="1956816"/>
            <a:ext cx="2743200" cy="603504"/>
          </a:xfrm>
          <a:prstGeom prst="rect">
            <a:avLst/>
          </a:prstGeom>
          <a:solidFill>
            <a:srgbClr val="0F2A4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263640" y="1956816"/>
            <a:ext cx="329184" cy="603504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63640" y="1956816"/>
            <a:ext cx="3291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6647688" y="1956816"/>
            <a:ext cx="23042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Tokenize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6647688" y="2185416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fields (name, email, phone, address, SSN/EIN) are phonetically normalized and hashed.</a:t>
            </a:r>
            <a:endParaRPr lang="en-US" sz="680" dirty="0"/>
          </a:p>
        </p:txBody>
      </p:sp>
      <p:sp>
        <p:nvSpPr>
          <p:cNvPr id="18" name="Shape 15"/>
          <p:cNvSpPr/>
          <p:nvPr/>
        </p:nvSpPr>
        <p:spPr>
          <a:xfrm>
            <a:off x="6263640" y="2606040"/>
            <a:ext cx="2743200" cy="603504"/>
          </a:xfrm>
          <a:prstGeom prst="rect">
            <a:avLst/>
          </a:prstGeom>
          <a:solidFill>
            <a:srgbClr val="0F2A4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263640" y="2606040"/>
            <a:ext cx="329184" cy="603504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263640" y="2606040"/>
            <a:ext cx="3291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6647688" y="2606040"/>
            <a:ext cx="23042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6647688" y="2834640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Blocking + probabilistic scoring links records using Fellegi-Sunter / ML classifier.</a:t>
            </a:r>
            <a:endParaRPr lang="en-US" sz="680" dirty="0"/>
          </a:p>
        </p:txBody>
      </p:sp>
      <p:sp>
        <p:nvSpPr>
          <p:cNvPr id="23" name="Shape 20"/>
          <p:cNvSpPr/>
          <p:nvPr/>
        </p:nvSpPr>
        <p:spPr>
          <a:xfrm>
            <a:off x="6263640" y="3255264"/>
            <a:ext cx="2743200" cy="603504"/>
          </a:xfrm>
          <a:prstGeom prst="rect">
            <a:avLst/>
          </a:prstGeom>
          <a:solidFill>
            <a:srgbClr val="0F2A4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263640" y="3255264"/>
            <a:ext cx="329184" cy="603504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263640" y="3255264"/>
            <a:ext cx="3291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6647688" y="3255264"/>
            <a:ext cx="23042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6647688" y="3483864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Connected-components algorithm groups matched records into a resolved entity cluster.</a:t>
            </a:r>
            <a:endParaRPr lang="en-US" sz="680" dirty="0"/>
          </a:p>
        </p:txBody>
      </p:sp>
      <p:sp>
        <p:nvSpPr>
          <p:cNvPr id="28" name="Shape 25"/>
          <p:cNvSpPr/>
          <p:nvPr/>
        </p:nvSpPr>
        <p:spPr>
          <a:xfrm>
            <a:off x="6263640" y="3904488"/>
            <a:ext cx="2743200" cy="603504"/>
          </a:xfrm>
          <a:prstGeom prst="rect">
            <a:avLst/>
          </a:prstGeom>
          <a:solidFill>
            <a:srgbClr val="0F2A4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263640" y="3904488"/>
            <a:ext cx="329184" cy="603504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263640" y="3904488"/>
            <a:ext cx="3291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6647688" y="3904488"/>
            <a:ext cx="23042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6647688" y="4133088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record written to Gold layer with entity_id, confidence score, and lineage.</a:t>
            </a:r>
            <a:endParaRPr lang="en-US" sz="680" dirty="0"/>
          </a:p>
        </p:txBody>
      </p:sp>
      <p:sp>
        <p:nvSpPr>
          <p:cNvPr id="33" name="Shape 30"/>
          <p:cNvSpPr/>
          <p:nvPr/>
        </p:nvSpPr>
        <p:spPr>
          <a:xfrm>
            <a:off x="0" y="4553712"/>
            <a:ext cx="9144000" cy="5897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20040" y="4553712"/>
            <a:ext cx="1005840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~15–25%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1344168" y="4553712"/>
            <a:ext cx="1143000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member records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duplicates</a:t>
            </a:r>
            <a:endParaRPr lang="en-US" sz="700" dirty="0"/>
          </a:p>
        </p:txBody>
      </p:sp>
      <p:sp>
        <p:nvSpPr>
          <p:cNvPr id="36" name="Text 33"/>
          <p:cNvSpPr/>
          <p:nvPr/>
        </p:nvSpPr>
        <p:spPr>
          <a:xfrm>
            <a:off x="2560320" y="4553712"/>
            <a:ext cx="1005840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3–5×</a:t>
            </a:r>
            <a:endParaRPr lang="en-US" sz="1300" dirty="0"/>
          </a:p>
        </p:txBody>
      </p:sp>
      <p:sp>
        <p:nvSpPr>
          <p:cNvPr id="37" name="Text 34"/>
          <p:cNvSpPr/>
          <p:nvPr/>
        </p:nvSpPr>
        <p:spPr>
          <a:xfrm>
            <a:off x="3584448" y="4553712"/>
            <a:ext cx="1143000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cross-sell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opportunities surfaced</a:t>
            </a:r>
            <a:endParaRPr lang="en-US" sz="700" dirty="0"/>
          </a:p>
        </p:txBody>
      </p:sp>
      <p:sp>
        <p:nvSpPr>
          <p:cNvPr id="38" name="Text 35"/>
          <p:cNvSpPr/>
          <p:nvPr/>
        </p:nvSpPr>
        <p:spPr>
          <a:xfrm>
            <a:off x="4800600" y="4553712"/>
            <a:ext cx="1005840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360°</a:t>
            </a:r>
            <a:endParaRPr lang="en-US" sz="1300" dirty="0"/>
          </a:p>
        </p:txBody>
      </p:sp>
      <p:sp>
        <p:nvSpPr>
          <p:cNvPr id="39" name="Text 36"/>
          <p:cNvSpPr/>
          <p:nvPr/>
        </p:nvSpPr>
        <p:spPr>
          <a:xfrm>
            <a:off x="5824728" y="4553712"/>
            <a:ext cx="1143000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view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enabled</a:t>
            </a:r>
            <a:endParaRPr lang="en-US" sz="700" dirty="0"/>
          </a:p>
        </p:txBody>
      </p:sp>
      <p:sp>
        <p:nvSpPr>
          <p:cNvPr id="40" name="Text 37"/>
          <p:cNvSpPr/>
          <p:nvPr/>
        </p:nvSpPr>
        <p:spPr>
          <a:xfrm>
            <a:off x="7040880" y="4553712"/>
            <a:ext cx="1005840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</a:t>
            </a:r>
            <a:endParaRPr lang="en-US" sz="1300" dirty="0"/>
          </a:p>
        </p:txBody>
      </p:sp>
      <p:sp>
        <p:nvSpPr>
          <p:cNvPr id="41" name="Text 38"/>
          <p:cNvSpPr/>
          <p:nvPr/>
        </p:nvSpPr>
        <p:spPr>
          <a:xfrm>
            <a:off x="8065008" y="4553712"/>
            <a:ext cx="1143000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deduplication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onboarding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JHBI Data Platform Slides</dc:title>
  <dc:subject>PptxGenJS Presentation</dc:subject>
  <dc:creator>PptxGenJS</dc:creator>
  <cp:lastModifiedBy>PptxGenJS</cp:lastModifiedBy>
  <cp:revision>1</cp:revision>
  <dcterms:created xsi:type="dcterms:W3CDTF">2026-04-28T18:45:01Z</dcterms:created>
  <dcterms:modified xsi:type="dcterms:W3CDTF">2026-04-28T18:45:01Z</dcterms:modified>
</cp:coreProperties>
</file>