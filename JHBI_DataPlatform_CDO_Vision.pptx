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327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APPENDIX: THE GAP THAT MATTERS — Speaker Notes &amp; Full Citations
JPMORGAN CHASE
• $17B technology budget in 2024; $18B planned for 2025
• 2,000+ AI/ML specialists; 63,000+ total technology staff
• 400+ AI use cases deployed; $1.5B annual value from AI
• 80% of apps off legacy data centers; 90% of analytical data on public cloud (primary: AWS)
• Source: JPMorgan Chase 2024 Annual Report &amp; Shareholder Letter; CIO.inc; impactinvesting.ai
CITIGROUP
• $30B+ technology investment over 3 years; $2.4B in Q1 2025 alone
• Leads all 50 tracked banks in AI company investments (Evident AI Index 2025)
• Multi-year strategic agreement with Google Cloud signed October 2024
• Source: Citigroup Q1 2025 Earnings Release; klover.ai/citigroup-ai-strategy; Evident AI Index 2025
GOLDMAN SACHS
• 500+ AI engineers hired in 2024 alone
• GS AI Assistant rolled out firmwide mid-2025 (piloted with 10,000 employees)
• Model-agnostic platform: OpenAI GPT, Google Gemini, Anthropic Claude — within audited environment
• Source: Goldman Sachs press releases 2024–2025; klover.ai/goldman-sachs-ai
BANK OF AMERICA
• $12B total technology budget; $4B for new technology initiatives in 2025
• 1,200+ AI/ML patents filed
• AI tools deployed across 150,000+ employees
• Source: Bank of America 2024 Annual Report; bankingexchange.com
WELLS FARGO
• Microsoft Azure named primary public cloud provider
• Google Cloud for AI-native services (secondary); Fargo virtual assistant on Gemini 2.0 Flash
• Source: American Banker, 'Why Wells Fargo picked both Microsoft Azure and Google Cloud'
COMMUNITY FIs
• Only 28% of banks have invested in a data analytics platform (Bank Director 2025 Technology Survey)
• 70% adoption rate for banks over $10B — vs. far lower for community institutions
• 66% of credit unions plan to use AI for credit decisioning but lack the infrastructure
• 1–5% annual technology budget increments typical for community institutions
• Source: Bank Director 2025 Technology Survey; interface.ai; CUNA/America's Credit Unions data
JACK HENRY
• ~1,700 FIs on core banking systems (940 banks, 720 credit unions) — FY2024
• 7,400+ total clients across full ecosystem
• 67% of all FIs on the RTP® Real-Time Payments Network are Jack Henry clients
• Platform built on Google Cloud Platform (GCP) — same infrastructure as Citi's AI transformation
• $2.375B revenue FY2025; zero debt
• Source: Jack Henry FY2025 Full Year Results (ir.jackhenry.com); Jack Henry Data Hub (jackhenry.dev)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Serve Banks.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" y="17373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Serves You.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11480" y="2743200"/>
            <a:ext cx="29260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28803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Data Platform Vision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33101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Community Banking's Trusted FinTech Data Partner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7307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the Chief Data Officer  · 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Competitive Divide in Banking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3840480" cy="38221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3840480" cy="43891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BANKS HAVE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50292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18562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Trillions in assets. Billions of daily transactions. National coverage.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50292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Armies of Analysts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258775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JPMorgan: 2,000+ AI/ML specialists &amp; 63,000 tech staff. Capital One: 15,000+ engineers. $17B tech spend annually.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50292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0632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Infrastructure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33192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Decade-long investments in proprietary ML platforms, feature stores, and data pipelines — purpose-built at massive scale.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50292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794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Recognition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405079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come to them. They don't earn trust — they assume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24528" y="2560320"/>
            <a:ext cx="694944" cy="6949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24528" y="25603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1024128"/>
            <a:ext cx="3840480" cy="3822192"/>
          </a:xfrm>
          <a:prstGeom prst="rect">
            <a:avLst/>
          </a:prstGeom>
          <a:solidFill>
            <a:srgbClr val="FFFFFF"/>
          </a:solidFill>
          <a:ln w="25400">
            <a:solidFill>
              <a:srgbClr val="2D7D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0" y="1024128"/>
            <a:ext cx="3840480" cy="438912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10241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FIs HAVE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12080" y="1600200"/>
            <a:ext cx="50292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49240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349240" y="18562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share financial realities with their local FI they'd never tell a megabank.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12080" y="2331720"/>
            <a:ext cx="50292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49240" y="23317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Proximity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349240" y="258775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see when a local business is struggling — before any macro dataset can.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212080" y="3063240"/>
            <a:ext cx="50292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49240" y="30632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Intelligence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349240" y="33192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spending patterns, seasonal rhythms, regional employer health.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12080" y="3794760"/>
            <a:ext cx="50292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49240" y="3794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349240" y="405079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owners who've banked there for 20 years. Real context. Real signal.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1480" y="47365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can be bought. Trust cannot.  Jack Henry's job is to make sure that trust shows up as a data advantage.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011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47472" y="493776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Our Network Is Different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069080" cy="1554480"/>
          </a:xfrm>
          <a:prstGeom prst="rect">
            <a:avLst/>
          </a:prstGeom>
          <a:solidFill>
            <a:srgbClr val="1F4568"/>
          </a:solidFill>
          <a:ln w="1270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40690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37160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7,400+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30352" y="20116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clients across the full Jack Henry ecosystem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4323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credit unions, and fintechs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18304" y="1261872"/>
            <a:ext cx="4069080" cy="1554480"/>
          </a:xfrm>
          <a:prstGeom prst="rect">
            <a:avLst/>
          </a:prstGeom>
          <a:solidFill>
            <a:srgbClr val="1F4568"/>
          </a:solidFill>
          <a:ln w="1270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18304" y="1261872"/>
            <a:ext cx="40690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01184" y="137160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~1,700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901184" y="20116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 on JH core banking systems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01184" y="24323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940 banks · 720 credit unions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980944"/>
            <a:ext cx="4069080" cy="1554480"/>
          </a:xfrm>
          <a:prstGeom prst="rect">
            <a:avLst/>
          </a:prstGeom>
          <a:solidFill>
            <a:srgbClr val="1F4568"/>
          </a:solidFill>
          <a:ln w="1270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2980944"/>
            <a:ext cx="40690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3090672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530352" y="373075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FIs on the RTP® Real-Time Payments Network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0352" y="41513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clients — payments infrastructure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18304" y="2980944"/>
            <a:ext cx="4069080" cy="1554480"/>
          </a:xfrm>
          <a:prstGeom prst="rect">
            <a:avLst/>
          </a:prstGeom>
          <a:solidFill>
            <a:srgbClr val="1F4568"/>
          </a:solidFill>
          <a:ln w="1270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18304" y="2980944"/>
            <a:ext cx="4069080" cy="6400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01184" y="3090672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4901184" y="373075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platform across this network today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01184" y="41513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opportunity we're here to discuss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" y="4736592"/>
            <a:ext cx="859536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network generates intelligence no single institution — community or large — can see alone. Our job is to unlock 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Your Data Team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$1.5B community credit union shouldn't need to hire 50 data scientists. As your trusted FinTech partner, we already are your data team.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3886200" cy="3310128"/>
          </a:xfrm>
          <a:prstGeom prst="rect">
            <a:avLst/>
          </a:prstGeom>
          <a:solidFill>
            <a:srgbClr val="FEF2F2"/>
          </a:solidFill>
          <a:ln w="12700">
            <a:solidFill>
              <a:srgbClr val="C5303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3886200" cy="411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4813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JH — What Each FI Needs Alone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ML Engineering team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8658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staff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7977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/ warehouse infrastructure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17296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 &amp; governance tooling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&amp; compliance framework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5935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&amp; peer comparison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35254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model training &amp; maintenance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83480" y="1481328"/>
            <a:ext cx="3886200" cy="3310128"/>
          </a:xfrm>
          <a:prstGeom prst="rect">
            <a:avLst/>
          </a:prstGeom>
          <a:solidFill>
            <a:srgbClr val="F0FFF4"/>
          </a:solidFill>
          <a:ln w="12700">
            <a:solidFill>
              <a:srgbClr val="2D7D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83480" y="1481328"/>
            <a:ext cx="3886200" cy="41148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14813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JH — Data Products. Delivered.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38928" y="1993392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models (network-trained)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38928" y="2386584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churn &amp; attrition scoring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38928" y="2779776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benchmarks &amp; performance comparisons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38928" y="3172968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lending risk intelligence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38928" y="3566160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adoption &amp; engagement analytics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38928" y="3959352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health indicators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38928" y="4352544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data — no pipelines required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7365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JPMorgan spends $17B on technology annually. A community FI doesn't need to match that — they need Jack Henry.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Three Stories.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27432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59105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Serve Banks.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Serves You.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487168"/>
            <a:ext cx="2468880" cy="274320"/>
          </a:xfrm>
          <a:prstGeom prst="rect">
            <a:avLst/>
          </a:prstGeom>
          <a:solidFill>
            <a:srgbClr val="D9F2F4"/>
          </a:solidFill>
          <a:ln w="12700">
            <a:solidFill>
              <a:srgbClr val="D9F2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JH  ·  JHBI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246888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our capabilities before we deliver them. Engineers, analysts, and AI teams get governed, trusted, fast access to data — the factory that powers our FI products.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024128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024128"/>
            <a:ext cx="2743200" cy="47548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10241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37560" y="159105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Serve Customers.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Data Serve You.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37560" y="2487168"/>
            <a:ext cx="2468880" cy="274320"/>
          </a:xfrm>
          <a:prstGeom prst="rect">
            <a:avLst/>
          </a:prstGeom>
          <a:solidFill>
            <a:srgbClr val="E4EBF5"/>
          </a:solidFill>
          <a:ln w="12700">
            <a:solidFill>
              <a:srgbClr val="E4E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2487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834640"/>
            <a:ext cx="246888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clients access their own intelligence — no data team required. Self-service access to core data, member patterns, and local signals through a governed portal.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024128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6480" y="1024128"/>
            <a:ext cx="2743200" cy="475488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10241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63640" y="159105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Unlock the Shared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of Our Network.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2487168"/>
            <a:ext cx="2468880" cy="274320"/>
          </a:xfrm>
          <a:prstGeom prst="rect">
            <a:avLst/>
          </a:prstGeom>
          <a:solidFill>
            <a:srgbClr val="E0F0E6"/>
          </a:solidFill>
          <a:ln w="12700">
            <a:solidFill>
              <a:srgbClr val="E0F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3640" y="2487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2834640"/>
            <a:ext cx="246888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anonymized network intelligence — AI models, peer benchmarks, and risk signals that only Jack Henry's position across ~1,700 community FIs can produce.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01  ·  Internal JH Teams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Serve Banks. Data Serves You.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60520" cy="411480"/>
          </a:xfrm>
          <a:prstGeom prst="rect">
            <a:avLst/>
          </a:prstGeom>
          <a:solidFill>
            <a:srgbClr val="D9F2F4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98755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can be our FIs' data partner, we must be our own. JHBI is the factory that builds what we deliver to community banking.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51790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JHBI Unlocks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984248"/>
            <a:ext cx="5029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984248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 &amp; AI/ML teams: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governed, profiled data — without PII risk or extract delays.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734056"/>
            <a:ext cx="5029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734056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engineers (incl. Symitar):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realistic test data via TDM — no production data in dev.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5029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483864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&amp; PMs: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self-service BI via portal backed by Alation catalog.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4233672"/>
            <a:ext cx="5029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233672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legal: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PII detected, classified, and enforced from day one — not retrofitted.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37760" y="987552"/>
            <a:ext cx="3886200" cy="38587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0" y="10789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Platform Stack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14081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 internal capabilities become FI products)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1810512"/>
            <a:ext cx="5029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57800" y="1810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57800" y="20756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· Understand · Request · Query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20640" y="2505456"/>
            <a:ext cx="5029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57800" y="2505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27706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Profiling · DQ · PII classification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20640" y="3200400"/>
            <a:ext cx="5029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5780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Data Lake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4655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· Dataplex · Cloud DLP · Dataflow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20640" y="3895344"/>
            <a:ext cx="5029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57800" y="38953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Mgmt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57800" y="41605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· Synthetic data · Safe SDLC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02  ·  Financial Institutions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Serve Customers. Make Data Serve You.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977640" cy="3749040"/>
          </a:xfrm>
          <a:prstGeom prst="rect">
            <a:avLst/>
          </a:prstGeom>
          <a:solidFill>
            <a:srgbClr val="FEF2F2"/>
          </a:solidFill>
          <a:ln w="12700">
            <a:solidFill>
              <a:srgbClr val="C5303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3977640" cy="43891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calls JH to pull a data report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25856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or weeks to answer a simple question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their own member patterns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52044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JH support burden — zero FI autonomy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151376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intelligence locked in core data, unused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3977640" cy="3749040"/>
          </a:xfrm>
          <a:prstGeom prst="rect">
            <a:avLst/>
          </a:prstGeom>
          <a:solidFill>
            <a:srgbClr val="F0FFF4"/>
          </a:solidFill>
          <a:ln w="12700">
            <a:solidFill>
              <a:srgbClr val="2D7D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3977640" cy="438912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0515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Powered by JH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627632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analyst logs into the portal — governed, permissioned access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37760" y="225856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their own Symitar / core data in minutes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37760" y="2889504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member patterns, local business signals, risk trends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is the infrastructure and the data team — FI has the insight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37760" y="4151376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+ proximity + JH intelligence = community banking edge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4736592"/>
            <a:ext cx="859536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7365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FI's competitive edge isn't their technology stack — it's their community relationships. JH makes that edge data-driven.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560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03  ·  The Ecosystem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47472" y="5486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Unlock the Shared Intelligence of Our Network.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26187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community FI can see what ~1,700 see together. Only Jack Henry can build this — and only community banking produces this kind of intelligence.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47472" y="1755648"/>
            <a:ext cx="8503920" cy="347472"/>
          </a:xfrm>
          <a:prstGeom prst="rect">
            <a:avLst/>
          </a:prstGeom>
          <a:solidFill>
            <a:srgbClr val="1F4568"/>
          </a:solidFill>
          <a:ln w="12700">
            <a:solidFill>
              <a:srgbClr val="1F4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7556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 that participates makes every other FI smarter. This is a flywheel no big bank can replicate — trust and local context scale differently than transactions.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2267712"/>
            <a:ext cx="4160520" cy="1115568"/>
          </a:xfrm>
          <a:prstGeom prst="rect">
            <a:avLst/>
          </a:prstGeom>
          <a:solidFill>
            <a:srgbClr val="1F4568"/>
          </a:solidFill>
          <a:ln w="1270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2267712"/>
            <a:ext cx="59436" cy="11155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3591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Benchmarking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67004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FIs see how their deposit growth, digital adoption, and loan performance compare to similar-size institutions — anonymized, aggregated, actionable.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267712"/>
            <a:ext cx="4160520" cy="1115568"/>
          </a:xfrm>
          <a:prstGeom prst="rect">
            <a:avLst/>
          </a:prstGeom>
          <a:solidFill>
            <a:srgbClr val="1F4568"/>
          </a:solidFill>
          <a:ln w="1270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2267712"/>
            <a:ext cx="59436" cy="11155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23591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 Risk Signals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67004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patterns in fraud, delinquency, and operational risk that no individual institution could detect alone — surfaced as early warning scores.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529584"/>
            <a:ext cx="4160520" cy="1115568"/>
          </a:xfrm>
          <a:prstGeom prst="rect">
            <a:avLst/>
          </a:prstGeom>
          <a:solidFill>
            <a:srgbClr val="1F4568"/>
          </a:solidFill>
          <a:ln w="1270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3529584"/>
            <a:ext cx="59436" cy="11155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36210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AI/ML at Network Scale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9319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community banking patterns across ~1,700 institutions — fraud detection, member churn, credit risk — improving with every FI in the network.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529584"/>
            <a:ext cx="4160520" cy="1115568"/>
          </a:xfrm>
          <a:prstGeom prst="rect">
            <a:avLst/>
          </a:prstGeom>
          <a:solidFill>
            <a:srgbClr val="1F4568"/>
          </a:solidFill>
          <a:ln w="1270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3529584"/>
            <a:ext cx="59436" cy="11155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36210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Intelligence Products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9319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spending patterns, small business health indicators, and community network effects — turned into data products no big bank's generic model can match.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709160"/>
            <a:ext cx="8595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6E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Story 03 is where data rights, consent, and commercial agreements become load-bearing — this is the conversation we need to start together.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Build This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5097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internal platform (JHBI) is the factory. The output is data products delivered back to community FIs as a service.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1168" y="1353312"/>
            <a:ext cx="201168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" y="1353312"/>
            <a:ext cx="201168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" y="1353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0896" y="19019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GCP Data Lake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0896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· Dataplex · Cloud DLP · Dataflow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" y="2651760"/>
            <a:ext cx="1792224" cy="2286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896" y="2724912"/>
            <a:ext cx="1828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Domain-aligned datasets with automated governance and PII classification built in — not bolted on. The source of truth for all FI data products.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12848" y="2606040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14016" y="1353312"/>
            <a:ext cx="201168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14016" y="1353312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14016" y="1353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23744" y="19019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23744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Profiling · Data Quality · PII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23744" y="2651760"/>
            <a:ext cx="1792224" cy="2286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23744" y="2724912"/>
            <a:ext cx="1828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layer. Every dataset profiled, quality-scored, and searchable before it reaches any consumer — internal or FI. Stewardship workflows for governance.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25696" y="2606040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26864" y="1353312"/>
            <a:ext cx="201168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26864" y="1353312"/>
            <a:ext cx="2011680" cy="4572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26864" y="1353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36592" y="19019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Portal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36592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· Understand · Access · Query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36592" y="2651760"/>
            <a:ext cx="1792224" cy="2286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36592" y="2724912"/>
            <a:ext cx="1828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door for JH teams and FI clients. Find data, understand its lineage, request access, and build — without opening a ticket.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38544" y="2606040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39712" y="1353312"/>
            <a:ext cx="201168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39712" y="1353312"/>
            <a:ext cx="2011680" cy="45720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39712" y="1353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49440" y="19019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Data Mgmt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94944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· Synthetic Generation · Compliance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49440" y="2651760"/>
            <a:ext cx="1792224" cy="2286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49440" y="2724912"/>
            <a:ext cx="1828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realistic data for dev and test across all teams including Symitar. Eliminating PII risk across the SDLC so engineers can build with production-like data.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01168" y="4892040"/>
            <a:ext cx="8741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 ·  Assured Workloads  ·  SOC 2  ·  FedRAMP-eligible  ·  Built for financial services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Questions We Need to Answer Together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a trusted data partner isn't just a technology decision. These are the governance, legal, and sequencing questions that need alignment in this room.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64008" cy="16459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88920" y="2798064"/>
            <a:ext cx="1463040" cy="24688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88920" y="279806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+ CDO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Rights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1947672"/>
            <a:ext cx="3703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our current FI contracts allow using their data for cross-FI analytics (Story 03)? What's the path to updated data agreements and what consent model do we adopt?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444752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1444752"/>
            <a:ext cx="64008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23760" y="2798064"/>
            <a:ext cx="1463040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0" y="279806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Lead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83480" y="15544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Ownership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1947672"/>
            <a:ext cx="3703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approves a data product before it's published to the catalog? Who owns the data council, stewardship model, and domain team accountability?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255264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255264"/>
            <a:ext cx="64008" cy="164592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88920" y="4608576"/>
            <a:ext cx="1463040" cy="24688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88920" y="460857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+ Platform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" y="336499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PII &amp; Data Handling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3758184"/>
            <a:ext cx="3703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 classifies. Cloud DLP enforces. But what are the actual handling policies once data is classified? We need policy decisions, not just tooling.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255264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3255264"/>
            <a:ext cx="64008" cy="164592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23760" y="4608576"/>
            <a:ext cx="1463040" cy="246888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23760" y="460857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— This Room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83480" y="336499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Sequencing &amp; Phasing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83480" y="3758184"/>
            <a:ext cx="3703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01 (internal) is the foundation. Do we agree to build it first before Story 02 and Story 03? What are the gating criteria and who controls them?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9260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47472" y="621792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This the Right Frame?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47472" y="13898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asking for budget or approval. We're asking: is "Community Banking's Trusted FinTech Data Partner" the right north star — and do we have the frame to get there?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47472" y="2176272"/>
            <a:ext cx="8458200" cy="713232"/>
          </a:xfrm>
          <a:prstGeom prst="rect">
            <a:avLst/>
          </a:prstGeom>
          <a:solidFill>
            <a:srgbClr val="1F4568"/>
          </a:solidFill>
          <a:ln w="1270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2176272"/>
            <a:ext cx="59436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176272"/>
            <a:ext cx="7726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three stories — Internal, FI Self-Service, and Unlock the Shared Intelligence of Our Network — represent the right scope and sequence for this platform?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2999232"/>
            <a:ext cx="8458200" cy="713232"/>
          </a:xfrm>
          <a:prstGeom prst="rect">
            <a:avLst/>
          </a:prstGeom>
          <a:solidFill>
            <a:srgbClr val="1F4568"/>
          </a:solidFill>
          <a:ln w="1270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2999232"/>
            <a:ext cx="59436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999232"/>
            <a:ext cx="7726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JHBI the right organizational umbrella, and do we have the cross-functional ownership (data science, governance, AI enablement, legal) that makes the partner model real?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" y="3822192"/>
            <a:ext cx="8458200" cy="713232"/>
          </a:xfrm>
          <a:prstGeom prst="rect">
            <a:avLst/>
          </a:prstGeom>
          <a:solidFill>
            <a:srgbClr val="1F4568"/>
          </a:solidFill>
          <a:ln w="1270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3822192"/>
            <a:ext cx="59436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82219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822192"/>
            <a:ext cx="7726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four hard questions needs a decision in the next 90 days to unblock meaningful progress toward Story 01?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791456"/>
            <a:ext cx="85953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Serve Banks. Data Serves You.   ·   You Serve Customers. Make Data Serve You.   ·   Unlock the Shared Intelligence of Our Network.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That Matters — AI &amp; ML Infrastructure by Institution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92608" y="950976"/>
            <a:ext cx="8577072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509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9424" y="95097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21024" y="95097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Tech Spend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10912" y="9509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Staff &amp; Scale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12864" y="9509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AI Move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1280160"/>
            <a:ext cx="857707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2801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JPMorgan Chase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49424" y="1371600"/>
            <a:ext cx="1170432" cy="246888"/>
          </a:xfrm>
          <a:prstGeom prst="rect">
            <a:avLst/>
          </a:prstGeom>
          <a:solidFill>
            <a:srgbClr val="E47911"/>
          </a:solidFill>
          <a:ln w="12700">
            <a:solidFill>
              <a:srgbClr val="E479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49424" y="1371600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21024" y="128016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$17B / yr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10912" y="12801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AI/ML specialists; 400+ use cases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12864" y="128016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$1.5B annual value from AI; 90% analytics on cloud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2608" y="1737360"/>
            <a:ext cx="8577072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17373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Citigroup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49424" y="1828800"/>
            <a:ext cx="1170432" cy="24688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49424" y="1828800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Cloud*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21024" y="173736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~$10B / yr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10912" y="17373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investments of any tracked bank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12864" y="173736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GCP strategic deal, Oct 2024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2608" y="2194560"/>
            <a:ext cx="857707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21945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Goldman Sachs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49424" y="2286000"/>
            <a:ext cx="1170432" cy="2468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49424" y="2286000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21024" y="219456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Undisclosed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10912" y="21945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AI engineers hired in 2024 alone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12864" y="219456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 AI Assistant firmwide — GPT, Gemini, Claude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92608" y="2651760"/>
            <a:ext cx="8577072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26517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of America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49424" y="2743200"/>
            <a:ext cx="1170432" cy="24688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249424" y="2743200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IBM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21024" y="265176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 / yr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10912" y="26517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 AI/ML patents; $4B new tech 2025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12864" y="265176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across 150,000 employees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92608" y="3108960"/>
            <a:ext cx="857707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31089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Wells Fargo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49424" y="3200400"/>
            <a:ext cx="1170432" cy="24688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249424" y="3200400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+ GCP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21024" y="310896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Undisclosed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10912" y="31089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Fargo assistant on Gemini 2.0 Flash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12864" y="310896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primary; Google for AI-native services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2608" y="3657600"/>
            <a:ext cx="8577072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92608" y="3657600"/>
            <a:ext cx="64008" cy="65836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02336" y="3657600"/>
            <a:ext cx="1673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FIs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249424" y="3858768"/>
            <a:ext cx="1170432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249424" y="3858768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/ None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621024" y="365760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1–5% budget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10912" y="3657600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28% have invested in a data analytics platform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12864" y="3657600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of credit unions want AI for credit decisioning — capability does not yet exist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0040" y="4352544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Citigroup–Google Cloud strategic agreement signed Oct 2024   ·   Jack Henry also runs on GCP — same infrastructure layer as Citi's AI transformation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0040" y="45720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20040" y="471830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JPMorgan: 2024 Annual Report &amp; Shareholder Letter; impactinvesting.ai   ·   Citigroup: Q1 2025 Earnings, Google Cloud deal press release Oct 2024; klover.ai   ·   Goldman Sachs: 2024 press releases; klover.ai   ·   Bank of America: 2024 Annual Report   ·   Wells Fargo: americanbanker.com, "Why Wells Fargo picked Azure and Google Cloud"   ·   Community FI data: Bank Director 2025 Technology Survey; interface.ai   ·   Jack Henry: FY2025 Full Year Results; jackhenry.dev/data-hub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47472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not stable — it is widening and accelerating. Community FIs cannot close it alone. That is the role of the trusted FinTech partner.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 ·  Data Access 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Data Hub Adoption Is Slow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is a passthrough — not a data product. Without a governance and product layer, it remains infrastructure that only sophisticated FIs can consume.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" y="141732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417320"/>
            <a:ext cx="411480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HUB  ·  AS-IS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" y="1911096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" y="19110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3030"/>
                </a:solidFill>
              </a:rPr>
              <a:t>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189280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Customer-Managed GCP Required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2176272"/>
            <a:ext cx="35844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 client must provision and manage their own GCP project before receiving a single row of data. Most community FIs have no cloud engineering team to do this — full stop.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" y="2843784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" y="2843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3030"/>
                </a:solidFill>
              </a:rPr>
              <a:t>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282549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Only — No Product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3108960"/>
            <a:ext cx="35844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delivers unvalidated, unprofiled data. No quality scores, no PII handling, no lineage visible to the consumer. The FI must build all of that themselves.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0624" y="3776472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" y="3776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3030"/>
                </a:solidFill>
              </a:rPr>
              <a:t>✕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" y="375818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Groups Don't Consume 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4041648"/>
            <a:ext cx="35844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JHA product and solution teams bypass DataHub entirely. Each group maintains its own extract pipeline. There is no shared internal consumption model, and that fragmentation compounds across ~1,700 FIs.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36592" y="141732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36592" y="1417320"/>
            <a:ext cx="4114800" cy="36576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JHBI  ·  THE MISSING LAYER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64608" y="1911096"/>
            <a:ext cx="228600" cy="228600"/>
          </a:xfrm>
          <a:prstGeom prst="rect">
            <a:avLst/>
          </a:prstGeom>
          <a:solidFill>
            <a:srgbClr val="DCFCE7"/>
          </a:solidFill>
          <a:ln w="635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64608" y="19110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7D46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57216" y="189280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DataHub Becomes One Source Feed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57216" y="2176272"/>
            <a:ext cx="35844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ingests DataHub output as a bronze-layer feed — one of several JHA source systems. The central lake, not the passthrough, becomes the product layer. FIs never see raw GCP.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64608" y="2843784"/>
            <a:ext cx="228600" cy="228600"/>
          </a:xfrm>
          <a:prstGeom prst="rect">
            <a:avLst/>
          </a:prstGeom>
          <a:solidFill>
            <a:srgbClr val="DCFCE7"/>
          </a:solidFill>
          <a:ln w="635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64608" y="2843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7D46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57216" y="282549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Medallion Architecture Adds the Layer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57216" y="3108960"/>
            <a:ext cx="35844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Gold. Raw data is profiled, DQ-checked, PII-classified, and domain-aligned before any consumer touches it. Internal or external — same governed baseline.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64608" y="3776472"/>
            <a:ext cx="228600" cy="228600"/>
          </a:xfrm>
          <a:prstGeom prst="rect">
            <a:avLst/>
          </a:prstGeom>
          <a:solidFill>
            <a:srgbClr val="DCFCE7"/>
          </a:solidFill>
          <a:ln w="635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64608" y="3776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7D46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57216" y="375818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Store. Multiple Consumer Types.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57216" y="4041648"/>
            <a:ext cx="35844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groups, FI clients via the Data Portal, and network intelligence products all draw from the same gold layer. No duplicate extracts, no fragmentation, no custom GCP accounts.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7472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goal is not to replace Data Hub — it is to build the product layer that makes JHA data consumable at scale. That is JHBI.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 ·  Platform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JHBI Medallion Data Lake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Near-time CDC (Debezium), event streaming, and batch pipelines feed all JHA source systems into raw storage. PANs and account numbers are tokenized at the raw→bronze boundary before any downstream layer sees them.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408176"/>
            <a:ext cx="1389888" cy="292608"/>
          </a:xfrm>
          <a:prstGeom prst="rect">
            <a:avLst/>
          </a:prstGeom>
          <a:solidFill>
            <a:srgbClr val="1F4568"/>
          </a:solidFill>
          <a:ln w="12700">
            <a:solidFill>
              <a:srgbClr val="1F4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140817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1755648"/>
            <a:ext cx="1280160" cy="502920"/>
          </a:xfrm>
          <a:prstGeom prst="rect">
            <a:avLst/>
          </a:prstGeom>
          <a:solidFill>
            <a:srgbClr val="E4EBF5"/>
          </a:solidFill>
          <a:ln w="9525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755648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 passthrough)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" y="2350008"/>
            <a:ext cx="1280160" cy="502920"/>
          </a:xfrm>
          <a:prstGeom prst="rect">
            <a:avLst/>
          </a:prstGeom>
          <a:solidFill>
            <a:srgbClr val="E4EBF5"/>
          </a:solidFill>
          <a:ln w="9525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" y="2350008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(Bank Core)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2944368"/>
            <a:ext cx="1280160" cy="502920"/>
          </a:xfrm>
          <a:prstGeom prst="rect">
            <a:avLst/>
          </a:prstGeom>
          <a:solidFill>
            <a:srgbClr val="E4EBF5"/>
          </a:solidFill>
          <a:ln w="9525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" y="2944368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Symitar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 Core)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3538728"/>
            <a:ext cx="1280160" cy="502920"/>
          </a:xfrm>
          <a:prstGeom prst="rect">
            <a:avLst/>
          </a:prstGeom>
          <a:solidFill>
            <a:srgbClr val="E4EBF5"/>
          </a:solidFill>
          <a:ln w="9525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2608" y="3538728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(RTP® / ACH)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4133088"/>
            <a:ext cx="1280160" cy="502920"/>
          </a:xfrm>
          <a:prstGeom prst="rect">
            <a:avLst/>
          </a:prstGeom>
          <a:solidFill>
            <a:srgbClr val="E4EBF5"/>
          </a:solidFill>
          <a:ln w="9525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2608" y="4133088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/ Digital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3rd Party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737360" y="1408176"/>
            <a:ext cx="2212848" cy="3346704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737360" y="1408176"/>
            <a:ext cx="221284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828800" y="14081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 ·  Ingestion &amp; Tokenization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10512" y="1700784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 ·  Event Streaming  ·  Batch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847088" y="1792224"/>
            <a:ext cx="1993392" cy="22860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847088" y="185623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Multi-Modal Ingestion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47088" y="2121408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Near-time CDC via SQL Server native CDC + Debezium, or log-based CDC via 3rd party tool. Event-based streaming for real-time signals. Scheduled batch for full/incremental loads. DataHub feed included as one path.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47088" y="2761488"/>
            <a:ext cx="1993392" cy="22860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47088" y="282549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Sensitive Data Handling  ·  FPE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47088" y="3090672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PANs and account numbers encrypted using Format-Preserving Encryption (FPE) at the raw→bronze boundary. FPE tokens are format-consistent and deterministic — joins, aggregations, and ML run directly on tokens without decryption. Original values never appear in bronze or above.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47088" y="3730752"/>
            <a:ext cx="1993392" cy="22860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47088" y="379476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Immutable Bronze Storage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47088" y="4059936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Post-tokenization data lands in BigQuery external tables + GCS. No further transforms — stored exactly as tokenized. Schema registered in Dataplex, audit trail from source to consumer.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096512" y="1408176"/>
            <a:ext cx="2212848" cy="3346704"/>
          </a:xfrm>
          <a:prstGeom prst="rect">
            <a:avLst/>
          </a:prstGeom>
          <a:solidFill>
            <a:srgbClr val="EFF6FF"/>
          </a:solidFill>
          <a:ln w="1905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096512" y="1408176"/>
            <a:ext cx="2212848" cy="29260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87952" y="14081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 ·  Governed &amp; Conformed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06240" y="1792224"/>
            <a:ext cx="199339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06240" y="185623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Residual PII Detection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06240" y="2121408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DLP scans every field for remaining sensitive values — names, SSNs, addresses, dates of birth. PANs and account numbers are already tokenized from the bronze boundary. Residual PII classified, flagged in Alation, and masked before silver promotion.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06240" y="2761488"/>
            <a:ext cx="199339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206240" y="282549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Enforcement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206240" y="3090672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Alation-managed DQ rules: completeness, referential integrity, freshness SLAs. Failing records quarantined with lineage, never silently dropped.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06240" y="3730752"/>
            <a:ext cx="199339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206240" y="379476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Cross-System Conformation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206240" y="4059936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across SilverLake, Symitar, Payments — one canonical definition of FI, account, and member shared across all JHA domains.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55664" y="1408176"/>
            <a:ext cx="2487168" cy="3346704"/>
          </a:xfrm>
          <a:prstGeom prst="rect">
            <a:avLst/>
          </a:prstGeom>
          <a:solidFill>
            <a:srgbClr val="ECFDF5"/>
          </a:solidFill>
          <a:ln w="1905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455664" y="1408176"/>
            <a:ext cx="2487168" cy="292608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47104" y="140817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·  Data Products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65392" y="1792224"/>
            <a:ext cx="2267712" cy="2286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65392" y="1856232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Data Products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65392" y="2121408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Domain-aligned datasets for JH teams via Alation catalog and Data Portal. Data science, product eng, analytics — one governed source of truth.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565392" y="2761488"/>
            <a:ext cx="2267712" cy="2286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65392" y="282549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 Self-Service Products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65392" y="3090672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views via the Data Portal. No customer-managed GCP. Governed, profiled, access-controlled — self-service without the infrastructure burden.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565392" y="3730752"/>
            <a:ext cx="2267712" cy="2286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565392" y="3794760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Intelligence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65392" y="4059936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cross-FI aggregates — benchmarks, risk signals, AI/ML training sets. The flywheel that only JH can build across ~1,700 FIs.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609344" y="28986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3968496" y="28986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6327648" y="28986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47472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FPE is the architectural enabler of Story 03 — because tokens are deterministic, cross-FI analytics and ML run on tokenized account data without ever decrypting original values.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  ·  The Business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Network Intelligence Actually Delivers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benchmarks based on analogous financial network models (fraud consortiums, co-op AML networks, peer-benchmarking platforms). Actual lift scales with data quality and the number of participating FIs.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" y="1408176"/>
            <a:ext cx="8540496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40817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00784" y="140817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Today (Single-FI)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096512" y="140817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Lift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408176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JH Enables 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" y="1700784"/>
            <a:ext cx="8540496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2608" y="1700784"/>
            <a:ext cx="54864" cy="53949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2336" y="1700784"/>
            <a:ext cx="11155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00784" y="1737360"/>
            <a:ext cx="221284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0.70–0.78 today. Each FI sees &lt;10 bust-out events/yr — too sparse to train a model. Fraud rings span multiple institutions, invisible to any single FI.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78224" y="1700784"/>
            <a:ext cx="13167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+20–35%</a:t>
            </a:r>
            <a:endParaRPr lang="en-US" sz="14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4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−25–40% false pos.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96128" y="1737360"/>
            <a:ext cx="318211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FPE-tokenized account IDs enable cross-FI velocity &amp; device signal joins without decryption. Fraud rings identified across the JH FI graph. No raw transactions or plaintext account data shared.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" y="2240280"/>
            <a:ext cx="8540496" cy="539496"/>
          </a:xfrm>
          <a:prstGeom prst="rect">
            <a:avLst/>
          </a:prstGeom>
          <a:solidFill>
            <a:srgbClr val="F7FAFC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2608" y="2240280"/>
            <a:ext cx="54864" cy="5394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" y="2240280"/>
            <a:ext cx="11155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BSA / AML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00784" y="2276856"/>
            <a:ext cx="221284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98–99.5% false positive rate is the industry baseline. Structuring rings span 3–7 institutions — invisible to any single FI's transaction monitoring.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78224" y="2240280"/>
            <a:ext cx="13167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−30–50%</a:t>
            </a:r>
            <a:endParaRPr lang="en-US" sz="14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Pos.</a:t>
            </a:r>
            <a:endParaRPr lang="en-US" sz="14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earlier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96128" y="2276856"/>
            <a:ext cx="318211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FPE tokens allow cross-institution actor graph analysis without exposing account numbers. Structuring typologies identified deterministically across FIs. No plaintext PII leaves any member institution.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2608" y="2779776"/>
            <a:ext cx="8540496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2608" y="2779776"/>
            <a:ext cx="54864" cy="53949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2336" y="2779776"/>
            <a:ext cx="11155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700784" y="2816352"/>
            <a:ext cx="221284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0.65–0.72. Small institution = small n = weak signal. Deposit outflows from rate sensitivity are invisible at single-FI level.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078224" y="2779776"/>
            <a:ext cx="13167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+10–20%</a:t>
            </a:r>
            <a:endParaRPr lang="en-US" sz="14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4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+15–25% top decile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96128" y="2816352"/>
            <a:ext cx="318211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peer-cohort benchmarks by FI size tier &amp; geography. Regional attrition patterns surface 60–90 days before they hit any single institution.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92608" y="3319272"/>
            <a:ext cx="8540496" cy="539496"/>
          </a:xfrm>
          <a:prstGeom prst="rect">
            <a:avLst/>
          </a:prstGeom>
          <a:solidFill>
            <a:srgbClr val="F7FAFC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92608" y="3319272"/>
            <a:ext cx="54864" cy="5394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2336" y="3319272"/>
            <a:ext cx="11155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Risk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SMB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700784" y="3355848"/>
            <a:ext cx="221284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Thin-file SMB segments are bureau-dependent. Regional industry-level default signals — the leading indicators — are invisible to individual community FIs.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78224" y="3319272"/>
            <a:ext cx="13167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+10–20%</a:t>
            </a:r>
            <a:endParaRPr lang="en-US" sz="14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4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(thin file)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96128" y="3355848"/>
            <a:ext cx="318211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regional default rates by industry &amp; geography. No loan-level or borrower data shared between member institutions.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2608" y="3858768"/>
            <a:ext cx="8540496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92608" y="3858768"/>
            <a:ext cx="54864" cy="539496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2336" y="3858768"/>
            <a:ext cx="11155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Cross-Sell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700784" y="3895344"/>
            <a:ext cx="221284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have no history. Single-FI product adoption is too sparse to power reliable next-best-product recommendations.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78224" y="3858768"/>
            <a:ext cx="13167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+15–25%</a:t>
            </a:r>
            <a:endParaRPr lang="en-US" sz="14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4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596128" y="3895344"/>
            <a:ext cx="318211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Cohort-level product adoption rates from peer-FI profiles. What do similar customers at similarly-sized FIs adopt next?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92608" y="4453128"/>
            <a:ext cx="8540496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92608" y="4453128"/>
            <a:ext cx="54864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0624" y="4453128"/>
            <a:ext cx="8339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corpus advantage:  </a:t>
            </a: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5,000-member CU sees ~3–5M transactions/year. JPMC sees 5 billion. You cannot close that gap by hiring data scientists. The JH network pools ~1,700 institutions into one learning corpus — every FI that joins improves every model for every other member.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47472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estimates are directional benchmarks drawn from published ML finance literature, co-op fraud/AML consortium disclosures, and peer-benchmarking platform studies (2022–2025). Not forward-looking projections.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E  ·  Selected Tooling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Alation: The Data Catalog &amp; Trust Layer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 is the governance surface for JHBI — where consumers trust what they find, stewards enforce policy, and the platform proves compliance. It is not a search box. It is the contract between data producers and data consumers.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" y="1444752"/>
            <a:ext cx="413308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444752"/>
            <a:ext cx="54864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49961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Profiling &amp; Discovery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0624" y="1755648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profiled on ingestion — row counts, null rates, value distributions, schema. Consumers find and evaluate data without opening a ticket or waiting on a data team.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" y="2249424"/>
            <a:ext cx="413308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2608" y="2249424"/>
            <a:ext cx="54864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0624" y="230428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Rules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0624" y="256032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Steward-defined DQ checks: completeness thresholds, referential integrity, freshness SLAs. Quality scores are visible in search before any consumer touches the data.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" y="3054096"/>
            <a:ext cx="413308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92608" y="3054096"/>
            <a:ext cx="54864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" y="310896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PII Classification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0624" y="3364992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PII tagging via Cloud DLP integration. Sensitive fields flagged in the catalog automatically. Policy enforcement is tied to tags — not retrofitted in audits.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" y="3858768"/>
            <a:ext cx="413308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92608" y="3858768"/>
            <a:ext cx="54864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391363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Stewardship Workflows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0624" y="4169664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ownership assigned to named stewards. Certification status, access approval, and change requests are managed in Alation — not email threads or JIRA tickets.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444752"/>
            <a:ext cx="4187952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1444752"/>
            <a:ext cx="4187952" cy="347472"/>
          </a:xfrm>
          <a:prstGeom prst="rect">
            <a:avLst/>
          </a:prstGeom>
          <a:solidFill>
            <a:srgbClr val="1F4568"/>
          </a:solidFill>
          <a:ln w="12700">
            <a:solidFill>
              <a:srgbClr val="1F4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91456" y="1444752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Alation in the JHBI Architecture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91456" y="1883664"/>
            <a:ext cx="3931920" cy="2286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91456" y="193852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 Layer: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71616" y="1938528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the silver BigQuery layer and all consumers. Every dataset reaching silver is cataloged in Alation before it is accessible to any internal or external consumer.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91456" y="2578608"/>
            <a:ext cx="3931920" cy="2286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91456" y="263347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Consumers: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71616" y="2633472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data scientists, product engineers, and analysts discover, understand, and request access through Alation — not ad-hoc emails or spreadsheet inventories.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91456" y="3273552"/>
            <a:ext cx="3931920" cy="2286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91456" y="3328416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 Consumers: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71616" y="3328416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clients see a governed view of their own data products via the portal, surfaced with Alation metadata: DQ score, PII flags, schema lineage, and freshness timestamp.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91456" y="3968496"/>
            <a:ext cx="3931920" cy="2286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91456" y="402336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Evidence: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071616" y="4023360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 generates the audit trail — who accessed what dataset, under what certification, and when. Required for FFIEC exam readiness and SOC 2 evidence packages.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7472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 was selected as JHBI's data catalog following vendor evaluation. Integrates natively with BigQuery, GCP Dataplex, and Cloud DLP.  ·  alation.com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F  ·  Selected Tooling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Tonic.ai: Safe, Realistic Test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Tonic.ai solves one of the most costly and compliance-risky patterns in financial services engineering: production data in non-production environments. It de-identifies and synthesizes data while preserving statistical realism for testing.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" y="1426464"/>
            <a:ext cx="8558784" cy="493776"/>
          </a:xfrm>
          <a:prstGeom prst="rect">
            <a:avLst/>
          </a:prstGeom>
          <a:solidFill>
            <a:srgbClr val="FEF2F2"/>
          </a:solidFill>
          <a:ln w="1270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426464"/>
            <a:ext cx="54864" cy="4937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426464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Today: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93392" y="1426464"/>
            <a:ext cx="6784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across JHA — including Symitar CU core — use production data copies in dev and test environments. Every copy is a PII exposure event, an audit finding, and a compliance liability. It also slows every release cycle that requires a data refresh request.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2029968"/>
            <a:ext cx="2743200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2608" y="2029968"/>
            <a:ext cx="2743200" cy="475488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" y="20299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De-Identification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Masking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" y="25603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Tonic identifies and masks PII, PCI, and sensitive fields — SSNs, account numbers, addresses — using referential integrity-preserving transformations. The same customer ID maps to the same masked value across every related table. Foreign keys and joins still work after masking.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36976" y="2029968"/>
            <a:ext cx="2743200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36976" y="2029968"/>
            <a:ext cx="2743200" cy="47548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46704" y="20299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Data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46704" y="25603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masking is insufficient, Tonic generates statistically realistic synthetic records trained on production distributions. Fraud ratios, transaction patterns, and balance distributions are preserved — tests that depend on realistic data continue to pass without touching real accounts.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81344" y="2029968"/>
            <a:ext cx="2743200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81344" y="2029968"/>
            <a:ext cx="27432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91072" y="20299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Banking Schema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Compatibility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91072" y="25603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Tonic handles complex relational schemas with deeply nested account, member, and transaction hierarchies — comparable to Symitar and SilverLake. Financial services clients include multiple top-20 US banks operating schema complexity at JHA's scale.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" y="4663440"/>
            <a:ext cx="8558784" cy="219456"/>
          </a:xfrm>
          <a:prstGeom prst="rect">
            <a:avLst/>
          </a:prstGeom>
          <a:solidFill>
            <a:srgbClr val="DCFCE7"/>
          </a:solidFill>
          <a:ln w="9525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2608" y="4663440"/>
            <a:ext cx="54864" cy="219456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0624" y="4663440"/>
            <a:ext cx="8339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03 dependency:  </a:t>
            </a:r>
            <a:r>
              <a:rPr lang="en-US" sz="1000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intelligence training data must derive from masked or synthetic production records. Tonic.ai is the mechanism that makes cross-FI model training legally and contractually viable.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Tonic.ai serves financial services clients including multiple top-20 US banks.  ·  tonic.ai  ·  Integrates natively with BigQuery, Snowflake, and PostgreSQL.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G  ·  Messaging Options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Narrative — Core Identity Taglines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platform's identity phrase anchors all three stories. It should hold whether the audience is internal leadership, FI clients, or the market.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" y="1426464"/>
            <a:ext cx="4169664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426464"/>
            <a:ext cx="64008" cy="16276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1426464"/>
            <a:ext cx="4169664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426464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CURRENT SELECTION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1828800"/>
            <a:ext cx="3913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Becoming Community Banking's Trusted FinTech Data Partner.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0624" y="2651760"/>
            <a:ext cx="3913632" cy="1828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70662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 + identity. The word 'becoming' signals a journey, not a claim. 'Trusted' is the hardest thing to earn — and the only thing community FIs truly sell.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1426464"/>
            <a:ext cx="41696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81728" y="1426464"/>
            <a:ext cx="64008" cy="16276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81728" y="1426464"/>
            <a:ext cx="416966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9744" y="1426464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28032" y="1828800"/>
            <a:ext cx="3913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Intelligence Layer for Community Banking.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09744" y="2651760"/>
            <a:ext cx="3913632" cy="1828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28032" y="270662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+ strategic. Positions JHBI as infrastructure for an era, not a product cycle. 'Layer' implies it sits beneath everything and amplifies everything above it.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3145536"/>
            <a:ext cx="41696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92608" y="3145536"/>
            <a:ext cx="64008" cy="16276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2608" y="3145536"/>
            <a:ext cx="416966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0624" y="3145536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3547872"/>
            <a:ext cx="3913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Scale. Big Bank Intelligence.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0624" y="4370832"/>
            <a:ext cx="3913632" cy="1828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" y="442569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contrast. Juxtaposes what community FIs are (local, trusted) with what they need (data advantage). No trade-off — you get both through JH.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81728" y="3145536"/>
            <a:ext cx="41696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81728" y="3145536"/>
            <a:ext cx="64008" cy="16276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81728" y="3145536"/>
            <a:ext cx="416966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9744" y="3145536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28032" y="3547872"/>
            <a:ext cx="3913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Data Team.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the Data Team.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09744" y="4370832"/>
            <a:ext cx="3913632" cy="1828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28032" y="442569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Product-market fit. Speaks directly to the FI's resource constraint. Removes the barrier that makes self-service feel impossible for a 12-person CU.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selection is used as the subtitle on slide 1. Alternatives can be swapped in or used as section anchors for different audience segments.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568"/>
          </a:solidFill>
          <a:ln w="12700">
            <a:solidFill>
              <a:srgbClr val="1F4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H  ·  Messaging Options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01 — Internal Platform Taglines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01 is the foundation. Its tagline needs to land with internal JH teams — data scientists, product engineers, analytics, governance — and signal a shift in how data works inside JHA.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" y="1426464"/>
            <a:ext cx="4169664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56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426464"/>
            <a:ext cx="64008" cy="1627632"/>
          </a:xfrm>
          <a:prstGeom prst="rect">
            <a:avLst/>
          </a:prstGeom>
          <a:solidFill>
            <a:srgbClr val="1F4568"/>
          </a:solidFill>
          <a:ln w="12700">
            <a:solidFill>
              <a:srgbClr val="1F4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1426464"/>
            <a:ext cx="4169664" cy="329184"/>
          </a:xfrm>
          <a:prstGeom prst="rect">
            <a:avLst/>
          </a:prstGeom>
          <a:solidFill>
            <a:srgbClr val="1F4568"/>
          </a:solidFill>
          <a:ln w="12700">
            <a:solidFill>
              <a:srgbClr val="1F4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426464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CURRENT SELECTION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1828800"/>
            <a:ext cx="3913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Serve Banks.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Serves You.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0624" y="2651760"/>
            <a:ext cx="3913632" cy="1828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70662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+ identity. 'We serve' positions JH; 'data serves' positions the platform. The 'You' intentionally spans all three stories — internal teams, FIs, and the network.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1426464"/>
            <a:ext cx="41696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81728" y="1426464"/>
            <a:ext cx="64008" cy="16276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81728" y="1426464"/>
            <a:ext cx="416966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9744" y="1426464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28032" y="1828800"/>
            <a:ext cx="3913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by Default.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 from the Start.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09744" y="2651760"/>
            <a:ext cx="3913632" cy="1828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28032" y="270662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Process-first. Speaks to governance and legal. Signals that trust is built in from ingestion — not retrofitted. Strong for a CDO / compliance audience.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3145536"/>
            <a:ext cx="41696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92608" y="3145536"/>
            <a:ext cx="64008" cy="16276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2608" y="3145536"/>
            <a:ext cx="416966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0624" y="3145536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3547872"/>
            <a:ext cx="3913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JH Team.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0624" y="4370832"/>
            <a:ext cx="3913632" cy="1828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" y="442569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+ simplicity. Operational efficiency framing — no more fragmented extracts, no more siloed pipelines. Clean, internal-facing, works as a rallying cry.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81728" y="3145536"/>
            <a:ext cx="41696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81728" y="3145536"/>
            <a:ext cx="64008" cy="16276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81728" y="3145536"/>
            <a:ext cx="416966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9744" y="3145536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28032" y="3547872"/>
            <a:ext cx="3913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Source of Truth.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Everyone.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09744" y="4370832"/>
            <a:ext cx="3913632" cy="1828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28032" y="442569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+ democratic. 'Source of truth' is a technical term used as a cultural one — one canonical store, accessible to all JH teams, no exceptions.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01 tagline appears on slide 6 and is the throughline for all internal JHBI positioning. Its rhythm mirrors the platform tagline — 'We serve… Data serves…'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I  ·  Messaging Options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02 — FI Self-Service Taglines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02 speaks to FI clients — community banks and credit unions — who want data intelligence but cannot build the infrastructure to get it. The tagline should feel like relief.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" y="1426464"/>
            <a:ext cx="4169664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426464"/>
            <a:ext cx="64008" cy="162763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1426464"/>
            <a:ext cx="4169664" cy="3291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426464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CURRENT SELECTION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1828800"/>
            <a:ext cx="3913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Serve Customers.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Data Serve You.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0624" y="2651760"/>
            <a:ext cx="3913632" cy="1828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70662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Empowerment + mirror. Intentionally parallels the Story 01 tagline — same structure, different subject. Positions the FI as the hero, data as the enabler.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1426464"/>
            <a:ext cx="41696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81728" y="1426464"/>
            <a:ext cx="64008" cy="16276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81728" y="1426464"/>
            <a:ext cx="416966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9744" y="1426464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28032" y="1828800"/>
            <a:ext cx="3913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Intelligence.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Platform.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09744" y="2651760"/>
            <a:ext cx="3913632" cy="1828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28032" y="270662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Co-ownership. The data belongs to the FI; the infrastructure is JH's. Removes anxiety about vendor lock-in — the FI retains the intelligence, JH provides the platform.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3145536"/>
            <a:ext cx="41696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92608" y="3145536"/>
            <a:ext cx="64008" cy="16276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2608" y="3145536"/>
            <a:ext cx="416966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0624" y="3145536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3547872"/>
            <a:ext cx="3913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 Without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0624" y="4370832"/>
            <a:ext cx="3913632" cy="1828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" y="442569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friction. Benefit-first framing. No cloud team, no GCP account, no data engineer required. The FI gets the outcome, not the operational burden.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81728" y="3145536"/>
            <a:ext cx="41696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81728" y="3145536"/>
            <a:ext cx="64008" cy="16276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81728" y="3145536"/>
            <a:ext cx="416966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9744" y="3145536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28032" y="3547872"/>
            <a:ext cx="3913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Data.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Finally Yours.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09744" y="4370832"/>
            <a:ext cx="3913632" cy="1828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28032" y="442569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ownership. Acknowledges that FIs have always had data but never truly had access to it. 'Finally' validates the frustration — and promises resolution.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02 tagline appears on slide 7. The current selection maintains the structural parallel with Story 01 — 'You serve… Data serves…' — reinforcing the platform-wide rhythm.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J  ·  Messaging Options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412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03 — Network Intelligence Taglines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03 is the strategic differentiator — the thing no FI can build alone and no big bank can replicate. Its tagline needs to make the network feel inevitable, not aspirational.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" y="1426464"/>
            <a:ext cx="4169664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426464"/>
            <a:ext cx="64008" cy="16276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1426464"/>
            <a:ext cx="4169664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426464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CURRENT SELECTION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1828800"/>
            <a:ext cx="3913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Unlock the Shared Intelligence of Our Network.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0624" y="2651760"/>
            <a:ext cx="3913632" cy="1828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70662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+ belonging. 'Unlock' implies hidden value already present. 'Our network' makes every FI a co-owner — not a data subject. Invitation, not extraction.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1426464"/>
            <a:ext cx="41696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81728" y="1426464"/>
            <a:ext cx="64008" cy="16276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81728" y="1426464"/>
            <a:ext cx="416966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9744" y="1426464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28032" y="1828800"/>
            <a:ext cx="3913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1,700 FIs Know.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Single FI Can See.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09744" y="2651760"/>
            <a:ext cx="3913632" cy="1828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28032" y="270662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paradox. Specific and counterintuitive — 1,700 institutions have collective insight that none of them individually can access. Stops the reader cold.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3145536"/>
            <a:ext cx="41696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92608" y="3145536"/>
            <a:ext cx="64008" cy="16276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2608" y="3145536"/>
            <a:ext cx="416966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0624" y="3145536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3547872"/>
            <a:ext cx="3913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Flywheel No Big Bank Can Replicate.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0624" y="4370832"/>
            <a:ext cx="3913632" cy="1828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" y="442569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moat. Trust and local context cannot be purchased at scale. JPMC has $17B — it still cannot buy 67% of RTP network FIs choosing the same platform.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81728" y="3145536"/>
            <a:ext cx="41696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81728" y="3145536"/>
            <a:ext cx="64008" cy="16276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81728" y="3145536"/>
            <a:ext cx="416966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9744" y="3145536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28032" y="3547872"/>
            <a:ext cx="39136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Intelligence.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Scale.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09744" y="4370832"/>
            <a:ext cx="3913632" cy="1828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28032" y="442569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strengths. Neither word is a trade-off. Community FIs bring local intelligence; JH provides the network that scales it. Both are true simultaneously.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03 tagline appears on slide 8. Option A is the most specific and conversation-stopping. Option C is the cleanest for external marketing if Story 03 expands to FI audiences.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5289</Words>
  <Application>Microsoft Macintosh PowerPoint</Application>
  <PresentationFormat>On-screen Show (16:9)</PresentationFormat>
  <Paragraphs>458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JHBI Data Platform Vision</dc:title>
  <dc:subject>PptxGenJS Presentation</dc:subject>
  <dc:creator>PptxGenJS</dc:creator>
  <cp:lastModifiedBy>Adam Ames</cp:lastModifiedBy>
  <cp:revision>1</cp:revision>
  <dcterms:created xsi:type="dcterms:W3CDTF">2026-03-26T02:15:10Z</dcterms:created>
  <dcterms:modified xsi:type="dcterms:W3CDTF">2026-03-26T16:05:26Z</dcterms:modified>
</cp:coreProperties>
</file>