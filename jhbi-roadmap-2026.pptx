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Investment Pillars — What We Are Building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566928"/>
            <a:ext cx="2029968" cy="457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75488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and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anonymized FI benchmarking data layer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87168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87168" y="566928"/>
            <a:ext cx="2029968" cy="45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615184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15184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15184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client-facing risk score explorer (banker fact)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for business stakeholders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26864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566928"/>
            <a:ext cx="2029968" cy="4572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54880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API Dev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internal AI apps embedded in JH ecosystem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and workflow automation services layer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and full audit logging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66560" y="566928"/>
            <a:ext cx="2029968" cy="4572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94576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94576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Buildout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94576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 + experiment tracking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serving at scale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governance, bias review, and model card process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6304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" y="2157984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7744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19456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6596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96596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114552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14552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114552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2032508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3250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03250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46304" y="2834640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46304" y="2834640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7744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19456" y="3008376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6596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96596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114552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14552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114552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2032508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032508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2032508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146304" y="3511296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46304" y="3511296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37744" y="353872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219456" y="368503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6596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196596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1114552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14552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114552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2032508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032508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032508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169920" y="2157984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69920" y="2157984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61360" y="218541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3261360" y="236829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3169920" y="2651760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169920" y="2651760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261360" y="26791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3261360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3169920" y="3145536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169920" y="3145536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261360" y="317296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3261360" y="335584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3169920" y="3639312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169920" y="3639312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261360" y="3666744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Nitesh Gupta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3261360" y="3849624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Analytics &amp; DS Platform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193536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193536" y="2157984"/>
            <a:ext cx="50292" cy="6217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4976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6266688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24382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624382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7161784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61784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8" name="Text 126"/>
          <p:cNvSpPr/>
          <p:nvPr/>
        </p:nvSpPr>
        <p:spPr>
          <a:xfrm>
            <a:off x="7161784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8079740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079740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8079740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6193536" y="2834640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193536" y="2834640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284976" y="2862072"/>
            <a:ext cx="2328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6284976" y="3081528"/>
            <a:ext cx="26578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42" name="Shape 140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apps in JH ecosystem (Churn, Anomaly, Zelle Memo)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55448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10642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1556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Integration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43000"/>
            <a:ext cx="2255520" cy="155448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4300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53312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624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89888"/>
            <a:ext cx="1109472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89888"/>
            <a:ext cx="105460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6002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6093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Enterprise Catalog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5632704" y="1636776"/>
            <a:ext cx="3401568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69280" y="1636776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883664"/>
            <a:ext cx="8915400" cy="155448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883664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2039112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0482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Requirements &amp; Design Baseline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2075688"/>
            <a:ext cx="2255520" cy="155448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2075688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286000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2951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Launch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322576"/>
            <a:ext cx="149148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322576"/>
            <a:ext cx="143662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5328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5420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Drift Monitoring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5632704" y="2569464"/>
            <a:ext cx="340156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669280" y="2569464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816352"/>
            <a:ext cx="8915400" cy="155448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816352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9718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9809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3008376"/>
            <a:ext cx="2255520" cy="155448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3008376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3218688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32278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Zelle Memo Intelligence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255264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2552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465576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4747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 Account Opening LTV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6778752" y="3502152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815328" y="35021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749040"/>
            <a:ext cx="8915400" cy="155448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3749040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37160" y="39044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9136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Registry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2194560" y="3941064"/>
            <a:ext cx="2255520" cy="155448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31136" y="39410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1" name="Shape 119"/>
          <p:cNvSpPr/>
          <p:nvPr/>
        </p:nvSpPr>
        <p:spPr>
          <a:xfrm>
            <a:off x="137160" y="4151376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41605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486656" y="4187952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523232" y="41879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St…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39826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40740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Horizon App Scoping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6778752" y="4434840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15328" y="443484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Staffing Transition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Ramp-Down · 3-Wave FTE Conversion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32688" y="905256"/>
            <a:ext cx="2706624" cy="3502152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566928"/>
            <a:ext cx="2706624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566928"/>
            <a:ext cx="2670048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3639312" y="566928"/>
            <a:ext cx="1353312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 ·  Wave 1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992624" y="566928"/>
            <a:ext cx="1353312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10912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 ·  Wave 2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345936" y="566928"/>
            <a:ext cx="1353312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4224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 ·  Wave 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699248" y="566928"/>
            <a:ext cx="1353312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17536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932688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1383792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8379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1834896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3489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2286000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2737104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3710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3188208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8820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3639312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3931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090416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9041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4541520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152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4992624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9262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443728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4372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5894832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9483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345936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4593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6797040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9704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248144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4814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699248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9924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150352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5035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01456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0145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877824" y="4407408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315968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932688" y="3928001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77824" y="3928001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37160" y="3836561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932688" y="3448594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7824" y="3448594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3357154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932688" y="2969187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77824" y="2969187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37160" y="2877747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932688" y="2489781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7824" y="2489781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37160" y="2398341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932688" y="2010374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77824" y="2010374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37160" y="1918934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932688" y="1530967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7824" y="1530967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37160" y="1439527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932688" y="1051560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77824" y="1051560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37160" y="960120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 rot="16200000">
            <a:off x="0" y="2363724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932688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38379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83489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28600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37104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188208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639312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09041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54152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92624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43728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9483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345936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79704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248144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699248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15035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60145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052560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2688" y="4407408"/>
            <a:ext cx="8119872" cy="0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69264" y="3928001"/>
            <a:ext cx="2633472" cy="47940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9264" y="3964577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FTEs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969264" y="2729484"/>
            <a:ext cx="2633472" cy="1198517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969264" y="2766060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Contractors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969264" y="2528316"/>
            <a:ext cx="2633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969264" y="4462272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3675888" y="3208891"/>
            <a:ext cx="1280160" cy="119851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675888" y="324546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FTEs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3675888" y="2250077"/>
            <a:ext cx="1280160" cy="958814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675888" y="228665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Contractors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675888" y="2048909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9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3675888" y="44622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5029200" y="2489781"/>
            <a:ext cx="1280160" cy="191762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029200" y="25263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FTEs</a:t>
            </a:r>
            <a:endParaRPr lang="en-US" sz="950" dirty="0"/>
          </a:p>
        </p:txBody>
      </p:sp>
      <p:sp>
        <p:nvSpPr>
          <p:cNvPr id="112" name="Shape 110"/>
          <p:cNvSpPr/>
          <p:nvPr/>
        </p:nvSpPr>
        <p:spPr>
          <a:xfrm>
            <a:off x="5029200" y="2010374"/>
            <a:ext cx="1280160" cy="479407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029200" y="204695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Contractors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5029200" y="180920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10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5029200" y="44622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6382512" y="1770670"/>
            <a:ext cx="2633472" cy="2636738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382512" y="1807246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FTEs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6382512" y="1569502"/>
            <a:ext cx="2633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11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6382512" y="4462272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Q3+ FY27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3639312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675888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1</a:t>
            </a:r>
            <a:endParaRPr lang="en-US" sz="700" dirty="0"/>
          </a:p>
        </p:txBody>
      </p:sp>
      <p:sp>
        <p:nvSpPr>
          <p:cNvPr id="122" name="Shape 120"/>
          <p:cNvSpPr/>
          <p:nvPr/>
        </p:nvSpPr>
        <p:spPr>
          <a:xfrm>
            <a:off x="4992624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029200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2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6345936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382512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3</a:t>
            </a:r>
            <a:endParaRPr lang="en-US" sz="700" dirty="0"/>
          </a:p>
        </p:txBody>
      </p:sp>
      <p:sp>
        <p:nvSpPr>
          <p:cNvPr id="126" name="Shape 124"/>
          <p:cNvSpPr/>
          <p:nvPr/>
        </p:nvSpPr>
        <p:spPr>
          <a:xfrm>
            <a:off x="3474720" y="4663440"/>
            <a:ext cx="182880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3730752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FTEs (Full-Time)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5852160" y="4663440"/>
            <a:ext cx="182880" cy="1280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6108192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137160" y="4645152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Headcount figures are illustrative — update with actuals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manual review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false-positive reduction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Analytics — FY27 Strategic Roadmap</dc:title>
  <dc:subject>PptxGenJS Presentation</dc:subject>
  <dc:creator>PptxGenJS</dc:creator>
  <cp:lastModifiedBy>PptxGenJS</cp:lastModifiedBy>
  <cp:revision>1</cp:revision>
  <dcterms:created xsi:type="dcterms:W3CDTF">2026-04-02T12:35:17Z</dcterms:created>
  <dcterms:modified xsi:type="dcterms:W3CDTF">2026-04-02T12:35:17Z</dcterms:modified>
</cp:coreProperties>
</file>