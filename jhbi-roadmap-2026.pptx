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8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61204"/>
            <a:ext cx="9144000" cy="82296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457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Strategic Roadmap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248716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 FY27  ·  Jul 2026 – Jun 2027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2999232"/>
            <a:ext cx="4526280" cy="0"/>
          </a:xfrm>
          <a:prstGeom prst="line">
            <a:avLst/>
          </a:prstGeom>
          <a:noFill/>
          <a:ln w="19050">
            <a:solidFill>
              <a:srgbClr val="085C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3218688"/>
            <a:ext cx="1993392" cy="475488"/>
          </a:xfrm>
          <a:prstGeom prst="rect">
            <a:avLst/>
          </a:prstGeom>
          <a:solidFill>
            <a:srgbClr val="06185F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606040" y="3218688"/>
            <a:ext cx="1993392" cy="475488"/>
          </a:xfrm>
          <a:prstGeom prst="rect">
            <a:avLst/>
          </a:prstGeom>
          <a:solidFill>
            <a:srgbClr val="085CE5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0604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1576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709160" y="3218688"/>
            <a:ext cx="1993392" cy="475488"/>
          </a:xfrm>
          <a:prstGeom prst="rect">
            <a:avLst/>
          </a:prstGeom>
          <a:solidFill>
            <a:srgbClr val="0A5CA8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1888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12280" y="3218688"/>
            <a:ext cx="1993392" cy="475488"/>
          </a:xfrm>
          <a:prstGeom prst="rect">
            <a:avLst/>
          </a:prstGeom>
          <a:solidFill>
            <a:srgbClr val="0A5C47"/>
          </a:solidFill>
          <a:ln w="9525">
            <a:solidFill>
              <a:srgbClr val="76DCF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12280" y="3218688"/>
            <a:ext cx="64008" cy="475488"/>
          </a:xfrm>
          <a:prstGeom prst="rect">
            <a:avLst/>
          </a:prstGeom>
          <a:solidFill>
            <a:srgbClr val="76DCFD"/>
          </a:solidFill>
          <a:ln w="12700">
            <a:solidFill>
              <a:srgbClr val="76DC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22008" y="3218688"/>
            <a:ext cx="18562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" y="4187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internal use  ·  Executive briefing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Investment Pillars — What We Are Building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47472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" y="566928"/>
            <a:ext cx="2029968" cy="4572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5488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75488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75488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Acquisition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5488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and governance framework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anonymized FI benchmarking data layer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487168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487168" y="566928"/>
            <a:ext cx="2029968" cy="4572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15184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615184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15184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15184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client-facing risk score explorer (banker fact)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for business stakeholders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26864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26864" y="566928"/>
            <a:ext cx="2029968" cy="4572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754880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754880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/ API Dev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754880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internal AI apps embedded in JH ecosystem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and workflow automation services layer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and full audit logging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766560" y="566928"/>
            <a:ext cx="2029968" cy="42793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766560" y="566928"/>
            <a:ext cx="2029968" cy="4572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94576" y="658368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94576" y="822960"/>
            <a:ext cx="17739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94576" y="1097280"/>
            <a:ext cx="177393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Buildout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894576" y="1298448"/>
            <a:ext cx="177393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0" y="1353312"/>
            <a:ext cx="1847088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 + experiment tracking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serving at scale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800" dirty="0"/>
          </a:p>
          <a:p>
            <a:pPr>
              <a:spcAft>
                <a:spcPts val="400"/>
              </a:spcAft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governance, bias review, and model card process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Team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Leadership Structure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383280" y="576072"/>
            <a:ext cx="2377440" cy="58521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83280" y="576072"/>
            <a:ext cx="2377440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74720" y="63093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Ames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74720" y="886968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Science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961888" y="576072"/>
            <a:ext cx="301752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61888" y="57607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NEW HEADCOUNT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99846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38434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Dev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96772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0430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9018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7973568" y="758952"/>
            <a:ext cx="0" cy="493776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10144" y="758952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96021" y="758952"/>
            <a:ext cx="543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solidFill>
            <a:srgbClr val="0A5CA8">
              <a:alpha val="25000"/>
            </a:srgbClr>
          </a:solidFill>
          <a:ln w="6350">
            <a:solidFill>
              <a:srgbClr val="E7EC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61888" y="112471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 ·  1 Position  (MLOps Engineer)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1888" y="1289304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·  13 Positions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0" y="1161288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48384" y="1303020"/>
            <a:ext cx="6047232" cy="0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8384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95616" y="1303020"/>
            <a:ext cx="0" cy="141732"/>
          </a:xfrm>
          <a:prstGeom prst="line">
            <a:avLst/>
          </a:prstGeom>
          <a:noFill/>
          <a:ln w="19050">
            <a:solidFill>
              <a:srgbClr val="B6BBC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440" y="1444752"/>
            <a:ext cx="2913888" cy="5852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440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2880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 Goolsby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82880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Software Development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37232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115056" y="1444752"/>
            <a:ext cx="2913888" cy="58521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15056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06496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6496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Mgr, JHBI Product Mgmt &amp; GTM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312054" y="1508760"/>
            <a:ext cx="62545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2947" y="1508760"/>
            <a:ext cx="57424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6138672" y="1444752"/>
            <a:ext cx="2913888" cy="58521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138672" y="1444752"/>
            <a:ext cx="2913888" cy="50292"/>
          </a:xfrm>
          <a:prstGeom prst="rect">
            <a:avLst/>
          </a:prstGeom>
          <a:solidFill>
            <a:srgbClr val="FFFFFF">
              <a:alpha val="60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30112" y="1499616"/>
            <a:ext cx="273100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6230112" y="1764792"/>
            <a:ext cx="27310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Lead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84464" y="1508760"/>
            <a:ext cx="67665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1548384" y="2029968"/>
            <a:ext cx="0" cy="128016"/>
          </a:xfrm>
          <a:prstGeom prst="line">
            <a:avLst/>
          </a:prstGeom>
          <a:noFill/>
          <a:ln w="15240">
            <a:solidFill>
              <a:srgbClr val="085CE5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6304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6304" y="2157984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37744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Acq. &amp; Engineering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219456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6596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196596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114552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14552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114552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2032508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03250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63" name="Text 61"/>
          <p:cNvSpPr/>
          <p:nvPr/>
        </p:nvSpPr>
        <p:spPr>
          <a:xfrm>
            <a:off x="203250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37744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66" name="Shape 64"/>
          <p:cNvSpPr/>
          <p:nvPr/>
        </p:nvSpPr>
        <p:spPr>
          <a:xfrm>
            <a:off x="146304" y="2834640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46304" y="2834640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237744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219456" y="3008376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96596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96596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72" name="Shape 70"/>
          <p:cNvSpPr/>
          <p:nvPr/>
        </p:nvSpPr>
        <p:spPr>
          <a:xfrm>
            <a:off x="1114552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114552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1114552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75" name="Shape 73"/>
          <p:cNvSpPr/>
          <p:nvPr/>
        </p:nvSpPr>
        <p:spPr>
          <a:xfrm>
            <a:off x="2032508" y="3026664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032508" y="3026664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77" name="Text 75"/>
          <p:cNvSpPr/>
          <p:nvPr/>
        </p:nvSpPr>
        <p:spPr>
          <a:xfrm>
            <a:off x="2032508" y="3218688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37744" y="3337560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80" name="Shape 78"/>
          <p:cNvSpPr/>
          <p:nvPr/>
        </p:nvSpPr>
        <p:spPr>
          <a:xfrm>
            <a:off x="146304" y="3511296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46304" y="3511296"/>
            <a:ext cx="50292" cy="6217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237744" y="353872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219456" y="3685032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6596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5" name="Text 83"/>
          <p:cNvSpPr/>
          <p:nvPr/>
        </p:nvSpPr>
        <p:spPr>
          <a:xfrm>
            <a:off x="196596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1114552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114552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88" name="Text 86"/>
          <p:cNvSpPr/>
          <p:nvPr/>
        </p:nvSpPr>
        <p:spPr>
          <a:xfrm>
            <a:off x="1114552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89" name="Shape 87"/>
          <p:cNvSpPr/>
          <p:nvPr/>
        </p:nvSpPr>
        <p:spPr>
          <a:xfrm>
            <a:off x="2032508" y="3703320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032508" y="3703320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91" name="Text 89"/>
          <p:cNvSpPr/>
          <p:nvPr/>
        </p:nvSpPr>
        <p:spPr>
          <a:xfrm>
            <a:off x="2032508" y="3895344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37744" y="4014216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4572000" y="2029968"/>
            <a:ext cx="0" cy="128016"/>
          </a:xfrm>
          <a:prstGeom prst="line">
            <a:avLst/>
          </a:prstGeom>
          <a:noFill/>
          <a:ln w="15240">
            <a:solidFill>
              <a:srgbClr val="0A5CA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169920" y="2157984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69920" y="2157984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61360" y="2185416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Elspeth Bloodgood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3261360" y="236829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Go-to-Market &amp; Visualization</a:t>
            </a:r>
            <a:endParaRPr lang="en-US" sz="700" dirty="0"/>
          </a:p>
        </p:txBody>
      </p:sp>
      <p:sp>
        <p:nvSpPr>
          <p:cNvPr id="99" name="Shape 97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solidFill>
            <a:srgbClr val="085CE5">
              <a:alpha val="30000"/>
            </a:srgbClr>
          </a:solidFill>
          <a:ln w="635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261360" y="2478024"/>
            <a:ext cx="49743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550" dirty="0"/>
          </a:p>
        </p:txBody>
      </p:sp>
      <p:sp>
        <p:nvSpPr>
          <p:cNvPr id="101" name="Shape 99"/>
          <p:cNvSpPr/>
          <p:nvPr/>
        </p:nvSpPr>
        <p:spPr>
          <a:xfrm>
            <a:off x="3169920" y="2651760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3169920" y="2651760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261360" y="2679192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Ashley Greenhaw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3261360" y="2862072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Application Development</a:t>
            </a:r>
            <a:endParaRPr lang="en-US" sz="700" dirty="0"/>
          </a:p>
        </p:txBody>
      </p:sp>
      <p:sp>
        <p:nvSpPr>
          <p:cNvPr id="105" name="Shape 103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solidFill>
            <a:srgbClr val="0A5CA8">
              <a:alpha val="30000"/>
            </a:srgbClr>
          </a:solidFill>
          <a:ln w="635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261360" y="2971800"/>
            <a:ext cx="541325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550" dirty="0"/>
          </a:p>
        </p:txBody>
      </p:sp>
      <p:sp>
        <p:nvSpPr>
          <p:cNvPr id="107" name="Shape 105"/>
          <p:cNvSpPr/>
          <p:nvPr/>
        </p:nvSpPr>
        <p:spPr>
          <a:xfrm>
            <a:off x="3169920" y="3145536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169920" y="3145536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3261360" y="3172968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Mike Saunders</a:t>
            </a:r>
            <a:endParaRPr lang="en-US" sz="850" dirty="0"/>
          </a:p>
        </p:txBody>
      </p:sp>
      <p:sp>
        <p:nvSpPr>
          <p:cNvPr id="110" name="Text 108"/>
          <p:cNvSpPr/>
          <p:nvPr/>
        </p:nvSpPr>
        <p:spPr>
          <a:xfrm>
            <a:off x="3261360" y="3355848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Data Acq. &amp; Engineering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solidFill>
            <a:srgbClr val="06185F">
              <a:alpha val="30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3261360" y="3465576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550" dirty="0"/>
          </a:p>
        </p:txBody>
      </p:sp>
      <p:sp>
        <p:nvSpPr>
          <p:cNvPr id="113" name="Shape 111"/>
          <p:cNvSpPr/>
          <p:nvPr/>
        </p:nvSpPr>
        <p:spPr>
          <a:xfrm>
            <a:off x="3169920" y="3639312"/>
            <a:ext cx="2804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B6BBC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3169920" y="3639312"/>
            <a:ext cx="50292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261360" y="3666744"/>
            <a:ext cx="265785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Nitesh Gupta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3261360" y="3849624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PM, Analytics &amp; DS Platform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3261360" y="3959352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19" name="Shape 117"/>
          <p:cNvSpPr/>
          <p:nvPr/>
        </p:nvSpPr>
        <p:spPr>
          <a:xfrm>
            <a:off x="7595616" y="2029968"/>
            <a:ext cx="0" cy="128016"/>
          </a:xfrm>
          <a:prstGeom prst="line">
            <a:avLst/>
          </a:prstGeom>
          <a:noFill/>
          <a:ln w="15240">
            <a:solidFill>
              <a:srgbClr val="0A5C47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193536" y="2157984"/>
            <a:ext cx="280416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193536" y="2157984"/>
            <a:ext cx="50292" cy="6217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4976" y="2185416"/>
            <a:ext cx="2657856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6266688" y="2331720"/>
            <a:ext cx="2657856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243828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5" name="Text 123"/>
          <p:cNvSpPr/>
          <p:nvPr/>
        </p:nvSpPr>
        <p:spPr>
          <a:xfrm>
            <a:off x="6243828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550" dirty="0"/>
          </a:p>
        </p:txBody>
      </p:sp>
      <p:sp>
        <p:nvSpPr>
          <p:cNvPr id="126" name="Shape 124"/>
          <p:cNvSpPr/>
          <p:nvPr/>
        </p:nvSpPr>
        <p:spPr>
          <a:xfrm>
            <a:off x="7161784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61784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28" name="Text 126"/>
          <p:cNvSpPr/>
          <p:nvPr/>
        </p:nvSpPr>
        <p:spPr>
          <a:xfrm>
            <a:off x="7161784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8079740" y="2350008"/>
            <a:ext cx="0" cy="32004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79740" y="2350008"/>
            <a:ext cx="91795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31" name="Text 129"/>
          <p:cNvSpPr/>
          <p:nvPr/>
        </p:nvSpPr>
        <p:spPr>
          <a:xfrm>
            <a:off x="8079740" y="2542032"/>
            <a:ext cx="917956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Req.</a:t>
            </a:r>
            <a:endParaRPr lang="en-US" sz="550" dirty="0"/>
          </a:p>
        </p:txBody>
      </p:sp>
      <p:sp>
        <p:nvSpPr>
          <p:cNvPr id="132" name="Shape 130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84976" y="2660904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34" name="Shape 132"/>
          <p:cNvSpPr/>
          <p:nvPr/>
        </p:nvSpPr>
        <p:spPr>
          <a:xfrm>
            <a:off x="6193536" y="2834640"/>
            <a:ext cx="2804160" cy="457200"/>
          </a:xfrm>
          <a:prstGeom prst="rect">
            <a:avLst/>
          </a:prstGeom>
          <a:solidFill>
            <a:srgbClr val="E7ECF0">
              <a:alpha val="80000"/>
            </a:srgbClr>
          </a:solidFill>
          <a:ln w="9525">
            <a:solidFill>
              <a:srgbClr val="0A5C47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6193536" y="2834640"/>
            <a:ext cx="50292" cy="457200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284976" y="2862072"/>
            <a:ext cx="23286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Engineer</a:t>
            </a:r>
            <a:endParaRPr lang="en-US" sz="850" dirty="0"/>
          </a:p>
        </p:txBody>
      </p:sp>
      <p:sp>
        <p:nvSpPr>
          <p:cNvPr id="137" name="Shape 135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8595360" y="288036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39" name="Text 137"/>
          <p:cNvSpPr/>
          <p:nvPr/>
        </p:nvSpPr>
        <p:spPr>
          <a:xfrm>
            <a:off x="6284976" y="3081528"/>
            <a:ext cx="2657856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 · FY26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solidFill>
            <a:srgbClr val="0A5C47">
              <a:alpha val="30000"/>
            </a:srgbClr>
          </a:solidFill>
          <a:ln w="6350">
            <a:solidFill>
              <a:srgbClr val="0A5C47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84976" y="3172968"/>
            <a:ext cx="5852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550" dirty="0"/>
          </a:p>
        </p:txBody>
      </p:sp>
      <p:sp>
        <p:nvSpPr>
          <p:cNvPr id="142" name="Shape 140"/>
          <p:cNvSpPr/>
          <p:nvPr/>
        </p:nvSpPr>
        <p:spPr>
          <a:xfrm>
            <a:off x="365760" y="4654296"/>
            <a:ext cx="164592" cy="12801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521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hire</a:t>
            </a:r>
            <a:endParaRPr lang="en-US" sz="750" dirty="0"/>
          </a:p>
        </p:txBody>
      </p:sp>
      <p:sp>
        <p:nvSpPr>
          <p:cNvPr id="144" name="Shape 142"/>
          <p:cNvSpPr/>
          <p:nvPr/>
        </p:nvSpPr>
        <p:spPr>
          <a:xfrm>
            <a:off x="2743200" y="4654296"/>
            <a:ext cx="164592" cy="128016"/>
          </a:xfrm>
          <a:prstGeom prst="rect">
            <a:avLst/>
          </a:prstGeom>
          <a:solidFill>
            <a:srgbClr val="B6BBC0"/>
          </a:solidFill>
          <a:ln w="12700">
            <a:solidFill>
              <a:srgbClr val="B6BBC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96265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[TBD] — planned role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5120640" y="4654296"/>
            <a:ext cx="164592" cy="128016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5340096" y="462686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position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Program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Pillars · FY27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56032" y="594360"/>
            <a:ext cx="73152" cy="206654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6032" y="594360"/>
            <a:ext cx="4224528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" y="12161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3504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behavioral data pipelines from JH core systems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8912" y="16733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infrastructure (Kafka / event bus)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" y="2130552"/>
            <a:ext cx="109728" cy="109728"/>
          </a:xfrm>
          <a:prstGeom prst="ellipse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monitoring, lineage &amp; enterprise catalog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02336" y="2350008"/>
            <a:ext cx="3931920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404872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SilverLake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9848" y="2404872"/>
            <a:ext cx="466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Symitar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00200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39112" y="2404872"/>
            <a:ext cx="374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78024" y="2404872"/>
            <a:ext cx="2834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</a:t>
            </a:r>
            <a:endParaRPr lang="en-US" sz="650" dirty="0"/>
          </a:p>
        </p:txBody>
      </p:sp>
      <p:sp>
        <p:nvSpPr>
          <p:cNvPr id="28" name="Shape 26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solidFill>
            <a:srgbClr val="06185F">
              <a:alpha val="28000"/>
            </a:srgbClr>
          </a:solidFill>
          <a:ln w="6350">
            <a:solidFill>
              <a:srgbClr val="0618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25496" y="2404872"/>
            <a:ext cx="557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NCUA 5300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4663440" y="594360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594360"/>
            <a:ext cx="73152" cy="206654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663440" y="594360"/>
            <a:ext cx="4224528" cy="42062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9744" y="594360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846320" y="12161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10912" y="11247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dashboards embedded in JH platform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846320" y="16733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15819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&amp; drift monitoring dashboards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0" y="2130552"/>
            <a:ext cx="109728" cy="109728"/>
          </a:xfrm>
          <a:prstGeom prst="ellipse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10912" y="203911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risk score explorer &amp; self-serve analytics surface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256032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256032" y="2825496"/>
            <a:ext cx="73152" cy="206654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6032" y="2825496"/>
            <a:ext cx="4224528" cy="42062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2336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438912" y="34472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3504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apps in JH ecosystem (Churn, Anomaly, Zelle Memo)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38912" y="39044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APIs distributing model scores to JH products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38912" y="4361688"/>
            <a:ext cx="109728" cy="109728"/>
          </a:xfrm>
          <a:prstGeom prst="ellipse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03504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Banno + JH Enterprise integration &amp; alerting workflows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663440" y="2825496"/>
            <a:ext cx="4224528" cy="2066544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2825496"/>
            <a:ext cx="73152" cy="206654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663440" y="2825496"/>
            <a:ext cx="4224528" cy="42062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809744" y="2825496"/>
            <a:ext cx="40416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846320" y="34472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10912" y="33558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AutoGluon, CatBoost, XGBoost model training at scale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4846320" y="39044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010912" y="38130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layer across all deployed models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46320" y="4361688"/>
            <a:ext cx="109728" cy="109728"/>
          </a:xfrm>
          <a:prstGeom prst="ellipse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10912" y="4270248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MLOps: CI/CD, model registry, drift monitoring &amp; governance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Quarterly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Foundation + FY27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78992" y="548640"/>
            <a:ext cx="1280160" cy="301752"/>
          </a:xfrm>
          <a:prstGeom prst="rect">
            <a:avLst/>
          </a:prstGeom>
          <a:solidFill>
            <a:srgbClr val="575A5D"/>
          </a:solidFill>
          <a:ln w="12700">
            <a:solidFill>
              <a:srgbClr val="575A5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15568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719072" y="548640"/>
            <a:ext cx="640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'26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432304" y="548640"/>
            <a:ext cx="1600200" cy="30175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32304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64408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105656" y="548640"/>
            <a:ext cx="1600200" cy="30175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05656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937760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5779008" y="548640"/>
            <a:ext cx="1600200" cy="30175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611112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7452360" y="548640"/>
            <a:ext cx="1600200" cy="30175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548640"/>
            <a:ext cx="8321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84464" y="548640"/>
            <a:ext cx="7680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" y="905256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43000" y="987552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987552"/>
            <a:ext cx="50292" cy="784098"/>
          </a:xfrm>
          <a:prstGeom prst="rect">
            <a:avLst/>
          </a:prstGeom>
          <a:solidFill>
            <a:srgbClr val="06185F">
              <a:alpha val="70000"/>
            </a:srgbClr>
          </a:solidFill>
          <a:ln w="12700">
            <a:solidFill>
              <a:srgbClr val="06185F">
                <a:alpha val="7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987552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34440" y="1051560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234440" y="1243584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Data Pipeline Architecture &amp; Core Banking Connectivity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496312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96312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78608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169664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169664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51960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843016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843016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25312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516368" y="987552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16368" y="987552"/>
            <a:ext cx="1472184" cy="5029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98664" y="1069848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91440" y="1917954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" y="1917954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143000" y="2000250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143000" y="2000250"/>
            <a:ext cx="50292" cy="784098"/>
          </a:xfrm>
          <a:prstGeom prst="rect">
            <a:avLst/>
          </a:prstGeom>
          <a:solidFill>
            <a:srgbClr val="085CE5">
              <a:alpha val="70000"/>
            </a:srgbClr>
          </a:solidFill>
          <a:ln w="12700">
            <a:solidFill>
              <a:srgbClr val="085CE5">
                <a:alpha val="70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143000" y="2000250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34440" y="2064258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1234440" y="2256282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Design Baseline &amp; KPI Framework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2496312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2496312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578608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4169664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4169664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251960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843016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5843016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925312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516368" y="2000250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16368" y="2000250"/>
            <a:ext cx="1472184" cy="5029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98664" y="2082546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1440" y="2930652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1143000" y="3012948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143000" y="3012948"/>
            <a:ext cx="50292" cy="784098"/>
          </a:xfrm>
          <a:prstGeom prst="rect">
            <a:avLst/>
          </a:prstGeom>
          <a:solidFill>
            <a:srgbClr val="0A5CA8">
              <a:alpha val="70000"/>
            </a:srgbClr>
          </a:solidFill>
          <a:ln w="12700">
            <a:solidFill>
              <a:srgbClr val="0A5CA8">
                <a:alpha val="7000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143000" y="3012948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234440" y="3076956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1234440" y="3268980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 Architecture &amp; FI Data Access Agreements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2496312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2496312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78608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4169664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4169664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251960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843016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8" name="Shape 76"/>
          <p:cNvSpPr/>
          <p:nvPr/>
        </p:nvSpPr>
        <p:spPr>
          <a:xfrm>
            <a:off x="5843016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5925312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7516368" y="3012948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1" name="Shape 79"/>
          <p:cNvSpPr/>
          <p:nvPr/>
        </p:nvSpPr>
        <p:spPr>
          <a:xfrm>
            <a:off x="7516368" y="3012948"/>
            <a:ext cx="1472184" cy="5029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598664" y="3095244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91440" y="3943350"/>
            <a:ext cx="8961120" cy="948690"/>
          </a:xfrm>
          <a:prstGeom prst="rect">
            <a:avLst/>
          </a:prstGeom>
          <a:solidFill>
            <a:srgbClr val="E7ECF0">
              <a:alpha val="40000"/>
            </a:srgbClr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1440" y="3943350"/>
            <a:ext cx="914400" cy="948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143000" y="4025646"/>
            <a:ext cx="1152144" cy="784098"/>
          </a:xfrm>
          <a:prstGeom prst="rect">
            <a:avLst/>
          </a:prstGeom>
          <a:solidFill>
            <a:srgbClr val="FFFFFF"/>
          </a:solidFill>
          <a:ln w="9525">
            <a:solidFill>
              <a:srgbClr val="575A5D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143000" y="4025646"/>
            <a:ext cx="50292" cy="784098"/>
          </a:xfrm>
          <a:prstGeom prst="rect">
            <a:avLst/>
          </a:prstGeom>
          <a:solidFill>
            <a:srgbClr val="0A5C47">
              <a:alpha val="70000"/>
            </a:srgbClr>
          </a:solidFill>
          <a:ln w="12700">
            <a:solidFill>
              <a:srgbClr val="0A5C47">
                <a:alpha val="70000"/>
              </a:srgbClr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143000" y="4025646"/>
            <a:ext cx="1152144" cy="50292"/>
          </a:xfrm>
          <a:prstGeom prst="rect">
            <a:avLst/>
          </a:prstGeom>
          <a:solidFill>
            <a:srgbClr val="575A5D">
              <a:alpha val="80000"/>
            </a:srgbClr>
          </a:solidFill>
          <a:ln w="12700">
            <a:solidFill>
              <a:srgbClr val="575A5D">
                <a:alpha val="80000"/>
              </a:srgbClr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234440" y="4089654"/>
            <a:ext cx="4754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Active</a:t>
            </a:r>
            <a:endParaRPr lang="en-US" sz="600" dirty="0"/>
          </a:p>
        </p:txBody>
      </p:sp>
      <p:sp>
        <p:nvSpPr>
          <p:cNvPr id="91" name="Text 89"/>
          <p:cNvSpPr/>
          <p:nvPr/>
        </p:nvSpPr>
        <p:spPr>
          <a:xfrm>
            <a:off x="1234440" y="4281678"/>
            <a:ext cx="1005840" cy="4823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Platform: Feature Store, Experiment Tracking &amp; Model Registry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496312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3" name="Shape 91"/>
          <p:cNvSpPr/>
          <p:nvPr/>
        </p:nvSpPr>
        <p:spPr>
          <a:xfrm>
            <a:off x="2496312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2578608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4169664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6" name="Shape 94"/>
          <p:cNvSpPr/>
          <p:nvPr/>
        </p:nvSpPr>
        <p:spPr>
          <a:xfrm>
            <a:off x="4169664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251960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5843016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9" name="Shape 97"/>
          <p:cNvSpPr/>
          <p:nvPr/>
        </p:nvSpPr>
        <p:spPr>
          <a:xfrm>
            <a:off x="5843016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925312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7516368" y="4025646"/>
            <a:ext cx="1472184" cy="784098"/>
          </a:xfrm>
          <a:prstGeom prst="rect">
            <a:avLst/>
          </a:prstGeom>
          <a:solidFill>
            <a:srgbClr val="FFFFFF"/>
          </a:solidFill>
          <a:ln w="12700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02" name="Shape 100"/>
          <p:cNvSpPr/>
          <p:nvPr/>
        </p:nvSpPr>
        <p:spPr>
          <a:xfrm>
            <a:off x="7516368" y="4025646"/>
            <a:ext cx="1472184" cy="5029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598664" y="4107942"/>
            <a:ext cx="1325880" cy="6652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Gantt Chart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18-Month View  ·  Jan 2026 – Jun 2027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76272" y="905256"/>
            <a:ext cx="2292096" cy="3986784"/>
          </a:xfrm>
          <a:prstGeom prst="rect">
            <a:avLst/>
          </a:prstGeom>
          <a:solidFill>
            <a:srgbClr val="D8DBE0">
              <a:alpha val="45000"/>
            </a:srgbClr>
          </a:solidFill>
          <a:ln w="12700">
            <a:solidFill>
              <a:srgbClr val="D8DB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176272" y="566928"/>
            <a:ext cx="2292096" cy="169164"/>
          </a:xfrm>
          <a:prstGeom prst="rect">
            <a:avLst/>
          </a:prstGeom>
          <a:solidFill>
            <a:srgbClr val="575A5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566928"/>
            <a:ext cx="2255520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  ·  Foundation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468368" y="566928"/>
            <a:ext cx="1146048" cy="169164"/>
          </a:xfrm>
          <a:prstGeom prst="rect">
            <a:avLst/>
          </a:prstGeom>
          <a:solidFill>
            <a:srgbClr val="06185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6656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 FY27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614416" y="566928"/>
            <a:ext cx="1146048" cy="169164"/>
          </a:xfrm>
          <a:prstGeom prst="rect">
            <a:avLst/>
          </a:prstGeom>
          <a:solidFill>
            <a:srgbClr val="085CE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32704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 FY27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6760464" y="566928"/>
            <a:ext cx="1146048" cy="169164"/>
          </a:xfrm>
          <a:prstGeom prst="rect">
            <a:avLst/>
          </a:prstGeom>
          <a:solidFill>
            <a:srgbClr val="0A5CA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78752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 FY27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7906512" y="566928"/>
            <a:ext cx="1146048" cy="169164"/>
          </a:xfrm>
          <a:prstGeom prst="rect">
            <a:avLst/>
          </a:prstGeom>
          <a:solidFill>
            <a:srgbClr val="0A5C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24800" y="566928"/>
            <a:ext cx="110947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 FY27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7627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20" name="Shape 18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828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22" name="Shape 20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4030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2232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26" name="Shape 24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433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solidFill>
            <a:srgbClr val="575A5D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8635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30" name="Shape 28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6836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5038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solidFill>
            <a:srgbClr val="06185F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40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550" dirty="0"/>
          </a:p>
        </p:txBody>
      </p:sp>
      <p:sp>
        <p:nvSpPr>
          <p:cNvPr id="36" name="Shape 34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1441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550" dirty="0"/>
          </a:p>
        </p:txBody>
      </p:sp>
      <p:sp>
        <p:nvSpPr>
          <p:cNvPr id="38" name="Shape 36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9643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solidFill>
            <a:srgbClr val="085CE5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7844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550" dirty="0"/>
          </a:p>
        </p:txBody>
      </p:sp>
      <p:sp>
        <p:nvSpPr>
          <p:cNvPr id="42" name="Shape 40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6046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</a:t>
            </a:r>
            <a:endParaRPr lang="en-US" sz="550" dirty="0"/>
          </a:p>
        </p:txBody>
      </p:sp>
      <p:sp>
        <p:nvSpPr>
          <p:cNvPr id="44" name="Shape 42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42480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550" dirty="0"/>
          </a:p>
        </p:txBody>
      </p:sp>
      <p:sp>
        <p:nvSpPr>
          <p:cNvPr id="46" name="Shape 44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solidFill>
            <a:srgbClr val="0A5CA8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24496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550" dirty="0"/>
          </a:p>
        </p:txBody>
      </p:sp>
      <p:sp>
        <p:nvSpPr>
          <p:cNvPr id="48" name="Shape 46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906512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550" dirty="0"/>
          </a:p>
        </p:txBody>
      </p:sp>
      <p:sp>
        <p:nvSpPr>
          <p:cNvPr id="50" name="Shape 48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88528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550" dirty="0"/>
          </a:p>
        </p:txBody>
      </p:sp>
      <p:sp>
        <p:nvSpPr>
          <p:cNvPr id="52" name="Shape 50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solidFill>
            <a:srgbClr val="0A5C47">
              <a:alpha val="72000"/>
            </a:srgbClr>
          </a:solidFill>
          <a:ln w="508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670544" y="736092"/>
            <a:ext cx="382016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17627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5828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94030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32232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0433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08635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468368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85038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3240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614416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996432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7844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60464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142480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524496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06512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88528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70544" y="905256"/>
            <a:ext cx="0" cy="3986784"/>
          </a:xfrm>
          <a:prstGeom prst="line">
            <a:avLst/>
          </a:prstGeom>
          <a:noFill/>
          <a:ln w="5080">
            <a:solidFill>
              <a:srgbClr val="B6BBC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052560" y="905256"/>
            <a:ext cx="0" cy="3986784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37160" y="950976"/>
            <a:ext cx="8915400" cy="146304"/>
          </a:xfrm>
          <a:prstGeom prst="rect">
            <a:avLst/>
          </a:prstGeom>
          <a:solidFill>
            <a:srgbClr val="06185F">
              <a:alpha val="9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228600" y="950976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37160" y="109728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2024" y="110642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Sources — Data Acquisition &amp; Pipeline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2194560" y="1133856"/>
            <a:ext cx="2255520" cy="137160"/>
          </a:xfrm>
          <a:prstGeom prst="rect">
            <a:avLst/>
          </a:prstGeom>
          <a:solidFill>
            <a:srgbClr val="06185F">
              <a:alpha val="60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231136" y="113385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137160" y="131673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92024" y="132588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Banking Integration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4486656" y="1353312"/>
            <a:ext cx="2255520" cy="137160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523232" y="135331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Systems — JH Bank…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137160" y="1536192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92024" y="1545336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Solutions — Third-Party &amp; Enrichment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6778752" y="1572768"/>
            <a:ext cx="2255520" cy="137160"/>
          </a:xfrm>
          <a:prstGeom prst="rect">
            <a:avLst/>
          </a:prstGeom>
          <a:solidFill>
            <a:srgbClr val="06185F">
              <a:alpha val="88000"/>
            </a:srgbClr>
          </a:solidFill>
          <a:ln w="15240">
            <a:solidFill>
              <a:srgbClr val="06185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15328" y="1572768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Complementary Solution…</a:t>
            </a:r>
            <a:endParaRPr lang="en-US" sz="600" dirty="0"/>
          </a:p>
        </p:txBody>
      </p:sp>
      <p:sp>
        <p:nvSpPr>
          <p:cNvPr id="87" name="Shape 85"/>
          <p:cNvSpPr/>
          <p:nvPr/>
        </p:nvSpPr>
        <p:spPr>
          <a:xfrm>
            <a:off x="137160" y="1783080"/>
            <a:ext cx="8915400" cy="146304"/>
          </a:xfrm>
          <a:prstGeom prst="rect">
            <a:avLst/>
          </a:prstGeom>
          <a:solidFill>
            <a:srgbClr val="085CE5">
              <a:alpha val="9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28600" y="1783080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37160" y="1929384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024" y="193852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— Payment Source Reports &amp; Dashboards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2194560" y="1965960"/>
            <a:ext cx="2255520" cy="137160"/>
          </a:xfrm>
          <a:prstGeom prst="rect">
            <a:avLst/>
          </a:prstGeom>
          <a:solidFill>
            <a:srgbClr val="085CE5">
              <a:alpha val="60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2231136" y="1965960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93" name="Shape 91"/>
          <p:cNvSpPr/>
          <p:nvPr/>
        </p:nvSpPr>
        <p:spPr>
          <a:xfrm>
            <a:off x="137160" y="2148840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192024" y="215798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Analytics &amp; KPIs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486656" y="2185416"/>
            <a:ext cx="2255520" cy="137160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523232" y="218541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 — Core Systems …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137160" y="2368296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92024" y="237744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 Solutions Insights</a:t>
            </a:r>
            <a:endParaRPr lang="en-US" sz="650" dirty="0"/>
          </a:p>
        </p:txBody>
      </p:sp>
      <p:sp>
        <p:nvSpPr>
          <p:cNvPr id="99" name="Shape 97"/>
          <p:cNvSpPr/>
          <p:nvPr/>
        </p:nvSpPr>
        <p:spPr>
          <a:xfrm>
            <a:off x="6778752" y="2404872"/>
            <a:ext cx="2255520" cy="137160"/>
          </a:xfrm>
          <a:prstGeom prst="rect">
            <a:avLst/>
          </a:prstGeom>
          <a:solidFill>
            <a:srgbClr val="085CE5">
              <a:alpha val="88000"/>
            </a:srgbClr>
          </a:solidFill>
          <a:ln w="15240">
            <a:solidFill>
              <a:srgbClr val="085CE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815328" y="240487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 — Complementary…</a:t>
            </a:r>
            <a:endParaRPr lang="en-US" sz="600" dirty="0"/>
          </a:p>
        </p:txBody>
      </p:sp>
      <p:sp>
        <p:nvSpPr>
          <p:cNvPr id="101" name="Shape 99"/>
          <p:cNvSpPr/>
          <p:nvPr/>
        </p:nvSpPr>
        <p:spPr>
          <a:xfrm>
            <a:off x="137160" y="2615184"/>
            <a:ext cx="8915400" cy="146304"/>
          </a:xfrm>
          <a:prstGeom prst="rect">
            <a:avLst/>
          </a:prstGeom>
          <a:solidFill>
            <a:srgbClr val="0A5CA8">
              <a:alpha val="9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28600" y="2615184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37160" y="2761488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92024" y="2770632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Development &amp; Alation Integration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2194560" y="2798064"/>
            <a:ext cx="2255520" cy="137160"/>
          </a:xfrm>
          <a:prstGeom prst="rect">
            <a:avLst/>
          </a:prstGeom>
          <a:solidFill>
            <a:srgbClr val="0A5CA8">
              <a:alpha val="60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231136" y="2798064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137160" y="2980944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192024" y="299008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CommercialSignal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4486656" y="3017520"/>
            <a:ext cx="1491488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523232" y="3017520"/>
            <a:ext cx="143662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Com…</a:t>
            </a:r>
            <a:endParaRPr lang="en-US" sz="600" dirty="0"/>
          </a:p>
        </p:txBody>
      </p:sp>
      <p:sp>
        <p:nvSpPr>
          <p:cNvPr id="111" name="Shape 109"/>
          <p:cNvSpPr/>
          <p:nvPr/>
        </p:nvSpPr>
        <p:spPr>
          <a:xfrm>
            <a:off x="137160" y="320040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192024" y="320954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[Churn App]</a:t>
            </a:r>
            <a:endParaRPr lang="en-US" sz="650" dirty="0"/>
          </a:p>
        </p:txBody>
      </p:sp>
      <p:sp>
        <p:nvSpPr>
          <p:cNvPr id="113" name="Shape 111"/>
          <p:cNvSpPr/>
          <p:nvPr/>
        </p:nvSpPr>
        <p:spPr>
          <a:xfrm>
            <a:off x="5632704" y="3236976"/>
            <a:ext cx="2255520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669280" y="323697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[Ch…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137160" y="341985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024" y="342900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Wealth Deflection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6778752" y="3456432"/>
            <a:ext cx="2255520" cy="137160"/>
          </a:xfrm>
          <a:prstGeom prst="rect">
            <a:avLst/>
          </a:prstGeom>
          <a:solidFill>
            <a:srgbClr val="0A5CA8">
              <a:alpha val="88000"/>
            </a:srgbClr>
          </a:solidFill>
          <a:ln w="15240">
            <a:solidFill>
              <a:srgbClr val="0A5CA8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815328" y="345643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 App Interface — Wea…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137160" y="3666744"/>
            <a:ext cx="8915400" cy="146304"/>
          </a:xfrm>
          <a:prstGeom prst="rect">
            <a:avLst/>
          </a:prstGeom>
          <a:solidFill>
            <a:srgbClr val="0A5C47">
              <a:alpha val="9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28600" y="3666744"/>
            <a:ext cx="8686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121" name="Shape 119"/>
          <p:cNvSpPr/>
          <p:nvPr/>
        </p:nvSpPr>
        <p:spPr>
          <a:xfrm>
            <a:off x="137160" y="3813048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92024" y="3822192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Platform Foundation — Feature Store &amp; Registry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2194560" y="3849624"/>
            <a:ext cx="2255520" cy="137160"/>
          </a:xfrm>
          <a:prstGeom prst="rect">
            <a:avLst/>
          </a:prstGeom>
          <a:solidFill>
            <a:srgbClr val="0A5C47">
              <a:alpha val="60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2231136" y="3849624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In Progress</a:t>
            </a:r>
            <a:endParaRPr lang="en-US" sz="600" dirty="0"/>
          </a:p>
        </p:txBody>
      </p:sp>
      <p:sp>
        <p:nvSpPr>
          <p:cNvPr id="125" name="Shape 123"/>
          <p:cNvSpPr/>
          <p:nvPr/>
        </p:nvSpPr>
        <p:spPr>
          <a:xfrm>
            <a:off x="137160" y="4032504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92024" y="4041648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 Detection</a:t>
            </a:r>
            <a:endParaRPr lang="en-US" sz="650" dirty="0"/>
          </a:p>
        </p:txBody>
      </p:sp>
      <p:sp>
        <p:nvSpPr>
          <p:cNvPr id="127" name="Shape 125"/>
          <p:cNvSpPr/>
          <p:nvPr/>
        </p:nvSpPr>
        <p:spPr>
          <a:xfrm>
            <a:off x="4486656" y="4069080"/>
            <a:ext cx="1491488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523232" y="4069080"/>
            <a:ext cx="1436624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CommercialSignal — P2C…</a:t>
            </a:r>
            <a:endParaRPr lang="en-US" sz="600" dirty="0"/>
          </a:p>
        </p:txBody>
      </p:sp>
      <p:sp>
        <p:nvSpPr>
          <p:cNvPr id="129" name="Shape 127"/>
          <p:cNvSpPr/>
          <p:nvPr/>
        </p:nvSpPr>
        <p:spPr>
          <a:xfrm>
            <a:off x="137160" y="4251960"/>
            <a:ext cx="8915400" cy="210312"/>
          </a:xfrm>
          <a:prstGeom prst="rect">
            <a:avLst/>
          </a:prstGeom>
          <a:solidFill>
            <a:srgbClr val="E7ECF0">
              <a:alpha val="30000"/>
            </a:srgbClr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92024" y="4261104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Attrition Detection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5632704" y="4288536"/>
            <a:ext cx="2255520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5669280" y="4288536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[Churn App] — Attritio…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137160" y="4471416"/>
            <a:ext cx="8915400" cy="210312"/>
          </a:xfrm>
          <a:prstGeom prst="rect">
            <a:avLst/>
          </a:prstGeom>
          <a:solidFill>
            <a:srgbClr val="FFFFFF"/>
          </a:solidFill>
          <a:ln w="3810">
            <a:solidFill>
              <a:srgbClr val="E0E4E8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92024" y="4480560"/>
            <a:ext cx="19202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Generational Retention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6778752" y="4507992"/>
            <a:ext cx="2255520" cy="137160"/>
          </a:xfrm>
          <a:prstGeom prst="rect">
            <a:avLst/>
          </a:prstGeom>
          <a:solidFill>
            <a:srgbClr val="0A5C47">
              <a:alpha val="88000"/>
            </a:srgbClr>
          </a:solidFill>
          <a:ln w="15240">
            <a:solidFill>
              <a:srgbClr val="0A5C47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6815328" y="4507992"/>
            <a:ext cx="2200656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Wealth Deflection — Ge…</a:t>
            </a:r>
            <a:endParaRPr lang="en-US" sz="600" dirty="0"/>
          </a:p>
        </p:txBody>
      </p:sp>
      <p:sp>
        <p:nvSpPr>
          <p:cNvPr id="137" name="Shape 135"/>
          <p:cNvSpPr/>
          <p:nvPr/>
        </p:nvSpPr>
        <p:spPr>
          <a:xfrm>
            <a:off x="3297674" y="566928"/>
            <a:ext cx="0" cy="4325112"/>
          </a:xfrm>
          <a:prstGeom prst="line">
            <a:avLst/>
          </a:prstGeom>
          <a:noFill/>
          <a:ln w="19050">
            <a:solidFill>
              <a:srgbClr val="D0303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3078218" y="571500"/>
            <a:ext cx="438912" cy="1691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D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Staffing Transition Plan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Ramp-Down · FTE Conversion by Team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0" y="415137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00" dirty="0"/>
          </a:p>
        </p:txBody>
      </p:sp>
      <p:sp>
        <p:nvSpPr>
          <p:cNvPr id="8" name="Shape 6"/>
          <p:cNvSpPr/>
          <p:nvPr/>
        </p:nvSpPr>
        <p:spPr>
          <a:xfrm>
            <a:off x="164592" y="366857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357713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00" dirty="0"/>
          </a:p>
        </p:txBody>
      </p:sp>
      <p:sp>
        <p:nvSpPr>
          <p:cNvPr id="10" name="Shape 8"/>
          <p:cNvSpPr/>
          <p:nvPr/>
        </p:nvSpPr>
        <p:spPr>
          <a:xfrm>
            <a:off x="164592" y="309433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0" y="300289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64592" y="2520086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0" y="2428646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64592" y="1945843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0" y="1854403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164592" y="1371600"/>
            <a:ext cx="8814816" cy="0"/>
          </a:xfrm>
          <a:prstGeom prst="line">
            <a:avLst/>
          </a:prstGeom>
          <a:noFill/>
          <a:ln w="4445">
            <a:solidFill>
              <a:srgbClr val="E7EC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0" y="1280160"/>
            <a:ext cx="1463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164592" y="4242816"/>
            <a:ext cx="8814816" cy="0"/>
          </a:xfrm>
          <a:prstGeom prst="line">
            <a:avLst/>
          </a:prstGeom>
          <a:noFill/>
          <a:ln w="12700">
            <a:solidFill>
              <a:srgbClr val="575A5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 rot="16200000">
            <a:off x="0" y="2441448"/>
            <a:ext cx="164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Headcount</a:t>
            </a:r>
            <a:endParaRPr lang="en-US" sz="600" dirty="0"/>
          </a:p>
        </p:txBody>
      </p:sp>
      <p:sp>
        <p:nvSpPr>
          <p:cNvPr id="20" name="Shape 18"/>
          <p:cNvSpPr/>
          <p:nvPr/>
        </p:nvSpPr>
        <p:spPr>
          <a:xfrm>
            <a:off x="164592" y="585216"/>
            <a:ext cx="2828544" cy="32918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4592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61616" y="64008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64592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5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3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274320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658722"/>
            <a:ext cx="583692" cy="1435608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1686154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1475842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94945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4945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49452" y="1945843"/>
            <a:ext cx="583692" cy="1148486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49452" y="197327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9452" y="176296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9494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62458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62458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62458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2458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624584" y="2232965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624584" y="2260397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624584" y="2050085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62458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29971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29971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29971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29971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29971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29971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157728" y="585216"/>
            <a:ext cx="2828544" cy="329184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57728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249168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353507" y="640080"/>
            <a:ext cx="55961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3157728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267456" y="3668573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267456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3267456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32674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3942588" y="3955694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942588" y="3983126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3942588" y="3668573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942588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942588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39425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617720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0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617720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617720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92852" y="3668573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92852" y="3696005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292852" y="3485693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285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3075432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50864" y="585216"/>
            <a:ext cx="2828544" cy="329184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150864" y="585216"/>
            <a:ext cx="2828544" cy="36576"/>
          </a:xfrm>
          <a:prstGeom prst="rect">
            <a:avLst/>
          </a:prstGeom>
          <a:solidFill>
            <a:srgbClr val="FFFFFF">
              <a:alpha val="55000"/>
            </a:srgbClr>
          </a:solidFill>
          <a:ln w="12700">
            <a:solidFill>
              <a:srgbClr val="FFFFFF">
                <a:alpha val="55000"/>
              </a:srgbClr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2304" y="585216"/>
            <a:ext cx="2645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Dev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97266" y="640080"/>
            <a:ext cx="60899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150864" y="950976"/>
            <a:ext cx="28285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Existing FTE · 2 Contractors today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+2 New FTEs · 0 Contractors by Wave 2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6260592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260592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260592" y="2520086"/>
            <a:ext cx="583692" cy="574243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260592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7" name="Text 85"/>
          <p:cNvSpPr/>
          <p:nvPr/>
        </p:nvSpPr>
        <p:spPr>
          <a:xfrm>
            <a:off x="6260592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260592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FY26 H2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6935724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935724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6935724" y="2807208"/>
            <a:ext cx="583692" cy="287122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935724" y="2834640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900" dirty="0"/>
          </a:p>
        </p:txBody>
      </p:sp>
      <p:sp>
        <p:nvSpPr>
          <p:cNvPr id="93" name="Shape 91"/>
          <p:cNvSpPr/>
          <p:nvPr/>
        </p:nvSpPr>
        <p:spPr>
          <a:xfrm>
            <a:off x="6935724" y="2520086"/>
            <a:ext cx="583692" cy="287122"/>
          </a:xfrm>
          <a:prstGeom prst="rect">
            <a:avLst/>
          </a:prstGeom>
          <a:solidFill>
            <a:srgbClr val="0A5CA8">
              <a:alpha val="78000"/>
            </a:srgbClr>
          </a:solidFill>
          <a:ln w="7620">
            <a:solidFill>
              <a:srgbClr val="0A5CA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935724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5" name="Text 93"/>
          <p:cNvSpPr/>
          <p:nvPr/>
        </p:nvSpPr>
        <p:spPr>
          <a:xfrm>
            <a:off x="6935724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935724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7610856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10856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7610856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10856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610856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7610856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8285988" y="3094330"/>
            <a:ext cx="583692" cy="1148486"/>
          </a:xfrm>
          <a:prstGeom prst="rect">
            <a:avLst/>
          </a:prstGeom>
          <a:solidFill>
            <a:srgbClr val="06185F">
              <a:alpha val="82000"/>
            </a:srgbClr>
          </a:solidFill>
          <a:ln w="7620">
            <a:solidFill>
              <a:srgbClr val="06185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285988" y="3121762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8285988" y="2520086"/>
            <a:ext cx="583692" cy="574243"/>
          </a:xfrm>
          <a:prstGeom prst="rect">
            <a:avLst/>
          </a:prstGeom>
          <a:solidFill>
            <a:srgbClr val="0A5C47">
              <a:alpha val="82000"/>
            </a:srgbClr>
          </a:solidFill>
          <a:ln w="7620">
            <a:solidFill>
              <a:srgbClr val="0A5C47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285988" y="2547518"/>
            <a:ext cx="5836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endParaRPr lang="en-US" sz="900" dirty="0"/>
          </a:p>
        </p:txBody>
      </p:sp>
      <p:sp>
        <p:nvSpPr>
          <p:cNvPr id="107" name="Text 105"/>
          <p:cNvSpPr/>
          <p:nvPr/>
        </p:nvSpPr>
        <p:spPr>
          <a:xfrm>
            <a:off x="8285988" y="2337206"/>
            <a:ext cx="583692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8285988" y="4297680"/>
            <a:ext cx="5836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700" dirty="0"/>
          </a:p>
          <a:p>
            <a:pPr algn="ctr"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EOY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6068568" y="585216"/>
            <a:ext cx="0" cy="393192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011680" y="4663440"/>
            <a:ext cx="164592" cy="11887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231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FTEs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4297680" y="4663440"/>
            <a:ext cx="164592" cy="11887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517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FTEs (hired)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6583680" y="4663440"/>
            <a:ext cx="164592" cy="11887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803136" y="4626864"/>
            <a:ext cx="2011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Contractors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Phase 1 Business Case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Value  ·  ARR Scaling  ·  8,000+ FI Clients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65760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0624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0624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$1–3M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20624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93776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912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Cross-segment opportunity scoring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066544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066544" y="585216"/>
            <a:ext cx="1609344" cy="402336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21408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/ Attrition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Mediation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121408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$250–600K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21408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2194560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39696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15–25% churn reduction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solidFill>
            <a:srgbClr val="085CE5">
              <a:alpha val="86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139696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767328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67328" y="585216"/>
            <a:ext cx="1609344" cy="402336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22192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Generational Wealth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822192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$1–2M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822192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895344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40480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Intergenerational retention uplift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solidFill>
            <a:srgbClr val="0A5C47">
              <a:alpha val="86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840480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FY27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468112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68112" y="585216"/>
            <a:ext cx="1609344" cy="402336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2976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AI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22976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$100–300K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522976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5596128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541264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prep &amp; peer benchmarking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solidFill>
            <a:srgbClr val="06185F">
              <a:alpha val="86000"/>
            </a:srgbClr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41264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FY27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7168896" y="585216"/>
            <a:ext cx="1609344" cy="2029968"/>
          </a:xfrm>
          <a:prstGeom prst="rect">
            <a:avLst/>
          </a:prstGeom>
          <a:solidFill>
            <a:srgbClr val="FFFFFF"/>
          </a:solidFill>
          <a:ln w="9525">
            <a:solidFill>
              <a:srgbClr val="E7EC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585216"/>
            <a:ext cx="1609344" cy="402336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23760" y="612648"/>
            <a:ext cx="14996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LTV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7223760" y="1042416"/>
            <a:ext cx="14996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$500K–1.5M</a:t>
            </a:r>
            <a:endParaRPr lang="en-US" sz="1900" dirty="0"/>
          </a:p>
        </p:txBody>
      </p:sp>
      <p:sp>
        <p:nvSpPr>
          <p:cNvPr id="47" name="Text 45"/>
          <p:cNvSpPr/>
          <p:nvPr/>
        </p:nvSpPr>
        <p:spPr>
          <a:xfrm>
            <a:off x="7223760" y="1490472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/yr per FI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7296912" y="1700784"/>
            <a:ext cx="135331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42048" y="1737360"/>
            <a:ext cx="146304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3–5× cross-sell lift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solidFill>
            <a:srgbClr val="0A5CA8">
              <a:alpha val="86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42048" y="23591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FY27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2743200"/>
            <a:ext cx="8412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$3–7.5M / year combined value per FI client · conservative estimate for a mid-size $1B deposits community bank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3255264"/>
            <a:ext cx="2560320" cy="676656"/>
          </a:xfrm>
          <a:prstGeom prst="rect">
            <a:avLst/>
          </a:prstGeom>
          <a:solidFill>
            <a:srgbClr val="085CE5">
              <a:alpha val="92000"/>
            </a:srgbClr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720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$19.5M ARR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45720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FIs  ·  6% of JH client base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291840" y="3255264"/>
            <a:ext cx="2560320" cy="676656"/>
          </a:xfrm>
          <a:prstGeom prst="rect">
            <a:avLst/>
          </a:prstGeom>
          <a:solidFill>
            <a:srgbClr val="0A5CA8">
              <a:alpha val="92000"/>
            </a:srgbClr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184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$78M ARR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329184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FIs  ·  25% of JH client base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26480" y="3255264"/>
            <a:ext cx="2560320" cy="676656"/>
          </a:xfrm>
          <a:prstGeom prst="rect">
            <a:avLst/>
          </a:prstGeom>
          <a:solidFill>
            <a:srgbClr val="0A5C47">
              <a:alpha val="92000"/>
            </a:srgbClr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26480" y="330098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$312M+ ARR</a:t>
            </a:r>
            <a:endParaRPr lang="en-US" sz="1800" dirty="0"/>
          </a:p>
        </p:txBody>
      </p:sp>
      <p:sp>
        <p:nvSpPr>
          <p:cNvPr id="62" name="Text 60"/>
          <p:cNvSpPr/>
          <p:nvPr/>
        </p:nvSpPr>
        <p:spPr>
          <a:xfrm>
            <a:off x="6126480" y="363931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8,000+ FIs  ·  Full JH client base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65760" y="401421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i="1" dirty="0">
                <a:solidFill>
                  <a:srgbClr val="B6B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 estimates based on avg. subscription value across tiers. Adoption rates modeled at 6%, 25%, and 100% of JH’s 8,000+ FI client base. Sources: Mordor Intelligence, ICBA / Cornerstone 2025 survey.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Analytics — FY27 Quarterly 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0" y="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Q1–Q4 FY27  |  Alternate Layout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187452"/>
          </a:xfrm>
          <a:prstGeom prst="rect">
            <a:avLst/>
          </a:prstGeom>
          <a:solidFill>
            <a:srgbClr val="E7ECF0"/>
          </a:solidFill>
          <a:ln w="12700">
            <a:solidFill>
              <a:srgbClr val="E7EC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4956048"/>
            <a:ext cx="8412480" cy="1874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henry™  ·  JHBI  ·  Confidential  ·  FY27  ·  Jul 2026 – Jun 2027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4904" y="576072"/>
            <a:ext cx="2029968" cy="438912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08689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'26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74904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4904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Banking Data Pipeline — FI Connectivity Layer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74904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74904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484632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KPI Dashboard — Platform MVP Launch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4904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4904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484632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Mediation MVP — JH CRM Integration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74904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74904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84632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 Serving Infrastructure &amp; Feature Store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2496312" y="576072"/>
            <a:ext cx="2029968" cy="438912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96312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30097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'26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496312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496312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06040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Framework &amp; Lineage Tracking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496312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2496312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Score Explorer — Banker-Facing Interface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2496312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496312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2606040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06040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Zelle Memo Intelligence — NLP Pipeline Live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496312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2496312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606040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51" name="Shape 49"/>
          <p:cNvSpPr/>
          <p:nvPr/>
        </p:nvSpPr>
        <p:spPr>
          <a:xfrm>
            <a:off x="2606040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06040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 — Streaming Production Launch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617720" y="576072"/>
            <a:ext cx="2029968" cy="438912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551505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'27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617720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27448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4727448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27448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Kafka Streaming Infrastructure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17720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617720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27448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4727448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727448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Drift Monitoring &amp; Alert Engine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4617720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4617720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27448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4727448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27448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Report AI — Full CU Client Rollout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617720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72" name="Shape 70"/>
          <p:cNvSpPr/>
          <p:nvPr/>
        </p:nvSpPr>
        <p:spPr>
          <a:xfrm>
            <a:off x="4617720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727448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4727448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727448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Pipeline — Full CI/CD &amp; Governance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6739128" y="576072"/>
            <a:ext cx="2029968" cy="438912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739128" y="576072"/>
            <a:ext cx="933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 Q4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7672913" y="576072"/>
            <a:ext cx="109618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6DC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'27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6739128" y="110642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6185F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0" name="Shape 78"/>
          <p:cNvSpPr/>
          <p:nvPr/>
        </p:nvSpPr>
        <p:spPr>
          <a:xfrm>
            <a:off x="6739128" y="1106424"/>
            <a:ext cx="64008" cy="749808"/>
          </a:xfrm>
          <a:prstGeom prst="rect">
            <a:avLst/>
          </a:prstGeom>
          <a:solidFill>
            <a:srgbClr val="06185F"/>
          </a:solidFill>
          <a:ln w="12700">
            <a:solidFill>
              <a:srgbClr val="06185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848856" y="114300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618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6848856" y="134416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848856" y="137160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Catalog &amp; Governance Framework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739128" y="192938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85CE5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85" name="Shape 83"/>
          <p:cNvSpPr/>
          <p:nvPr/>
        </p:nvSpPr>
        <p:spPr>
          <a:xfrm>
            <a:off x="6739128" y="1929384"/>
            <a:ext cx="64008" cy="749808"/>
          </a:xfrm>
          <a:prstGeom prst="rect">
            <a:avLst/>
          </a:prstGeom>
          <a:solidFill>
            <a:srgbClr val="085CE5"/>
          </a:solidFill>
          <a:ln w="12700">
            <a:solidFill>
              <a:srgbClr val="085CE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48856" y="196596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5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Lens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6848856" y="216712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48856" y="219456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Analytics Surface — Business Users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739128" y="275234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A8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0" name="Shape 88"/>
          <p:cNvSpPr/>
          <p:nvPr/>
        </p:nvSpPr>
        <p:spPr>
          <a:xfrm>
            <a:off x="6739128" y="2752344"/>
            <a:ext cx="64008" cy="749808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848856" y="278892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Interface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6848856" y="299008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848856" y="301752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Opening LTV — JH Platform Launch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739128" y="3575304"/>
            <a:ext cx="2029968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0A5C47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7000"/>
              </a:srgbClr>
            </a:outerShdw>
          </a:effectLst>
        </p:spPr>
      </p:sp>
      <p:sp>
        <p:nvSpPr>
          <p:cNvPr id="95" name="Shape 93"/>
          <p:cNvSpPr/>
          <p:nvPr/>
        </p:nvSpPr>
        <p:spPr>
          <a:xfrm>
            <a:off x="6739128" y="3575304"/>
            <a:ext cx="64008" cy="749808"/>
          </a:xfrm>
          <a:prstGeom prst="rect">
            <a:avLst/>
          </a:prstGeom>
          <a:solidFill>
            <a:srgbClr val="0A5C47"/>
          </a:solidFill>
          <a:ln w="12700">
            <a:solidFill>
              <a:srgbClr val="0A5C47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848856" y="3611880"/>
            <a:ext cx="188366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A5C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6848856" y="3813048"/>
            <a:ext cx="1856232" cy="0"/>
          </a:xfrm>
          <a:prstGeom prst="line">
            <a:avLst/>
          </a:prstGeom>
          <a:noFill/>
          <a:ln w="6350">
            <a:solidFill>
              <a:srgbClr val="E7ECF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48856" y="3840480"/>
            <a:ext cx="1865376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75A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Cross-Sell Propensity Engine (Horizon Phase 1)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Analytics — FY27 Strategic Roadmap</dc:title>
  <dc:subject>PptxGenJS Presentation</dc:subject>
  <dc:creator>PptxGenJS</dc:creator>
  <cp:lastModifiedBy>PptxGenJS</cp:lastModifiedBy>
  <cp:revision>1</cp:revision>
  <dcterms:created xsi:type="dcterms:W3CDTF">2026-04-02T13:02:36Z</dcterms:created>
  <dcterms:modified xsi:type="dcterms:W3CDTF">2026-04-02T13:02:36Z</dcterms:modified>
</cp:coreProperties>
</file>