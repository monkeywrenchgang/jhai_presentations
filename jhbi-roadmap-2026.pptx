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8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Strategic Roadmap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24871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 FY27  ·  Jul 2026 – Jun 2027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4526280" cy="0"/>
          </a:xfrm>
          <a:prstGeom prst="line">
            <a:avLst/>
          </a:prstGeom>
          <a:noFill/>
          <a:ln w="19050">
            <a:solidFill>
              <a:srgbClr val="085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218688"/>
            <a:ext cx="1993392" cy="475488"/>
          </a:xfrm>
          <a:prstGeom prst="rect">
            <a:avLst/>
          </a:prstGeom>
          <a:solidFill>
            <a:srgbClr val="06185F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06040" y="3218688"/>
            <a:ext cx="1993392" cy="475488"/>
          </a:xfrm>
          <a:prstGeom prst="rect">
            <a:avLst/>
          </a:prstGeom>
          <a:solidFill>
            <a:srgbClr val="085CE5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0604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1576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709160" y="3218688"/>
            <a:ext cx="1993392" cy="475488"/>
          </a:xfrm>
          <a:prstGeom prst="rect">
            <a:avLst/>
          </a:prstGeom>
          <a:solidFill>
            <a:srgbClr val="0A5CA8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888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812280" y="3218688"/>
            <a:ext cx="1993392" cy="475488"/>
          </a:xfrm>
          <a:prstGeom prst="rect">
            <a:avLst/>
          </a:prstGeom>
          <a:solidFill>
            <a:srgbClr val="0A5C47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228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200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18795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internal use  ·  Executive briefing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Investment Pillars — What We Are Building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47472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566928"/>
            <a:ext cx="2029968" cy="4572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75488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5488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5488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and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anonymized FI benchmarking data layer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487168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87168" y="566928"/>
            <a:ext cx="2029968" cy="4572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5184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615184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15184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15184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client-facing risk score explorer (banker fact)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for business stakeholders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26864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26864" y="566928"/>
            <a:ext cx="2029968" cy="4572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754880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/ API Dev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54880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18304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internal AI apps embedded in JH ecosystem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and workflow automation services layer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and full audit logging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766560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766560" y="566928"/>
            <a:ext cx="2029968" cy="4572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94576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94576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894576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Buildout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894576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0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 + experiment tracking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serving at scale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governance, bias review, and model card process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Team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Leadership Structure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83280" y="576072"/>
            <a:ext cx="2377440" cy="58521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576072"/>
            <a:ext cx="2377440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63093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Ames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88696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Data Science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61888" y="576072"/>
            <a:ext cx="301752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HEADCOUNT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99846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8434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96772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430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9018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97356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1014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9602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solidFill>
            <a:srgbClr val="0A5CA8">
              <a:alpha val="25000"/>
            </a:srgbClr>
          </a:solidFill>
          <a:ln w="6350">
            <a:solidFill>
              <a:srgbClr val="E7E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 ·  1 Position  (MLOps Engineer)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·  13 Positions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0" y="1161288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48384" y="1303020"/>
            <a:ext cx="6047232" cy="0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8384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0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95616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440" y="1444752"/>
            <a:ext cx="2913888" cy="5852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Goolsby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82880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Software Development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237232" y="1508760"/>
            <a:ext cx="676656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37232" y="1508760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3115056" y="1444752"/>
            <a:ext cx="2913888" cy="58521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15056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6496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206496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Mgr, JHBI Product Mgmt &amp; GTM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312054" y="1508760"/>
            <a:ext cx="625450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12054" y="1508760"/>
            <a:ext cx="62545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4682947" y="1508760"/>
            <a:ext cx="574243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82947" y="1508760"/>
            <a:ext cx="57424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6138672" y="1444752"/>
            <a:ext cx="2913888" cy="58521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138672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30112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230112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Lead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284464" y="1508760"/>
            <a:ext cx="676656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84464" y="1508760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1548384" y="2029968"/>
            <a:ext cx="0" cy="128016"/>
          </a:xfrm>
          <a:prstGeom prst="line">
            <a:avLst/>
          </a:prstGeom>
          <a:noFill/>
          <a:ln w="15240">
            <a:solidFill>
              <a:srgbClr val="085CE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46304" y="2157984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46304" y="2157984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37744" y="218541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Acq. &amp; Engineering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219456" y="2331720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6596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96596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1114552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14552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1114552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2032508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032508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2032508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237744" y="2660904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37744" y="2660904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146304" y="2834640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46304" y="2834640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37744" y="2862072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219456" y="3008376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6596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96596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1114552" y="3026664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114552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1114552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2032508" y="3026664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032508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2032508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237744" y="3337560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37744" y="3337560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80" name="Shape 78"/>
          <p:cNvSpPr/>
          <p:nvPr/>
        </p:nvSpPr>
        <p:spPr>
          <a:xfrm>
            <a:off x="146304" y="3511296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46304" y="3511296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37744" y="353872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219456" y="3685032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6596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5" name="Text 83"/>
          <p:cNvSpPr/>
          <p:nvPr/>
        </p:nvSpPr>
        <p:spPr>
          <a:xfrm>
            <a:off x="196596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1114552" y="370332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114552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114552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2032508" y="370332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032508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032508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237744" y="4014216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37744" y="4014216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94" name="Shape 92"/>
          <p:cNvSpPr/>
          <p:nvPr/>
        </p:nvSpPr>
        <p:spPr>
          <a:xfrm>
            <a:off x="4572000" y="2029968"/>
            <a:ext cx="0" cy="128016"/>
          </a:xfrm>
          <a:prstGeom prst="line">
            <a:avLst/>
          </a:prstGeom>
          <a:noFill/>
          <a:ln w="15240">
            <a:solidFill>
              <a:srgbClr val="0A5CA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169920" y="2157984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69920" y="2157984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61360" y="2185416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Elspeth Bloodgood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3261360" y="236829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Go-to-Market &amp; Visualization</a:t>
            </a:r>
            <a:endParaRPr lang="en-US" sz="700" dirty="0"/>
          </a:p>
        </p:txBody>
      </p:sp>
      <p:sp>
        <p:nvSpPr>
          <p:cNvPr id="99" name="Shape 97"/>
          <p:cNvSpPr/>
          <p:nvPr/>
        </p:nvSpPr>
        <p:spPr>
          <a:xfrm>
            <a:off x="3261360" y="2478024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261360" y="2478024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3169920" y="2651760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169920" y="2651760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261360" y="2679192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Ashley Greenhaw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3261360" y="2862072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Application Development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261360" y="2971800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261360" y="2971800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3169920" y="3145536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169920" y="3145536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3261360" y="3172968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Saunders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3261360" y="335584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Data Acq. &amp; Engineering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261360" y="3465576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61360" y="3465576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3169920" y="3639312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169920" y="3639312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261360" y="3666744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Nitesh Gupta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3261360" y="3849624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Analytics &amp; DS Platform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3261360" y="3959352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261360" y="3959352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7595616" y="2029968"/>
            <a:ext cx="0" cy="128016"/>
          </a:xfrm>
          <a:prstGeom prst="line">
            <a:avLst/>
          </a:prstGeom>
          <a:noFill/>
          <a:ln w="15240">
            <a:solidFill>
              <a:srgbClr val="0A5C47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193536" y="2157984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193536" y="2157984"/>
            <a:ext cx="50292" cy="6217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84976" y="218541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6266688" y="2331720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243828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25" name="Text 123"/>
          <p:cNvSpPr/>
          <p:nvPr/>
        </p:nvSpPr>
        <p:spPr>
          <a:xfrm>
            <a:off x="6243828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126" name="Shape 124"/>
          <p:cNvSpPr/>
          <p:nvPr/>
        </p:nvSpPr>
        <p:spPr>
          <a:xfrm>
            <a:off x="7161784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161784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28" name="Text 126"/>
          <p:cNvSpPr/>
          <p:nvPr/>
        </p:nvSpPr>
        <p:spPr>
          <a:xfrm>
            <a:off x="7161784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129" name="Shape 127"/>
          <p:cNvSpPr/>
          <p:nvPr/>
        </p:nvSpPr>
        <p:spPr>
          <a:xfrm>
            <a:off x="8079740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8079740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8079740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132" name="Shape 130"/>
          <p:cNvSpPr/>
          <p:nvPr/>
        </p:nvSpPr>
        <p:spPr>
          <a:xfrm>
            <a:off x="6284976" y="2660904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84976" y="2660904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34" name="Shape 132"/>
          <p:cNvSpPr/>
          <p:nvPr/>
        </p:nvSpPr>
        <p:spPr>
          <a:xfrm>
            <a:off x="6193536" y="2834640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193536" y="2834640"/>
            <a:ext cx="50292" cy="457200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6284976" y="2862072"/>
            <a:ext cx="2328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Engineer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8595360" y="2880360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8595360" y="288036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39" name="Text 137"/>
          <p:cNvSpPr/>
          <p:nvPr/>
        </p:nvSpPr>
        <p:spPr>
          <a:xfrm>
            <a:off x="6284976" y="3081528"/>
            <a:ext cx="26578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 · FY26</a:t>
            </a:r>
            <a:endParaRPr lang="en-US" sz="700" dirty="0"/>
          </a:p>
        </p:txBody>
      </p:sp>
      <p:sp>
        <p:nvSpPr>
          <p:cNvPr id="140" name="Shape 138"/>
          <p:cNvSpPr/>
          <p:nvPr/>
        </p:nvSpPr>
        <p:spPr>
          <a:xfrm>
            <a:off x="6284976" y="3172968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284976" y="3172968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42" name="Shape 140"/>
          <p:cNvSpPr/>
          <p:nvPr/>
        </p:nvSpPr>
        <p:spPr>
          <a:xfrm>
            <a:off x="365760" y="4654296"/>
            <a:ext cx="164592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8521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hire</a:t>
            </a:r>
            <a:endParaRPr lang="en-US" sz="750" dirty="0"/>
          </a:p>
        </p:txBody>
      </p:sp>
      <p:sp>
        <p:nvSpPr>
          <p:cNvPr id="144" name="Shape 142"/>
          <p:cNvSpPr/>
          <p:nvPr/>
        </p:nvSpPr>
        <p:spPr>
          <a:xfrm>
            <a:off x="2743200" y="4654296"/>
            <a:ext cx="164592" cy="128016"/>
          </a:xfrm>
          <a:prstGeom prst="rect">
            <a:avLst/>
          </a:prstGeom>
          <a:solidFill>
            <a:srgbClr val="B6BBC0"/>
          </a:solidFill>
          <a:ln w="12700">
            <a:solidFill>
              <a:srgbClr val="B6BBC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296265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 — planned role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5120640" y="4654296"/>
            <a:ext cx="164592" cy="128016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534009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Program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Pillars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56032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594360"/>
            <a:ext cx="73152" cy="20665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594360"/>
            <a:ext cx="4224528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" y="12161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" y="16733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" y="21305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enterprise catalog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2336" y="2350008"/>
            <a:ext cx="3931920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SilverLake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Symitar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NCUA 5300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4663440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594360"/>
            <a:ext cx="73152" cy="20665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594360"/>
            <a:ext cx="4224528" cy="42062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9744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846320" y="12161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10912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16733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1305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10912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risk score explorer &amp; self-serve analytics surface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6032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56032" y="2825496"/>
            <a:ext cx="73152" cy="20665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6032" y="2825496"/>
            <a:ext cx="4224528" cy="42062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2336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38912" y="34472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3504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apps: CommercialSignal, [Churn App], Wealth Deflection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38912" y="39044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38912" y="43616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3504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663440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663440" y="2825496"/>
            <a:ext cx="73152" cy="206654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0" y="2825496"/>
            <a:ext cx="4224528" cy="42062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09744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846320" y="34472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10912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training at scale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846320" y="39044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10912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46320" y="43616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10912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MLOps: CI/CD, model registry, drift monitoring &amp; governance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Quarterly Roadmap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Foundation + FY27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" y="548640"/>
            <a:ext cx="1280160" cy="301752"/>
          </a:xfrm>
          <a:prstGeom prst="rect">
            <a:avLst/>
          </a:prstGeom>
          <a:solidFill>
            <a:srgbClr val="575A5D"/>
          </a:solidFill>
          <a:ln w="12700">
            <a:solidFill>
              <a:srgbClr val="575A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719072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'26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32304" y="548640"/>
            <a:ext cx="1600200" cy="30175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264408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105656" y="548640"/>
            <a:ext cx="1600200" cy="30175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05656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937760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5779008" y="548640"/>
            <a:ext cx="1600200" cy="30175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611112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7452360" y="548640"/>
            <a:ext cx="1600200" cy="30175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84464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43000" y="987552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3000" y="987552"/>
            <a:ext cx="50292" cy="784098"/>
          </a:xfrm>
          <a:prstGeom prst="rect">
            <a:avLst/>
          </a:prstGeom>
          <a:solidFill>
            <a:srgbClr val="06185F">
              <a:alpha val="70000"/>
            </a:srgbClr>
          </a:solidFill>
          <a:ln w="12700">
            <a:solidFill>
              <a:srgbClr val="06185F">
                <a:alpha val="7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" y="987552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234440" y="1243584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Connectivity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96312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496312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78608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JH Banking Data Integration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169664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169664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51960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Data Quality Framework &amp; Lineage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843016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843016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25312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Solutions — Third-Party Integration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16368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516368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98664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Solutions — Enterprise Catalog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440" y="1917954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143000" y="2000250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43000" y="2000250"/>
            <a:ext cx="50292" cy="784098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43000" y="2000250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1234440" y="2256282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 Baseline &amp; KPI Framework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496312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2496312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78608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Core Systems KPIs &amp; Executive Dashboards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169664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169664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51960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Risk Score Explorer, Banker-Facing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843016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843016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25312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Complementary Solutions Insights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516368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516368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98664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Self-Serve Analytics Surface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43000" y="3012948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43000" y="3012948"/>
            <a:ext cx="50292" cy="784098"/>
          </a:xfrm>
          <a:prstGeom prst="rect">
            <a:avLst/>
          </a:prstGeom>
          <a:solidFill>
            <a:srgbClr val="0A5CA8">
              <a:alpha val="70000"/>
            </a:srgbClr>
          </a:solidFill>
          <a:ln w="12700">
            <a:solidFill>
              <a:srgbClr val="0A5CA8">
                <a:alpha val="7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43000" y="3012948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1234440" y="3268980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2496312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2496312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578608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Live  ·  [Churn App] Ph.1 Interface Build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169664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4169664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251960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Ph.1 Live  ·  Ph.2 Interface Build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843016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843016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925312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Ph.2 Live  ·  CommercialSignal Interface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7516368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7516368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598664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Interface Launch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91440" y="3943350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143000" y="4025646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" y="4025646"/>
            <a:ext cx="50292" cy="784098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" y="4025646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91" name="Text 89"/>
          <p:cNvSpPr/>
          <p:nvPr/>
        </p:nvSpPr>
        <p:spPr>
          <a:xfrm>
            <a:off x="1234440" y="4281678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Model Registry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496312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2496312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578608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Live  ·  [Churn App] Ph.1 ACH Build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169664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4169664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251960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Ph.1 Live  ·  Ph.2 Digital Signals Build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5843016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843016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925312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Ph.2 Live  ·  CommercialSignal Build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7516368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516368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598664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P2C Detection Launch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Gantt Chart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View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76272" y="905256"/>
            <a:ext cx="2292096" cy="3986784"/>
          </a:xfrm>
          <a:prstGeom prst="rect">
            <a:avLst/>
          </a:prstGeom>
          <a:solidFill>
            <a:srgbClr val="D8DBE0">
              <a:alpha val="45000"/>
            </a:srgbClr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76272" y="566928"/>
            <a:ext cx="2292096" cy="169164"/>
          </a:xfrm>
          <a:prstGeom prst="rect">
            <a:avLst/>
          </a:prstGeom>
          <a:solidFill>
            <a:srgbClr val="575A5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566928"/>
            <a:ext cx="225552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 ·  Foundation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468368" y="566928"/>
            <a:ext cx="1146048" cy="169164"/>
          </a:xfrm>
          <a:prstGeom prst="rect">
            <a:avLst/>
          </a:prstGeom>
          <a:solidFill>
            <a:srgbClr val="0618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6656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614416" y="566928"/>
            <a:ext cx="1146048" cy="169164"/>
          </a:xfrm>
          <a:prstGeom prst="rect">
            <a:avLst/>
          </a:prstGeom>
          <a:solidFill>
            <a:srgbClr val="085C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2704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760464" y="566928"/>
            <a:ext cx="1146048" cy="169164"/>
          </a:xfrm>
          <a:prstGeom prst="rect">
            <a:avLst/>
          </a:prstGeom>
          <a:solidFill>
            <a:srgbClr val="0A5C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78752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906512" y="566928"/>
            <a:ext cx="1146048" cy="169164"/>
          </a:xfrm>
          <a:prstGeom prst="rect">
            <a:avLst/>
          </a:prstGeom>
          <a:solidFill>
            <a:srgbClr val="0A5C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24800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217627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5828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94030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2232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0433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8635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468368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5038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3240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614416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99643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7844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60464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14248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52449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0651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8852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7054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52560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37160" y="950976"/>
            <a:ext cx="8915400" cy="146304"/>
          </a:xfrm>
          <a:prstGeom prst="rect">
            <a:avLst/>
          </a:prstGeom>
          <a:solidFill>
            <a:srgbClr val="06185F">
              <a:alpha val="9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28600" y="950976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37160" y="1097280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2024" y="1106424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Sources — Data Acquisition &amp; Pipeline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2194560" y="1133856"/>
            <a:ext cx="2255520" cy="118872"/>
          </a:xfrm>
          <a:prstGeom prst="rect">
            <a:avLst/>
          </a:prstGeom>
          <a:solidFill>
            <a:srgbClr val="06185F">
              <a:alpha val="6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231136" y="1133856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137160" y="1298448"/>
            <a:ext cx="8915400" cy="192024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2024" y="1307592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JH Banking Integration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4486656" y="1335024"/>
            <a:ext cx="2255520" cy="118872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23232" y="1335024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JH Bank…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137160" y="1499616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2024" y="1508760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Solutions — Third-Party &amp; Enrichment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6778752" y="1536192"/>
            <a:ext cx="2255520" cy="118872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15328" y="1536192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Solution…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137160" y="1728216"/>
            <a:ext cx="8915400" cy="146304"/>
          </a:xfrm>
          <a:prstGeom prst="rect">
            <a:avLst/>
          </a:prstGeom>
          <a:solidFill>
            <a:srgbClr val="085CE5">
              <a:alpha val="9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28600" y="1728216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137160" y="1874520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024" y="1883664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— Payment Source Reports &amp; Dashboards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2194560" y="1911096"/>
            <a:ext cx="2255520" cy="118872"/>
          </a:xfrm>
          <a:prstGeom prst="rect">
            <a:avLst/>
          </a:prstGeom>
          <a:solidFill>
            <a:srgbClr val="085CE5">
              <a:alpha val="6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31136" y="1911096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93" name="Shape 91"/>
          <p:cNvSpPr/>
          <p:nvPr/>
        </p:nvSpPr>
        <p:spPr>
          <a:xfrm>
            <a:off x="137160" y="2075688"/>
            <a:ext cx="8915400" cy="192024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2024" y="2084832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Core Systems Analytics &amp; KPIs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4486656" y="2112264"/>
            <a:ext cx="2255520" cy="118872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23232" y="2112264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Core Systems …</a:t>
            </a:r>
            <a:endParaRPr lang="en-US" sz="600" dirty="0"/>
          </a:p>
        </p:txBody>
      </p:sp>
      <p:sp>
        <p:nvSpPr>
          <p:cNvPr id="97" name="Shape 95"/>
          <p:cNvSpPr/>
          <p:nvPr/>
        </p:nvSpPr>
        <p:spPr>
          <a:xfrm>
            <a:off x="137160" y="2276856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92024" y="2286000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Complementary Solutions Insights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6778752" y="2313432"/>
            <a:ext cx="2255520" cy="118872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815328" y="2313432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Complementary…</a:t>
            </a:r>
            <a:endParaRPr lang="en-US" sz="600" dirty="0"/>
          </a:p>
        </p:txBody>
      </p:sp>
      <p:sp>
        <p:nvSpPr>
          <p:cNvPr id="101" name="Shape 99"/>
          <p:cNvSpPr/>
          <p:nvPr/>
        </p:nvSpPr>
        <p:spPr>
          <a:xfrm>
            <a:off x="137160" y="2505456"/>
            <a:ext cx="8915400" cy="146304"/>
          </a:xfrm>
          <a:prstGeom prst="rect">
            <a:avLst/>
          </a:prstGeom>
          <a:solidFill>
            <a:srgbClr val="0A5CA8">
              <a:alpha val="9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8600" y="2505456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137160" y="2651760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92024" y="2660904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Development &amp; Alation Integration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2194560" y="2688336"/>
            <a:ext cx="2255520" cy="118872"/>
          </a:xfrm>
          <a:prstGeom prst="rect">
            <a:avLst/>
          </a:prstGeom>
          <a:solidFill>
            <a:srgbClr val="0A5CA8">
              <a:alpha val="6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231136" y="2688336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137160" y="2852928"/>
            <a:ext cx="8915400" cy="192024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92024" y="2862072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Zelle Memo Intelligence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2958592" y="2889504"/>
            <a:ext cx="2637536" cy="118872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995168" y="2889504"/>
            <a:ext cx="2582672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Zel…</a:t>
            </a:r>
            <a:endParaRPr lang="en-US" sz="600" dirty="0"/>
          </a:p>
        </p:txBody>
      </p:sp>
      <p:sp>
        <p:nvSpPr>
          <p:cNvPr id="111" name="Shape 109"/>
          <p:cNvSpPr/>
          <p:nvPr/>
        </p:nvSpPr>
        <p:spPr>
          <a:xfrm>
            <a:off x="137160" y="3054096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92024" y="3063240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[Churn App] Ph.1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4486656" y="3090672"/>
            <a:ext cx="1873504" cy="118872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523232" y="3090672"/>
            <a:ext cx="181864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[Ch…</a:t>
            </a:r>
            <a:endParaRPr lang="en-US" sz="600" dirty="0"/>
          </a:p>
        </p:txBody>
      </p:sp>
      <p:sp>
        <p:nvSpPr>
          <p:cNvPr id="115" name="Shape 113"/>
          <p:cNvSpPr/>
          <p:nvPr/>
        </p:nvSpPr>
        <p:spPr>
          <a:xfrm>
            <a:off x="137160" y="3255264"/>
            <a:ext cx="8915400" cy="192024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92024" y="3264408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[Churn App] Ph.2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5632704" y="3291840"/>
            <a:ext cx="2255520" cy="118872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669280" y="3291840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[Ch…</a:t>
            </a:r>
            <a:endParaRPr lang="en-US" sz="600" dirty="0"/>
          </a:p>
        </p:txBody>
      </p:sp>
      <p:sp>
        <p:nvSpPr>
          <p:cNvPr id="119" name="Shape 117"/>
          <p:cNvSpPr/>
          <p:nvPr/>
        </p:nvSpPr>
        <p:spPr>
          <a:xfrm>
            <a:off x="137160" y="3456432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92024" y="3465576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CommercialSignal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6778752" y="3493008"/>
            <a:ext cx="2255520" cy="118872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815328" y="3493008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Com…</a:t>
            </a:r>
            <a:endParaRPr lang="en-US" sz="600" dirty="0"/>
          </a:p>
        </p:txBody>
      </p:sp>
      <p:sp>
        <p:nvSpPr>
          <p:cNvPr id="123" name="Shape 121"/>
          <p:cNvSpPr/>
          <p:nvPr/>
        </p:nvSpPr>
        <p:spPr>
          <a:xfrm>
            <a:off x="137160" y="3685032"/>
            <a:ext cx="8915400" cy="146304"/>
          </a:xfrm>
          <a:prstGeom prst="rect">
            <a:avLst/>
          </a:prstGeom>
          <a:solidFill>
            <a:srgbClr val="0A5C47">
              <a:alpha val="9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228600" y="3685032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125" name="Shape 123"/>
          <p:cNvSpPr/>
          <p:nvPr/>
        </p:nvSpPr>
        <p:spPr>
          <a:xfrm>
            <a:off x="137160" y="3831336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2024" y="3840480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 Foundation — Feature Store &amp; Registry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2194560" y="3867912"/>
            <a:ext cx="2255520" cy="118872"/>
          </a:xfrm>
          <a:prstGeom prst="rect">
            <a:avLst/>
          </a:prstGeom>
          <a:solidFill>
            <a:srgbClr val="0A5C47">
              <a:alpha val="6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231136" y="3867912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29" name="Shape 127"/>
          <p:cNvSpPr/>
          <p:nvPr/>
        </p:nvSpPr>
        <p:spPr>
          <a:xfrm>
            <a:off x="137160" y="4032504"/>
            <a:ext cx="8915400" cy="192024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92024" y="4041648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Payment Memo NLP</a:t>
            </a:r>
            <a:endParaRPr lang="en-US" sz="650" dirty="0"/>
          </a:p>
        </p:txBody>
      </p:sp>
      <p:sp>
        <p:nvSpPr>
          <p:cNvPr id="131" name="Shape 129"/>
          <p:cNvSpPr/>
          <p:nvPr/>
        </p:nvSpPr>
        <p:spPr>
          <a:xfrm>
            <a:off x="2958592" y="4069080"/>
            <a:ext cx="2637536" cy="118872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2995168" y="4069080"/>
            <a:ext cx="2582672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Intelligenc…</a:t>
            </a:r>
            <a:endParaRPr lang="en-US" sz="600" dirty="0"/>
          </a:p>
        </p:txBody>
      </p:sp>
      <p:sp>
        <p:nvSpPr>
          <p:cNvPr id="133" name="Shape 131"/>
          <p:cNvSpPr/>
          <p:nvPr/>
        </p:nvSpPr>
        <p:spPr>
          <a:xfrm>
            <a:off x="137160" y="4233672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192024" y="4242816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Ph.1 — ACH &amp; Payments Model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4486656" y="4270248"/>
            <a:ext cx="1873504" cy="118872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4523232" y="4270248"/>
            <a:ext cx="181864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Ph.1 — ACH…</a:t>
            </a:r>
            <a:endParaRPr lang="en-US" sz="600" dirty="0"/>
          </a:p>
        </p:txBody>
      </p:sp>
      <p:sp>
        <p:nvSpPr>
          <p:cNvPr id="137" name="Shape 135"/>
          <p:cNvSpPr/>
          <p:nvPr/>
        </p:nvSpPr>
        <p:spPr>
          <a:xfrm>
            <a:off x="137160" y="4434840"/>
            <a:ext cx="8915400" cy="192024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192024" y="4443984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Ph.2 — Digital &amp; Extended Signals</a:t>
            </a:r>
            <a:endParaRPr lang="en-US" sz="650" dirty="0"/>
          </a:p>
        </p:txBody>
      </p:sp>
      <p:sp>
        <p:nvSpPr>
          <p:cNvPr id="139" name="Shape 137"/>
          <p:cNvSpPr/>
          <p:nvPr/>
        </p:nvSpPr>
        <p:spPr>
          <a:xfrm>
            <a:off x="5632704" y="4471416"/>
            <a:ext cx="2255520" cy="118872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669280" y="4471416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Ph.2 — Dig…</a:t>
            </a:r>
            <a:endParaRPr lang="en-US" sz="600" dirty="0"/>
          </a:p>
        </p:txBody>
      </p:sp>
      <p:sp>
        <p:nvSpPr>
          <p:cNvPr id="141" name="Shape 139"/>
          <p:cNvSpPr/>
          <p:nvPr/>
        </p:nvSpPr>
        <p:spPr>
          <a:xfrm>
            <a:off x="137160" y="4636008"/>
            <a:ext cx="8915400" cy="192024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192024" y="4645152"/>
            <a:ext cx="19202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P2C Detection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6778752" y="4672584"/>
            <a:ext cx="2255520" cy="118872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6815328" y="4672584"/>
            <a:ext cx="22006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P2C…</a:t>
            </a:r>
            <a:endParaRPr lang="en-US" sz="600" dirty="0"/>
          </a:p>
        </p:txBody>
      </p:sp>
      <p:sp>
        <p:nvSpPr>
          <p:cNvPr id="145" name="Shape 143"/>
          <p:cNvSpPr/>
          <p:nvPr/>
        </p:nvSpPr>
        <p:spPr>
          <a:xfrm>
            <a:off x="3297674" y="566928"/>
            <a:ext cx="0" cy="4325112"/>
          </a:xfrm>
          <a:prstGeom prst="line">
            <a:avLst/>
          </a:prstGeom>
          <a:noFill/>
          <a:ln w="19050">
            <a:solidFill>
              <a:srgbClr val="D0303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3078218" y="571500"/>
            <a:ext cx="43891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D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Staffing Transition Plan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 Ramp-Down · FTE Conversion by Team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0" y="4151376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00" dirty="0"/>
          </a:p>
        </p:txBody>
      </p:sp>
      <p:sp>
        <p:nvSpPr>
          <p:cNvPr id="8" name="Shape 6"/>
          <p:cNvSpPr/>
          <p:nvPr/>
        </p:nvSpPr>
        <p:spPr>
          <a:xfrm>
            <a:off x="164592" y="3668573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3577133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00" dirty="0"/>
          </a:p>
        </p:txBody>
      </p:sp>
      <p:sp>
        <p:nvSpPr>
          <p:cNvPr id="10" name="Shape 8"/>
          <p:cNvSpPr/>
          <p:nvPr/>
        </p:nvSpPr>
        <p:spPr>
          <a:xfrm>
            <a:off x="164592" y="3094330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0" y="3002890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00" dirty="0"/>
          </a:p>
        </p:txBody>
      </p:sp>
      <p:sp>
        <p:nvSpPr>
          <p:cNvPr id="12" name="Shape 10"/>
          <p:cNvSpPr/>
          <p:nvPr/>
        </p:nvSpPr>
        <p:spPr>
          <a:xfrm>
            <a:off x="164592" y="2520086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0" y="2428646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00" dirty="0"/>
          </a:p>
        </p:txBody>
      </p:sp>
      <p:sp>
        <p:nvSpPr>
          <p:cNvPr id="14" name="Shape 12"/>
          <p:cNvSpPr/>
          <p:nvPr/>
        </p:nvSpPr>
        <p:spPr>
          <a:xfrm>
            <a:off x="164592" y="1945843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0" y="1854403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164592" y="1371600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0" y="1280160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600" dirty="0"/>
          </a:p>
        </p:txBody>
      </p:sp>
      <p:sp>
        <p:nvSpPr>
          <p:cNvPr id="18" name="Shape 16"/>
          <p:cNvSpPr/>
          <p:nvPr/>
        </p:nvSpPr>
        <p:spPr>
          <a:xfrm>
            <a:off x="164592" y="4242816"/>
            <a:ext cx="8814816" cy="0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 rot="16200000">
            <a:off x="0" y="2441448"/>
            <a:ext cx="1645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Headcount</a:t>
            </a:r>
            <a:endParaRPr lang="en-US" sz="600" dirty="0"/>
          </a:p>
        </p:txBody>
      </p:sp>
      <p:sp>
        <p:nvSpPr>
          <p:cNvPr id="20" name="Shape 18"/>
          <p:cNvSpPr/>
          <p:nvPr/>
        </p:nvSpPr>
        <p:spPr>
          <a:xfrm>
            <a:off x="164592" y="585216"/>
            <a:ext cx="2828544" cy="32918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" y="585216"/>
            <a:ext cx="2828544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" y="585216"/>
            <a:ext cx="2645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61616" y="640080"/>
            <a:ext cx="658368" cy="146304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61616" y="640080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64592" y="95097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Existing FTE · 5 Contractors today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+2 New FTEs · 0 Contractors by Wave 3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74320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1658722"/>
            <a:ext cx="583692" cy="1435608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1686154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1475842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949452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9452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49452" y="1945843"/>
            <a:ext cx="583692" cy="1148486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9452" y="197327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49452" y="176296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49452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624584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624584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624584" y="2807208"/>
            <a:ext cx="583692" cy="287122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624584" y="2834640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624584" y="2232965"/>
            <a:ext cx="583692" cy="574243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624584" y="2260397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624584" y="2050085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624584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299716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99716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299716" y="2520086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299716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299716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299716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EOY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3157728" y="585216"/>
            <a:ext cx="2828544" cy="32918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157728" y="585216"/>
            <a:ext cx="2828544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49168" y="585216"/>
            <a:ext cx="2645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353507" y="640080"/>
            <a:ext cx="559613" cy="146304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53507" y="640080"/>
            <a:ext cx="55961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3157728" y="95097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Existing FTE · 2 Contractors today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+2 New FTEs · 0 Contractors by Wave 2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267456" y="3668573"/>
            <a:ext cx="583692" cy="574243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67456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3267456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3267456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3942588" y="3955694"/>
            <a:ext cx="583692" cy="287122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942588" y="3983126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3942588" y="3668573"/>
            <a:ext cx="583692" cy="287122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942588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942588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3942588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4617720" y="3668573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17720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617720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617720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5292852" y="3668573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292852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5292852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292852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EOY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3075432" y="585216"/>
            <a:ext cx="0" cy="393192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50864" y="585216"/>
            <a:ext cx="2828544" cy="32918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150864" y="585216"/>
            <a:ext cx="2828544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42304" y="585216"/>
            <a:ext cx="2645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8297266" y="640080"/>
            <a:ext cx="608990" cy="146304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297266" y="640080"/>
            <a:ext cx="60899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6150864" y="95097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Existing FTE · 2 Contractors today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+2 New FTEs · 0 Contractors by Wave 2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6260592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260592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260592" y="2520086"/>
            <a:ext cx="583692" cy="574243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260592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6260592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6260592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6935724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935724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6935724" y="2807208"/>
            <a:ext cx="583692" cy="287122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935724" y="2834640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6935724" y="2520086"/>
            <a:ext cx="583692" cy="287122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935724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5" name="Text 93"/>
          <p:cNvSpPr/>
          <p:nvPr/>
        </p:nvSpPr>
        <p:spPr>
          <a:xfrm>
            <a:off x="6935724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6935724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7610856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10856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7610856" y="2520086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10856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7610856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102" name="Text 100"/>
          <p:cNvSpPr/>
          <p:nvPr/>
        </p:nvSpPr>
        <p:spPr>
          <a:xfrm>
            <a:off x="7610856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8285988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285988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8285988" y="2520086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285988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107" name="Text 105"/>
          <p:cNvSpPr/>
          <p:nvPr/>
        </p:nvSpPr>
        <p:spPr>
          <a:xfrm>
            <a:off x="8285988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285988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EOY</a:t>
            </a:r>
            <a:endParaRPr lang="en-US" sz="700" dirty="0"/>
          </a:p>
        </p:txBody>
      </p:sp>
      <p:sp>
        <p:nvSpPr>
          <p:cNvPr id="109" name="Shape 107"/>
          <p:cNvSpPr/>
          <p:nvPr/>
        </p:nvSpPr>
        <p:spPr>
          <a:xfrm>
            <a:off x="6068568" y="585216"/>
            <a:ext cx="0" cy="393192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011680" y="4663440"/>
            <a:ext cx="164592" cy="11887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231136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4297680" y="4663440"/>
            <a:ext cx="164592" cy="11887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517136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(hired)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6583680" y="4663440"/>
            <a:ext cx="164592" cy="11887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803136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Phase 1 Business Case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Value  ·  ARR Scaling  ·  8,000+ FI Clients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0624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$1–3M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20624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93776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Cross-segment opportunity scoring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66544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66544" y="585216"/>
            <a:ext cx="1609344" cy="40233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21408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/ Attrition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21408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$250–600K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21408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194560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39696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churn reduction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solidFill>
            <a:srgbClr val="085CE5">
              <a:alpha val="86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767328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67328" y="585216"/>
            <a:ext cx="1609344" cy="40233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22192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Generational Wealth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22192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$1–2M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822192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95344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0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Intergenerational retention uplift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solidFill>
            <a:srgbClr val="0A5C47">
              <a:alpha val="86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468112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68112" y="585216"/>
            <a:ext cx="1609344" cy="40233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2976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AI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22976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$100–300K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522976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96128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41264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prep &amp; peer benchmarking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solidFill>
            <a:srgbClr val="06185F">
              <a:alpha val="86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168896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68896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0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LTV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23760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$500K–1.5M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7223760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296912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42048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3–5× cross-sell lift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FY27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$3–7.5M / year combined value per FI client · conservative estimate for a mid-size $1B deposits community bank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3255264"/>
            <a:ext cx="2560320" cy="676656"/>
          </a:xfrm>
          <a:prstGeom prst="rect">
            <a:avLst/>
          </a:prstGeom>
          <a:solidFill>
            <a:srgbClr val="085CE5">
              <a:alpha val="92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$19.5M ARR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45720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FIs  ·  6% of JH client base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291840" y="3255264"/>
            <a:ext cx="2560320" cy="676656"/>
          </a:xfrm>
          <a:prstGeom prst="rect">
            <a:avLst/>
          </a:prstGeom>
          <a:solidFill>
            <a:srgbClr val="0A5CA8">
              <a:alpha val="92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184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$78M ARR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329184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FIs  ·  25% of JH client base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26480" y="3255264"/>
            <a:ext cx="2560320" cy="676656"/>
          </a:xfrm>
          <a:prstGeom prst="rect">
            <a:avLst/>
          </a:prstGeom>
          <a:solidFill>
            <a:srgbClr val="0A5C47">
              <a:alpha val="92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2648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$312M+ ARR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612648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8,000+ FIs  ·  Full JH client base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65760" y="401421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estimates based on avg. subscription value across tiers. Adoption rates modeled at 6%, 25%, and 100% of JH’s 8,000+ FI client base. Sources: Mordor Intelligence, ICBA / Cornerstone 2025 survey.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FY27 Quarterly 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FY27  |  Alternate Layout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4904" y="576072"/>
            <a:ext cx="2029968" cy="43891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08689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74904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4904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84632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JH Banking Data Integration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74904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4904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4632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Core Systems KPIs &amp; Executive Dashboards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4904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4904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84632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Live  ·  [Churn App] Ph.1 Interface Build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74904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4904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84632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Live  ·  [Churn App] Ph.1 ACH Build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496312" y="576072"/>
            <a:ext cx="2029968" cy="43891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96312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30097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496312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496312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Data Quality Framework &amp; Lineage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496312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496312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Risk Score Explorer, Banker-Facing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496312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496312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606040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6040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Ph.1 Live  ·  Ph.2 Interface Build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496312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496312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06040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606040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06040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Ph.1 Live  ·  Ph.2 Digital Signals Build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617720" y="576072"/>
            <a:ext cx="2029968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551505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617720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617720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27448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4727448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27448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Solutions — Third-Party Integration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17720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617720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27448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727448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27448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Complementary Solutions Insights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617720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617720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727448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727448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27448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Ph.2 Live  ·  CommercialSignal Interface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617720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4617720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27448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4727448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727448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Ph.2 Live  ·  CommercialSignal Build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6739128" y="576072"/>
            <a:ext cx="2029968" cy="43891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739128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Q4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7672913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739128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739128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848856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6848856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848856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Solutions — Enterprise Catalog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739128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6739128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48856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6848856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48856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Self-Serve Analytics Surface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739128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6739128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848856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6848856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848856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Interface Launch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739128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5" name="Shape 93"/>
          <p:cNvSpPr/>
          <p:nvPr/>
        </p:nvSpPr>
        <p:spPr>
          <a:xfrm>
            <a:off x="6739128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848856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6848856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48856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P2C Detection Launch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JHBI — FY27 Strategic Roadmap</dc:title>
  <dc:subject>PptxGenJS Presentation</dc:subject>
  <dc:creator>PptxGenJS</dc:creator>
  <cp:lastModifiedBy>PptxGenJS</cp:lastModifiedBy>
  <cp:revision>1</cp:revision>
  <dcterms:created xsi:type="dcterms:W3CDTF">2026-04-02T14:49:32Z</dcterms:created>
  <dcterms:modified xsi:type="dcterms:W3CDTF">2026-04-02T14:49:32Z</dcterms:modified>
</cp:coreProperties>
</file>