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8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61204"/>
            <a:ext cx="9144000" cy="82296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34272" y="0"/>
            <a:ext cx="109728" cy="514350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5720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Strategic Roadmap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02920" y="248716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Q1–Q4  FY27  ·  Jul 2026 – Jun 2027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2999232"/>
            <a:ext cx="4526280" cy="0"/>
          </a:xfrm>
          <a:prstGeom prst="line">
            <a:avLst/>
          </a:prstGeom>
          <a:noFill/>
          <a:ln w="19050">
            <a:solidFill>
              <a:srgbClr val="085C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3218688"/>
            <a:ext cx="1993392" cy="475488"/>
          </a:xfrm>
          <a:prstGeom prst="rect">
            <a:avLst/>
          </a:prstGeom>
          <a:solidFill>
            <a:srgbClr val="06185F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Acquisition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606040" y="3218688"/>
            <a:ext cx="1993392" cy="475488"/>
          </a:xfrm>
          <a:prstGeom prst="rect">
            <a:avLst/>
          </a:prstGeom>
          <a:solidFill>
            <a:srgbClr val="085CE5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0604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1576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Dashboards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709160" y="3218688"/>
            <a:ext cx="1993392" cy="475488"/>
          </a:xfrm>
          <a:prstGeom prst="rect">
            <a:avLst/>
          </a:prstGeom>
          <a:solidFill>
            <a:srgbClr val="0A5CA8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0916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1888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/ Self Service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812280" y="3218688"/>
            <a:ext cx="1993392" cy="475488"/>
          </a:xfrm>
          <a:prstGeom prst="rect">
            <a:avLst/>
          </a:prstGeom>
          <a:solidFill>
            <a:srgbClr val="0A5C47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1228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2200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Apps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02920" y="4187952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internal use  ·  Executive briefing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Team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Leadership Structure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Analytics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383280" y="576072"/>
            <a:ext cx="2377440" cy="585216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83280" y="576072"/>
            <a:ext cx="2377440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630936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Mike Ames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74720" y="886968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Data Science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61888" y="576072"/>
            <a:ext cx="301752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61888" y="576072"/>
            <a:ext cx="3017520" cy="18288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61888" y="5760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NEW HEADCOUNT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5998464" y="758952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384341" y="758952"/>
            <a:ext cx="543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Dev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6967728" y="758952"/>
            <a:ext cx="0" cy="493776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04304" y="758952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90181" y="758952"/>
            <a:ext cx="543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7973568" y="758952"/>
            <a:ext cx="0" cy="493776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10144" y="758952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396021" y="758952"/>
            <a:ext cx="543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5961888" y="1124712"/>
            <a:ext cx="3017520" cy="164592"/>
          </a:xfrm>
          <a:prstGeom prst="rect">
            <a:avLst/>
          </a:prstGeom>
          <a:solidFill>
            <a:srgbClr val="0A5CA8">
              <a:alpha val="25000"/>
            </a:srgbClr>
          </a:solidFill>
          <a:ln w="6350">
            <a:solidFill>
              <a:srgbClr val="E7EC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61888" y="1124712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 ·  1 Position  (MLOps Engineer)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5961888" y="1289304"/>
            <a:ext cx="3017520" cy="18288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1888" y="1289304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·  13 Positions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572000" y="1161288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548384" y="1303020"/>
            <a:ext cx="6047232" cy="0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48384" y="1303020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0" y="1303020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95616" y="1303020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1440" y="1444752"/>
            <a:ext cx="2913888" cy="58521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440" y="1444752"/>
            <a:ext cx="2913888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2880" y="1499616"/>
            <a:ext cx="2731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 Goolsby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82880" y="1764792"/>
            <a:ext cx="2731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Director, Software Development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3115056" y="1444752"/>
            <a:ext cx="2913888" cy="58521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115056" y="1444752"/>
            <a:ext cx="2913888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6496" y="1499616"/>
            <a:ext cx="2731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[TBD]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3206496" y="1764792"/>
            <a:ext cx="2731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Mgr, JHBI Product Mgmt &amp; GTM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138672" y="1444752"/>
            <a:ext cx="2913888" cy="585216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38672" y="1444752"/>
            <a:ext cx="2913888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30112" y="1499616"/>
            <a:ext cx="2731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[TBD]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230112" y="1764792"/>
            <a:ext cx="2731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Lead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1548384" y="2029968"/>
            <a:ext cx="0" cy="128016"/>
          </a:xfrm>
          <a:prstGeom prst="line">
            <a:avLst/>
          </a:prstGeom>
          <a:noFill/>
          <a:ln w="15240">
            <a:solidFill>
              <a:srgbClr val="085CE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46304" y="2157984"/>
            <a:ext cx="2804160" cy="457200"/>
          </a:xfrm>
          <a:prstGeom prst="rect">
            <a:avLst/>
          </a:prstGeom>
          <a:solidFill>
            <a:srgbClr val="E7ECF0">
              <a:alpha val="80000"/>
            </a:srgbClr>
          </a:solidFill>
          <a:ln w="9525">
            <a:solidFill>
              <a:srgbClr val="085CE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46304" y="2157984"/>
            <a:ext cx="50292" cy="457200"/>
          </a:xfrm>
          <a:prstGeom prst="rect">
            <a:avLst/>
          </a:prstGeom>
          <a:solidFill>
            <a:srgbClr val="085CE5">
              <a:alpha val="70000"/>
            </a:srgbClr>
          </a:solidFill>
          <a:ln w="12700">
            <a:solidFill>
              <a:srgbClr val="085CE5">
                <a:alpha val="7000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37744" y="2194560"/>
            <a:ext cx="2328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Acq. &amp; Engineering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2548128" y="2212848"/>
            <a:ext cx="347472" cy="18288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8128" y="2212848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237744" y="2395728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Positions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146304" y="2670048"/>
            <a:ext cx="2804160" cy="457200"/>
          </a:xfrm>
          <a:prstGeom prst="rect">
            <a:avLst/>
          </a:prstGeom>
          <a:solidFill>
            <a:srgbClr val="E7ECF0">
              <a:alpha val="80000"/>
            </a:srgbClr>
          </a:solidFill>
          <a:ln w="9525">
            <a:solidFill>
              <a:srgbClr val="085CE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46304" y="2670048"/>
            <a:ext cx="50292" cy="457200"/>
          </a:xfrm>
          <a:prstGeom prst="rect">
            <a:avLst/>
          </a:prstGeom>
          <a:solidFill>
            <a:srgbClr val="085CE5">
              <a:alpha val="70000"/>
            </a:srgbClr>
          </a:solidFill>
          <a:ln w="12700">
            <a:solidFill>
              <a:srgbClr val="085CE5">
                <a:alpha val="70000"/>
              </a:srgbClr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37744" y="2706624"/>
            <a:ext cx="2328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2548128" y="2724912"/>
            <a:ext cx="347472" cy="18288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48128" y="272491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237744" y="2907792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Positions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146304" y="3182112"/>
            <a:ext cx="2804160" cy="457200"/>
          </a:xfrm>
          <a:prstGeom prst="rect">
            <a:avLst/>
          </a:prstGeom>
          <a:solidFill>
            <a:srgbClr val="E7ECF0">
              <a:alpha val="80000"/>
            </a:srgbClr>
          </a:solidFill>
          <a:ln w="9525">
            <a:solidFill>
              <a:srgbClr val="085CE5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46304" y="3182112"/>
            <a:ext cx="50292" cy="457200"/>
          </a:xfrm>
          <a:prstGeom prst="rect">
            <a:avLst/>
          </a:prstGeom>
          <a:solidFill>
            <a:srgbClr val="085CE5">
              <a:alpha val="70000"/>
            </a:srgbClr>
          </a:solidFill>
          <a:ln w="12700">
            <a:solidFill>
              <a:srgbClr val="085CE5">
                <a:alpha val="70000"/>
              </a:srgbClr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37744" y="3218688"/>
            <a:ext cx="2328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Dev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2548128" y="3236976"/>
            <a:ext cx="347472" cy="18288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48128" y="323697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237744" y="3419856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Positions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4572000" y="2029968"/>
            <a:ext cx="0" cy="128016"/>
          </a:xfrm>
          <a:prstGeom prst="line">
            <a:avLst/>
          </a:prstGeom>
          <a:noFill/>
          <a:ln w="15240">
            <a:solidFill>
              <a:srgbClr val="0A5CA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69920" y="2157984"/>
            <a:ext cx="28041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69920" y="2157984"/>
            <a:ext cx="50292" cy="457200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261360" y="2194560"/>
            <a:ext cx="2657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Elspeth Bloodgood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3261360" y="2395728"/>
            <a:ext cx="26578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Go-to-Market &amp; Visualization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169920" y="2670048"/>
            <a:ext cx="28041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3169920" y="2670048"/>
            <a:ext cx="50292" cy="457200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261360" y="2706624"/>
            <a:ext cx="2657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Ashley Greenhaw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3261360" y="2907792"/>
            <a:ext cx="26578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Application Development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3169920" y="3182112"/>
            <a:ext cx="28041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3169920" y="3182112"/>
            <a:ext cx="50292" cy="457200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261360" y="3218688"/>
            <a:ext cx="2657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Mike Saunders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3261360" y="3419856"/>
            <a:ext cx="26578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Data Acq. &amp; Engineering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7595616" y="2029968"/>
            <a:ext cx="0" cy="128016"/>
          </a:xfrm>
          <a:prstGeom prst="line">
            <a:avLst/>
          </a:prstGeom>
          <a:noFill/>
          <a:ln w="15240">
            <a:solidFill>
              <a:srgbClr val="0A5C47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193536" y="2157984"/>
            <a:ext cx="2804160" cy="457200"/>
          </a:xfrm>
          <a:prstGeom prst="rect">
            <a:avLst/>
          </a:prstGeom>
          <a:solidFill>
            <a:srgbClr val="E7ECF0">
              <a:alpha val="80000"/>
            </a:srgbClr>
          </a:solidFill>
          <a:ln w="9525">
            <a:solidFill>
              <a:srgbClr val="0A5C47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193536" y="2157984"/>
            <a:ext cx="50292" cy="457200"/>
          </a:xfrm>
          <a:prstGeom prst="rect">
            <a:avLst/>
          </a:prstGeom>
          <a:solidFill>
            <a:srgbClr val="0A5C47">
              <a:alpha val="70000"/>
            </a:srgbClr>
          </a:solidFill>
          <a:ln w="12700">
            <a:solidFill>
              <a:srgbClr val="0A5C47">
                <a:alpha val="70000"/>
              </a:srgbClr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284976" y="2194560"/>
            <a:ext cx="2328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Scientist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8595360" y="2212848"/>
            <a:ext cx="347472" cy="18288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8595360" y="2212848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6284976" y="2395728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Positions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6193536" y="2670048"/>
            <a:ext cx="2804160" cy="457200"/>
          </a:xfrm>
          <a:prstGeom prst="rect">
            <a:avLst/>
          </a:prstGeom>
          <a:solidFill>
            <a:srgbClr val="E7ECF0">
              <a:alpha val="80000"/>
            </a:srgbClr>
          </a:solidFill>
          <a:ln w="9525">
            <a:solidFill>
              <a:srgbClr val="0A5C47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193536" y="2670048"/>
            <a:ext cx="50292" cy="457200"/>
          </a:xfrm>
          <a:prstGeom prst="rect">
            <a:avLst/>
          </a:prstGeom>
          <a:solidFill>
            <a:srgbClr val="0A5C47">
              <a:alpha val="70000"/>
            </a:srgbClr>
          </a:solidFill>
          <a:ln w="12700">
            <a:solidFill>
              <a:srgbClr val="0A5C47">
                <a:alpha val="70000"/>
              </a:srgbClr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284976" y="2706624"/>
            <a:ext cx="2328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Engineer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8595360" y="2724912"/>
            <a:ext cx="347472" cy="18288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595360" y="272491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87" name="Text 85"/>
          <p:cNvSpPr/>
          <p:nvPr/>
        </p:nvSpPr>
        <p:spPr>
          <a:xfrm>
            <a:off x="6284976" y="2907792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 · FY26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365760" y="4654296"/>
            <a:ext cx="164592" cy="12801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85216" y="46268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hire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2743200" y="4654296"/>
            <a:ext cx="164592" cy="128016"/>
          </a:xfrm>
          <a:prstGeom prst="rect">
            <a:avLst/>
          </a:prstGeom>
          <a:solidFill>
            <a:srgbClr val="B6BBC0"/>
          </a:solidFill>
          <a:ln w="12700">
            <a:solidFill>
              <a:srgbClr val="B6BBC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2962656" y="46268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[TBD] — planned role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5120640" y="4654296"/>
            <a:ext cx="164592" cy="128016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5340096" y="46268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Program Overview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Pillars · FY27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Analytics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56032" y="594360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56032" y="594360"/>
            <a:ext cx="73152" cy="206654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" y="594360"/>
            <a:ext cx="4224528" cy="42062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" y="594360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Acquisition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8912" y="1216152"/>
            <a:ext cx="109728" cy="10972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" y="11247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behavioral data pipelines from JH core systems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8912" y="1673352"/>
            <a:ext cx="109728" cy="10972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" y="15819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streaming infrastructure (Kafka / event bus)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38912" y="2130552"/>
            <a:ext cx="109728" cy="10972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" y="20391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monitoring, lineage &amp; enterprise catalog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2336" y="2350008"/>
            <a:ext cx="3931920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2404872"/>
            <a:ext cx="60350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" y="2404872"/>
            <a:ext cx="603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SilverLake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1069848" y="2404872"/>
            <a:ext cx="46634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" y="2404872"/>
            <a:ext cx="466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Symitar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1600200" y="2404872"/>
            <a:ext cx="37490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600200" y="2404872"/>
            <a:ext cx="374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Banno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2039112" y="2404872"/>
            <a:ext cx="37490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039112" y="2404872"/>
            <a:ext cx="374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2478024" y="2404872"/>
            <a:ext cx="28346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78024" y="2404872"/>
            <a:ext cx="283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2825496" y="2404872"/>
            <a:ext cx="55778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25496" y="2404872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NCUA 5300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4663440" y="594360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63440" y="594360"/>
            <a:ext cx="73152" cy="206654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63440" y="594360"/>
            <a:ext cx="4224528" cy="42062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09744" y="594360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Dashboards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846320" y="1216152"/>
            <a:ext cx="109728" cy="10972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10912" y="11247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dashboards embedded in JH platform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846320" y="1673352"/>
            <a:ext cx="109728" cy="10972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10912" y="15819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&amp; drift monitoring dashboards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846320" y="2130552"/>
            <a:ext cx="109728" cy="10972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10912" y="20391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risk score explorer &amp; self-serve analytics surface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56032" y="2825496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256032" y="2825496"/>
            <a:ext cx="73152" cy="206654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56032" y="2825496"/>
            <a:ext cx="4224528" cy="42062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02336" y="2825496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/ Self Service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438912" y="3447288"/>
            <a:ext cx="109728" cy="109728"/>
          </a:xfrm>
          <a:prstGeom prst="ellipse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03504" y="33558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apps in JH ecosystem (Churn, Anomaly, Zelle Memo)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38912" y="3904488"/>
            <a:ext cx="109728" cy="109728"/>
          </a:xfrm>
          <a:prstGeom prst="ellipse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3504" y="38130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APIs distributing model scores to JH products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38912" y="4361688"/>
            <a:ext cx="109728" cy="109728"/>
          </a:xfrm>
          <a:prstGeom prst="ellipse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03504" y="42702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Banno + JH Enterprise integration &amp; alerting workflows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663440" y="2825496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4663440" y="2825496"/>
            <a:ext cx="73152" cy="2066544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663440" y="2825496"/>
            <a:ext cx="4224528" cy="420624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09744" y="2825496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Apps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4846320" y="3447288"/>
            <a:ext cx="109728" cy="109728"/>
          </a:xfrm>
          <a:prstGeom prst="ellipse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010912" y="33558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AutoGluon, CatBoost, XGBoost model training at scale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4846320" y="3904488"/>
            <a:ext cx="109728" cy="109728"/>
          </a:xfrm>
          <a:prstGeom prst="ellipse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010912" y="38130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explainability layer across all deployed models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846320" y="4361688"/>
            <a:ext cx="109728" cy="109728"/>
          </a:xfrm>
          <a:prstGeom prst="ellipse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10912" y="42702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MLOps: CI/CD, model registry, drift monitoring &amp; governance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Quarterly Roadmap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 Foundation + FY27  ·  Jan 2026 – Jun 2027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Analytics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78992" y="548640"/>
            <a:ext cx="1280160" cy="301752"/>
          </a:xfrm>
          <a:prstGeom prst="rect">
            <a:avLst/>
          </a:prstGeom>
          <a:solidFill>
            <a:srgbClr val="575A5D"/>
          </a:solidFill>
          <a:ln w="12700">
            <a:solidFill>
              <a:srgbClr val="575A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15568" y="548640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719072" y="548640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'26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432304" y="548640"/>
            <a:ext cx="1600200" cy="30175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32304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 FY27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264408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Jul–Sep '26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4105656" y="548640"/>
            <a:ext cx="1600200" cy="30175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05656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 FY27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937760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Oct–Dec '26</a:t>
            </a:r>
            <a:endParaRPr lang="en-US" sz="650" dirty="0"/>
          </a:p>
        </p:txBody>
      </p:sp>
      <p:sp>
        <p:nvSpPr>
          <p:cNvPr id="16" name="Shape 14"/>
          <p:cNvSpPr/>
          <p:nvPr/>
        </p:nvSpPr>
        <p:spPr>
          <a:xfrm>
            <a:off x="5779008" y="548640"/>
            <a:ext cx="1600200" cy="30175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79008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 FY27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611112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Jan–Mar '27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7452360" y="548640"/>
            <a:ext cx="1600200" cy="30175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2360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 FY27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284464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Apr–Jun '27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91440" y="905256"/>
            <a:ext cx="914400" cy="94869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" y="905256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Acquisition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1143000" y="987552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43000" y="987552"/>
            <a:ext cx="50292" cy="784098"/>
          </a:xfrm>
          <a:prstGeom prst="rect">
            <a:avLst/>
          </a:prstGeom>
          <a:solidFill>
            <a:srgbClr val="06185F">
              <a:alpha val="70000"/>
            </a:srgbClr>
          </a:solidFill>
          <a:ln w="12700">
            <a:solidFill>
              <a:srgbClr val="06185F">
                <a:alpha val="7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43000" y="987552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34440" y="1051560"/>
            <a:ext cx="475488" cy="14630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234440" y="1051560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1234440" y="1243584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Data Pipeline Architecture &amp; Core Banking Connectivity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496312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496312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78608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 Data Pipeline — FI Connectivity Layer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169664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169664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51960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Framework &amp; Lineage Tracking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843016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843016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25312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Kafka Streaming Infrastructure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516368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7516368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598664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 Catalog &amp; Governance Framework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91440" y="1917954"/>
            <a:ext cx="8961120" cy="948690"/>
          </a:xfrm>
          <a:prstGeom prst="rect">
            <a:avLst/>
          </a:prstGeom>
          <a:solidFill>
            <a:srgbClr val="E7ECF0">
              <a:alpha val="40000"/>
            </a:srgbClr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1440" y="1917954"/>
            <a:ext cx="914400" cy="94869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" y="1917954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Dashboards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1143000" y="2000250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143000" y="2000250"/>
            <a:ext cx="50292" cy="784098"/>
          </a:xfrm>
          <a:prstGeom prst="rect">
            <a:avLst/>
          </a:prstGeom>
          <a:solidFill>
            <a:srgbClr val="085CE5">
              <a:alpha val="70000"/>
            </a:srgbClr>
          </a:solidFill>
          <a:ln w="12700">
            <a:solidFill>
              <a:srgbClr val="085CE5">
                <a:alpha val="70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143000" y="2000250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234440" y="2064258"/>
            <a:ext cx="475488" cy="14630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234440" y="2064258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1234440" y="2256282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Design Baseline &amp; KPI Framework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2496312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2496312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578608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 — Platform MVP Launch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169664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4169664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251960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Explorer — Banker-Facing Interface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5843016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5843016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925312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Drift Monitoring &amp; Alert Engine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7516368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7516368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598664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Analytics Surface — Business Users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91440" y="2930652"/>
            <a:ext cx="914400" cy="948690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1440" y="2930652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/ Self Service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1143000" y="3012948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143000" y="3012948"/>
            <a:ext cx="50292" cy="784098"/>
          </a:xfrm>
          <a:prstGeom prst="rect">
            <a:avLst/>
          </a:prstGeom>
          <a:solidFill>
            <a:srgbClr val="0A5CA8">
              <a:alpha val="70000"/>
            </a:srgbClr>
          </a:solidFill>
          <a:ln w="12700">
            <a:solidFill>
              <a:srgbClr val="0A5CA8">
                <a:alpha val="7000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143000" y="3012948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34440" y="3076956"/>
            <a:ext cx="475488" cy="14630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234440" y="3076956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70" name="Text 68"/>
          <p:cNvSpPr/>
          <p:nvPr/>
        </p:nvSpPr>
        <p:spPr>
          <a:xfrm>
            <a:off x="1234440" y="3268980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 Architecture &amp; FI Data Access Agreements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2496312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2496312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578608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Mediation MVP — JH CRM Integration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4169664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5" name="Shape 73"/>
          <p:cNvSpPr/>
          <p:nvPr/>
        </p:nvSpPr>
        <p:spPr>
          <a:xfrm>
            <a:off x="4169664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251960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Memo Intelligence — NLP Pipeline Live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843016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5843016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925312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Report AI — Full CU Client Rollout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7516368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81" name="Shape 79"/>
          <p:cNvSpPr/>
          <p:nvPr/>
        </p:nvSpPr>
        <p:spPr>
          <a:xfrm>
            <a:off x="7516368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598664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Opening LTV — JH Platform Launch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91440" y="3943350"/>
            <a:ext cx="8961120" cy="948690"/>
          </a:xfrm>
          <a:prstGeom prst="rect">
            <a:avLst/>
          </a:prstGeom>
          <a:solidFill>
            <a:srgbClr val="E7ECF0">
              <a:alpha val="40000"/>
            </a:srgbClr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1440" y="3943350"/>
            <a:ext cx="914400" cy="94869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91440" y="3943350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Apps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1143000" y="4025646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43000" y="4025646"/>
            <a:ext cx="50292" cy="784098"/>
          </a:xfrm>
          <a:prstGeom prst="rect">
            <a:avLst/>
          </a:prstGeom>
          <a:solidFill>
            <a:srgbClr val="0A5C47">
              <a:alpha val="70000"/>
            </a:srgbClr>
          </a:solidFill>
          <a:ln w="12700">
            <a:solidFill>
              <a:srgbClr val="0A5C47">
                <a:alpha val="7000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143000" y="4025646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234440" y="4089654"/>
            <a:ext cx="475488" cy="146304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234440" y="4089654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91" name="Text 89"/>
          <p:cNvSpPr/>
          <p:nvPr/>
        </p:nvSpPr>
        <p:spPr>
          <a:xfrm>
            <a:off x="1234440" y="4281678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Platform: Feature Store, Experiment Tracking &amp; Model Registry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2496312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3" name="Shape 91"/>
          <p:cNvSpPr/>
          <p:nvPr/>
        </p:nvSpPr>
        <p:spPr>
          <a:xfrm>
            <a:off x="2496312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2578608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 Serving Infrastructure &amp; Feature Store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4169664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6" name="Shape 94"/>
          <p:cNvSpPr/>
          <p:nvPr/>
        </p:nvSpPr>
        <p:spPr>
          <a:xfrm>
            <a:off x="4169664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251960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Streaming Production Launch</a:t>
            </a:r>
            <a:endParaRPr lang="en-US" sz="850" dirty="0"/>
          </a:p>
        </p:txBody>
      </p:sp>
      <p:sp>
        <p:nvSpPr>
          <p:cNvPr id="98" name="Shape 96"/>
          <p:cNvSpPr/>
          <p:nvPr/>
        </p:nvSpPr>
        <p:spPr>
          <a:xfrm>
            <a:off x="5843016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9" name="Shape 97"/>
          <p:cNvSpPr/>
          <p:nvPr/>
        </p:nvSpPr>
        <p:spPr>
          <a:xfrm>
            <a:off x="5843016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925312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Pipeline — Full CI/CD &amp; Governance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7516368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02" name="Shape 100"/>
          <p:cNvSpPr/>
          <p:nvPr/>
        </p:nvSpPr>
        <p:spPr>
          <a:xfrm>
            <a:off x="7516368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7598664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Cross-Sell Propensity Engine (Horizon Phase 1)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Gantt Chart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18-Month View  ·  Jan 2026 – Jun 2027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Analytics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176272" y="905256"/>
            <a:ext cx="2292096" cy="3986784"/>
          </a:xfrm>
          <a:prstGeom prst="rect">
            <a:avLst/>
          </a:prstGeom>
          <a:solidFill>
            <a:srgbClr val="D8DBE0">
              <a:alpha val="45000"/>
            </a:srgbClr>
          </a:solidFill>
          <a:ln w="12700">
            <a:solidFill>
              <a:srgbClr val="D8DB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76272" y="566928"/>
            <a:ext cx="2292096" cy="169164"/>
          </a:xfrm>
          <a:prstGeom prst="rect">
            <a:avLst/>
          </a:prstGeom>
          <a:solidFill>
            <a:srgbClr val="575A5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566928"/>
            <a:ext cx="225552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  ·  Foundation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4468368" y="566928"/>
            <a:ext cx="1146048" cy="169164"/>
          </a:xfrm>
          <a:prstGeom prst="rect">
            <a:avLst/>
          </a:prstGeom>
          <a:solidFill>
            <a:srgbClr val="0618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6656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 FY27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5614416" y="566928"/>
            <a:ext cx="1146048" cy="169164"/>
          </a:xfrm>
          <a:prstGeom prst="rect">
            <a:avLst/>
          </a:prstGeom>
          <a:solidFill>
            <a:srgbClr val="085C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32704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 FY27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6760464" y="566928"/>
            <a:ext cx="1146048" cy="169164"/>
          </a:xfrm>
          <a:prstGeom prst="rect">
            <a:avLst/>
          </a:prstGeom>
          <a:solidFill>
            <a:srgbClr val="0A5CA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78752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 FY27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7906512" y="566928"/>
            <a:ext cx="1146048" cy="169164"/>
          </a:xfrm>
          <a:prstGeom prst="rect">
            <a:avLst/>
          </a:prstGeom>
          <a:solidFill>
            <a:srgbClr val="0A5C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24800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 FY27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2176272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7627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550" dirty="0"/>
          </a:p>
        </p:txBody>
      </p:sp>
      <p:sp>
        <p:nvSpPr>
          <p:cNvPr id="20" name="Shape 18"/>
          <p:cNvSpPr/>
          <p:nvPr/>
        </p:nvSpPr>
        <p:spPr>
          <a:xfrm>
            <a:off x="2558288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5828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550" dirty="0"/>
          </a:p>
        </p:txBody>
      </p:sp>
      <p:sp>
        <p:nvSpPr>
          <p:cNvPr id="22" name="Shape 20"/>
          <p:cNvSpPr/>
          <p:nvPr/>
        </p:nvSpPr>
        <p:spPr>
          <a:xfrm>
            <a:off x="2940304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4030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550" dirty="0"/>
          </a:p>
        </p:txBody>
      </p:sp>
      <p:sp>
        <p:nvSpPr>
          <p:cNvPr id="24" name="Shape 22"/>
          <p:cNvSpPr/>
          <p:nvPr/>
        </p:nvSpPr>
        <p:spPr>
          <a:xfrm>
            <a:off x="3322320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22320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550" dirty="0"/>
          </a:p>
        </p:txBody>
      </p:sp>
      <p:sp>
        <p:nvSpPr>
          <p:cNvPr id="26" name="Shape 24"/>
          <p:cNvSpPr/>
          <p:nvPr/>
        </p:nvSpPr>
        <p:spPr>
          <a:xfrm>
            <a:off x="3704336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04336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550" dirty="0"/>
          </a:p>
        </p:txBody>
      </p:sp>
      <p:sp>
        <p:nvSpPr>
          <p:cNvPr id="28" name="Shape 26"/>
          <p:cNvSpPr/>
          <p:nvPr/>
        </p:nvSpPr>
        <p:spPr>
          <a:xfrm>
            <a:off x="4086352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8635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550" dirty="0"/>
          </a:p>
        </p:txBody>
      </p:sp>
      <p:sp>
        <p:nvSpPr>
          <p:cNvPr id="30" name="Shape 28"/>
          <p:cNvSpPr/>
          <p:nvPr/>
        </p:nvSpPr>
        <p:spPr>
          <a:xfrm>
            <a:off x="4468368" y="736092"/>
            <a:ext cx="382016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6836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550" dirty="0"/>
          </a:p>
        </p:txBody>
      </p:sp>
      <p:sp>
        <p:nvSpPr>
          <p:cNvPr id="32" name="Shape 30"/>
          <p:cNvSpPr/>
          <p:nvPr/>
        </p:nvSpPr>
        <p:spPr>
          <a:xfrm>
            <a:off x="4850384" y="736092"/>
            <a:ext cx="382016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5038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5232400" y="736092"/>
            <a:ext cx="382016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2400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</a:t>
            </a:r>
            <a:endParaRPr lang="en-US" sz="550" dirty="0"/>
          </a:p>
        </p:txBody>
      </p:sp>
      <p:sp>
        <p:nvSpPr>
          <p:cNvPr id="36" name="Shape 34"/>
          <p:cNvSpPr/>
          <p:nvPr/>
        </p:nvSpPr>
        <p:spPr>
          <a:xfrm>
            <a:off x="5614416" y="736092"/>
            <a:ext cx="382016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14416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</a:t>
            </a:r>
            <a:endParaRPr lang="en-US" sz="550" dirty="0"/>
          </a:p>
        </p:txBody>
      </p:sp>
      <p:sp>
        <p:nvSpPr>
          <p:cNvPr id="38" name="Shape 36"/>
          <p:cNvSpPr/>
          <p:nvPr/>
        </p:nvSpPr>
        <p:spPr>
          <a:xfrm>
            <a:off x="5996432" y="736092"/>
            <a:ext cx="382016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9643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550" dirty="0"/>
          </a:p>
        </p:txBody>
      </p:sp>
      <p:sp>
        <p:nvSpPr>
          <p:cNvPr id="40" name="Shape 38"/>
          <p:cNvSpPr/>
          <p:nvPr/>
        </p:nvSpPr>
        <p:spPr>
          <a:xfrm>
            <a:off x="6378448" y="736092"/>
            <a:ext cx="382016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7844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</a:t>
            </a:r>
            <a:endParaRPr lang="en-US" sz="550" dirty="0"/>
          </a:p>
        </p:txBody>
      </p:sp>
      <p:sp>
        <p:nvSpPr>
          <p:cNvPr id="42" name="Shape 40"/>
          <p:cNvSpPr/>
          <p:nvPr/>
        </p:nvSpPr>
        <p:spPr>
          <a:xfrm>
            <a:off x="6760464" y="736092"/>
            <a:ext cx="382016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6046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550" dirty="0"/>
          </a:p>
        </p:txBody>
      </p:sp>
      <p:sp>
        <p:nvSpPr>
          <p:cNvPr id="44" name="Shape 42"/>
          <p:cNvSpPr/>
          <p:nvPr/>
        </p:nvSpPr>
        <p:spPr>
          <a:xfrm>
            <a:off x="7142480" y="736092"/>
            <a:ext cx="382016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42480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550" dirty="0"/>
          </a:p>
        </p:txBody>
      </p:sp>
      <p:sp>
        <p:nvSpPr>
          <p:cNvPr id="46" name="Shape 44"/>
          <p:cNvSpPr/>
          <p:nvPr/>
        </p:nvSpPr>
        <p:spPr>
          <a:xfrm>
            <a:off x="7524496" y="736092"/>
            <a:ext cx="382016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24496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550" dirty="0"/>
          </a:p>
        </p:txBody>
      </p:sp>
      <p:sp>
        <p:nvSpPr>
          <p:cNvPr id="48" name="Shape 46"/>
          <p:cNvSpPr/>
          <p:nvPr/>
        </p:nvSpPr>
        <p:spPr>
          <a:xfrm>
            <a:off x="7906512" y="736092"/>
            <a:ext cx="382016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90651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550" dirty="0"/>
          </a:p>
        </p:txBody>
      </p:sp>
      <p:sp>
        <p:nvSpPr>
          <p:cNvPr id="50" name="Shape 48"/>
          <p:cNvSpPr/>
          <p:nvPr/>
        </p:nvSpPr>
        <p:spPr>
          <a:xfrm>
            <a:off x="8288528" y="736092"/>
            <a:ext cx="382016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28852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550" dirty="0"/>
          </a:p>
        </p:txBody>
      </p:sp>
      <p:sp>
        <p:nvSpPr>
          <p:cNvPr id="52" name="Shape 50"/>
          <p:cNvSpPr/>
          <p:nvPr/>
        </p:nvSpPr>
        <p:spPr>
          <a:xfrm>
            <a:off x="8670544" y="736092"/>
            <a:ext cx="382016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67054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550" dirty="0"/>
          </a:p>
        </p:txBody>
      </p:sp>
      <p:sp>
        <p:nvSpPr>
          <p:cNvPr id="54" name="Shape 52"/>
          <p:cNvSpPr/>
          <p:nvPr/>
        </p:nvSpPr>
        <p:spPr>
          <a:xfrm>
            <a:off x="2176272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558288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940304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322320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704336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086352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468368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850384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232400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614416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996432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378448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760464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142480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524496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906512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288528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670544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052560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37160" y="950976"/>
            <a:ext cx="8915400" cy="155448"/>
          </a:xfrm>
          <a:prstGeom prst="rect">
            <a:avLst/>
          </a:prstGeom>
          <a:solidFill>
            <a:srgbClr val="06185F">
              <a:alpha val="90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228600" y="950976"/>
            <a:ext cx="868680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ACQUISITION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137160" y="1106424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92024" y="1115568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Data Pipeline Architecture &amp; Core Banking Integration</a:t>
            </a:r>
            <a:endParaRPr lang="en-US" sz="650" dirty="0"/>
          </a:p>
        </p:txBody>
      </p:sp>
      <p:sp>
        <p:nvSpPr>
          <p:cNvPr id="77" name="Shape 75"/>
          <p:cNvSpPr/>
          <p:nvPr/>
        </p:nvSpPr>
        <p:spPr>
          <a:xfrm>
            <a:off x="2194560" y="1143000"/>
            <a:ext cx="2255520" cy="155448"/>
          </a:xfrm>
          <a:prstGeom prst="rect">
            <a:avLst/>
          </a:prstGeom>
          <a:solidFill>
            <a:srgbClr val="06185F">
              <a:alpha val="60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231136" y="1143000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79" name="Shape 77"/>
          <p:cNvSpPr/>
          <p:nvPr/>
        </p:nvSpPr>
        <p:spPr>
          <a:xfrm>
            <a:off x="137160" y="1353312"/>
            <a:ext cx="891540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92024" y="1362456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 Pipeline Integration</a:t>
            </a:r>
            <a:endParaRPr lang="en-US" sz="650" dirty="0"/>
          </a:p>
        </p:txBody>
      </p:sp>
      <p:sp>
        <p:nvSpPr>
          <p:cNvPr id="81" name="Shape 79"/>
          <p:cNvSpPr/>
          <p:nvPr/>
        </p:nvSpPr>
        <p:spPr>
          <a:xfrm>
            <a:off x="4486656" y="1389888"/>
            <a:ext cx="1109472" cy="155448"/>
          </a:xfrm>
          <a:prstGeom prst="rect">
            <a:avLst/>
          </a:prstGeom>
          <a:solidFill>
            <a:srgbClr val="06185F">
              <a:alpha val="88000"/>
            </a:srgbClr>
          </a:solidFill>
          <a:ln w="15240">
            <a:solidFill>
              <a:srgbClr val="06185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523232" y="1389888"/>
            <a:ext cx="1054608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 Pipeline …</a:t>
            </a:r>
            <a:endParaRPr lang="en-US" sz="600" dirty="0"/>
          </a:p>
        </p:txBody>
      </p:sp>
      <p:sp>
        <p:nvSpPr>
          <p:cNvPr id="83" name="Shape 81"/>
          <p:cNvSpPr/>
          <p:nvPr/>
        </p:nvSpPr>
        <p:spPr>
          <a:xfrm>
            <a:off x="137160" y="1600200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192024" y="1609344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Framework &amp; Enterprise Catalog</a:t>
            </a:r>
            <a:endParaRPr lang="en-US" sz="650" dirty="0"/>
          </a:p>
        </p:txBody>
      </p:sp>
      <p:sp>
        <p:nvSpPr>
          <p:cNvPr id="85" name="Shape 83"/>
          <p:cNvSpPr/>
          <p:nvPr/>
        </p:nvSpPr>
        <p:spPr>
          <a:xfrm>
            <a:off x="5632704" y="1636776"/>
            <a:ext cx="3401568" cy="155448"/>
          </a:xfrm>
          <a:prstGeom prst="rect">
            <a:avLst/>
          </a:prstGeom>
          <a:solidFill>
            <a:srgbClr val="06185F">
              <a:alpha val="88000"/>
            </a:srgbClr>
          </a:solidFill>
          <a:ln w="15240">
            <a:solidFill>
              <a:srgbClr val="06185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669280" y="1636776"/>
            <a:ext cx="3346704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Framework…</a:t>
            </a:r>
            <a:endParaRPr lang="en-US" sz="600" dirty="0"/>
          </a:p>
        </p:txBody>
      </p:sp>
      <p:sp>
        <p:nvSpPr>
          <p:cNvPr id="87" name="Shape 85"/>
          <p:cNvSpPr/>
          <p:nvPr/>
        </p:nvSpPr>
        <p:spPr>
          <a:xfrm>
            <a:off x="137160" y="1883664"/>
            <a:ext cx="8915400" cy="155448"/>
          </a:xfrm>
          <a:prstGeom prst="rect">
            <a:avLst/>
          </a:prstGeom>
          <a:solidFill>
            <a:srgbClr val="085CE5">
              <a:alpha val="90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228600" y="1883664"/>
            <a:ext cx="868680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DASHBOARDS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137160" y="2039112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92024" y="2048256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Requirements &amp; Design Baseline</a:t>
            </a:r>
            <a:endParaRPr lang="en-US" sz="650" dirty="0"/>
          </a:p>
        </p:txBody>
      </p:sp>
      <p:sp>
        <p:nvSpPr>
          <p:cNvPr id="91" name="Shape 89"/>
          <p:cNvSpPr/>
          <p:nvPr/>
        </p:nvSpPr>
        <p:spPr>
          <a:xfrm>
            <a:off x="2194560" y="2075688"/>
            <a:ext cx="2255520" cy="155448"/>
          </a:xfrm>
          <a:prstGeom prst="rect">
            <a:avLst/>
          </a:prstGeom>
          <a:solidFill>
            <a:srgbClr val="085CE5">
              <a:alpha val="60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2231136" y="2075688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93" name="Shape 91"/>
          <p:cNvSpPr/>
          <p:nvPr/>
        </p:nvSpPr>
        <p:spPr>
          <a:xfrm>
            <a:off x="137160" y="2286000"/>
            <a:ext cx="891540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192024" y="2295144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 — Platform Launch</a:t>
            </a:r>
            <a:endParaRPr lang="en-US" sz="650" dirty="0"/>
          </a:p>
        </p:txBody>
      </p:sp>
      <p:sp>
        <p:nvSpPr>
          <p:cNvPr id="95" name="Shape 93"/>
          <p:cNvSpPr/>
          <p:nvPr/>
        </p:nvSpPr>
        <p:spPr>
          <a:xfrm>
            <a:off x="4486656" y="2322576"/>
            <a:ext cx="1491488" cy="155448"/>
          </a:xfrm>
          <a:prstGeom prst="rect">
            <a:avLst/>
          </a:prstGeom>
          <a:solidFill>
            <a:srgbClr val="085CE5">
              <a:alpha val="88000"/>
            </a:srgbClr>
          </a:solidFill>
          <a:ln w="15240">
            <a:solidFill>
              <a:srgbClr val="085CE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523232" y="2322576"/>
            <a:ext cx="1436624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Dashboar…</a:t>
            </a:r>
            <a:endParaRPr lang="en-US" sz="600" dirty="0"/>
          </a:p>
        </p:txBody>
      </p:sp>
      <p:sp>
        <p:nvSpPr>
          <p:cNvPr id="97" name="Shape 95"/>
          <p:cNvSpPr/>
          <p:nvPr/>
        </p:nvSpPr>
        <p:spPr>
          <a:xfrm>
            <a:off x="137160" y="2532888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92024" y="2542032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Explorer + Drift Monitoring</a:t>
            </a:r>
            <a:endParaRPr lang="en-US" sz="650" dirty="0"/>
          </a:p>
        </p:txBody>
      </p:sp>
      <p:sp>
        <p:nvSpPr>
          <p:cNvPr id="99" name="Shape 97"/>
          <p:cNvSpPr/>
          <p:nvPr/>
        </p:nvSpPr>
        <p:spPr>
          <a:xfrm>
            <a:off x="5632704" y="2569464"/>
            <a:ext cx="3401568" cy="155448"/>
          </a:xfrm>
          <a:prstGeom prst="rect">
            <a:avLst/>
          </a:prstGeom>
          <a:solidFill>
            <a:srgbClr val="085CE5">
              <a:alpha val="88000"/>
            </a:srgbClr>
          </a:solidFill>
          <a:ln w="15240">
            <a:solidFill>
              <a:srgbClr val="085CE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669280" y="2569464"/>
            <a:ext cx="3346704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Explorer + …</a:t>
            </a:r>
            <a:endParaRPr lang="en-US" sz="600" dirty="0"/>
          </a:p>
        </p:txBody>
      </p:sp>
      <p:sp>
        <p:nvSpPr>
          <p:cNvPr id="101" name="Shape 99"/>
          <p:cNvSpPr/>
          <p:nvPr/>
        </p:nvSpPr>
        <p:spPr>
          <a:xfrm>
            <a:off x="137160" y="2816352"/>
            <a:ext cx="8915400" cy="155448"/>
          </a:xfrm>
          <a:prstGeom prst="rect">
            <a:avLst/>
          </a:prstGeom>
          <a:solidFill>
            <a:srgbClr val="0A5CA8">
              <a:alpha val="90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28600" y="2816352"/>
            <a:ext cx="868680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/ SELF SERVICE</a:t>
            </a:r>
            <a:endParaRPr lang="en-US" sz="700" dirty="0"/>
          </a:p>
        </p:txBody>
      </p:sp>
      <p:sp>
        <p:nvSpPr>
          <p:cNvPr id="103" name="Shape 101"/>
          <p:cNvSpPr/>
          <p:nvPr/>
        </p:nvSpPr>
        <p:spPr>
          <a:xfrm>
            <a:off x="137160" y="2971800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192024" y="2980944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 Architecture &amp; FI Data Access Agreements</a:t>
            </a:r>
            <a:endParaRPr lang="en-US" sz="650" dirty="0"/>
          </a:p>
        </p:txBody>
      </p:sp>
      <p:sp>
        <p:nvSpPr>
          <p:cNvPr id="105" name="Shape 103"/>
          <p:cNvSpPr/>
          <p:nvPr/>
        </p:nvSpPr>
        <p:spPr>
          <a:xfrm>
            <a:off x="2194560" y="3008376"/>
            <a:ext cx="2255520" cy="155448"/>
          </a:xfrm>
          <a:prstGeom prst="rect">
            <a:avLst/>
          </a:prstGeom>
          <a:solidFill>
            <a:srgbClr val="0A5CA8">
              <a:alpha val="60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231136" y="3008376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107" name="Shape 105"/>
          <p:cNvSpPr/>
          <p:nvPr/>
        </p:nvSpPr>
        <p:spPr>
          <a:xfrm>
            <a:off x="137160" y="3218688"/>
            <a:ext cx="891540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192024" y="3227832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Mediation + Zelle Memo Intelligence</a:t>
            </a:r>
            <a:endParaRPr lang="en-US" sz="650" dirty="0"/>
          </a:p>
        </p:txBody>
      </p:sp>
      <p:sp>
        <p:nvSpPr>
          <p:cNvPr id="109" name="Shape 107"/>
          <p:cNvSpPr/>
          <p:nvPr/>
        </p:nvSpPr>
        <p:spPr>
          <a:xfrm>
            <a:off x="4486656" y="3255264"/>
            <a:ext cx="2255520" cy="155448"/>
          </a:xfrm>
          <a:prstGeom prst="rect">
            <a:avLst/>
          </a:prstGeom>
          <a:solidFill>
            <a:srgbClr val="0A5CA8">
              <a:alpha val="88000"/>
            </a:srgbClr>
          </a:solidFill>
          <a:ln w="15240">
            <a:solidFill>
              <a:srgbClr val="0A5CA8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4523232" y="3255264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Mediation + Zell…</a:t>
            </a:r>
            <a:endParaRPr lang="en-US" sz="600" dirty="0"/>
          </a:p>
        </p:txBody>
      </p:sp>
      <p:sp>
        <p:nvSpPr>
          <p:cNvPr id="111" name="Shape 109"/>
          <p:cNvSpPr/>
          <p:nvPr/>
        </p:nvSpPr>
        <p:spPr>
          <a:xfrm>
            <a:off x="137160" y="3465576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192024" y="3474720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Report AI Scale + Account Opening LTV</a:t>
            </a:r>
            <a:endParaRPr lang="en-US" sz="650" dirty="0"/>
          </a:p>
        </p:txBody>
      </p:sp>
      <p:sp>
        <p:nvSpPr>
          <p:cNvPr id="113" name="Shape 111"/>
          <p:cNvSpPr/>
          <p:nvPr/>
        </p:nvSpPr>
        <p:spPr>
          <a:xfrm>
            <a:off x="6778752" y="3502152"/>
            <a:ext cx="2255520" cy="155448"/>
          </a:xfrm>
          <a:prstGeom prst="rect">
            <a:avLst/>
          </a:prstGeom>
          <a:solidFill>
            <a:srgbClr val="0A5CA8">
              <a:alpha val="88000"/>
            </a:srgbClr>
          </a:solidFill>
          <a:ln w="15240">
            <a:solidFill>
              <a:srgbClr val="0A5CA8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815328" y="3502152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Report AI Scale +…</a:t>
            </a:r>
            <a:endParaRPr lang="en-US" sz="600" dirty="0"/>
          </a:p>
        </p:txBody>
      </p:sp>
      <p:sp>
        <p:nvSpPr>
          <p:cNvPr id="115" name="Shape 113"/>
          <p:cNvSpPr/>
          <p:nvPr/>
        </p:nvSpPr>
        <p:spPr>
          <a:xfrm>
            <a:off x="137160" y="3749040"/>
            <a:ext cx="8915400" cy="155448"/>
          </a:xfrm>
          <a:prstGeom prst="rect">
            <a:avLst/>
          </a:prstGeom>
          <a:solidFill>
            <a:srgbClr val="0A5C47">
              <a:alpha val="90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228600" y="3749040"/>
            <a:ext cx="868680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APPS</a:t>
            </a:r>
            <a:endParaRPr lang="en-US" sz="700" dirty="0"/>
          </a:p>
        </p:txBody>
      </p:sp>
      <p:sp>
        <p:nvSpPr>
          <p:cNvPr id="117" name="Shape 115"/>
          <p:cNvSpPr/>
          <p:nvPr/>
        </p:nvSpPr>
        <p:spPr>
          <a:xfrm>
            <a:off x="137160" y="3904488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192024" y="3913632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Platform: Feature Store, Experiment Tracking &amp; Registry</a:t>
            </a:r>
            <a:endParaRPr lang="en-US" sz="650" dirty="0"/>
          </a:p>
        </p:txBody>
      </p:sp>
      <p:sp>
        <p:nvSpPr>
          <p:cNvPr id="119" name="Shape 117"/>
          <p:cNvSpPr/>
          <p:nvPr/>
        </p:nvSpPr>
        <p:spPr>
          <a:xfrm>
            <a:off x="2194560" y="3941064"/>
            <a:ext cx="2255520" cy="155448"/>
          </a:xfrm>
          <a:prstGeom prst="rect">
            <a:avLst/>
          </a:prstGeom>
          <a:solidFill>
            <a:srgbClr val="0A5C47">
              <a:alpha val="60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2231136" y="3941064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121" name="Shape 119"/>
          <p:cNvSpPr/>
          <p:nvPr/>
        </p:nvSpPr>
        <p:spPr>
          <a:xfrm>
            <a:off x="137160" y="4151376"/>
            <a:ext cx="891540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192024" y="4160520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Streaming Production</a:t>
            </a:r>
            <a:endParaRPr lang="en-US" sz="650" dirty="0"/>
          </a:p>
        </p:txBody>
      </p:sp>
      <p:sp>
        <p:nvSpPr>
          <p:cNvPr id="123" name="Shape 121"/>
          <p:cNvSpPr/>
          <p:nvPr/>
        </p:nvSpPr>
        <p:spPr>
          <a:xfrm>
            <a:off x="4486656" y="4187952"/>
            <a:ext cx="2255520" cy="155448"/>
          </a:xfrm>
          <a:prstGeom prst="rect">
            <a:avLst/>
          </a:prstGeom>
          <a:solidFill>
            <a:srgbClr val="0A5C47">
              <a:alpha val="88000"/>
            </a:srgbClr>
          </a:solidFill>
          <a:ln w="15240">
            <a:solidFill>
              <a:srgbClr val="0A5C47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523232" y="4187952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St…</a:t>
            </a:r>
            <a:endParaRPr lang="en-US" sz="600" dirty="0"/>
          </a:p>
        </p:txBody>
      </p:sp>
      <p:sp>
        <p:nvSpPr>
          <p:cNvPr id="125" name="Shape 123"/>
          <p:cNvSpPr/>
          <p:nvPr/>
        </p:nvSpPr>
        <p:spPr>
          <a:xfrm>
            <a:off x="137160" y="4398264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92024" y="4407408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Pipeline + Horizon App Scoping</a:t>
            </a:r>
            <a:endParaRPr lang="en-US" sz="650" dirty="0"/>
          </a:p>
        </p:txBody>
      </p:sp>
      <p:sp>
        <p:nvSpPr>
          <p:cNvPr id="127" name="Shape 125"/>
          <p:cNvSpPr/>
          <p:nvPr/>
        </p:nvSpPr>
        <p:spPr>
          <a:xfrm>
            <a:off x="6778752" y="4434840"/>
            <a:ext cx="2255520" cy="155448"/>
          </a:xfrm>
          <a:prstGeom prst="rect">
            <a:avLst/>
          </a:prstGeom>
          <a:solidFill>
            <a:srgbClr val="0A5C47">
              <a:alpha val="88000"/>
            </a:srgbClr>
          </a:solidFill>
          <a:ln w="15240">
            <a:solidFill>
              <a:srgbClr val="0A5C47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6815328" y="4434840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Pipeline + Horiz…</a:t>
            </a:r>
            <a:endParaRPr lang="en-US" sz="600" dirty="0"/>
          </a:p>
        </p:txBody>
      </p:sp>
      <p:sp>
        <p:nvSpPr>
          <p:cNvPr id="129" name="Shape 127"/>
          <p:cNvSpPr/>
          <p:nvPr/>
        </p:nvSpPr>
        <p:spPr>
          <a:xfrm>
            <a:off x="3297674" y="566928"/>
            <a:ext cx="0" cy="4325112"/>
          </a:xfrm>
          <a:prstGeom prst="line">
            <a:avLst/>
          </a:prstGeom>
          <a:noFill/>
          <a:ln w="19050">
            <a:solidFill>
              <a:srgbClr val="D03030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3078218" y="571500"/>
            <a:ext cx="43891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D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Phase 1 Business Case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Value  ·  ARR Scaling  ·  8,000+ FI Clients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Analytics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65760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585216"/>
            <a:ext cx="1609344" cy="40233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0624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20624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$1–3M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20624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93776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15–25% churn reduction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38912" y="2359152"/>
            <a:ext cx="1463040" cy="201168"/>
          </a:xfrm>
          <a:prstGeom prst="rect">
            <a:avLst/>
          </a:prstGeom>
          <a:solidFill>
            <a:srgbClr val="0A5CA8">
              <a:alpha val="86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2066544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066544" y="585216"/>
            <a:ext cx="1609344" cy="40233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21408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Memo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121408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$250–600K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2121408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194560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39696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manual review reduction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139696" y="2359152"/>
            <a:ext cx="1463040" cy="201168"/>
          </a:xfrm>
          <a:prstGeom prst="rect">
            <a:avLst/>
          </a:prstGeom>
          <a:solidFill>
            <a:srgbClr val="085CE5">
              <a:alpha val="86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139696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767328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767328" y="585216"/>
            <a:ext cx="1609344" cy="402336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22192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822192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$1–2M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3822192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895344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40480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false-positive reduction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840480" y="2359152"/>
            <a:ext cx="1463040" cy="201168"/>
          </a:xfrm>
          <a:prstGeom prst="rect">
            <a:avLst/>
          </a:prstGeom>
          <a:solidFill>
            <a:srgbClr val="0A5C47">
              <a:alpha val="86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40480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5468112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468112" y="585216"/>
            <a:ext cx="1609344" cy="402336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22976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AI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522976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$100–300K</a:t>
            </a:r>
            <a:endParaRPr lang="en-US" sz="1900" dirty="0"/>
          </a:p>
        </p:txBody>
      </p:sp>
      <p:sp>
        <p:nvSpPr>
          <p:cNvPr id="38" name="Text 36"/>
          <p:cNvSpPr/>
          <p:nvPr/>
        </p:nvSpPr>
        <p:spPr>
          <a:xfrm>
            <a:off x="5522976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5596128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41264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prep &amp; peer benchmarking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541264" y="2359152"/>
            <a:ext cx="1463040" cy="201168"/>
          </a:xfrm>
          <a:prstGeom prst="rect">
            <a:avLst/>
          </a:prstGeom>
          <a:solidFill>
            <a:srgbClr val="06185F">
              <a:alpha val="86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41264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7168896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168896" y="585216"/>
            <a:ext cx="1609344" cy="40233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23760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LTV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223760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$500K–1.5M</a:t>
            </a:r>
            <a:endParaRPr lang="en-US" sz="1900" dirty="0"/>
          </a:p>
        </p:txBody>
      </p:sp>
      <p:sp>
        <p:nvSpPr>
          <p:cNvPr id="47" name="Text 45"/>
          <p:cNvSpPr/>
          <p:nvPr/>
        </p:nvSpPr>
        <p:spPr>
          <a:xfrm>
            <a:off x="7223760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7296912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242048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3–5× cross-sell lift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7242048" y="2359152"/>
            <a:ext cx="1463040" cy="201168"/>
          </a:xfrm>
          <a:prstGeom prst="rect">
            <a:avLst/>
          </a:prstGeom>
          <a:solidFill>
            <a:srgbClr val="0A5CA8">
              <a:alpha val="86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42048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FY27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365760" y="2743200"/>
            <a:ext cx="8412480" cy="42062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2743200"/>
            <a:ext cx="8412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$3–7.5M / year combined value per FI client · conservative estimate for a mid-size $1B deposits community bank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57200" y="3255264"/>
            <a:ext cx="2560320" cy="676656"/>
          </a:xfrm>
          <a:prstGeom prst="rect">
            <a:avLst/>
          </a:prstGeom>
          <a:solidFill>
            <a:srgbClr val="085CE5">
              <a:alpha val="92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3300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$19.5M ARR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457200" y="36393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FIs  ·  6% of JH client base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3291840" y="3255264"/>
            <a:ext cx="2560320" cy="676656"/>
          </a:xfrm>
          <a:prstGeom prst="rect">
            <a:avLst/>
          </a:prstGeom>
          <a:solidFill>
            <a:srgbClr val="0A5CA8">
              <a:alpha val="92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1840" y="3300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$78M ARR</a:t>
            </a:r>
            <a:endParaRPr lang="en-US" sz="1800" dirty="0"/>
          </a:p>
        </p:txBody>
      </p:sp>
      <p:sp>
        <p:nvSpPr>
          <p:cNvPr id="59" name="Text 57"/>
          <p:cNvSpPr/>
          <p:nvPr/>
        </p:nvSpPr>
        <p:spPr>
          <a:xfrm>
            <a:off x="3291840" y="36393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 FIs  ·  25% of JH client base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126480" y="3255264"/>
            <a:ext cx="2560320" cy="676656"/>
          </a:xfrm>
          <a:prstGeom prst="rect">
            <a:avLst/>
          </a:prstGeom>
          <a:solidFill>
            <a:srgbClr val="0A5C47">
              <a:alpha val="92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26480" y="3300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$312M+ ARR</a:t>
            </a:r>
            <a:endParaRPr lang="en-US" sz="1800" dirty="0"/>
          </a:p>
        </p:txBody>
      </p:sp>
      <p:sp>
        <p:nvSpPr>
          <p:cNvPr id="62" name="Text 60"/>
          <p:cNvSpPr/>
          <p:nvPr/>
        </p:nvSpPr>
        <p:spPr>
          <a:xfrm>
            <a:off x="6126480" y="36393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8,000+ FIs  ·  Full JH client base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365760" y="4014216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i="1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estimates based on avg. subscription value across tiers. Adoption rates modeled at 6%, 25%, and 100% of JH’s 8,000+ FI client base. Sources: Mordor Intelligence, ICBA / Cornerstone 2025 survey.</a:t>
            </a:r>
            <a:endParaRPr lang="en-US" sz="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FY27 Quarterly View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Q1–Q4 FY27  |  Alternate Layout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Analytics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74904" y="576072"/>
            <a:ext cx="2029968" cy="43891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08689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Jul–Sep '26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74904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4904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Acquisition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484632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 Data Pipeline — FI Connectivity Layer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74904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74904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Dashboards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4632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 — Platform MVP Launch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74904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4904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/ Self Service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84632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Mediation MVP — JH CRM Integration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74904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74904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4632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Apps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484632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4632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 Serving Infrastructure &amp; Feature Store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496312" y="576072"/>
            <a:ext cx="2029968" cy="43891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96312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Q2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30097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Oct–Dec '26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2496312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2496312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06040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Acquisition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Framework &amp; Lineage Tracking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496312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2496312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6040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Dashboards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2606040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6040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Explorer — Banker-Facing Interface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2496312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2496312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/ Self Service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2606040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606040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Memo Intelligence — NLP Pipeline Live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496312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2496312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606040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Apps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2606040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606040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Streaming Production Launch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4617720" y="576072"/>
            <a:ext cx="2029968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0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Q3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5551505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Jan–Mar '27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4617720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4617720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27448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Acquisition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4727448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27448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Kafka Streaming Infrastructure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617720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4617720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727448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Dashboards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4727448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27448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Drift Monitoring &amp; Alert Engine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4617720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4617720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727448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/ Self Service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4727448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727448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Report AI — Full CU Client Rollout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617720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4617720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27448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Apps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4727448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727448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Pipeline — Full CI/CD &amp; Governance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6739128" y="576072"/>
            <a:ext cx="2029968" cy="43891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739128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Q4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7672913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Apr–Jun '27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6739128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6739128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848856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Acquisition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6848856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848856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 Catalog &amp; Governance Framework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6739128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85" name="Shape 83"/>
          <p:cNvSpPr/>
          <p:nvPr/>
        </p:nvSpPr>
        <p:spPr>
          <a:xfrm>
            <a:off x="6739128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48856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Dashboards</a:t>
            </a:r>
            <a:endParaRPr lang="en-US" sz="700" dirty="0"/>
          </a:p>
        </p:txBody>
      </p:sp>
      <p:sp>
        <p:nvSpPr>
          <p:cNvPr id="87" name="Shape 85"/>
          <p:cNvSpPr/>
          <p:nvPr/>
        </p:nvSpPr>
        <p:spPr>
          <a:xfrm>
            <a:off x="6848856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48856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Analytics Surface — Business Users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6739128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0" name="Shape 88"/>
          <p:cNvSpPr/>
          <p:nvPr/>
        </p:nvSpPr>
        <p:spPr>
          <a:xfrm>
            <a:off x="6739128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848856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/ Self Service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6848856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848856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Opening LTV — JH Platform Launch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6739128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5" name="Shape 93"/>
          <p:cNvSpPr/>
          <p:nvPr/>
        </p:nvSpPr>
        <p:spPr>
          <a:xfrm>
            <a:off x="6739128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848856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Apps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6848856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848856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Cross-Sell Propensity Engine (Horizon Phase 1)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JHBI Analytics — FY27 Strategic Roadmap</dc:title>
  <dc:subject>PptxGenJS Presentation</dc:subject>
  <dc:creator>PptxGenJS</dc:creator>
  <cp:lastModifiedBy>PptxGenJS</cp:lastModifiedBy>
  <cp:revision>1</cp:revision>
  <dcterms:created xsi:type="dcterms:W3CDTF">2026-03-31T00:22:01Z</dcterms:created>
  <dcterms:modified xsi:type="dcterms:W3CDTF">2026-03-31T00:22:01Z</dcterms:modified>
</cp:coreProperties>
</file>