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Analytics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Strategic Roadmap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  FY27  ·  Jul 2026 – Jun 2027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999232"/>
            <a:ext cx="4526280" cy="0"/>
          </a:xfrm>
          <a:prstGeom prst="line">
            <a:avLst/>
          </a:prstGeom>
          <a:noFill/>
          <a:ln w="19050">
            <a:solidFill>
              <a:srgbClr val="085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18688"/>
            <a:ext cx="1993392" cy="475488"/>
          </a:xfrm>
          <a:prstGeom prst="rect">
            <a:avLst/>
          </a:prstGeom>
          <a:solidFill>
            <a:srgbClr val="06185F"/>
          </a:solidFill>
          <a:ln w="9525">
            <a:solidFill>
              <a:srgbClr val="76DC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218688"/>
            <a:ext cx="64008" cy="475488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3218688"/>
            <a:ext cx="1856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3218688"/>
            <a:ext cx="1993392" cy="475488"/>
          </a:xfrm>
          <a:prstGeom prst="rect">
            <a:avLst/>
          </a:prstGeom>
          <a:solidFill>
            <a:srgbClr val="085CE5"/>
          </a:solidFill>
          <a:ln w="9525">
            <a:solidFill>
              <a:srgbClr val="76DC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3218688"/>
            <a:ext cx="64008" cy="475488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3218688"/>
            <a:ext cx="1856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3218688"/>
            <a:ext cx="1993392" cy="475488"/>
          </a:xfrm>
          <a:prstGeom prst="rect">
            <a:avLst/>
          </a:prstGeom>
          <a:solidFill>
            <a:srgbClr val="0A5CA8"/>
          </a:solidFill>
          <a:ln w="9525">
            <a:solidFill>
              <a:srgbClr val="76DC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218688"/>
            <a:ext cx="64008" cy="475488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3218688"/>
            <a:ext cx="1856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12280" y="3218688"/>
            <a:ext cx="1993392" cy="475488"/>
          </a:xfrm>
          <a:prstGeom prst="rect">
            <a:avLst/>
          </a:prstGeom>
          <a:solidFill>
            <a:srgbClr val="0A5C47"/>
          </a:solidFill>
          <a:ln w="9525">
            <a:solidFill>
              <a:srgbClr val="76DC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3218688"/>
            <a:ext cx="64008" cy="475488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3218688"/>
            <a:ext cx="1856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 ·  Executive briefing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Investment Pillars — What We Are Building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· FY27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  ·  JHBI  ·  Confidential  ·  FY27  ·  Jul 2026 – Jun 2027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566928"/>
            <a:ext cx="2029968" cy="4279392"/>
          </a:xfrm>
          <a:prstGeom prst="rect">
            <a:avLst/>
          </a:prstGeom>
          <a:solidFill>
            <a:srgbClr val="FFFFFF"/>
          </a:solidFill>
          <a:ln w="9525">
            <a:solidFill>
              <a:srgbClr val="0618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566928"/>
            <a:ext cx="2029968" cy="4572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65836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75488" y="82296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1097280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" y="1298448"/>
            <a:ext cx="177393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53312"/>
            <a:ext cx="1847088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behavioral data pipelines from JH core systems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infrastructure (Kafka / event bus)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monitoring, lineage &amp; governance framework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catalog and governance framework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anonymized FI benchmarking data layer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566928"/>
            <a:ext cx="2029968" cy="4279392"/>
          </a:xfrm>
          <a:prstGeom prst="rect">
            <a:avLst/>
          </a:prstGeom>
          <a:solidFill>
            <a:srgbClr val="FFFFFF"/>
          </a:solidFill>
          <a:ln w="9525">
            <a:solidFill>
              <a:srgbClr val="085C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566928"/>
            <a:ext cx="2029968" cy="457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65836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615184" y="82296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15184" y="1097280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15184" y="1298448"/>
            <a:ext cx="177393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1353312"/>
            <a:ext cx="1847088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dashboards embedded in JH platform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drift monitoring dashboards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client-facing risk score explorer (banker fact)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analytics surface for business stakeholders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26864" y="566928"/>
            <a:ext cx="2029968" cy="4279392"/>
          </a:xfrm>
          <a:prstGeom prst="rect">
            <a:avLst/>
          </a:prstGeom>
          <a:solidFill>
            <a:srgbClr val="FFFFFF"/>
          </a:solidFill>
          <a:ln w="9525">
            <a:solidFill>
              <a:srgbClr val="0A5C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566928"/>
            <a:ext cx="2029968" cy="45720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65836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54880" y="82296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1097280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API Dev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1298448"/>
            <a:ext cx="177393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1353312"/>
            <a:ext cx="1847088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internal AI apps embedded in JH ecosystem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distributing model scores to JH products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+ JH Enterprise integration &amp; alerting workflows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and workflow automation services layer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and full audit logging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66560" y="566928"/>
            <a:ext cx="2029968" cy="4279392"/>
          </a:xfrm>
          <a:prstGeom prst="rect">
            <a:avLst/>
          </a:prstGeom>
          <a:solidFill>
            <a:srgbClr val="FFFFFF"/>
          </a:solidFill>
          <a:ln w="9525">
            <a:solidFill>
              <a:srgbClr val="0A5C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566928"/>
            <a:ext cx="2029968" cy="45720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65836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94576" y="82296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94576" y="1097280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Buildout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94576" y="1298448"/>
            <a:ext cx="177393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1353312"/>
            <a:ext cx="1847088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platform: feature store + experiment tracking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AutoGluon, CatBoost, XGBoost model serving at scale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layer across all deployed models</a:t>
            </a:r>
            <a:endParaRPr lang="en-US" sz="800" dirty="0"/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governance, bias review, and model card process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Analytics Team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Leadership Structure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  ·  JHBI  ·  Confidential  ·  FY27  ·  Jul 2026 – Jun 2027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83280" y="576072"/>
            <a:ext cx="2377440" cy="58521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576072"/>
            <a:ext cx="2377440" cy="502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63093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Ames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8869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Data Science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61888" y="576072"/>
            <a:ext cx="30175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576072"/>
            <a:ext cx="3017520" cy="18288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5760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HEADCOUNT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998464" y="75895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84341" y="758952"/>
            <a:ext cx="543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967728" y="758952"/>
            <a:ext cx="0" cy="493776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75895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90181" y="758952"/>
            <a:ext cx="543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973568" y="758952"/>
            <a:ext cx="0" cy="493776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75895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96021" y="758952"/>
            <a:ext cx="5431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961888" y="1124712"/>
            <a:ext cx="3017520" cy="164592"/>
          </a:xfrm>
          <a:prstGeom prst="rect">
            <a:avLst/>
          </a:prstGeom>
          <a:solidFill>
            <a:srgbClr val="0A5CA8">
              <a:alpha val="25000"/>
            </a:srgbClr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1247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 ·  1 Position  (MLOps Engineer)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961888" y="1289304"/>
            <a:ext cx="3017520" cy="18288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12893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 ·  13 Positions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161288"/>
            <a:ext cx="0" cy="141732"/>
          </a:xfrm>
          <a:prstGeom prst="line">
            <a:avLst/>
          </a:prstGeom>
          <a:noFill/>
          <a:ln w="19050">
            <a:solidFill>
              <a:srgbClr val="B6BB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8384" y="1303020"/>
            <a:ext cx="6047232" cy="0"/>
          </a:xfrm>
          <a:prstGeom prst="line">
            <a:avLst/>
          </a:prstGeom>
          <a:noFill/>
          <a:ln w="19050">
            <a:solidFill>
              <a:srgbClr val="B6BB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48384" y="1303020"/>
            <a:ext cx="0" cy="141732"/>
          </a:xfrm>
          <a:prstGeom prst="line">
            <a:avLst/>
          </a:prstGeom>
          <a:noFill/>
          <a:ln w="19050">
            <a:solidFill>
              <a:srgbClr val="B6BB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1303020"/>
            <a:ext cx="0" cy="141732"/>
          </a:xfrm>
          <a:prstGeom prst="line">
            <a:avLst/>
          </a:prstGeom>
          <a:noFill/>
          <a:ln w="19050">
            <a:solidFill>
              <a:srgbClr val="B6BB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95616" y="1303020"/>
            <a:ext cx="0" cy="141732"/>
          </a:xfrm>
          <a:prstGeom prst="line">
            <a:avLst/>
          </a:prstGeom>
          <a:noFill/>
          <a:ln w="19050">
            <a:solidFill>
              <a:srgbClr val="B6BB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" y="1444752"/>
            <a:ext cx="2913888" cy="58521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" y="1444752"/>
            <a:ext cx="2913888" cy="502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1499616"/>
            <a:ext cx="2731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Goolsby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2880" y="1764792"/>
            <a:ext cx="2731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Software Development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15056" y="1444752"/>
            <a:ext cx="2913888" cy="585216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15056" y="1444752"/>
            <a:ext cx="2913888" cy="502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6496" y="1499616"/>
            <a:ext cx="2731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6496" y="1764792"/>
            <a:ext cx="2731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Mgr, JHBI Product Mgmt &amp; GTM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38672" y="1444752"/>
            <a:ext cx="2913888" cy="585216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38672" y="1444752"/>
            <a:ext cx="2913888" cy="502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0112" y="1499616"/>
            <a:ext cx="2731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30112" y="1764792"/>
            <a:ext cx="2731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Lead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548384" y="2029968"/>
            <a:ext cx="0" cy="128016"/>
          </a:xfrm>
          <a:prstGeom prst="line">
            <a:avLst/>
          </a:prstGeom>
          <a:noFill/>
          <a:ln w="15240">
            <a:solidFill>
              <a:srgbClr val="085C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" y="2157984"/>
            <a:ext cx="2804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85C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" y="2157984"/>
            <a:ext cx="50292" cy="6217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2185416"/>
            <a:ext cx="26578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Acq. &amp; Engineering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19456" y="2331720"/>
            <a:ext cx="265785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" y="2350008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96596" y="2542032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FTEs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1114552" y="2350008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4552" y="2350008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14552" y="2542032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2032508" y="2350008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32508" y="2350008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032508" y="2542032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FTEs Req.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37744" y="2660904"/>
            <a:ext cx="585216" cy="100584"/>
          </a:xfrm>
          <a:prstGeom prst="rect">
            <a:avLst/>
          </a:prstGeom>
          <a:solidFill>
            <a:srgbClr val="06185F">
              <a:alpha val="30000"/>
            </a:srgbClr>
          </a:solidFill>
          <a:ln w="6350">
            <a:solidFill>
              <a:srgbClr val="0618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" y="2660904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46304" y="2834640"/>
            <a:ext cx="2804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85C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6304" y="2834640"/>
            <a:ext cx="50292" cy="6217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" y="2862072"/>
            <a:ext cx="26578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19456" y="3008376"/>
            <a:ext cx="265785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6596" y="3026664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96596" y="3218688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FTEs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1114552" y="3026664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4552" y="3026664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114552" y="3218688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2032508" y="3026664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32508" y="3026664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032508" y="3218688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FTEs Req.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237744" y="3337560"/>
            <a:ext cx="497434" cy="100584"/>
          </a:xfrm>
          <a:prstGeom prst="rect">
            <a:avLst/>
          </a:prstGeom>
          <a:solidFill>
            <a:srgbClr val="085CE5">
              <a:alpha val="30000"/>
            </a:srgbClr>
          </a:solidFill>
          <a:ln w="6350">
            <a:solidFill>
              <a:srgbClr val="085C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7744" y="3337560"/>
            <a:ext cx="49743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146304" y="3511296"/>
            <a:ext cx="2804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85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6304" y="3511296"/>
            <a:ext cx="50292" cy="6217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7744" y="3538728"/>
            <a:ext cx="26578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19456" y="3685032"/>
            <a:ext cx="265785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6596" y="3703320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96596" y="3895344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FTEs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1114552" y="3703320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14552" y="3703320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114552" y="3895344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2032508" y="3703320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32508" y="3703320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2032508" y="3895344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FTEs Req.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237744" y="4014216"/>
            <a:ext cx="541325" cy="100584"/>
          </a:xfrm>
          <a:prstGeom prst="rect">
            <a:avLst/>
          </a:prstGeom>
          <a:solidFill>
            <a:srgbClr val="0A5CA8">
              <a:alpha val="30000"/>
            </a:srgbClr>
          </a:solidFill>
          <a:ln w="6350">
            <a:solidFill>
              <a:srgbClr val="0A5CA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7744" y="4014216"/>
            <a:ext cx="541325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550" dirty="0"/>
          </a:p>
        </p:txBody>
      </p:sp>
      <p:sp>
        <p:nvSpPr>
          <p:cNvPr id="86" name="Shape 84"/>
          <p:cNvSpPr/>
          <p:nvPr/>
        </p:nvSpPr>
        <p:spPr>
          <a:xfrm>
            <a:off x="4572000" y="2029968"/>
            <a:ext cx="0" cy="128016"/>
          </a:xfrm>
          <a:prstGeom prst="line">
            <a:avLst/>
          </a:prstGeom>
          <a:noFill/>
          <a:ln w="15240">
            <a:solidFill>
              <a:srgbClr val="0A5CA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69920" y="2157984"/>
            <a:ext cx="2804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6BBC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69920" y="2157984"/>
            <a:ext cx="50292" cy="43891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61360" y="2185416"/>
            <a:ext cx="2657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Elspeth Bloodgood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261360" y="2368296"/>
            <a:ext cx="26578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Go-to-Market &amp; Visualization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3261360" y="2478024"/>
            <a:ext cx="497434" cy="100584"/>
          </a:xfrm>
          <a:prstGeom prst="rect">
            <a:avLst/>
          </a:prstGeom>
          <a:solidFill>
            <a:srgbClr val="085CE5">
              <a:alpha val="30000"/>
            </a:srgbClr>
          </a:solidFill>
          <a:ln w="6350">
            <a:solidFill>
              <a:srgbClr val="085CE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61360" y="2478024"/>
            <a:ext cx="49743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3169920" y="2651760"/>
            <a:ext cx="2804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6BBC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69920" y="2651760"/>
            <a:ext cx="50292" cy="43891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61360" y="2679192"/>
            <a:ext cx="2657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Greenhaw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3261360" y="2862072"/>
            <a:ext cx="26578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Application Development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261360" y="2971800"/>
            <a:ext cx="541325" cy="100584"/>
          </a:xfrm>
          <a:prstGeom prst="rect">
            <a:avLst/>
          </a:prstGeom>
          <a:solidFill>
            <a:srgbClr val="0A5CA8">
              <a:alpha val="30000"/>
            </a:srgbClr>
          </a:solidFill>
          <a:ln w="6350">
            <a:solidFill>
              <a:srgbClr val="0A5CA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61360" y="2971800"/>
            <a:ext cx="541325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3169920" y="3145536"/>
            <a:ext cx="2804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6BBC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169920" y="3145536"/>
            <a:ext cx="50292" cy="43891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61360" y="3172968"/>
            <a:ext cx="2657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Saunders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3261360" y="3355848"/>
            <a:ext cx="26578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Data Acq. &amp; Engineering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261360" y="3465576"/>
            <a:ext cx="585216" cy="100584"/>
          </a:xfrm>
          <a:prstGeom prst="rect">
            <a:avLst/>
          </a:prstGeom>
          <a:solidFill>
            <a:srgbClr val="06185F">
              <a:alpha val="30000"/>
            </a:srgbClr>
          </a:solidFill>
          <a:ln w="6350">
            <a:solidFill>
              <a:srgbClr val="06185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61360" y="3465576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3169920" y="3639312"/>
            <a:ext cx="2804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A5CA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169920" y="3639312"/>
            <a:ext cx="50292" cy="62179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61360" y="3666744"/>
            <a:ext cx="26578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[PM Function TBD]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243072" y="3813048"/>
            <a:ext cx="265785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220212" y="3831336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3220212" y="4023360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FTEs</a:t>
            </a:r>
            <a:endParaRPr lang="en-US" sz="550" dirty="0"/>
          </a:p>
        </p:txBody>
      </p:sp>
      <p:sp>
        <p:nvSpPr>
          <p:cNvPr id="111" name="Shape 109"/>
          <p:cNvSpPr/>
          <p:nvPr/>
        </p:nvSpPr>
        <p:spPr>
          <a:xfrm>
            <a:off x="4138168" y="3831336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138168" y="3831336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3" name="Text 111"/>
          <p:cNvSpPr/>
          <p:nvPr/>
        </p:nvSpPr>
        <p:spPr>
          <a:xfrm>
            <a:off x="4138168" y="4023360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550" dirty="0"/>
          </a:p>
        </p:txBody>
      </p:sp>
      <p:sp>
        <p:nvSpPr>
          <p:cNvPr id="114" name="Shape 112"/>
          <p:cNvSpPr/>
          <p:nvPr/>
        </p:nvSpPr>
        <p:spPr>
          <a:xfrm>
            <a:off x="5056124" y="3831336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056124" y="3831336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5056124" y="4023360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FTEs Req.</a:t>
            </a:r>
            <a:endParaRPr lang="en-US" sz="550" dirty="0"/>
          </a:p>
        </p:txBody>
      </p:sp>
      <p:sp>
        <p:nvSpPr>
          <p:cNvPr id="117" name="Shape 115"/>
          <p:cNvSpPr/>
          <p:nvPr/>
        </p:nvSpPr>
        <p:spPr>
          <a:xfrm>
            <a:off x="3261360" y="4142232"/>
            <a:ext cx="585216" cy="100584"/>
          </a:xfrm>
          <a:prstGeom prst="rect">
            <a:avLst/>
          </a:prstGeom>
          <a:solidFill>
            <a:srgbClr val="0A5C47">
              <a:alpha val="30000"/>
            </a:srgbClr>
          </a:solidFill>
          <a:ln w="6350">
            <a:solidFill>
              <a:srgbClr val="0A5C47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261360" y="4142232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550" dirty="0"/>
          </a:p>
        </p:txBody>
      </p:sp>
      <p:sp>
        <p:nvSpPr>
          <p:cNvPr id="119" name="Shape 117"/>
          <p:cNvSpPr/>
          <p:nvPr/>
        </p:nvSpPr>
        <p:spPr>
          <a:xfrm>
            <a:off x="7595616" y="2029968"/>
            <a:ext cx="0" cy="128016"/>
          </a:xfrm>
          <a:prstGeom prst="line">
            <a:avLst/>
          </a:prstGeom>
          <a:noFill/>
          <a:ln w="15240">
            <a:solidFill>
              <a:srgbClr val="0A5C4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193536" y="2157984"/>
            <a:ext cx="28041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A5C4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193536" y="2157984"/>
            <a:ext cx="50292" cy="621792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284976" y="2185416"/>
            <a:ext cx="26578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6266688" y="2331720"/>
            <a:ext cx="2657856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243828" y="2350008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5" name="Text 123"/>
          <p:cNvSpPr/>
          <p:nvPr/>
        </p:nvSpPr>
        <p:spPr>
          <a:xfrm>
            <a:off x="6243828" y="2542032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FTEs</a:t>
            </a:r>
            <a:endParaRPr lang="en-US" sz="550" dirty="0"/>
          </a:p>
        </p:txBody>
      </p:sp>
      <p:sp>
        <p:nvSpPr>
          <p:cNvPr id="126" name="Shape 124"/>
          <p:cNvSpPr/>
          <p:nvPr/>
        </p:nvSpPr>
        <p:spPr>
          <a:xfrm>
            <a:off x="7161784" y="2350008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161784" y="2350008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8" name="Text 126"/>
          <p:cNvSpPr/>
          <p:nvPr/>
        </p:nvSpPr>
        <p:spPr>
          <a:xfrm>
            <a:off x="7161784" y="2542032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550" dirty="0"/>
          </a:p>
        </p:txBody>
      </p:sp>
      <p:sp>
        <p:nvSpPr>
          <p:cNvPr id="129" name="Shape 127"/>
          <p:cNvSpPr/>
          <p:nvPr/>
        </p:nvSpPr>
        <p:spPr>
          <a:xfrm>
            <a:off x="8079740" y="2350008"/>
            <a:ext cx="0" cy="32004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079740" y="2350008"/>
            <a:ext cx="9179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>
            <a:off x="8079740" y="2542032"/>
            <a:ext cx="9179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FTEs Req.</a:t>
            </a:r>
            <a:endParaRPr lang="en-US" sz="550" dirty="0"/>
          </a:p>
        </p:txBody>
      </p:sp>
      <p:sp>
        <p:nvSpPr>
          <p:cNvPr id="132" name="Shape 130"/>
          <p:cNvSpPr/>
          <p:nvPr/>
        </p:nvSpPr>
        <p:spPr>
          <a:xfrm>
            <a:off x="6284976" y="2660904"/>
            <a:ext cx="585216" cy="100584"/>
          </a:xfrm>
          <a:prstGeom prst="rect">
            <a:avLst/>
          </a:prstGeom>
          <a:solidFill>
            <a:srgbClr val="0A5C47">
              <a:alpha val="30000"/>
            </a:srgbClr>
          </a:solidFill>
          <a:ln w="6350">
            <a:solidFill>
              <a:srgbClr val="0A5C47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284976" y="2660904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550" dirty="0"/>
          </a:p>
        </p:txBody>
      </p:sp>
      <p:sp>
        <p:nvSpPr>
          <p:cNvPr id="134" name="Shape 132"/>
          <p:cNvSpPr/>
          <p:nvPr/>
        </p:nvSpPr>
        <p:spPr>
          <a:xfrm>
            <a:off x="6193536" y="2834640"/>
            <a:ext cx="2804160" cy="457200"/>
          </a:xfrm>
          <a:prstGeom prst="rect">
            <a:avLst/>
          </a:prstGeom>
          <a:solidFill>
            <a:srgbClr val="E7ECF0">
              <a:alpha val="80000"/>
            </a:srgbClr>
          </a:solidFill>
          <a:ln w="9525">
            <a:solidFill>
              <a:srgbClr val="0A5C4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93536" y="2834640"/>
            <a:ext cx="50292" cy="457200"/>
          </a:xfrm>
          <a:prstGeom prst="rect">
            <a:avLst/>
          </a:prstGeom>
          <a:solidFill>
            <a:srgbClr val="0A5C47">
              <a:alpha val="70000"/>
            </a:srgbClr>
          </a:solidFill>
          <a:ln w="12700">
            <a:solidFill>
              <a:srgbClr val="0A5C47">
                <a:alpha val="70000"/>
              </a:srgbClr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284976" y="2862072"/>
            <a:ext cx="2328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Engineer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8595360" y="2880360"/>
            <a:ext cx="347472" cy="182880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595360" y="28803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6284976" y="3081528"/>
            <a:ext cx="265785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 · FY26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6284976" y="3172968"/>
            <a:ext cx="585216" cy="100584"/>
          </a:xfrm>
          <a:prstGeom prst="rect">
            <a:avLst/>
          </a:prstGeom>
          <a:solidFill>
            <a:srgbClr val="0A5C47">
              <a:alpha val="30000"/>
            </a:srgbClr>
          </a:solidFill>
          <a:ln w="6350">
            <a:solidFill>
              <a:srgbClr val="0A5C4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284976" y="3172968"/>
            <a:ext cx="5852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550" dirty="0"/>
          </a:p>
        </p:txBody>
      </p:sp>
      <p:sp>
        <p:nvSpPr>
          <p:cNvPr id="142" name="Text 140"/>
          <p:cNvSpPr/>
          <p:nvPr/>
        </p:nvSpPr>
        <p:spPr>
          <a:xfrm>
            <a:off x="365760" y="4169664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OWNERSHIP</a:t>
            </a:r>
            <a:endParaRPr lang="en-US" sz="600" dirty="0"/>
          </a:p>
        </p:txBody>
      </p:sp>
      <p:sp>
        <p:nvSpPr>
          <p:cNvPr id="143" name="Shape 141"/>
          <p:cNvSpPr/>
          <p:nvPr/>
        </p:nvSpPr>
        <p:spPr>
          <a:xfrm>
            <a:off x="365760" y="4315968"/>
            <a:ext cx="2020824" cy="219456"/>
          </a:xfrm>
          <a:prstGeom prst="rect">
            <a:avLst/>
          </a:prstGeom>
          <a:solidFill>
            <a:srgbClr val="06185F">
              <a:alpha val="82000"/>
            </a:srgbClr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65760" y="4315968"/>
            <a:ext cx="2020824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65760" y="4315968"/>
            <a:ext cx="2020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2496312" y="4315968"/>
            <a:ext cx="2020824" cy="219456"/>
          </a:xfrm>
          <a:prstGeom prst="rect">
            <a:avLst/>
          </a:prstGeom>
          <a:solidFill>
            <a:srgbClr val="085CE5">
              <a:alpha val="82000"/>
            </a:srgbClr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496312" y="4315968"/>
            <a:ext cx="2020824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496312" y="4315968"/>
            <a:ext cx="2020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626864" y="4315968"/>
            <a:ext cx="2020824" cy="219456"/>
          </a:xfrm>
          <a:prstGeom prst="rect">
            <a:avLst/>
          </a:prstGeom>
          <a:solidFill>
            <a:srgbClr val="0A5CA8">
              <a:alpha val="82000"/>
            </a:srgbClr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626864" y="4315968"/>
            <a:ext cx="2020824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626864" y="4315968"/>
            <a:ext cx="2020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6757416" y="4315968"/>
            <a:ext cx="2020824" cy="219456"/>
          </a:xfrm>
          <a:prstGeom prst="rect">
            <a:avLst/>
          </a:prstGeom>
          <a:solidFill>
            <a:srgbClr val="0A5C47">
              <a:alpha val="82000"/>
            </a:srgbClr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757416" y="4315968"/>
            <a:ext cx="2020824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757416" y="4315968"/>
            <a:ext cx="2020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65760" y="4654296"/>
            <a:ext cx="164592" cy="12801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85216" y="4626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hire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2743200" y="4654296"/>
            <a:ext cx="164592" cy="128016"/>
          </a:xfrm>
          <a:prstGeom prst="rect">
            <a:avLst/>
          </a:prstGeom>
          <a:solidFill>
            <a:srgbClr val="B6BBC0"/>
          </a:solidFill>
          <a:ln w="12700">
            <a:solidFill>
              <a:srgbClr val="B6BBC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962656" y="4626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 — planned role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5120640" y="4654296"/>
            <a:ext cx="164592" cy="128016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340096" y="4626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Analytics — Program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Pillars · FY27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  ·  JHBI  ·  Confidential  ·  FY27  ·  Jul 2026 – Jun 2027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594360"/>
            <a:ext cx="4224528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594360"/>
            <a:ext cx="73152" cy="206654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594360"/>
            <a:ext cx="4224528" cy="42062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59436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1216152"/>
            <a:ext cx="109728" cy="109728"/>
          </a:xfrm>
          <a:prstGeom prst="ellipse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124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behavioral data pipelines from JH core systems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1673352"/>
            <a:ext cx="109728" cy="109728"/>
          </a:xfrm>
          <a:prstGeom prst="ellipse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5819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infrastructure (Kafka / event bus)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130552"/>
            <a:ext cx="109728" cy="109728"/>
          </a:xfrm>
          <a:prstGeom prst="ellipse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039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monitoring, lineage &amp; enterprise catalog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" y="2350008"/>
            <a:ext cx="3931920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404872"/>
            <a:ext cx="603504" cy="164592"/>
          </a:xfrm>
          <a:prstGeom prst="rect">
            <a:avLst/>
          </a:prstGeom>
          <a:solidFill>
            <a:srgbClr val="06185F">
              <a:alpha val="28000"/>
            </a:srgbClr>
          </a:solidFill>
          <a:ln w="6350">
            <a:solidFill>
              <a:srgbClr val="0618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40487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069848" y="2404872"/>
            <a:ext cx="466344" cy="164592"/>
          </a:xfrm>
          <a:prstGeom prst="rect">
            <a:avLst/>
          </a:prstGeom>
          <a:solidFill>
            <a:srgbClr val="06185F">
              <a:alpha val="28000"/>
            </a:srgbClr>
          </a:solidFill>
          <a:ln w="6350">
            <a:solidFill>
              <a:srgbClr val="0618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2404872"/>
            <a:ext cx="466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Symitar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600200" y="2404872"/>
            <a:ext cx="374904" cy="164592"/>
          </a:xfrm>
          <a:prstGeom prst="rect">
            <a:avLst/>
          </a:prstGeom>
          <a:solidFill>
            <a:srgbClr val="06185F">
              <a:alpha val="28000"/>
            </a:srgbClr>
          </a:solidFill>
          <a:ln w="6350">
            <a:solidFill>
              <a:srgbClr val="0618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404872"/>
            <a:ext cx="374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039112" y="2404872"/>
            <a:ext cx="374904" cy="164592"/>
          </a:xfrm>
          <a:prstGeom prst="rect">
            <a:avLst/>
          </a:prstGeom>
          <a:solidFill>
            <a:srgbClr val="06185F">
              <a:alpha val="28000"/>
            </a:srgbClr>
          </a:solidFill>
          <a:ln w="6350">
            <a:solidFill>
              <a:srgbClr val="0618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39112" y="2404872"/>
            <a:ext cx="374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478024" y="2404872"/>
            <a:ext cx="283464" cy="164592"/>
          </a:xfrm>
          <a:prstGeom prst="rect">
            <a:avLst/>
          </a:prstGeom>
          <a:solidFill>
            <a:srgbClr val="06185F">
              <a:alpha val="28000"/>
            </a:srgbClr>
          </a:solidFill>
          <a:ln w="6350">
            <a:solidFill>
              <a:srgbClr val="0618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78024" y="240487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825496" y="2404872"/>
            <a:ext cx="557784" cy="164592"/>
          </a:xfrm>
          <a:prstGeom prst="rect">
            <a:avLst/>
          </a:prstGeom>
          <a:solidFill>
            <a:srgbClr val="06185F">
              <a:alpha val="28000"/>
            </a:srgbClr>
          </a:solidFill>
          <a:ln w="6350">
            <a:solidFill>
              <a:srgbClr val="0618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25496" y="2404872"/>
            <a:ext cx="557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5300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663440" y="594360"/>
            <a:ext cx="4224528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594360"/>
            <a:ext cx="73152" cy="206654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594360"/>
            <a:ext cx="4224528" cy="4206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59436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1216152"/>
            <a:ext cx="109728" cy="109728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1124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dashboards embedded in JH platform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1673352"/>
            <a:ext cx="109728" cy="109728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15819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drift monitoring dashboards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2130552"/>
            <a:ext cx="109728" cy="109728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2039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 score explorer &amp; self-serve analytics surface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2825496"/>
            <a:ext cx="4224528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" y="2825496"/>
            <a:ext cx="73152" cy="2066544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2825496"/>
            <a:ext cx="4224528" cy="420624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2825496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38912" y="3447288"/>
            <a:ext cx="109728" cy="109728"/>
          </a:xfrm>
          <a:prstGeom prst="ellipse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" y="3355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 in JH ecosystem (Churn, Anomaly, Zelle Memo)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8912" y="3904488"/>
            <a:ext cx="109728" cy="109728"/>
          </a:xfrm>
          <a:prstGeom prst="ellipse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38130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distributing model scores to JH products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8912" y="4361688"/>
            <a:ext cx="109728" cy="109728"/>
          </a:xfrm>
          <a:prstGeom prst="ellipse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" y="42702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+ JH Enterprise integration &amp; alerting workflows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2825496"/>
            <a:ext cx="4224528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2825496"/>
            <a:ext cx="73152" cy="2066544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2825496"/>
            <a:ext cx="4224528" cy="420624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2825496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846320" y="3447288"/>
            <a:ext cx="109728" cy="109728"/>
          </a:xfrm>
          <a:prstGeom prst="ellipse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3355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AutoGluon, CatBoost, XGBoost model training at scale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46320" y="3904488"/>
            <a:ext cx="109728" cy="109728"/>
          </a:xfrm>
          <a:prstGeom prst="ellipse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10912" y="38130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layer across all deployed models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46320" y="4361688"/>
            <a:ext cx="109728" cy="109728"/>
          </a:xfrm>
          <a:prstGeom prst="ellipse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10912" y="42702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CI/CD, model registry, drift monitoring &amp; governance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Analytics — Quarterly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H2 Foundation + FY27  ·  Jan 2026 – Jun 2027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  ·  JHBI  ·  Confidential  ·  FY27  ·  Jul 2026 – Jun 2027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" y="548640"/>
            <a:ext cx="1280160" cy="301752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5486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H2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19072" y="5486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'26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432304" y="548640"/>
            <a:ext cx="1600200" cy="3017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548640"/>
            <a:ext cx="832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FY27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64408" y="548640"/>
            <a:ext cx="768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'26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105656" y="548640"/>
            <a:ext cx="1600200" cy="30175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56" y="548640"/>
            <a:ext cx="832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FY27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548640"/>
            <a:ext cx="768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'26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779008" y="548640"/>
            <a:ext cx="1600200" cy="30175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548640"/>
            <a:ext cx="832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FY27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11112" y="548640"/>
            <a:ext cx="768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'27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452360" y="548640"/>
            <a:ext cx="1600200" cy="301752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548640"/>
            <a:ext cx="832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FY27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84464" y="548640"/>
            <a:ext cx="768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'27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1440" y="905256"/>
            <a:ext cx="914400" cy="94869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" y="905256"/>
            <a:ext cx="914400" cy="948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143000" y="987552"/>
            <a:ext cx="1152144" cy="784098"/>
          </a:xfrm>
          <a:prstGeom prst="rect">
            <a:avLst/>
          </a:prstGeom>
          <a:solidFill>
            <a:srgbClr val="FFFFFF"/>
          </a:solidFill>
          <a:ln w="9525">
            <a:solidFill>
              <a:srgbClr val="575A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987552"/>
            <a:ext cx="50292" cy="784098"/>
          </a:xfrm>
          <a:prstGeom prst="rect">
            <a:avLst/>
          </a:prstGeom>
          <a:solidFill>
            <a:srgbClr val="06185F">
              <a:alpha val="70000"/>
            </a:srgbClr>
          </a:solidFill>
          <a:ln w="12700">
            <a:solidFill>
              <a:srgbClr val="06185F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987552"/>
            <a:ext cx="1152144" cy="50292"/>
          </a:xfrm>
          <a:prstGeom prst="rect">
            <a:avLst/>
          </a:prstGeom>
          <a:solidFill>
            <a:srgbClr val="575A5D">
              <a:alpha val="80000"/>
            </a:srgbClr>
          </a:solidFill>
          <a:ln w="12700">
            <a:solidFill>
              <a:srgbClr val="575A5D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4440" y="1051560"/>
            <a:ext cx="475488" cy="14630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10515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Active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234440" y="1243584"/>
            <a:ext cx="1005840" cy="4823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Data Pipeline Architecture &amp; Core Banking Connectivity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96312" y="987552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618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96312" y="987552"/>
            <a:ext cx="1472184" cy="5029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1069848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Data Pipeline — FI Connectivity Layer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69664" y="987552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618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69664" y="987552"/>
            <a:ext cx="1472184" cy="5029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1069848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 &amp; Lineage Tracking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843016" y="987552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618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43016" y="987552"/>
            <a:ext cx="1472184" cy="5029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25312" y="1069848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Kafka Streaming Infrastructure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16368" y="987552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618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16368" y="987552"/>
            <a:ext cx="1472184" cy="5029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98664" y="1069848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Catalog &amp; Governance Framework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1440" y="1917954"/>
            <a:ext cx="8961120" cy="948690"/>
          </a:xfrm>
          <a:prstGeom prst="rect">
            <a:avLst/>
          </a:prstGeom>
          <a:solidFill>
            <a:srgbClr val="E7ECF0">
              <a:alpha val="40000"/>
            </a:srgbClr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" y="1917954"/>
            <a:ext cx="914400" cy="94869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" y="1917954"/>
            <a:ext cx="914400" cy="948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143000" y="2000250"/>
            <a:ext cx="1152144" cy="784098"/>
          </a:xfrm>
          <a:prstGeom prst="rect">
            <a:avLst/>
          </a:prstGeom>
          <a:solidFill>
            <a:srgbClr val="FFFFFF"/>
          </a:solidFill>
          <a:ln w="9525">
            <a:solidFill>
              <a:srgbClr val="575A5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3000" y="2000250"/>
            <a:ext cx="50292" cy="784098"/>
          </a:xfrm>
          <a:prstGeom prst="rect">
            <a:avLst/>
          </a:prstGeom>
          <a:solidFill>
            <a:srgbClr val="085CE5">
              <a:alpha val="70000"/>
            </a:srgbClr>
          </a:solidFill>
          <a:ln w="12700">
            <a:solidFill>
              <a:srgbClr val="085CE5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3000" y="2000250"/>
            <a:ext cx="1152144" cy="50292"/>
          </a:xfrm>
          <a:prstGeom prst="rect">
            <a:avLst/>
          </a:prstGeom>
          <a:solidFill>
            <a:srgbClr val="575A5D">
              <a:alpha val="80000"/>
            </a:srgbClr>
          </a:solidFill>
          <a:ln w="12700">
            <a:solidFill>
              <a:srgbClr val="575A5D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34440" y="2064258"/>
            <a:ext cx="475488" cy="14630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34440" y="206425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Active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1234440" y="2256282"/>
            <a:ext cx="1005840" cy="4823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Baseline &amp; KPI Framework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496312" y="2000250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85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496312" y="2000250"/>
            <a:ext cx="1472184" cy="502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78608" y="2082546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 — Platform MVP Launch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169664" y="2000250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85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169664" y="2000250"/>
            <a:ext cx="1472184" cy="502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1960" y="2082546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Explorer — Banker-Facing Interface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843016" y="2000250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85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843016" y="2000250"/>
            <a:ext cx="1472184" cy="502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25312" y="2082546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Monitoring &amp; Alert Engine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516368" y="2000250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85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516368" y="2000250"/>
            <a:ext cx="1472184" cy="502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98664" y="2082546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Analytics Surface — Business Users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1440" y="2930652"/>
            <a:ext cx="914400" cy="948690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440" y="2930652"/>
            <a:ext cx="914400" cy="948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143000" y="3012948"/>
            <a:ext cx="1152144" cy="784098"/>
          </a:xfrm>
          <a:prstGeom prst="rect">
            <a:avLst/>
          </a:prstGeom>
          <a:solidFill>
            <a:srgbClr val="FFFFFF"/>
          </a:solidFill>
          <a:ln w="9525">
            <a:solidFill>
              <a:srgbClr val="575A5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43000" y="3012948"/>
            <a:ext cx="50292" cy="784098"/>
          </a:xfrm>
          <a:prstGeom prst="rect">
            <a:avLst/>
          </a:prstGeom>
          <a:solidFill>
            <a:srgbClr val="0A5CA8">
              <a:alpha val="70000"/>
            </a:srgbClr>
          </a:solidFill>
          <a:ln w="12700">
            <a:solidFill>
              <a:srgbClr val="0A5CA8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43000" y="3012948"/>
            <a:ext cx="1152144" cy="50292"/>
          </a:xfrm>
          <a:prstGeom prst="rect">
            <a:avLst/>
          </a:prstGeom>
          <a:solidFill>
            <a:srgbClr val="575A5D">
              <a:alpha val="80000"/>
            </a:srgbClr>
          </a:solidFill>
          <a:ln w="12700">
            <a:solidFill>
              <a:srgbClr val="575A5D">
                <a:alpha val="8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34440" y="3076956"/>
            <a:ext cx="475488" cy="146304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34440" y="307695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Active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1234440" y="3268980"/>
            <a:ext cx="1005840" cy="4823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 Architecture &amp; FI Data Access Agreements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496312" y="3012948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496312" y="3012948"/>
            <a:ext cx="1472184" cy="5029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78608" y="3095244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Mediation MVP — JH CRM Integration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169664" y="3012948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169664" y="3012948"/>
            <a:ext cx="1472184" cy="5029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51960" y="3095244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Intelligence — NLP Pipeline Live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843016" y="3012948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843016" y="3012948"/>
            <a:ext cx="1472184" cy="5029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25312" y="3095244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Report AI — Full CU Client Rollout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516368" y="3012948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7516368" y="3012948"/>
            <a:ext cx="1472184" cy="5029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98664" y="3095244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Opening LTV — JH Platform Launch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1440" y="3943350"/>
            <a:ext cx="8961120" cy="948690"/>
          </a:xfrm>
          <a:prstGeom prst="rect">
            <a:avLst/>
          </a:prstGeom>
          <a:solidFill>
            <a:srgbClr val="E7ECF0">
              <a:alpha val="40000"/>
            </a:srgbClr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440" y="3943350"/>
            <a:ext cx="914400" cy="948690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440" y="3943350"/>
            <a:ext cx="914400" cy="948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143000" y="4025646"/>
            <a:ext cx="1152144" cy="784098"/>
          </a:xfrm>
          <a:prstGeom prst="rect">
            <a:avLst/>
          </a:prstGeom>
          <a:solidFill>
            <a:srgbClr val="FFFFFF"/>
          </a:solidFill>
          <a:ln w="9525">
            <a:solidFill>
              <a:srgbClr val="575A5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" y="4025646"/>
            <a:ext cx="50292" cy="784098"/>
          </a:xfrm>
          <a:prstGeom prst="rect">
            <a:avLst/>
          </a:prstGeom>
          <a:solidFill>
            <a:srgbClr val="0A5C47">
              <a:alpha val="70000"/>
            </a:srgbClr>
          </a:solidFill>
          <a:ln w="12700">
            <a:solidFill>
              <a:srgbClr val="0A5C47">
                <a:alpha val="7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" y="4025646"/>
            <a:ext cx="1152144" cy="50292"/>
          </a:xfrm>
          <a:prstGeom prst="rect">
            <a:avLst/>
          </a:prstGeom>
          <a:solidFill>
            <a:srgbClr val="575A5D">
              <a:alpha val="80000"/>
            </a:srgbClr>
          </a:solidFill>
          <a:ln w="12700">
            <a:solidFill>
              <a:srgbClr val="575A5D">
                <a:alpha val="8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234440" y="4089654"/>
            <a:ext cx="475488" cy="146304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234440" y="408965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Active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1234440" y="4281678"/>
            <a:ext cx="1005840" cy="4823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Platform: Feature Store, Experiment Tracking &amp; Model Registry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496312" y="4025646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4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2496312" y="4025646"/>
            <a:ext cx="1472184" cy="50292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78608" y="4107942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Serving Infrastructure &amp; Feature Store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169664" y="4025646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4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4169664" y="4025646"/>
            <a:ext cx="1472184" cy="50292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51960" y="4107942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Streaming Production Launch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843016" y="4025646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4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5843016" y="4025646"/>
            <a:ext cx="1472184" cy="50292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925312" y="4107942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 — Full CI/CD &amp; Governance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516368" y="4025646"/>
            <a:ext cx="1472184" cy="784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A5C4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516368" y="4025646"/>
            <a:ext cx="1472184" cy="50292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598664" y="4107942"/>
            <a:ext cx="1325880" cy="66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Propensity Engine (Horizon Phase 1)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Analytics — Gantt Chart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View  ·  Jan 2026 – Jun 2027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  ·  JHBI  ·  Confidential  ·  FY27  ·  Jul 2026 – Jun 2027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76272" y="905256"/>
            <a:ext cx="2292096" cy="3986784"/>
          </a:xfrm>
          <a:prstGeom prst="rect">
            <a:avLst/>
          </a:prstGeom>
          <a:solidFill>
            <a:srgbClr val="D8DBE0">
              <a:alpha val="45000"/>
            </a:srgbClr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76272" y="566928"/>
            <a:ext cx="2292096" cy="169164"/>
          </a:xfrm>
          <a:prstGeom prst="rect">
            <a:avLst/>
          </a:prstGeom>
          <a:solidFill>
            <a:srgbClr val="575A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566928"/>
            <a:ext cx="22555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H2  ·  Foundation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468368" y="566928"/>
            <a:ext cx="1146048" cy="169164"/>
          </a:xfrm>
          <a:prstGeom prst="rect">
            <a:avLst/>
          </a:prstGeom>
          <a:solidFill>
            <a:srgbClr val="0618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6656" y="566928"/>
            <a:ext cx="110947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FY27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614416" y="566928"/>
            <a:ext cx="1146048" cy="169164"/>
          </a:xfrm>
          <a:prstGeom prst="rect">
            <a:avLst/>
          </a:prstGeom>
          <a:solidFill>
            <a:srgbClr val="085C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566928"/>
            <a:ext cx="110947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FY27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760464" y="566928"/>
            <a:ext cx="1146048" cy="169164"/>
          </a:xfrm>
          <a:prstGeom prst="rect">
            <a:avLst/>
          </a:prstGeom>
          <a:solidFill>
            <a:srgbClr val="0A5C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8752" y="566928"/>
            <a:ext cx="110947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FY27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906512" y="566928"/>
            <a:ext cx="1146048" cy="169164"/>
          </a:xfrm>
          <a:prstGeom prst="rect">
            <a:avLst/>
          </a:prstGeom>
          <a:solidFill>
            <a:srgbClr val="0A5C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4800" y="566928"/>
            <a:ext cx="110947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FY27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176272" y="736092"/>
            <a:ext cx="382016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2558288" y="736092"/>
            <a:ext cx="382016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8288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2940304" y="736092"/>
            <a:ext cx="382016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0304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3322320" y="736092"/>
            <a:ext cx="382016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2320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3704336" y="736092"/>
            <a:ext cx="382016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4336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4086352" y="736092"/>
            <a:ext cx="382016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86352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468368" y="736092"/>
            <a:ext cx="382016" cy="169164"/>
          </a:xfrm>
          <a:prstGeom prst="rect">
            <a:avLst/>
          </a:prstGeom>
          <a:solidFill>
            <a:srgbClr val="06185F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8368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850384" y="736092"/>
            <a:ext cx="382016" cy="169164"/>
          </a:xfrm>
          <a:prstGeom prst="rect">
            <a:avLst/>
          </a:prstGeom>
          <a:solidFill>
            <a:srgbClr val="06185F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0384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5232400" y="736092"/>
            <a:ext cx="382016" cy="169164"/>
          </a:xfrm>
          <a:prstGeom prst="rect">
            <a:avLst/>
          </a:prstGeom>
          <a:solidFill>
            <a:srgbClr val="06185F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2400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5614416" y="736092"/>
            <a:ext cx="382016" cy="169164"/>
          </a:xfrm>
          <a:prstGeom prst="rect">
            <a:avLst/>
          </a:prstGeom>
          <a:solidFill>
            <a:srgbClr val="085CE5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14416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5996432" y="736092"/>
            <a:ext cx="382016" cy="169164"/>
          </a:xfrm>
          <a:prstGeom prst="rect">
            <a:avLst/>
          </a:prstGeom>
          <a:solidFill>
            <a:srgbClr val="085CE5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96432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6378448" y="736092"/>
            <a:ext cx="382016" cy="169164"/>
          </a:xfrm>
          <a:prstGeom prst="rect">
            <a:avLst/>
          </a:prstGeom>
          <a:solidFill>
            <a:srgbClr val="085CE5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8448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6760464" y="736092"/>
            <a:ext cx="382016" cy="169164"/>
          </a:xfrm>
          <a:prstGeom prst="rect">
            <a:avLst/>
          </a:prstGeom>
          <a:solidFill>
            <a:srgbClr val="0A5CA8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0464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7142480" y="736092"/>
            <a:ext cx="382016" cy="169164"/>
          </a:xfrm>
          <a:prstGeom prst="rect">
            <a:avLst/>
          </a:prstGeom>
          <a:solidFill>
            <a:srgbClr val="0A5CA8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42480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7524496" y="736092"/>
            <a:ext cx="382016" cy="169164"/>
          </a:xfrm>
          <a:prstGeom prst="rect">
            <a:avLst/>
          </a:prstGeom>
          <a:solidFill>
            <a:srgbClr val="0A5CA8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24496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7906512" y="736092"/>
            <a:ext cx="382016" cy="169164"/>
          </a:xfrm>
          <a:prstGeom prst="rect">
            <a:avLst/>
          </a:prstGeom>
          <a:solidFill>
            <a:srgbClr val="0A5C47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6512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8288528" y="736092"/>
            <a:ext cx="382016" cy="169164"/>
          </a:xfrm>
          <a:prstGeom prst="rect">
            <a:avLst/>
          </a:prstGeom>
          <a:solidFill>
            <a:srgbClr val="0A5C47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88528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8670544" y="736092"/>
            <a:ext cx="382016" cy="169164"/>
          </a:xfrm>
          <a:prstGeom prst="rect">
            <a:avLst/>
          </a:prstGeom>
          <a:solidFill>
            <a:srgbClr val="0A5C47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70544" y="736092"/>
            <a:ext cx="3820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2176272" y="905256"/>
            <a:ext cx="0" cy="3986784"/>
          </a:xfrm>
          <a:prstGeom prst="line">
            <a:avLst/>
          </a:prstGeom>
          <a:noFill/>
          <a:ln w="12700">
            <a:solidFill>
              <a:srgbClr val="575A5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58288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40304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22320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04336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86352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68368" y="905256"/>
            <a:ext cx="0" cy="3986784"/>
          </a:xfrm>
          <a:prstGeom prst="line">
            <a:avLst/>
          </a:prstGeom>
          <a:noFill/>
          <a:ln w="12700">
            <a:solidFill>
              <a:srgbClr val="575A5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50384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32400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14416" y="905256"/>
            <a:ext cx="0" cy="3986784"/>
          </a:xfrm>
          <a:prstGeom prst="line">
            <a:avLst/>
          </a:prstGeom>
          <a:noFill/>
          <a:ln w="12700">
            <a:solidFill>
              <a:srgbClr val="575A5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96432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78448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60464" y="905256"/>
            <a:ext cx="0" cy="3986784"/>
          </a:xfrm>
          <a:prstGeom prst="line">
            <a:avLst/>
          </a:prstGeom>
          <a:noFill/>
          <a:ln w="12700">
            <a:solidFill>
              <a:srgbClr val="575A5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42480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24496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06512" y="905256"/>
            <a:ext cx="0" cy="3986784"/>
          </a:xfrm>
          <a:prstGeom prst="line">
            <a:avLst/>
          </a:prstGeom>
          <a:noFill/>
          <a:ln w="12700">
            <a:solidFill>
              <a:srgbClr val="575A5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88528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70544" y="905256"/>
            <a:ext cx="0" cy="3986784"/>
          </a:xfrm>
          <a:prstGeom prst="line">
            <a:avLst/>
          </a:prstGeom>
          <a:noFill/>
          <a:ln w="5080">
            <a:solidFill>
              <a:srgbClr val="B6BBC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52560" y="905256"/>
            <a:ext cx="0" cy="3986784"/>
          </a:xfrm>
          <a:prstGeom prst="line">
            <a:avLst/>
          </a:prstGeom>
          <a:noFill/>
          <a:ln w="12700">
            <a:solidFill>
              <a:srgbClr val="575A5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7160" y="950976"/>
            <a:ext cx="8915400" cy="155448"/>
          </a:xfrm>
          <a:prstGeom prst="rect">
            <a:avLst/>
          </a:prstGeom>
          <a:solidFill>
            <a:srgbClr val="06185F">
              <a:alpha val="90000"/>
            </a:srgbClr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8600" y="950976"/>
            <a:ext cx="8686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37160" y="1106424"/>
            <a:ext cx="8915400" cy="228600"/>
          </a:xfrm>
          <a:prstGeom prst="rect">
            <a:avLst/>
          </a:prstGeom>
          <a:solidFill>
            <a:srgbClr val="E7ECF0">
              <a:alpha val="30000"/>
            </a:srgbClr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2024" y="1115568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Data Pipeline Architecture &amp; Core Banking Integration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2194560" y="1143000"/>
            <a:ext cx="2255520" cy="155448"/>
          </a:xfrm>
          <a:prstGeom prst="rect">
            <a:avLst/>
          </a:prstGeom>
          <a:solidFill>
            <a:srgbClr val="06185F">
              <a:alpha val="60000"/>
            </a:srgbClr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31136" y="1143000"/>
            <a:ext cx="22006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 Progress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137160" y="1353312"/>
            <a:ext cx="89154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2024" y="1362456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Pipeline Integration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4486656" y="1389888"/>
            <a:ext cx="1109472" cy="155448"/>
          </a:xfrm>
          <a:prstGeom prst="rect">
            <a:avLst/>
          </a:prstGeom>
          <a:solidFill>
            <a:srgbClr val="06185F">
              <a:alpha val="88000"/>
            </a:srgbClr>
          </a:solidFill>
          <a:ln w="15240">
            <a:solidFill>
              <a:srgbClr val="06185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23232" y="1389888"/>
            <a:ext cx="105460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Pipeline …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137160" y="1600200"/>
            <a:ext cx="8915400" cy="228600"/>
          </a:xfrm>
          <a:prstGeom prst="rect">
            <a:avLst/>
          </a:prstGeom>
          <a:solidFill>
            <a:srgbClr val="E7ECF0">
              <a:alpha val="30000"/>
            </a:srgbClr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2024" y="1609344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 &amp; Enterprise Catalog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5632704" y="1636776"/>
            <a:ext cx="3401568" cy="155448"/>
          </a:xfrm>
          <a:prstGeom prst="rect">
            <a:avLst/>
          </a:prstGeom>
          <a:solidFill>
            <a:srgbClr val="06185F">
              <a:alpha val="88000"/>
            </a:srgbClr>
          </a:solidFill>
          <a:ln w="15240">
            <a:solidFill>
              <a:srgbClr val="06185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669280" y="1636776"/>
            <a:ext cx="334670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Framework…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137160" y="1883664"/>
            <a:ext cx="8915400" cy="155448"/>
          </a:xfrm>
          <a:prstGeom prst="rect">
            <a:avLst/>
          </a:prstGeom>
          <a:solidFill>
            <a:srgbClr val="085CE5">
              <a:alpha val="90000"/>
            </a:srgbClr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8600" y="1883664"/>
            <a:ext cx="8686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37160" y="2039112"/>
            <a:ext cx="8915400" cy="228600"/>
          </a:xfrm>
          <a:prstGeom prst="rect">
            <a:avLst/>
          </a:prstGeom>
          <a:solidFill>
            <a:srgbClr val="E7ECF0">
              <a:alpha val="30000"/>
            </a:srgbClr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2024" y="2048256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Requirements &amp; Design Baseline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2194560" y="2075688"/>
            <a:ext cx="2255520" cy="155448"/>
          </a:xfrm>
          <a:prstGeom prst="rect">
            <a:avLst/>
          </a:prstGeom>
          <a:solidFill>
            <a:srgbClr val="085CE5">
              <a:alpha val="60000"/>
            </a:srgbClr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31136" y="2075688"/>
            <a:ext cx="22006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 Progress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137160" y="2286000"/>
            <a:ext cx="89154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2024" y="2295144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 — Platform Launch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4486656" y="2322576"/>
            <a:ext cx="1491488" cy="155448"/>
          </a:xfrm>
          <a:prstGeom prst="rect">
            <a:avLst/>
          </a:prstGeom>
          <a:solidFill>
            <a:srgbClr val="085CE5">
              <a:alpha val="88000"/>
            </a:srgbClr>
          </a:solidFill>
          <a:ln w="15240">
            <a:solidFill>
              <a:srgbClr val="085CE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23232" y="2322576"/>
            <a:ext cx="14366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Dashboar…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137160" y="2532888"/>
            <a:ext cx="8915400" cy="228600"/>
          </a:xfrm>
          <a:prstGeom prst="rect">
            <a:avLst/>
          </a:prstGeom>
          <a:solidFill>
            <a:srgbClr val="E7ECF0">
              <a:alpha val="30000"/>
            </a:srgbClr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" y="2542032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Explorer + Drift Monitoring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5632704" y="2569464"/>
            <a:ext cx="3401568" cy="155448"/>
          </a:xfrm>
          <a:prstGeom prst="rect">
            <a:avLst/>
          </a:prstGeom>
          <a:solidFill>
            <a:srgbClr val="085CE5">
              <a:alpha val="88000"/>
            </a:srgbClr>
          </a:solidFill>
          <a:ln w="15240">
            <a:solidFill>
              <a:srgbClr val="085CE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669280" y="2569464"/>
            <a:ext cx="334670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Explorer + …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137160" y="2816352"/>
            <a:ext cx="8915400" cy="155448"/>
          </a:xfrm>
          <a:prstGeom prst="rect">
            <a:avLst/>
          </a:prstGeom>
          <a:solidFill>
            <a:srgbClr val="0A5CA8">
              <a:alpha val="90000"/>
            </a:srgbClr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8600" y="2816352"/>
            <a:ext cx="8686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37160" y="2971800"/>
            <a:ext cx="8915400" cy="228600"/>
          </a:xfrm>
          <a:prstGeom prst="rect">
            <a:avLst/>
          </a:prstGeom>
          <a:solidFill>
            <a:srgbClr val="E7ECF0">
              <a:alpha val="30000"/>
            </a:srgbClr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92024" y="2980944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 Architecture &amp; FI Data Access Agreements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2194560" y="3008376"/>
            <a:ext cx="2255520" cy="155448"/>
          </a:xfrm>
          <a:prstGeom prst="rect">
            <a:avLst/>
          </a:prstGeom>
          <a:solidFill>
            <a:srgbClr val="0A5CA8">
              <a:alpha val="60000"/>
            </a:srgbClr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231136" y="3008376"/>
            <a:ext cx="22006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 Progress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137160" y="3218688"/>
            <a:ext cx="89154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92024" y="3227832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Mediation + Zelle Memo Intelligence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4486656" y="3255264"/>
            <a:ext cx="2255520" cy="155448"/>
          </a:xfrm>
          <a:prstGeom prst="rect">
            <a:avLst/>
          </a:prstGeom>
          <a:solidFill>
            <a:srgbClr val="0A5CA8">
              <a:alpha val="88000"/>
            </a:srgbClr>
          </a:solidFill>
          <a:ln w="15240">
            <a:solidFill>
              <a:srgbClr val="0A5CA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523232" y="3255264"/>
            <a:ext cx="22006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Mediation + Zell…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137160" y="3465576"/>
            <a:ext cx="8915400" cy="228600"/>
          </a:xfrm>
          <a:prstGeom prst="rect">
            <a:avLst/>
          </a:prstGeom>
          <a:solidFill>
            <a:srgbClr val="E7ECF0">
              <a:alpha val="30000"/>
            </a:srgbClr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92024" y="3474720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Report AI Scale + Account Opening LTV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6778752" y="3502152"/>
            <a:ext cx="2255520" cy="155448"/>
          </a:xfrm>
          <a:prstGeom prst="rect">
            <a:avLst/>
          </a:prstGeom>
          <a:solidFill>
            <a:srgbClr val="0A5CA8">
              <a:alpha val="88000"/>
            </a:srgbClr>
          </a:solidFill>
          <a:ln w="15240">
            <a:solidFill>
              <a:srgbClr val="0A5CA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815328" y="3502152"/>
            <a:ext cx="22006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Report AI Scale +…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137160" y="3749040"/>
            <a:ext cx="8915400" cy="155448"/>
          </a:xfrm>
          <a:prstGeom prst="rect">
            <a:avLst/>
          </a:prstGeom>
          <a:solidFill>
            <a:srgbClr val="0A5C47">
              <a:alpha val="90000"/>
            </a:srgbClr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28600" y="3749040"/>
            <a:ext cx="8686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137160" y="3904488"/>
            <a:ext cx="8915400" cy="228600"/>
          </a:xfrm>
          <a:prstGeom prst="rect">
            <a:avLst/>
          </a:prstGeom>
          <a:solidFill>
            <a:srgbClr val="E7ECF0">
              <a:alpha val="30000"/>
            </a:srgbClr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92024" y="3913632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Platform: Feature Store, Experiment Tracking &amp; Registry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2194560" y="3941064"/>
            <a:ext cx="2255520" cy="155448"/>
          </a:xfrm>
          <a:prstGeom prst="rect">
            <a:avLst/>
          </a:prstGeom>
          <a:solidFill>
            <a:srgbClr val="0A5C47">
              <a:alpha val="60000"/>
            </a:srgbClr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31136" y="3941064"/>
            <a:ext cx="22006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 Progress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137160" y="4151376"/>
            <a:ext cx="89154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92024" y="4160520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Streaming Production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4486656" y="4187952"/>
            <a:ext cx="2255520" cy="155448"/>
          </a:xfrm>
          <a:prstGeom prst="rect">
            <a:avLst/>
          </a:prstGeom>
          <a:solidFill>
            <a:srgbClr val="0A5C47">
              <a:alpha val="88000"/>
            </a:srgbClr>
          </a:solidFill>
          <a:ln w="15240">
            <a:solidFill>
              <a:srgbClr val="0A5C47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523232" y="4187952"/>
            <a:ext cx="22006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St…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137160" y="4398264"/>
            <a:ext cx="8915400" cy="228600"/>
          </a:xfrm>
          <a:prstGeom prst="rect">
            <a:avLst/>
          </a:prstGeom>
          <a:solidFill>
            <a:srgbClr val="E7ECF0">
              <a:alpha val="30000"/>
            </a:srgbClr>
          </a:solidFill>
          <a:ln w="3810">
            <a:solidFill>
              <a:srgbClr val="E0E4E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92024" y="4407408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 + Horizon App Scoping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6778752" y="4434840"/>
            <a:ext cx="2255520" cy="155448"/>
          </a:xfrm>
          <a:prstGeom prst="rect">
            <a:avLst/>
          </a:prstGeom>
          <a:solidFill>
            <a:srgbClr val="0A5C47">
              <a:alpha val="88000"/>
            </a:srgbClr>
          </a:solidFill>
          <a:ln w="15240">
            <a:solidFill>
              <a:srgbClr val="0A5C4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815328" y="4434840"/>
            <a:ext cx="22006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 + Horiz…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3297674" y="566928"/>
            <a:ext cx="0" cy="4325112"/>
          </a:xfrm>
          <a:prstGeom prst="line">
            <a:avLst/>
          </a:prstGeom>
          <a:noFill/>
          <a:ln w="19050">
            <a:solidFill>
              <a:srgbClr val="D030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078218" y="571500"/>
            <a:ext cx="438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— Staffing Transition Plan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Ramp-Down · 3-Wave FTE Conversion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  ·  JHBI  ·  Confidential  ·  FY27  ·  Jul 2026 – Jun 2027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32688" y="905256"/>
            <a:ext cx="2706624" cy="3502152"/>
          </a:xfrm>
          <a:prstGeom prst="rect">
            <a:avLst/>
          </a:prstGeom>
          <a:solidFill>
            <a:srgbClr val="D8DBE0">
              <a:alpha val="45000"/>
            </a:srgbClr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566928"/>
            <a:ext cx="2706624" cy="169164"/>
          </a:xfrm>
          <a:prstGeom prst="rect">
            <a:avLst/>
          </a:prstGeom>
          <a:solidFill>
            <a:srgbClr val="575A5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66928"/>
            <a:ext cx="267004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H2  ·  Foundation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39312" y="566928"/>
            <a:ext cx="1353312" cy="169164"/>
          </a:xfrm>
          <a:prstGeom prst="rect">
            <a:avLst/>
          </a:prstGeom>
          <a:solidFill>
            <a:srgbClr val="0618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566928"/>
            <a:ext cx="13167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FY27 ·  Wave 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992624" y="566928"/>
            <a:ext cx="1353312" cy="169164"/>
          </a:xfrm>
          <a:prstGeom prst="rect">
            <a:avLst/>
          </a:prstGeom>
          <a:solidFill>
            <a:srgbClr val="085C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566928"/>
            <a:ext cx="13167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FY27 ·  Wave 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345936" y="566928"/>
            <a:ext cx="1353312" cy="169164"/>
          </a:xfrm>
          <a:prstGeom prst="rect">
            <a:avLst/>
          </a:prstGeom>
          <a:solidFill>
            <a:srgbClr val="0A5C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566928"/>
            <a:ext cx="13167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FY27 ·  Wave 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699248" y="566928"/>
            <a:ext cx="1353312" cy="169164"/>
          </a:xfrm>
          <a:prstGeom prst="rect">
            <a:avLst/>
          </a:prstGeom>
          <a:solidFill>
            <a:srgbClr val="0A5C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7536" y="566928"/>
            <a:ext cx="131673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FY27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32688" y="736092"/>
            <a:ext cx="451104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1383792" y="736092"/>
            <a:ext cx="451104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3792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1834896" y="736092"/>
            <a:ext cx="451104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34896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2286000" y="736092"/>
            <a:ext cx="451104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737104" y="736092"/>
            <a:ext cx="451104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37104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3188208" y="736092"/>
            <a:ext cx="451104" cy="169164"/>
          </a:xfrm>
          <a:prstGeom prst="rect">
            <a:avLst/>
          </a:prstGeom>
          <a:solidFill>
            <a:srgbClr val="575A5D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8208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3639312" y="736092"/>
            <a:ext cx="451104" cy="169164"/>
          </a:xfrm>
          <a:prstGeom prst="rect">
            <a:avLst/>
          </a:prstGeom>
          <a:solidFill>
            <a:srgbClr val="06185F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090416" y="736092"/>
            <a:ext cx="451104" cy="169164"/>
          </a:xfrm>
          <a:prstGeom prst="rect">
            <a:avLst/>
          </a:prstGeom>
          <a:solidFill>
            <a:srgbClr val="06185F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90416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4541520" y="736092"/>
            <a:ext cx="451104" cy="169164"/>
          </a:xfrm>
          <a:prstGeom prst="rect">
            <a:avLst/>
          </a:prstGeom>
          <a:solidFill>
            <a:srgbClr val="06185F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1520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992624" y="736092"/>
            <a:ext cx="451104" cy="169164"/>
          </a:xfrm>
          <a:prstGeom prst="rect">
            <a:avLst/>
          </a:prstGeom>
          <a:solidFill>
            <a:srgbClr val="085CE5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5443728" y="736092"/>
            <a:ext cx="451104" cy="169164"/>
          </a:xfrm>
          <a:prstGeom prst="rect">
            <a:avLst/>
          </a:prstGeom>
          <a:solidFill>
            <a:srgbClr val="085CE5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3728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5894832" y="736092"/>
            <a:ext cx="451104" cy="169164"/>
          </a:xfrm>
          <a:prstGeom prst="rect">
            <a:avLst/>
          </a:prstGeom>
          <a:solidFill>
            <a:srgbClr val="085CE5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4832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6345936" y="736092"/>
            <a:ext cx="451104" cy="169164"/>
          </a:xfrm>
          <a:prstGeom prst="rect">
            <a:avLst/>
          </a:prstGeom>
          <a:solidFill>
            <a:srgbClr val="0A5CA8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6797040" y="736092"/>
            <a:ext cx="451104" cy="169164"/>
          </a:xfrm>
          <a:prstGeom prst="rect">
            <a:avLst/>
          </a:prstGeom>
          <a:solidFill>
            <a:srgbClr val="0A5CA8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97040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7248144" y="736092"/>
            <a:ext cx="451104" cy="169164"/>
          </a:xfrm>
          <a:prstGeom prst="rect">
            <a:avLst/>
          </a:prstGeom>
          <a:solidFill>
            <a:srgbClr val="0A5CA8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48144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7699248" y="736092"/>
            <a:ext cx="451104" cy="169164"/>
          </a:xfrm>
          <a:prstGeom prst="rect">
            <a:avLst/>
          </a:prstGeom>
          <a:solidFill>
            <a:srgbClr val="0A5C47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8150352" y="736092"/>
            <a:ext cx="451104" cy="169164"/>
          </a:xfrm>
          <a:prstGeom prst="rect">
            <a:avLst/>
          </a:prstGeom>
          <a:solidFill>
            <a:srgbClr val="0A5C47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50352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8601456" y="736092"/>
            <a:ext cx="451104" cy="169164"/>
          </a:xfrm>
          <a:prstGeom prst="rect">
            <a:avLst/>
          </a:prstGeom>
          <a:solidFill>
            <a:srgbClr val="0A5C47">
              <a:alpha val="7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01456" y="736092"/>
            <a:ext cx="45110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877824" y="4407408"/>
            <a:ext cx="54864" cy="0"/>
          </a:xfrm>
          <a:prstGeom prst="line">
            <a:avLst/>
          </a:prstGeom>
          <a:noFill/>
          <a:ln w="6350">
            <a:solidFill>
              <a:srgbClr val="B6BB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31596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932688" y="3928001"/>
            <a:ext cx="8119872" cy="0"/>
          </a:xfrm>
          <a:prstGeom prst="line">
            <a:avLst/>
          </a:prstGeom>
          <a:noFill/>
          <a:ln w="5080">
            <a:solidFill>
              <a:srgbClr val="E7EC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824" y="3928001"/>
            <a:ext cx="54864" cy="0"/>
          </a:xfrm>
          <a:prstGeom prst="line">
            <a:avLst/>
          </a:prstGeom>
          <a:noFill/>
          <a:ln w="6350">
            <a:solidFill>
              <a:srgbClr val="B6BB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" y="3836561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932688" y="3448594"/>
            <a:ext cx="8119872" cy="0"/>
          </a:xfrm>
          <a:prstGeom prst="line">
            <a:avLst/>
          </a:prstGeom>
          <a:noFill/>
          <a:ln w="5080">
            <a:solidFill>
              <a:srgbClr val="E7EC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7824" y="3448594"/>
            <a:ext cx="54864" cy="0"/>
          </a:xfrm>
          <a:prstGeom prst="line">
            <a:avLst/>
          </a:prstGeom>
          <a:noFill/>
          <a:ln w="6350">
            <a:solidFill>
              <a:srgbClr val="B6BB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335715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932688" y="2969187"/>
            <a:ext cx="8119872" cy="0"/>
          </a:xfrm>
          <a:prstGeom prst="line">
            <a:avLst/>
          </a:prstGeom>
          <a:noFill/>
          <a:ln w="5080">
            <a:solidFill>
              <a:srgbClr val="E7EC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2969187"/>
            <a:ext cx="54864" cy="0"/>
          </a:xfrm>
          <a:prstGeom prst="line">
            <a:avLst/>
          </a:prstGeom>
          <a:noFill/>
          <a:ln w="6350">
            <a:solidFill>
              <a:srgbClr val="B6BB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7160" y="2877747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932688" y="2489781"/>
            <a:ext cx="8119872" cy="0"/>
          </a:xfrm>
          <a:prstGeom prst="line">
            <a:avLst/>
          </a:prstGeom>
          <a:noFill/>
          <a:ln w="5080">
            <a:solidFill>
              <a:srgbClr val="E7EC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7824" y="2489781"/>
            <a:ext cx="54864" cy="0"/>
          </a:xfrm>
          <a:prstGeom prst="line">
            <a:avLst/>
          </a:prstGeom>
          <a:noFill/>
          <a:ln w="6350">
            <a:solidFill>
              <a:srgbClr val="B6BB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7160" y="2398341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932688" y="2010374"/>
            <a:ext cx="8119872" cy="0"/>
          </a:xfrm>
          <a:prstGeom prst="line">
            <a:avLst/>
          </a:prstGeom>
          <a:noFill/>
          <a:ln w="5080">
            <a:solidFill>
              <a:srgbClr val="E7EC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7824" y="2010374"/>
            <a:ext cx="54864" cy="0"/>
          </a:xfrm>
          <a:prstGeom prst="line">
            <a:avLst/>
          </a:prstGeom>
          <a:noFill/>
          <a:ln w="6350">
            <a:solidFill>
              <a:srgbClr val="B6BBC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7160" y="191893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932688" y="1530967"/>
            <a:ext cx="8119872" cy="0"/>
          </a:xfrm>
          <a:prstGeom prst="line">
            <a:avLst/>
          </a:prstGeom>
          <a:noFill/>
          <a:ln w="5080">
            <a:solidFill>
              <a:srgbClr val="E7EC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1530967"/>
            <a:ext cx="54864" cy="0"/>
          </a:xfrm>
          <a:prstGeom prst="line">
            <a:avLst/>
          </a:prstGeom>
          <a:noFill/>
          <a:ln w="6350">
            <a:solidFill>
              <a:srgbClr val="B6BBC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7160" y="1439527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932688" y="1051560"/>
            <a:ext cx="8119872" cy="0"/>
          </a:xfrm>
          <a:prstGeom prst="line">
            <a:avLst/>
          </a:prstGeom>
          <a:noFill/>
          <a:ln w="5080">
            <a:solidFill>
              <a:srgbClr val="E7EC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7824" y="1051560"/>
            <a:ext cx="54864" cy="0"/>
          </a:xfrm>
          <a:prstGeom prst="line">
            <a:avLst/>
          </a:prstGeom>
          <a:noFill/>
          <a:ln w="6350">
            <a:solidFill>
              <a:srgbClr val="B6BBC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37160" y="9601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 rot="16200000">
            <a:off x="0" y="2363724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932688" y="1051560"/>
            <a:ext cx="0" cy="3355848"/>
          </a:xfrm>
          <a:prstGeom prst="line">
            <a:avLst/>
          </a:prstGeom>
          <a:noFill/>
          <a:ln w="10160">
            <a:solidFill>
              <a:srgbClr val="575A5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83792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34896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86000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37104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188208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39312" y="1051560"/>
            <a:ext cx="0" cy="3355848"/>
          </a:xfrm>
          <a:prstGeom prst="line">
            <a:avLst/>
          </a:prstGeom>
          <a:noFill/>
          <a:ln w="10160">
            <a:solidFill>
              <a:srgbClr val="575A5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090416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41520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92624" y="1051560"/>
            <a:ext cx="0" cy="3355848"/>
          </a:xfrm>
          <a:prstGeom prst="line">
            <a:avLst/>
          </a:prstGeom>
          <a:noFill/>
          <a:ln w="10160">
            <a:solidFill>
              <a:srgbClr val="575A5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43728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94832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45936" y="1051560"/>
            <a:ext cx="0" cy="3355848"/>
          </a:xfrm>
          <a:prstGeom prst="line">
            <a:avLst/>
          </a:prstGeom>
          <a:noFill/>
          <a:ln w="10160">
            <a:solidFill>
              <a:srgbClr val="575A5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97040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248144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699248" y="1051560"/>
            <a:ext cx="0" cy="3355848"/>
          </a:xfrm>
          <a:prstGeom prst="line">
            <a:avLst/>
          </a:prstGeom>
          <a:noFill/>
          <a:ln w="10160">
            <a:solidFill>
              <a:srgbClr val="575A5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50352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601456" y="1051560"/>
            <a:ext cx="0" cy="3355848"/>
          </a:xfrm>
          <a:prstGeom prst="line">
            <a:avLst/>
          </a:prstGeom>
          <a:noFill/>
          <a:ln w="3810">
            <a:solidFill>
              <a:srgbClr val="E7EC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052560" y="1051560"/>
            <a:ext cx="0" cy="3355848"/>
          </a:xfrm>
          <a:prstGeom prst="line">
            <a:avLst/>
          </a:prstGeom>
          <a:noFill/>
          <a:ln w="10160">
            <a:solidFill>
              <a:srgbClr val="575A5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32688" y="4407408"/>
            <a:ext cx="8119872" cy="0"/>
          </a:xfrm>
          <a:prstGeom prst="line">
            <a:avLst/>
          </a:prstGeom>
          <a:noFill/>
          <a:ln w="12700">
            <a:solidFill>
              <a:srgbClr val="575A5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69264" y="3928001"/>
            <a:ext cx="2633472" cy="479407"/>
          </a:xfrm>
          <a:prstGeom prst="rect">
            <a:avLst/>
          </a:prstGeom>
          <a:solidFill>
            <a:srgbClr val="085CE5">
              <a:alpha val="78000"/>
            </a:srgbClr>
          </a:solidFill>
          <a:ln w="10160">
            <a:solidFill>
              <a:srgbClr val="085CE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69264" y="3964577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FTEs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969264" y="2729484"/>
            <a:ext cx="2633472" cy="1198517"/>
          </a:xfrm>
          <a:prstGeom prst="rect">
            <a:avLst/>
          </a:prstGeom>
          <a:solidFill>
            <a:srgbClr val="0A5CA8">
              <a:alpha val="72000"/>
            </a:srgbClr>
          </a:solidFill>
          <a:ln w="10160">
            <a:solidFill>
              <a:srgbClr val="0A5CA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69264" y="2766060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Contractors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969264" y="252831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7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969264" y="446227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H2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675888" y="3208891"/>
            <a:ext cx="1280160" cy="1198517"/>
          </a:xfrm>
          <a:prstGeom prst="rect">
            <a:avLst/>
          </a:prstGeom>
          <a:solidFill>
            <a:srgbClr val="085CE5">
              <a:alpha val="78000"/>
            </a:srgbClr>
          </a:solidFill>
          <a:ln w="10160">
            <a:solidFill>
              <a:srgbClr val="085CE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75888" y="3245467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FTEs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3675888" y="2250077"/>
            <a:ext cx="1280160" cy="958814"/>
          </a:xfrm>
          <a:prstGeom prst="rect">
            <a:avLst/>
          </a:prstGeom>
          <a:solidFill>
            <a:srgbClr val="0A5CA8">
              <a:alpha val="72000"/>
            </a:srgbClr>
          </a:solidFill>
          <a:ln w="10160">
            <a:solidFill>
              <a:srgbClr val="0A5CA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75888" y="2286653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Contractors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3675888" y="20489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3675888" y="4462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029200" y="2489781"/>
            <a:ext cx="1280160" cy="1917627"/>
          </a:xfrm>
          <a:prstGeom prst="rect">
            <a:avLst/>
          </a:prstGeom>
          <a:solidFill>
            <a:srgbClr val="085CE5">
              <a:alpha val="78000"/>
            </a:srgbClr>
          </a:solidFill>
          <a:ln w="10160">
            <a:solidFill>
              <a:srgbClr val="085CE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029200" y="2526357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FTEs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029200" y="2010374"/>
            <a:ext cx="1280160" cy="479407"/>
          </a:xfrm>
          <a:prstGeom prst="rect">
            <a:avLst/>
          </a:prstGeom>
          <a:solidFill>
            <a:srgbClr val="0A5CA8">
              <a:alpha val="72000"/>
            </a:srgbClr>
          </a:solidFill>
          <a:ln w="10160">
            <a:solidFill>
              <a:srgbClr val="0A5CA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29200" y="204695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Contractors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5029200" y="180920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5029200" y="4462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382512" y="1770670"/>
            <a:ext cx="2633472" cy="2636738"/>
          </a:xfrm>
          <a:prstGeom prst="rect">
            <a:avLst/>
          </a:prstGeom>
          <a:solidFill>
            <a:srgbClr val="085CE5">
              <a:alpha val="78000"/>
            </a:srgbClr>
          </a:solidFill>
          <a:ln w="10160">
            <a:solidFill>
              <a:srgbClr val="085CE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382512" y="1807246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FTEs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6382512" y="1569502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11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6382512" y="446227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Q3+ FY27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3639312" y="1051560"/>
            <a:ext cx="0" cy="3355848"/>
          </a:xfrm>
          <a:prstGeom prst="line">
            <a:avLst/>
          </a:prstGeom>
          <a:noFill/>
          <a:ln w="20320">
            <a:solidFill>
              <a:srgbClr val="C0404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675888" y="10881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Wave 1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992624" y="1051560"/>
            <a:ext cx="0" cy="3355848"/>
          </a:xfrm>
          <a:prstGeom prst="line">
            <a:avLst/>
          </a:prstGeom>
          <a:noFill/>
          <a:ln w="20320">
            <a:solidFill>
              <a:srgbClr val="C0404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029200" y="10881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Wave 2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345936" y="1051560"/>
            <a:ext cx="0" cy="3355848"/>
          </a:xfrm>
          <a:prstGeom prst="line">
            <a:avLst/>
          </a:prstGeom>
          <a:noFill/>
          <a:ln w="20320">
            <a:solidFill>
              <a:srgbClr val="C040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382512" y="10881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Wave 3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3474720" y="4663440"/>
            <a:ext cx="182880" cy="12801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730752" y="4626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FTEs (Full-Time)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5852160" y="4663440"/>
            <a:ext cx="182880" cy="128016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08192" y="4626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137160" y="46451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Headcount figures are illustrative — update with actuals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Analytics — Phase 1 Business Case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Value  ·  ARR Scaling  ·  8,000+ FI Clients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  ·  JHBI  ·  Confidential  ·  FY27  ·  Jul 2026 – Jun 2027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585216"/>
            <a:ext cx="1609344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85216"/>
            <a:ext cx="1609344" cy="402336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61264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042416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$1–3M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0624" y="149047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/yr per FI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93776" y="1700784"/>
            <a:ext cx="135331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7373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churn reduction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8912" y="2359152"/>
            <a:ext cx="1463040" cy="201168"/>
          </a:xfrm>
          <a:prstGeom prst="rect">
            <a:avLst/>
          </a:prstGeom>
          <a:solidFill>
            <a:srgbClr val="0A5CA8">
              <a:alpha val="86000"/>
            </a:srgbClr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59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66544" y="585216"/>
            <a:ext cx="1609344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66544" y="585216"/>
            <a:ext cx="1609344" cy="40233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61264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21408" y="1042416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$250–600K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121408" y="149047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/yr per FI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94560" y="1700784"/>
            <a:ext cx="135331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39696" y="17373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manual review reduction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139696" y="2359152"/>
            <a:ext cx="1463040" cy="201168"/>
          </a:xfrm>
          <a:prstGeom prst="rect">
            <a:avLst/>
          </a:prstGeom>
          <a:solidFill>
            <a:srgbClr val="085CE5">
              <a:alpha val="86000"/>
            </a:srgbClr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2359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67328" y="585216"/>
            <a:ext cx="1609344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67328" y="585216"/>
            <a:ext cx="1609344" cy="402336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61264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22192" y="1042416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$1–2M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3822192" y="149047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/yr per FI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95344" y="1700784"/>
            <a:ext cx="135331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17373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false-positive reduction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0" y="2359152"/>
            <a:ext cx="1463040" cy="201168"/>
          </a:xfrm>
          <a:prstGeom prst="rect">
            <a:avLst/>
          </a:prstGeom>
          <a:solidFill>
            <a:srgbClr val="0A5C47">
              <a:alpha val="86000"/>
            </a:srgbClr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2359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68112" y="585216"/>
            <a:ext cx="1609344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68112" y="585216"/>
            <a:ext cx="1609344" cy="40233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22976" y="61264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22976" y="1042416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$100–300K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522976" y="149047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/yr per FI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596128" y="1700784"/>
            <a:ext cx="135331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17373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prep &amp; peer benchmarking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41264" y="2359152"/>
            <a:ext cx="1463040" cy="201168"/>
          </a:xfrm>
          <a:prstGeom prst="rect">
            <a:avLst/>
          </a:prstGeom>
          <a:solidFill>
            <a:srgbClr val="06185F">
              <a:alpha val="86000"/>
            </a:srgbClr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41264" y="2359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68896" y="585216"/>
            <a:ext cx="1609344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68896" y="585216"/>
            <a:ext cx="1609344" cy="402336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612648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LTV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23760" y="1042416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$500K–1.5M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7223760" y="149047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/yr per FI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296912" y="1700784"/>
            <a:ext cx="135331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17373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 cross-sell lift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242048" y="2359152"/>
            <a:ext cx="1463040" cy="201168"/>
          </a:xfrm>
          <a:prstGeom prst="rect">
            <a:avLst/>
          </a:prstGeom>
          <a:solidFill>
            <a:srgbClr val="0A5CA8">
              <a:alpha val="86000"/>
            </a:srgbClr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2359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2743200"/>
            <a:ext cx="8412480" cy="42062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74320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$3–7.5M / year combined value per FI client · conservative estimate for a mid-size $1B deposits community bank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255264"/>
            <a:ext cx="2560320" cy="676656"/>
          </a:xfrm>
          <a:prstGeom prst="rect">
            <a:avLst/>
          </a:prstGeom>
          <a:solidFill>
            <a:srgbClr val="085CE5">
              <a:alpha val="92000"/>
            </a:srgbClr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300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$19.5M ARR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57200" y="3639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FIs  ·  6% of JH client base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91840" y="3255264"/>
            <a:ext cx="2560320" cy="676656"/>
          </a:xfrm>
          <a:prstGeom prst="rect">
            <a:avLst/>
          </a:prstGeom>
          <a:solidFill>
            <a:srgbClr val="0A5CA8">
              <a:alpha val="92000"/>
            </a:srgbClr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0" y="3300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$78M ARR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291840" y="3639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FIs  ·  25% of JH client base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26480" y="3255264"/>
            <a:ext cx="2560320" cy="676656"/>
          </a:xfrm>
          <a:prstGeom prst="rect">
            <a:avLst/>
          </a:prstGeom>
          <a:solidFill>
            <a:srgbClr val="0A5C47">
              <a:alpha val="92000"/>
            </a:srgbClr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3300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$312M+ ARR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6126480" y="3639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FIs  ·  Full JH client base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65760" y="401421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estimates based on avg. subscription value across tiers. Adoption rates modeled at 6%, 25%, and 100% of JH’s 8,000+ FI client base. Sources: Mordor Intelligence, ICBA / Cornerstone 2025 survey.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Analytics — FY27 Quarterly 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 FY27  |  Alternate Layout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henry™  ·  JHBI  ·  Confidential  ·  FY27  ·  Jul 2026 – Jun 2027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74904" y="576072"/>
            <a:ext cx="2029968" cy="43891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576072"/>
            <a:ext cx="93378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 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08689" y="576072"/>
            <a:ext cx="1096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'26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74904" y="110642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618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" y="1106424"/>
            <a:ext cx="64008" cy="74980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1430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4632" y="134416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37160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Data Pipeline — FI Connectivity Layer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" y="192938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85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" y="1929384"/>
            <a:ext cx="64008" cy="74980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196596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4632" y="216712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19456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 — Platform MVP Launch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" y="275234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A5C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" y="2752344"/>
            <a:ext cx="64008" cy="749808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78892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84632" y="299008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01752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Mediation MVP — JH CRM Integration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4904" y="357530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A5C4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" y="3575304"/>
            <a:ext cx="64008" cy="749808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6118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84632" y="381304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84048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Serving Infrastructure &amp; Feature Store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96312" y="576072"/>
            <a:ext cx="2029968" cy="43891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576072"/>
            <a:ext cx="93378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 Q2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30097" y="576072"/>
            <a:ext cx="1096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'26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96312" y="110642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618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96312" y="1106424"/>
            <a:ext cx="64008" cy="74980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11430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134416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137160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 &amp; Lineage Tracking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496312" y="192938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85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96312" y="1929384"/>
            <a:ext cx="64008" cy="74980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196596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606040" y="216712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219456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Explorer — Banker-Facing Interface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96312" y="275234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A5C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496312" y="2752344"/>
            <a:ext cx="64008" cy="749808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278892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06040" y="299008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6040" y="301752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Intelligence — NLP Pipeline Live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496312" y="357530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A5C4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496312" y="3575304"/>
            <a:ext cx="64008" cy="749808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36118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606040" y="381304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06040" y="384048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Streaming Production Launch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17720" y="576072"/>
            <a:ext cx="2029968" cy="438912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576072"/>
            <a:ext cx="93378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 Q3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551505" y="576072"/>
            <a:ext cx="1096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'27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17720" y="110642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618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17720" y="1106424"/>
            <a:ext cx="64008" cy="74980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27448" y="11430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727448" y="134416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27448" y="137160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Kafka Streaming Infrastructure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17720" y="192938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85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17720" y="1929384"/>
            <a:ext cx="64008" cy="74980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7448" y="196596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727448" y="216712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27448" y="219456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Monitoring &amp; Alert Engine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17720" y="275234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A5C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17720" y="2752344"/>
            <a:ext cx="64008" cy="749808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27448" y="278892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727448" y="299008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27448" y="301752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Report AI — Full CU Client Rollout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617720" y="357530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A5C4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17720" y="3575304"/>
            <a:ext cx="64008" cy="749808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27448" y="36118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727448" y="381304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27448" y="384048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 — Full CI/CD &amp; Governance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739128" y="576072"/>
            <a:ext cx="2029968" cy="438912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39128" y="576072"/>
            <a:ext cx="93378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 Q4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672913" y="576072"/>
            <a:ext cx="1096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'27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739128" y="110642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6185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739128" y="1106424"/>
            <a:ext cx="64008" cy="74980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48856" y="11430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848856" y="134416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48856" y="137160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Catalog &amp; Governance Framework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739128" y="192938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85C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739128" y="1929384"/>
            <a:ext cx="64008" cy="74980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48856" y="196596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848856" y="216712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48856" y="219456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Analytics Surface — Business Users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739128" y="275234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A5C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739128" y="2752344"/>
            <a:ext cx="64008" cy="749808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48856" y="278892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848856" y="299008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48856" y="301752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Opening LTV — JH Platform Launch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739128" y="3575304"/>
            <a:ext cx="202996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A5C4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6739128" y="3575304"/>
            <a:ext cx="64008" cy="749808"/>
          </a:xfrm>
          <a:prstGeom prst="rect">
            <a:avLst/>
          </a:prstGeom>
          <a:solidFill>
            <a:srgbClr val="0A5C47"/>
          </a:solidFill>
          <a:ln w="12700">
            <a:solidFill>
              <a:srgbClr val="0A5C4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48856" y="36118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848856" y="3813048"/>
            <a:ext cx="1856232" cy="0"/>
          </a:xfrm>
          <a:prstGeom prst="line">
            <a:avLst/>
          </a:prstGeom>
          <a:noFill/>
          <a:ln w="6350">
            <a:solidFill>
              <a:srgbClr val="E7EC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48856" y="384048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Propensity Engine (Horizon Phase 1)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Analytics — FY27 Strategic Roadmap</dc:title>
  <dc:subject>PptxGenJS Presentation</dc:subject>
  <dc:creator>PptxGenJS</dc:creator>
  <cp:lastModifiedBy>PptxGenJS</cp:lastModifiedBy>
  <cp:revision>1</cp:revision>
  <dcterms:created xsi:type="dcterms:W3CDTF">2026-04-02T02:11:06Z</dcterms:created>
  <dcterms:modified xsi:type="dcterms:W3CDTF">2026-04-02T02:11:06Z</dcterms:modified>
</cp:coreProperties>
</file>