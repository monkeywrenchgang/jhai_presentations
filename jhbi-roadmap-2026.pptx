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Strategic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 FY27  ·  Jul 2026 – Jun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526280" cy="0"/>
          </a:xfrm>
          <a:prstGeom prst="line">
            <a:avLst/>
          </a:prstGeom>
          <a:noFill/>
          <a:ln w="19050">
            <a:solidFill>
              <a:srgbClr val="085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218688"/>
            <a:ext cx="1993392" cy="475488"/>
          </a:xfrm>
          <a:prstGeom prst="rect">
            <a:avLst/>
          </a:prstGeom>
          <a:solidFill>
            <a:srgbClr val="06185F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3218688"/>
            <a:ext cx="1993392" cy="475488"/>
          </a:xfrm>
          <a:prstGeom prst="rect">
            <a:avLst/>
          </a:prstGeom>
          <a:solidFill>
            <a:srgbClr val="085CE5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1576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3218688"/>
            <a:ext cx="1993392" cy="475488"/>
          </a:xfrm>
          <a:prstGeom prst="rect">
            <a:avLst/>
          </a:prstGeom>
          <a:solidFill>
            <a:srgbClr val="0A5CA8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2280" y="3218688"/>
            <a:ext cx="1993392" cy="475488"/>
          </a:xfrm>
          <a:prstGeom prst="rect">
            <a:avLst/>
          </a:prstGeom>
          <a:solidFill>
            <a:srgbClr val="0A5C47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use  ·  Executive briefing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Investment Pillars — What We Are Building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47472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566928"/>
            <a:ext cx="2029968" cy="4572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75488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5488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5488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and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anonymized FI benchmarking data layer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487168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87168" y="566928"/>
            <a:ext cx="2029968" cy="457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5184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615184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15184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15184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client-facing risk score explorer (banker fact)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for business stakeholders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26864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566928"/>
            <a:ext cx="2029968" cy="4572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754880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 API Dev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18304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internal AI apps embedded in JH ecosystem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and workflow automation services layer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and full audit logging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66560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66560" y="566928"/>
            <a:ext cx="2029968" cy="4572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94576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94576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894576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Buildout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894576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 + experiment tracking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serving at scale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governance, bias review, and model card process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Team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Leadership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83280" y="576072"/>
            <a:ext cx="2377440" cy="58521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576072"/>
            <a:ext cx="2377440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6309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Ames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8869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Science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1888" y="576072"/>
            <a:ext cx="30175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HEADCOUNT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9846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434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96772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9018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7356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014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602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solidFill>
            <a:srgbClr val="0A5CA8">
              <a:alpha val="25000"/>
            </a:srgbClr>
          </a:solidFill>
          <a:ln w="6350">
            <a:solidFill>
              <a:srgbClr val="E7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 ·  1 Position  (MLOps Engineer)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·  13 Positions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161288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8384" y="1303020"/>
            <a:ext cx="6047232" cy="0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8384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5616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" y="1444752"/>
            <a:ext cx="2913888" cy="5852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Goolsby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2880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Software Development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237232" y="1508760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37232" y="1508760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3115056" y="1444752"/>
            <a:ext cx="2913888" cy="5852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15056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6496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206496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Mgr, JHBI Product Mgmt &amp; GTM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312054" y="1508760"/>
            <a:ext cx="625450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12054" y="1508760"/>
            <a:ext cx="62545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4682947" y="1508760"/>
            <a:ext cx="574243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2947" y="1508760"/>
            <a:ext cx="57424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6138672" y="1444752"/>
            <a:ext cx="2913888" cy="58521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38672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30112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230112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Lead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84464" y="1508760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84464" y="1508760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1548384" y="2029968"/>
            <a:ext cx="0" cy="128016"/>
          </a:xfrm>
          <a:prstGeom prst="line">
            <a:avLst/>
          </a:prstGeom>
          <a:noFill/>
          <a:ln w="15240">
            <a:solidFill>
              <a:srgbClr val="085C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6304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6304" y="2157984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37744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 &amp; Engineering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19456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6596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96596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1114552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14552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114552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2032508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3250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203250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46304" y="2834640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46304" y="2834640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37744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219456" y="3008376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6596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96596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1114552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14552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114552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2032508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032508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2032508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146304" y="3511296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46304" y="3511296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37744" y="353872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219456" y="3685032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6596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5" name="Text 83"/>
          <p:cNvSpPr/>
          <p:nvPr/>
        </p:nvSpPr>
        <p:spPr>
          <a:xfrm>
            <a:off x="196596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1114552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114552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114552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2032508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032508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032508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94" name="Shape 92"/>
          <p:cNvSpPr/>
          <p:nvPr/>
        </p:nvSpPr>
        <p:spPr>
          <a:xfrm>
            <a:off x="4572000" y="2029968"/>
            <a:ext cx="0" cy="128016"/>
          </a:xfrm>
          <a:prstGeom prst="line">
            <a:avLst/>
          </a:prstGeom>
          <a:noFill/>
          <a:ln w="15240">
            <a:solidFill>
              <a:srgbClr val="0A5CA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169920" y="2157984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69920" y="2157984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61360" y="2185416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Elspeth Bloodgood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3261360" y="236829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Go-to-Market &amp; Visualization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3169920" y="2651760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169920" y="2651760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261360" y="2679192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Ashley Greenhaw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3261360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Application Development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3169920" y="3145536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169920" y="3145536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261360" y="317296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Saunders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3261360" y="335584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Data Acq. &amp; Engineering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3169920" y="3639312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169920" y="3639312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261360" y="3666744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Nitesh Gupta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3261360" y="3849624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Analytics &amp; DS Platform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7595616" y="2029968"/>
            <a:ext cx="0" cy="128016"/>
          </a:xfrm>
          <a:prstGeom prst="line">
            <a:avLst/>
          </a:prstGeom>
          <a:noFill/>
          <a:ln w="15240">
            <a:solidFill>
              <a:srgbClr val="0A5C47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193536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193536" y="2157984"/>
            <a:ext cx="50292" cy="6217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4976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6266688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24382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5" name="Text 123"/>
          <p:cNvSpPr/>
          <p:nvPr/>
        </p:nvSpPr>
        <p:spPr>
          <a:xfrm>
            <a:off x="624382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126" name="Shape 124"/>
          <p:cNvSpPr/>
          <p:nvPr/>
        </p:nvSpPr>
        <p:spPr>
          <a:xfrm>
            <a:off x="7161784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61784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8" name="Text 126"/>
          <p:cNvSpPr/>
          <p:nvPr/>
        </p:nvSpPr>
        <p:spPr>
          <a:xfrm>
            <a:off x="7161784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129" name="Shape 127"/>
          <p:cNvSpPr/>
          <p:nvPr/>
        </p:nvSpPr>
        <p:spPr>
          <a:xfrm>
            <a:off x="8079740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8079740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8079740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132" name="Shape 130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34" name="Shape 132"/>
          <p:cNvSpPr/>
          <p:nvPr/>
        </p:nvSpPr>
        <p:spPr>
          <a:xfrm>
            <a:off x="6193536" y="2834640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193536" y="2834640"/>
            <a:ext cx="50292" cy="457200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6284976" y="2862072"/>
            <a:ext cx="2328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39" name="Text 137"/>
          <p:cNvSpPr/>
          <p:nvPr/>
        </p:nvSpPr>
        <p:spPr>
          <a:xfrm>
            <a:off x="6284976" y="3081528"/>
            <a:ext cx="26578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 · FY26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42" name="Shape 140"/>
          <p:cNvSpPr/>
          <p:nvPr/>
        </p:nvSpPr>
        <p:spPr>
          <a:xfrm>
            <a:off x="365760" y="4654296"/>
            <a:ext cx="164592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8521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hire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2743200" y="4654296"/>
            <a:ext cx="164592" cy="128016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296265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 — planned role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5120640" y="4654296"/>
            <a:ext cx="164592" cy="128016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34009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Program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594360"/>
            <a:ext cx="73152" cy="20665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594360"/>
            <a:ext cx="4224528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" y="12161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16733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21305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enterprise catalog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2350008"/>
            <a:ext cx="3931920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SilverLake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Symitar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5300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663440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594360"/>
            <a:ext cx="73152" cy="20665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94360"/>
            <a:ext cx="4224528" cy="42062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12161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16733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305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risk score explorer &amp; self-serve analytics surface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6032" y="2825496"/>
            <a:ext cx="73152" cy="20665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" y="2825496"/>
            <a:ext cx="4224528" cy="42062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38912" y="34472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apps: CommercialSignal, [Churn App], Wealth Deflection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" y="39044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8912" y="43616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2825496"/>
            <a:ext cx="73152" cy="206654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825496"/>
            <a:ext cx="4224528" cy="42062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9744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846320" y="34472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10912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training at scale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6320" y="43616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10912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CI/CD, model registry, drift monitoring &amp; governance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Quarterly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Foundation + FY27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" y="548640"/>
            <a:ext cx="1280160" cy="301752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19072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'26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32304" y="548640"/>
            <a:ext cx="1600200" cy="3017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64408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105656" y="548640"/>
            <a:ext cx="1600200" cy="30175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05656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37760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779008" y="548640"/>
            <a:ext cx="1600200" cy="30175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11112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7452360" y="548640"/>
            <a:ext cx="1600200" cy="30175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4464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43000" y="987552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987552"/>
            <a:ext cx="50292" cy="784098"/>
          </a:xfrm>
          <a:prstGeom prst="rect">
            <a:avLst/>
          </a:prstGeom>
          <a:solidFill>
            <a:srgbClr val="06185F">
              <a:alpha val="70000"/>
            </a:srgbClr>
          </a:solidFill>
          <a:ln w="12700">
            <a:solidFill>
              <a:srgbClr val="06185F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987552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234440" y="1243584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Connectivity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6312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96312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Banking Data Integration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169664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1960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Data Quality Framework &amp; Lineage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43016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843016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25312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Third-Party Integration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16368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16368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98664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Enterprise Catalog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" y="1917954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143000" y="2000250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2000250"/>
            <a:ext cx="50292" cy="78409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000250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34440" y="2256282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Baseline &amp; KPI Framework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496312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78608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KPIs &amp; Executive Dashboards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169664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69664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Risk Score Explorer, Banker-Facing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43016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843016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 Solutions Insights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516368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16368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8664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Self-Serve Analytics Surface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43000" y="3012948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43000" y="3012948"/>
            <a:ext cx="50292" cy="784098"/>
          </a:xfrm>
          <a:prstGeom prst="rect">
            <a:avLst/>
          </a:prstGeom>
          <a:solidFill>
            <a:srgbClr val="0A5CA8">
              <a:alpha val="70000"/>
            </a:srgbClr>
          </a:solidFill>
          <a:ln w="12700">
            <a:solidFill>
              <a:srgbClr val="0A5CA8">
                <a:alpha val="7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3000" y="3012948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234440" y="3268980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496312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496312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78608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Banker Interface MVP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169664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169664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51960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Attrition Interface Build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843016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843016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25312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Deflection — Interface Launch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516368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516368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98664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Platform — Integration &amp; Scale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1440" y="3943350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143000" y="4025646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" y="4025646"/>
            <a:ext cx="50292" cy="78409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" y="4025646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1234440" y="4281678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Model Registry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496312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2496312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578608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P2C Detection Model Launch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69664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169664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51960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Attrition Detection Model Build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843016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843016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925312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Deflection — Generational Retention Model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16368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516368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598664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— Full CI/CD &amp; Governance Complete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Gantt Chart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View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76272" y="905256"/>
            <a:ext cx="2292096" cy="3986784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566928"/>
            <a:ext cx="2292096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566928"/>
            <a:ext cx="225552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68368" y="566928"/>
            <a:ext cx="1146048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6656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614416" y="566928"/>
            <a:ext cx="1146048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760464" y="566928"/>
            <a:ext cx="1146048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78752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906512" y="566928"/>
            <a:ext cx="1146048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17627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828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4030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232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0433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8635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68368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5038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240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14416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643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7844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0464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4248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2449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0651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8852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7054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52560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7160" y="950976"/>
            <a:ext cx="8915400" cy="146304"/>
          </a:xfrm>
          <a:prstGeom prst="rect">
            <a:avLst/>
          </a:prstGeom>
          <a:solidFill>
            <a:srgbClr val="06185F">
              <a:alpha val="9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8600" y="950976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37160" y="1097280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1106424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Sources — Data Acquisition &amp; Pipeline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194560" y="1133856"/>
            <a:ext cx="2255520" cy="137160"/>
          </a:xfrm>
          <a:prstGeom prst="rect">
            <a:avLst/>
          </a:prstGeom>
          <a:solidFill>
            <a:srgbClr val="06185F">
              <a:alpha val="6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31136" y="1133856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37160" y="1316736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" y="1325880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Banking Integration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4486656" y="1353312"/>
            <a:ext cx="2255520" cy="137160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3232" y="1353312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Bank…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137160" y="1536192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2024" y="1545336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Third-Party &amp; Enrichment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6778752" y="1572768"/>
            <a:ext cx="2255520" cy="137160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15328" y="1572768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Solution…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37160" y="1783080"/>
            <a:ext cx="8915400" cy="146304"/>
          </a:xfrm>
          <a:prstGeom prst="rect">
            <a:avLst/>
          </a:prstGeom>
          <a:solidFill>
            <a:srgbClr val="085CE5">
              <a:alpha val="9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1783080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37160" y="1929384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1938528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— Payment Source Reports &amp; Dashboards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2194560" y="1965960"/>
            <a:ext cx="2255520" cy="137160"/>
          </a:xfrm>
          <a:prstGeom prst="rect">
            <a:avLst/>
          </a:prstGeom>
          <a:solidFill>
            <a:srgbClr val="085CE5">
              <a:alpha val="6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1136" y="1965960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137160" y="2148840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2024" y="2157984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Analytics &amp; KPIs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486656" y="2185416"/>
            <a:ext cx="2255520" cy="137160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3232" y="2185416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…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137160" y="2368296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92024" y="2377440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 Solutions Insights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6778752" y="2404872"/>
            <a:ext cx="2255520" cy="137160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815328" y="2404872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Complementary…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137160" y="2615184"/>
            <a:ext cx="8915400" cy="146304"/>
          </a:xfrm>
          <a:prstGeom prst="rect">
            <a:avLst/>
          </a:prstGeom>
          <a:solidFill>
            <a:srgbClr val="0A5CA8">
              <a:alpha val="9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00" y="2615184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37160" y="2761488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2770632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Development &amp; Alation Integration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2194560" y="2798064"/>
            <a:ext cx="2255520" cy="137160"/>
          </a:xfrm>
          <a:prstGeom prst="rect">
            <a:avLst/>
          </a:prstGeom>
          <a:solidFill>
            <a:srgbClr val="0A5CA8">
              <a:alpha val="6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31136" y="2798064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137160" y="2980944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2024" y="2990088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CommercialSignal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4486656" y="3017520"/>
            <a:ext cx="1491488" cy="137160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523232" y="3017520"/>
            <a:ext cx="143662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Com…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137160" y="3200400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2024" y="3209544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[Churn App]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5632704" y="3236976"/>
            <a:ext cx="2255520" cy="137160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669280" y="3236976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[Ch…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37160" y="3419856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024" y="3429000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Wealth Deflection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6778752" y="3456432"/>
            <a:ext cx="2255520" cy="137160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815328" y="3456432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Wea…</a:t>
            </a:r>
            <a:endParaRPr lang="en-US" sz="600" dirty="0"/>
          </a:p>
        </p:txBody>
      </p:sp>
      <p:sp>
        <p:nvSpPr>
          <p:cNvPr id="119" name="Shape 117"/>
          <p:cNvSpPr/>
          <p:nvPr/>
        </p:nvSpPr>
        <p:spPr>
          <a:xfrm>
            <a:off x="137160" y="3666744"/>
            <a:ext cx="8915400" cy="146304"/>
          </a:xfrm>
          <a:prstGeom prst="rect">
            <a:avLst/>
          </a:prstGeom>
          <a:solidFill>
            <a:srgbClr val="0A5C47">
              <a:alpha val="9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28600" y="3666744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121" name="Shape 119"/>
          <p:cNvSpPr/>
          <p:nvPr/>
        </p:nvSpPr>
        <p:spPr>
          <a:xfrm>
            <a:off x="137160" y="3813048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2024" y="3822192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 Foundation — Feature Store &amp; Registry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2194560" y="3849624"/>
            <a:ext cx="2255520" cy="137160"/>
          </a:xfrm>
          <a:prstGeom prst="rect">
            <a:avLst/>
          </a:prstGeom>
          <a:solidFill>
            <a:srgbClr val="0A5C47">
              <a:alpha val="6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231136" y="3849624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25" name="Shape 123"/>
          <p:cNvSpPr/>
          <p:nvPr/>
        </p:nvSpPr>
        <p:spPr>
          <a:xfrm>
            <a:off x="137160" y="4032504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2024" y="4041648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P2C Detection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4486656" y="4069080"/>
            <a:ext cx="1491488" cy="137160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523232" y="4069080"/>
            <a:ext cx="143662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P2C…</a:t>
            </a:r>
            <a:endParaRPr lang="en-US" sz="600" dirty="0"/>
          </a:p>
        </p:txBody>
      </p:sp>
      <p:sp>
        <p:nvSpPr>
          <p:cNvPr id="129" name="Shape 127"/>
          <p:cNvSpPr/>
          <p:nvPr/>
        </p:nvSpPr>
        <p:spPr>
          <a:xfrm>
            <a:off x="137160" y="4251960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92024" y="4261104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Attrition Detection</a:t>
            </a:r>
            <a:endParaRPr lang="en-US" sz="650" dirty="0"/>
          </a:p>
        </p:txBody>
      </p:sp>
      <p:sp>
        <p:nvSpPr>
          <p:cNvPr id="131" name="Shape 129"/>
          <p:cNvSpPr/>
          <p:nvPr/>
        </p:nvSpPr>
        <p:spPr>
          <a:xfrm>
            <a:off x="5632704" y="4288536"/>
            <a:ext cx="2255520" cy="137160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669280" y="4288536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Attritio…</a:t>
            </a:r>
            <a:endParaRPr lang="en-US" sz="600" dirty="0"/>
          </a:p>
        </p:txBody>
      </p:sp>
      <p:sp>
        <p:nvSpPr>
          <p:cNvPr id="133" name="Shape 131"/>
          <p:cNvSpPr/>
          <p:nvPr/>
        </p:nvSpPr>
        <p:spPr>
          <a:xfrm>
            <a:off x="137160" y="4471416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92024" y="4480560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Deflection — Generational Retention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6778752" y="4507992"/>
            <a:ext cx="2255520" cy="137160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6815328" y="4507992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Deflection — Ge…</a:t>
            </a:r>
            <a:endParaRPr lang="en-US" sz="600" dirty="0"/>
          </a:p>
        </p:txBody>
      </p:sp>
      <p:sp>
        <p:nvSpPr>
          <p:cNvPr id="137" name="Shape 135"/>
          <p:cNvSpPr/>
          <p:nvPr/>
        </p:nvSpPr>
        <p:spPr>
          <a:xfrm>
            <a:off x="3297674" y="566928"/>
            <a:ext cx="0" cy="4325112"/>
          </a:xfrm>
          <a:prstGeom prst="line">
            <a:avLst/>
          </a:prstGeom>
          <a:noFill/>
          <a:ln w="19050">
            <a:solidFill>
              <a:srgbClr val="D0303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3078218" y="571500"/>
            <a:ext cx="43891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Staffing Transition Plan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Ramp-Down · FTE Conversion by Team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0" y="4151376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164592" y="3668573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3577133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00" dirty="0"/>
          </a:p>
        </p:txBody>
      </p:sp>
      <p:sp>
        <p:nvSpPr>
          <p:cNvPr id="10" name="Shape 8"/>
          <p:cNvSpPr/>
          <p:nvPr/>
        </p:nvSpPr>
        <p:spPr>
          <a:xfrm>
            <a:off x="164592" y="3094330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3002890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164592" y="2520086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0" y="2428646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164592" y="1945843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0" y="1854403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164592" y="1371600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0" y="1280160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00" dirty="0"/>
          </a:p>
        </p:txBody>
      </p:sp>
      <p:sp>
        <p:nvSpPr>
          <p:cNvPr id="18" name="Shape 16"/>
          <p:cNvSpPr/>
          <p:nvPr/>
        </p:nvSpPr>
        <p:spPr>
          <a:xfrm>
            <a:off x="164592" y="4242816"/>
            <a:ext cx="8814816" cy="0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 rot="16200000">
            <a:off x="0" y="2441448"/>
            <a:ext cx="1645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</a:t>
            </a:r>
            <a:endParaRPr lang="en-US" sz="600" dirty="0"/>
          </a:p>
        </p:txBody>
      </p:sp>
      <p:sp>
        <p:nvSpPr>
          <p:cNvPr id="20" name="Shape 18"/>
          <p:cNvSpPr/>
          <p:nvPr/>
        </p:nvSpPr>
        <p:spPr>
          <a:xfrm>
            <a:off x="164592" y="585216"/>
            <a:ext cx="2828544" cy="32918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61616" y="640080"/>
            <a:ext cx="658368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61616" y="64008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64592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Existing FTE · 5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3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74320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658722"/>
            <a:ext cx="583692" cy="1435608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1686154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1475842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949452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9452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49452" y="1945843"/>
            <a:ext cx="583692" cy="1148486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9452" y="197327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49452" y="176296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4945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624584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24584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624584" y="2807208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624584" y="2834640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624584" y="2232965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624584" y="2260397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624584" y="2050085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624584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299716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99716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299716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299716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299716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29971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157728" y="585216"/>
            <a:ext cx="2828544" cy="32918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157728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49168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353507" y="640080"/>
            <a:ext cx="559613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53507" y="640080"/>
            <a:ext cx="55961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3157728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Existing FTE · 2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2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267456" y="3668573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67456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267456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326745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3942588" y="3955694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942588" y="3983126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3942588" y="3668573"/>
            <a:ext cx="583692" cy="287122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942588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942588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3942588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4617720" y="3668573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0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617720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617720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5292852" y="3668573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92852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5292852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29285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3075432" y="585216"/>
            <a:ext cx="0" cy="393192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50864" y="585216"/>
            <a:ext cx="2828544" cy="32918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150864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42304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8297266" y="640080"/>
            <a:ext cx="608990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97266" y="640080"/>
            <a:ext cx="60899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6150864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Existing FTE · 2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2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6260592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260592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260592" y="2520086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260592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6260592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626059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6935724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935724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6935724" y="2807208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935724" y="2834640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6935724" y="2520086"/>
            <a:ext cx="583692" cy="287122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935724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6935724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935724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7610856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10856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7610856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10856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7610856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761085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8285988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285988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8285988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285988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8285988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285988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6068568" y="585216"/>
            <a:ext cx="0" cy="393192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011680" y="4663440"/>
            <a:ext cx="164592" cy="11887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231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4297680" y="4663440"/>
            <a:ext cx="164592" cy="11887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17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(hired)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6583680" y="4663440"/>
            <a:ext cx="164592" cy="11887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803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Phase 1 Business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Value  ·  ARR Scaling  ·  8,000+ FI Clients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0624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$1–3M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20624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93776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Cross-segment opportunity scoring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66544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66544" y="585216"/>
            <a:ext cx="1609344" cy="40233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/ Attrition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21408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$250–600K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21408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94560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churn reduction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solidFill>
            <a:srgbClr val="085CE5">
              <a:alpha val="86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67328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67328" y="585216"/>
            <a:ext cx="1609344" cy="40233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Generational Wealth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22192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$1–2M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822192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95344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Intergenerational retention uplift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solidFill>
            <a:srgbClr val="0A5C47">
              <a:alpha val="86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68112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585216"/>
            <a:ext cx="1609344" cy="40233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2976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22976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$100–300K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522976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41264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prep &amp; peer benchmarking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solidFill>
            <a:srgbClr val="06185F">
              <a:alpha val="86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168896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LTV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23760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$500K–1.5M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7223760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96912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42048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 cross-sell lift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FY27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$3–7.5M / year combined value per FI client · conservative estimate for a mid-size $1B deposits community bank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3255264"/>
            <a:ext cx="2560320" cy="676656"/>
          </a:xfrm>
          <a:prstGeom prst="rect">
            <a:avLst/>
          </a:prstGeom>
          <a:solidFill>
            <a:srgbClr val="085CE5">
              <a:alpha val="9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$19.5M ARR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45720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FIs  ·  6% of JH client base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91840" y="3255264"/>
            <a:ext cx="2560320" cy="676656"/>
          </a:xfrm>
          <a:prstGeom prst="rect">
            <a:avLst/>
          </a:prstGeom>
          <a:solidFill>
            <a:srgbClr val="0A5CA8">
              <a:alpha val="9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184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$78M ARR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29184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FIs  ·  25% of JH client base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3255264"/>
            <a:ext cx="2560320" cy="676656"/>
          </a:xfrm>
          <a:prstGeom prst="rect">
            <a:avLst/>
          </a:prstGeom>
          <a:solidFill>
            <a:srgbClr val="0A5C47">
              <a:alpha val="9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$312M+ ARR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12648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FIs  ·  Full JH client base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5760" y="4014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estimates based on avg. subscription value across tiers. Adoption rates modeled at 6%, 25%, and 100% of JH’s 8,000+ FI client base. Sources: Mordor Intelligence, ICBA / Cornerstone 2025 survey.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FY27 Quarterly 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FY27  |  Alternate Layout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" y="576072"/>
            <a:ext cx="2029968" cy="43891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08689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74904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Banking Data Integration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4904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4904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4632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KPIs &amp; Executive Dashboards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4632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Banker Interface MVP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74904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4904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4632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P2C Detection Model Launch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496312" y="576072"/>
            <a:ext cx="2029968" cy="43891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30097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496312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Data Quality Framework &amp; Lineage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96312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96312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Risk Score Explorer, Banker-Facing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96312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96312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Attrition Interface Build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96312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496312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6040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06040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6040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Attrition Detection Model Build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576072"/>
            <a:ext cx="2029968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551505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17720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27448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727448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27448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Third-Party Integration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17720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17720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27448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727448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27448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 Solutions Insights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617720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617720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27448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27448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27448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Deflection — Interface Launch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17720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617720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27448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727448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27448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Deflection — Generational Retention Model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739128" y="576072"/>
            <a:ext cx="2029968" cy="43891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39128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Q4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672913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39128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739128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48856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48856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48856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Enterprise Catalog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739128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739128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48856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848856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48856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Self-Serve Analytics Surface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739128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6739128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48856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6848856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848856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Platform — Integration &amp; Scale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739128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739128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848856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6848856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48856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— Full CI/CD &amp; Governance Complete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— FY27 Strategic Roadmap</dc:title>
  <dc:subject>PptxGenJS Presentation</dc:subject>
  <dc:creator>PptxGenJS</dc:creator>
  <cp:lastModifiedBy>PptxGenJS</cp:lastModifiedBy>
  <cp:revision>1</cp:revision>
  <dcterms:created xsi:type="dcterms:W3CDTF">2026-04-02T13:19:28Z</dcterms:created>
  <dcterms:modified xsi:type="dcterms:W3CDTF">2026-04-02T13:19:28Z</dcterms:modified>
</cp:coreProperties>
</file>